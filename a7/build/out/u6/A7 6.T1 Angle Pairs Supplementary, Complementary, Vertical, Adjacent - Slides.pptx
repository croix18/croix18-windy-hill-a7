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3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39.png"/><Relationship Id="rId8" Type="http://schemas.openxmlformats.org/officeDocument/2006/relationships/image" Target="../media/image6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THREAD B ·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Angle Pairs: Supplementary, Complementary, Vertical, Adjacent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name an angle pair and use it to find a missing angle, with an equation when the angles are expressions.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5179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6-ft man casts a 4-ft shadow; a tree, 18 ft. The tree's height?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332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far apart are </a:t>
            </a:r>
          </a:p>
        </p:txBody>
      </p:sp>
      <p:pic>
        <p:nvPicPr>
          <p:cNvPr id="10" name="Picture 9" descr="1341941b7cc70f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14" y="2177367"/>
            <a:ext cx="856765" cy="2705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3880" y="2052828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2" name="Picture 11" descr="0809219f625557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463" y="2177367"/>
            <a:ext cx="666900" cy="2705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76364" y="20528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82527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Ana types 210 words in 5 minutes. Words per minute?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89102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Two angles make a straight angle. One is 130°. The other?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5179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6-ft man casts a 4-ft shadow; a tree, 18 ft. The tree's height?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8618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27 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332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far apart are </a:t>
            </a:r>
          </a:p>
        </p:txBody>
      </p:sp>
      <p:pic>
        <p:nvPicPr>
          <p:cNvPr id="11" name="Picture 10" descr="1341941b7cc70f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14" y="2634567"/>
            <a:ext cx="856765" cy="2705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23880" y="2510028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0809219f625557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463" y="2634567"/>
            <a:ext cx="666900" cy="2705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76364" y="25100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8476" y="2510028"/>
            <a:ext cx="12121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122676"/>
            <a:ext cx="82527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Ana types 210 words in 5 minutes. Words per minute?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38781" y="3122676"/>
            <a:ext cx="5603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735324"/>
            <a:ext cx="89102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Two angles make a straight angle. One is 130°. The other?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192524"/>
            <a:ext cx="740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50°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adjacent angles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two angles with the same vertex and a shared side, that do not overlap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vertical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angles across from each other where two lines cross; they are equal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844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complementary angles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13818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two angles that add to 90°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4515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supplementary angles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074522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two angles that add to 180°; a linear pair (adjacent, on a straight line) is supplementary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Adjacent and vertical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ccf96da69d88b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972" y="1993392"/>
            <a:ext cx="3465576" cy="27453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494908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Adjacent: one vertex, a shared side, no overlap — angles 1 and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639457"/>
            <a:ext cx="46459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Vertical: across, and equal — </a:t>
            </a:r>
          </a:p>
        </p:txBody>
      </p:sp>
      <p:pic>
        <p:nvPicPr>
          <p:cNvPr id="13" name="Picture 12" descr="383818eb4f2543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304" y="5766370"/>
            <a:ext cx="1526039" cy="2159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22344" y="5639457"/>
            <a:ext cx="27959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 (m for measure).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Complementary and supplementary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fd2f6dc032fdb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1993392"/>
            <a:ext cx="3785615" cy="2287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4491013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Complementary: add to 90°.   Supplementary: add to 180°.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222533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linear pair is supplementary: 60° + 120° = 180°.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Name the pair, write the equation, put x back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ff13cd6a1f05fc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668" y="1993392"/>
            <a:ext cx="3758184" cy="2101945"/>
          </a:xfrm>
          <a:prstGeom prst="rect">
            <a:avLst/>
          </a:prstGeom>
        </p:spPr>
      </p:pic>
      <p:pic>
        <p:nvPicPr>
          <p:cNvPr id="11" name="Picture 10" descr="cc136a22f99d4d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185" y="4299934"/>
            <a:ext cx="3029712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51897" y="4218781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1f863e20b728f4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180" y="4299934"/>
            <a:ext cx="1395984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89164" y="4218781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981f2bd33d4625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0446" y="4296886"/>
            <a:ext cx="1008888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67024" y="5014309"/>
            <a:ext cx="19849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the angle:  </a:t>
            </a:r>
          </a:p>
        </p:txBody>
      </p:sp>
      <p:pic>
        <p:nvPicPr>
          <p:cNvPr id="17" name="Picture 16" descr="d1f2e6ea48b59a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4785" y="5119910"/>
            <a:ext cx="2379710" cy="3112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996" y="1440180"/>
            <a:ext cx="4592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ray splits a right angle into </a:t>
            </a:r>
          </a:p>
        </p:txBody>
      </p:sp>
      <p:pic>
        <p:nvPicPr>
          <p:cNvPr id="9" name="Picture 8" descr="07a35259f479b4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394" y="1557718"/>
            <a:ext cx="1146619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5014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1d1e7ee16a0e70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521" y="1557718"/>
            <a:ext cx="117386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05382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ebe47a9162b990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148840"/>
            <a:ext cx="3163824" cy="3163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6418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x and both angles.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4b2f294a6c26d5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154680" cy="280416"/>
          </a:xfrm>
          <a:prstGeom prst="rect">
            <a:avLst/>
          </a:prstGeom>
        </p:spPr>
      </p:pic>
      <p:pic>
        <p:nvPicPr>
          <p:cNvPr id="9" name="Picture 8" descr="95197ad3c8083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3319272" cy="350520"/>
          </a:xfrm>
          <a:prstGeom prst="rect">
            <a:avLst/>
          </a:prstGeom>
        </p:spPr>
      </p:pic>
      <p:pic>
        <p:nvPicPr>
          <p:cNvPr id="10" name="Picture 9" descr="c38b41945c7f1c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099815"/>
            <a:ext cx="5090160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17; the angles are 50° and 40°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a577c207cc2ffe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848" y="1694878"/>
            <a:ext cx="720661" cy="2847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78509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616d3ce97a9b57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016" y="1694878"/>
            <a:ext cx="1173861" cy="2847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68877" y="1577340"/>
            <a:ext cx="32719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are complementary.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x and both angles.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16d7c615ff8d7c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371" y="1692402"/>
            <a:ext cx="723138" cy="2872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78509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8f38c89b3740af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016" y="1692402"/>
            <a:ext cx="1176337" cy="2872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71353" y="1577340"/>
            <a:ext cx="32719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are complementary.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x and both angles.</a:t>
            </a:r>
          </a:p>
        </p:txBody>
      </p:sp>
      <p:pic>
        <p:nvPicPr>
          <p:cNvPr id="13" name="Picture 12" descr="7e99fa8917cd79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034" y="2995214"/>
            <a:ext cx="2377440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48474" y="28753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bf997b8dd4ac92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2995214"/>
            <a:ext cx="1112520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44739" y="28753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7" name="Picture 16" descr="d07916073d6422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8485" y="2989118"/>
            <a:ext cx="877824" cy="252984"/>
          </a:xfrm>
          <a:prstGeom prst="rect">
            <a:avLst/>
          </a:prstGeom>
        </p:spPr>
      </p:pic>
      <p:pic>
        <p:nvPicPr>
          <p:cNvPr id="18" name="Picture 17" descr="ae1d1f1e848c88a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1034" y="3528614"/>
            <a:ext cx="1560576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31610" y="3414886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20" name="Picture 19" descr="364a366b5734cf2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5356" y="3531662"/>
            <a:ext cx="1764792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16; 64° and 26°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1201" y="1440180"/>
            <a:ext cx="622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lines cross. Vertical angles measure </a:t>
            </a:r>
          </a:p>
        </p:txBody>
      </p:sp>
      <p:pic>
        <p:nvPicPr>
          <p:cNvPr id="9" name="Picture 8" descr="58f9ac6500c166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479" y="1557718"/>
            <a:ext cx="1329880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3360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630da9e3b1e710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866" y="1557718"/>
            <a:ext cx="1337310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97176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56ed89f4790ea0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535" y="2148840"/>
            <a:ext cx="4806449" cy="3163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6418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6314f6680daf5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749296" cy="277368"/>
          </a:xfrm>
          <a:prstGeom prst="rect">
            <a:avLst/>
          </a:prstGeom>
        </p:spPr>
      </p:pic>
      <p:pic>
        <p:nvPicPr>
          <p:cNvPr id="9" name="Picture 8" descr="def7740143bebf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1928"/>
            <a:ext cx="1941576" cy="277368"/>
          </a:xfrm>
          <a:prstGeom prst="rect">
            <a:avLst/>
          </a:prstGeom>
        </p:spPr>
      </p:pic>
      <p:pic>
        <p:nvPicPr>
          <p:cNvPr id="10" name="Picture 9" descr="adcc8f1246fa21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023615"/>
            <a:ext cx="2737104" cy="347472"/>
          </a:xfrm>
          <a:prstGeom prst="rect">
            <a:avLst/>
          </a:prstGeom>
        </p:spPr>
      </p:pic>
      <p:pic>
        <p:nvPicPr>
          <p:cNvPr id="11" name="Picture 10" descr="6f95e2cb60145c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645407"/>
            <a:ext cx="2456688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Each angle is 38°.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790" y="1577340"/>
            <a:ext cx="3880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9" name="Picture 8" descr="3cb477a3fb5155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406" y="1694878"/>
            <a:ext cx="1186243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82650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58dcc8f629bcb0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156" y="1694878"/>
            <a:ext cx="116643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6558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9075" y="1577340"/>
            <a:ext cx="3880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9" name="Picture 8" descr="b01416cd51b60b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91" y="1692402"/>
            <a:ext cx="1191196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83888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545a70ed969048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395" y="1692402"/>
            <a:ext cx="1168908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69303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0968" y="2875390"/>
            <a:ext cx="34294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equal:  4x + 3 = x + 39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0968" y="3378310"/>
            <a:ext cx="35549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take x off both sides:  </a:t>
            </a:r>
          </a:p>
        </p:txBody>
      </p:sp>
      <p:pic>
        <p:nvPicPr>
          <p:cNvPr id="16" name="Picture 15" descr="2ab8632a630df2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717" y="3513565"/>
            <a:ext cx="1344168" cy="214693"/>
          </a:xfrm>
          <a:prstGeom prst="rect">
            <a:avLst/>
          </a:prstGeom>
        </p:spPr>
      </p:pic>
      <p:pic>
        <p:nvPicPr>
          <p:cNvPr id="17" name="Picture 16" descr="68567d5b1bde236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5832" y="4016199"/>
            <a:ext cx="905256" cy="213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61088" y="3881230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9" name="Picture 18" descr="c9ab79e3ddc850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1089" y="4016199"/>
            <a:ext cx="743712" cy="210312"/>
          </a:xfrm>
          <a:prstGeom prst="rect">
            <a:avLst/>
          </a:prstGeom>
        </p:spPr>
      </p:pic>
      <p:pic>
        <p:nvPicPr>
          <p:cNvPr id="20" name="Picture 19" descr="0992bbe3f2b541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5832" y="4522167"/>
            <a:ext cx="1716024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95565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Each angle is 51°.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complement of 34°?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complement of 34°?</a:t>
            </a:r>
          </a:p>
        </p:txBody>
      </p:sp>
      <p:pic>
        <p:nvPicPr>
          <p:cNvPr id="9" name="Picture 8" descr="0f1f1f9bfab677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175" y="2626406"/>
            <a:ext cx="1837943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56°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supplement of 112°?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supplement of 112°?</a:t>
            </a:r>
          </a:p>
        </p:txBody>
      </p:sp>
      <p:pic>
        <p:nvPicPr>
          <p:cNvPr id="9" name="Picture 8" descr="48c6be8dd19e7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251" y="2626406"/>
            <a:ext cx="2139696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68°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lines cross. One angle is 47°.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a and b.</a:t>
            </a:r>
          </a:p>
        </p:txBody>
      </p:sp>
      <p:pic>
        <p:nvPicPr>
          <p:cNvPr id="10" name="Picture 9" descr="gd8f563ee502329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625" y="2998436"/>
            <a:ext cx="3004268" cy="22867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lines cross. One angle is 47°.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a and b.</a:t>
            </a:r>
          </a:p>
        </p:txBody>
      </p:sp>
      <p:pic>
        <p:nvPicPr>
          <p:cNvPr id="10" name="Picture 9" descr="gd8f563ee502329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19" y="2998436"/>
            <a:ext cx="3004268" cy="2286795"/>
          </a:xfrm>
          <a:prstGeom prst="rect">
            <a:avLst/>
          </a:prstGeom>
        </p:spPr>
      </p:pic>
      <p:pic>
        <p:nvPicPr>
          <p:cNvPr id="11" name="Picture 10" descr="4bae18db7a4d73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971" y="3801696"/>
            <a:ext cx="788765" cy="21002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0736" y="3661774"/>
            <a:ext cx="17581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(vertical)</a:t>
            </a:r>
          </a:p>
        </p:txBody>
      </p:sp>
      <p:pic>
        <p:nvPicPr>
          <p:cNvPr id="13" name="Picture 12" descr="d938da6dc54928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1971" y="4292948"/>
            <a:ext cx="2291619" cy="2216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93591" y="4164694"/>
            <a:ext cx="24509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(a linear pair)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= 47°, b = 133°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ebbb07ffc24a4d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74151"/>
            <a:ext cx="393763" cy="2204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8203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77b1c730618540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666" y="1971675"/>
            <a:ext cx="438340" cy="2575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34006" y="1851660"/>
            <a:ext cx="42586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are complementary, and </a:t>
            </a:r>
          </a:p>
        </p:txBody>
      </p:sp>
      <p:pic>
        <p:nvPicPr>
          <p:cNvPr id="12" name="Picture 11" descr="3d67e897ac2349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544" y="1971675"/>
            <a:ext cx="1461135" cy="2253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16679" y="1851660"/>
            <a:ext cx="2891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64308"/>
            <a:ext cx="14806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</a:t>
            </a:r>
          </a:p>
        </p:txBody>
      </p:sp>
      <p:pic>
        <p:nvPicPr>
          <p:cNvPr id="15" name="Picture 14" descr="9aa2e860f902725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7939" y="2584323"/>
            <a:ext cx="713232" cy="2575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91171" y="246430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2369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152°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2369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62°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9227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28°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9227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118°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286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ebbb07ffc24a4d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74151"/>
            <a:ext cx="393763" cy="2204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8203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159c08c6eed82f4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666" y="1971675"/>
            <a:ext cx="438340" cy="2575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34006" y="1851660"/>
            <a:ext cx="42586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are complementary, and </a:t>
            </a:r>
          </a:p>
        </p:txBody>
      </p:sp>
      <p:pic>
        <p:nvPicPr>
          <p:cNvPr id="12" name="Picture 11" descr="3a7f772a2815ff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544" y="1971675"/>
            <a:ext cx="1463611" cy="2253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19156" y="1851660"/>
            <a:ext cx="2891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64308"/>
            <a:ext cx="14806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</a:t>
            </a:r>
          </a:p>
        </p:txBody>
      </p:sp>
      <p:pic>
        <p:nvPicPr>
          <p:cNvPr id="15" name="Picture 14" descr="52c288f6d52551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7939" y="2584323"/>
            <a:ext cx="710755" cy="2575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88694" y="246430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7" name="Picture 16" descr="745c0b5bbb17b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2747" y="3312604"/>
            <a:ext cx="182575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62°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6420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linear pair measures </a:t>
            </a:r>
          </a:p>
        </p:txBody>
      </p:sp>
      <p:pic>
        <p:nvPicPr>
          <p:cNvPr id="9" name="Picture 8" descr="0787c152ddf7d6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313" y="1969198"/>
            <a:ext cx="1327404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66717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3fa3d57b238d7f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224" y="1971675"/>
            <a:ext cx="631507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14731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4" name="Picture 13" descr="g8cc55e219df497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117" y="3071986"/>
            <a:ext cx="3413284" cy="22132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6420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linear pair measures </a:t>
            </a:r>
          </a:p>
        </p:txBody>
      </p:sp>
      <p:pic>
        <p:nvPicPr>
          <p:cNvPr id="9" name="Picture 8" descr="8f30b8b49e8693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313" y="1966722"/>
            <a:ext cx="1329880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69193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3fa3d57b238d7f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700" y="1971675"/>
            <a:ext cx="631507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1720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4" name="Picture 13" descr="g8cc55e219df497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013" y="3071986"/>
            <a:ext cx="3413284" cy="2213245"/>
          </a:xfrm>
          <a:prstGeom prst="rect">
            <a:avLst/>
          </a:prstGeom>
        </p:spPr>
      </p:pic>
      <p:pic>
        <p:nvPicPr>
          <p:cNvPr id="15" name="Picture 14" descr="7f724f244cbb4e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9682" y="3833518"/>
            <a:ext cx="2456688" cy="213360"/>
          </a:xfrm>
          <a:prstGeom prst="rect">
            <a:avLst/>
          </a:prstGeom>
        </p:spPr>
      </p:pic>
      <p:pic>
        <p:nvPicPr>
          <p:cNvPr id="16" name="Picture 15" descr="f3f7561d3a7c01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9682" y="4336438"/>
            <a:ext cx="923544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03226" y="4201469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8" name="Picture 17" descr="2396565ee2317a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3227" y="4336438"/>
            <a:ext cx="771144" cy="213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880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9" name="Picture 8" descr="e1c3824ec7b711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056" y="1969198"/>
            <a:ext cx="1359598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37654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15cc58817ef78a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161" y="1969198"/>
            <a:ext cx="1352169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0633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  <p:pic>
        <p:nvPicPr>
          <p:cNvPr id="14" name="Picture 13" descr="g47e86856adf2b9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512" y="3071986"/>
            <a:ext cx="2726495" cy="22132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880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9" name="Picture 8" descr="8b8ebe44a953ed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056" y="1966722"/>
            <a:ext cx="1364551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42607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2f4a415f7dba0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114" y="1966722"/>
            <a:ext cx="1354645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1376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  <p:pic>
        <p:nvPicPr>
          <p:cNvPr id="14" name="Picture 13" descr="g47e86856adf2b9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165" y="3071986"/>
            <a:ext cx="2726495" cy="22132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73181" y="3447089"/>
            <a:ext cx="4653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equal:  6x − 20 = 2x + 28,   so  </a:t>
            </a:r>
          </a:p>
        </p:txBody>
      </p:sp>
      <p:pic>
        <p:nvPicPr>
          <p:cNvPr id="16" name="Picture 15" descr="3cb91e7565858ad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9826" y="3584677"/>
            <a:ext cx="1556527" cy="212359"/>
          </a:xfrm>
          <a:prstGeom prst="rect">
            <a:avLst/>
          </a:prstGeom>
        </p:spPr>
      </p:pic>
      <p:pic>
        <p:nvPicPr>
          <p:cNvPr id="17" name="Picture 16" descr="c0a42a78d97a1e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45" y="4091074"/>
            <a:ext cx="957072" cy="2072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85117" y="3950009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9" name="Picture 18" descr="c9ab79e3ddc850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5118" y="4084978"/>
            <a:ext cx="743712" cy="210312"/>
          </a:xfrm>
          <a:prstGeom prst="rect">
            <a:avLst/>
          </a:prstGeom>
        </p:spPr>
      </p:pic>
      <p:pic>
        <p:nvPicPr>
          <p:cNvPr id="20" name="Picture 19" descr="b9cd8d999bb0953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45" y="4590946"/>
            <a:ext cx="1898904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52°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two angles are adjacent?</a:t>
            </a:r>
          </a:p>
        </p:txBody>
      </p:sp>
      <p:pic>
        <p:nvPicPr>
          <p:cNvPr id="9" name="Picture 8" descr="g5dcf96e4300877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185" y="2459338"/>
            <a:ext cx="1651149" cy="15244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4221572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angles AOB and DOE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221572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angles AOB and AOC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907372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angles AOB and BOC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907372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angles AOB and COD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two angles are adjacent?</a:t>
            </a:r>
          </a:p>
        </p:txBody>
      </p:sp>
      <p:pic>
        <p:nvPicPr>
          <p:cNvPr id="9" name="Picture 8" descr="gacab42555d0e02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809" y="2459338"/>
            <a:ext cx="2596896" cy="22872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79225" y="3122920"/>
            <a:ext cx="50686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AOB and BOC share the side 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9225" y="3625840"/>
            <a:ext cx="30918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and do not overlap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3008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angles AOB and BOC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Above a straight line a ray makes angles of 38° and x°; below it another ray makes an angle of 50°.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0" name="Picture 9" descr="g9e90bd77297c2b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247" y="3427807"/>
            <a:ext cx="2561024" cy="1857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Above a straight line a ray makes angles of 38° and x°; below it another ray makes an angle of 50°.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0" name="Picture 9" descr="g9e90bd77297c2b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915" y="3427807"/>
            <a:ext cx="2561024" cy="1857424"/>
          </a:xfrm>
          <a:prstGeom prst="rect">
            <a:avLst/>
          </a:prstGeom>
        </p:spPr>
      </p:pic>
      <p:pic>
        <p:nvPicPr>
          <p:cNvPr id="11" name="Picture 10" descr="4b0ece7bc60712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324" y="4011428"/>
            <a:ext cx="1533144" cy="213360"/>
          </a:xfrm>
          <a:prstGeom prst="rect">
            <a:avLst/>
          </a:prstGeom>
        </p:spPr>
      </p:pic>
      <p:pic>
        <p:nvPicPr>
          <p:cNvPr id="12" name="Picture 11" descr="b9435b17e53862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324" y="4514348"/>
            <a:ext cx="926592" cy="210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142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Can two vertical angles be complementary?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Always, sometimes or never? Explain.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Can two vertical angles be complementary?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Always, sometimes or never? Explain.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5078" y="3048728"/>
            <a:ext cx="50057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vertical:  the two are equal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5078" y="3588224"/>
            <a:ext cx="33313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complementary:  </a:t>
            </a:r>
          </a:p>
        </p:txBody>
      </p:sp>
      <p:pic>
        <p:nvPicPr>
          <p:cNvPr id="12" name="Picture 11" descr="0006f1eda30768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222" y="3706334"/>
            <a:ext cx="1649063" cy="2541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78285" y="3588224"/>
            <a:ext cx="11853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Sometimes — only when each is 45°.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7031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7031"/>
            <a:ext cx="435486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What is the complement of 61°?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817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8178"/>
            <a:ext cx="426514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What is the supplement of 76°?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59326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59326"/>
            <a:ext cx="9298873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Two lines cross, and one of the four angles is 58°. Find the other three.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90473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90473"/>
            <a:ext cx="321310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linear pair measures </a:t>
            </a:r>
          </a:p>
        </p:txBody>
      </p:sp>
      <p:pic>
        <p:nvPicPr>
          <p:cNvPr id="16" name="Picture 15" descr="285bdcc5e318a8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425" y="3169787"/>
            <a:ext cx="1235632" cy="25881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66058" y="3090473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8" name="Picture 17" descr="ad6c1a03ab2e48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645" y="3196225"/>
            <a:ext cx="434141" cy="20593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23787" y="3090473"/>
            <a:ext cx="366796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x and the first angle.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621620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621620"/>
            <a:ext cx="342197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22" name="Picture 21" descr="fbc2e0de42011f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294" y="3700934"/>
            <a:ext cx="1065872" cy="25881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05166" y="3621620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24" name="Picture 23" descr="bc71e7f24b50d2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754" y="3700934"/>
            <a:ext cx="1202237" cy="25881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830991" y="3621620"/>
            <a:ext cx="3025019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measure of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024751"/>
            <a:ext cx="170376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each angle.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55589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pic>
        <p:nvPicPr>
          <p:cNvPr id="28" name="Picture 27" descr="b2dd3170aa6e61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4646344"/>
            <a:ext cx="782010" cy="23655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409642" y="4555898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30" name="Picture 29" descr="a52c8ccabb4b16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3230" y="4646344"/>
            <a:ext cx="776444" cy="23655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09675" y="4555898"/>
            <a:ext cx="716892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share the side QR and together make a straight line,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959029"/>
            <a:ext cx="78556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and </a:t>
            </a:r>
          </a:p>
        </p:txBody>
      </p:sp>
      <p:pic>
        <p:nvPicPr>
          <p:cNvPr id="33" name="Picture 32" descr="2c401f527e9ce7a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2882" y="5049475"/>
            <a:ext cx="1756045" cy="23655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958928" y="4959029"/>
            <a:ext cx="3463338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Name the pair and find </a:t>
            </a:r>
          </a:p>
        </p:txBody>
      </p:sp>
      <p:pic>
        <p:nvPicPr>
          <p:cNvPr id="35" name="Picture 34" descr="4211ba0231777fa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5106" y="5049475"/>
            <a:ext cx="1026910" cy="23655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12017" y="4959029"/>
            <a:ext cx="271558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11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Identify complementary, supplementary, vertical, adjacent, and congruent angles — HGV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166359"/>
            <a:ext cx="969264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measures of complementary, supplementary, vertical, and adjacent angles — R2B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824727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Write and solve equations using angle relationships — DBV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