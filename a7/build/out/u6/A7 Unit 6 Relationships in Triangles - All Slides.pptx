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Relationship Id="rId8" Type="http://schemas.openxmlformats.org/officeDocument/2006/relationships/slide" Target="slide213.xml"/><Relationship Id="rId9" Type="http://schemas.openxmlformats.org/officeDocument/2006/relationships/slide" Target="slide24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Relationship Id="rId3" Type="http://schemas.openxmlformats.org/officeDocument/2006/relationships/image" Target="../media/image10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118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Relationship Id="rId3" Type="http://schemas.openxmlformats.org/officeDocument/2006/relationships/image" Target="../media/image144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15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Relationship Id="rId4" Type="http://schemas.openxmlformats.org/officeDocument/2006/relationships/image" Target="../media/image160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Relationship Id="rId3" Type="http://schemas.openxmlformats.org/officeDocument/2006/relationships/image" Target="../media/image162.png"/><Relationship Id="rId4" Type="http://schemas.openxmlformats.org/officeDocument/2006/relationships/image" Target="../media/image5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Relationship Id="rId6" Type="http://schemas.openxmlformats.org/officeDocument/2006/relationships/image" Target="../media/image169.png"/><Relationship Id="rId7" Type="http://schemas.openxmlformats.org/officeDocument/2006/relationships/image" Target="../media/image170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Relationship Id="rId4" Type="http://schemas.openxmlformats.org/officeDocument/2006/relationships/image" Target="../media/image17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Relationship Id="rId4" Type="http://schemas.openxmlformats.org/officeDocument/2006/relationships/image" Target="../media/image18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Relationship Id="rId4" Type="http://schemas.openxmlformats.org/officeDocument/2006/relationships/image" Target="../media/image185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Relationship Id="rId4" Type="http://schemas.openxmlformats.org/officeDocument/2006/relationships/image" Target="../media/image188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88.png"/><Relationship Id="rId5" Type="http://schemas.openxmlformats.org/officeDocument/2006/relationships/image" Target="../media/image73.png"/><Relationship Id="rId6" Type="http://schemas.openxmlformats.org/officeDocument/2006/relationships/image" Target="../media/image19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Relationship Id="rId4" Type="http://schemas.openxmlformats.org/officeDocument/2006/relationships/image" Target="../media/image19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Relationship Id="rId3" Type="http://schemas.openxmlformats.org/officeDocument/2006/relationships/image" Target="../media/image196.png"/><Relationship Id="rId4" Type="http://schemas.openxmlformats.org/officeDocument/2006/relationships/image" Target="../media/image194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Relationship Id="rId5" Type="http://schemas.openxmlformats.org/officeDocument/2006/relationships/image" Target="../media/image208.png"/><Relationship Id="rId6" Type="http://schemas.openxmlformats.org/officeDocument/2006/relationships/image" Target="../media/image209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Relationship Id="rId3" Type="http://schemas.openxmlformats.org/officeDocument/2006/relationships/image" Target="../media/image212.png"/><Relationship Id="rId4" Type="http://schemas.openxmlformats.org/officeDocument/2006/relationships/image" Target="../media/image213.png"/><Relationship Id="rId5" Type="http://schemas.openxmlformats.org/officeDocument/2006/relationships/image" Target="../media/image214.png"/><Relationship Id="rId6" Type="http://schemas.openxmlformats.org/officeDocument/2006/relationships/image" Target="../media/image215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Relationship Id="rId4" Type="http://schemas.openxmlformats.org/officeDocument/2006/relationships/image" Target="../media/image218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Relationship Id="rId4" Type="http://schemas.openxmlformats.org/officeDocument/2006/relationships/image" Target="../media/image231.png"/><Relationship Id="rId5" Type="http://schemas.openxmlformats.org/officeDocument/2006/relationships/image" Target="../media/image232.png"/><Relationship Id="rId6" Type="http://schemas.openxmlformats.org/officeDocument/2006/relationships/image" Target="../media/image233.png"/><Relationship Id="rId7" Type="http://schemas.openxmlformats.org/officeDocument/2006/relationships/image" Target="../media/image234.png"/><Relationship Id="rId8" Type="http://schemas.openxmlformats.org/officeDocument/2006/relationships/image" Target="../media/image235.png"/><Relationship Id="rId9" Type="http://schemas.openxmlformats.org/officeDocument/2006/relationships/image" Target="../media/image236.png"/><Relationship Id="rId10" Type="http://schemas.openxmlformats.org/officeDocument/2006/relationships/image" Target="../media/image237.png"/><Relationship Id="rId11" Type="http://schemas.openxmlformats.org/officeDocument/2006/relationships/image" Target="../media/image238.png"/><Relationship Id="rId12" Type="http://schemas.openxmlformats.org/officeDocument/2006/relationships/image" Target="../media/image239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199.png"/><Relationship Id="rId4" Type="http://schemas.openxmlformats.org/officeDocument/2006/relationships/image" Target="../media/image216.png"/><Relationship Id="rId5" Type="http://schemas.openxmlformats.org/officeDocument/2006/relationships/image" Target="../media/image217.png"/><Relationship Id="rId6" Type="http://schemas.openxmlformats.org/officeDocument/2006/relationships/image" Target="../media/image241.png"/><Relationship Id="rId7" Type="http://schemas.openxmlformats.org/officeDocument/2006/relationships/image" Target="../media/image200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199.png"/><Relationship Id="rId4" Type="http://schemas.openxmlformats.org/officeDocument/2006/relationships/image" Target="../media/image216.png"/><Relationship Id="rId5" Type="http://schemas.openxmlformats.org/officeDocument/2006/relationships/image" Target="../media/image217.png"/><Relationship Id="rId6" Type="http://schemas.openxmlformats.org/officeDocument/2006/relationships/image" Target="../media/image241.png"/><Relationship Id="rId7" Type="http://schemas.openxmlformats.org/officeDocument/2006/relationships/image" Target="../media/image200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Relationship Id="rId5" Type="http://schemas.openxmlformats.org/officeDocument/2006/relationships/image" Target="../media/image24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Relationship Id="rId3" Type="http://schemas.openxmlformats.org/officeDocument/2006/relationships/image" Target="../media/image245.png"/><Relationship Id="rId4" Type="http://schemas.openxmlformats.org/officeDocument/2006/relationships/image" Target="../media/image162.png"/><Relationship Id="rId5" Type="http://schemas.openxmlformats.org/officeDocument/2006/relationships/image" Target="../media/image24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Relationship Id="rId4" Type="http://schemas.openxmlformats.org/officeDocument/2006/relationships/image" Target="../media/image249.png"/><Relationship Id="rId5" Type="http://schemas.openxmlformats.org/officeDocument/2006/relationships/image" Target="../media/image25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Relationship Id="rId5" Type="http://schemas.openxmlformats.org/officeDocument/2006/relationships/image" Target="../media/image25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image" Target="../media/image199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05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73.png"/><Relationship Id="rId8" Type="http://schemas.openxmlformats.org/officeDocument/2006/relationships/image" Target="../media/image191.png"/><Relationship Id="rId9" Type="http://schemas.openxmlformats.org/officeDocument/2006/relationships/image" Target="../media/image26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Relationship Id="rId3" Type="http://schemas.openxmlformats.org/officeDocument/2006/relationships/image" Target="../media/image274.png"/><Relationship Id="rId4" Type="http://schemas.openxmlformats.org/officeDocument/2006/relationships/image" Target="../media/image275.png"/><Relationship Id="rId5" Type="http://schemas.openxmlformats.org/officeDocument/2006/relationships/image" Target="../media/image276.png"/><Relationship Id="rId6" Type="http://schemas.openxmlformats.org/officeDocument/2006/relationships/image" Target="../media/image157.png"/><Relationship Id="rId7" Type="http://schemas.openxmlformats.org/officeDocument/2006/relationships/image" Target="../media/image277.png"/><Relationship Id="rId8" Type="http://schemas.openxmlformats.org/officeDocument/2006/relationships/image" Target="../media/image278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Relationship Id="rId5" Type="http://schemas.openxmlformats.org/officeDocument/2006/relationships/image" Target="../media/image282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5.png"/><Relationship Id="rId5" Type="http://schemas.openxmlformats.org/officeDocument/2006/relationships/image" Target="../media/image282.png"/><Relationship Id="rId6" Type="http://schemas.openxmlformats.org/officeDocument/2006/relationships/image" Target="../media/image286.png"/><Relationship Id="rId7" Type="http://schemas.openxmlformats.org/officeDocument/2006/relationships/image" Target="../media/image287.png"/><Relationship Id="rId8" Type="http://schemas.openxmlformats.org/officeDocument/2006/relationships/image" Target="../media/image288.png"/><Relationship Id="rId9" Type="http://schemas.openxmlformats.org/officeDocument/2006/relationships/image" Target="../media/image289.png"/><Relationship Id="rId10" Type="http://schemas.openxmlformats.org/officeDocument/2006/relationships/image" Target="../media/image290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292.png"/><Relationship Id="rId4" Type="http://schemas.openxmlformats.org/officeDocument/2006/relationships/image" Target="../media/image29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Relationship Id="rId4" Type="http://schemas.openxmlformats.org/officeDocument/2006/relationships/image" Target="../media/image296.png"/><Relationship Id="rId5" Type="http://schemas.openxmlformats.org/officeDocument/2006/relationships/image" Target="../media/image297.png"/><Relationship Id="rId6" Type="http://schemas.openxmlformats.org/officeDocument/2006/relationships/image" Target="../media/image298.png"/><Relationship Id="rId7" Type="http://schemas.openxmlformats.org/officeDocument/2006/relationships/image" Target="../media/image299.png"/><Relationship Id="rId8" Type="http://schemas.openxmlformats.org/officeDocument/2006/relationships/image" Target="../media/image300.png"/><Relationship Id="rId9" Type="http://schemas.openxmlformats.org/officeDocument/2006/relationships/image" Target="../media/image30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3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Relationship Id="rId4" Type="http://schemas.openxmlformats.org/officeDocument/2006/relationships/image" Target="../media/image308.png"/><Relationship Id="rId5" Type="http://schemas.openxmlformats.org/officeDocument/2006/relationships/image" Target="../media/image305.png"/><Relationship Id="rId6" Type="http://schemas.openxmlformats.org/officeDocument/2006/relationships/image" Target="../media/image309.png"/><Relationship Id="rId7" Type="http://schemas.openxmlformats.org/officeDocument/2006/relationships/image" Target="../media/image310.png"/><Relationship Id="rId8" Type="http://schemas.openxmlformats.org/officeDocument/2006/relationships/image" Target="../media/image311.png"/><Relationship Id="rId9" Type="http://schemas.openxmlformats.org/officeDocument/2006/relationships/image" Target="../media/image312.png"/><Relationship Id="rId10" Type="http://schemas.openxmlformats.org/officeDocument/2006/relationships/image" Target="../media/image31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316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Relationship Id="rId4" Type="http://schemas.openxmlformats.org/officeDocument/2006/relationships/image" Target="../media/image319.png"/><Relationship Id="rId5" Type="http://schemas.openxmlformats.org/officeDocument/2006/relationships/image" Target="../media/image320.png"/><Relationship Id="rId6" Type="http://schemas.openxmlformats.org/officeDocument/2006/relationships/image" Target="../media/image321.png"/><Relationship Id="rId7" Type="http://schemas.openxmlformats.org/officeDocument/2006/relationships/image" Target="../media/image322.png"/><Relationship Id="rId8" Type="http://schemas.openxmlformats.org/officeDocument/2006/relationships/image" Target="../media/image323.png"/><Relationship Id="rId9" Type="http://schemas.openxmlformats.org/officeDocument/2006/relationships/image" Target="../media/image32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10.png"/><Relationship Id="rId7" Type="http://schemas.openxmlformats.org/officeDocument/2006/relationships/image" Target="../media/image33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Relationship Id="rId3" Type="http://schemas.openxmlformats.org/officeDocument/2006/relationships/image" Target="../media/image332.png"/><Relationship Id="rId4" Type="http://schemas.openxmlformats.org/officeDocument/2006/relationships/image" Target="../media/image333.png"/><Relationship Id="rId5" Type="http://schemas.openxmlformats.org/officeDocument/2006/relationships/image" Target="../media/image33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335.png"/><Relationship Id="rId4" Type="http://schemas.openxmlformats.org/officeDocument/2006/relationships/image" Target="../media/image336.png"/><Relationship Id="rId5" Type="http://schemas.openxmlformats.org/officeDocument/2006/relationships/image" Target="../media/image337.png"/><Relationship Id="rId6" Type="http://schemas.openxmlformats.org/officeDocument/2006/relationships/image" Target="../media/image338.png"/><Relationship Id="rId7" Type="http://schemas.openxmlformats.org/officeDocument/2006/relationships/image" Target="../media/image339.png"/><Relationship Id="rId8" Type="http://schemas.openxmlformats.org/officeDocument/2006/relationships/image" Target="../media/image340.png"/><Relationship Id="rId9" Type="http://schemas.openxmlformats.org/officeDocument/2006/relationships/image" Target="../media/image34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Relationship Id="rId3" Type="http://schemas.openxmlformats.org/officeDocument/2006/relationships/image" Target="../media/image34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Relationship Id="rId4" Type="http://schemas.openxmlformats.org/officeDocument/2006/relationships/image" Target="../media/image262.png"/><Relationship Id="rId5" Type="http://schemas.openxmlformats.org/officeDocument/2006/relationships/image" Target="../media/image144.png"/><Relationship Id="rId6" Type="http://schemas.openxmlformats.org/officeDocument/2006/relationships/image" Target="../media/image346.png"/><Relationship Id="rId7" Type="http://schemas.openxmlformats.org/officeDocument/2006/relationships/image" Target="../media/image347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Relationship Id="rId3" Type="http://schemas.openxmlformats.org/officeDocument/2006/relationships/image" Target="../media/image352.png"/><Relationship Id="rId4" Type="http://schemas.openxmlformats.org/officeDocument/2006/relationships/image" Target="../media/image353.png"/><Relationship Id="rId5" Type="http://schemas.openxmlformats.org/officeDocument/2006/relationships/image" Target="../media/image144.png"/><Relationship Id="rId6" Type="http://schemas.openxmlformats.org/officeDocument/2006/relationships/image" Target="../media/image354.png"/><Relationship Id="rId7" Type="http://schemas.openxmlformats.org/officeDocument/2006/relationships/image" Target="../media/image214.png"/><Relationship Id="rId8" Type="http://schemas.openxmlformats.org/officeDocument/2006/relationships/image" Target="../media/image355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182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Relationship Id="rId3" Type="http://schemas.openxmlformats.org/officeDocument/2006/relationships/image" Target="../media/image184.png"/><Relationship Id="rId4" Type="http://schemas.openxmlformats.org/officeDocument/2006/relationships/image" Target="../media/image275.png"/><Relationship Id="rId5" Type="http://schemas.openxmlformats.org/officeDocument/2006/relationships/image" Target="../media/image358.png"/><Relationship Id="rId6" Type="http://schemas.openxmlformats.org/officeDocument/2006/relationships/image" Target="../media/image359.png"/><Relationship Id="rId7" Type="http://schemas.openxmlformats.org/officeDocument/2006/relationships/image" Target="../media/image360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235.png"/><Relationship Id="rId4" Type="http://schemas.openxmlformats.org/officeDocument/2006/relationships/image" Target="../media/image362.png"/><Relationship Id="rId5" Type="http://schemas.openxmlformats.org/officeDocument/2006/relationships/image" Target="../media/image363.png"/><Relationship Id="rId6" Type="http://schemas.openxmlformats.org/officeDocument/2006/relationships/image" Target="../media/image364.png"/><Relationship Id="rId7" Type="http://schemas.openxmlformats.org/officeDocument/2006/relationships/image" Target="../media/image365.png"/><Relationship Id="rId8" Type="http://schemas.openxmlformats.org/officeDocument/2006/relationships/image" Target="../media/image366.png"/><Relationship Id="rId9" Type="http://schemas.openxmlformats.org/officeDocument/2006/relationships/image" Target="../media/image367.png"/><Relationship Id="rId10" Type="http://schemas.openxmlformats.org/officeDocument/2006/relationships/image" Target="../media/image368.png"/><Relationship Id="rId11" Type="http://schemas.openxmlformats.org/officeDocument/2006/relationships/image" Target="../media/image369.png"/><Relationship Id="rId12" Type="http://schemas.openxmlformats.org/officeDocument/2006/relationships/image" Target="../media/image370.png"/><Relationship Id="rId13" Type="http://schemas.openxmlformats.org/officeDocument/2006/relationships/image" Target="../media/image371.png"/><Relationship Id="rId14" Type="http://schemas.openxmlformats.org/officeDocument/2006/relationships/image" Target="../media/image372.png"/><Relationship Id="rId15" Type="http://schemas.openxmlformats.org/officeDocument/2006/relationships/image" Target="../media/image373.png"/><Relationship Id="rId16" Type="http://schemas.openxmlformats.org/officeDocument/2006/relationships/image" Target="../media/image374.png"/><Relationship Id="rId17" Type="http://schemas.openxmlformats.org/officeDocument/2006/relationships/image" Target="../media/image375.png"/><Relationship Id="rId18" Type="http://schemas.openxmlformats.org/officeDocument/2006/relationships/image" Target="../media/image376.png"/><Relationship Id="rId19" Type="http://schemas.openxmlformats.org/officeDocument/2006/relationships/image" Target="../media/image377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78.png"/><Relationship Id="rId4" Type="http://schemas.openxmlformats.org/officeDocument/2006/relationships/image" Target="../media/image17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78.png"/><Relationship Id="rId4" Type="http://schemas.openxmlformats.org/officeDocument/2006/relationships/image" Target="../media/image177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Relationship Id="rId3" Type="http://schemas.openxmlformats.org/officeDocument/2006/relationships/image" Target="../media/image380.png"/><Relationship Id="rId4" Type="http://schemas.openxmlformats.org/officeDocument/2006/relationships/image" Target="../media/image381.png"/><Relationship Id="rId5" Type="http://schemas.openxmlformats.org/officeDocument/2006/relationships/image" Target="../media/image382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Relationship Id="rId4" Type="http://schemas.openxmlformats.org/officeDocument/2006/relationships/image" Target="../media/image385.png"/><Relationship Id="rId5" Type="http://schemas.openxmlformats.org/officeDocument/2006/relationships/image" Target="../media/image386.png"/><Relationship Id="rId6" Type="http://schemas.openxmlformats.org/officeDocument/2006/relationships/image" Target="../media/image387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Relationship Id="rId3" Type="http://schemas.openxmlformats.org/officeDocument/2006/relationships/image" Target="../media/image389.png"/><Relationship Id="rId4" Type="http://schemas.openxmlformats.org/officeDocument/2006/relationships/image" Target="../media/image390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Relationship Id="rId3" Type="http://schemas.openxmlformats.org/officeDocument/2006/relationships/image" Target="../media/image393.png"/><Relationship Id="rId4" Type="http://schemas.openxmlformats.org/officeDocument/2006/relationships/image" Target="../media/image39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Relationship Id="rId3" Type="http://schemas.openxmlformats.org/officeDocument/2006/relationships/image" Target="../media/image396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Relationship Id="rId3" Type="http://schemas.openxmlformats.org/officeDocument/2006/relationships/image" Target="../media/image399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Relationship Id="rId4" Type="http://schemas.openxmlformats.org/officeDocument/2006/relationships/image" Target="../media/image40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Relationship Id="rId3" Type="http://schemas.openxmlformats.org/officeDocument/2006/relationships/image" Target="../media/image407.png"/><Relationship Id="rId4" Type="http://schemas.openxmlformats.org/officeDocument/2006/relationships/image" Target="../media/image408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Relationship Id="rId3" Type="http://schemas.openxmlformats.org/officeDocument/2006/relationships/image" Target="../media/image410.png"/><Relationship Id="rId4" Type="http://schemas.openxmlformats.org/officeDocument/2006/relationships/image" Target="../media/image41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Relationship Id="rId4" Type="http://schemas.openxmlformats.org/officeDocument/2006/relationships/image" Target="../media/image416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Relationship Id="rId3" Type="http://schemas.openxmlformats.org/officeDocument/2006/relationships/image" Target="../media/image418.png"/><Relationship Id="rId4" Type="http://schemas.openxmlformats.org/officeDocument/2006/relationships/image" Target="../media/image419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Relationship Id="rId3" Type="http://schemas.openxmlformats.org/officeDocument/2006/relationships/image" Target="../media/image421.png"/><Relationship Id="rId4" Type="http://schemas.openxmlformats.org/officeDocument/2006/relationships/image" Target="../media/image422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Relationship Id="rId3" Type="http://schemas.openxmlformats.org/officeDocument/2006/relationships/image" Target="../media/image424.png"/><Relationship Id="rId4" Type="http://schemas.openxmlformats.org/officeDocument/2006/relationships/image" Target="../media/image425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30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Relationship Id="rId3" Type="http://schemas.openxmlformats.org/officeDocument/2006/relationships/image" Target="../media/image430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Relationship Id="rId4" Type="http://schemas.openxmlformats.org/officeDocument/2006/relationships/image" Target="../media/image436.png"/><Relationship Id="rId5" Type="http://schemas.openxmlformats.org/officeDocument/2006/relationships/image" Target="../media/image437.png"/><Relationship Id="rId6" Type="http://schemas.openxmlformats.org/officeDocument/2006/relationships/image" Target="../media/image438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Relationship Id="rId3" Type="http://schemas.openxmlformats.org/officeDocument/2006/relationships/image" Target="../media/image443.png"/><Relationship Id="rId4" Type="http://schemas.openxmlformats.org/officeDocument/2006/relationships/image" Target="../media/image444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Relationship Id="rId3" Type="http://schemas.openxmlformats.org/officeDocument/2006/relationships/image" Target="../media/image4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Relationship Id="rId4" Type="http://schemas.openxmlformats.org/officeDocument/2006/relationships/image" Target="../media/image449.png"/><Relationship Id="rId5" Type="http://schemas.openxmlformats.org/officeDocument/2006/relationships/image" Target="../media/image450.png"/><Relationship Id="rId6" Type="http://schemas.openxmlformats.org/officeDocument/2006/relationships/image" Target="../media/image451.png"/><Relationship Id="rId7" Type="http://schemas.openxmlformats.org/officeDocument/2006/relationships/image" Target="../media/image452.png"/><Relationship Id="rId8" Type="http://schemas.openxmlformats.org/officeDocument/2006/relationships/image" Target="../media/image45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Relationship Id="rId3" Type="http://schemas.openxmlformats.org/officeDocument/2006/relationships/image" Target="../media/image455.png"/><Relationship Id="rId4" Type="http://schemas.openxmlformats.org/officeDocument/2006/relationships/image" Target="../media/image456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Relationship Id="rId3" Type="http://schemas.openxmlformats.org/officeDocument/2006/relationships/image" Target="../media/image458.png"/><Relationship Id="rId4" Type="http://schemas.openxmlformats.org/officeDocument/2006/relationships/image" Target="../media/image459.png"/><Relationship Id="rId5" Type="http://schemas.openxmlformats.org/officeDocument/2006/relationships/image" Target="../media/image46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2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Relationship Id="rId3" Type="http://schemas.openxmlformats.org/officeDocument/2006/relationships/image" Target="../media/image464.png"/><Relationship Id="rId4" Type="http://schemas.openxmlformats.org/officeDocument/2006/relationships/image" Target="../media/image465.png"/><Relationship Id="rId5" Type="http://schemas.openxmlformats.org/officeDocument/2006/relationships/image" Target="../media/image466.png"/><Relationship Id="rId6" Type="http://schemas.openxmlformats.org/officeDocument/2006/relationships/image" Target="../media/image467.png"/><Relationship Id="rId7" Type="http://schemas.openxmlformats.org/officeDocument/2006/relationships/image" Target="../media/image468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Relationship Id="rId4" Type="http://schemas.openxmlformats.org/officeDocument/2006/relationships/image" Target="../media/image47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Relationship Id="rId3" Type="http://schemas.openxmlformats.org/officeDocument/2006/relationships/image" Target="../media/image475.png"/><Relationship Id="rId4" Type="http://schemas.openxmlformats.org/officeDocument/2006/relationships/image" Target="../media/image476.png"/><Relationship Id="rId5" Type="http://schemas.openxmlformats.org/officeDocument/2006/relationships/image" Target="../media/image47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Relationship Id="rId3" Type="http://schemas.openxmlformats.org/officeDocument/2006/relationships/image" Target="../media/image478.png"/><Relationship Id="rId4" Type="http://schemas.openxmlformats.org/officeDocument/2006/relationships/image" Target="../media/image479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Relationship Id="rId3" Type="http://schemas.openxmlformats.org/officeDocument/2006/relationships/image" Target="../media/image483.png"/><Relationship Id="rId4" Type="http://schemas.openxmlformats.org/officeDocument/2006/relationships/image" Target="../media/image48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Relationship Id="rId3" Type="http://schemas.openxmlformats.org/officeDocument/2006/relationships/image" Target="../media/image483.png"/><Relationship Id="rId4" Type="http://schemas.openxmlformats.org/officeDocument/2006/relationships/image" Target="../media/image484.png"/><Relationship Id="rId5" Type="http://schemas.openxmlformats.org/officeDocument/2006/relationships/image" Target="../media/image486.png"/><Relationship Id="rId6" Type="http://schemas.openxmlformats.org/officeDocument/2006/relationships/image" Target="../media/image487.png"/><Relationship Id="rId7" Type="http://schemas.openxmlformats.org/officeDocument/2006/relationships/image" Target="../media/image488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Relationship Id="rId3" Type="http://schemas.openxmlformats.org/officeDocument/2006/relationships/image" Target="../media/image490.png"/><Relationship Id="rId4" Type="http://schemas.openxmlformats.org/officeDocument/2006/relationships/image" Target="../media/image491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Relationship Id="rId3" Type="http://schemas.openxmlformats.org/officeDocument/2006/relationships/image" Target="../media/image493.png"/><Relationship Id="rId4" Type="http://schemas.openxmlformats.org/officeDocument/2006/relationships/image" Target="../media/image491.png"/><Relationship Id="rId5" Type="http://schemas.openxmlformats.org/officeDocument/2006/relationships/image" Target="../media/image494.png"/><Relationship Id="rId6" Type="http://schemas.openxmlformats.org/officeDocument/2006/relationships/image" Target="../media/image495.png"/><Relationship Id="rId7" Type="http://schemas.openxmlformats.org/officeDocument/2006/relationships/image" Target="../media/image467.png"/><Relationship Id="rId8" Type="http://schemas.openxmlformats.org/officeDocument/2006/relationships/image" Target="../media/image49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Relationship Id="rId3" Type="http://schemas.openxmlformats.org/officeDocument/2006/relationships/image" Target="../media/image500.png"/><Relationship Id="rId4" Type="http://schemas.openxmlformats.org/officeDocument/2006/relationships/image" Target="../media/image501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Relationship Id="rId3" Type="http://schemas.openxmlformats.org/officeDocument/2006/relationships/image" Target="../media/image504.png"/><Relationship Id="rId4" Type="http://schemas.openxmlformats.org/officeDocument/2006/relationships/image" Target="../media/image505.png"/><Relationship Id="rId5" Type="http://schemas.openxmlformats.org/officeDocument/2006/relationships/image" Target="../media/image506.png"/><Relationship Id="rId6" Type="http://schemas.openxmlformats.org/officeDocument/2006/relationships/image" Target="../media/image507.png"/><Relationship Id="rId7" Type="http://schemas.openxmlformats.org/officeDocument/2006/relationships/image" Target="../media/image508.png"/><Relationship Id="rId8" Type="http://schemas.openxmlformats.org/officeDocument/2006/relationships/image" Target="../media/image509.png"/><Relationship Id="rId9" Type="http://schemas.openxmlformats.org/officeDocument/2006/relationships/image" Target="../media/image510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Relationship Id="rId3" Type="http://schemas.openxmlformats.org/officeDocument/2006/relationships/image" Target="../media/image19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Relationship Id="rId3" Type="http://schemas.openxmlformats.org/officeDocument/2006/relationships/image" Target="../media/image199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Relationship Id="rId3" Type="http://schemas.openxmlformats.org/officeDocument/2006/relationships/image" Target="../media/image513.png"/><Relationship Id="rId4" Type="http://schemas.openxmlformats.org/officeDocument/2006/relationships/image" Target="../media/image514.png"/><Relationship Id="rId5" Type="http://schemas.openxmlformats.org/officeDocument/2006/relationships/image" Target="../media/image515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Relationship Id="rId3" Type="http://schemas.openxmlformats.org/officeDocument/2006/relationships/image" Target="../media/image517.png"/><Relationship Id="rId4" Type="http://schemas.openxmlformats.org/officeDocument/2006/relationships/image" Target="../media/image518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Relationship Id="rId3" Type="http://schemas.openxmlformats.org/officeDocument/2006/relationships/image" Target="../media/image520.png"/><Relationship Id="rId4" Type="http://schemas.openxmlformats.org/officeDocument/2006/relationships/image" Target="../media/image521.png"/><Relationship Id="rId5" Type="http://schemas.openxmlformats.org/officeDocument/2006/relationships/image" Target="../media/image522.png"/><Relationship Id="rId6" Type="http://schemas.openxmlformats.org/officeDocument/2006/relationships/image" Target="../media/image523.png"/><Relationship Id="rId7" Type="http://schemas.openxmlformats.org/officeDocument/2006/relationships/image" Target="../media/image524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Relationship Id="rId3" Type="http://schemas.openxmlformats.org/officeDocument/2006/relationships/image" Target="../media/image526.png"/><Relationship Id="rId4" Type="http://schemas.openxmlformats.org/officeDocument/2006/relationships/image" Target="../media/image527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Relationship Id="rId3" Type="http://schemas.openxmlformats.org/officeDocument/2006/relationships/image" Target="../media/image529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Relationship Id="rId3" Type="http://schemas.openxmlformats.org/officeDocument/2006/relationships/image" Target="../media/image531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Relationship Id="rId3" Type="http://schemas.openxmlformats.org/officeDocument/2006/relationships/image" Target="../media/image533.png"/><Relationship Id="rId4" Type="http://schemas.openxmlformats.org/officeDocument/2006/relationships/image" Target="../media/image534.png"/><Relationship Id="rId5" Type="http://schemas.openxmlformats.org/officeDocument/2006/relationships/image" Target="../media/image535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537.png"/><Relationship Id="rId4" Type="http://schemas.openxmlformats.org/officeDocument/2006/relationships/image" Target="../media/image538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Relationship Id="rId3" Type="http://schemas.openxmlformats.org/officeDocument/2006/relationships/image" Target="../media/image540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Relationship Id="rId3" Type="http://schemas.openxmlformats.org/officeDocument/2006/relationships/image" Target="../media/image542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Relationship Id="rId3" Type="http://schemas.openxmlformats.org/officeDocument/2006/relationships/image" Target="../media/image543.png"/><Relationship Id="rId4" Type="http://schemas.openxmlformats.org/officeDocument/2006/relationships/image" Target="../media/image544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Relationship Id="rId3" Type="http://schemas.openxmlformats.org/officeDocument/2006/relationships/image" Target="../media/image546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Relationship Id="rId3" Type="http://schemas.openxmlformats.org/officeDocument/2006/relationships/image" Target="../media/image548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Relationship Id="rId3" Type="http://schemas.openxmlformats.org/officeDocument/2006/relationships/image" Target="../media/image550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Relationship Id="rId3" Type="http://schemas.openxmlformats.org/officeDocument/2006/relationships/image" Target="../media/image552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Relationship Id="rId3" Type="http://schemas.openxmlformats.org/officeDocument/2006/relationships/image" Target="../media/image554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6.png"/><Relationship Id="rId4" Type="http://schemas.openxmlformats.org/officeDocument/2006/relationships/image" Target="../media/image557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8.png"/><Relationship Id="rId4" Type="http://schemas.openxmlformats.org/officeDocument/2006/relationships/image" Target="../media/image559.png"/><Relationship Id="rId5" Type="http://schemas.openxmlformats.org/officeDocument/2006/relationships/image" Target="../media/image560.png"/><Relationship Id="rId6" Type="http://schemas.openxmlformats.org/officeDocument/2006/relationships/image" Target="../media/image561.png"/><Relationship Id="rId7" Type="http://schemas.openxmlformats.org/officeDocument/2006/relationships/image" Target="../media/image562.png"/><Relationship Id="rId8" Type="http://schemas.openxmlformats.org/officeDocument/2006/relationships/image" Target="../media/image563.png"/><Relationship Id="rId9" Type="http://schemas.openxmlformats.org/officeDocument/2006/relationships/image" Target="../media/image564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Relationship Id="rId3" Type="http://schemas.openxmlformats.org/officeDocument/2006/relationships/image" Target="../media/image566.png"/><Relationship Id="rId4" Type="http://schemas.openxmlformats.org/officeDocument/2006/relationships/image" Target="../media/image567.png"/><Relationship Id="rId5" Type="http://schemas.openxmlformats.org/officeDocument/2006/relationships/image" Target="../media/image568.png"/><Relationship Id="rId6" Type="http://schemas.openxmlformats.org/officeDocument/2006/relationships/image" Target="../media/image569.png"/><Relationship Id="rId7" Type="http://schemas.openxmlformats.org/officeDocument/2006/relationships/image" Target="../media/image570.png"/><Relationship Id="rId8" Type="http://schemas.openxmlformats.org/officeDocument/2006/relationships/image" Target="../media/image571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Relationship Id="rId3" Type="http://schemas.openxmlformats.org/officeDocument/2006/relationships/image" Target="../media/image566.png"/><Relationship Id="rId4" Type="http://schemas.openxmlformats.org/officeDocument/2006/relationships/image" Target="../media/image573.png"/><Relationship Id="rId5" Type="http://schemas.openxmlformats.org/officeDocument/2006/relationships/image" Target="../media/image574.png"/><Relationship Id="rId6" Type="http://schemas.openxmlformats.org/officeDocument/2006/relationships/image" Target="../media/image575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6.png"/><Relationship Id="rId3" Type="http://schemas.openxmlformats.org/officeDocument/2006/relationships/image" Target="../media/image577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Relationship Id="rId3" Type="http://schemas.openxmlformats.org/officeDocument/2006/relationships/image" Target="../media/image580.png"/><Relationship Id="rId4" Type="http://schemas.openxmlformats.org/officeDocument/2006/relationships/image" Target="../media/image581.png"/><Relationship Id="rId5" Type="http://schemas.openxmlformats.org/officeDocument/2006/relationships/image" Target="../media/image582.png"/><Relationship Id="rId6" Type="http://schemas.openxmlformats.org/officeDocument/2006/relationships/image" Target="../media/image583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Relationships in Triangles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Eight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— Relationships in Triangles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6.01–02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6.07–08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213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T-B2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Triangle Inequality Theorem; Converse of the 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decide whether three lengths can make a triangle, and whether they make a right triangle.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0" name="Picture 9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129901"/>
            <a:ext cx="754713" cy="2658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0884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2" name="Picture 11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170247"/>
            <a:ext cx="579088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771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7" name="Picture 16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3352823"/>
            <a:ext cx="1001537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73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car gets 32 miles per gallon. How far does it go on 9 gallons?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48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288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1" name="Picture 10" descr="358b64f686a507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136" y="2587101"/>
            <a:ext cx="754713" cy="265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08849" y="25100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3" name="Picture 12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24" y="2627447"/>
            <a:ext cx="579088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77713" y="25100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24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23277" y="3579876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20" name="Picture 19" descr="44a9be878ecf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487" y="4267223"/>
            <a:ext cx="1001537" cy="2658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44665" y="4192524"/>
            <a:ext cx="71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inequality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 two sides of a triangle add up to MORE than the third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sides of a right triangle that make the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side across from the right angle — always the longest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converse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51662"/>
            <a:ext cx="43024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statement turned around: if </a:t>
            </a:r>
          </a:p>
        </p:txBody>
      </p:sp>
      <p:pic>
        <p:nvPicPr>
          <p:cNvPr id="16" name="Picture 15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250" y="5135323"/>
            <a:ext cx="1436989" cy="25425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45239" y="5051662"/>
            <a:ext cx="4729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for the two shorter sides and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6294"/>
            <a:ext cx="3957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longest, the triangle is right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sides together must be longer than the third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0b98c26a463894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4425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64621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the two shorter sides. A triangle needs MORE than the longest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336582"/>
            <a:ext cx="3046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the FAST sheet:  </a:t>
            </a:r>
          </a:p>
        </p:txBody>
      </p:sp>
      <p:pic>
        <p:nvPicPr>
          <p:cNvPr id="13" name="Picture 12" descr="3dff896e73351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792" y="4454001"/>
            <a:ext cx="1079857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6649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91c3012494ba8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3090" y="4454001"/>
            <a:ext cx="1075110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68201" y="4336582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5e6002f24e4fe1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641" y="4454001"/>
            <a:ext cx="1056124" cy="225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third side is between the difference and the sum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154aaaf4cda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0603" y="2249805"/>
            <a:ext cx="4020312" cy="280416"/>
          </a:xfrm>
          <a:prstGeom prst="rect">
            <a:avLst/>
          </a:prstGeom>
        </p:spPr>
      </p:pic>
      <p:pic>
        <p:nvPicPr>
          <p:cNvPr id="11" name="Picture 10" descr="c8ac983533cfd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475" y="3048381"/>
            <a:ext cx="149656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Sides 4 and 9: the third side x is more than 5 and less than 13.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31436"/>
            <a:ext cx="1150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Never </a:t>
            </a:r>
          </a:p>
        </p:txBody>
      </p:sp>
      <p:pic>
        <p:nvPicPr>
          <p:cNvPr id="14" name="Picture 13" descr="86c91fb9500094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788" y="4812934"/>
            <a:ext cx="151892" cy="15663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52680" y="4631436"/>
            <a:ext cx="41503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: at 5 or 13 the sides lie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legs' squares add up to the hypotenuse's square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d978ce3bc7c14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993392"/>
            <a:ext cx="2148840" cy="1967189"/>
          </a:xfrm>
          <a:prstGeom prst="rect">
            <a:avLst/>
          </a:prstGeom>
        </p:spPr>
      </p:pic>
      <p:pic>
        <p:nvPicPr>
          <p:cNvPr id="11" name="Picture 10" descr="77f157c420812a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271" y="4106885"/>
            <a:ext cx="399897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85669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shorter sides squared and added = the longest side squared: a right triangle.</a:t>
            </a:r>
          </a:p>
        </p:txBody>
      </p:sp>
      <p:pic>
        <p:nvPicPr>
          <p:cNvPr id="13" name="Picture 12" descr="907ae7451718aa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666858"/>
            <a:ext cx="1056124" cy="2729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43676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5" name="Picture 14" descr="201bd8d4d2887a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8626" y="5621765"/>
            <a:ext cx="2506218" cy="26581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4844" y="5547065"/>
            <a:ext cx="1446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right.    </a:t>
            </a:r>
          </a:p>
        </p:txBody>
      </p:sp>
      <p:pic>
        <p:nvPicPr>
          <p:cNvPr id="17" name="Picture 16" descr="db91a7798c4bf6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623" y="5666858"/>
            <a:ext cx="757086" cy="27293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1710" y="5547065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9" name="Picture 18" descr="07affdc0b9ac2e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661" y="5621765"/>
            <a:ext cx="1450093" cy="2658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76754" y="5547065"/>
            <a:ext cx="922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1" name="Picture 20" descr="db1362cf918c4d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2038" y="5669231"/>
            <a:ext cx="332263" cy="2159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4302" y="5547065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5 cm, 8 cm and 14 cm make a triangle?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45336" cy="277368"/>
          </a:xfrm>
          <a:prstGeom prst="rect">
            <a:avLst/>
          </a:prstGeom>
        </p:spPr>
      </p:pic>
      <p:pic>
        <p:nvPicPr>
          <p:cNvPr id="9" name="Picture 8" descr="eb6c03627e6a60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12471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5 + 8 = 13 is less than 14.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Can sides of 7 inches, 9 inches and 15 inches make a triangle?</a:t>
            </a:r>
          </a:p>
        </p:txBody>
      </p:sp>
      <p:pic>
        <p:nvPicPr>
          <p:cNvPr id="9" name="Picture 8" descr="14b1b0d5182390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72" y="2300270"/>
            <a:ext cx="138379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3908" y="2729086"/>
            <a:ext cx="54508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16 is more than 15: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7 + 9 = 16 is more than 15.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20 m, 12 m and 16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0b182f565455e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5048" cy="341376"/>
          </a:xfrm>
          <a:prstGeom prst="rect">
            <a:avLst/>
          </a:prstGeom>
        </p:spPr>
      </p:pic>
      <p:pic>
        <p:nvPicPr>
          <p:cNvPr id="9" name="Picture 8" descr="041f2b9b675da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64592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8 ft, 11 ft and 14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Is it a right triangle?</a:t>
            </a:r>
          </a:p>
        </p:txBody>
      </p:sp>
      <p:pic>
        <p:nvPicPr>
          <p:cNvPr id="10" name="Picture 9" descr="7c0920cdde35d4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5300" y="2793649"/>
            <a:ext cx="3663696" cy="304800"/>
          </a:xfrm>
          <a:prstGeom prst="rect">
            <a:avLst/>
          </a:prstGeom>
        </p:spPr>
      </p:pic>
      <p:pic>
        <p:nvPicPr>
          <p:cNvPr id="11" name="Picture 10" descr="461ad6978bbfc5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3328287"/>
            <a:ext cx="1383887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9187" y="3268184"/>
            <a:ext cx="2181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not equal.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185 is not 196.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2 ft, 7 ft and 10 ft make a triangle?</a:t>
            </a:r>
          </a:p>
        </p:txBody>
      </p:sp>
      <p:pic>
        <p:nvPicPr>
          <p:cNvPr id="9" name="Picture 8" descr="2df5e3f92a90d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549" y="2623358"/>
            <a:ext cx="1210056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6685" y="3049126"/>
            <a:ext cx="5225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9 is less than 10: no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2 + 7 = 9 is less than 10.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Can sides of 6 m, 6 m and 11 m make a triangle?</a:t>
            </a:r>
          </a:p>
        </p:txBody>
      </p:sp>
      <p:pic>
        <p:nvPicPr>
          <p:cNvPr id="9" name="Picture 8" descr="85ff24f4fb0da8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059" y="2623358"/>
            <a:ext cx="1395984" cy="252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95" y="3049126"/>
            <a:ext cx="5422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12 is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6 + 6 = 12 is more than 11.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7, 7, 14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5, 11, 8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3, 10, 6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12, 4, 6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three lengths can make a triangle?</a:t>
            </a:r>
          </a:p>
        </p:txBody>
      </p:sp>
      <p:pic>
        <p:nvPicPr>
          <p:cNvPr id="9" name="Picture 8" descr="bfd6c4d452e9b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645" y="2647219"/>
            <a:ext cx="1183147" cy="2123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77793" y="2509630"/>
            <a:ext cx="40438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more than 11: a triangle.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9781" y="3012550"/>
            <a:ext cx="9019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 each other set the two shorter sides fall short or lie flat.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5, 11,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7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an inequality for the length x, in centimeters, of the third side.</a:t>
            </a:r>
          </a:p>
        </p:txBody>
      </p:sp>
      <p:pic>
        <p:nvPicPr>
          <p:cNvPr id="10" name="Picture 9" descr="64e100d81a43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3109" y="3596209"/>
            <a:ext cx="1364551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57660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8034704937480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803" y="3593447"/>
            <a:ext cx="1544097" cy="251364"/>
          </a:xfrm>
          <a:prstGeom prst="rect">
            <a:avLst/>
          </a:prstGeom>
        </p:spPr>
      </p:pic>
      <p:pic>
        <p:nvPicPr>
          <p:cNvPr id="13" name="Picture 12" descr="13e3ad95332ccb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3109" y="4134371"/>
            <a:ext cx="136550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 &lt; x &lt; 19 — more than 5 cm and less than 19 cm.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0fbe6fa0ef0cae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51790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ffc528ca75e1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61919"/>
            <a:ext cx="161239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7505d4898526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74567"/>
            <a:ext cx="153009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c71b5ee8fe399e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77615"/>
            <a:ext cx="1520952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sides of a triangle are 6 cm and 10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inequality shows every possible length x, in centimeters, of the third side?</a:t>
            </a:r>
          </a:p>
        </p:txBody>
      </p:sp>
      <p:pic>
        <p:nvPicPr>
          <p:cNvPr id="10" name="Picture 9" descr="776ebc7eac5ed4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056" y="3596209"/>
            <a:ext cx="1414272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67328" y="3478099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ec18a57bdad36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470" y="3596209"/>
            <a:ext cx="1571720" cy="254126"/>
          </a:xfrm>
          <a:prstGeom prst="rect">
            <a:avLst/>
          </a:prstGeom>
        </p:spPr>
      </p:pic>
      <p:pic>
        <p:nvPicPr>
          <p:cNvPr id="13" name="Picture 12" descr="4878d8a402d2d5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3056" y="4130180"/>
            <a:ext cx="1386649" cy="25412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39706" y="4017595"/>
            <a:ext cx="2855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never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 &lt; x &lt; 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 sides of 8 inches, 15 inches and 17 inches make a right triangle?</a:t>
            </a:r>
          </a:p>
        </p:txBody>
      </p:sp>
      <p:pic>
        <p:nvPicPr>
          <p:cNvPr id="9" name="Picture 8" descr="43395e419bfcc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883" y="3003961"/>
            <a:ext cx="3749039" cy="304800"/>
          </a:xfrm>
          <a:prstGeom prst="rect">
            <a:avLst/>
          </a:prstGeom>
        </p:spPr>
      </p:pic>
      <p:pic>
        <p:nvPicPr>
          <p:cNvPr id="10" name="Picture 9" descr="18e0f36cf337f5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83" y="3541361"/>
            <a:ext cx="1383887" cy="3066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39770" y="3478496"/>
            <a:ext cx="4712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a right triangle.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289 = 17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=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Yes, because 7 + 24 &gt;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25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+ 7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≠ 24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No, because 7 + 24 ≠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25 cm, 7 cm and 24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it a right triangle? Which answer has the right reason?</a:t>
            </a:r>
          </a:p>
        </p:txBody>
      </p:sp>
      <p:pic>
        <p:nvPicPr>
          <p:cNvPr id="10" name="Picture 9" descr="5490789b4120b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98" y="3110641"/>
            <a:ext cx="3755136" cy="307848"/>
          </a:xfrm>
          <a:prstGeom prst="rect">
            <a:avLst/>
          </a:prstGeom>
        </p:spPr>
      </p:pic>
      <p:pic>
        <p:nvPicPr>
          <p:cNvPr id="11" name="Picture 10" descr="1b06dea067902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198" y="3648327"/>
            <a:ext cx="1417034" cy="309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79232" y="3588224"/>
            <a:ext cx="28725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equal — right.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yes, because 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triangular sail has sides of 20 ft, 21 ft and 29 ft, and it weighs 12 pounds.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Does the sail have a right angle?</a:t>
            </a:r>
          </a:p>
        </p:txBody>
      </p:sp>
      <p:pic>
        <p:nvPicPr>
          <p:cNvPr id="10" name="Picture 9" descr="e14984151c53cd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075" y="3546107"/>
            <a:ext cx="4197096" cy="304800"/>
          </a:xfrm>
          <a:prstGeom prst="rect">
            <a:avLst/>
          </a:prstGeom>
        </p:spPr>
      </p:pic>
      <p:pic>
        <p:nvPicPr>
          <p:cNvPr id="11" name="Picture 10" descr="2bcf32630534ac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5" y="4080460"/>
            <a:ext cx="1417034" cy="3066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110" y="4017595"/>
            <a:ext cx="2784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a right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+ 21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841 = 29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Ana says sides of 6, 7 and 9 make a right triangle because 6 + 7 &gt;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7662b6e2d2d4ee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69" y="3538202"/>
            <a:ext cx="1709832" cy="3093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16002" y="3478099"/>
            <a:ext cx="11175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but </a:t>
            </a:r>
          </a:p>
        </p:txBody>
      </p:sp>
      <p:pic>
        <p:nvPicPr>
          <p:cNvPr id="12" name="Picture 11" descr="984ee268824627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6366" y="3540964"/>
            <a:ext cx="101374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10112" y="3478099"/>
            <a:ext cx="2948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6 + 7 &gt; 9 shows only a triangle; 85 is not 81, so it is not right.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4 cm, 8 cm and 13 cm make a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Can sides of 9 inches, 9 inches and 18 inches make a triangle?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Two sides of a triangle are 5 m and 11 m. Write an inequality for the length x, in meters, of the third 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38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43814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28 cm, 45 cm and 53 cm make a right triangle?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Do sides of 17 ft, 10 ft and 14 ft make a right triangle?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carpenter joins boards of 30 inches, 40 inches and 50 inches into a triangle. Is one corner a right angle?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1–2 — Triangle Inequality Theorem; Converse of the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inequality — 2N5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Converse of the Pythagorean theorem: is it a right triangle? — EQZ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a right triangle — the hypotenuse, or a leg.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3" name="Picture 12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3355197"/>
            <a:ext cx="996791" cy="2658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524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Can sides of 4 inches, 7 inches and 12 inches make a triangle?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31905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No — 4 + 7 = 11 &lt;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8763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printer prints 18 pages a minute. Pages in 4.5 minutes?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5480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81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3623722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3277" y="35798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29571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value:  </a:t>
            </a:r>
          </a:p>
        </p:txBody>
      </p:sp>
      <p:pic>
        <p:nvPicPr>
          <p:cNvPr id="16" name="Picture 15" descr="3ac1f13e1f982f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487" y="4269597"/>
            <a:ext cx="996791" cy="2658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39919" y="4192524"/>
            <a:ext cx="5753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Pythagorean Theorem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6888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in every right triangle,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+ leg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 = hypotenuse</a:t>
            </a:r>
            <a:r>
              <a:rPr sz="209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090" b="0" i="0">
                <a:solidFill>
                  <a:srgbClr val="1A1A1A"/>
                </a:solidFill>
                <a:latin typeface="Lexend"/>
              </a:rPr>
              <a:t>:  </a:t>
            </a:r>
          </a:p>
        </p:txBody>
      </p:sp>
      <p:pic>
        <p:nvPicPr>
          <p:cNvPr id="10" name="Picture 9" descr="ca3cd8deffede9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105" y="1953211"/>
            <a:ext cx="1436989" cy="2542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25050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hypotenuse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3442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 — the side across from the right angle, always the longest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576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square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72272"/>
            <a:ext cx="4142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that, times itself,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56904"/>
            <a:ext cx="56466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makes the number under the root sign:  </a:t>
            </a:r>
          </a:p>
        </p:txBody>
      </p:sp>
      <p:pic>
        <p:nvPicPr>
          <p:cNvPr id="16" name="Picture 15" descr="c01d6e653b6eb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533" y="4508784"/>
            <a:ext cx="1064688" cy="35640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square corner first; c is across from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8aa5bffac20a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8" y="1993392"/>
            <a:ext cx="4215384" cy="2194957"/>
          </a:xfrm>
          <a:prstGeom prst="rect">
            <a:avLst/>
          </a:prstGeom>
        </p:spPr>
      </p:pic>
      <p:pic>
        <p:nvPicPr>
          <p:cNvPr id="11" name="Picture 10" descr="f29ece7fb4d230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80373"/>
            <a:ext cx="192938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066173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legs' squares add up to the hypotenuse's square. c is across from the right angle — always the longest side.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hypotenuse: square, add, then the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21f71f127125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383" y="2194560"/>
            <a:ext cx="3730752" cy="341376"/>
          </a:xfrm>
          <a:prstGeom prst="rect">
            <a:avLst/>
          </a:prstGeom>
        </p:spPr>
      </p:pic>
      <p:pic>
        <p:nvPicPr>
          <p:cNvPr id="11" name="Picture 10" descr="f5cca9bd60907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990088"/>
            <a:ext cx="2444496" cy="478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66971"/>
            <a:ext cx="2311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Legs 3 and 5:   </a:t>
            </a:r>
          </a:p>
        </p:txBody>
      </p:sp>
      <p:pic>
        <p:nvPicPr>
          <p:cNvPr id="13" name="Picture 12" descr="24c2904a6862c3a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79" y="4044045"/>
            <a:ext cx="1483320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45700" y="3966971"/>
            <a:ext cx="535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363f37b4e81453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4519" y="4010818"/>
            <a:ext cx="1808464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34483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Exact: </a:t>
            </a:r>
          </a:p>
        </p:txBody>
      </p:sp>
      <p:pic>
        <p:nvPicPr>
          <p:cNvPr id="17" name="Picture 16" descr="5b982e7bc59239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736" y="4678330"/>
            <a:ext cx="666900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27636" y="4634483"/>
            <a:ext cx="41507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  To the nearest tenth: 5.8.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leg: subtract the squares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e309e7e8ce6a1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5" y="1993392"/>
            <a:ext cx="2258568" cy="341376"/>
          </a:xfrm>
          <a:prstGeom prst="rect">
            <a:avLst/>
          </a:prstGeom>
        </p:spPr>
      </p:pic>
      <p:pic>
        <p:nvPicPr>
          <p:cNvPr id="11" name="Picture 10" descr="5652a128c97c63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367" y="2679192"/>
            <a:ext cx="3224784" cy="341376"/>
          </a:xfrm>
          <a:prstGeom prst="rect">
            <a:avLst/>
          </a:prstGeom>
        </p:spPr>
      </p:pic>
      <p:pic>
        <p:nvPicPr>
          <p:cNvPr id="12" name="Picture 11" descr="c79a9df2bcafe8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364991"/>
            <a:ext cx="2066543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140707"/>
            <a:ext cx="32313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For a leg, subtract:  </a:t>
            </a:r>
          </a:p>
        </p:txBody>
      </p:sp>
      <p:pic>
        <p:nvPicPr>
          <p:cNvPr id="14" name="Picture 13" descr="1eb4729ee4dde5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1731" y="4217781"/>
            <a:ext cx="1499933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81665" y="4140707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84936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Check: a leg is shorter than the hypotenuse.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7 cm and 9 cm.</a:t>
            </a:r>
          </a:p>
        </p:txBody>
      </p:sp>
      <p:pic>
        <p:nvPicPr>
          <p:cNvPr id="9" name="Picture 8" descr="g37a284cc012c9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19" y="2276458"/>
            <a:ext cx="2240280" cy="234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5436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 Give it exactly and to the nearest tenth.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3f94f57da23b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22648" cy="341376"/>
          </a:xfrm>
          <a:prstGeom prst="rect">
            <a:avLst/>
          </a:prstGeom>
        </p:spPr>
      </p:pic>
      <p:pic>
        <p:nvPicPr>
          <p:cNvPr id="9" name="Picture 8" descr="b97c89e1a1136c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7480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√130 cm ≈ 11.4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5 inches and 11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hypotenuse, exactly and to the nearest tenth?</a:t>
            </a:r>
          </a:p>
        </p:txBody>
      </p:sp>
      <p:pic>
        <p:nvPicPr>
          <p:cNvPr id="10" name="Picture 9" descr="49e72f05093d83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019" y="2796697"/>
            <a:ext cx="4331208" cy="304800"/>
          </a:xfrm>
          <a:prstGeom prst="rect">
            <a:avLst/>
          </a:prstGeom>
        </p:spPr>
      </p:pic>
      <p:pic>
        <p:nvPicPr>
          <p:cNvPr id="11" name="Picture 10" descr="42e060f27f4a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0019" y="3291044"/>
            <a:ext cx="242620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= √146 in ≈ 12.1 in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15 m and one leg of 8 m.</a:t>
            </a:r>
          </a:p>
        </p:txBody>
      </p:sp>
      <p:pic>
        <p:nvPicPr>
          <p:cNvPr id="9" name="Picture 8" descr="g8750fe113f51c0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276458"/>
            <a:ext cx="3657600" cy="23681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381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 Give it exactly and to the nearest tenth.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792e0d9e2775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75688" cy="341376"/>
          </a:xfrm>
          <a:prstGeom prst="rect">
            <a:avLst/>
          </a:prstGeom>
        </p:spPr>
      </p:pic>
      <p:pic>
        <p:nvPicPr>
          <p:cNvPr id="9" name="Picture 8" descr="7647180d4d2d71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166872" cy="341376"/>
          </a:xfrm>
          <a:prstGeom prst="rect">
            <a:avLst/>
          </a:prstGeom>
        </p:spPr>
      </p:pic>
      <p:pic>
        <p:nvPicPr>
          <p:cNvPr id="10" name="Picture 9" descr="b3458a8a85ef49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51632"/>
            <a:ext cx="2682240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√161 m ≈ 12.7 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11 ft and one leg of 6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other leg, exactly and to the nearest tenth?</a:t>
            </a:r>
          </a:p>
        </p:txBody>
      </p:sp>
      <p:pic>
        <p:nvPicPr>
          <p:cNvPr id="10" name="Picture 9" descr="3e1aaf67d43b29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459" y="2796697"/>
            <a:ext cx="4151376" cy="304800"/>
          </a:xfrm>
          <a:prstGeom prst="rect">
            <a:avLst/>
          </a:prstGeom>
        </p:spPr>
      </p:pic>
      <p:pic>
        <p:nvPicPr>
          <p:cNvPr id="11" name="Picture 10" descr="12045b10f967ac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459" y="3291044"/>
            <a:ext cx="211836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= √85 ft ≈ 9.2 ft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998436"/>
            <a:ext cx="2304288" cy="23461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80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9 cm and 12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hypotenuse?</a:t>
            </a:r>
          </a:p>
        </p:txBody>
      </p:sp>
      <p:pic>
        <p:nvPicPr>
          <p:cNvPr id="10" name="Picture 9" descr="g87feca9b8810c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28" y="2998436"/>
            <a:ext cx="2304288" cy="2346139"/>
          </a:xfrm>
          <a:prstGeom prst="rect">
            <a:avLst/>
          </a:prstGeom>
        </p:spPr>
      </p:pic>
      <p:pic>
        <p:nvPicPr>
          <p:cNvPr id="11" name="Picture 10" descr="2899ab4d0ffda9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899" y="3777647"/>
            <a:ext cx="2429256" cy="262128"/>
          </a:xfrm>
          <a:prstGeom prst="rect">
            <a:avLst/>
          </a:prstGeom>
        </p:spPr>
      </p:pic>
      <p:pic>
        <p:nvPicPr>
          <p:cNvPr id="12" name="Picture 11" descr="e078427f0d1d53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99" y="4250087"/>
            <a:ext cx="1840991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80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legs of 4 inches and 9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7410ced1fcc2b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899" y="3113689"/>
            <a:ext cx="2441448" cy="307848"/>
          </a:xfrm>
          <a:prstGeom prst="rect">
            <a:avLst/>
          </a:prstGeom>
        </p:spPr>
      </p:pic>
      <p:pic>
        <p:nvPicPr>
          <p:cNvPr id="11" name="Picture 10" descr="d774a50e89260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899" y="3611084"/>
            <a:ext cx="2075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√97 in ≈ 9.8 in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3" y="2998436"/>
            <a:ext cx="2176272" cy="23431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2501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25 ft and one leg of 20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gaffe3d7eabf898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998436"/>
            <a:ext cx="2176272" cy="2343111"/>
          </a:xfrm>
          <a:prstGeom prst="rect">
            <a:avLst/>
          </a:prstGeom>
        </p:spPr>
      </p:pic>
      <p:pic>
        <p:nvPicPr>
          <p:cNvPr id="11" name="Picture 10" descr="da85c990301d92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776133"/>
            <a:ext cx="2657856" cy="262128"/>
          </a:xfrm>
          <a:prstGeom prst="rect">
            <a:avLst/>
          </a:prstGeom>
        </p:spPr>
      </p:pic>
      <p:pic>
        <p:nvPicPr>
          <p:cNvPr id="12" name="Picture 11" descr="6e05135a1808f99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48573"/>
            <a:ext cx="185928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250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ft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57.3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41 m and one leg of 40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leg?</a:t>
            </a:r>
          </a:p>
        </p:txBody>
      </p:sp>
      <p:pic>
        <p:nvPicPr>
          <p:cNvPr id="10" name="Picture 9" descr="f10d4c561f967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5" y="3110641"/>
            <a:ext cx="3438144" cy="368808"/>
          </a:xfrm>
          <a:prstGeom prst="rect">
            <a:avLst/>
          </a:prstGeom>
        </p:spPr>
      </p:pic>
      <p:pic>
        <p:nvPicPr>
          <p:cNvPr id="11" name="Picture 10" descr="a236597d86feea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075" y="3611084"/>
            <a:ext cx="182270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 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998436"/>
            <a:ext cx="4206240" cy="217838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46029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right triangle is drawn turned. Its legs are 5 cm and 7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hypotenuse, to the nearest tenth?</a:t>
            </a:r>
          </a:p>
        </p:txBody>
      </p:sp>
      <p:pic>
        <p:nvPicPr>
          <p:cNvPr id="10" name="Picture 9" descr="gf8612ac7fdced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128" y="2998436"/>
            <a:ext cx="4206240" cy="2178389"/>
          </a:xfrm>
          <a:prstGeom prst="rect">
            <a:avLst/>
          </a:prstGeom>
        </p:spPr>
      </p:pic>
      <p:pic>
        <p:nvPicPr>
          <p:cNvPr id="11" name="Picture 10" descr="38f42acf1793d2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752" y="3693772"/>
            <a:ext cx="2130552" cy="262128"/>
          </a:xfrm>
          <a:prstGeom prst="rect">
            <a:avLst/>
          </a:prstGeom>
        </p:spPr>
      </p:pic>
      <p:pic>
        <p:nvPicPr>
          <p:cNvPr id="12" name="Picture 11" descr="95a27a9fc7d94d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0752" y="4166212"/>
            <a:ext cx="1786128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602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√74 cm ≈ 8.6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467b3d8054f9e8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64967"/>
            <a:ext cx="175260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940ac47e9562c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19247"/>
            <a:ext cx="2246376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f1c9e3a279737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31895"/>
            <a:ext cx="253593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1c1dd707cdaed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31895"/>
            <a:ext cx="2246376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triangle's hypotenuse is 20 inches; its legs are 16 inches and 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pic>
        <p:nvPicPr>
          <p:cNvPr id="10" name="Picture 9" descr="723ec51e38368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6759" y="3546107"/>
            <a:ext cx="3157728" cy="304800"/>
          </a:xfrm>
          <a:prstGeom prst="rect">
            <a:avLst/>
          </a:prstGeom>
        </p:spPr>
      </p:pic>
      <p:pic>
        <p:nvPicPr>
          <p:cNvPr id="11" name="Picture 10" descr="29d805f74fa34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59" y="4040455"/>
            <a:ext cx="2225040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and x = 12 in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right triangle has a hypotenuse of 14 m and one leg of 9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other leg, to the nearest tenth?</a:t>
            </a:r>
          </a:p>
        </p:txBody>
      </p:sp>
      <p:pic>
        <p:nvPicPr>
          <p:cNvPr id="10" name="Picture 9" descr="4d4d0148702223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923" y="3116737"/>
            <a:ext cx="2822448" cy="304800"/>
          </a:xfrm>
          <a:prstGeom prst="rect">
            <a:avLst/>
          </a:prstGeom>
        </p:spPr>
      </p:pic>
      <p:pic>
        <p:nvPicPr>
          <p:cNvPr id="11" name="Picture 10" descr="899457164c48e8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923" y="3611084"/>
            <a:ext cx="245668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√115 m ≈ 10.7 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pennant is cut as a right triangle with legs of 8 inches and 11 inches. The fabric costs 6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longest side, to the nearest tenth?</a:t>
            </a:r>
          </a:p>
        </p:txBody>
      </p:sp>
      <p:pic>
        <p:nvPicPr>
          <p:cNvPr id="10" name="Picture 9" descr="c0b0581c2b142e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28" y="3546107"/>
            <a:ext cx="2831592" cy="304800"/>
          </a:xfrm>
          <a:prstGeom prst="rect">
            <a:avLst/>
          </a:prstGeom>
        </p:spPr>
      </p:pic>
      <p:pic>
        <p:nvPicPr>
          <p:cNvPr id="11" name="Picture 10" descr="6f89b6850aed21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4040455"/>
            <a:ext cx="243535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√185 in ≈ 13.6 in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56becf73e2479b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6185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3293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45920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finds a leg of a right triangle. The hypotenuse is 13 cm and the other leg is 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91528"/>
            <a:ext cx="1919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She writes  </a:t>
            </a:r>
          </a:p>
        </p:txBody>
      </p:sp>
      <p:pic>
        <p:nvPicPr>
          <p:cNvPr id="10" name="Picture 9" descr="8b551e9736168d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108" y="2627342"/>
            <a:ext cx="2248662" cy="3888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65770" y="259152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03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went wrong? How long is the leg?</a:t>
            </a:r>
          </a:p>
        </p:txBody>
      </p:sp>
      <p:pic>
        <p:nvPicPr>
          <p:cNvPr id="13" name="Picture 12" descr="ec09cf29acca5c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299" y="3930155"/>
            <a:ext cx="2901696" cy="304800"/>
          </a:xfrm>
          <a:prstGeom prst="rect">
            <a:avLst/>
          </a:prstGeom>
        </p:spPr>
      </p:pic>
      <p:pic>
        <p:nvPicPr>
          <p:cNvPr id="14" name="Picture 13" descr="4616387d26fd7c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4424503"/>
            <a:ext cx="2231136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added the squares; a leg must be shorter than 13 cm. Subtract: the leg is 12 cm.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12 m and 5 m. How long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3 ft and 8 ft. How long is the hypotenuse, exactly and to the nearest tenth?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39 cm and one leg of 36 cm. How long is the other leg?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11 inches and one leg of 4 inches. How long is the other leg, exactly and to the nearest tenth?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legs of 6 m and 11 m (drawn turned on its side on the paper). How long is its hypotenuse, to the nearest tenth?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right triangle has a hypotenuse of 25 yd and one leg of 24 yd. The other leg is x. Write the equation that finds x, then find x.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3 — Pythagorean Theorem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missing leg or hypotenuse length — MTM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d5ddee4c5feff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1939298"/>
          </a:xfrm>
          <a:prstGeom prst="rect">
            <a:avLst/>
          </a:prstGeom>
        </p:spPr>
      </p:pic>
      <p:pic>
        <p:nvPicPr>
          <p:cNvPr id="11" name="Picture 10" descr="3485607edb5ad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075" y="4078994"/>
            <a:ext cx="4849368" cy="341376"/>
          </a:xfrm>
          <a:prstGeom prst="rect">
            <a:avLst/>
          </a:prstGeom>
        </p:spPr>
      </p:pic>
      <p:pic>
        <p:nvPicPr>
          <p:cNvPr id="12" name="Picture 11" descr="b433e3a5e16f76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564" y="4764794"/>
            <a:ext cx="2374392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58165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13 m. Along two sides is 17 m: the path is 4 m shorter.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4fc4e71f3131bc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12-ft ladder leans on a wall. Its foot is 5 ft from the wall.</a:t>
            </a:r>
          </a:p>
        </p:txBody>
      </p:sp>
      <p:pic>
        <p:nvPicPr>
          <p:cNvPr id="9" name="Picture 8" descr="g8e7e96d88d0988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79" y="2276458"/>
            <a:ext cx="1508760" cy="23726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832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3ca4f2e3cf238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40224" cy="341376"/>
          </a:xfrm>
          <a:prstGeom prst="rect">
            <a:avLst/>
          </a:prstGeom>
        </p:spPr>
      </p:pic>
      <p:pic>
        <p:nvPicPr>
          <p:cNvPr id="9" name="Picture 8" descr="f6fe74ec98ff4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13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10.9 ft up the wall.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492" y="2998436"/>
            <a:ext cx="2002536" cy="22692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5112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256" y="2998436"/>
            <a:ext cx="2002536" cy="2269223"/>
          </a:xfrm>
          <a:prstGeom prst="rect">
            <a:avLst/>
          </a:prstGeom>
        </p:spPr>
      </p:pic>
      <p:pic>
        <p:nvPicPr>
          <p:cNvPr id="11" name="Picture 10" descr="3f19fa5341f20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175" y="3739189"/>
            <a:ext cx="2282952" cy="262128"/>
          </a:xfrm>
          <a:prstGeom prst="rect">
            <a:avLst/>
          </a:prstGeom>
        </p:spPr>
      </p:pic>
      <p:pic>
        <p:nvPicPr>
          <p:cNvPr id="12" name="Picture 11" descr="2716f0e30bc433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175" y="4211629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511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in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803" y="2998436"/>
            <a:ext cx="3867912" cy="164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2678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87" y="2998436"/>
            <a:ext cx="3867912" cy="1644880"/>
          </a:xfrm>
          <a:prstGeom prst="rect">
            <a:avLst/>
          </a:prstGeom>
        </p:spPr>
      </p:pic>
      <p:pic>
        <p:nvPicPr>
          <p:cNvPr id="11" name="Picture 10" descr="a67103b6e306ec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384" y="3427018"/>
            <a:ext cx="2346960" cy="262128"/>
          </a:xfrm>
          <a:prstGeom prst="rect">
            <a:avLst/>
          </a:prstGeom>
        </p:spPr>
      </p:pic>
      <p:pic>
        <p:nvPicPr>
          <p:cNvPr id="12" name="Picture 11" descr="c7a7f848c47d4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384" y="3899458"/>
            <a:ext cx="202692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267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11.7 ft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25.6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e53afea40bf001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615" y="3116737"/>
            <a:ext cx="3176016" cy="304800"/>
          </a:xfrm>
          <a:prstGeom prst="rect">
            <a:avLst/>
          </a:prstGeom>
        </p:spPr>
      </p:pic>
      <p:pic>
        <p:nvPicPr>
          <p:cNvPr id="11" name="Picture 10" descr="439b2213650612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615" y="3611084"/>
            <a:ext cx="224332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12 ft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67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72267" y="3596399"/>
            <a:ext cx="2838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Along two sides: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488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2267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243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31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kite's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30-m 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8356" y="3478099"/>
            <a:ext cx="6541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kite.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8356" y="4017595"/>
            <a:ext cx="46870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string.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30-m string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98436"/>
            <a:ext cx="2377440" cy="20088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071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3" y="2998436"/>
            <a:ext cx="2377440" cy="2008812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27" y="3608984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427" y="4081424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9071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tablet screen is 5 inches wide and 8 inches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fire truck's 50-ft ladder reaches 48 ft up a building. How far from the building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9651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3776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Will a 10-in pencil lie flat in a box 7 inches by 8 inches,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kite flies at the end of 25 m of string, straight above a spot 20 m from where the string is held. How high is the kite?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939831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80612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78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785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144 + 1,225 = 1,369 = 37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939831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80612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2723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660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0c90d3ed4c01e3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77" y="2197798"/>
            <a:ext cx="117138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91061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568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8177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2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d7650af90a23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599" y="1699831"/>
            <a:ext cx="116890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098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5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fd1e2597f8d8f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23" y="1697355"/>
            <a:ext cx="117138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957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3f1c5f11e201d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19119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359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62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26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3f0f8823578f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193673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607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539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022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9a62bdd266be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41160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400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71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548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f404ed3578af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41408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64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947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1044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b503a1a696b2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38684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1924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06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3199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11531d20504cf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38931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2171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182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8152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a95cfae89382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1490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1408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372c2035ac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15157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636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87c765902c21e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5750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2dd890084e8153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8227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54a04eef7073b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990599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1146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730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66058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5eb0c83aac6e3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1014984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24554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30a7ddc4d05885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972311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06266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8c6f3e57d36ddd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164336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18918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1d6b3c1823f8861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4345" y="4553712"/>
            <a:ext cx="688848" cy="2834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783193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60210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of a figure on the coordinate plane, and a straight-line distance on a map.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6" name="Picture 15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3402663"/>
            <a:ext cx="830659" cy="27055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498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8" name="Picture 17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3402663"/>
            <a:ext cx="683514" cy="2705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2564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3402663"/>
            <a:ext cx="954071" cy="2705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069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3402663"/>
            <a:ext cx="1101217" cy="270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45978" y="32781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4389" y="1440180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10028"/>
            <a:ext cx="19095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√53 ≈ 7.3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579876"/>
            <a:ext cx="10191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75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1925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9" name="Picture 18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4317063"/>
            <a:ext cx="830659" cy="2705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0498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1" name="Picture 20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4317063"/>
            <a:ext cx="683514" cy="27055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564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4317063"/>
            <a:ext cx="954071" cy="27055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1069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4317063"/>
            <a:ext cx="1101217" cy="27055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5978" y="41925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49724"/>
            <a:ext cx="14021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20 units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distance around a figure: the sum of all its sides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height of a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a corner straight to the opposite side, meeting it at a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straight-line 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length of the one segment between two points — on a map, straight across, not along the streets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Perimeter: every side — a slanted one by its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31351b3fe50c96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512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82475" y="4629777"/>
            <a:ext cx="2402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slanted side:  </a:t>
            </a:r>
          </a:p>
        </p:txBody>
      </p:sp>
      <p:pic>
        <p:nvPicPr>
          <p:cNvPr id="12" name="Picture 11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24" y="4687086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8211" y="4629777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374" y="4746109"/>
            <a:ext cx="662670" cy="241458"/>
          </a:xfrm>
          <a:prstGeom prst="rect">
            <a:avLst/>
          </a:prstGeom>
        </p:spPr>
      </p:pic>
      <p:pic>
        <p:nvPicPr>
          <p:cNvPr id="15" name="Picture 14" descr="773f0a6bae0a0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780" y="5396730"/>
            <a:ext cx="27279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Along the streets, or straight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6df1d0e66359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8769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78806" y="4993739"/>
            <a:ext cx="1569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2" name="Picture 11" descr="eab0f25709b4c0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929" y="5104705"/>
            <a:ext cx="1387046" cy="24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7975" y="49937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0606" y="5679539"/>
            <a:ext cx="1730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5" name="Picture 14" descr="9b4c53d9bae6f4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689" y="5736847"/>
            <a:ext cx="2623851" cy="300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7541" y="56795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0137bb391ff62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704" y="5793188"/>
            <a:ext cx="850471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6176" y="56795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No right angle: split it — and round once, at the end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b174812ddca1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59" y="1993392"/>
            <a:ext cx="20574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1518" y="4179101"/>
            <a:ext cx="32763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each slanted side:  </a:t>
            </a:r>
          </a:p>
        </p:txBody>
      </p:sp>
      <p:pic>
        <p:nvPicPr>
          <p:cNvPr id="12" name="Picture 11" descr="924c351cdfb9db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9" y="4236410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41396" y="4179101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accfca2019880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559" y="4197096"/>
            <a:ext cx="2390441" cy="421211"/>
          </a:xfrm>
          <a:prstGeom prst="rect">
            <a:avLst/>
          </a:prstGeom>
        </p:spPr>
      </p:pic>
      <p:pic>
        <p:nvPicPr>
          <p:cNvPr id="15" name="Picture 14" descr="b83bb1fe416223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2676" y="4947872"/>
            <a:ext cx="591616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642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Round once, at the end: 6 + 5.8 + 5.8 = 17.6 is short.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142" y="1440180"/>
            <a:ext cx="39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DEF has corners </a:t>
            </a:r>
          </a:p>
        </p:txBody>
      </p:sp>
      <p:pic>
        <p:nvPicPr>
          <p:cNvPr id="9" name="Picture 8" descr="2b82d6ff52fd29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65" y="1560195"/>
            <a:ext cx="138188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8852" y="144018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168aa1b708cf3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58" y="1560195"/>
            <a:ext cx="115652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8638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a02078d08fa46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891" y="1557718"/>
            <a:ext cx="859345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6223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5" name="Picture 14" descr="g10f73fa5acbaa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675" y="2148840"/>
            <a:ext cx="2586168" cy="3163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89cc993aa9783d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45864" cy="353568"/>
          </a:xfrm>
          <a:prstGeom prst="rect">
            <a:avLst/>
          </a:prstGeom>
        </p:spPr>
      </p:pic>
      <p:pic>
        <p:nvPicPr>
          <p:cNvPr id="9" name="Picture 8" descr="78be168ada708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504944" cy="408432"/>
          </a:xfrm>
          <a:prstGeom prst="rect">
            <a:avLst/>
          </a:prstGeom>
        </p:spPr>
      </p:pic>
      <p:pic>
        <p:nvPicPr>
          <p:cNvPr id="10" name="Picture 9" descr="fbb19df952207e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7484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units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f7637bf1f23e2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442" y="2238929"/>
            <a:ext cx="117386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4303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c53dc4ab84ce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309" y="2238929"/>
            <a:ext cx="100793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3244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751" y="2238929"/>
            <a:ext cx="718185" cy="2798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7936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0885c1628ecce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27" y="2236453"/>
            <a:ext cx="117633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3064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e1561ae894e4e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71" y="2236453"/>
            <a:ext cx="101041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4483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5863a5afd993e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989" y="2236453"/>
            <a:ext cx="720661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1651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290" y="28753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dd377e872e9d4e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091" y="3005978"/>
            <a:ext cx="1442180" cy="27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43271" y="2875390"/>
            <a:ext cx="1119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b75662d7fd6f12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034" y="3008311"/>
            <a:ext cx="1563528" cy="268366"/>
          </a:xfrm>
          <a:prstGeom prst="rect">
            <a:avLst/>
          </a:prstGeom>
        </p:spPr>
      </p:pic>
      <p:pic>
        <p:nvPicPr>
          <p:cNvPr id="19" name="Picture 18" descr="2899ab4d0ffda9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154" y="3464511"/>
            <a:ext cx="242925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58410" y="33783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869a797ec94ec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0687" y="3513279"/>
            <a:ext cx="725424" cy="213360"/>
          </a:xfrm>
          <a:prstGeom prst="rect">
            <a:avLst/>
          </a:prstGeom>
        </p:spPr>
      </p:pic>
      <p:pic>
        <p:nvPicPr>
          <p:cNvPr id="22" name="Picture 21" descr="b1b8042aeba401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154" y="4016199"/>
            <a:ext cx="2380488" cy="213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 units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298" y="1591967"/>
            <a:ext cx="6874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Ana's home H is at </a:t>
            </a:r>
          </a:p>
        </p:txBody>
      </p:sp>
      <p:pic>
        <p:nvPicPr>
          <p:cNvPr id="9" name="Picture 8" descr="7d14c651bb500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266" y="1711982"/>
            <a:ext cx="116395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5254" y="2277767"/>
            <a:ext cx="2899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gym G at </a:t>
            </a:r>
          </a:p>
        </p:txBody>
      </p:sp>
      <p:pic>
        <p:nvPicPr>
          <p:cNvPr id="11" name="Picture 10" descr="d3f3db88036135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322" y="2400259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43124" y="22777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dc0aefe51d8e6f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19" y="2986427"/>
            <a:ext cx="2926080" cy="2051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3675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along the streets? In a straight line, to the nearest tenth?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ffce193f797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51960" cy="350520"/>
          </a:xfrm>
          <a:prstGeom prst="rect">
            <a:avLst/>
          </a:prstGeom>
        </p:spPr>
      </p:pic>
      <p:pic>
        <p:nvPicPr>
          <p:cNvPr id="9" name="Picture 8" descr="13d4e50efd4c3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5080"/>
            <a:ext cx="1530096" cy="277368"/>
          </a:xfrm>
          <a:prstGeom prst="rect">
            <a:avLst/>
          </a:prstGeom>
        </p:spPr>
      </p:pic>
      <p:pic>
        <p:nvPicPr>
          <p:cNvPr id="10" name="Picture 9" descr="5fa77f02f7f5d3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6767"/>
            <a:ext cx="566318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blocks along the streets; about 8.6 blocks straight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605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c24bc71b07f68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468" y="1699831"/>
            <a:ext cx="90144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0258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337b7924af3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083" y="2383155"/>
            <a:ext cx="11911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8279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367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66fd2bf88109e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230" y="1697355"/>
            <a:ext cx="90392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69020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b24940e898cd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844" y="2380678"/>
            <a:ext cx="119367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9517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904" y="35611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704" y="3701112"/>
            <a:ext cx="142351" cy="2100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7055" y="3561190"/>
            <a:ext cx="155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f881daf22278d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4690" y="3701112"/>
            <a:ext cx="142351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7042" y="3561190"/>
            <a:ext cx="1753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 streets  </a:t>
            </a:r>
          </a:p>
        </p:txBody>
      </p:sp>
      <p:pic>
        <p:nvPicPr>
          <p:cNvPr id="19" name="Picture 18" descr="9ff67c01493767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3804" y="3698779"/>
            <a:ext cx="1162145" cy="212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27904" y="4064110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21" name="Picture 20" descr="e5ca82a6025d91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262" y="4152692"/>
            <a:ext cx="1934575" cy="2613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838" y="40641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d3e2c57dc9fe8fb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115" y="4120022"/>
            <a:ext cx="1752552" cy="36637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3561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blocks along the streets; about 8.5 blocks straight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20651465751a1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9198"/>
            <a:ext cx="139674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148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6b8c6650b1e4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489" y="1969198"/>
            <a:ext cx="118624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3873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4665787323d98f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5240" y="1969198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173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071986"/>
            <a:ext cx="3840480" cy="20374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9292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91e37486c2daf4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6722"/>
            <a:ext cx="139922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3960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5d3ee67f1492f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966" y="1966722"/>
            <a:ext cx="1188720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68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c98c87b1cfc68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93" y="1966722"/>
            <a:ext cx="901446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6163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853" y="3071986"/>
            <a:ext cx="3840480" cy="2037475"/>
          </a:xfrm>
          <a:prstGeom prst="rect">
            <a:avLst/>
          </a:prstGeom>
        </p:spPr>
      </p:pic>
      <p:pic>
        <p:nvPicPr>
          <p:cNvPr id="17" name="Picture 16" descr="2ad16f491f3a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17" y="3497221"/>
            <a:ext cx="1563624" cy="265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6341" y="335920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bea86e4d3b7a25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8618" y="3497221"/>
            <a:ext cx="1408176" cy="265176"/>
          </a:xfrm>
          <a:prstGeom prst="rect">
            <a:avLst/>
          </a:prstGeom>
        </p:spPr>
      </p:pic>
      <p:pic>
        <p:nvPicPr>
          <p:cNvPr id="20" name="Picture 19" descr="b5a3055c75d2f9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717" y="3948325"/>
            <a:ext cx="2429256" cy="2621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11973" y="386212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323e35a470aba2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4250" y="3997093"/>
            <a:ext cx="719328" cy="213360"/>
          </a:xfrm>
          <a:prstGeom prst="rect">
            <a:avLst/>
          </a:prstGeom>
        </p:spPr>
      </p:pic>
      <p:pic>
        <p:nvPicPr>
          <p:cNvPr id="23" name="Picture 22" descr="b0cd45a756bbf0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717" y="4500013"/>
            <a:ext cx="2383536" cy="21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39292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units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4151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3028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14f1e4fdf28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34" y="1971675"/>
            <a:ext cx="995553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958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1f888c65bc7e46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94" y="1971675"/>
            <a:ext cx="681037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71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1675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5505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61bb298a85ba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511" y="1969198"/>
            <a:ext cx="99802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454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dfcee36a543c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1047" y="1969198"/>
            <a:ext cx="68351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456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pic>
        <p:nvPicPr>
          <p:cNvPr id="16" name="Picture 15" descr="4ecb7174b2f12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73" y="3260295"/>
            <a:ext cx="1402080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89653" y="312227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8" name="Picture 17" descr="6c42fd71d3e069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930" y="3260295"/>
            <a:ext cx="1438656" cy="265176"/>
          </a:xfrm>
          <a:prstGeom prst="rect">
            <a:avLst/>
          </a:prstGeom>
        </p:spPr>
      </p:pic>
      <p:pic>
        <p:nvPicPr>
          <p:cNvPr id="19" name="Picture 18" descr="9fdb8650e92ba2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573" y="3711399"/>
            <a:ext cx="2066543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5411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6af8d51231c004d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394" y="3680919"/>
            <a:ext cx="1094232" cy="368808"/>
          </a:xfrm>
          <a:prstGeom prst="rect">
            <a:avLst/>
          </a:prstGeom>
        </p:spPr>
      </p:pic>
      <p:pic>
        <p:nvPicPr>
          <p:cNvPr id="22" name="Picture 21" descr="95a936965c2fc4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73" y="4183839"/>
            <a:ext cx="284073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22.8 units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d832b4bac9153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9198"/>
            <a:ext cx="14190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0986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73c6edcb7dba7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869" y="1969198"/>
            <a:ext cx="136207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294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9fced5befde40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950" y="1969198"/>
            <a:ext cx="88906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664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a9da81e531be71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6722"/>
            <a:ext cx="142151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1233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6c2f1763edcf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345" y="1966722"/>
            <a:ext cx="136455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7897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04b6b4f9e2e5e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8903" y="1966722"/>
            <a:ext cx="89154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044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993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45703" y="3447089"/>
            <a:ext cx="8830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AC:  </a:t>
            </a:r>
          </a:p>
        </p:txBody>
      </p:sp>
      <p:pic>
        <p:nvPicPr>
          <p:cNvPr id="18" name="Picture 17" descr="f99e1e60b05ca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571" y="3535671"/>
            <a:ext cx="2310288" cy="2613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01860" y="344708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d65cbda9bdc001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137" y="3584677"/>
            <a:ext cx="718756" cy="2123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45703" y="3950009"/>
            <a:ext cx="8833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BC:  </a:t>
            </a:r>
          </a:p>
        </p:txBody>
      </p:sp>
      <p:pic>
        <p:nvPicPr>
          <p:cNvPr id="22" name="Picture 21" descr="4d8caafc7f3b642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871" y="4038591"/>
            <a:ext cx="2314956" cy="261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06827" y="395000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4" name="Picture 23" descr="de21a50ad46b70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9104" y="4087597"/>
            <a:ext cx="723423" cy="212359"/>
          </a:xfrm>
          <a:prstGeom prst="rect">
            <a:avLst/>
          </a:prstGeom>
        </p:spPr>
      </p:pic>
      <p:pic>
        <p:nvPicPr>
          <p:cNvPr id="25" name="Picture 24" descr="b5e1abcfea899e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0567" y="4587898"/>
            <a:ext cx="2566416" cy="213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 units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8267466ea736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121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9f134f801c00f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55" y="2510773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4169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85355efc44b8a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31" y="2510773"/>
            <a:ext cx="1010412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204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551393e40b017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08296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69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3bf76273dd0f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131" y="2508296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9122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5cac30a7325a50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584" y="2508296"/>
            <a:ext cx="1012888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947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5" name="Picture 14" descr="266f276499f02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761" y="3259867"/>
            <a:ext cx="165687" cy="2076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33448" y="3122278"/>
            <a:ext cx="9691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a758a03a2f4a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442" y="3259867"/>
            <a:ext cx="135350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00792" y="3122278"/>
            <a:ext cx="2153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on grid lines</a:t>
            </a:r>
          </a:p>
        </p:txBody>
      </p:sp>
      <p:pic>
        <p:nvPicPr>
          <p:cNvPr id="19" name="Picture 18" descr="750acb3136d72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7761" y="3711399"/>
            <a:ext cx="209397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6173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ba45acd94f9f2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014" y="3680919"/>
            <a:ext cx="1103376" cy="368808"/>
          </a:xfrm>
          <a:prstGeom prst="rect">
            <a:avLst/>
          </a:prstGeom>
        </p:spPr>
      </p:pic>
      <p:pic>
        <p:nvPicPr>
          <p:cNvPr id="22" name="Picture 21" descr="3da6e9a4942eac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7761" y="4183839"/>
            <a:ext cx="281025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19.1 units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b381385a56012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e6f553610f618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6799"/>
            <a:ext cx="71818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73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59e86e97f1b20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4536ab029dd41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4323"/>
            <a:ext cx="720661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420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412" y="3734926"/>
            <a:ext cx="14907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5" name="Picture 14" descr="9c44261c617b9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03" y="3870181"/>
            <a:ext cx="1309163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91412" y="4237846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7" name="Picture 16" descr="66901e8dbd0d7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771" y="4326428"/>
            <a:ext cx="2429303" cy="2613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26074" y="4237846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d65cbda9bdc001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352" y="4375435"/>
            <a:ext cx="718756" cy="212359"/>
          </a:xfrm>
          <a:prstGeom prst="rect">
            <a:avLst/>
          </a:prstGeom>
        </p:spPr>
      </p:pic>
      <p:pic>
        <p:nvPicPr>
          <p:cNvPr id="20" name="Picture 19" descr="50b2058d54e97cf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276" y="4875735"/>
            <a:ext cx="1319784" cy="213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blocks shorter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3249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0683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53b53c1ff7ca6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123" y="2508296"/>
            <a:ext cx="1012888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3012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5be363abca88b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452" y="2508296"/>
            <a:ext cx="703326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577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a073f0616c6f53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3241" y="2513249"/>
            <a:ext cx="876681" cy="2798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99922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abbcd38a0851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600" y="2505820"/>
            <a:ext cx="101536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796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1f63a00e4aba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7405" y="2505820"/>
            <a:ext cx="705802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20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c4d9a797873976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670" y="2510773"/>
            <a:ext cx="879157" cy="282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9828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721" y="3122278"/>
            <a:ext cx="1328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sides  </a:t>
            </a:r>
          </a:p>
        </p:txBody>
      </p:sp>
      <p:pic>
        <p:nvPicPr>
          <p:cNvPr id="18" name="Picture 17" descr="b3de44e021298e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6452" y="3234863"/>
            <a:ext cx="1668399" cy="320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4851" y="312227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0" name="Picture 19" descr="f976dc64324c8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3993" y="3237626"/>
            <a:ext cx="1875567" cy="317658"/>
          </a:xfrm>
          <a:prstGeom prst="rect">
            <a:avLst/>
          </a:prstGeom>
        </p:spPr>
      </p:pic>
      <p:pic>
        <p:nvPicPr>
          <p:cNvPr id="21" name="Picture 20" descr="f26d83ebda2082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9585" y="3729782"/>
            <a:ext cx="2871216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0801" y="3661774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ff28beca06f781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686" y="3781598"/>
            <a:ext cx="853440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15 units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6cd0cd2d13a38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71675"/>
            <a:ext cx="87915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eba37c76e917a3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6799"/>
            <a:ext cx="1005459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03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2247b49f98365d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69198"/>
            <a:ext cx="8816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de7e15c7b8d74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4323"/>
            <a:ext cx="100793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279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9593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dd377e872e9d4e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360" y="3847511"/>
            <a:ext cx="1707070" cy="3204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95430" y="3734926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101" y="3850274"/>
            <a:ext cx="1660112" cy="317658"/>
          </a:xfrm>
          <a:prstGeom prst="rect">
            <a:avLst/>
          </a:prstGeom>
        </p:spPr>
      </p:pic>
      <p:pic>
        <p:nvPicPr>
          <p:cNvPr id="18" name="Picture 17" descr="91cf07a762e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4457" y="4353098"/>
            <a:ext cx="2660904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65361" y="428509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009dc32ba55e7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5247" y="4297282"/>
            <a:ext cx="2459736" cy="4328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672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√106 ≈ 10.3 m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890cad1d225c0e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9198"/>
            <a:ext cx="116643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0811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64a0bcb964d3a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81846"/>
            <a:ext cx="693420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6966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c10c7ade43b947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495" y="2584323"/>
            <a:ext cx="876681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317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5078aaa02558f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6722"/>
            <a:ext cx="1168908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328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560793fe7d3f04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79370"/>
            <a:ext cx="695896" cy="2872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9442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49c8c6e822b84b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8972" y="2581846"/>
            <a:ext cx="879157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8129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151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8" name="Picture 17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918" y="3850274"/>
            <a:ext cx="1660112" cy="31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34030" y="373492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947" y="3847511"/>
            <a:ext cx="1850707" cy="320421"/>
          </a:xfrm>
          <a:prstGeom prst="rect">
            <a:avLst/>
          </a:prstGeom>
        </p:spPr>
      </p:pic>
      <p:pic>
        <p:nvPicPr>
          <p:cNvPr id="21" name="Picture 20" descr="bad877a561fe21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015" y="4342430"/>
            <a:ext cx="287426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64279" y="4274422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09a1ea0ee626ec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4165" y="4394246"/>
            <a:ext cx="847344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mi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71675"/>
            <a:ext cx="7280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6964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52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5707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9ebcc4ac7047e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69198"/>
            <a:ext cx="73056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9441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29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0660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749" y="366137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515" y="3785011"/>
            <a:ext cx="168497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0013" y="366137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dcd07b346f0b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930" y="3779486"/>
            <a:ext cx="124301" cy="248602"/>
          </a:xfrm>
          <a:prstGeom prst="rect">
            <a:avLst/>
          </a:prstGeom>
        </p:spPr>
      </p:pic>
      <p:pic>
        <p:nvPicPr>
          <p:cNvPr id="19" name="Picture 18" descr="cb8915871a8227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613" y="4279549"/>
            <a:ext cx="2060448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8061" y="421154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8e57f85f0236f1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946" y="4223732"/>
            <a:ext cx="2072640" cy="432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7937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it is the hypotenuse of a triangle with legs 3 and 1, √10 ≈ 3.2 units.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0" name="Picture 9" descr="f8df7d2fbd412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1570780"/>
            <a:ext cx="964360" cy="2341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8873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b490da1242b960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60" y="1570780"/>
            <a:ext cx="725158" cy="23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0119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dca74f84de6bf1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205" y="1572039"/>
            <a:ext cx="569048" cy="2316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5254" y="1499019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966953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8" name="Picture 17" descr="98ab927d307ba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12" y="2038714"/>
            <a:ext cx="725158" cy="2341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671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1b12795c360466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758" y="2038714"/>
            <a:ext cx="556458" cy="23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217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047226acc1322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03" y="2038714"/>
            <a:ext cx="833429" cy="23416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51733" y="1966953"/>
            <a:ext cx="272697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434888"/>
            <a:ext cx="494270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parallelogram </a:t>
            </a:r>
          </a:p>
        </p:txBody>
      </p:sp>
      <p:pic>
        <p:nvPicPr>
          <p:cNvPr id="26" name="Picture 25" descr="36f61976a2ef1ad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0024" y="2507907"/>
            <a:ext cx="989539" cy="2316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49564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8" name="Picture 27" descr="e47ee9949ebce04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5651" y="2506648"/>
            <a:ext cx="820839" cy="2341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76490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0" name="Picture 29" descr="d02d33295232874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2577" y="2507907"/>
            <a:ext cx="566530" cy="2316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9107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2" name="Picture 31" descr="2d42b3e817eed6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94" y="2506648"/>
            <a:ext cx="556458" cy="23416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11653" y="2434888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90282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2902822"/>
            <a:ext cx="450903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blocks, Kai's home is at </a:t>
            </a:r>
          </a:p>
        </p:txBody>
      </p:sp>
      <p:pic>
        <p:nvPicPr>
          <p:cNvPr id="36" name="Picture 35" descr="6f3371b3f4bbf6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6350" y="2974582"/>
            <a:ext cx="974432" cy="2341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00783" y="2902822"/>
            <a:ext cx="23294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his school at </a:t>
            </a:r>
          </a:p>
        </p:txBody>
      </p:sp>
      <p:pic>
        <p:nvPicPr>
          <p:cNvPr id="38" name="Picture 37" descr="4b06abb07817386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93046" y="2975841"/>
            <a:ext cx="564012" cy="2316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57058" y="2902822"/>
            <a:ext cx="16391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much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270172"/>
            <a:ext cx="52734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shorter is the straight line than the streets?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738106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738106"/>
            <a:ext cx="38841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miles, a dock is at </a:t>
            </a:r>
          </a:p>
        </p:txBody>
      </p:sp>
      <p:pic>
        <p:nvPicPr>
          <p:cNvPr id="43" name="Picture 42" descr="ede51becaffdb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1443" y="3811126"/>
            <a:ext cx="732712" cy="23164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34156" y="3738106"/>
            <a:ext cx="224344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an island at </a:t>
            </a:r>
          </a:p>
        </p:txBody>
      </p:sp>
      <p:pic>
        <p:nvPicPr>
          <p:cNvPr id="45" name="Picture 44" descr="06d2d48467fcd0c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443" y="3811126"/>
            <a:ext cx="815803" cy="2316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956247" y="3738106"/>
            <a:ext cx="2518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far apart are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105457"/>
            <a:ext cx="33147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they, to the nearest tenth?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339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573391"/>
            <a:ext cx="30600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has corners </a:t>
            </a:r>
          </a:p>
        </p:txBody>
      </p:sp>
      <p:pic>
        <p:nvPicPr>
          <p:cNvPr id="50" name="Picture 49" descr="6d8814c221810b9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7358" y="4645152"/>
            <a:ext cx="961842" cy="2341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43920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2" name="Picture 51" descr="209a3bec006696b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45288" y="4645152"/>
            <a:ext cx="815803" cy="23416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46109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4" name="Picture 53" descr="aee1254e09a8849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67178" y="4645152"/>
            <a:ext cx="715087" cy="23416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382265" y="4573391"/>
            <a:ext cx="79885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56" name="Picture 55" descr="3c9a30b1926c472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43956" y="4645152"/>
            <a:ext cx="861126" cy="23416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905083" y="4573391"/>
            <a:ext cx="197782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long is a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4940741"/>
            <a:ext cx="13764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diagonal?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perimeter — VGE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1bbc6210f7f5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993392"/>
            <a:ext cx="5632704" cy="1826181"/>
          </a:xfrm>
          <a:prstGeom prst="rect">
            <a:avLst/>
          </a:prstGeom>
        </p:spPr>
      </p:pic>
      <p:pic>
        <p:nvPicPr>
          <p:cNvPr id="11" name="Picture 10" descr="c57688c9329a4b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866" y="4111038"/>
            <a:ext cx="2904744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67610" y="40725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bfdef353fb7e1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8893" y="3965877"/>
            <a:ext cx="1889760" cy="670560"/>
          </a:xfrm>
          <a:prstGeom prst="rect">
            <a:avLst/>
          </a:prstGeom>
        </p:spPr>
      </p:pic>
      <p:pic>
        <p:nvPicPr>
          <p:cNvPr id="14" name="Picture 13" descr="4d0a8ac6cf842b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610" y="4966002"/>
            <a:ext cx="2389632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9242" y="488789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6" name="Picture 15" descr="8a8c7878b0eec08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0525" y="4959525"/>
            <a:ext cx="2691384" cy="3627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566056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order of the letters is the matching: A with D, B with E, C with F.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a97477c28159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66672" cy="673608"/>
          </a:xfrm>
          <a:prstGeom prst="rect">
            <a:avLst/>
          </a:prstGeom>
        </p:spPr>
      </p:pic>
      <p:pic>
        <p:nvPicPr>
          <p:cNvPr id="9" name="Picture 8" descr="bbdfad226e56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060448" cy="277368"/>
          </a:xfrm>
          <a:prstGeom prst="rect">
            <a:avLst/>
          </a:prstGeom>
        </p:spPr>
      </p:pic>
      <p:pic>
        <p:nvPicPr>
          <p:cNvPr id="10" name="Picture 9" descr="75dd21dab4111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9856"/>
            <a:ext cx="2100072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7137" y="2728688"/>
            <a:ext cx="4424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3, 5, 7  and  12, x, 28</a:t>
            </a:r>
          </a:p>
        </p:txBody>
      </p:sp>
      <p:pic>
        <p:nvPicPr>
          <p:cNvPr id="11" name="Picture 10" descr="0019a33274271f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001" y="3254468"/>
            <a:ext cx="1222248" cy="512064"/>
          </a:xfrm>
          <a:prstGeom prst="rect">
            <a:avLst/>
          </a:prstGeom>
        </p:spPr>
      </p:pic>
      <p:pic>
        <p:nvPicPr>
          <p:cNvPr id="12" name="Picture 11" descr="7329a68ab6aef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001" y="3970082"/>
            <a:ext cx="164896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Omar's eyes are 5 ft up, 4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02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he sees the top of a tree 18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12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</a:t>
            </a:r>
          </a:p>
        </p:txBody>
      </p:sp>
      <p:pic>
        <p:nvPicPr>
          <p:cNvPr id="11" name="Picture 10" descr="gcccabea20ad63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130" y="3080335"/>
            <a:ext cx="2287258" cy="22421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6516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bd577f60b4023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905000" cy="667512"/>
          </a:xfrm>
          <a:prstGeom prst="rect">
            <a:avLst/>
          </a:prstGeom>
        </p:spPr>
      </p:pic>
      <p:pic>
        <p:nvPicPr>
          <p:cNvPr id="9" name="Picture 8" descr="035eeeba9ebb9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273100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tree is 22.5 ft tall.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1" name="Picture 10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3290647"/>
            <a:ext cx="1511808" cy="609600"/>
          </a:xfrm>
          <a:prstGeom prst="rect">
            <a:avLst/>
          </a:prstGeom>
        </p:spPr>
      </p:pic>
      <p:pic>
        <p:nvPicPr>
          <p:cNvPr id="12" name="Picture 11" descr="be1f699f2cd419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3" y="4113035"/>
            <a:ext cx="1926335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6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 ft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is similar to triangle DEF.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d74494cbb92b60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189" y="2998436"/>
            <a:ext cx="6295140" cy="233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is similar to triangle DEF.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637064f2a1edf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3179"/>
            <a:ext cx="2526982" cy="12484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5742" y="2975576"/>
            <a:ext cx="74856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names:  AC with DF,  BC with EF,  AB with DE</a:t>
            </a:r>
          </a:p>
        </p:txBody>
      </p:sp>
      <p:pic>
        <p:nvPicPr>
          <p:cNvPr id="12" name="Picture 11" descr="6ad28beba7d2f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606" y="3501356"/>
            <a:ext cx="1203960" cy="515112"/>
          </a:xfrm>
          <a:prstGeom prst="rect">
            <a:avLst/>
          </a:prstGeom>
        </p:spPr>
      </p:pic>
      <p:pic>
        <p:nvPicPr>
          <p:cNvPr id="13" name="Picture 12" descr="10e0b58bf3f66f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0606" y="4220018"/>
            <a:ext cx="1633728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99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24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inches and 4 inches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 of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1272" y="3427807"/>
            <a:ext cx="1978974" cy="19225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3380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0645dd5acbb2e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600" y="3427807"/>
            <a:ext cx="1978974" cy="1922533"/>
          </a:xfrm>
          <a:prstGeom prst="rect">
            <a:avLst/>
          </a:prstGeom>
        </p:spPr>
      </p:pic>
      <p:pic>
        <p:nvPicPr>
          <p:cNvPr id="11" name="Picture 10" descr="d89cf00d483841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959" y="3883105"/>
            <a:ext cx="1225296" cy="509016"/>
          </a:xfrm>
          <a:prstGeom prst="rect">
            <a:avLst/>
          </a:prstGeom>
        </p:spPr>
      </p:pic>
      <p:pic>
        <p:nvPicPr>
          <p:cNvPr id="12" name="Picture 11" descr="ca6ea06f1d290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959" y="4586527"/>
            <a:ext cx="1642872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33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ft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9967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7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Triangle PQR is similar to triangle XYZ. PQ is 8, QR is 10 and PR is 13, and XY is 20. Find YZ and XZ.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437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437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576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576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714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4714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The two right triangles are similar and share corner A. The small one runs 3 m along the ground from A and stands 1.2 m high. The big one runs 12 m along the ground from A.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852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2852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Angle Pairs: Supplementary, Complementary, Vertical, Adjacent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name an angle pair and use it to find a missing angle, with an equation when the angles are expressions.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856765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3880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177367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76364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517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6-ft man casts a 4-ft shadow; a tree, 18 ft. The tree's height?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618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1341941b7cc70f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634567"/>
            <a:ext cx="856765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3880" y="25100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809219f625557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463" y="2634567"/>
            <a:ext cx="666900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6364" y="25100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8476" y="2510028"/>
            <a:ext cx="12121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8252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Ana types 210 words in 5 minutes. Words per minute?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8781" y="3122676"/>
            <a:ext cx="560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89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Two angles make a straight angle. One is 130°. The 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740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50°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adjacent 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with the same vertex and a shared side, that do not overlap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angles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angles across from each other where two lines cross; they are equal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complementary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90°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451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supplementary angles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74522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angles that add to 180°; a linear pair (adjacent, on a straight line) is supplementary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Adjacent and vertical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f96da69d88bd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972" y="1993392"/>
            <a:ext cx="3465576" cy="27453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94908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Adjacent: one vertex, a shared side, no overlap — angles 1 and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639457"/>
            <a:ext cx="4645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Vertical: across, and equal — </a:t>
            </a:r>
          </a:p>
        </p:txBody>
      </p:sp>
      <p:pic>
        <p:nvPicPr>
          <p:cNvPr id="13" name="Picture 12" descr="383818eb4f2543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04" y="5766370"/>
            <a:ext cx="1526039" cy="2159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22344" y="5639457"/>
            <a:ext cx="2795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(m for measure).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Complementary and supplementary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fd2f6dc032fdb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993392"/>
            <a:ext cx="3785615" cy="2287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01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Complementary: add to 90°.   Supplementary: add to 180°.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53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linear pair is supplementary: 60° + 120° = 180°.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Name the pair, write the equation, put x back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f13cd6a1f05fc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668" y="1993392"/>
            <a:ext cx="3758184" cy="2101945"/>
          </a:xfrm>
          <a:prstGeom prst="rect">
            <a:avLst/>
          </a:prstGeom>
        </p:spPr>
      </p:pic>
      <p:pic>
        <p:nvPicPr>
          <p:cNvPr id="11" name="Picture 10" descr="cc136a22f99d4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185" y="4299934"/>
            <a:ext cx="30297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51897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1f863e20b728f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180" y="4299934"/>
            <a:ext cx="1395984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89164" y="4218781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981f2bd33d46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0446" y="4296886"/>
            <a:ext cx="100888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7024" y="5014309"/>
            <a:ext cx="19849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angle:  </a:t>
            </a:r>
          </a:p>
        </p:txBody>
      </p:sp>
      <p:pic>
        <p:nvPicPr>
          <p:cNvPr id="17" name="Picture 16" descr="d1f2e6ea48b59a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4785" y="5119910"/>
            <a:ext cx="2379710" cy="311213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996" y="1440180"/>
            <a:ext cx="4592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ray splits a right angle into </a:t>
            </a:r>
          </a:p>
        </p:txBody>
      </p:sp>
      <p:pic>
        <p:nvPicPr>
          <p:cNvPr id="9" name="Picture 8" descr="07a35259f479b4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8394" y="1557718"/>
            <a:ext cx="114661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1501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d1e7ee16a0e70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521" y="1557718"/>
            <a:ext cx="11738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5382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ebe47a9162b990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148840"/>
            <a:ext cx="3163824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b2f294a6c26d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54680" cy="280416"/>
          </a:xfrm>
          <a:prstGeom prst="rect">
            <a:avLst/>
          </a:prstGeom>
        </p:spPr>
      </p:pic>
      <p:pic>
        <p:nvPicPr>
          <p:cNvPr id="9" name="Picture 8" descr="95197ad3c8083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319272" cy="350520"/>
          </a:xfrm>
          <a:prstGeom prst="rect">
            <a:avLst/>
          </a:prstGeom>
        </p:spPr>
      </p:pic>
      <p:pic>
        <p:nvPicPr>
          <p:cNvPr id="10" name="Picture 9" descr="c38b41945c7f1c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9815"/>
            <a:ext cx="509016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17; the angles are 50° and 40°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577c207cc2ffe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848" y="1694878"/>
            <a:ext cx="720661" cy="2847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616d3ce97a9b57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4878"/>
            <a:ext cx="1173861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68877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6d7c615ff8d7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371" y="1692402"/>
            <a:ext cx="723138" cy="2872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78509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f38c89b3740af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016" y="1692402"/>
            <a:ext cx="1176337" cy="2872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1353" y="1577340"/>
            <a:ext cx="32719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complementary.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x and both angles.</a:t>
            </a:r>
          </a:p>
        </p:txBody>
      </p:sp>
      <p:pic>
        <p:nvPicPr>
          <p:cNvPr id="13" name="Picture 12" descr="7e99fa8917cd79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034" y="2995214"/>
            <a:ext cx="23774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48474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bf997b8dd4ac92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995214"/>
            <a:ext cx="111252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44739" y="28753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7" name="Picture 16" descr="d07916073d6422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485" y="2989118"/>
            <a:ext cx="877824" cy="252984"/>
          </a:xfrm>
          <a:prstGeom prst="rect">
            <a:avLst/>
          </a:prstGeom>
        </p:spPr>
      </p:pic>
      <p:pic>
        <p:nvPicPr>
          <p:cNvPr id="18" name="Picture 17" descr="ae1d1f1e848c8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1034" y="3528614"/>
            <a:ext cx="1560576" cy="320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31610" y="341488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64a366b5734cf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5356" y="3531662"/>
            <a:ext cx="176479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16; 64° and 26°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1201" y="1440180"/>
            <a:ext cx="622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Vertical angles measure </a:t>
            </a:r>
          </a:p>
        </p:txBody>
      </p:sp>
      <p:pic>
        <p:nvPicPr>
          <p:cNvPr id="9" name="Picture 8" descr="58f9ac6500c16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479" y="1557718"/>
            <a:ext cx="1329880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4336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30da9e3b1e7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866" y="1557718"/>
            <a:ext cx="133731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9717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56ed89f4790ea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535" y="2148840"/>
            <a:ext cx="4806449" cy="3163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314f6680daf52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49296" cy="277368"/>
          </a:xfrm>
          <a:prstGeom prst="rect">
            <a:avLst/>
          </a:prstGeom>
        </p:spPr>
      </p:pic>
      <p:pic>
        <p:nvPicPr>
          <p:cNvPr id="9" name="Picture 8" descr="def7740143bebf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1928"/>
            <a:ext cx="1941576" cy="277368"/>
          </a:xfrm>
          <a:prstGeom prst="rect">
            <a:avLst/>
          </a:prstGeom>
        </p:spPr>
      </p:pic>
      <p:pic>
        <p:nvPicPr>
          <p:cNvPr id="10" name="Picture 9" descr="adcc8f1246fa21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23615"/>
            <a:ext cx="2737104" cy="347472"/>
          </a:xfrm>
          <a:prstGeom prst="rect">
            <a:avLst/>
          </a:prstGeom>
        </p:spPr>
      </p:pic>
      <p:pic>
        <p:nvPicPr>
          <p:cNvPr id="11" name="Picture 10" descr="6f95e2cb60145c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645407"/>
            <a:ext cx="24566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38°.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2790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3cb477a3fb5155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6406" y="1694878"/>
            <a:ext cx="1186243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265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8dcc8f629bcb0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56" y="1694878"/>
            <a:ext cx="11664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558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9075" y="157734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b01416cd51b60b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91" y="1692402"/>
            <a:ext cx="1191196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83888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45a70ed96904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395" y="1692402"/>
            <a:ext cx="1168908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6930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968" y="2875390"/>
            <a:ext cx="34294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4x + 3 = x + 39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0968" y="3378310"/>
            <a:ext cx="35549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take x off both sides:  </a:t>
            </a:r>
          </a:p>
        </p:txBody>
      </p:sp>
      <p:pic>
        <p:nvPicPr>
          <p:cNvPr id="16" name="Picture 15" descr="2ab8632a630df2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17" y="3513565"/>
            <a:ext cx="1344168" cy="214693"/>
          </a:xfrm>
          <a:prstGeom prst="rect">
            <a:avLst/>
          </a:prstGeom>
        </p:spPr>
      </p:pic>
      <p:pic>
        <p:nvPicPr>
          <p:cNvPr id="17" name="Picture 16" descr="68567d5b1bde23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5832" y="4016199"/>
            <a:ext cx="905256" cy="213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61088" y="3881230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1089" y="4016199"/>
            <a:ext cx="743712" cy="210312"/>
          </a:xfrm>
          <a:prstGeom prst="rect">
            <a:avLst/>
          </a:prstGeom>
        </p:spPr>
      </p:pic>
      <p:pic>
        <p:nvPicPr>
          <p:cNvPr id="20" name="Picture 19" descr="0992bbe3f2b54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5832" y="4522167"/>
            <a:ext cx="171602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95565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Each angle is 51°.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complement of 34°?</a:t>
            </a:r>
          </a:p>
        </p:txBody>
      </p:sp>
      <p:pic>
        <p:nvPicPr>
          <p:cNvPr id="9" name="Picture 8" descr="0f1f1f9bfab677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175" y="2626406"/>
            <a:ext cx="1837943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56°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supplement of 112°?</a:t>
            </a:r>
          </a:p>
        </p:txBody>
      </p:sp>
      <p:pic>
        <p:nvPicPr>
          <p:cNvPr id="9" name="Picture 8" descr="48c6be8dd19e7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6406"/>
            <a:ext cx="2139696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68°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5" y="2998436"/>
            <a:ext cx="300426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lines cross. One angle is 47°.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a and b.</a:t>
            </a:r>
          </a:p>
        </p:txBody>
      </p:sp>
      <p:pic>
        <p:nvPicPr>
          <p:cNvPr id="10" name="Picture 9" descr="gd8f563ee50232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319" y="2998436"/>
            <a:ext cx="3004268" cy="2286795"/>
          </a:xfrm>
          <a:prstGeom prst="rect">
            <a:avLst/>
          </a:prstGeom>
        </p:spPr>
      </p:pic>
      <p:pic>
        <p:nvPicPr>
          <p:cNvPr id="11" name="Picture 10" descr="4bae18db7a4d73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971" y="3801696"/>
            <a:ext cx="788765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0736" y="3661774"/>
            <a:ext cx="1758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(vertical)</a:t>
            </a:r>
          </a:p>
        </p:txBody>
      </p:sp>
      <p:pic>
        <p:nvPicPr>
          <p:cNvPr id="13" name="Picture 12" descr="d938da6dc54928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971" y="4292948"/>
            <a:ext cx="2291619" cy="22169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3591" y="4164694"/>
            <a:ext cx="2450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(a linear pair)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47°, b = 133°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77b1c7306185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d67e897ac23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1135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6679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9aa2e860f90272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3232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71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152°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236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62°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9227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118°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286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bb07ffc24a4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4151"/>
            <a:ext cx="393763" cy="220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2820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159c08c6eed82f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66" y="1971675"/>
            <a:ext cx="438340" cy="2575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34006" y="1851660"/>
            <a:ext cx="42586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are complementary, and </a:t>
            </a:r>
          </a:p>
        </p:txBody>
      </p:sp>
      <p:pic>
        <p:nvPicPr>
          <p:cNvPr id="12" name="Picture 11" descr="3a7f772a2815f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544" y="1971675"/>
            <a:ext cx="1463611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19156" y="1851660"/>
            <a:ext cx="289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64308"/>
            <a:ext cx="14806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</a:t>
            </a:r>
          </a:p>
        </p:txBody>
      </p:sp>
      <p:pic>
        <p:nvPicPr>
          <p:cNvPr id="15" name="Picture 14" descr="52c288f6d52551f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7939" y="2584323"/>
            <a:ext cx="710755" cy="2575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88694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7" name="Picture 16" descr="745c0b5bbb17b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747" y="3312604"/>
            <a:ext cx="182575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62°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0787c152ddf7d6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9198"/>
            <a:ext cx="13274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671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224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473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117" y="3071986"/>
            <a:ext cx="3413284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42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9" name="Picture 8" descr="8f30b8b49e8693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313" y="1966722"/>
            <a:ext cx="1329880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919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fa3d57b238d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700" y="1971675"/>
            <a:ext cx="631507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1720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4" name="Picture 13" descr="g8cc55e219df497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013" y="3071986"/>
            <a:ext cx="3413284" cy="2213245"/>
          </a:xfrm>
          <a:prstGeom prst="rect">
            <a:avLst/>
          </a:prstGeom>
        </p:spPr>
      </p:pic>
      <p:pic>
        <p:nvPicPr>
          <p:cNvPr id="15" name="Picture 14" descr="7f724f244cbb4e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682" y="3833518"/>
            <a:ext cx="2456688" cy="213360"/>
          </a:xfrm>
          <a:prstGeom prst="rect">
            <a:avLst/>
          </a:prstGeom>
        </p:spPr>
      </p:pic>
      <p:pic>
        <p:nvPicPr>
          <p:cNvPr id="16" name="Picture 15" descr="f3f7561d3a7c0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9682" y="4336438"/>
            <a:ext cx="9235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03226" y="420146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2396565ee2317ac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3227" y="4336438"/>
            <a:ext cx="771144" cy="213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e1c3824ec7b71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9198"/>
            <a:ext cx="1359598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765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15cc58817ef7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161" y="1969198"/>
            <a:ext cx="135216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633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7512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880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9" name="Picture 8" descr="8b8ebe44a953ed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6" y="1966722"/>
            <a:ext cx="136455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260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f4a415f7dba02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14" y="1966722"/>
            <a:ext cx="135464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137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measure of each angle.</a:t>
            </a:r>
          </a:p>
        </p:txBody>
      </p:sp>
      <p:pic>
        <p:nvPicPr>
          <p:cNvPr id="14" name="Picture 13" descr="g47e86856adf2b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165" y="3071986"/>
            <a:ext cx="2726495" cy="22132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3181" y="3447089"/>
            <a:ext cx="4653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equal:  6x − 20 = 2x + 28,   so  </a:t>
            </a:r>
          </a:p>
        </p:txBody>
      </p:sp>
      <p:pic>
        <p:nvPicPr>
          <p:cNvPr id="16" name="Picture 15" descr="3cb91e7565858a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9826" y="3584677"/>
            <a:ext cx="1556527" cy="212359"/>
          </a:xfrm>
          <a:prstGeom prst="rect">
            <a:avLst/>
          </a:prstGeom>
        </p:spPr>
      </p:pic>
      <p:pic>
        <p:nvPicPr>
          <p:cNvPr id="17" name="Picture 16" descr="c0a42a78d97a1e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45" y="4091074"/>
            <a:ext cx="957072" cy="2072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85117" y="3950009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9" name="Picture 18" descr="c9ab79e3ddc850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5118" y="4084978"/>
            <a:ext cx="743712" cy="210312"/>
          </a:xfrm>
          <a:prstGeom prst="rect">
            <a:avLst/>
          </a:prstGeom>
        </p:spPr>
      </p:pic>
      <p:pic>
        <p:nvPicPr>
          <p:cNvPr id="20" name="Picture 19" descr="b9cd8d999bb095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45" y="4590946"/>
            <a:ext cx="1898904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52°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5dcf96e4300877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185" y="2459338"/>
            <a:ext cx="1651149" cy="15244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DOE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215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AOC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BOC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90737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angles AOB and COD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two angles are adjacent?</a:t>
            </a:r>
          </a:p>
        </p:txBody>
      </p:sp>
      <p:pic>
        <p:nvPicPr>
          <p:cNvPr id="9" name="Picture 8" descr="gacab42555d0e0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809" y="2459338"/>
            <a:ext cx="2596896" cy="2287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79225" y="3122920"/>
            <a:ext cx="5068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AOB and BOC share the side 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9225" y="3625840"/>
            <a:ext cx="30918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and do not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3008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angles AOB and BOC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247" y="3427807"/>
            <a:ext cx="2561024" cy="1857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Above a straight line a ray makes angles of 38° and x°; below it another ray makes an angle of 50°.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9e90bd77297c2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915" y="3427807"/>
            <a:ext cx="2561024" cy="1857424"/>
          </a:xfrm>
          <a:prstGeom prst="rect">
            <a:avLst/>
          </a:prstGeom>
        </p:spPr>
      </p:pic>
      <p:pic>
        <p:nvPicPr>
          <p:cNvPr id="11" name="Picture 10" descr="4b0ece7bc6071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324" y="4011428"/>
            <a:ext cx="1533144" cy="213360"/>
          </a:xfrm>
          <a:prstGeom prst="rect">
            <a:avLst/>
          </a:prstGeom>
        </p:spPr>
      </p:pic>
      <p:pic>
        <p:nvPicPr>
          <p:cNvPr id="12" name="Picture 11" descr="b9435b17e5386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324" y="4514348"/>
            <a:ext cx="926592" cy="2103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142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Can two vertical angles be complementary?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Always, sometimes or never?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5078" y="3048728"/>
            <a:ext cx="5005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vertical:  the two are equal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5078" y="3588224"/>
            <a:ext cx="333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complementary:  </a:t>
            </a:r>
          </a:p>
        </p:txBody>
      </p:sp>
      <p:pic>
        <p:nvPicPr>
          <p:cNvPr id="12" name="Picture 11" descr="0006f1eda30768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222" y="3706334"/>
            <a:ext cx="1649063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78285" y="3588224"/>
            <a:ext cx="11853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Sometimes — only when each is 45°.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435486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complement of 61°?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426514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What is the supplement of 76°?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29887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lines cross, and one of the four angles is 58°. Find the other three.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90473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90473"/>
            <a:ext cx="321310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linear pair measures </a:t>
            </a:r>
          </a:p>
        </p:txBody>
      </p:sp>
      <p:pic>
        <p:nvPicPr>
          <p:cNvPr id="16" name="Picture 15" descr="285bdcc5e318a8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425" y="3169787"/>
            <a:ext cx="1235632" cy="25881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66058" y="3090473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ad6c1a03ab2e48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645" y="3196225"/>
            <a:ext cx="434141" cy="2059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23787" y="3090473"/>
            <a:ext cx="366796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x and the first angle.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62162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621620"/>
            <a:ext cx="342197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Vertical angles measure </a:t>
            </a:r>
          </a:p>
        </p:txBody>
      </p:sp>
      <p:pic>
        <p:nvPicPr>
          <p:cNvPr id="22" name="Picture 21" descr="fbc2e0de42011f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94" y="3700934"/>
            <a:ext cx="1065872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05166" y="362162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bc71e7f24b50d2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8754" y="3700934"/>
            <a:ext cx="120223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30991" y="3621620"/>
            <a:ext cx="302501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measure of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024751"/>
            <a:ext cx="1703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each angle.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55589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b2dd3170aa6e61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646344"/>
            <a:ext cx="782010" cy="23655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09642" y="4555898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a52c8ccabb4b16e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3230" y="4646344"/>
            <a:ext cx="776444" cy="23655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09675" y="4555898"/>
            <a:ext cx="71689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share the side QR and together make a straight line,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59029"/>
            <a:ext cx="785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</a:t>
            </a:r>
          </a:p>
        </p:txBody>
      </p:sp>
      <p:pic>
        <p:nvPicPr>
          <p:cNvPr id="33" name="Picture 32" descr="2c401f527e9ce7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2882" y="5049475"/>
            <a:ext cx="1756045" cy="2365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958928" y="4959029"/>
            <a:ext cx="346333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Name the pair and find </a:t>
            </a:r>
          </a:p>
        </p:txBody>
      </p:sp>
      <p:pic>
        <p:nvPicPr>
          <p:cNvPr id="35" name="Picture 34" descr="4211ba0231777f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85106" y="5049475"/>
            <a:ext cx="1026910" cy="236551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12017" y="4959029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1 — Angle Pairs: Supplementary, Complementary, Vertical, Adjacent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11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complementary, supplementary, vertical, adjacent, and congruent angles — HGV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166359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measures of complementary, supplementary, vertical, and adjacent angles — R2B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824727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and solve equations using angle relationships — DBV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angle of a triangle, inside or outside, with the Triangle Sum and the Exterior Angle Theorem.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7249" y="1440180"/>
            <a:ext cx="699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97°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0393" y="2052828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3235" y="2665476"/>
            <a:ext cx="1008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$0.75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8483" y="3278124"/>
            <a:ext cx="5714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70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interior 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 angle inside a triangle, at one of its corners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exterior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 between one side of a triangle and the next side extended; it makes a linear pair with the interior angle beside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remote interior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interior angles that are not beside a given exterior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3874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Sum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68112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three interior angles of a triangle add to 180°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Triangle Sum: the three angles make 180°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522339bbcb9f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993392"/>
            <a:ext cx="3657600" cy="2548021"/>
          </a:xfrm>
          <a:prstGeom prst="rect">
            <a:avLst/>
          </a:prstGeom>
        </p:spPr>
      </p:pic>
      <p:pic>
        <p:nvPicPr>
          <p:cNvPr id="11" name="Picture 10" descr="0aedc77137df4b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78" y="4742962"/>
            <a:ext cx="28590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8902" y="46648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5e378d9b5b720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185" y="4746010"/>
            <a:ext cx="981455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396377"/>
            <a:ext cx="5980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triangle's three angles add to 180°:  </a:t>
            </a:r>
          </a:p>
        </p:txBody>
      </p:sp>
      <p:pic>
        <p:nvPicPr>
          <p:cNvPr id="15" name="Picture 14" descr="9263d6474ca215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695" y="5520916"/>
            <a:ext cx="3540982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Exterior Angle Theorem: outside = the two remote angles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45d7beb9c033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3749039" cy="2344136"/>
          </a:xfrm>
          <a:prstGeom prst="rect">
            <a:avLst/>
          </a:prstGeom>
        </p:spPr>
      </p:pic>
      <p:pic>
        <p:nvPicPr>
          <p:cNvPr id="11" name="Picture 10" descr="89c2ce4528c0e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677" y="4574621"/>
            <a:ext cx="2487025" cy="244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0702" y="4460972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check:  </a:t>
            </a:r>
          </a:p>
        </p:txBody>
      </p:sp>
      <p:pic>
        <p:nvPicPr>
          <p:cNvPr id="13" name="Picture 12" descr="8a37fc4690070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59" y="4571938"/>
            <a:ext cx="2148982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336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Not the angle beside it, and not the angle around the outside.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Angles as expressions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dd6c2edffde6da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2337783"/>
          </a:xfrm>
          <a:prstGeom prst="rect">
            <a:avLst/>
          </a:prstGeom>
        </p:spPr>
      </p:pic>
      <p:pic>
        <p:nvPicPr>
          <p:cNvPr id="11" name="Picture 10" descr="647c8375d7d21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949" y="4529676"/>
            <a:ext cx="3694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2125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7b3e3f23e8ea73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532724"/>
            <a:ext cx="1435608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9016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d16345bfb60264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0298" y="4535772"/>
            <a:ext cx="1033271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5073" y="5140419"/>
            <a:ext cx="2144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angles:  </a:t>
            </a:r>
          </a:p>
        </p:txBody>
      </p:sp>
      <p:pic>
        <p:nvPicPr>
          <p:cNvPr id="17" name="Picture 16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096" y="5254069"/>
            <a:ext cx="394382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6479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642" y="5254069"/>
            <a:ext cx="394382" cy="2441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9025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b785117b1b161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188" y="5254069"/>
            <a:ext cx="539257" cy="244141"/>
          </a:xfrm>
          <a:prstGeom prst="rect">
            <a:avLst/>
          </a:prstGeom>
        </p:spPr>
      </p:pic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1000" y="144018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7c3ebd1b5118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137" y="1557718"/>
            <a:ext cx="482917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005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4dddd1a4fe59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61" y="1557718"/>
            <a:ext cx="440817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7378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2f72bb38c53d66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148840"/>
            <a:ext cx="4023360" cy="3092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7017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8609985cbbf0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67128" cy="280416"/>
          </a:xfrm>
          <a:prstGeom prst="rect">
            <a:avLst/>
          </a:prstGeom>
        </p:spPr>
      </p:pic>
      <p:pic>
        <p:nvPicPr>
          <p:cNvPr id="9" name="Picture 8" descr="b31b8f2372dd4a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95960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third angle is 51°.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3664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93bc96f2cc69f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801" y="1697355"/>
            <a:ext cx="465582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538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727d2cc0503a7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890" y="1697355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471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9950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598b182d9f6b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086" y="1697355"/>
            <a:ext cx="470534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6621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509e5756a63da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128" y="1697355"/>
            <a:ext cx="495299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42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4" name="Picture 13" descr="4cdaf6218c704a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3" y="2995214"/>
            <a:ext cx="1993392" cy="252984"/>
          </a:xfrm>
          <a:prstGeom prst="rect">
            <a:avLst/>
          </a:prstGeom>
        </p:spPr>
      </p:pic>
      <p:pic>
        <p:nvPicPr>
          <p:cNvPr id="15" name="Picture 14" descr="0eee067290a38f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203" y="3534710"/>
            <a:ext cx="21518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57°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5154" y="171450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2db8d970bac03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46" y="1832038"/>
            <a:ext cx="49034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93893" y="171450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41c731884e8b0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00" y="1832038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322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914915b016051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423160"/>
            <a:ext cx="4023360" cy="26765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289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6436ee197a6c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88920" cy="280416"/>
          </a:xfrm>
          <a:prstGeom prst="rect">
            <a:avLst/>
          </a:prstGeom>
        </p:spPr>
      </p:pic>
      <p:pic>
        <p:nvPicPr>
          <p:cNvPr id="9" name="Picture 8" descr="a03bc7e3a59a7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595579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exterior angle is 113°.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396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87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894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30b8c97d4403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5447" y="169735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982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919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311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646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83dab77d38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970" y="1697355"/>
            <a:ext cx="475488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45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  <p:pic>
        <p:nvPicPr>
          <p:cNvPr id="14" name="Picture 13" descr="30206c3aca93be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1" y="2995214"/>
            <a:ext cx="19751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107°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pic>
        <p:nvPicPr>
          <p:cNvPr id="9" name="Picture 8" descr="0e1ea345931b3e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3358"/>
            <a:ext cx="1987296" cy="256032"/>
          </a:xfrm>
          <a:prstGeom prst="rect">
            <a:avLst/>
          </a:prstGeom>
        </p:spPr>
      </p:pic>
      <p:pic>
        <p:nvPicPr>
          <p:cNvPr id="10" name="Picture 9" descr="5a6504566eb37c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51" y="3165902"/>
            <a:ext cx="21427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65°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0" name="Picture 9" descr="5896b664cb0ee0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68553"/>
            <a:ext cx="2023872" cy="252984"/>
          </a:xfrm>
          <a:prstGeom prst="rect">
            <a:avLst/>
          </a:prstGeom>
        </p:spPr>
      </p:pic>
      <p:pic>
        <p:nvPicPr>
          <p:cNvPr id="11" name="Picture 10" descr="05c73aed05dead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705001"/>
            <a:ext cx="219760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76°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90" y="2998436"/>
            <a:ext cx="418853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42" y="2998436"/>
            <a:ext cx="4188538" cy="2286795"/>
          </a:xfrm>
          <a:prstGeom prst="rect">
            <a:avLst/>
          </a:prstGeom>
        </p:spPr>
      </p:pic>
      <p:pic>
        <p:nvPicPr>
          <p:cNvPr id="11" name="Picture 10" descr="f6703d768b6f6b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665" y="4048203"/>
            <a:ext cx="209702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115°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pic>
        <p:nvPicPr>
          <p:cNvPr id="10" name="Picture 9" descr="b2800e49e8c99d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064" y="3165505"/>
            <a:ext cx="204520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4200" y="358822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2" name="Picture 11" descr="89eaa96462cb01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41" y="3709097"/>
            <a:ext cx="218217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105°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pic>
        <p:nvPicPr>
          <p:cNvPr id="10" name="Picture 9" descr="8ce054ff8a0825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597923"/>
            <a:ext cx="1801368" cy="252984"/>
          </a:xfrm>
          <a:prstGeom prst="rect">
            <a:avLst/>
          </a:prstGeom>
        </p:spPr>
      </p:pic>
      <p:pic>
        <p:nvPicPr>
          <p:cNvPr id="11" name="Picture 10" descr="10fb68966b6f5d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4137419"/>
            <a:ext cx="886968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75°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9a77d2ef13e07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57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bcd545b5207fdb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080" y="1969198"/>
            <a:ext cx="132740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4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d05019691e27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3011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205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017c2bef06e0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557" y="1966722"/>
            <a:ext cx="132988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8437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pic>
        <p:nvPicPr>
          <p:cNvPr id="16" name="Picture 15" descr="d81f3f45ef9c4b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922" y="3242102"/>
            <a:ext cx="3236976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2898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84cb4c1234df5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644" y="3239054"/>
            <a:ext cx="1258824" cy="252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5467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b240ecaec035e4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9213" y="3242102"/>
            <a:ext cx="896112" cy="249935"/>
          </a:xfrm>
          <a:prstGeom prst="rect">
            <a:avLst/>
          </a:prstGeom>
        </p:spPr>
      </p:pic>
      <p:pic>
        <p:nvPicPr>
          <p:cNvPr id="21" name="Picture 20" descr="c48d1166260cd6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922" y="3778550"/>
            <a:ext cx="1563624" cy="3169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19546" y="3661774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3" name="Picture 22" descr="65e6d91ac736a0f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3292" y="3775502"/>
            <a:ext cx="2234184" cy="320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28°, 84° and 68°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6fc36d4d507b1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9198"/>
            <a:ext cx="119862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979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914b62989f40b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81846"/>
            <a:ext cx="690943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8737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8" name="Picture 17" descr="82554d18127d5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2819400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20" name="Picture 19" descr="8d07209786ff86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810512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22" name="Picture 21" descr="0ba96a21739ff6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4437490"/>
            <a:ext cx="2612136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4" name="Picture 23" descr="b32043de87a5de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4437490"/>
            <a:ext cx="362102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d7eb0f2d681788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6722"/>
            <a:ext cx="1203579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474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e968d0415b3e8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79370"/>
            <a:ext cx="695896" cy="2872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5369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1952" y="3734926"/>
            <a:ext cx="7914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outside = the two far ones:  5x + 4 = 52 + 3x</a:t>
            </a:r>
          </a:p>
        </p:txBody>
      </p:sp>
      <p:pic>
        <p:nvPicPr>
          <p:cNvPr id="18" name="Picture 17" descr="855664d81a55cc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16" y="4394246"/>
            <a:ext cx="1100328" cy="249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7144" y="4274422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04dcdfd387364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890" y="4391198"/>
            <a:ext cx="914400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5x + 4 = 52 + 3x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pic>
        <p:nvPicPr>
          <p:cNvPr id="10" name="Picture 9" descr="f9b56ca1453b15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3165505"/>
            <a:ext cx="2005584" cy="256032"/>
          </a:xfrm>
          <a:prstGeom prst="rect">
            <a:avLst/>
          </a:prstGeom>
        </p:spPr>
      </p:pic>
      <p:pic>
        <p:nvPicPr>
          <p:cNvPr id="11" name="Picture 10" descr="d164afe1fd8f71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1" y="3708049"/>
            <a:ext cx="2157984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73°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4873" y="2939000"/>
            <a:ext cx="22738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for example:  </a:t>
            </a:r>
          </a:p>
        </p:txBody>
      </p:sp>
      <p:pic>
        <p:nvPicPr>
          <p:cNvPr id="10" name="Picture 9" descr="1cf37538407c0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584" y="3074255"/>
            <a:ext cx="1726882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467" y="2939000"/>
            <a:ext cx="5267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more than 40 and more than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is the two remote angles added, each more than 0°.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7310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angles of a triangle are 63° and 79°. 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960650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isosceles triangle's two base angles are equal. The angle between its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31310"/>
            <a:ext cx="602371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equal sides is 40°. Find each base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62457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993057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remote interior angles are 46° and 58°. Find the exterior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51748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is 140°. One remote interior angle is 62°.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07169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Find the other.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31794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20" name="Picture 19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804" y="4507196"/>
            <a:ext cx="637297" cy="258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34101" y="4427882"/>
            <a:ext cx="3571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04becd1bdf09d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126" y="4507196"/>
            <a:ext cx="631731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85857" y="4427882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01c992824f9bab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445" y="4507196"/>
            <a:ext cx="65677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66222" y="4427882"/>
            <a:ext cx="248179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each angle.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5902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59029"/>
            <a:ext cx="553524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measures </a:t>
            </a:r>
          </a:p>
        </p:txBody>
      </p:sp>
      <p:pic>
        <p:nvPicPr>
          <p:cNvPr id="28" name="Picture 27" descr="9da31d5850a0f0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560" y="5038343"/>
            <a:ext cx="1249547" cy="258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02107" y="4959029"/>
            <a:ext cx="277458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; its remote interior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62160"/>
            <a:ext cx="23410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measure </a:t>
            </a:r>
          </a:p>
        </p:txBody>
      </p:sp>
      <p:pic>
        <p:nvPicPr>
          <p:cNvPr id="31" name="Picture 30" descr="985ed041d11c30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8332" y="5467913"/>
            <a:ext cx="445273" cy="2059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03605" y="536216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3" name="Picture 32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93" y="5441475"/>
            <a:ext cx="637297" cy="2588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64490" y="5362160"/>
            <a:ext cx="414554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Write an equation and find x.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11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missing angles in triangles — JFJ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Exterior Angle Theorem — FMP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Angle-Sum Theorem — 6Q6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