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Relationship Id="rId8" Type="http://schemas.openxmlformats.org/officeDocument/2006/relationships/slide" Target="slide213.xml"/><Relationship Id="rId9" Type="http://schemas.openxmlformats.org/officeDocument/2006/relationships/slide" Target="slide2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5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5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17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87.png"/><Relationship Id="rId5" Type="http://schemas.openxmlformats.org/officeDocument/2006/relationships/image" Target="../media/image73.png"/><Relationship Id="rId6" Type="http://schemas.openxmlformats.org/officeDocument/2006/relationships/image" Target="../media/image19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Relationship Id="rId4" Type="http://schemas.openxmlformats.org/officeDocument/2006/relationships/image" Target="../media/image193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Relationship Id="rId9" Type="http://schemas.openxmlformats.org/officeDocument/2006/relationships/image" Target="../media/image235.png"/><Relationship Id="rId10" Type="http://schemas.openxmlformats.org/officeDocument/2006/relationships/image" Target="../media/image236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198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40.png"/><Relationship Id="rId7" Type="http://schemas.openxmlformats.org/officeDocument/2006/relationships/image" Target="../media/image19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198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40.png"/><Relationship Id="rId7" Type="http://schemas.openxmlformats.org/officeDocument/2006/relationships/image" Target="../media/image199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242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161.png"/><Relationship Id="rId5" Type="http://schemas.openxmlformats.org/officeDocument/2006/relationships/image" Target="../media/image245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19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04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73.png"/><Relationship Id="rId8" Type="http://schemas.openxmlformats.org/officeDocument/2006/relationships/image" Target="../media/image190.png"/><Relationship Id="rId9" Type="http://schemas.openxmlformats.org/officeDocument/2006/relationships/image" Target="../media/image263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156.png"/><Relationship Id="rId7" Type="http://schemas.openxmlformats.org/officeDocument/2006/relationships/image" Target="../media/image276.png"/><Relationship Id="rId8" Type="http://schemas.openxmlformats.org/officeDocument/2006/relationships/image" Target="../media/image277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Relationship Id="rId5" Type="http://schemas.openxmlformats.org/officeDocument/2006/relationships/image" Target="../media/image281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Relationship Id="rId8" Type="http://schemas.openxmlformats.org/officeDocument/2006/relationships/image" Target="../media/image287.png"/><Relationship Id="rId9" Type="http://schemas.openxmlformats.org/officeDocument/2006/relationships/image" Target="../media/image288.png"/><Relationship Id="rId10" Type="http://schemas.openxmlformats.org/officeDocument/2006/relationships/image" Target="../media/image289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99.png"/><Relationship Id="rId9" Type="http://schemas.openxmlformats.org/officeDocument/2006/relationships/image" Target="../media/image30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Relationship Id="rId3" Type="http://schemas.openxmlformats.org/officeDocument/2006/relationships/image" Target="../media/image302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image" Target="../media/image306.png"/><Relationship Id="rId4" Type="http://schemas.openxmlformats.org/officeDocument/2006/relationships/image" Target="../media/image307.png"/><Relationship Id="rId5" Type="http://schemas.openxmlformats.org/officeDocument/2006/relationships/image" Target="../media/image308.png"/><Relationship Id="rId6" Type="http://schemas.openxmlformats.org/officeDocument/2006/relationships/image" Target="../media/image309.png"/><Relationship Id="rId7" Type="http://schemas.openxmlformats.org/officeDocument/2006/relationships/image" Target="../media/image310.png"/><Relationship Id="rId8" Type="http://schemas.openxmlformats.org/officeDocument/2006/relationships/image" Target="../media/image311.png"/><Relationship Id="rId9" Type="http://schemas.openxmlformats.org/officeDocument/2006/relationships/image" Target="../media/image312.png"/><Relationship Id="rId10" Type="http://schemas.openxmlformats.org/officeDocument/2006/relationships/image" Target="../media/image313.png"/><Relationship Id="rId11" Type="http://schemas.openxmlformats.org/officeDocument/2006/relationships/image" Target="../media/image314.png"/><Relationship Id="rId12" Type="http://schemas.openxmlformats.org/officeDocument/2006/relationships/image" Target="../media/image31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Relationship Id="rId4" Type="http://schemas.openxmlformats.org/officeDocument/2006/relationships/image" Target="../media/image318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Relationship Id="rId9" Type="http://schemas.openxmlformats.org/officeDocument/2006/relationships/image" Target="../media/image32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Relationship Id="rId3" Type="http://schemas.openxmlformats.org/officeDocument/2006/relationships/image" Target="../media/image330.png"/><Relationship Id="rId4" Type="http://schemas.openxmlformats.org/officeDocument/2006/relationships/image" Target="../media/image331.png"/><Relationship Id="rId5" Type="http://schemas.openxmlformats.org/officeDocument/2006/relationships/image" Target="../media/image332.png"/><Relationship Id="rId6" Type="http://schemas.openxmlformats.org/officeDocument/2006/relationships/image" Target="../media/image312.png"/><Relationship Id="rId7" Type="http://schemas.openxmlformats.org/officeDocument/2006/relationships/image" Target="../media/image333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Relationship Id="rId5" Type="http://schemas.openxmlformats.org/officeDocument/2006/relationships/image" Target="../media/image336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337.png"/><Relationship Id="rId4" Type="http://schemas.openxmlformats.org/officeDocument/2006/relationships/image" Target="../media/image338.png"/><Relationship Id="rId5" Type="http://schemas.openxmlformats.org/officeDocument/2006/relationships/image" Target="../media/image339.png"/><Relationship Id="rId6" Type="http://schemas.openxmlformats.org/officeDocument/2006/relationships/image" Target="../media/image340.png"/><Relationship Id="rId7" Type="http://schemas.openxmlformats.org/officeDocument/2006/relationships/image" Target="../media/image341.png"/><Relationship Id="rId8" Type="http://schemas.openxmlformats.org/officeDocument/2006/relationships/image" Target="../media/image342.png"/><Relationship Id="rId9" Type="http://schemas.openxmlformats.org/officeDocument/2006/relationships/image" Target="../media/image34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Relationship Id="rId3" Type="http://schemas.openxmlformats.org/officeDocument/2006/relationships/image" Target="../media/image345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Relationship Id="rId3" Type="http://schemas.openxmlformats.org/officeDocument/2006/relationships/image" Target="../media/image347.png"/><Relationship Id="rId4" Type="http://schemas.openxmlformats.org/officeDocument/2006/relationships/image" Target="../media/image261.png"/><Relationship Id="rId5" Type="http://schemas.openxmlformats.org/officeDocument/2006/relationships/image" Target="../media/image143.png"/><Relationship Id="rId6" Type="http://schemas.openxmlformats.org/officeDocument/2006/relationships/image" Target="../media/image348.png"/><Relationship Id="rId7" Type="http://schemas.openxmlformats.org/officeDocument/2006/relationships/image" Target="../media/image349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Relationship Id="rId3" Type="http://schemas.openxmlformats.org/officeDocument/2006/relationships/image" Target="../media/image351.png"/><Relationship Id="rId4" Type="http://schemas.openxmlformats.org/officeDocument/2006/relationships/image" Target="../media/image35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143.png"/><Relationship Id="rId6" Type="http://schemas.openxmlformats.org/officeDocument/2006/relationships/image" Target="../media/image310.png"/><Relationship Id="rId7" Type="http://schemas.openxmlformats.org/officeDocument/2006/relationships/image" Target="../media/image213.png"/><Relationship Id="rId8" Type="http://schemas.openxmlformats.org/officeDocument/2006/relationships/image" Target="../media/image35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18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Relationship Id="rId3" Type="http://schemas.openxmlformats.org/officeDocument/2006/relationships/image" Target="../media/image183.png"/><Relationship Id="rId4" Type="http://schemas.openxmlformats.org/officeDocument/2006/relationships/image" Target="../media/image274.png"/><Relationship Id="rId5" Type="http://schemas.openxmlformats.org/officeDocument/2006/relationships/image" Target="../media/image359.png"/><Relationship Id="rId6" Type="http://schemas.openxmlformats.org/officeDocument/2006/relationships/image" Target="../media/image360.png"/><Relationship Id="rId7" Type="http://schemas.openxmlformats.org/officeDocument/2006/relationships/image" Target="../media/image36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image" Target="../media/image366.png"/><Relationship Id="rId7" Type="http://schemas.openxmlformats.org/officeDocument/2006/relationships/image" Target="../media/image367.png"/><Relationship Id="rId8" Type="http://schemas.openxmlformats.org/officeDocument/2006/relationships/image" Target="../media/image368.png"/><Relationship Id="rId9" Type="http://schemas.openxmlformats.org/officeDocument/2006/relationships/image" Target="../media/image369.png"/><Relationship Id="rId10" Type="http://schemas.openxmlformats.org/officeDocument/2006/relationships/image" Target="../media/image370.png"/><Relationship Id="rId11" Type="http://schemas.openxmlformats.org/officeDocument/2006/relationships/image" Target="../media/image371.png"/><Relationship Id="rId12" Type="http://schemas.openxmlformats.org/officeDocument/2006/relationships/image" Target="../media/image372.png"/><Relationship Id="rId13" Type="http://schemas.openxmlformats.org/officeDocument/2006/relationships/image" Target="../media/image373.png"/><Relationship Id="rId14" Type="http://schemas.openxmlformats.org/officeDocument/2006/relationships/image" Target="../media/image374.png"/><Relationship Id="rId15" Type="http://schemas.openxmlformats.org/officeDocument/2006/relationships/image" Target="../media/image375.png"/><Relationship Id="rId16" Type="http://schemas.openxmlformats.org/officeDocument/2006/relationships/image" Target="../media/image376.png"/><Relationship Id="rId17" Type="http://schemas.openxmlformats.org/officeDocument/2006/relationships/image" Target="../media/image377.png"/><Relationship Id="rId18" Type="http://schemas.openxmlformats.org/officeDocument/2006/relationships/image" Target="../media/image378.png"/><Relationship Id="rId19" Type="http://schemas.openxmlformats.org/officeDocument/2006/relationships/image" Target="../media/image379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80.png"/><Relationship Id="rId4" Type="http://schemas.openxmlformats.org/officeDocument/2006/relationships/image" Target="../media/image17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image" Target="../media/image380.png"/><Relationship Id="rId4" Type="http://schemas.openxmlformats.org/officeDocument/2006/relationships/image" Target="../media/image176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png"/><Relationship Id="rId3" Type="http://schemas.openxmlformats.org/officeDocument/2006/relationships/image" Target="../media/image382.png"/><Relationship Id="rId4" Type="http://schemas.openxmlformats.org/officeDocument/2006/relationships/image" Target="../media/image383.png"/><Relationship Id="rId5" Type="http://schemas.openxmlformats.org/officeDocument/2006/relationships/image" Target="../media/image384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391.png"/><Relationship Id="rId4" Type="http://schemas.openxmlformats.org/officeDocument/2006/relationships/image" Target="../media/image39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Relationship Id="rId3" Type="http://schemas.openxmlformats.org/officeDocument/2006/relationships/image" Target="../media/image395.png"/><Relationship Id="rId4" Type="http://schemas.openxmlformats.org/officeDocument/2006/relationships/image" Target="../media/image3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Relationship Id="rId3" Type="http://schemas.openxmlformats.org/officeDocument/2006/relationships/image" Target="../media/image398.png"/><Relationship Id="rId4" Type="http://schemas.openxmlformats.org/officeDocument/2006/relationships/image" Target="../media/image399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Relationship Id="rId3" Type="http://schemas.openxmlformats.org/officeDocument/2006/relationships/image" Target="../media/image402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png"/><Relationship Id="rId3" Type="http://schemas.openxmlformats.org/officeDocument/2006/relationships/image" Target="../media/image40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Relationship Id="rId4" Type="http://schemas.openxmlformats.org/officeDocument/2006/relationships/image" Target="../media/image40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Relationship Id="rId3" Type="http://schemas.openxmlformats.org/officeDocument/2006/relationships/image" Target="../media/image413.png"/><Relationship Id="rId4" Type="http://schemas.openxmlformats.org/officeDocument/2006/relationships/image" Target="../media/image414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png"/><Relationship Id="rId3" Type="http://schemas.openxmlformats.org/officeDocument/2006/relationships/image" Target="../media/image418.png"/><Relationship Id="rId4" Type="http://schemas.openxmlformats.org/officeDocument/2006/relationships/image" Target="../media/image419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Relationship Id="rId3" Type="http://schemas.openxmlformats.org/officeDocument/2006/relationships/image" Target="../media/image421.png"/><Relationship Id="rId4" Type="http://schemas.openxmlformats.org/officeDocument/2006/relationships/image" Target="../media/image422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Relationship Id="rId3" Type="http://schemas.openxmlformats.org/officeDocument/2006/relationships/image" Target="../media/image424.png"/><Relationship Id="rId4" Type="http://schemas.openxmlformats.org/officeDocument/2006/relationships/image" Target="../media/image42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427.png"/><Relationship Id="rId4" Type="http://schemas.openxmlformats.org/officeDocument/2006/relationships/image" Target="../media/image428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png"/><Relationship Id="rId3" Type="http://schemas.openxmlformats.org/officeDocument/2006/relationships/image" Target="../media/image435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Relationship Id="rId3" Type="http://schemas.openxmlformats.org/officeDocument/2006/relationships/image" Target="../media/image438.png"/><Relationship Id="rId4" Type="http://schemas.openxmlformats.org/officeDocument/2006/relationships/image" Target="../media/image439.png"/><Relationship Id="rId5" Type="http://schemas.openxmlformats.org/officeDocument/2006/relationships/image" Target="../media/image440.png"/><Relationship Id="rId6" Type="http://schemas.openxmlformats.org/officeDocument/2006/relationships/image" Target="../media/image44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Relationship Id="rId3" Type="http://schemas.openxmlformats.org/officeDocument/2006/relationships/image" Target="../media/image446.png"/><Relationship Id="rId4" Type="http://schemas.openxmlformats.org/officeDocument/2006/relationships/image" Target="../media/image44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Relationship Id="rId3" Type="http://schemas.openxmlformats.org/officeDocument/2006/relationships/image" Target="../media/image451.png"/><Relationship Id="rId4" Type="http://schemas.openxmlformats.org/officeDocument/2006/relationships/image" Target="../media/image452.png"/><Relationship Id="rId5" Type="http://schemas.openxmlformats.org/officeDocument/2006/relationships/image" Target="../media/image453.png"/><Relationship Id="rId6" Type="http://schemas.openxmlformats.org/officeDocument/2006/relationships/image" Target="../media/image454.png"/><Relationship Id="rId7" Type="http://schemas.openxmlformats.org/officeDocument/2006/relationships/image" Target="../media/image455.png"/><Relationship Id="rId8" Type="http://schemas.openxmlformats.org/officeDocument/2006/relationships/image" Target="../media/image456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Relationship Id="rId3" Type="http://schemas.openxmlformats.org/officeDocument/2006/relationships/image" Target="../media/image458.png"/><Relationship Id="rId4" Type="http://schemas.openxmlformats.org/officeDocument/2006/relationships/image" Target="../media/image459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Relationship Id="rId3" Type="http://schemas.openxmlformats.org/officeDocument/2006/relationships/image" Target="../media/image461.png"/><Relationship Id="rId4" Type="http://schemas.openxmlformats.org/officeDocument/2006/relationships/image" Target="../media/image462.png"/><Relationship Id="rId5" Type="http://schemas.openxmlformats.org/officeDocument/2006/relationships/image" Target="../media/image463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png"/><Relationship Id="rId3" Type="http://schemas.openxmlformats.org/officeDocument/2006/relationships/image" Target="../media/image465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Relationship Id="rId3" Type="http://schemas.openxmlformats.org/officeDocument/2006/relationships/image" Target="../media/image475.png"/><Relationship Id="rId4" Type="http://schemas.openxmlformats.org/officeDocument/2006/relationships/image" Target="../media/image476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78.png"/><Relationship Id="rId4" Type="http://schemas.openxmlformats.org/officeDocument/2006/relationships/image" Target="../media/image479.png"/><Relationship Id="rId5" Type="http://schemas.openxmlformats.org/officeDocument/2006/relationships/image" Target="../media/image480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81.png"/><Relationship Id="rId4" Type="http://schemas.openxmlformats.org/officeDocument/2006/relationships/image" Target="../media/image482.png"/><Relationship Id="rId5" Type="http://schemas.openxmlformats.org/officeDocument/2006/relationships/image" Target="../media/image483.png"/><Relationship Id="rId6" Type="http://schemas.openxmlformats.org/officeDocument/2006/relationships/image" Target="../media/image484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Relationship Id="rId3" Type="http://schemas.openxmlformats.org/officeDocument/2006/relationships/image" Target="../media/image486.png"/><Relationship Id="rId4" Type="http://schemas.openxmlformats.org/officeDocument/2006/relationships/image" Target="../media/image487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Relationship Id="rId3" Type="http://schemas.openxmlformats.org/officeDocument/2006/relationships/image" Target="../media/image486.png"/><Relationship Id="rId4" Type="http://schemas.openxmlformats.org/officeDocument/2006/relationships/image" Target="../media/image487.png"/><Relationship Id="rId5" Type="http://schemas.openxmlformats.org/officeDocument/2006/relationships/image" Target="../media/image489.png"/><Relationship Id="rId6" Type="http://schemas.openxmlformats.org/officeDocument/2006/relationships/image" Target="../media/image490.png"/><Relationship Id="rId7" Type="http://schemas.openxmlformats.org/officeDocument/2006/relationships/image" Target="../media/image49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Relationship Id="rId4" Type="http://schemas.openxmlformats.org/officeDocument/2006/relationships/image" Target="../media/image494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5.png"/><Relationship Id="rId3" Type="http://schemas.openxmlformats.org/officeDocument/2006/relationships/image" Target="../media/image496.png"/><Relationship Id="rId4" Type="http://schemas.openxmlformats.org/officeDocument/2006/relationships/image" Target="../media/image497.png"/><Relationship Id="rId5" Type="http://schemas.openxmlformats.org/officeDocument/2006/relationships/image" Target="../media/image498.png"/><Relationship Id="rId6" Type="http://schemas.openxmlformats.org/officeDocument/2006/relationships/image" Target="../media/image499.png"/><Relationship Id="rId7" Type="http://schemas.openxmlformats.org/officeDocument/2006/relationships/image" Target="../media/image470.png"/><Relationship Id="rId8" Type="http://schemas.openxmlformats.org/officeDocument/2006/relationships/image" Target="../media/image500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1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2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png"/><Relationship Id="rId3" Type="http://schemas.openxmlformats.org/officeDocument/2006/relationships/image" Target="../media/image504.png"/><Relationship Id="rId4" Type="http://schemas.openxmlformats.org/officeDocument/2006/relationships/image" Target="../media/image505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7.png"/><Relationship Id="rId3" Type="http://schemas.openxmlformats.org/officeDocument/2006/relationships/image" Target="../media/image508.png"/><Relationship Id="rId4" Type="http://schemas.openxmlformats.org/officeDocument/2006/relationships/image" Target="../media/image509.png"/><Relationship Id="rId5" Type="http://schemas.openxmlformats.org/officeDocument/2006/relationships/image" Target="../media/image510.png"/><Relationship Id="rId6" Type="http://schemas.openxmlformats.org/officeDocument/2006/relationships/image" Target="../media/image511.png"/><Relationship Id="rId7" Type="http://schemas.openxmlformats.org/officeDocument/2006/relationships/image" Target="../media/image512.png"/><Relationship Id="rId8" Type="http://schemas.openxmlformats.org/officeDocument/2006/relationships/image" Target="../media/image513.png"/><Relationship Id="rId9" Type="http://schemas.openxmlformats.org/officeDocument/2006/relationships/image" Target="../media/image514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png"/><Relationship Id="rId3" Type="http://schemas.openxmlformats.org/officeDocument/2006/relationships/image" Target="../media/image198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png"/><Relationship Id="rId3" Type="http://schemas.openxmlformats.org/officeDocument/2006/relationships/image" Target="../media/image198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6.png"/><Relationship Id="rId3" Type="http://schemas.openxmlformats.org/officeDocument/2006/relationships/image" Target="../media/image517.png"/><Relationship Id="rId4" Type="http://schemas.openxmlformats.org/officeDocument/2006/relationships/image" Target="../media/image518.png"/><Relationship Id="rId5" Type="http://schemas.openxmlformats.org/officeDocument/2006/relationships/image" Target="../media/image519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0.png"/><Relationship Id="rId3" Type="http://schemas.openxmlformats.org/officeDocument/2006/relationships/image" Target="../media/image521.png"/><Relationship Id="rId4" Type="http://schemas.openxmlformats.org/officeDocument/2006/relationships/image" Target="../media/image522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3.png"/><Relationship Id="rId3" Type="http://schemas.openxmlformats.org/officeDocument/2006/relationships/image" Target="../media/image524.png"/><Relationship Id="rId4" Type="http://schemas.openxmlformats.org/officeDocument/2006/relationships/image" Target="../media/image525.png"/><Relationship Id="rId5" Type="http://schemas.openxmlformats.org/officeDocument/2006/relationships/image" Target="../media/image526.png"/><Relationship Id="rId6" Type="http://schemas.openxmlformats.org/officeDocument/2006/relationships/image" Target="../media/image527.png"/><Relationship Id="rId7" Type="http://schemas.openxmlformats.org/officeDocument/2006/relationships/image" Target="../media/image528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9.png"/><Relationship Id="rId3" Type="http://schemas.openxmlformats.org/officeDocument/2006/relationships/image" Target="../media/image530.png"/><Relationship Id="rId4" Type="http://schemas.openxmlformats.org/officeDocument/2006/relationships/image" Target="../media/image531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png"/><Relationship Id="rId3" Type="http://schemas.openxmlformats.org/officeDocument/2006/relationships/image" Target="../media/image533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4.png"/><Relationship Id="rId3" Type="http://schemas.openxmlformats.org/officeDocument/2006/relationships/image" Target="../media/image535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537.png"/><Relationship Id="rId4" Type="http://schemas.openxmlformats.org/officeDocument/2006/relationships/image" Target="../media/image538.png"/><Relationship Id="rId5" Type="http://schemas.openxmlformats.org/officeDocument/2006/relationships/image" Target="../media/image539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0.png"/><Relationship Id="rId3" Type="http://schemas.openxmlformats.org/officeDocument/2006/relationships/image" Target="../media/image541.png"/><Relationship Id="rId4" Type="http://schemas.openxmlformats.org/officeDocument/2006/relationships/image" Target="../media/image542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3.png"/><Relationship Id="rId3" Type="http://schemas.openxmlformats.org/officeDocument/2006/relationships/image" Target="../media/image544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Relationship Id="rId3" Type="http://schemas.openxmlformats.org/officeDocument/2006/relationships/image" Target="../media/image546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Relationship Id="rId3" Type="http://schemas.openxmlformats.org/officeDocument/2006/relationships/image" Target="../media/image547.png"/><Relationship Id="rId4" Type="http://schemas.openxmlformats.org/officeDocument/2006/relationships/image" Target="../media/image548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9.png"/><Relationship Id="rId3" Type="http://schemas.openxmlformats.org/officeDocument/2006/relationships/image" Target="../media/image550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1.png"/><Relationship Id="rId3" Type="http://schemas.openxmlformats.org/officeDocument/2006/relationships/image" Target="../media/image552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Relationship Id="rId3" Type="http://schemas.openxmlformats.org/officeDocument/2006/relationships/image" Target="../media/image554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5.png"/><Relationship Id="rId3" Type="http://schemas.openxmlformats.org/officeDocument/2006/relationships/image" Target="../media/image55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7.png"/><Relationship Id="rId3" Type="http://schemas.openxmlformats.org/officeDocument/2006/relationships/image" Target="../media/image558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png"/><Relationship Id="rId3" Type="http://schemas.openxmlformats.org/officeDocument/2006/relationships/image" Target="../media/image560.png"/><Relationship Id="rId4" Type="http://schemas.openxmlformats.org/officeDocument/2006/relationships/image" Target="../media/image56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png"/><Relationship Id="rId3" Type="http://schemas.openxmlformats.org/officeDocument/2006/relationships/image" Target="../media/image562.png"/><Relationship Id="rId4" Type="http://schemas.openxmlformats.org/officeDocument/2006/relationships/image" Target="../media/image563.png"/><Relationship Id="rId5" Type="http://schemas.openxmlformats.org/officeDocument/2006/relationships/image" Target="../media/image564.png"/><Relationship Id="rId6" Type="http://schemas.openxmlformats.org/officeDocument/2006/relationships/image" Target="../media/image565.png"/><Relationship Id="rId7" Type="http://schemas.openxmlformats.org/officeDocument/2006/relationships/image" Target="../media/image566.png"/><Relationship Id="rId8" Type="http://schemas.openxmlformats.org/officeDocument/2006/relationships/image" Target="../media/image567.png"/><Relationship Id="rId9" Type="http://schemas.openxmlformats.org/officeDocument/2006/relationships/image" Target="../media/image568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9.png"/><Relationship Id="rId3" Type="http://schemas.openxmlformats.org/officeDocument/2006/relationships/image" Target="../media/image570.png"/><Relationship Id="rId4" Type="http://schemas.openxmlformats.org/officeDocument/2006/relationships/image" Target="../media/image571.png"/><Relationship Id="rId5" Type="http://schemas.openxmlformats.org/officeDocument/2006/relationships/image" Target="../media/image572.png"/><Relationship Id="rId6" Type="http://schemas.openxmlformats.org/officeDocument/2006/relationships/image" Target="../media/image573.png"/><Relationship Id="rId7" Type="http://schemas.openxmlformats.org/officeDocument/2006/relationships/image" Target="../media/image574.png"/><Relationship Id="rId8" Type="http://schemas.openxmlformats.org/officeDocument/2006/relationships/image" Target="../media/image575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6.png"/><Relationship Id="rId3" Type="http://schemas.openxmlformats.org/officeDocument/2006/relationships/image" Target="../media/image570.png"/><Relationship Id="rId4" Type="http://schemas.openxmlformats.org/officeDocument/2006/relationships/image" Target="../media/image577.png"/><Relationship Id="rId5" Type="http://schemas.openxmlformats.org/officeDocument/2006/relationships/image" Target="../media/image578.png"/><Relationship Id="rId6" Type="http://schemas.openxmlformats.org/officeDocument/2006/relationships/image" Target="../media/image579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0.png"/><Relationship Id="rId3" Type="http://schemas.openxmlformats.org/officeDocument/2006/relationships/image" Target="../media/image581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2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3.png"/><Relationship Id="rId3" Type="http://schemas.openxmlformats.org/officeDocument/2006/relationships/image" Target="../media/image584.png"/><Relationship Id="rId4" Type="http://schemas.openxmlformats.org/officeDocument/2006/relationships/image" Target="../media/image585.png"/><Relationship Id="rId5" Type="http://schemas.openxmlformats.org/officeDocument/2006/relationships/image" Target="../media/image586.png"/><Relationship Id="rId6" Type="http://schemas.openxmlformats.org/officeDocument/2006/relationships/image" Target="../media/image587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Relationships in Triangles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Eight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— Relationships in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— Relationships in Triangles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6.01–02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6.05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6.06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6.07–08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T-B1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213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T-B2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248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decide whether three lengths can make a triangle, and whether they make a right triangle.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0" name="Picture 9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129901"/>
            <a:ext cx="754713" cy="2658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884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2" name="Picture 11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170247"/>
            <a:ext cx="579088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71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4e10d7bff6d5f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40152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7" name="Picture 16" descr="f536a8cceeaccc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3355197"/>
            <a:ext cx="854392" cy="2634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48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288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1" name="Picture 10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587101"/>
            <a:ext cx="754713" cy="265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08849" y="25100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3" name="Picture 12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627447"/>
            <a:ext cx="579088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77713" y="25100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24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4e10d7bff6d5f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3623722"/>
            <a:ext cx="840152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56503" y="3579876"/>
            <a:ext cx="573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20" name="Picture 19" descr="f536a8cceeaccc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4269597"/>
            <a:ext cx="854392" cy="2634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7520" y="4192524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inequality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 two sides of a triangle add up to MORE than the third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sides of a right triangle that make the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side across from the right angle — always the longest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51662"/>
            <a:ext cx="4302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statement turned around: if </a:t>
            </a:r>
          </a:p>
        </p:txBody>
      </p:sp>
      <p:pic>
        <p:nvPicPr>
          <p:cNvPr id="16" name="Picture 15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50" y="5135323"/>
            <a:ext cx="1436989" cy="2542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45239" y="5051662"/>
            <a:ext cx="4729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for the two shorter sides and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6294"/>
            <a:ext cx="3957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longest, the triangle is 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Two sides together must be longer than the third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0b98c26a463894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442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64621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the two shorter sides. A triangle needs MORE than the longest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36582"/>
            <a:ext cx="30464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the FAST sheet:  </a:t>
            </a:r>
          </a:p>
        </p:txBody>
      </p:sp>
      <p:pic>
        <p:nvPicPr>
          <p:cNvPr id="13" name="Picture 12" descr="3dff896e73351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92" y="4454001"/>
            <a:ext cx="1079857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6649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91c3012494ba80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090" y="4454001"/>
            <a:ext cx="1075110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68201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5e6002f24e4fe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41" y="4454001"/>
            <a:ext cx="1056124" cy="225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third side is between the difference and the sum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154aaaf4cda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603" y="2249805"/>
            <a:ext cx="4020312" cy="280416"/>
          </a:xfrm>
          <a:prstGeom prst="rect">
            <a:avLst/>
          </a:prstGeom>
        </p:spPr>
      </p:pic>
      <p:pic>
        <p:nvPicPr>
          <p:cNvPr id="11" name="Picture 10" descr="c8ac983533cfd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75" y="3048381"/>
            <a:ext cx="149656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1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Sides 4 and 9: the third side x is more than 5 and less than 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31436"/>
            <a:ext cx="1150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Never </a:t>
            </a:r>
          </a:p>
        </p:txBody>
      </p:sp>
      <p:pic>
        <p:nvPicPr>
          <p:cNvPr id="14" name="Picture 13" descr="86c91fb9500094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88" y="4812934"/>
            <a:ext cx="151892" cy="156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52680" y="4631436"/>
            <a:ext cx="41503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: at 5 or 13 the sides lie flat.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Pythagorean Theorem, and its converse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d978ce3bc7c14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93392"/>
            <a:ext cx="2148840" cy="1967189"/>
          </a:xfrm>
          <a:prstGeom prst="rect">
            <a:avLst/>
          </a:prstGeom>
        </p:spPr>
      </p:pic>
      <p:pic>
        <p:nvPicPr>
          <p:cNvPr id="11" name="Picture 10" descr="77f157c420812a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271" y="4106885"/>
            <a:ext cx="399897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85669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shorter sides squared and added = the longest side squared: a right triangle.</a:t>
            </a:r>
          </a:p>
        </p:txBody>
      </p:sp>
      <p:pic>
        <p:nvPicPr>
          <p:cNvPr id="13" name="Picture 12" descr="a48bb90ed9a9ae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69231"/>
            <a:ext cx="1293455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1007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5" name="Picture 14" descr="815d468610c627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958" y="5621765"/>
            <a:ext cx="3006986" cy="3180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92945" y="5547065"/>
            <a:ext cx="1446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right.    </a:t>
            </a:r>
          </a:p>
        </p:txBody>
      </p:sp>
      <p:pic>
        <p:nvPicPr>
          <p:cNvPr id="17" name="Picture 16" descr="db91a7798c4bf6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723" y="5666858"/>
            <a:ext cx="757086" cy="2729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59810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9" name="Picture 18" descr="07affdc0b9ac2e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761" y="5621765"/>
            <a:ext cx="1450093" cy="2658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14855" y="5547065"/>
            <a:ext cx="922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1" name="Picture 20" descr="db1362cf918c4d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139" y="5669231"/>
            <a:ext cx="332263" cy="2159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32402" y="5547065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5 cm, 8 cm and 14 cm make a triangle?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545336" cy="277368"/>
          </a:xfrm>
          <a:prstGeom prst="rect">
            <a:avLst/>
          </a:prstGeom>
        </p:spPr>
      </p:pic>
      <p:pic>
        <p:nvPicPr>
          <p:cNvPr id="9" name="Picture 8" descr="eb6c03627e6a6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12471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5 + 8 = 13 is less than 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  <p:pic>
        <p:nvPicPr>
          <p:cNvPr id="9" name="Picture 8" descr="14b1b0d5182390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72" y="2300270"/>
            <a:ext cx="138379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3908" y="2729086"/>
            <a:ext cx="54508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16 is more than 15: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7 + 9 = 16 is more than 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20 m, 12 m and 16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87196d2b2c30a0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802624" cy="341376"/>
          </a:xfrm>
          <a:prstGeom prst="rect">
            <a:avLst/>
          </a:prstGeom>
        </p:spPr>
      </p:pic>
      <p:pic>
        <p:nvPicPr>
          <p:cNvPr id="9" name="Picture 8" descr="c95e4a33ff43f2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7543800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  <p:pic>
        <p:nvPicPr>
          <p:cNvPr id="10" name="Picture 9" descr="7c0920cdde35d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793649"/>
            <a:ext cx="3663696" cy="304800"/>
          </a:xfrm>
          <a:prstGeom prst="rect">
            <a:avLst/>
          </a:prstGeom>
        </p:spPr>
      </p:pic>
      <p:pic>
        <p:nvPicPr>
          <p:cNvPr id="11" name="Picture 10" descr="461ad6978bbfc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3328287"/>
            <a:ext cx="1383887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9187" y="3268184"/>
            <a:ext cx="2181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not equal.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185 is not 196.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pic>
        <p:nvPicPr>
          <p:cNvPr id="9" name="Picture 8" descr="2df5e3f92a90d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49" y="2623358"/>
            <a:ext cx="1210056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6685" y="3049126"/>
            <a:ext cx="5225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9 is less than 10: no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2 + 7 = 9 is less than 10.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pic>
        <p:nvPicPr>
          <p:cNvPr id="9" name="Picture 8" descr="85ff24f4fb0da8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59" y="2623358"/>
            <a:ext cx="1395984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95" y="3049126"/>
            <a:ext cx="5422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12 is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6 + 6 = 12 is more than 11.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7, 7, 14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5, 11, 8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3, 10, 6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4, 6, 12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pic>
        <p:nvPicPr>
          <p:cNvPr id="9" name="Picture 8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45" y="2647219"/>
            <a:ext cx="1183147" cy="212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7793" y="2509630"/>
            <a:ext cx="40438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9781" y="3012550"/>
            <a:ext cx="9019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 each other set the two shorter sides fall short or lie flat.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5, 11,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pic>
        <p:nvPicPr>
          <p:cNvPr id="10" name="Picture 9" descr="64e100d81a433f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09" y="3596209"/>
            <a:ext cx="1364551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57660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8034704937480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03" y="3593447"/>
            <a:ext cx="1544097" cy="251364"/>
          </a:xfrm>
          <a:prstGeom prst="rect">
            <a:avLst/>
          </a:prstGeom>
        </p:spPr>
      </p:pic>
      <p:pic>
        <p:nvPicPr>
          <p:cNvPr id="13" name="Picture 12" descr="13e3ad95332ccb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109" y="4134371"/>
            <a:ext cx="136550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 &lt; x &lt; 19 — more than 5 cm and less than 19 cm.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0fbe6fa0ef0cae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51790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ffc528ca75e1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61919"/>
            <a:ext cx="161239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7505d4898526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74567"/>
            <a:ext cx="153009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c71b5ee8fe399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77615"/>
            <a:ext cx="1520952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pic>
        <p:nvPicPr>
          <p:cNvPr id="10" name="Picture 9" descr="776ebc7eac5ed4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56" y="3596209"/>
            <a:ext cx="1414272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328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ec18a57bdad36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70" y="3596209"/>
            <a:ext cx="1571720" cy="254126"/>
          </a:xfrm>
          <a:prstGeom prst="rect">
            <a:avLst/>
          </a:prstGeom>
        </p:spPr>
      </p:pic>
      <p:pic>
        <p:nvPicPr>
          <p:cNvPr id="13" name="Picture 12" descr="4878d8a402d2d5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56" y="4130180"/>
            <a:ext cx="1386649" cy="254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39706" y="4017595"/>
            <a:ext cx="28550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never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 &lt; x &lt; 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pic>
        <p:nvPicPr>
          <p:cNvPr id="9" name="Picture 8" descr="43395e419bfcc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83" y="3003961"/>
            <a:ext cx="3749039" cy="304800"/>
          </a:xfrm>
          <a:prstGeom prst="rect">
            <a:avLst/>
          </a:prstGeom>
        </p:spPr>
      </p:pic>
      <p:pic>
        <p:nvPicPr>
          <p:cNvPr id="10" name="Picture 9" descr="18e0f36cf337f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83" y="3541361"/>
            <a:ext cx="1383887" cy="306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9770" y="3478496"/>
            <a:ext cx="4712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a right triangle.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8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289 = 17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=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 + 24 &gt;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≠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7 + 24 ≠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pic>
        <p:nvPicPr>
          <p:cNvPr id="10" name="Picture 9" descr="5490789b4120b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98" y="3110641"/>
            <a:ext cx="3755136" cy="307848"/>
          </a:xfrm>
          <a:prstGeom prst="rect">
            <a:avLst/>
          </a:prstGeom>
        </p:spPr>
      </p:pic>
      <p:pic>
        <p:nvPicPr>
          <p:cNvPr id="11" name="Picture 10" descr="1b06dea067902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98" y="3648327"/>
            <a:ext cx="1417034" cy="30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9232" y="3588224"/>
            <a:ext cx="28725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yes, because 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pic>
        <p:nvPicPr>
          <p:cNvPr id="10" name="Picture 9" descr="e14984151c53cd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5" y="3546107"/>
            <a:ext cx="4197096" cy="304800"/>
          </a:xfrm>
          <a:prstGeom prst="rect">
            <a:avLst/>
          </a:prstGeom>
        </p:spPr>
      </p:pic>
      <p:pic>
        <p:nvPicPr>
          <p:cNvPr id="11" name="Picture 10" descr="2bcf32630534a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5" y="4080460"/>
            <a:ext cx="1417034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54110" y="4017595"/>
            <a:ext cx="2784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a right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841 = 29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7662b6e2d2d4ee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69" y="3538202"/>
            <a:ext cx="1709832" cy="3093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6002" y="3478099"/>
            <a:ext cx="11175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but </a:t>
            </a:r>
          </a:p>
        </p:txBody>
      </p:sp>
      <p:pic>
        <p:nvPicPr>
          <p:cNvPr id="12" name="Picture 11" descr="984ee26882462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66" y="3540964"/>
            <a:ext cx="101374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10112" y="3478099"/>
            <a:ext cx="2948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6 + 7 &gt; 9 shows only a triangle; 85 is not 81, so it is not right.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4 cm, 8 cm and 13 cm make a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9 inches, 9 inches and 18 inches make a triangle?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Two sides of a triangle are 5 m and 11 m. Write an inequality for the length x, in meters, of the third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28 cm, 45 cm and 53 cm make a right triangle?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4106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17 ft, 10 ft and 14 ft make a right triangle?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carpenter joins boards of 30 inches, 40 inches and 50 inches into a triangle. Is one corner a right angle?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inequality — 2N5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Converse of the Pythagorean theorem: is it a right triangle? — EQZ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a right triangle — the hypotenuse, or a leg.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524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inches, 7 inches and 12 inches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1" name="Picture 10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3" name="Picture 12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3355197"/>
            <a:ext cx="996791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524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inches, 7 inches and 12 inches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31905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No — 4 + 7 = 11 &lt;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5480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81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23277" y="35798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6" name="Picture 15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4269597"/>
            <a:ext cx="996791" cy="2658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9919" y="4192524"/>
            <a:ext cx="5753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Pythagorean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6888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every right triangle,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+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= hypotenuse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0" name="Picture 9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05" y="1953211"/>
            <a:ext cx="1436989" cy="254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5050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3442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 — the side across from the right angle, always the longest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576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square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2272"/>
            <a:ext cx="4142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that, times itself,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56904"/>
            <a:ext cx="56466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makes the number under the root sign:  </a:t>
            </a:r>
          </a:p>
        </p:txBody>
      </p:sp>
      <p:pic>
        <p:nvPicPr>
          <p:cNvPr id="16" name="Picture 15" descr="c01d6e653b6eb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533" y="4508784"/>
            <a:ext cx="1064688" cy="35640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square corner first; c is across from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58aa5bffac20a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1993392"/>
            <a:ext cx="4215384" cy="2194957"/>
          </a:xfrm>
          <a:prstGeom prst="rect">
            <a:avLst/>
          </a:prstGeom>
        </p:spPr>
      </p:pic>
      <p:pic>
        <p:nvPicPr>
          <p:cNvPr id="11" name="Picture 10" descr="f29ece7fb4d230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80373"/>
            <a:ext cx="192938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066173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legs' squares add up to the hypotenuse's square. c is across from the right angle — always the longest side.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hypotenuse: square, add, then the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21f71f127125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3" y="2194560"/>
            <a:ext cx="3730752" cy="341376"/>
          </a:xfrm>
          <a:prstGeom prst="rect">
            <a:avLst/>
          </a:prstGeom>
        </p:spPr>
      </p:pic>
      <p:pic>
        <p:nvPicPr>
          <p:cNvPr id="11" name="Picture 10" descr="f5cca9bd60907f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511" y="2990088"/>
            <a:ext cx="2444496" cy="478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66971"/>
            <a:ext cx="2311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Legs 3 and 5:   </a:t>
            </a:r>
          </a:p>
        </p:txBody>
      </p:sp>
      <p:pic>
        <p:nvPicPr>
          <p:cNvPr id="13" name="Picture 12" descr="24c2904a6862c3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79" y="4044045"/>
            <a:ext cx="1483320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5700" y="3966971"/>
            <a:ext cx="535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363f37b4e81453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519" y="4010818"/>
            <a:ext cx="1808464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34483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Exact: </a:t>
            </a:r>
          </a:p>
        </p:txBody>
      </p:sp>
      <p:pic>
        <p:nvPicPr>
          <p:cNvPr id="17" name="Picture 16" descr="5b982e7bc59239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736" y="4678330"/>
            <a:ext cx="666900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27636" y="4634483"/>
            <a:ext cx="41507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  To the nearest tenth: 5.8.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leg: subtract the squares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e309e7e8ce6a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5" y="1993392"/>
            <a:ext cx="2258568" cy="341376"/>
          </a:xfrm>
          <a:prstGeom prst="rect">
            <a:avLst/>
          </a:prstGeom>
        </p:spPr>
      </p:pic>
      <p:pic>
        <p:nvPicPr>
          <p:cNvPr id="11" name="Picture 10" descr="5652a128c97c6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67" y="2679192"/>
            <a:ext cx="3224784" cy="341376"/>
          </a:xfrm>
          <a:prstGeom prst="rect">
            <a:avLst/>
          </a:prstGeom>
        </p:spPr>
      </p:pic>
      <p:pic>
        <p:nvPicPr>
          <p:cNvPr id="12" name="Picture 11" descr="c79a9df2bcaf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64991"/>
            <a:ext cx="2066543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140707"/>
            <a:ext cx="32313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For a leg, subtract:  </a:t>
            </a:r>
          </a:p>
        </p:txBody>
      </p:sp>
      <p:pic>
        <p:nvPicPr>
          <p:cNvPr id="14" name="Picture 13" descr="1eb4729ee4dde5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31" y="4217781"/>
            <a:ext cx="1499933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1665" y="414070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4936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Check: a leg is shorter than the hypotenuse.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7 cm and 9 cm.</a:t>
            </a:r>
          </a:p>
        </p:txBody>
      </p:sp>
      <p:pic>
        <p:nvPicPr>
          <p:cNvPr id="9" name="Picture 8" descr="g37a284cc012c9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19" y="2276458"/>
            <a:ext cx="2240280" cy="234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5436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 Give it exactly and to the nearest tenth.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3f94f57da23b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22648" cy="341376"/>
          </a:xfrm>
          <a:prstGeom prst="rect">
            <a:avLst/>
          </a:prstGeom>
        </p:spPr>
      </p:pic>
      <p:pic>
        <p:nvPicPr>
          <p:cNvPr id="9" name="Picture 8" descr="b97c89e1a1136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7480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√130 cm ≈ 11.4 cm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inches and 11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inches and 11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  <p:pic>
        <p:nvPicPr>
          <p:cNvPr id="10" name="Picture 9" descr="49e72f05093d8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19" y="2796697"/>
            <a:ext cx="4331208" cy="304800"/>
          </a:xfrm>
          <a:prstGeom prst="rect">
            <a:avLst/>
          </a:prstGeom>
        </p:spPr>
      </p:pic>
      <p:pic>
        <p:nvPicPr>
          <p:cNvPr id="11" name="Picture 10" descr="42e060f27f4a5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019" y="3291044"/>
            <a:ext cx="242620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√146 in ≈ 12.1 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15 m and one leg of 8 m.</a:t>
            </a:r>
          </a:p>
        </p:txBody>
      </p:sp>
      <p:pic>
        <p:nvPicPr>
          <p:cNvPr id="9" name="Picture 8" descr="g8750fe113f51c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2276458"/>
            <a:ext cx="3657600" cy="2368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7381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 Give it exactly and to the nearest tenth.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5257ff6bba4bd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02680" cy="426720"/>
          </a:xfrm>
          <a:prstGeom prst="rect">
            <a:avLst/>
          </a:prstGeom>
        </p:spPr>
      </p:pic>
      <p:pic>
        <p:nvPicPr>
          <p:cNvPr id="9" name="Picture 8" descr="55d605791bfe3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5038344" cy="341376"/>
          </a:xfrm>
          <a:prstGeom prst="rect">
            <a:avLst/>
          </a:prstGeom>
        </p:spPr>
      </p:pic>
      <p:pic>
        <p:nvPicPr>
          <p:cNvPr id="10" name="Picture 9" descr="68631f53d2ded9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6976"/>
            <a:ext cx="694334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√161 m ≈ 12.7 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  <p:pic>
        <p:nvPicPr>
          <p:cNvPr id="10" name="Picture 9" descr="3e1aaf67d43b2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59" y="2796697"/>
            <a:ext cx="4151376" cy="304800"/>
          </a:xfrm>
          <a:prstGeom prst="rect">
            <a:avLst/>
          </a:prstGeom>
        </p:spPr>
      </p:pic>
      <p:pic>
        <p:nvPicPr>
          <p:cNvPr id="11" name="Picture 10" descr="12045b10f967ac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59" y="3291044"/>
            <a:ext cx="211836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√85 ft ≈ 9.2 ft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998436"/>
            <a:ext cx="2304288" cy="23461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8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28" y="2998436"/>
            <a:ext cx="2304288" cy="2346139"/>
          </a:xfrm>
          <a:prstGeom prst="rect">
            <a:avLst/>
          </a:prstGeom>
        </p:spPr>
      </p:pic>
      <p:pic>
        <p:nvPicPr>
          <p:cNvPr id="11" name="Picture 10" descr="2899ab4d0ffda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99" y="3777647"/>
            <a:ext cx="2429256" cy="262128"/>
          </a:xfrm>
          <a:prstGeom prst="rect">
            <a:avLst/>
          </a:prstGeom>
        </p:spPr>
      </p:pic>
      <p:pic>
        <p:nvPicPr>
          <p:cNvPr id="12" name="Picture 11" descr="e078427f0d1d53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9" y="4250087"/>
            <a:ext cx="1840991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8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inches and 9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inches and 9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7410ced1fcc2b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9" y="3113689"/>
            <a:ext cx="2441448" cy="307848"/>
          </a:xfrm>
          <a:prstGeom prst="rect">
            <a:avLst/>
          </a:prstGeom>
        </p:spPr>
      </p:pic>
      <p:pic>
        <p:nvPicPr>
          <p:cNvPr id="11" name="Picture 10" descr="d774a50e89260b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99" y="3611084"/>
            <a:ext cx="2075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√97 in ≈ 9.8 in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3" y="2998436"/>
            <a:ext cx="2176272" cy="2343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501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998436"/>
            <a:ext cx="2176272" cy="2343111"/>
          </a:xfrm>
          <a:prstGeom prst="rect">
            <a:avLst/>
          </a:prstGeom>
        </p:spPr>
      </p:pic>
      <p:pic>
        <p:nvPicPr>
          <p:cNvPr id="11" name="Picture 10" descr="da85c990301d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76133"/>
            <a:ext cx="2657856" cy="262128"/>
          </a:xfrm>
          <a:prstGeom prst="rect">
            <a:avLst/>
          </a:prstGeom>
        </p:spPr>
      </p:pic>
      <p:pic>
        <p:nvPicPr>
          <p:cNvPr id="12" name="Picture 11" descr="6e05135a1808f9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48573"/>
            <a:ext cx="185928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50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ft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57.3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f10d4c561f967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75" y="3110641"/>
            <a:ext cx="3438144" cy="368808"/>
          </a:xfrm>
          <a:prstGeom prst="rect">
            <a:avLst/>
          </a:prstGeom>
        </p:spPr>
      </p:pic>
      <p:pic>
        <p:nvPicPr>
          <p:cNvPr id="11" name="Picture 10" descr="a236597d86fee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75" y="3611084"/>
            <a:ext cx="182270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 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this right triangle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third side,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98436"/>
            <a:ext cx="4206240" cy="2178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46029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this right triangle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third side,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2998436"/>
            <a:ext cx="4206240" cy="2178389"/>
          </a:xfrm>
          <a:prstGeom prst="rect">
            <a:avLst/>
          </a:prstGeom>
        </p:spPr>
      </p:pic>
      <p:pic>
        <p:nvPicPr>
          <p:cNvPr id="11" name="Picture 10" descr="38f42acf1793d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52" y="3693772"/>
            <a:ext cx="2130552" cy="262128"/>
          </a:xfrm>
          <a:prstGeom prst="rect">
            <a:avLst/>
          </a:prstGeom>
        </p:spPr>
      </p:pic>
      <p:pic>
        <p:nvPicPr>
          <p:cNvPr id="12" name="Picture 11" descr="95a27a9fc7d94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52" y="4166212"/>
            <a:ext cx="1786128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602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√74 cm ≈ 8.6 cm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inches; its legs are 16 inches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467b3d8054f9e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75260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940ac47e9562c5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19247"/>
            <a:ext cx="2246376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6c12d63db14f46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31895"/>
            <a:ext cx="20878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b1c1dd707cdaed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31895"/>
            <a:ext cx="2246376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inches; its legs are 16 inches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pic>
        <p:nvPicPr>
          <p:cNvPr id="10" name="Picture 9" descr="723ec51e38368d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59" y="3546107"/>
            <a:ext cx="3157728" cy="304800"/>
          </a:xfrm>
          <a:prstGeom prst="rect">
            <a:avLst/>
          </a:prstGeom>
        </p:spPr>
      </p:pic>
      <p:pic>
        <p:nvPicPr>
          <p:cNvPr id="11" name="Picture 10" descr="29d805f74fa34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59" y="4040455"/>
            <a:ext cx="222504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D: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x = 12 in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pic>
        <p:nvPicPr>
          <p:cNvPr id="10" name="Picture 9" descr="4d4d0148702223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3" y="3116737"/>
            <a:ext cx="2822448" cy="304800"/>
          </a:xfrm>
          <a:prstGeom prst="rect">
            <a:avLst/>
          </a:prstGeom>
        </p:spPr>
      </p:pic>
      <p:pic>
        <p:nvPicPr>
          <p:cNvPr id="11" name="Picture 10" descr="899457164c48e8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23" y="3611084"/>
            <a:ext cx="2456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√115 m ≈ 10.7 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inches and 11 inches.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inches and 11 inches.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pic>
        <p:nvPicPr>
          <p:cNvPr id="10" name="Picture 9" descr="c0b0581c2b142e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8" y="3546107"/>
            <a:ext cx="2831592" cy="304800"/>
          </a:xfrm>
          <a:prstGeom prst="rect">
            <a:avLst/>
          </a:prstGeom>
        </p:spPr>
      </p:pic>
      <p:pic>
        <p:nvPicPr>
          <p:cNvPr id="11" name="Picture 10" descr="6f89b6850aed2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4040455"/>
            <a:ext cx="243535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√185 in ≈ 13.6 in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56becf73e2479b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6185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3293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8b551e9736168d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8662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5770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pic>
        <p:nvPicPr>
          <p:cNvPr id="13" name="Picture 12" descr="ec09cf29acca5c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99" y="3930155"/>
            <a:ext cx="2901696" cy="304800"/>
          </a:xfrm>
          <a:prstGeom prst="rect">
            <a:avLst/>
          </a:prstGeom>
        </p:spPr>
      </p:pic>
      <p:pic>
        <p:nvPicPr>
          <p:cNvPr id="14" name="Picture 13" descr="4616387d26fd7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4424503"/>
            <a:ext cx="2231136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added the squares; a leg must be shorter than 13 cm. Subtract: the leg is 12 cm.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12 m and 5 m. How long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3 ft and 8 ft. How long is the hypotenuse, exactly and to the nearest tenth?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986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39 cm and one leg of 36 cm. How long is the other leg?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11 inches and one leg of 4 inches. How long is the other leg, exactly and to the nearest tenth?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81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8114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The right triangle on your paper has legs of 6 m and 11 m. How long is its hypotenuse, to the nearest tenth?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2239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2239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25 yd and one leg of 24 yd. The other leg is x. Write the equation that finds x, then find x.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missing leg or hypotenuse length — MTM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length in a real situation by finding the right triangle inside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700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6626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81 + 1,600 = 1,681 = 41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586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inches on it. Real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8977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426" y="4649724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diagonal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one corner of a rectangle to the opposite corner — the hypotenuse of the right triangle it cuts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rise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ramp's height and the distance along the ground it covers; the ramp itself is the hypotenuse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Find the right angle, then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0e5aa953a89c7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993392"/>
            <a:ext cx="2304288" cy="2287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18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Sketch the story. Mark the right angle. The side across from it is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70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ladder, a diagonal, a ramp, a kite string: each is the hypotenuse.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 in a story: the diagonal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5bc09f29cf592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3" y="1993392"/>
            <a:ext cx="2724912" cy="2002190"/>
          </a:xfrm>
          <a:prstGeom prst="rect">
            <a:avLst/>
          </a:prstGeom>
        </p:spPr>
      </p:pic>
      <p:pic>
        <p:nvPicPr>
          <p:cNvPr id="11" name="Picture 10" descr="b439acede6872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528" y="4141886"/>
            <a:ext cx="4474464" cy="341376"/>
          </a:xfrm>
          <a:prstGeom prst="rect">
            <a:avLst/>
          </a:prstGeom>
        </p:spPr>
      </p:pic>
      <p:pic>
        <p:nvPicPr>
          <p:cNvPr id="12" name="Picture 11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511" y="4827686"/>
            <a:ext cx="24444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564455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path is 10 m. Along two sides is 14 m: the path is 4 m shorter.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 in a story: how high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555e0952e2d1a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1993392"/>
            <a:ext cx="1179576" cy="2174344"/>
          </a:xfrm>
          <a:prstGeom prst="rect">
            <a:avLst/>
          </a:prstGeom>
        </p:spPr>
      </p:pic>
      <p:pic>
        <p:nvPicPr>
          <p:cNvPr id="11" name="Picture 10" descr="e66f074be1227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4314040"/>
            <a:ext cx="4419600" cy="341376"/>
          </a:xfrm>
          <a:prstGeom prst="rect">
            <a:avLst/>
          </a:prstGeom>
        </p:spPr>
      </p:pic>
      <p:pic>
        <p:nvPicPr>
          <p:cNvPr id="12" name="Picture 11" descr="ce5b1cc793623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284" y="4999840"/>
            <a:ext cx="2282952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ramp rises 2 ft over a run of 13 ft along the ground.</a:t>
            </a:r>
          </a:p>
        </p:txBody>
      </p:sp>
      <p:pic>
        <p:nvPicPr>
          <p:cNvPr id="9" name="Picture 8" descr="g3059fda3489aa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276458"/>
            <a:ext cx="5120640" cy="118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8788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35716e3d9cb0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8096" cy="341376"/>
          </a:xfrm>
          <a:prstGeom prst="rect">
            <a:avLst/>
          </a:prstGeom>
        </p:spPr>
      </p:pic>
      <p:pic>
        <p:nvPicPr>
          <p:cNvPr id="9" name="Picture 8" descr="bb58d5f4ac9fa9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578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ramp is about 13.2 ft long.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inches tall and 10 inches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  <p:pic>
        <p:nvPicPr>
          <p:cNvPr id="10" name="Picture 9" descr="d73bd93a04707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79" y="2793649"/>
            <a:ext cx="4437888" cy="307848"/>
          </a:xfrm>
          <a:prstGeom prst="rect">
            <a:avLst/>
          </a:prstGeom>
        </p:spPr>
      </p:pic>
      <p:pic>
        <p:nvPicPr>
          <p:cNvPr id="11" name="Picture 10" descr="cb22f1747753c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79" y="3291044"/>
            <a:ext cx="245059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12.2 in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8-ft ladder leans on a wall. Its foot is 3 ft from the wall.</a:t>
            </a:r>
          </a:p>
        </p:txBody>
      </p:sp>
      <p:pic>
        <p:nvPicPr>
          <p:cNvPr id="9" name="Picture 8" descr="ga98890fd4d3e4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276458"/>
            <a:ext cx="1399032" cy="23851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9075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reach, to the nearest tenth of a foot?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b0c4c7c339b3c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041648" cy="341376"/>
          </a:xfrm>
          <a:prstGeom prst="rect">
            <a:avLst/>
          </a:prstGeom>
        </p:spPr>
      </p:pic>
      <p:pic>
        <p:nvPicPr>
          <p:cNvPr id="9" name="Picture 8" descr="e6517a3b7c88d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33781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reaches about 7.4 ft up the wall.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2dacb2c8b5bb1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796697"/>
            <a:ext cx="4322064" cy="304800"/>
          </a:xfrm>
          <a:prstGeom prst="rect">
            <a:avLst/>
          </a:prstGeom>
        </p:spPr>
      </p:pic>
      <p:pic>
        <p:nvPicPr>
          <p:cNvPr id="11" name="Picture 10" descr="4ae30c3b206ef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15" y="3291044"/>
            <a:ext cx="24018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11.5 ft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swimming pool is 12 m long and 5 m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eb02edf9f23b2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2998436"/>
            <a:ext cx="3657600" cy="17106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9250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swimming pool is 12 m long and 5 m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eb02edf9f23b2c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096" y="2998436"/>
            <a:ext cx="3657600" cy="1710607"/>
          </a:xfrm>
          <a:prstGeom prst="rect">
            <a:avLst/>
          </a:prstGeom>
        </p:spPr>
      </p:pic>
      <p:pic>
        <p:nvPicPr>
          <p:cNvPr id="11" name="Picture 10" descr="219a66f6baebe5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80" y="3459882"/>
            <a:ext cx="2429256" cy="262128"/>
          </a:xfrm>
          <a:prstGeom prst="rect">
            <a:avLst/>
          </a:prstGeom>
        </p:spPr>
      </p:pic>
      <p:pic>
        <p:nvPicPr>
          <p:cNvPr id="12" name="Picture 11" descr="a191707692ea71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080" y="3932322"/>
            <a:ext cx="1819656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925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998436"/>
            <a:ext cx="2331720" cy="2376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846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92" y="2998436"/>
            <a:ext cx="2331720" cy="2376560"/>
          </a:xfrm>
          <a:prstGeom prst="rect">
            <a:avLst/>
          </a:prstGeom>
        </p:spPr>
      </p:pic>
      <p:pic>
        <p:nvPicPr>
          <p:cNvPr id="11" name="Picture 10" descr="6c71fea9fa85d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95" y="3792858"/>
            <a:ext cx="2447544" cy="262128"/>
          </a:xfrm>
          <a:prstGeom prst="rect">
            <a:avLst/>
          </a:prstGeom>
        </p:spPr>
      </p:pic>
      <p:pic>
        <p:nvPicPr>
          <p:cNvPr id="12" name="Picture 11" descr="f3e91517e4c695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95" y="4265298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846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ft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3" y="2998436"/>
            <a:ext cx="3867912" cy="164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2678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4 ft over a run of 11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2742e16789d1b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87" y="2998436"/>
            <a:ext cx="3867912" cy="1644880"/>
          </a:xfrm>
          <a:prstGeom prst="rect">
            <a:avLst/>
          </a:prstGeom>
        </p:spPr>
      </p:pic>
      <p:pic>
        <p:nvPicPr>
          <p:cNvPr id="11" name="Picture 10" descr="a67103b6e306ec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84" y="3427018"/>
            <a:ext cx="2346960" cy="262128"/>
          </a:xfrm>
          <a:prstGeom prst="rect">
            <a:avLst/>
          </a:prstGeom>
        </p:spPr>
      </p:pic>
      <p:pic>
        <p:nvPicPr>
          <p:cNvPr id="12" name="Picture 11" descr="c7a7f848c47d41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384" y="3899458"/>
            <a:ext cx="202692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2678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11.7 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26-ft ladder reaches 24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35.4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100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26-ft ladder reaches 24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pic>
        <p:nvPicPr>
          <p:cNvPr id="10" name="Picture 9" descr="0b6ac03f35af7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5" y="3113689"/>
            <a:ext cx="3102864" cy="307848"/>
          </a:xfrm>
          <a:prstGeom prst="rect">
            <a:avLst/>
          </a:prstGeom>
        </p:spPr>
      </p:pic>
      <p:pic>
        <p:nvPicPr>
          <p:cNvPr id="11" name="Picture 10" descr="d8fba3b616ac0c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5" y="3611084"/>
            <a:ext cx="22494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10 ft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19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114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67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72267" y="3596399"/>
            <a:ext cx="2838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Along two sides:  </a:t>
            </a:r>
          </a:p>
        </p:txBody>
      </p:sp>
      <p:pic>
        <p:nvPicPr>
          <p:cNvPr id="12" name="Picture 11" descr="02842d48bbb1ca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488" y="3729321"/>
            <a:ext cx="1318498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72267" y="4099319"/>
            <a:ext cx="1450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Across:  </a:t>
            </a:r>
          </a:p>
        </p:txBody>
      </p:sp>
      <p:pic>
        <p:nvPicPr>
          <p:cNvPr id="14" name="Picture 13" descr="d00a5309a7c21b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243" y="4155231"/>
            <a:ext cx="2009251" cy="366379"/>
          </a:xfrm>
          <a:prstGeom prst="rect">
            <a:avLst/>
          </a:prstGeom>
        </p:spPr>
      </p:pic>
      <p:pic>
        <p:nvPicPr>
          <p:cNvPr id="15" name="Picture 14" descr="091e4f5866ccb7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131" y="4737209"/>
            <a:ext cx="1325880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5114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m shorter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drone is 30 m from Maya, straight above a spot on the ground 18 m from 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18 m on the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drone's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30 m to the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none: no right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drone is 30 m from Maya, straight above a spot on the ground 18 m from 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917" y="3478099"/>
            <a:ext cx="69128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square corner is under the drone.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2917" y="4017595"/>
            <a:ext cx="6822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from it: the 30 m to the drone.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30 m to the drone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98436"/>
            <a:ext cx="2377440" cy="2008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071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inches wide and 12 inches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3d0437d6ec0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3" y="2998436"/>
            <a:ext cx="2377440" cy="2008812"/>
          </a:xfrm>
          <a:prstGeom prst="rect">
            <a:avLst/>
          </a:prstGeom>
        </p:spPr>
      </p:pic>
      <p:pic>
        <p:nvPicPr>
          <p:cNvPr id="11" name="Picture 10" descr="0ad3c9708a1233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427" y="3608984"/>
            <a:ext cx="2438400" cy="262128"/>
          </a:xfrm>
          <a:prstGeom prst="rect">
            <a:avLst/>
          </a:prstGeom>
        </p:spPr>
      </p:pic>
      <p:pic>
        <p:nvPicPr>
          <p:cNvPr id="12" name="Picture 11" descr="63e6833ca8e297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427" y="4081424"/>
            <a:ext cx="203911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29071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the diagonal is about 13.9 in.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d8068f4f04bc6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9" y="3116737"/>
            <a:ext cx="2703576" cy="304800"/>
          </a:xfrm>
          <a:prstGeom prst="rect">
            <a:avLst/>
          </a:prstGeom>
        </p:spPr>
      </p:pic>
      <p:pic>
        <p:nvPicPr>
          <p:cNvPr id="11" name="Picture 10" descr="1ef693a9e44a9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59" y="3611084"/>
            <a:ext cx="204825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7.1 ft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839" y="3478099"/>
            <a:ext cx="8519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ladder is the hypotenuse, the longest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839" y="4017595"/>
            <a:ext cx="746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height is a leg, so it is less than 11 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height is a leg — always shorter than the 11-ft ladder.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tablet screen is 5 inches wide and 8 inches tall. How long is its diagonal, to the nearest tenth of an inch?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865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8658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fire truck's 50-ft ladder reaches 48 ft up a building. How far from the building is its foot?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4378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ramp rises 3 ft over a run of 14 ft. How long is the ramp, to the nearest tenth of a foot?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00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park is 7 m by 11 m. How much shorter is the walk straight across, corner to corner, than the walk along two sides? Give it to the nearest tenth of a meter.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Will a 10-in pencil lie flat in a box 7 inches by 8 inches, corner to corner?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829800" cy="11247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kite flies on 19 m of tight string. Straight below the kite, level with the hand that holds the string, is a point 12 m from the hand. How high is the kite above that point, to the nearest tenth of a meter?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word problems — 87U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distance between two points: subtract on a line, and draw the right triangle when the segment is slanted.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2" name="Picture 11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3402663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55196" y="32781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14ee079d1637d9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3402663"/>
            <a:ext cx="830659" cy="2705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71439" y="32781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11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20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78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4098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12, 35 and 37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7853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144 + 1,225 = 1,369 = 37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10991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17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5" name="Picture 14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4774263"/>
            <a:ext cx="666900" cy="2705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55196" y="46497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ee079d1637d9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4774263"/>
            <a:ext cx="830659" cy="2705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71439" y="46497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551" y="46497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horizontal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y: the difference of the x's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x: the difference of the y's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 on 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horizontal and vertical segments under a slanted one; the slanted segment is the hypotenuse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 one line: subtract — and across zero,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5ddcde18f0b2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93392"/>
            <a:ext cx="5120640" cy="2335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53943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y: subtract the x's.  Same x: subtract the y's.</a:t>
            </a:r>
          </a:p>
        </p:txBody>
      </p:sp>
      <p:pic>
        <p:nvPicPr>
          <p:cNvPr id="12" name="Picture 11" descr="d9baf198c07ca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349599"/>
            <a:ext cx="1464333" cy="275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51885" y="5229806"/>
            <a:ext cx="39788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across zero, 4 and 5 add.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Slanted: draw the right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6612d3fac7ce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9" y="1993392"/>
            <a:ext cx="2926080" cy="2594003"/>
          </a:xfrm>
          <a:prstGeom prst="rect">
            <a:avLst/>
          </a:prstGeom>
        </p:spPr>
      </p:pic>
      <p:pic>
        <p:nvPicPr>
          <p:cNvPr id="11" name="Picture 10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90" y="4733699"/>
            <a:ext cx="2636520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10" y="47108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673" y="4795040"/>
            <a:ext cx="7528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48350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legs are the across and the up. The distance is the hypotenuse.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 come from the coordinates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e7abd8d941aa4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93392"/>
            <a:ext cx="3017520" cy="27624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0771" y="4879272"/>
            <a:ext cx="1434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2a151f79b2b1c7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10" y="4987556"/>
            <a:ext cx="1612407" cy="3085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0618" y="4879272"/>
            <a:ext cx="1734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down  </a:t>
            </a:r>
          </a:p>
        </p:txBody>
      </p:sp>
      <p:pic>
        <p:nvPicPr>
          <p:cNvPr id="14" name="Picture 13" descr="3a2b7cef219f2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097" y="4984873"/>
            <a:ext cx="1652651" cy="311213"/>
          </a:xfrm>
          <a:prstGeom prst="rect">
            <a:avLst/>
          </a:prstGeom>
        </p:spPr>
      </p:pic>
      <p:pic>
        <p:nvPicPr>
          <p:cNvPr id="15" name="Picture 14" descr="d91104f1f4f96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510" y="5615745"/>
            <a:ext cx="26974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6990" y="559860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d8b0b39714d6c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153" y="5587932"/>
            <a:ext cx="2276856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565" y="208026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4068972f18107b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36" y="2197798"/>
            <a:ext cx="105746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4102" y="20802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871f90388a14c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609" y="21977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24813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4a283fabf590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31848" cy="353568"/>
          </a:xfrm>
          <a:prstGeom prst="rect">
            <a:avLst/>
          </a:prstGeom>
        </p:spPr>
      </p:pic>
      <p:pic>
        <p:nvPicPr>
          <p:cNvPr id="9" name="Picture 8" descr="120985f9a5e71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13380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units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4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63e3bd0d756c0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06" y="1699831"/>
            <a:ext cx="87172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6cedc5ae0e63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9831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774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15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25eb277be65ac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30" y="1697355"/>
            <a:ext cx="87420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41215e6290584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7355"/>
            <a:ext cx="70827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0220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063d0108ae690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734" y="2453068"/>
            <a:ext cx="181965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8870" y="2875788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5" name="Picture 14" descr="9ff67c01493767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811" y="2996660"/>
            <a:ext cx="137560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units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349" y="144018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cf4bfc8301ccbb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21" y="1560195"/>
            <a:ext cx="85686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429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e663e112786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97" y="1557718"/>
            <a:ext cx="71323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402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f9ec2368c5afe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966" y="2148840"/>
            <a:ext cx="3085586" cy="3517421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4db5025ba36d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353568"/>
          </a:xfrm>
          <a:prstGeom prst="rect">
            <a:avLst/>
          </a:prstGeom>
        </p:spPr>
      </p:pic>
      <p:pic>
        <p:nvPicPr>
          <p:cNvPr id="9" name="Picture 8" descr="9b4c53d9bae6f4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2980944" cy="341376"/>
          </a:xfrm>
          <a:prstGeom prst="rect">
            <a:avLst/>
          </a:prstGeom>
        </p:spPr>
      </p:pic>
      <p:pic>
        <p:nvPicPr>
          <p:cNvPr id="10" name="Picture 9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4"/>
            <a:ext cx="244449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487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3880271116b9ce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559" y="1699831"/>
            <a:ext cx="1054989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54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df702a474e8a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54" y="1697355"/>
            <a:ext cx="67608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0139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011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0615cb9324181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82" y="1697355"/>
            <a:ext cx="105746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54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5cc6bf05af79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54" y="1694878"/>
            <a:ext cx="6785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615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686" y="2336292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57962fee0f668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53" y="2451639"/>
            <a:ext cx="1671161" cy="31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7614" y="2336292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e1855d5e17edb2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532" y="2451639"/>
            <a:ext cx="1651825" cy="317658"/>
          </a:xfrm>
          <a:prstGeom prst="rect">
            <a:avLst/>
          </a:prstGeom>
        </p:spPr>
      </p:pic>
      <p:pic>
        <p:nvPicPr>
          <p:cNvPr id="17" name="Picture 16" descr="f75d31cf019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550" y="2954464"/>
            <a:ext cx="247497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7526" y="2886456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2036ec5ceaa312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7412" y="2898648"/>
            <a:ext cx="2069591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√65 ≈ 8.1 units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a6597be3d74db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074801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720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e1a6e4fc0d2e3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67" y="19691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871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5fd5df3d6d682a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07727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9680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a640eeb70472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43" y="1966722"/>
            <a:ext cx="87668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5382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2b25f04dd06e36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743" y="2696908"/>
            <a:ext cx="1886712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6c1213adfa61f8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8742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660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7db46e2c7538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70" y="1971675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758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8e8dcd55f53bb6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6722"/>
            <a:ext cx="87668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90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65f16c2c6afe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47" y="1969198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253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c4872da53ead3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603" y="2699956"/>
            <a:ext cx="185013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units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9c29bd96c421c9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71675"/>
            <a:ext cx="86429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907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34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95189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dbc4a837c96d2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69198"/>
            <a:ext cx="86677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54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011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014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eb579ab8aa516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99" y="2699956"/>
            <a:ext cx="168249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8 units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0691fbdd0b8a9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295209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761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87a0ba682d46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75" y="1969198"/>
            <a:ext cx="894016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8909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62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a54c215aeb101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297686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008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a8358e07e684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52" y="1966722"/>
            <a:ext cx="896493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4045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174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7089" y="3177539"/>
            <a:ext cx="24236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9, up 12</a:t>
            </a:r>
          </a:p>
        </p:txBody>
      </p:sp>
      <p:pic>
        <p:nvPicPr>
          <p:cNvPr id="15" name="Picture 14" descr="2899ab4d0ffda9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53" y="3766661"/>
            <a:ext cx="2429256" cy="262128"/>
          </a:xfrm>
          <a:prstGeom prst="rect">
            <a:avLst/>
          </a:prstGeom>
        </p:spPr>
      </p:pic>
      <p:pic>
        <p:nvPicPr>
          <p:cNvPr id="16" name="Picture 15" descr="c869a797ec94ec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53" y="4318349"/>
            <a:ext cx="72542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units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94e952a37bd3c5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27044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284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1f81a0d66e2bf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0" y="1974151"/>
            <a:ext cx="89649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6803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219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f67d1259734e5c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127292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532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be704d827919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787" y="1971675"/>
            <a:ext cx="89896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1756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032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4633" y="3177540"/>
            <a:ext cx="22820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5, up 8</a:t>
            </a:r>
          </a:p>
        </p:txBody>
      </p:sp>
      <p:pic>
        <p:nvPicPr>
          <p:cNvPr id="15" name="Picture 14" descr="2328d08f5bfa3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97" y="3766661"/>
            <a:ext cx="2121408" cy="262128"/>
          </a:xfrm>
          <a:prstGeom prst="rect">
            <a:avLst/>
          </a:prstGeom>
        </p:spPr>
      </p:pic>
      <p:pic>
        <p:nvPicPr>
          <p:cNvPr id="16" name="Picture 15" descr="e6364691b284b6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97" y="4239101"/>
            <a:ext cx="1786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√89 ≈ 9.4 units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afbf59c4acfdfe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4151"/>
            <a:ext cx="71818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484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481fc1d2fe87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12" y="1971675"/>
            <a:ext cx="1032700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1501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765d97c3446b7c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624328"/>
            <a:ext cx="1517904" cy="478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3c70701c2c439e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624328"/>
            <a:ext cx="1569720" cy="478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1e5420f7c2c396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304032"/>
            <a:ext cx="1536192" cy="478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7e1151bc898f59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346704"/>
            <a:ext cx="762000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e5863a5afd993e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1675"/>
            <a:ext cx="72066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732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8ca33af7e8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88" y="1969198"/>
            <a:ext cx="1035177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19965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9732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60439a2a7a987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498" y="2701290"/>
            <a:ext cx="1690497" cy="314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8995" y="2583180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89bd363145e9a7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913" y="2695765"/>
            <a:ext cx="1662874" cy="320421"/>
          </a:xfrm>
          <a:prstGeom prst="rect">
            <a:avLst/>
          </a:prstGeom>
        </p:spPr>
      </p:pic>
      <p:pic>
        <p:nvPicPr>
          <p:cNvPr id="17" name="Picture 16" descr="dd5f279e456d3e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596" y="3145536"/>
            <a:ext cx="2526792" cy="43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√(7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) = √85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7048afd5967e5b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71675"/>
            <a:ext cx="103517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9355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66de72f5c26fc0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69198"/>
            <a:ext cx="103765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31831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0419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9df1fa8e4b6e59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85" y="2704052"/>
            <a:ext cx="168497" cy="248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7683" y="2583180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4" name="Picture 13" descr="d31ebf8ea6473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353" y="2701290"/>
            <a:ext cx="325945" cy="248602"/>
          </a:xfrm>
          <a:prstGeom prst="rect">
            <a:avLst/>
          </a:prstGeom>
        </p:spPr>
      </p:pic>
      <p:pic>
        <p:nvPicPr>
          <p:cNvPr id="15" name="Picture 14" descr="bad877a561fe21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283" y="3190684"/>
            <a:ext cx="2874264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09547" y="3122676"/>
            <a:ext cx="413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7" name="Picture 16" descr="d382120c75130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72" y="3242500"/>
            <a:ext cx="850392" cy="2529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units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badd1a413eb60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71675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0438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a52a7da6d9cee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4323"/>
            <a:ext cx="713232" cy="282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0071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8a526335cefa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850" y="2584323"/>
            <a:ext cx="715708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655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8f4de137902d9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69198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2915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c91a08a95e198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1846"/>
            <a:ext cx="715708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2547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ac53719e49d5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326" y="2581846"/>
            <a:ext cx="718185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151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pic>
        <p:nvPicPr>
          <p:cNvPr id="17" name="Picture 16" descr="478ab4916ad688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328" y="3851702"/>
            <a:ext cx="1691640" cy="3169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mi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4c1bd0b477442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71675"/>
            <a:ext cx="88411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3285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b549c7a965b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92" y="1971675"/>
            <a:ext cx="705802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559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24d8e4bd60f45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69198"/>
            <a:ext cx="88658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5762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d1fac1bf15402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68" y="1969198"/>
            <a:ext cx="710755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302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pic>
        <p:nvPicPr>
          <p:cNvPr id="14" name="Picture 13" descr="ccda51d4ef7fae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2" y="3239054"/>
            <a:ext cx="1844040" cy="316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3678" y="366177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6" name="Picture 15" descr="9c3e88f0783f4e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618" y="3782646"/>
            <a:ext cx="1408747" cy="2513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He subtracted 7 − 3. Across zero the pieces add: 10 units.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0" name="Picture 9" descr="bd4ea132c00445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546" y="1581912"/>
            <a:ext cx="86868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9226" y="149504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93b7b061e8d06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10" y="1583436"/>
            <a:ext cx="682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07562" y="1495044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940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6" name="Picture 15" descr="b46983e41caf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46" y="2177795"/>
            <a:ext cx="874776" cy="28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5322" y="208940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8432d63f6064a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906" y="2177795"/>
            <a:ext cx="719328" cy="280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50234" y="208940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8376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2" name="Picture 21" descr="2e475e20ec271d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546" y="2770631"/>
            <a:ext cx="853440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3986" y="268376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9a3929db186185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570" y="2772155"/>
            <a:ext cx="899160" cy="280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8730" y="268376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7812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8" name="Picture 27" descr="b490da1242b960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546" y="3364991"/>
            <a:ext cx="87782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48370" y="327812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9cc9d23d4888b00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3954" y="3364991"/>
            <a:ext cx="856488" cy="2834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90442" y="3278123"/>
            <a:ext cx="32566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72483"/>
            <a:ext cx="17286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34" name="Picture 33" descr="22aa6f172de2346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6014" y="3959352"/>
            <a:ext cx="896112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42126" y="3872483"/>
            <a:ext cx="55557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from the origin, to the nearest tenth?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466844"/>
            <a:ext cx="53372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a map in kilometers, a pool is at </a:t>
            </a:r>
          </a:p>
        </p:txBody>
      </p:sp>
      <p:pic>
        <p:nvPicPr>
          <p:cNvPr id="38" name="Picture 37" descr="059c3899fa754e3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4582" y="4553712"/>
            <a:ext cx="1048512" cy="2834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03094" y="4466844"/>
            <a:ext cx="23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a park at </a:t>
            </a:r>
          </a:p>
        </p:txBody>
      </p:sp>
      <p:pic>
        <p:nvPicPr>
          <p:cNvPr id="40" name="Picture 39" descr="85100b15cbd6747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8521" y="4555236"/>
            <a:ext cx="710184" cy="2804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688705" y="4466844"/>
            <a:ext cx="3597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905756"/>
            <a:ext cx="957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apart are they in a straight line, to the nearest tenth of a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344668"/>
            <a:ext cx="17069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kilometer?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on a horizontal or vertical line — L9V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— ZBP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Coordinate-Plane Problems; Perimeter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of a figure on the coordinate plane, and a straight-line distance on a map.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6" name="Picture 15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3402663"/>
            <a:ext cx="830659" cy="2705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4988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8" name="Picture 17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3402663"/>
            <a:ext cx="683514" cy="2705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64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3402663"/>
            <a:ext cx="842525" cy="2705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99153" y="32781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3402663"/>
            <a:ext cx="989671" cy="2705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22886" y="32781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315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far apart are </a:t>
            </a:r>
          </a:p>
        </p:txBody>
      </p:sp>
      <p:pic>
        <p:nvPicPr>
          <p:cNvPr id="9" name="Picture 8" descr="d0d844374dd4e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6" y="1564719"/>
            <a:ext cx="1003911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6887" y="1440180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71" y="1567092"/>
            <a:ext cx="688260" cy="26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30732" y="1440180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843" y="1440180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52828"/>
            <a:ext cx="9089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Legs of 2 m and 7 m. The hypotenuse,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10028"/>
            <a:ext cx="19095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√53 ≈ 7.3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90749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in : 30 mi. Towns 2.5 in apart are how far?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79876"/>
            <a:ext cx="10191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75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92524"/>
            <a:ext cx="27369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The rectangle </a:t>
            </a:r>
          </a:p>
        </p:txBody>
      </p:sp>
      <p:pic>
        <p:nvPicPr>
          <p:cNvPr id="19" name="Picture 18" descr="badd1a413eb604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29" y="4317063"/>
            <a:ext cx="830659" cy="2705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4988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1" name="Picture 20" descr="a52a7da6d9cee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50" y="4317063"/>
            <a:ext cx="683514" cy="27055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2564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3e7ed357695194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27" y="4317063"/>
            <a:ext cx="842525" cy="2705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99153" y="4192524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f481fc1d2fe87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215" y="4317063"/>
            <a:ext cx="989671" cy="2705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22886" y="4192524"/>
            <a:ext cx="23378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649724"/>
            <a:ext cx="14021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20 units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distance around a figure: the sum of all its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height of a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a corner straight to the opposite side, meeting it at a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straight-line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length of the one segment between two points — on a map, straight across, not along the streets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Perimeter: every side — a slanted one by its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31351b3fe50c9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5129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82475" y="4629777"/>
            <a:ext cx="2402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slanted side:  </a:t>
            </a:r>
          </a:p>
        </p:txBody>
      </p:sp>
      <p:pic>
        <p:nvPicPr>
          <p:cNvPr id="12" name="Picture 11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24" y="4687086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8211" y="4629777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374" y="4746109"/>
            <a:ext cx="662670" cy="241458"/>
          </a:xfrm>
          <a:prstGeom prst="rect">
            <a:avLst/>
          </a:prstGeom>
        </p:spPr>
      </p:pic>
      <p:pic>
        <p:nvPicPr>
          <p:cNvPr id="15" name="Picture 14" descr="773f0a6bae0a0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780" y="5396730"/>
            <a:ext cx="27279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Along the streets, or straight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6df1d0e66359e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2834640" cy="28769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78806" y="4993739"/>
            <a:ext cx="1569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2" name="Picture 11" descr="eab0f25709b4c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929" y="5104705"/>
            <a:ext cx="1387046" cy="24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7975" y="49937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0606" y="5679539"/>
            <a:ext cx="1730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5" name="Picture 14" descr="9b4c53d9bae6f4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689" y="5736847"/>
            <a:ext cx="2623851" cy="300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97541" y="56795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0137bb391ff62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04" y="5793188"/>
            <a:ext cx="850471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96176" y="5679539"/>
            <a:ext cx="13218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blocks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No right angle: split it — and round once, at the 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9b174812ddca1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59" y="1993392"/>
            <a:ext cx="20574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1518" y="4179101"/>
            <a:ext cx="32763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each slanted side:  </a:t>
            </a:r>
          </a:p>
        </p:txBody>
      </p:sp>
      <p:pic>
        <p:nvPicPr>
          <p:cNvPr id="12" name="Picture 11" descr="924c351cdfb9db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9" y="4236410"/>
            <a:ext cx="2320686" cy="3004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41396" y="4179101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4" name="Picture 13" descr="8accfca2019880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59" y="4197096"/>
            <a:ext cx="2390441" cy="421211"/>
          </a:xfrm>
          <a:prstGeom prst="rect">
            <a:avLst/>
          </a:prstGeom>
        </p:spPr>
      </p:pic>
      <p:pic>
        <p:nvPicPr>
          <p:cNvPr id="15" name="Picture 14" descr="b83bb1fe416223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676" y="4947872"/>
            <a:ext cx="591616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642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Round once, at the end: 6 + 5.8 + 5.8 = 17.6 is short.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1299" y="1440180"/>
            <a:ext cx="3987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DEF has corners </a:t>
            </a:r>
          </a:p>
        </p:txBody>
      </p:sp>
      <p:pic>
        <p:nvPicPr>
          <p:cNvPr id="9" name="Picture 8" descr="22e665c31af511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22" y="1560195"/>
            <a:ext cx="12654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7614" y="144018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c7c83211ba327c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20" y="1560195"/>
            <a:ext cx="104260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71226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a02078d08fa46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733" y="1557718"/>
            <a:ext cx="859345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4707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5" name="Picture 14" descr="g10f73fa5acbaad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675" y="2148840"/>
            <a:ext cx="2586168" cy="3163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89cc993aa9783d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45864" cy="353568"/>
          </a:xfrm>
          <a:prstGeom prst="rect">
            <a:avLst/>
          </a:prstGeom>
        </p:spPr>
      </p:pic>
      <p:pic>
        <p:nvPicPr>
          <p:cNvPr id="9" name="Picture 8" descr="78be168ada708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504944" cy="408432"/>
          </a:xfrm>
          <a:prstGeom prst="rect">
            <a:avLst/>
          </a:prstGeom>
        </p:spPr>
      </p:pic>
      <p:pic>
        <p:nvPicPr>
          <p:cNvPr id="10" name="Picture 9" descr="fbb19df952207e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297484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units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db67e819f9f41b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99" y="2238929"/>
            <a:ext cx="105746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3064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2e3ad8100f4a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71" y="2238929"/>
            <a:ext cx="894016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8087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594" y="2238929"/>
            <a:ext cx="718185" cy="2798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2779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perimeter of the triangle with corners</a:t>
            </a:r>
          </a:p>
        </p:txBody>
      </p:sp>
      <p:pic>
        <p:nvPicPr>
          <p:cNvPr id="9" name="Picture 8" descr="4f803786a8d17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84" y="2236453"/>
            <a:ext cx="105994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1826" y="2116438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40347752cc7e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32" y="2236453"/>
            <a:ext cx="896493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9325" y="211643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5863a5afd993e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832" y="2236453"/>
            <a:ext cx="720661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6494" y="21164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290" y="28753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dd377e872e9d4e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091" y="3005978"/>
            <a:ext cx="1442180" cy="270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3271" y="2875390"/>
            <a:ext cx="1119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b75662d7fd6f12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034" y="3008311"/>
            <a:ext cx="1563528" cy="268366"/>
          </a:xfrm>
          <a:prstGeom prst="rect">
            <a:avLst/>
          </a:prstGeom>
        </p:spPr>
      </p:pic>
      <p:pic>
        <p:nvPicPr>
          <p:cNvPr id="19" name="Picture 18" descr="2899ab4d0ffda9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154" y="3464511"/>
            <a:ext cx="242925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58410" y="33783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869a797ec94ecf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687" y="3513279"/>
            <a:ext cx="725424" cy="213360"/>
          </a:xfrm>
          <a:prstGeom prst="rect">
            <a:avLst/>
          </a:prstGeom>
        </p:spPr>
      </p:pic>
      <p:pic>
        <p:nvPicPr>
          <p:cNvPr id="22" name="Picture 21" descr="b1b8042aeba401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154" y="4016199"/>
            <a:ext cx="2380488" cy="213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 units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8496" y="1591967"/>
            <a:ext cx="6874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Ana's home H is at </a:t>
            </a:r>
          </a:p>
        </p:txBody>
      </p:sp>
      <p:pic>
        <p:nvPicPr>
          <p:cNvPr id="9" name="Picture 8" descr="88254de881d2b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464" y="1711982"/>
            <a:ext cx="1047559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5254" y="2277767"/>
            <a:ext cx="2899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gym G at </a:t>
            </a:r>
          </a:p>
        </p:txBody>
      </p:sp>
      <p:pic>
        <p:nvPicPr>
          <p:cNvPr id="11" name="Picture 10" descr="d3f3db88036135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22" y="2400259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3124" y="2277767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dc0aefe51d8e6f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19" y="2986427"/>
            <a:ext cx="2926080" cy="20519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675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along the streets? In a straight line, to the nearest tenth?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1ffce193f7975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51960" cy="350520"/>
          </a:xfrm>
          <a:prstGeom prst="rect">
            <a:avLst/>
          </a:prstGeom>
        </p:spPr>
      </p:pic>
      <p:pic>
        <p:nvPicPr>
          <p:cNvPr id="9" name="Picture 8" descr="13d4e50efd4c3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5080"/>
            <a:ext cx="1530096" cy="277368"/>
          </a:xfrm>
          <a:prstGeom prst="rect">
            <a:avLst/>
          </a:prstGeom>
        </p:spPr>
      </p:pic>
      <p:pic>
        <p:nvPicPr>
          <p:cNvPr id="10" name="Picture 9" descr="5fa77f02f7f5d3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6767"/>
            <a:ext cx="5663184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blocks along the streets; about 8.6 blocks straight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1605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c24bc71b07f68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468" y="1699831"/>
            <a:ext cx="90144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7218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1f008430d4b70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42" y="2383155"/>
            <a:ext cx="107727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1320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367" y="1577340"/>
            <a:ext cx="65340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blocks, Ben's home is at </a:t>
            </a:r>
          </a:p>
        </p:txBody>
      </p:sp>
      <p:pic>
        <p:nvPicPr>
          <p:cNvPr id="9" name="Picture 8" descr="66fd2bf88109e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30" y="1697355"/>
            <a:ext cx="90392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5980" y="2263140"/>
            <a:ext cx="2603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park at </a:t>
            </a:r>
          </a:p>
        </p:txBody>
      </p:sp>
      <p:pic>
        <p:nvPicPr>
          <p:cNvPr id="11" name="Picture 10" descr="000ce6e896ac2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804" y="2380678"/>
            <a:ext cx="107975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2558" y="2263140"/>
            <a:ext cx="49001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How far is it along the streets?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a straight line,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904" y="3561190"/>
            <a:ext cx="13639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04" y="3701112"/>
            <a:ext cx="142351" cy="2100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7055" y="3561190"/>
            <a:ext cx="155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f881daf22278d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90" y="3701112"/>
            <a:ext cx="142351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57042" y="3561190"/>
            <a:ext cx="1753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 streets  </a:t>
            </a:r>
          </a:p>
        </p:txBody>
      </p:sp>
      <p:pic>
        <p:nvPicPr>
          <p:cNvPr id="19" name="Picture 18" descr="9ff67c01493767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804" y="3698779"/>
            <a:ext cx="1162145" cy="2123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27904" y="4064110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21" name="Picture 20" descr="e5ca82a6025d91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262" y="4152692"/>
            <a:ext cx="1934575" cy="2613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838" y="4064110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d3e2c57dc9fe8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115" y="4120022"/>
            <a:ext cx="1752552" cy="3663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3561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blocks along the streets; about 8.5 blocks straight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0d0db1d29ad2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9198"/>
            <a:ext cx="128035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5088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68758c2952ccb3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94" y="1969198"/>
            <a:ext cx="107232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08418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4665787323d98f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25" y="1969198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2141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071986"/>
            <a:ext cx="3840480" cy="20374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9292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017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has corners </a:t>
            </a:r>
          </a:p>
        </p:txBody>
      </p:sp>
      <p:pic>
        <p:nvPicPr>
          <p:cNvPr id="9" name="Picture 8" descr="e3b86c9ea95c8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37" y="1966722"/>
            <a:ext cx="1282827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756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32135da6d8c75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70" y="1966722"/>
            <a:ext cx="107480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3371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c98c87b1cfc68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878" y="1966722"/>
            <a:ext cx="901446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3132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cc93785af0ed58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853" y="3071986"/>
            <a:ext cx="3840480" cy="2037475"/>
          </a:xfrm>
          <a:prstGeom prst="rect">
            <a:avLst/>
          </a:prstGeom>
        </p:spPr>
      </p:pic>
      <p:pic>
        <p:nvPicPr>
          <p:cNvPr id="17" name="Picture 16" descr="2ad16f491f3a9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17" y="3497221"/>
            <a:ext cx="1563624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6341" y="335920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bea86e4d3b7a25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618" y="3497221"/>
            <a:ext cx="1408176" cy="265176"/>
          </a:xfrm>
          <a:prstGeom prst="rect">
            <a:avLst/>
          </a:prstGeom>
        </p:spPr>
      </p:pic>
      <p:pic>
        <p:nvPicPr>
          <p:cNvPr id="20" name="Picture 19" descr="b5a3055c75d2f9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717" y="3948325"/>
            <a:ext cx="2429256" cy="262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11973" y="3862124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2" name="Picture 21" descr="323e35a470aba2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4250" y="3997093"/>
            <a:ext cx="719328" cy="213360"/>
          </a:xfrm>
          <a:prstGeom prst="rect">
            <a:avLst/>
          </a:prstGeom>
        </p:spPr>
      </p:pic>
      <p:pic>
        <p:nvPicPr>
          <p:cNvPr id="23" name="Picture 22" descr="b0cd45a756bbf01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717" y="4500013"/>
            <a:ext cx="2383536" cy="213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539292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units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4151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663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9a6c540b81771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39" y="1971675"/>
            <a:ext cx="879157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679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1f888c65bc7e46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03" y="1971675"/>
            <a:ext cx="681037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434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595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corners 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85" y="1971675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910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b732eb947b17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5" y="1969198"/>
            <a:ext cx="88163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1749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dfcee36a543c9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256" y="1969198"/>
            <a:ext cx="68351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17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perimeter, to the nearest tenth.</a:t>
            </a:r>
          </a:p>
        </p:txBody>
      </p:sp>
      <p:pic>
        <p:nvPicPr>
          <p:cNvPr id="16" name="Picture 15" descr="4ecb7174b2f126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73" y="3260295"/>
            <a:ext cx="1402080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89653" y="312227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8" name="Picture 17" descr="6c42fd71d3e069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30" y="3260295"/>
            <a:ext cx="1438656" cy="265176"/>
          </a:xfrm>
          <a:prstGeom prst="rect">
            <a:avLst/>
          </a:prstGeom>
        </p:spPr>
      </p:pic>
      <p:pic>
        <p:nvPicPr>
          <p:cNvPr id="19" name="Picture 18" descr="9fdb8650e92ba2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573" y="3711399"/>
            <a:ext cx="2066543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411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6af8d51231c004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394" y="3680919"/>
            <a:ext cx="1094232" cy="368808"/>
          </a:xfrm>
          <a:prstGeom prst="rect">
            <a:avLst/>
          </a:prstGeom>
        </p:spPr>
      </p:pic>
      <p:pic>
        <p:nvPicPr>
          <p:cNvPr id="22" name="Picture 21" descr="95a936965c2fc4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73" y="4183839"/>
            <a:ext cx="284073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22.8 units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73f75574cb7fd7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9198"/>
            <a:ext cx="130511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5943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a9c39dd178fb7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50" y="1969198"/>
            <a:ext cx="124567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2629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9fced5befde40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635" y="1969198"/>
            <a:ext cx="88906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2699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7e2e8b59de7d1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664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4935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</a:t>
            </a:r>
          </a:p>
        </p:txBody>
      </p:sp>
      <p:pic>
        <p:nvPicPr>
          <p:cNvPr id="9" name="Picture 8" descr="e5fb5ae81ad866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8" y="1966722"/>
            <a:ext cx="130759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98420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940cccf337b19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26" y="1966722"/>
            <a:ext cx="1248156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758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04b6b4f9e2e5e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588" y="1966722"/>
            <a:ext cx="89154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0128" y="18516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has no right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perimeter.</a:t>
            </a:r>
          </a:p>
        </p:txBody>
      </p:sp>
      <p:pic>
        <p:nvPicPr>
          <p:cNvPr id="16" name="Picture 15" descr="g1596dfd5ae91f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718" y="3071986"/>
            <a:ext cx="2508190" cy="22132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6428" y="3195629"/>
            <a:ext cx="3354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height from C to </a:t>
            </a:r>
          </a:p>
        </p:txBody>
      </p:sp>
      <p:pic>
        <p:nvPicPr>
          <p:cNvPr id="18" name="Picture 17" descr="a9e697a44b5878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801" y="3326216"/>
            <a:ext cx="812101" cy="270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5902" y="3195629"/>
            <a:ext cx="4571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940" y="3326216"/>
            <a:ext cx="1563528" cy="270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46428" y="3698549"/>
            <a:ext cx="8830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AC:  </a:t>
            </a:r>
          </a:p>
        </p:txBody>
      </p:sp>
      <p:pic>
        <p:nvPicPr>
          <p:cNvPr id="22" name="Picture 21" descr="f99e1e60b05ca13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296" y="3787131"/>
            <a:ext cx="2310288" cy="261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02585" y="369854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4" name="Picture 23" descr="d65cbda9bdc0017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4862" y="3836137"/>
            <a:ext cx="718756" cy="2123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46428" y="4201469"/>
            <a:ext cx="8833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BC:  </a:t>
            </a:r>
          </a:p>
        </p:txBody>
      </p:sp>
      <p:pic>
        <p:nvPicPr>
          <p:cNvPr id="26" name="Picture 25" descr="4d8caafc7f3b64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2596" y="4290051"/>
            <a:ext cx="2314956" cy="2613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07552" y="4201469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8" name="Picture 27" descr="de21a50ad46b70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9829" y="4339057"/>
            <a:ext cx="723423" cy="212359"/>
          </a:xfrm>
          <a:prstGeom prst="rect">
            <a:avLst/>
          </a:prstGeom>
        </p:spPr>
      </p:pic>
      <p:pic>
        <p:nvPicPr>
          <p:cNvPr id="29" name="Picture 28" descr="b5e1abcfea899ec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1292" y="4839358"/>
            <a:ext cx="2566416" cy="213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 units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8267466ea736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1215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9f134f801c00f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55" y="2510773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4169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e7c815d6c4c3d1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31" y="2510773"/>
            <a:ext cx="894016" cy="282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5648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19.1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triangle with corners</a:t>
            </a:r>
          </a:p>
        </p:txBody>
      </p:sp>
      <p:pic>
        <p:nvPicPr>
          <p:cNvPr id="9" name="Picture 8" descr="551393e40b0172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08296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369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53bf76273dd0f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31" y="2508296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9122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22905f4670dbbc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584" y="2508296"/>
            <a:ext cx="896493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13077" y="2390758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5" name="Picture 14" descr="266f276499f02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61" y="3259867"/>
            <a:ext cx="165687" cy="2076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3448" y="3122278"/>
            <a:ext cx="9691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14a758a03a2f4a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442" y="3259867"/>
            <a:ext cx="135350" cy="2076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00792" y="3122278"/>
            <a:ext cx="2153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on grid lines</a:t>
            </a:r>
          </a:p>
        </p:txBody>
      </p:sp>
      <p:pic>
        <p:nvPicPr>
          <p:cNvPr id="19" name="Picture 18" descr="750acb3136d72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761" y="3711399"/>
            <a:ext cx="2093976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61737" y="3625198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cba45acd94f9f2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014" y="3680919"/>
            <a:ext cx="1103376" cy="368808"/>
          </a:xfrm>
          <a:prstGeom prst="rect">
            <a:avLst/>
          </a:prstGeom>
        </p:spPr>
      </p:pic>
      <p:pic>
        <p:nvPicPr>
          <p:cNvPr id="22" name="Picture 21" descr="3da6e9a4942ea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7761" y="4183839"/>
            <a:ext cx="2810256" cy="368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699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19.1 units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0f55939e83f868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71675"/>
            <a:ext cx="1037653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e6f553610f618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6799"/>
            <a:ext cx="718185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73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551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map in blocks, the library is at </a:t>
            </a:r>
          </a:p>
        </p:txBody>
      </p:sp>
      <p:pic>
        <p:nvPicPr>
          <p:cNvPr id="9" name="Picture 8" descr="5829683f873a4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52" y="1969198"/>
            <a:ext cx="104013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566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pool at </a:t>
            </a:r>
          </a:p>
        </p:txBody>
      </p:sp>
      <p:pic>
        <p:nvPicPr>
          <p:cNvPr id="11" name="Picture 10" descr="4536ab029dd41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7" y="2584323"/>
            <a:ext cx="720661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420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the straight line than the streets?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412" y="3734926"/>
            <a:ext cx="14907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streets:  </a:t>
            </a:r>
          </a:p>
        </p:txBody>
      </p:sp>
      <p:pic>
        <p:nvPicPr>
          <p:cNvPr id="15" name="Picture 14" descr="9c44261c617b9f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03" y="3870181"/>
            <a:ext cx="1309163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91412" y="4237846"/>
            <a:ext cx="1642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straight:  </a:t>
            </a:r>
          </a:p>
        </p:txBody>
      </p:sp>
      <p:pic>
        <p:nvPicPr>
          <p:cNvPr id="17" name="Picture 16" descr="66901e8dbd0d7c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771" y="4326428"/>
            <a:ext cx="2429303" cy="2613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26074" y="4237846"/>
            <a:ext cx="46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d65cbda9bdc001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352" y="4375435"/>
            <a:ext cx="718756" cy="212359"/>
          </a:xfrm>
          <a:prstGeom prst="rect">
            <a:avLst/>
          </a:prstGeom>
        </p:spPr>
      </p:pic>
      <p:pic>
        <p:nvPicPr>
          <p:cNvPr id="20" name="Picture 19" descr="50b2058d54e97c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276" y="4875735"/>
            <a:ext cx="1319784" cy="21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blocks shorter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a97b0f10747f53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3249"/>
            <a:ext cx="106984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4288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8c58404344209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728" y="2508296"/>
            <a:ext cx="896493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0221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5be363abca88bd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661" y="2508296"/>
            <a:ext cx="703326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2298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a073f0616c6f53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450" y="2513249"/>
            <a:ext cx="876681" cy="2798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67131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634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92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5506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diagonal of the rectangle with corners</a:t>
            </a:r>
          </a:p>
        </p:txBody>
      </p:sp>
      <p:pic>
        <p:nvPicPr>
          <p:cNvPr id="9" name="Picture 8" descr="1655e9e4782e5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10773"/>
            <a:ext cx="107232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676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a9d5ba6f1da89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04" y="2505820"/>
            <a:ext cx="898969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65174" y="2390758"/>
            <a:ext cx="396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c1f63a00e4aba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614" y="2505820"/>
            <a:ext cx="705802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0417" y="2390758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5" name="Picture 14" descr="c4d9a797873976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879" y="2510773"/>
            <a:ext cx="879157" cy="2823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7037" y="239075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721" y="3122278"/>
            <a:ext cx="1328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sides  </a:t>
            </a:r>
          </a:p>
        </p:txBody>
      </p:sp>
      <p:pic>
        <p:nvPicPr>
          <p:cNvPr id="18" name="Picture 17" descr="b3de44e021298e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452" y="3234863"/>
            <a:ext cx="1668399" cy="3204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4851" y="3122278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0" name="Picture 19" descr="f976dc64324c8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993" y="3237626"/>
            <a:ext cx="1875567" cy="317658"/>
          </a:xfrm>
          <a:prstGeom prst="rect">
            <a:avLst/>
          </a:prstGeom>
        </p:spPr>
      </p:pic>
      <p:pic>
        <p:nvPicPr>
          <p:cNvPr id="21" name="Picture 20" descr="f26d83ebda2082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9585" y="3729782"/>
            <a:ext cx="2871216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0801" y="3661774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ff28beca06f781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686" y="3781598"/>
            <a:ext cx="853440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15 units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6cd0cd2d13a38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71675"/>
            <a:ext cx="879157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51bb3a4fad71c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6799"/>
            <a:ext cx="88906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3924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697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park map in meters, the fountain is at </a:t>
            </a:r>
          </a:p>
        </p:txBody>
      </p:sp>
      <p:pic>
        <p:nvPicPr>
          <p:cNvPr id="9" name="Picture 8" descr="2247b49f98365d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61" y="1969198"/>
            <a:ext cx="88163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2464308"/>
            <a:ext cx="2607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gate at </a:t>
            </a:r>
          </a:p>
        </p:txBody>
      </p:sp>
      <p:pic>
        <p:nvPicPr>
          <p:cNvPr id="11" name="Picture 10" descr="18162535f5be7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61" y="2584323"/>
            <a:ext cx="891540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640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it straight across, to the nearest tenth?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593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5" name="Picture 14" descr="dd377e872e9d4e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360" y="3847511"/>
            <a:ext cx="1707070" cy="3204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5430" y="3734926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7" name="Picture 16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101" y="3850274"/>
            <a:ext cx="1660112" cy="317658"/>
          </a:xfrm>
          <a:prstGeom prst="rect">
            <a:avLst/>
          </a:prstGeom>
        </p:spPr>
      </p:pic>
      <p:pic>
        <p:nvPicPr>
          <p:cNvPr id="18" name="Picture 17" descr="91cf07a762e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457" y="4353098"/>
            <a:ext cx="266090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65361" y="428509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b009dc32ba55e7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247" y="4297282"/>
            <a:ext cx="2459736" cy="432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672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√106 ≈ 10.3 m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8f59a1bbce1b0e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9198"/>
            <a:ext cx="105003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4416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64a0bcb964d3ac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81846"/>
            <a:ext cx="693420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6966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c10c7ade43b947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95" y="2584323"/>
            <a:ext cx="876681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317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927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trail map in miles, the camp is at </a:t>
            </a:r>
          </a:p>
        </p:txBody>
      </p:sp>
      <p:pic>
        <p:nvPicPr>
          <p:cNvPr id="9" name="Picture 8" descr="22f8e5064804e9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80" y="1966722"/>
            <a:ext cx="1052512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6892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lake at </a:t>
            </a:r>
          </a:p>
        </p:txBody>
      </p:sp>
      <p:pic>
        <p:nvPicPr>
          <p:cNvPr id="12" name="Picture 11" descr="560793fe7d3f04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46" y="2579370"/>
            <a:ext cx="695896" cy="287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9442" y="2464308"/>
            <a:ext cx="3346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trailhead at </a:t>
            </a:r>
          </a:p>
        </p:txBody>
      </p:sp>
      <p:pic>
        <p:nvPicPr>
          <p:cNvPr id="14" name="Picture 13" descr="49c8c6e822b84b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972" y="2581846"/>
            <a:ext cx="879157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8129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camp from the lake, in a straight 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151" y="373492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8" name="Picture 17" descr="2a151f79b2b1c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918" y="3850274"/>
            <a:ext cx="1660112" cy="3176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34030" y="373492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20" name="Picture 19" descr="d7ba9e475850f3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947" y="3847511"/>
            <a:ext cx="1850707" cy="320421"/>
          </a:xfrm>
          <a:prstGeom prst="rect">
            <a:avLst/>
          </a:prstGeom>
        </p:spPr>
      </p:pic>
      <p:pic>
        <p:nvPicPr>
          <p:cNvPr id="21" name="Picture 20" descr="bad877a561fe21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015" y="4342430"/>
            <a:ext cx="287426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64279" y="4274422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09a1ea0ee626ec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65" y="4394246"/>
            <a:ext cx="847344" cy="2529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mi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71675"/>
            <a:ext cx="72809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6964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52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5707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215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says the segment from </a:t>
            </a:r>
          </a:p>
        </p:txBody>
      </p:sp>
      <p:pic>
        <p:nvPicPr>
          <p:cNvPr id="9" name="Picture 8" descr="9ebcc4ac7047e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73" y="1969198"/>
            <a:ext cx="73056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9441" y="1851660"/>
            <a:ext cx="6872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to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29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0660" y="1851660"/>
            <a:ext cx="2399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3 units long,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it crosses 3 grid squares.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Explain, and find its length to the nearest tenth.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749" y="3661376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6" name="Picture 15" descr="e1c78402da53da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515" y="3785011"/>
            <a:ext cx="168497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30013" y="3661376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8" name="Picture 17" descr="dcd07b346f0b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0" y="3779486"/>
            <a:ext cx="124301" cy="248602"/>
          </a:xfrm>
          <a:prstGeom prst="rect">
            <a:avLst/>
          </a:prstGeom>
        </p:spPr>
      </p:pic>
      <p:pic>
        <p:nvPicPr>
          <p:cNvPr id="19" name="Picture 18" descr="cb8915871a8227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613" y="4279549"/>
            <a:ext cx="2060448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8061" y="4211540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8e57f85f0236f1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946" y="4223732"/>
            <a:ext cx="2072640" cy="4328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7937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it is the hypotenuse of a triangle with legs 3 and 1, √10 ≈ 3.2 units.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0" name="Picture 9" descr="a5b6d05fd7f41c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512" y="1572039"/>
            <a:ext cx="873715" cy="2316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8228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f03a5612a3e3a0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15" y="1570780"/>
            <a:ext cx="715087" cy="2341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9402" y="1499019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47befe413b734b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489" y="1570780"/>
            <a:ext cx="715087" cy="2341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576" y="1499019"/>
            <a:ext cx="27976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It has no right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66953"/>
            <a:ext cx="420719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triangle </a:t>
            </a:r>
          </a:p>
        </p:txBody>
      </p:sp>
      <p:pic>
        <p:nvPicPr>
          <p:cNvPr id="18" name="Picture 17" descr="98ab927d307ba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12" y="2038714"/>
            <a:ext cx="725158" cy="2341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9671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0" name="Picture 19" descr="1b12795c360466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758" y="2038714"/>
            <a:ext cx="556458" cy="2341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217" y="1966953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3c68a2fc1886b1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303" y="2038714"/>
            <a:ext cx="737748" cy="2341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56052" y="1966953"/>
            <a:ext cx="272697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434888"/>
            <a:ext cx="494270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perimeter of the parallelogram </a:t>
            </a:r>
          </a:p>
        </p:txBody>
      </p:sp>
      <p:pic>
        <p:nvPicPr>
          <p:cNvPr id="26" name="Picture 25" descr="5fb9e783455f43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024" y="2507907"/>
            <a:ext cx="893859" cy="231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3883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8" name="Picture 27" descr="401a08bf02b2db9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9970" y="2506648"/>
            <a:ext cx="725158" cy="2341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85129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0" name="Picture 29" descr="d02d33295232874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215" y="2507907"/>
            <a:ext cx="566530" cy="231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57746" y="2434888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32" name="Picture 31" descr="2d42b3e817eed69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832" y="2506648"/>
            <a:ext cx="556458" cy="2341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20291" y="2434888"/>
            <a:ext cx="265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90282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02822"/>
            <a:ext cx="450903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blocks, Kai's home is at </a:t>
            </a:r>
          </a:p>
        </p:txBody>
      </p:sp>
      <p:pic>
        <p:nvPicPr>
          <p:cNvPr id="36" name="Picture 35" descr="324b66480ae87fb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350" y="2974582"/>
            <a:ext cx="878751" cy="23416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05102" y="2902822"/>
            <a:ext cx="23294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his school at </a:t>
            </a:r>
          </a:p>
        </p:txBody>
      </p:sp>
      <p:pic>
        <p:nvPicPr>
          <p:cNvPr id="38" name="Picture 37" descr="4b06abb07817386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7365" y="2975841"/>
            <a:ext cx="564012" cy="2316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1377" y="2902822"/>
            <a:ext cx="16391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much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270172"/>
            <a:ext cx="52734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shorter is the straight line than the streets?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738106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3738106"/>
            <a:ext cx="38841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map in miles, a dock is at </a:t>
            </a:r>
          </a:p>
        </p:txBody>
      </p:sp>
      <p:pic>
        <p:nvPicPr>
          <p:cNvPr id="43" name="Picture 42" descr="ede51becaffdb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1443" y="3811126"/>
            <a:ext cx="732712" cy="2316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4156" y="3738106"/>
            <a:ext cx="224344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an island at </a:t>
            </a:r>
          </a:p>
        </p:txBody>
      </p:sp>
      <p:pic>
        <p:nvPicPr>
          <p:cNvPr id="45" name="Picture 44" descr="383f37ada98a346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0443" y="3811126"/>
            <a:ext cx="720123" cy="2316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860566" y="3738106"/>
            <a:ext cx="251800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far apart are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105457"/>
            <a:ext cx="331476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they, to the nearest tenth?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339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4573391"/>
            <a:ext cx="30600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has corners </a:t>
            </a:r>
          </a:p>
        </p:txBody>
      </p:sp>
      <p:pic>
        <p:nvPicPr>
          <p:cNvPr id="50" name="Picture 49" descr="322e6c6f3990ed6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7358" y="4645152"/>
            <a:ext cx="866162" cy="2341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4352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2" name="Picture 51" descr="6d96e9ef855f92f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9607" y="4645152"/>
            <a:ext cx="720123" cy="23416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9730" y="4573391"/>
            <a:ext cx="34324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54" name="Picture 53" descr="aee1254e09a8849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5817" y="4645152"/>
            <a:ext cx="715087" cy="2341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90904" y="4573391"/>
            <a:ext cx="79885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56" name="Picture 55" descr="3c9a30b1926c47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2595" y="4645152"/>
            <a:ext cx="861126" cy="23416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13721" y="4573391"/>
            <a:ext cx="197782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How long is a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4940741"/>
            <a:ext cx="137644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diagonal?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6 — Real-World Coordinate-Plane Problems;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perimeter — VGE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similar triangles with the scale factor, and use similar triangles to measure what I cannot reach.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52828"/>
            <a:ext cx="9608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17-ft ladder's foot is 8 ft from a wall. How high does it reach?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97380"/>
            <a:ext cx="1464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8.6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10028"/>
            <a:ext cx="9608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17-ft ladder's foot is 8 ft from a wall. How high does it reach?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67228"/>
            <a:ext cx="8782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798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037076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497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7727" y="4649724"/>
            <a:ext cx="864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21 ft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similar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same shape, any size: matching angles equal, and every side multiplied by the same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sides that match — across from equal angles: shortest with shortest, longest with longest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copy ÷ original, for one matching pair of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4608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indirect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39673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finding a length you cannot reach from similar triangles you can measure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Similar: every side times the same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b1393c149350c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765914"/>
          </a:xfrm>
          <a:prstGeom prst="rect">
            <a:avLst/>
          </a:prstGeom>
        </p:spPr>
      </p:pic>
      <p:pic>
        <p:nvPicPr>
          <p:cNvPr id="11" name="Picture 10" descr="dffa0e8c36125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97" y="3908658"/>
            <a:ext cx="1106424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6621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f0a344a8a323dc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904" y="3914754"/>
            <a:ext cx="1295400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3304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c01a75d5d6aaea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586" y="3905610"/>
            <a:ext cx="1316736" cy="6766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12176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Three ratios, all equal: similar. Match shortest to shortest, longest to longest.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 missing side: find k, then multiply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1bbc6210f7f5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993392"/>
            <a:ext cx="5632704" cy="1826181"/>
          </a:xfrm>
          <a:prstGeom prst="rect">
            <a:avLst/>
          </a:prstGeom>
        </p:spPr>
      </p:pic>
      <p:pic>
        <p:nvPicPr>
          <p:cNvPr id="11" name="Picture 10" descr="c57688c9329a4b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866" y="4111038"/>
            <a:ext cx="2904744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67610" y="40725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bfdef353fb7e1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93" y="3965877"/>
            <a:ext cx="1889760" cy="670560"/>
          </a:xfrm>
          <a:prstGeom prst="rect">
            <a:avLst/>
          </a:prstGeom>
        </p:spPr>
      </p:pic>
      <p:pic>
        <p:nvPicPr>
          <p:cNvPr id="14" name="Picture 13" descr="4d0a8ac6cf842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610" y="4966002"/>
            <a:ext cx="2389632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9242" y="488789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6" name="Picture 15" descr="8a8c7878b0eec08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525" y="4959525"/>
            <a:ext cx="2691384" cy="362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566056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order of the letters is the matching: A with D, B with E, C with F.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Same sun, same angle: shadows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111dd3fd22a0d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993392"/>
            <a:ext cx="3456432" cy="2650023"/>
          </a:xfrm>
          <a:prstGeom prst="rect">
            <a:avLst/>
          </a:prstGeom>
        </p:spPr>
      </p:pic>
      <p:pic>
        <p:nvPicPr>
          <p:cNvPr id="11" name="Picture 10" descr="2b85bcbfdf01e5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4789719"/>
            <a:ext cx="1609344" cy="670560"/>
          </a:xfrm>
          <a:prstGeom prst="rect">
            <a:avLst/>
          </a:prstGeom>
        </p:spPr>
      </p:pic>
      <p:pic>
        <p:nvPicPr>
          <p:cNvPr id="12" name="Picture 11" descr="1695fa317230a6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20" y="5814657"/>
            <a:ext cx="1859232" cy="254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7553" y="5711739"/>
            <a:ext cx="5628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ft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pic>
        <p:nvPicPr>
          <p:cNvPr id="9" name="Picture 8" descr="ge2425ae442de1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76458"/>
            <a:ext cx="6858000" cy="26613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670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y.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efd40bf1c3ecf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452616" cy="673608"/>
          </a:xfrm>
          <a:prstGeom prst="rect">
            <a:avLst/>
          </a:prstGeom>
        </p:spPr>
      </p:pic>
      <p:pic>
        <p:nvPicPr>
          <p:cNvPr id="9" name="Picture 8" descr="74a3a288211de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5391912" cy="301752"/>
          </a:xfrm>
          <a:prstGeom prst="rect">
            <a:avLst/>
          </a:prstGeom>
        </p:spPr>
      </p:pic>
      <p:pic>
        <p:nvPicPr>
          <p:cNvPr id="10" name="Picture 9" descr="59c595bd67cf2c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44240"/>
            <a:ext cx="5526024" cy="38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21, y = 27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  <p:pic>
        <p:nvPicPr>
          <p:cNvPr id="10" name="Picture 9" descr="9a1a6118cd7cda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5" y="2751548"/>
            <a:ext cx="944689" cy="6076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46694" y="2826796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57309cfb8df17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836" y="2754311"/>
            <a:ext cx="972311" cy="6049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98148" y="2826796"/>
            <a:ext cx="1483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one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7141" y="3464399"/>
            <a:ext cx="3854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x matches the 5:  </a:t>
            </a:r>
          </a:p>
        </p:txBody>
      </p:sp>
      <p:pic>
        <p:nvPicPr>
          <p:cNvPr id="15" name="Picture 14" descr="9b453dec611ea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230" y="3585272"/>
            <a:ext cx="1950148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Omar's eyes are 5 ft up, 4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02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he sees the top of a tree 18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12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</a:t>
            </a:r>
          </a:p>
        </p:txBody>
      </p:sp>
      <p:pic>
        <p:nvPicPr>
          <p:cNvPr id="11" name="Picture 10" descr="gcccabea20ad63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30" y="3080335"/>
            <a:ext cx="2287258" cy="22421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516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bd577f60b4023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905000" cy="667512"/>
          </a:xfrm>
          <a:prstGeom prst="rect">
            <a:avLst/>
          </a:prstGeom>
        </p:spPr>
      </p:pic>
      <p:pic>
        <p:nvPicPr>
          <p:cNvPr id="9" name="Picture 8" descr="035eeeba9ebb9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273100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tree is 22.5 ft tall.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1" name="Picture 10" descr="06184dcef0298b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3290647"/>
            <a:ext cx="1511808" cy="609600"/>
          </a:xfrm>
          <a:prstGeom prst="rect">
            <a:avLst/>
          </a:prstGeom>
        </p:spPr>
      </p:pic>
      <p:pic>
        <p:nvPicPr>
          <p:cNvPr id="12" name="Picture 11" descr="be1f699f2cd419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4113035"/>
            <a:ext cx="1926335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690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 ft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pic>
        <p:nvPicPr>
          <p:cNvPr id="9" name="Picture 8" descr="29d440c348e857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66" y="2538586"/>
            <a:ext cx="11734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2946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74a531e9e94642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1" y="2532490"/>
            <a:ext cx="1182624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9315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66bdbc600003a8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61" y="2535538"/>
            <a:ext cx="1197864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24602" y="3247246"/>
            <a:ext cx="27811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all three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every ratio is 1.5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d74494cbb92b6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89" y="2998436"/>
            <a:ext cx="6295140" cy="233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Triangle ABC is similar to triangle DEF.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637064f2a1edf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3179"/>
            <a:ext cx="2526982" cy="12484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742" y="2975576"/>
            <a:ext cx="74856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names:  AC with DF,  BC with EF,  AB with DE</a:t>
            </a:r>
          </a:p>
        </p:txBody>
      </p:sp>
      <p:pic>
        <p:nvPicPr>
          <p:cNvPr id="12" name="Picture 11" descr="6ad28beba7d2f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606" y="3501356"/>
            <a:ext cx="1203960" cy="515112"/>
          </a:xfrm>
          <a:prstGeom prst="rect">
            <a:avLst/>
          </a:prstGeom>
        </p:spPr>
      </p:pic>
      <p:pic>
        <p:nvPicPr>
          <p:cNvPr id="13" name="Picture 12" descr="10e0b58bf3f66f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606" y="4220018"/>
            <a:ext cx="1633728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998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24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pic>
        <p:nvPicPr>
          <p:cNvPr id="11" name="Picture 10" descr="c75e55e6849a0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31" y="3610687"/>
            <a:ext cx="1941576" cy="609600"/>
          </a:xfrm>
          <a:prstGeom prst="rect">
            <a:avLst/>
          </a:prstGeom>
        </p:spPr>
      </p:pic>
      <p:pic>
        <p:nvPicPr>
          <p:cNvPr id="12" name="Picture 11" descr="e275a5b65b3f1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31" y="4445267"/>
            <a:ext cx="181660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3939" y="4325443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4" name="Picture 13" descr="3414c92f419f2e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84" y="4442219"/>
            <a:ext cx="185318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969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inches and 4 inches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e48dce5fbb9da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459338"/>
            <a:ext cx="6400800" cy="13160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 of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799b3f80e5b01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13" y="2459338"/>
            <a:ext cx="4754880" cy="1111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6613" y="2534848"/>
            <a:ext cx="4569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6, 9, 12  and  8,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613" y="3037768"/>
            <a:ext cx="52318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middle sides match:  9 and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12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7, 8, 10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5, 6, 9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pic>
        <p:nvPicPr>
          <p:cNvPr id="9" name="Picture 8" descr="bdd3cfbd5300e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14" y="2532490"/>
            <a:ext cx="94488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8394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d6055516730cc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39" y="2535538"/>
            <a:ext cx="923544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5683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2450c0a5a44890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29" y="2535538"/>
            <a:ext cx="926592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8650" y="3247246"/>
            <a:ext cx="3754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one k for every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10, 12, 16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13" y="2998436"/>
            <a:ext cx="2804892" cy="23083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902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41" y="2998436"/>
            <a:ext cx="2804892" cy="2308343"/>
          </a:xfrm>
          <a:prstGeom prst="rect">
            <a:avLst/>
          </a:prstGeom>
        </p:spPr>
      </p:pic>
      <p:pic>
        <p:nvPicPr>
          <p:cNvPr id="11" name="Picture 10" descr="1818a67803e26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18" y="3642068"/>
            <a:ext cx="1292352" cy="518160"/>
          </a:xfrm>
          <a:prstGeom prst="rect">
            <a:avLst/>
          </a:prstGeom>
        </p:spPr>
      </p:pic>
      <p:pic>
        <p:nvPicPr>
          <p:cNvPr id="12" name="Picture 11" descr="b7332b452dd02b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918" y="4354634"/>
            <a:ext cx="1645920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902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ft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43" y="3427807"/>
            <a:ext cx="3526633" cy="1903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75" y="3427807"/>
            <a:ext cx="3526633" cy="1903144"/>
          </a:xfrm>
          <a:prstGeom prst="rect">
            <a:avLst/>
          </a:prstGeom>
        </p:spPr>
      </p:pic>
      <p:pic>
        <p:nvPicPr>
          <p:cNvPr id="11" name="Picture 10" descr="e99d1959ca4f8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92" y="3873411"/>
            <a:ext cx="1085088" cy="509016"/>
          </a:xfrm>
          <a:prstGeom prst="rect">
            <a:avLst/>
          </a:prstGeom>
        </p:spPr>
      </p:pic>
      <p:pic>
        <p:nvPicPr>
          <p:cNvPr id="12" name="Picture 11" descr="64fc6715d91c38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292" y="4579880"/>
            <a:ext cx="1959864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144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2.4 m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034" y="3427807"/>
            <a:ext cx="2681451" cy="1941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23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5.5 ft up. In a 10-inch mirror on the ground 6 ft away, she sees the top of a flagpole 24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c407a63a3be439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634" y="3427807"/>
            <a:ext cx="2681451" cy="1941063"/>
          </a:xfrm>
          <a:prstGeom prst="rect">
            <a:avLst/>
          </a:prstGeom>
        </p:spPr>
      </p:pic>
      <p:pic>
        <p:nvPicPr>
          <p:cNvPr id="11" name="Picture 10" descr="3731fb59b131b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469" y="3890847"/>
            <a:ext cx="1258824" cy="512064"/>
          </a:xfrm>
          <a:prstGeom prst="rect">
            <a:avLst/>
          </a:prstGeom>
        </p:spPr>
      </p:pic>
      <p:pic>
        <p:nvPicPr>
          <p:cNvPr id="12" name="Picture 11" descr="943d4d2d2ea61f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469" y="4600364"/>
            <a:ext cx="1862328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233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 ft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1" name="Picture 10" descr="d2dfa2bbc0368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67" y="3613020"/>
            <a:ext cx="1012793" cy="5110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25260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3d58659d8a7f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61" y="3610687"/>
            <a:ext cx="865774" cy="5133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1036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01b60fb0121f47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037" y="3615354"/>
            <a:ext cx="870442" cy="5087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1479" y="3638786"/>
            <a:ext cx="220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three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similar means × one k, not + 2.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Are triangles with sides 4, 10, 12 and 6, 15, 20 similar? Show the three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7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Triangle PQR is similar to triangle XYZ. PQ is 8, QR is 10 and PR is 13, and XY is 20. Find YZ and XZ.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437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triangle has sides 15, 25 and 30. A similar triangle's longest side is 6. Find its other two sides.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1.5-m child casts a 2-m shadow. At the same moment a tree casts a 14-m shadow. How tall is the tree?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714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714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The two right triangles are similar and share corner A. The small one runs 3 m along the ground from A and stands 1.2 m high. The big one runs 12 m along the ground from A. How high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8523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Which is similar to a triangle with sides 8, 10 and 14: one with sides 10, 12, 16, or one with sides 12, 15, 21? Show why.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6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Side lengths of similar triangles — QSK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Similar triangles and indirect measurement — 88W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similar triangles — 6PD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name an angle pair and use it to find a missing angle, with an equation when the angles are expressions.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856765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3880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177367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6364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61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634567"/>
            <a:ext cx="856765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3880" y="25100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634567"/>
            <a:ext cx="666900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6364" y="25100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8476" y="2510028"/>
            <a:ext cx="12121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8781" y="3122676"/>
            <a:ext cx="560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740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50°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adjacent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with the same vertex and a shared side, that do not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angles across from each other where two lines cross; they are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complementary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supplementary 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52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180°; a linear pair — two adjacent angles on a straight line — is supplementary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Adjacent and vertical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f96da69d88b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2" y="1993392"/>
            <a:ext cx="3465576" cy="27453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94908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Adjacent: one vertex, a shared side, no overlap — angles 1 and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639457"/>
            <a:ext cx="7258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Vertical: across, and equal. m means measure: </a:t>
            </a:r>
          </a:p>
        </p:txBody>
      </p:sp>
      <p:pic>
        <p:nvPicPr>
          <p:cNvPr id="13" name="Picture 12" descr="383818eb4f254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036" y="5766370"/>
            <a:ext cx="1526039" cy="2159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35076" y="563945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Complementary and supplementary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fd2f6dc032fd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993392"/>
            <a:ext cx="3785615" cy="2287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01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Complementary: add to 90°.   Supplementary: add to 180°.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53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linear pair is supplementary: 60° + 120° = 180°.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Name the pair, write the equation, put x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f13cd6a1f05fc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1993392"/>
            <a:ext cx="3758184" cy="2101945"/>
          </a:xfrm>
          <a:prstGeom prst="rect">
            <a:avLst/>
          </a:prstGeom>
        </p:spPr>
      </p:pic>
      <p:pic>
        <p:nvPicPr>
          <p:cNvPr id="11" name="Picture 10" descr="cc136a22f99d4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85" y="4299934"/>
            <a:ext cx="3029712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1897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1f863e20b728f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80" y="4299934"/>
            <a:ext cx="1395984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89164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981f2bd33d46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46" y="4296886"/>
            <a:ext cx="100888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7024" y="5014309"/>
            <a:ext cx="19849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angle:  </a:t>
            </a:r>
          </a:p>
        </p:txBody>
      </p:sp>
      <p:pic>
        <p:nvPicPr>
          <p:cNvPr id="17" name="Picture 16" descr="d1f2e6ea48b59a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785" y="5119910"/>
            <a:ext cx="2379710" cy="311213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996" y="1440180"/>
            <a:ext cx="4592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ray splits a right angle into </a:t>
            </a:r>
          </a:p>
        </p:txBody>
      </p:sp>
      <p:pic>
        <p:nvPicPr>
          <p:cNvPr id="9" name="Picture 8" descr="07a35259f479b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94" y="1557718"/>
            <a:ext cx="114661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501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d1e7ee16a0e7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521" y="1557718"/>
            <a:ext cx="11738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5382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ebe47a9162b990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148840"/>
            <a:ext cx="3163824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b2f294a6c26d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54680" cy="280416"/>
          </a:xfrm>
          <a:prstGeom prst="rect">
            <a:avLst/>
          </a:prstGeom>
        </p:spPr>
      </p:pic>
      <p:pic>
        <p:nvPicPr>
          <p:cNvPr id="9" name="Picture 8" descr="95197ad3c8083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319272" cy="350520"/>
          </a:xfrm>
          <a:prstGeom prst="rect">
            <a:avLst/>
          </a:prstGeom>
        </p:spPr>
      </p:pic>
      <p:pic>
        <p:nvPicPr>
          <p:cNvPr id="10" name="Picture 9" descr="c38b41945c7f1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9815"/>
            <a:ext cx="509016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17; the angles are 50° and 40°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577c207cc2ff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48" y="1694878"/>
            <a:ext cx="720661" cy="284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616d3ce97a9b5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4878"/>
            <a:ext cx="1173861" cy="2847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68877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6d7c615ff8d7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71" y="1692402"/>
            <a:ext cx="723138" cy="287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8f38c89b3740af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2402"/>
            <a:ext cx="1176337" cy="287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1353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  <p:pic>
        <p:nvPicPr>
          <p:cNvPr id="13" name="Picture 12" descr="7e99fa8917cd7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34" y="2995214"/>
            <a:ext cx="2377440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8474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bf997b8dd4ac92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995214"/>
            <a:ext cx="111252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44739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7" name="Picture 16" descr="d07916073d642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485" y="2989118"/>
            <a:ext cx="877824" cy="252984"/>
          </a:xfrm>
          <a:prstGeom prst="rect">
            <a:avLst/>
          </a:prstGeom>
        </p:spPr>
      </p:pic>
      <p:pic>
        <p:nvPicPr>
          <p:cNvPr id="18" name="Picture 17" descr="ae1d1f1e848c88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034" y="3528614"/>
            <a:ext cx="1560576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31610" y="3414886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64a366b5734cf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5356" y="3531662"/>
            <a:ext cx="176479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16; 64° and 26°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1201" y="1440180"/>
            <a:ext cx="622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Vertical angles measure </a:t>
            </a:r>
          </a:p>
        </p:txBody>
      </p:sp>
      <p:pic>
        <p:nvPicPr>
          <p:cNvPr id="9" name="Picture 8" descr="58f9ac6500c16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79" y="1557718"/>
            <a:ext cx="132988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336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30da9e3b1e7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866" y="1557718"/>
            <a:ext cx="133731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7176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56ed89f4790ea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535" y="2148840"/>
            <a:ext cx="4806449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314f6680daf5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49296" cy="277368"/>
          </a:xfrm>
          <a:prstGeom prst="rect">
            <a:avLst/>
          </a:prstGeom>
        </p:spPr>
      </p:pic>
      <p:pic>
        <p:nvPicPr>
          <p:cNvPr id="9" name="Picture 8" descr="def7740143bebf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941576" cy="277368"/>
          </a:xfrm>
          <a:prstGeom prst="rect">
            <a:avLst/>
          </a:prstGeom>
        </p:spPr>
      </p:pic>
      <p:pic>
        <p:nvPicPr>
          <p:cNvPr id="10" name="Picture 9" descr="adcc8f1246fa21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23615"/>
            <a:ext cx="2737104" cy="347472"/>
          </a:xfrm>
          <a:prstGeom prst="rect">
            <a:avLst/>
          </a:prstGeom>
        </p:spPr>
      </p:pic>
      <p:pic>
        <p:nvPicPr>
          <p:cNvPr id="11" name="Picture 10" descr="6f95e2cb60145c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645407"/>
            <a:ext cx="2456688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38°.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790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3cb477a3fb5155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406" y="1694878"/>
            <a:ext cx="118624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265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8dcc8f629bcb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56" y="1694878"/>
            <a:ext cx="11664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558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9075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b01416cd51b60b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91" y="1692402"/>
            <a:ext cx="1191196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388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45a70ed96904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95" y="1692402"/>
            <a:ext cx="1168908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930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968" y="2875390"/>
            <a:ext cx="34294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4x + 3 = x + 39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968" y="3378310"/>
            <a:ext cx="35549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take x off both sides:  </a:t>
            </a:r>
          </a:p>
        </p:txBody>
      </p:sp>
      <p:pic>
        <p:nvPicPr>
          <p:cNvPr id="16" name="Picture 15" descr="2ab8632a630df2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17" y="3513565"/>
            <a:ext cx="1344168" cy="214693"/>
          </a:xfrm>
          <a:prstGeom prst="rect">
            <a:avLst/>
          </a:prstGeom>
        </p:spPr>
      </p:pic>
      <p:pic>
        <p:nvPicPr>
          <p:cNvPr id="17" name="Picture 16" descr="68567d5b1bde23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832" y="4016199"/>
            <a:ext cx="905256" cy="213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1088" y="3881230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089" y="4016199"/>
            <a:ext cx="743712" cy="210312"/>
          </a:xfrm>
          <a:prstGeom prst="rect">
            <a:avLst/>
          </a:prstGeom>
        </p:spPr>
      </p:pic>
      <p:pic>
        <p:nvPicPr>
          <p:cNvPr id="20" name="Picture 19" descr="0992bbe3f2b541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832" y="4522167"/>
            <a:ext cx="171602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95565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51°.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pic>
        <p:nvPicPr>
          <p:cNvPr id="9" name="Picture 8" descr="0f1f1f9bfab67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75" y="2626406"/>
            <a:ext cx="1837943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56°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pic>
        <p:nvPicPr>
          <p:cNvPr id="9" name="Picture 8" descr="48c6be8dd19e7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6406"/>
            <a:ext cx="2139696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68°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25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379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2167" y="3661774"/>
            <a:ext cx="16002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vertical:  </a:t>
            </a:r>
          </a:p>
        </p:txBody>
      </p:sp>
      <p:pic>
        <p:nvPicPr>
          <p:cNvPr id="12" name="Picture 11" descr="4bae18db7a4d73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212" y="3801696"/>
            <a:ext cx="788765" cy="2100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22167" y="4164694"/>
            <a:ext cx="23008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linear pair:  </a:t>
            </a:r>
          </a:p>
        </p:txBody>
      </p:sp>
      <p:pic>
        <p:nvPicPr>
          <p:cNvPr id="14" name="Picture 13" descr="d938da6dc54928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854" y="4292948"/>
            <a:ext cx="2291619" cy="2216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47°, b = 133°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77b1c7306185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d67e897ac23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1135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6679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9aa2e860f90272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3232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71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152°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36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62°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227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118°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286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bb07ffc24a4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4151"/>
            <a:ext cx="393763" cy="220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20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159c08c6eed82f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6" y="1971675"/>
            <a:ext cx="438340" cy="257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34006" y="1851660"/>
            <a:ext cx="42586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are complementary, and </a:t>
            </a:r>
          </a:p>
        </p:txBody>
      </p:sp>
      <p:pic>
        <p:nvPicPr>
          <p:cNvPr id="12" name="Picture 11" descr="3a7f772a2815f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44" y="1971675"/>
            <a:ext cx="1463611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9156" y="1851660"/>
            <a:ext cx="289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4308"/>
            <a:ext cx="14806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</a:t>
            </a:r>
          </a:p>
        </p:txBody>
      </p:sp>
      <p:pic>
        <p:nvPicPr>
          <p:cNvPr id="15" name="Picture 14" descr="52c288f6d52551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939" y="2584323"/>
            <a:ext cx="710755" cy="257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88694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7" name="Picture 16" descr="745c0b5bbb17b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747" y="3312604"/>
            <a:ext cx="182575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62°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0787c152ddf7d6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9198"/>
            <a:ext cx="13274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671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224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473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117" y="3071986"/>
            <a:ext cx="3413284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8f30b8b49e8693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6722"/>
            <a:ext cx="1329880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919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0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720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013" y="3071986"/>
            <a:ext cx="3413284" cy="2213245"/>
          </a:xfrm>
          <a:prstGeom prst="rect">
            <a:avLst/>
          </a:prstGeom>
        </p:spPr>
      </p:pic>
      <p:pic>
        <p:nvPicPr>
          <p:cNvPr id="15" name="Picture 14" descr="7f724f244cbb4e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682" y="3833518"/>
            <a:ext cx="2456688" cy="213360"/>
          </a:xfrm>
          <a:prstGeom prst="rect">
            <a:avLst/>
          </a:prstGeom>
        </p:spPr>
      </p:pic>
      <p:pic>
        <p:nvPicPr>
          <p:cNvPr id="16" name="Picture 15" descr="f3f7561d3a7c01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82" y="4336438"/>
            <a:ext cx="9235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03226" y="420146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2396565ee2317a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227" y="4336438"/>
            <a:ext cx="771144" cy="213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e1c3824ec7b71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9198"/>
            <a:ext cx="1359598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765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5cc58817ef78a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61" y="1969198"/>
            <a:ext cx="135216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633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67f53515655a95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706" y="3071986"/>
            <a:ext cx="3008107" cy="24418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8b8ebe44a953ed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6722"/>
            <a:ext cx="136455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260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f4a415f7dba0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14" y="1966722"/>
            <a:ext cx="1354645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137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89971f5fd8624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65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3181" y="3447089"/>
            <a:ext cx="4653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6x − 20 = 2x + 28,   so  </a:t>
            </a:r>
          </a:p>
        </p:txBody>
      </p:sp>
      <p:pic>
        <p:nvPicPr>
          <p:cNvPr id="16" name="Picture 15" descr="3cb91e7565858a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826" y="3584677"/>
            <a:ext cx="1556527" cy="212359"/>
          </a:xfrm>
          <a:prstGeom prst="rect">
            <a:avLst/>
          </a:prstGeom>
        </p:spPr>
      </p:pic>
      <p:pic>
        <p:nvPicPr>
          <p:cNvPr id="17" name="Picture 16" descr="c0a42a78d97a1e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45" y="4091074"/>
            <a:ext cx="957072" cy="207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85117" y="395000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9" name="Picture 18" descr="c9ab79e3ddc850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118" y="4084978"/>
            <a:ext cx="743712" cy="210312"/>
          </a:xfrm>
          <a:prstGeom prst="rect">
            <a:avLst/>
          </a:prstGeom>
        </p:spPr>
      </p:pic>
      <p:pic>
        <p:nvPicPr>
          <p:cNvPr id="20" name="Picture 19" descr="b9cd8d999bb095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45" y="4590946"/>
            <a:ext cx="1898904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52°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40404b229741d1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185" y="2459338"/>
            <a:ext cx="1651149" cy="15767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27386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DOE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7386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AOC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95966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BOC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95966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COD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7da705629c5ab4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13" y="2459338"/>
            <a:ext cx="2304288" cy="2029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32921" y="2994059"/>
            <a:ext cx="5068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AOB and BOC share the side 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2921" y="3496979"/>
            <a:ext cx="30918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and do not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7236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angles AOB and BOC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47" y="3427807"/>
            <a:ext cx="2561024" cy="1857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9e90bd77297c2b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15" y="3427807"/>
            <a:ext cx="2561024" cy="1857424"/>
          </a:xfrm>
          <a:prstGeom prst="rect">
            <a:avLst/>
          </a:prstGeom>
        </p:spPr>
      </p:pic>
      <p:pic>
        <p:nvPicPr>
          <p:cNvPr id="11" name="Picture 10" descr="4b0ece7bc60712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324" y="4011428"/>
            <a:ext cx="1533144" cy="213360"/>
          </a:xfrm>
          <a:prstGeom prst="rect">
            <a:avLst/>
          </a:prstGeom>
        </p:spPr>
      </p:pic>
      <p:pic>
        <p:nvPicPr>
          <p:cNvPr id="12" name="Picture 11" descr="b9435b17e5386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324" y="4514348"/>
            <a:ext cx="926592" cy="210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5078" y="3048728"/>
            <a:ext cx="5005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vertical:  the two are 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5078" y="3588224"/>
            <a:ext cx="333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complementary:  </a:t>
            </a:r>
          </a:p>
        </p:txBody>
      </p:sp>
      <p:pic>
        <p:nvPicPr>
          <p:cNvPr id="12" name="Picture 11" descr="0006f1eda30768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22" y="3706334"/>
            <a:ext cx="1649063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8285" y="3588224"/>
            <a:ext cx="11853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Sometimes — only when each is 45°.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435486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complement of 61°?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426514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supplement of 76°?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29887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lines cross, and one of the four angles is 58°. Find the other three.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473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0473"/>
            <a:ext cx="321310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16" name="Picture 15" descr="285bdcc5e318a8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425" y="3169787"/>
            <a:ext cx="1235632" cy="2588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66058" y="3090473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ad6c1a03ab2e4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45" y="3196225"/>
            <a:ext cx="434141" cy="205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23787" y="3090473"/>
            <a:ext cx="366796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x and the first angle.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2162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21620"/>
            <a:ext cx="342197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22" name="Picture 21" descr="fbc2e0de42011f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94" y="3700934"/>
            <a:ext cx="1065872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05166" y="362162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bc71e7f24b50d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754" y="3700934"/>
            <a:ext cx="120223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30991" y="3621620"/>
            <a:ext cx="302501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measure of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4751"/>
            <a:ext cx="1703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each angle.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589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b2dd3170aa6e61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646344"/>
            <a:ext cx="782010" cy="2365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409642" y="4555898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a52c8ccabb4b16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3230" y="4646344"/>
            <a:ext cx="776444" cy="236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09675" y="4555898"/>
            <a:ext cx="71689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share the side QR and together make a straight line,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59029"/>
            <a:ext cx="785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</a:t>
            </a:r>
          </a:p>
        </p:txBody>
      </p:sp>
      <p:pic>
        <p:nvPicPr>
          <p:cNvPr id="33" name="Picture 32" descr="2c401f527e9ce7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882" y="5049475"/>
            <a:ext cx="1756045" cy="2365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58928" y="4959029"/>
            <a:ext cx="346333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Name the pair and find </a:t>
            </a:r>
          </a:p>
        </p:txBody>
      </p:sp>
      <p:pic>
        <p:nvPicPr>
          <p:cNvPr id="35" name="Picture 34" descr="4211ba0231777f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5106" y="5049475"/>
            <a:ext cx="1026910" cy="2365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12017" y="4959029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complementary, supplementary, vertical, adjacent, and congruent angles — HGV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66359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measures of complementary, supplementary, vertical, and adjacent angles — R2B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824727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and solve equations using angle relationships — DBV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angle of a triangle, inside or outside, with the Triangle Sum and the Exterior Angle Theorem.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b7db7bdb84bac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018151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5265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849" y="2179740"/>
            <a:ext cx="688260" cy="268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59109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7249" y="1440180"/>
            <a:ext cx="699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b7db7bdb84bac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018151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5265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849" y="2179740"/>
            <a:ext cx="688260" cy="268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59109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21" y="2052828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3235" y="2665476"/>
            <a:ext cx="1008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$0.75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8483" y="3278124"/>
            <a:ext cx="5714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interior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 angle inside a triangle, at one of its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exterior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 between one side of a triangle and the next side extended; it makes a linear pair with the interior angle beside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remote interior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interior angles that are not beside a given exterior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3874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Sum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68112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three interior angles of a triangle add to 180°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Triangle Sum: the three angles make 180°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522339bbcb9f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1993392"/>
            <a:ext cx="3657600" cy="2548021"/>
          </a:xfrm>
          <a:prstGeom prst="rect">
            <a:avLst/>
          </a:prstGeom>
        </p:spPr>
      </p:pic>
      <p:pic>
        <p:nvPicPr>
          <p:cNvPr id="11" name="Picture 10" descr="0aedc77137df4b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878" y="4742962"/>
            <a:ext cx="28590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8902" y="46648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5e378d9b5b72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185" y="4746010"/>
            <a:ext cx="981455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396377"/>
            <a:ext cx="5980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triangle's three angles add to 180°:  </a:t>
            </a:r>
          </a:p>
        </p:txBody>
      </p:sp>
      <p:pic>
        <p:nvPicPr>
          <p:cNvPr id="15" name="Picture 14" descr="9263d6474ca215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695" y="5520916"/>
            <a:ext cx="3540982" cy="218344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Exterior Angle Theorem: outside = the two remote angles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45d7beb9c033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93392"/>
            <a:ext cx="3749039" cy="2344136"/>
          </a:xfrm>
          <a:prstGeom prst="rect">
            <a:avLst/>
          </a:prstGeom>
        </p:spPr>
      </p:pic>
      <p:pic>
        <p:nvPicPr>
          <p:cNvPr id="11" name="Picture 10" descr="89c2ce4528c0e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7" y="4574621"/>
            <a:ext cx="2487025" cy="244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0702" y="4460972"/>
            <a:ext cx="18753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check:  </a:t>
            </a:r>
          </a:p>
        </p:txBody>
      </p:sp>
      <p:pic>
        <p:nvPicPr>
          <p:cNvPr id="13" name="Picture 12" descr="8a37fc46900708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59" y="4571938"/>
            <a:ext cx="2148982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336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Not the angle beside it, and not the angle around the outside.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Angles as expressions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dd6c2edffde6da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2337783"/>
          </a:xfrm>
          <a:prstGeom prst="rect">
            <a:avLst/>
          </a:prstGeom>
        </p:spPr>
      </p:pic>
      <p:pic>
        <p:nvPicPr>
          <p:cNvPr id="11" name="Picture 10" descr="647c8375d7d21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49" y="4529676"/>
            <a:ext cx="3694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2125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7b3e3f23e8ea7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32724"/>
            <a:ext cx="1435608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9016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d16345bfb6026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298" y="4535772"/>
            <a:ext cx="1033271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5073" y="5140419"/>
            <a:ext cx="2144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angles:  </a:t>
            </a:r>
          </a:p>
        </p:txBody>
      </p:sp>
      <p:pic>
        <p:nvPicPr>
          <p:cNvPr id="17" name="Picture 16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096" y="5254069"/>
            <a:ext cx="394382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6479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642" y="5254069"/>
            <a:ext cx="394382" cy="244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9025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b785117b1b161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188" y="5254069"/>
            <a:ext cx="539257" cy="244141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1000" y="144018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7c3ebd1b5118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137" y="1557718"/>
            <a:ext cx="482917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005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4dddd1a4fe59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61" y="1557718"/>
            <a:ext cx="440817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7378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2f72bb38c53d66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148840"/>
            <a:ext cx="4023360" cy="30921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7017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8609985cbbf0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167128" cy="280416"/>
          </a:xfrm>
          <a:prstGeom prst="rect">
            <a:avLst/>
          </a:prstGeom>
        </p:spPr>
      </p:pic>
      <p:pic>
        <p:nvPicPr>
          <p:cNvPr id="9" name="Picture 8" descr="b31b8f2372dd4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95960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third angle is 51°.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3664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93bc96f2cc69f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801" y="1697355"/>
            <a:ext cx="465582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538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727d2cc0503a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90" y="1697355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471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9950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598b182d9f6bf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86" y="1697355"/>
            <a:ext cx="470534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6621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509e5756a63da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128" y="1697355"/>
            <a:ext cx="495299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42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4" name="Picture 13" descr="4cdaf6218c704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3" y="2995214"/>
            <a:ext cx="1993392" cy="252984"/>
          </a:xfrm>
          <a:prstGeom prst="rect">
            <a:avLst/>
          </a:prstGeom>
        </p:spPr>
      </p:pic>
      <p:pic>
        <p:nvPicPr>
          <p:cNvPr id="15" name="Picture 14" descr="0eee067290a38f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3" y="3534710"/>
            <a:ext cx="21518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57°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5154" y="171450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2db8d970bac03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546" y="1832038"/>
            <a:ext cx="49034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93893" y="171450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41c731884e8b0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00" y="1832038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3223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914915b016051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423160"/>
            <a:ext cx="4023360" cy="26765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289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6436ee197a6c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88920" cy="280416"/>
          </a:xfrm>
          <a:prstGeom prst="rect">
            <a:avLst/>
          </a:prstGeom>
        </p:spPr>
      </p:pic>
      <p:pic>
        <p:nvPicPr>
          <p:cNvPr id="9" name="Picture 8" descr="a03bc7e3a59a7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595579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exterior angle is 113°.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2396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787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894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30b8c97d4403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447" y="169735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5982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9919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311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646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83dab77d38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970" y="1697355"/>
            <a:ext cx="475488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845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  <p:pic>
        <p:nvPicPr>
          <p:cNvPr id="14" name="Picture 13" descr="30206c3aca93b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1" y="2995214"/>
            <a:ext cx="19751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107°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pic>
        <p:nvPicPr>
          <p:cNvPr id="9" name="Picture 8" descr="0e1ea345931b3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3358"/>
            <a:ext cx="1987296" cy="256032"/>
          </a:xfrm>
          <a:prstGeom prst="rect">
            <a:avLst/>
          </a:prstGeom>
        </p:spPr>
      </p:pic>
      <p:pic>
        <p:nvPicPr>
          <p:cNvPr id="10" name="Picture 9" descr="5a6504566eb37c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51" y="3165902"/>
            <a:ext cx="21427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65°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0" name="Picture 9" descr="5896b664cb0ee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3" y="3168553"/>
            <a:ext cx="2023872" cy="252984"/>
          </a:xfrm>
          <a:prstGeom prst="rect">
            <a:avLst/>
          </a:prstGeom>
        </p:spPr>
      </p:pic>
      <p:pic>
        <p:nvPicPr>
          <p:cNvPr id="11" name="Picture 10" descr="05c73aed05dead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3" y="3705001"/>
            <a:ext cx="219760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76°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90" y="2998436"/>
            <a:ext cx="418853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42" y="2998436"/>
            <a:ext cx="4188538" cy="2286795"/>
          </a:xfrm>
          <a:prstGeom prst="rect">
            <a:avLst/>
          </a:prstGeom>
        </p:spPr>
      </p:pic>
      <p:pic>
        <p:nvPicPr>
          <p:cNvPr id="11" name="Picture 10" descr="f6703d768b6f6b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665" y="4048203"/>
            <a:ext cx="209702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115°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pic>
        <p:nvPicPr>
          <p:cNvPr id="10" name="Picture 9" descr="b2800e49e8c9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064" y="3165505"/>
            <a:ext cx="204520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4200" y="358822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2" name="Picture 11" descr="89eaa96462cb0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41" y="3709097"/>
            <a:ext cx="218217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105°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pic>
        <p:nvPicPr>
          <p:cNvPr id="10" name="Picture 9" descr="8ce054ff8a0825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597923"/>
            <a:ext cx="1801368" cy="252984"/>
          </a:xfrm>
          <a:prstGeom prst="rect">
            <a:avLst/>
          </a:prstGeom>
        </p:spPr>
      </p:pic>
      <p:pic>
        <p:nvPicPr>
          <p:cNvPr id="11" name="Picture 10" descr="10fb68966b6f5d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4137419"/>
            <a:ext cx="886968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75°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9a77d2ef13e0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57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bcd545b5207fdb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80" y="1969198"/>
            <a:ext cx="132740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4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d05019691e271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3011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22050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017c2bef06e0a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57" y="1966722"/>
            <a:ext cx="132988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8437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pic>
        <p:nvPicPr>
          <p:cNvPr id="16" name="Picture 15" descr="d81f3f45ef9c4b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922" y="3242102"/>
            <a:ext cx="3236976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2898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84cb4c1234df5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644" y="3239054"/>
            <a:ext cx="1258824" cy="2529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35467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b240ecaec035e4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213" y="3242102"/>
            <a:ext cx="896112" cy="249935"/>
          </a:xfrm>
          <a:prstGeom prst="rect">
            <a:avLst/>
          </a:prstGeom>
        </p:spPr>
      </p:pic>
      <p:pic>
        <p:nvPicPr>
          <p:cNvPr id="21" name="Picture 20" descr="c48d1166260cd6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922" y="3778550"/>
            <a:ext cx="1563624" cy="316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9546" y="3661774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3" name="Picture 22" descr="65e6d91ac736a0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292" y="3775502"/>
            <a:ext cx="2234184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28°, 84° and 68°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6fc36d4d507b14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9198"/>
            <a:ext cx="119862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979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914b62989f40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81846"/>
            <a:ext cx="690943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48737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8" name="Picture 17" descr="82554d18127d5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2819400" cy="277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20" name="Picture 19" descr="8d07209786ff86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81051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22" name="Picture 21" descr="0ba96a21739ff6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4437490"/>
            <a:ext cx="2612136" cy="277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4" name="Picture 23" descr="b32043de87a5de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437490"/>
            <a:ext cx="3621024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d7eb0f2d68178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6722"/>
            <a:ext cx="1203579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474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e968d0415b3e8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79370"/>
            <a:ext cx="695896" cy="287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5369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1952" y="3734926"/>
            <a:ext cx="7914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outside = the two far ones:  5x + 4 = 52 + 3x</a:t>
            </a:r>
          </a:p>
        </p:txBody>
      </p:sp>
      <p:pic>
        <p:nvPicPr>
          <p:cNvPr id="18" name="Picture 17" descr="855664d81a55cc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816" y="4394246"/>
            <a:ext cx="1100328" cy="249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47144" y="4274422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04dcdfd387364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890" y="4391198"/>
            <a:ext cx="914400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5x + 4 = 52 + 3x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pic>
        <p:nvPicPr>
          <p:cNvPr id="10" name="Picture 9" descr="f9b56ca1453b1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3165505"/>
            <a:ext cx="2005584" cy="256032"/>
          </a:xfrm>
          <a:prstGeom prst="rect">
            <a:avLst/>
          </a:prstGeom>
        </p:spPr>
      </p:pic>
      <p:pic>
        <p:nvPicPr>
          <p:cNvPr id="11" name="Picture 10" descr="d164afe1fd8f71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3708049"/>
            <a:ext cx="2157984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73°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of a triangle always bigger than either of its remote interior angles?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of a triangle always bigger than either of its remote interior angles?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873" y="2939000"/>
            <a:ext cx="22738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for example:  </a:t>
            </a:r>
          </a:p>
        </p:txBody>
      </p:sp>
      <p:pic>
        <p:nvPicPr>
          <p:cNvPr id="10" name="Picture 9" descr="1cf37538407c0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84" y="3074255"/>
            <a:ext cx="1726882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467" y="2939000"/>
            <a:ext cx="5267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more than 40 and more than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is the two remote angles added, each more than 0°.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7310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angles of a triangle are 63° and 79°. 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960650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isosceles triangle's two base angles are equal. The angle between its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1310"/>
            <a:ext cx="602371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equal sides is 40°. Find each base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62457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993057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remote interior angles are 46° and 58°. Find the exterior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51748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is 140°. One remote interior angle is 62°.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07169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Find the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31794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20" name="Picture 19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04" y="4507196"/>
            <a:ext cx="637297" cy="2588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4101" y="4427882"/>
            <a:ext cx="3571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04becd1bdf09d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126" y="4507196"/>
            <a:ext cx="631731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5857" y="4427882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01c992824f9bab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445" y="4507196"/>
            <a:ext cx="65677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66222" y="4427882"/>
            <a:ext cx="248179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each angle.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902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59029"/>
            <a:ext cx="553524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measures </a:t>
            </a:r>
          </a:p>
        </p:txBody>
      </p:sp>
      <p:pic>
        <p:nvPicPr>
          <p:cNvPr id="28" name="Picture 27" descr="9da31d5850a0f0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560" y="5038343"/>
            <a:ext cx="1249547" cy="2588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02107" y="4959029"/>
            <a:ext cx="277458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; its remote interior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62160"/>
            <a:ext cx="23410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angles measure </a:t>
            </a:r>
          </a:p>
        </p:txBody>
      </p:sp>
      <p:pic>
        <p:nvPicPr>
          <p:cNvPr id="31" name="Picture 30" descr="985ed041d11c30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332" y="5467913"/>
            <a:ext cx="445273" cy="20593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3605" y="536216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3" name="Picture 32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93" y="5441475"/>
            <a:ext cx="637297" cy="2588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64490" y="5362160"/>
            <a:ext cx="414554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Write an equation and find x.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missing angles in triangles — JFJ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Exterior Angle Theorem — FMP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Angle-Sum Theorem — 6Q6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