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Similar Triangles; Indirect Measurement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MA.8.GR.2.4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similar triangles with the scale factor, and use similar triangles to measure what I cannot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0528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97380"/>
            <a:ext cx="1464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8.6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5100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967228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 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037076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6497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7727" y="4649724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21 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similar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same shape, any size: matching angles equal, and every side multiplied by the same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sides that match — across from equal angles: shortest with shortest, longest with longest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copy ÷ original, for one matching pair of sides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08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indirect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39673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finding a length you cannot reach from similar triangles you can measure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Similar: every side times the same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b1393c149350c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765914"/>
          </a:xfrm>
          <a:prstGeom prst="rect">
            <a:avLst/>
          </a:prstGeom>
        </p:spPr>
      </p:pic>
      <p:pic>
        <p:nvPicPr>
          <p:cNvPr id="11" name="Picture 10" descr="dffa0e8c36125c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197" y="3908658"/>
            <a:ext cx="110642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6621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f0a344a8a323dc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904" y="3914754"/>
            <a:ext cx="1295400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3304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c01a75d5d6aaea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4586" y="3905610"/>
            <a:ext cx="1316736" cy="6766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12176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Three ratios, all equal: similar. Match shortest to shortest, longest to longest.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 missing side: find k, then multiply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1bbc6210f7f5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993392"/>
            <a:ext cx="5632704" cy="1826181"/>
          </a:xfrm>
          <a:prstGeom prst="rect">
            <a:avLst/>
          </a:prstGeom>
        </p:spPr>
      </p:pic>
      <p:pic>
        <p:nvPicPr>
          <p:cNvPr id="11" name="Picture 10" descr="c57688c9329a4b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2866" y="4111038"/>
            <a:ext cx="2904744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67610" y="407255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bfdef353fb7e1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8893" y="3965877"/>
            <a:ext cx="1889760" cy="670560"/>
          </a:xfrm>
          <a:prstGeom prst="rect">
            <a:avLst/>
          </a:prstGeom>
        </p:spPr>
      </p:pic>
      <p:pic>
        <p:nvPicPr>
          <p:cNvPr id="14" name="Picture 13" descr="4d0a8ac6cf842b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9610" y="4966002"/>
            <a:ext cx="2389632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9242" y="488789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6" name="Picture 15" descr="8a8c7878b0eec08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0525" y="4959525"/>
            <a:ext cx="2691384" cy="3627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566056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order of the letters is the matching: A with D, B with E, C with 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Same sun, same angle: shadows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111dd3fd22a0d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993392"/>
            <a:ext cx="3456432" cy="2650023"/>
          </a:xfrm>
          <a:prstGeom prst="rect">
            <a:avLst/>
          </a:prstGeom>
        </p:spPr>
      </p:pic>
      <p:pic>
        <p:nvPicPr>
          <p:cNvPr id="11" name="Picture 10" descr="2b85bcbfdf01e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4789719"/>
            <a:ext cx="1609344" cy="670560"/>
          </a:xfrm>
          <a:prstGeom prst="rect">
            <a:avLst/>
          </a:prstGeom>
        </p:spPr>
      </p:pic>
      <p:pic>
        <p:nvPicPr>
          <p:cNvPr id="12" name="Picture 11" descr="1695fa317230a6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320" y="5814657"/>
            <a:ext cx="1859232" cy="254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97553" y="5711739"/>
            <a:ext cx="5628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pic>
        <p:nvPicPr>
          <p:cNvPr id="9" name="Picture 8" descr="ge2425ae442de1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276458"/>
            <a:ext cx="6858000" cy="26613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670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a97477c28159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66672" cy="673608"/>
          </a:xfrm>
          <a:prstGeom prst="rect">
            <a:avLst/>
          </a:prstGeom>
        </p:spPr>
      </p:pic>
      <p:pic>
        <p:nvPicPr>
          <p:cNvPr id="9" name="Picture 8" descr="bbdfad226e56a2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060448" cy="277368"/>
          </a:xfrm>
          <a:prstGeom prst="rect">
            <a:avLst/>
          </a:prstGeom>
        </p:spPr>
      </p:pic>
      <p:pic>
        <p:nvPicPr>
          <p:cNvPr id="10" name="Picture 9" descr="75dd21dab4111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9856"/>
            <a:ext cx="2100072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21, y =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 has sides 28, x and 12. Find 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 has sides 28, x and 12. Find 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7137" y="2728688"/>
            <a:ext cx="44244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3, 5, 7  and  12, x, 28</a:t>
            </a:r>
          </a:p>
        </p:txBody>
      </p:sp>
      <p:pic>
        <p:nvPicPr>
          <p:cNvPr id="11" name="Picture 10" descr="0019a33274271f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001" y="3254468"/>
            <a:ext cx="1222248" cy="512064"/>
          </a:xfrm>
          <a:prstGeom prst="rect">
            <a:avLst/>
          </a:prstGeom>
        </p:spPr>
      </p:pic>
      <p:pic>
        <p:nvPicPr>
          <p:cNvPr id="12" name="Picture 11" descr="7329a68ab6aef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001" y="3970082"/>
            <a:ext cx="164896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Omar's eyes are 5 ft up, 4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02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he sees the top of a tree 18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412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</a:t>
            </a:r>
          </a:p>
        </p:txBody>
      </p:sp>
      <p:pic>
        <p:nvPicPr>
          <p:cNvPr id="11" name="Picture 10" descr="gcccabea20ad63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130" y="3080335"/>
            <a:ext cx="2287258" cy="22421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6516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bd577f60b4023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905000" cy="667512"/>
          </a:xfrm>
          <a:prstGeom prst="rect">
            <a:avLst/>
          </a:prstGeom>
        </p:spPr>
      </p:pic>
      <p:pic>
        <p:nvPicPr>
          <p:cNvPr id="9" name="Picture 8" descr="035eeeba9ebb96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2731008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tree is 22.5 ft tall.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Ana's eyes are 4 ft up, 1.5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she sees the top of a flagpole 12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Ana's eyes are 4 ft up, 1.5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she sees the top of a flagpole 12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1" name="Picture 10" descr="06184dcef0298b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3290647"/>
            <a:ext cx="1511808" cy="609600"/>
          </a:xfrm>
          <a:prstGeom prst="rect">
            <a:avLst/>
          </a:prstGeom>
        </p:spPr>
      </p:pic>
      <p:pic>
        <p:nvPicPr>
          <p:cNvPr id="12" name="Picture 11" descr="be1f699f2cd419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503" y="4113035"/>
            <a:ext cx="1926335" cy="265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69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pic>
        <p:nvPicPr>
          <p:cNvPr id="9" name="Picture 8" descr="29d440c348e857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466" y="2538586"/>
            <a:ext cx="117348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2946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74a531e9e94642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6691" y="2532490"/>
            <a:ext cx="1182624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19315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66bdbc600003a8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61" y="2535538"/>
            <a:ext cx="1197864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24602" y="3247246"/>
            <a:ext cx="2781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all three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every ratio is 1.5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is similar to triangle DEF.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d74494cbb92b60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189" y="2998436"/>
            <a:ext cx="6295140" cy="233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144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is similar to triangle DEF.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637064f2a1edf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3179"/>
            <a:ext cx="2526982" cy="12484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35742" y="2975576"/>
            <a:ext cx="74856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names:  AC with DF,  BC with EF,  AB with DE</a:t>
            </a:r>
          </a:p>
        </p:txBody>
      </p:sp>
      <p:pic>
        <p:nvPicPr>
          <p:cNvPr id="12" name="Picture 11" descr="6ad28beba7d2f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0606" y="3501356"/>
            <a:ext cx="1203960" cy="515112"/>
          </a:xfrm>
          <a:prstGeom prst="rect">
            <a:avLst/>
          </a:prstGeom>
        </p:spPr>
      </p:pic>
      <p:pic>
        <p:nvPicPr>
          <p:cNvPr id="13" name="Picture 12" descr="10e0b58bf3f66f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0606" y="4220018"/>
            <a:ext cx="1633728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998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12, 16 and 20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12, 16 and 20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pic>
        <p:nvPicPr>
          <p:cNvPr id="11" name="Picture 10" descr="c75e55e6849a0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331" y="3610687"/>
            <a:ext cx="1941576" cy="609600"/>
          </a:xfrm>
          <a:prstGeom prst="rect">
            <a:avLst/>
          </a:prstGeom>
        </p:spPr>
      </p:pic>
      <p:pic>
        <p:nvPicPr>
          <p:cNvPr id="12" name="Picture 11" descr="e275a5b65b3f10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331" y="4445267"/>
            <a:ext cx="181660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3939" y="4325443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3414c92f419f2e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684" y="4442219"/>
            <a:ext cx="185318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969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inches and 4 inches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e48dce5fbb9da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459338"/>
            <a:ext cx="6400800" cy="13160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 of them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799b3f80e5b01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13" y="2459338"/>
            <a:ext cx="4754880" cy="11111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6613" y="2534848"/>
            <a:ext cx="4569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6, 9, 12  and  8,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6613" y="3037768"/>
            <a:ext cx="52318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middle sides match:  9 and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7, 8, 10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5, 6, 9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pic>
        <p:nvPicPr>
          <p:cNvPr id="9" name="Picture 8" descr="bdd3cfbd5300e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3514" y="2532490"/>
            <a:ext cx="94488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8394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d6055516730cc4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139" y="2535538"/>
            <a:ext cx="92354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15683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2450c0a5a44890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29" y="2535538"/>
            <a:ext cx="926592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08650" y="3247246"/>
            <a:ext cx="3754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one k for every 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10, 12, 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313" y="2998436"/>
            <a:ext cx="2804892" cy="23083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902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641" y="2998436"/>
            <a:ext cx="2804892" cy="2308343"/>
          </a:xfrm>
          <a:prstGeom prst="rect">
            <a:avLst/>
          </a:prstGeom>
        </p:spPr>
      </p:pic>
      <p:pic>
        <p:nvPicPr>
          <p:cNvPr id="11" name="Picture 10" descr="1818a67803e26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918" y="3642068"/>
            <a:ext cx="1292352" cy="518160"/>
          </a:xfrm>
          <a:prstGeom prst="rect">
            <a:avLst/>
          </a:prstGeom>
        </p:spPr>
      </p:pic>
      <p:pic>
        <p:nvPicPr>
          <p:cNvPr id="12" name="Picture 11" descr="b7332b452dd02b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18" y="4354634"/>
            <a:ext cx="1645920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902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ft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443" y="3427807"/>
            <a:ext cx="3526633" cy="1903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144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275" y="3427807"/>
            <a:ext cx="3526633" cy="1903144"/>
          </a:xfrm>
          <a:prstGeom prst="rect">
            <a:avLst/>
          </a:prstGeom>
        </p:spPr>
      </p:pic>
      <p:pic>
        <p:nvPicPr>
          <p:cNvPr id="11" name="Picture 10" descr="e99d1959ca4f8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292" y="3873411"/>
            <a:ext cx="1085088" cy="509016"/>
          </a:xfrm>
          <a:prstGeom prst="rect">
            <a:avLst/>
          </a:prstGeom>
        </p:spPr>
      </p:pic>
      <p:pic>
        <p:nvPicPr>
          <p:cNvPr id="12" name="Picture 11" descr="64fc6715d91c38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292" y="4579880"/>
            <a:ext cx="1959864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144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2.4 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0" name="Picture 9" descr="g0645dd5acbb2e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1272" y="3427807"/>
            <a:ext cx="1978974" cy="19225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3380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0" name="Picture 9" descr="g0645dd5acbb2e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600" y="3427807"/>
            <a:ext cx="1978974" cy="1922533"/>
          </a:xfrm>
          <a:prstGeom prst="rect">
            <a:avLst/>
          </a:prstGeom>
        </p:spPr>
      </p:pic>
      <p:pic>
        <p:nvPicPr>
          <p:cNvPr id="11" name="Picture 10" descr="d89cf00d483841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959" y="3883105"/>
            <a:ext cx="1225296" cy="509016"/>
          </a:xfrm>
          <a:prstGeom prst="rect">
            <a:avLst/>
          </a:prstGeom>
        </p:spPr>
      </p:pic>
      <p:pic>
        <p:nvPicPr>
          <p:cNvPr id="12" name="Picture 11" descr="ca6ea06f1d290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959" y="4586527"/>
            <a:ext cx="1642872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338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1" name="Picture 10" descr="d2dfa2bbc0368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467" y="3613020"/>
            <a:ext cx="1012793" cy="5110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25260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3d58659d8a7f4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261" y="3610687"/>
            <a:ext cx="865774" cy="5133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1036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01b60fb0121f47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1037" y="3615354"/>
            <a:ext cx="870442" cy="5087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1479" y="3638786"/>
            <a:ext cx="220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three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similar means × one k, not + 2.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Are triangles with sides 4, 10, 12 and 6, 15, 20 similar? Show the three ratios.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9967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9967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Triangle PQR is similar to triangle XYZ. PQ is 8, QR is 10 and PR is 13, and XY is 20. Find YZ and XZ.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437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437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triangle has sides 15, 25 and 30. A similar triangle's longest side is 6. Find its other two sides.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6576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6576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1.5-m child casts a 2-m shadow. At the same moment a tree casts a 14-m shadow. How tall is the tree?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714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4714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The two right triangles are similar and share corner A. The small one runs 3 m along the ground from A and stands 1.2 m high. The big one runs 12 m along the ground from A. How high is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8523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28523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Which is similar to a triangle with sides 8, 10 and 14: one with sides 10, 12, 16, or one with sides 12, 15, 21? Show why.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Side lengths of similar triangles — QSK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Similar triangles and indirect measurement — 88W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similar triangles — 6PD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