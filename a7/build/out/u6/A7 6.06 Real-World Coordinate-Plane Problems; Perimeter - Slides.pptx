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4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61.png"/><Relationship Id="rId10" Type="http://schemas.openxmlformats.org/officeDocument/2006/relationships/image" Target="../media/image6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77.png"/><Relationship Id="rId6" Type="http://schemas.openxmlformats.org/officeDocument/2006/relationships/image" Target="../media/image81.png"/><Relationship Id="rId7" Type="http://schemas.openxmlformats.org/officeDocument/2006/relationships/image" Target="../media/image82.png"/><Relationship Id="rId8" Type="http://schemas.openxmlformats.org/officeDocument/2006/relationships/image" Target="../media/image83.png"/><Relationship Id="rId9" Type="http://schemas.openxmlformats.org/officeDocument/2006/relationships/image" Target="../media/image84.png"/><Relationship Id="rId10" Type="http://schemas.openxmlformats.org/officeDocument/2006/relationships/image" Target="../media/image8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Relationship Id="rId6" Type="http://schemas.openxmlformats.org/officeDocument/2006/relationships/image" Target="../media/image93.png"/><Relationship Id="rId7" Type="http://schemas.openxmlformats.org/officeDocument/2006/relationships/image" Target="../media/image94.png"/><Relationship Id="rId8" Type="http://schemas.openxmlformats.org/officeDocument/2006/relationships/image" Target="../media/image95.png"/><Relationship Id="rId9" Type="http://schemas.openxmlformats.org/officeDocument/2006/relationships/image" Target="../media/image9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Relationship Id="rId4" Type="http://schemas.openxmlformats.org/officeDocument/2006/relationships/image" Target="../media/image101.png"/><Relationship Id="rId5" Type="http://schemas.openxmlformats.org/officeDocument/2006/relationships/image" Target="../media/image102.png"/><Relationship Id="rId6" Type="http://schemas.openxmlformats.org/officeDocument/2006/relationships/image" Target="../media/image82.png"/><Relationship Id="rId7" Type="http://schemas.openxmlformats.org/officeDocument/2006/relationships/image" Target="../media/image10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Relationship Id="rId6" Type="http://schemas.openxmlformats.org/officeDocument/2006/relationships/image" Target="../media/image110.png"/><Relationship Id="rId7" Type="http://schemas.openxmlformats.org/officeDocument/2006/relationships/image" Target="../media/image111.png"/><Relationship Id="rId8" Type="http://schemas.openxmlformats.org/officeDocument/2006/relationships/image" Target="../media/image112.png"/><Relationship Id="rId9" Type="http://schemas.openxmlformats.org/officeDocument/2006/relationships/image" Target="../media/image1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Relationship Id="rId4" Type="http://schemas.openxmlformats.org/officeDocument/2006/relationships/image" Target="../media/image31.png"/><Relationship Id="rId5" Type="http://schemas.openxmlformats.org/officeDocument/2006/relationships/image" Target="../media/image118.png"/><Relationship Id="rId6" Type="http://schemas.openxmlformats.org/officeDocument/2006/relationships/image" Target="../media/image119.png"/><Relationship Id="rId7" Type="http://schemas.openxmlformats.org/officeDocument/2006/relationships/image" Target="../media/image1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Relationship Id="rId3" Type="http://schemas.openxmlformats.org/officeDocument/2006/relationships/image" Target="../media/image125.png"/><Relationship Id="rId4" Type="http://schemas.openxmlformats.org/officeDocument/2006/relationships/image" Target="../media/image126.png"/><Relationship Id="rId5" Type="http://schemas.openxmlformats.org/officeDocument/2006/relationships/image" Target="../media/image118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Relationship Id="rId3" Type="http://schemas.openxmlformats.org/officeDocument/2006/relationships/image" Target="../media/image133.png"/><Relationship Id="rId4" Type="http://schemas.openxmlformats.org/officeDocument/2006/relationships/image" Target="../media/image46.png"/><Relationship Id="rId5" Type="http://schemas.openxmlformats.org/officeDocument/2006/relationships/image" Target="../media/image134.png"/><Relationship Id="rId6" Type="http://schemas.openxmlformats.org/officeDocument/2006/relationships/image" Target="../media/image135.png"/><Relationship Id="rId7" Type="http://schemas.openxmlformats.org/officeDocument/2006/relationships/image" Target="../media/image1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Relationship Id="rId4" Type="http://schemas.openxmlformats.org/officeDocument/2006/relationships/image" Target="../media/image139.png"/><Relationship Id="rId5" Type="http://schemas.openxmlformats.org/officeDocument/2006/relationships/image" Target="../media/image140.png"/><Relationship Id="rId6" Type="http://schemas.openxmlformats.org/officeDocument/2006/relationships/image" Target="../media/image141.png"/><Relationship Id="rId7" Type="http://schemas.openxmlformats.org/officeDocument/2006/relationships/image" Target="../media/image142.png"/><Relationship Id="rId8" Type="http://schemas.openxmlformats.org/officeDocument/2006/relationships/image" Target="../media/image143.png"/><Relationship Id="rId9" Type="http://schemas.openxmlformats.org/officeDocument/2006/relationships/image" Target="../media/image144.png"/><Relationship Id="rId10" Type="http://schemas.openxmlformats.org/officeDocument/2006/relationships/image" Target="../media/image145.png"/><Relationship Id="rId11" Type="http://schemas.openxmlformats.org/officeDocument/2006/relationships/image" Target="../media/image146.png"/><Relationship Id="rId12" Type="http://schemas.openxmlformats.org/officeDocument/2006/relationships/image" Target="../media/image147.png"/><Relationship Id="rId13" Type="http://schemas.openxmlformats.org/officeDocument/2006/relationships/image" Target="../media/image148.png"/><Relationship Id="rId14" Type="http://schemas.openxmlformats.org/officeDocument/2006/relationships/image" Target="../media/image149.png"/><Relationship Id="rId15" Type="http://schemas.openxmlformats.org/officeDocument/2006/relationships/image" Target="../media/image150.png"/><Relationship Id="rId16" Type="http://schemas.openxmlformats.org/officeDocument/2006/relationships/image" Target="../media/image151.png"/><Relationship Id="rId17" Type="http://schemas.openxmlformats.org/officeDocument/2006/relationships/image" Target="../media/image152.png"/><Relationship Id="rId18" Type="http://schemas.openxmlformats.org/officeDocument/2006/relationships/image" Target="../media/image153.png"/><Relationship Id="rId19" Type="http://schemas.openxmlformats.org/officeDocument/2006/relationships/image" Target="../media/image15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Coordinate-Plane Problems; Perimeter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of a figure on the coordinate plane, and a straight-line distance on a map.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6" name="Picture 15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3402663"/>
            <a:ext cx="830659" cy="27055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498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8" name="Picture 17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3402663"/>
            <a:ext cx="683514" cy="2705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22564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3402663"/>
            <a:ext cx="954071" cy="2705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0698" y="32781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3402663"/>
            <a:ext cx="1101217" cy="2705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45978" y="32781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315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far apart are </a:t>
            </a:r>
          </a:p>
        </p:txBody>
      </p:sp>
      <p:pic>
        <p:nvPicPr>
          <p:cNvPr id="9" name="Picture 8" descr="1e5bf0a274377f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976" y="1564719"/>
            <a:ext cx="1115456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68433" y="1440180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17" y="1567092"/>
            <a:ext cx="688260" cy="268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2277" y="1440180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4389" y="1440180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052828"/>
            <a:ext cx="9089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Legs of 2 m and 7 m. The hypotenuse,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510028"/>
            <a:ext cx="19095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√53 ≈ 7.3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122676"/>
            <a:ext cx="90749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in : 30 mi. Towns 2.5 in apart are how far?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579876"/>
            <a:ext cx="10191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75 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192524"/>
            <a:ext cx="27369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The rectangle </a:t>
            </a:r>
          </a:p>
        </p:txBody>
      </p:sp>
      <p:pic>
        <p:nvPicPr>
          <p:cNvPr id="19" name="Picture 18" descr="badd1a413eb604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329" y="4317063"/>
            <a:ext cx="830659" cy="2705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30498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1" name="Picture 20" descr="a52a7da6d9ceef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9050" y="4317063"/>
            <a:ext cx="683514" cy="27055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22564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ea0772b8c1a162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627" y="4317063"/>
            <a:ext cx="954071" cy="27055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10698" y="4192524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3a95cfae893827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761" y="4317063"/>
            <a:ext cx="1101217" cy="27055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45978" y="4192524"/>
            <a:ext cx="23378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its perimeter?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6040" y="4649724"/>
            <a:ext cx="14021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20 units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distance around a figure: the sum of all its sides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height of a triangle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a corner straight to the opposite side, meeting it at a right angle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straight-line 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length of the one segment between two points — on a map, straight across, not along the streets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Perimeter: every side — a slanted one by its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31351b3fe50c96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5129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82475" y="4629777"/>
            <a:ext cx="2402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slanted side:  </a:t>
            </a:r>
          </a:p>
        </p:txBody>
      </p:sp>
      <p:pic>
        <p:nvPicPr>
          <p:cNvPr id="12" name="Picture 11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24" y="4687086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68211" y="4629777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6374" y="4746109"/>
            <a:ext cx="662670" cy="241458"/>
          </a:xfrm>
          <a:prstGeom prst="rect">
            <a:avLst/>
          </a:prstGeom>
        </p:spPr>
      </p:pic>
      <p:pic>
        <p:nvPicPr>
          <p:cNvPr id="15" name="Picture 14" descr="773f0a6bae0a03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780" y="5396730"/>
            <a:ext cx="2727960" cy="277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Along the streets, or straight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6df1d0e66359e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993392"/>
            <a:ext cx="2834640" cy="28769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78806" y="4993739"/>
            <a:ext cx="1569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2" name="Picture 11" descr="eab0f25709b4c0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929" y="5104705"/>
            <a:ext cx="1387046" cy="244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97975" y="49937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0606" y="5679539"/>
            <a:ext cx="1730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5" name="Picture 14" descr="9b4c53d9bae6f4b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689" y="5736847"/>
            <a:ext cx="2623851" cy="3004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97541" y="56795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0137bb391ff62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5704" y="5793188"/>
            <a:ext cx="850471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96176" y="5679539"/>
            <a:ext cx="13218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blocks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No right angle: split it — and round once, at the end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9b174812ddca13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2059" y="1993392"/>
            <a:ext cx="2057400" cy="2057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81518" y="4179101"/>
            <a:ext cx="32763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each slanted side:  </a:t>
            </a:r>
          </a:p>
        </p:txBody>
      </p:sp>
      <p:pic>
        <p:nvPicPr>
          <p:cNvPr id="12" name="Picture 11" descr="924c351cdfb9db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9" y="4236410"/>
            <a:ext cx="2320686" cy="30048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41396" y="4179101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4" name="Picture 13" descr="8accfca2019880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9559" y="4197096"/>
            <a:ext cx="2390441" cy="421211"/>
          </a:xfrm>
          <a:prstGeom prst="rect">
            <a:avLst/>
          </a:prstGeom>
        </p:spPr>
      </p:pic>
      <p:pic>
        <p:nvPicPr>
          <p:cNvPr id="15" name="Picture 14" descr="b83bb1fe4162237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2676" y="4947872"/>
            <a:ext cx="5916168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564243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Round once, at the end: 6 + 5.8 + 5.8 = 17.6 is short.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142" y="1440180"/>
            <a:ext cx="39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DEF has corners </a:t>
            </a:r>
          </a:p>
        </p:txBody>
      </p:sp>
      <p:pic>
        <p:nvPicPr>
          <p:cNvPr id="9" name="Picture 8" descr="2b82d6ff52fd29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65" y="1560195"/>
            <a:ext cx="138188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88852" y="144018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168aa1b708cf3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9858" y="1560195"/>
            <a:ext cx="115652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8638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a02078d08fa46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2891" y="1557718"/>
            <a:ext cx="859345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162236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5" name="Picture 14" descr="g10f73fa5acbaad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7675" y="2148840"/>
            <a:ext cx="2586168" cy="31638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641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89cc993aa9783d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45864" cy="353568"/>
          </a:xfrm>
          <a:prstGeom prst="rect">
            <a:avLst/>
          </a:prstGeom>
        </p:spPr>
      </p:pic>
      <p:pic>
        <p:nvPicPr>
          <p:cNvPr id="9" name="Picture 8" descr="78be168ada708d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504944" cy="408432"/>
          </a:xfrm>
          <a:prstGeom prst="rect">
            <a:avLst/>
          </a:prstGeom>
        </p:spPr>
      </p:pic>
      <p:pic>
        <p:nvPicPr>
          <p:cNvPr id="10" name="Picture 9" descr="fbb19df952207e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297484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24 units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f7637bf1f23e2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0442" y="2238929"/>
            <a:ext cx="1173861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4303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c53dc4ab84ceb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309" y="2238929"/>
            <a:ext cx="100793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3244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751" y="2238929"/>
            <a:ext cx="718185" cy="2798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87936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perimeter of the triangle with corners</a:t>
            </a:r>
          </a:p>
        </p:txBody>
      </p:sp>
      <p:pic>
        <p:nvPicPr>
          <p:cNvPr id="9" name="Picture 8" descr="0885c1628ecce2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727" y="2236453"/>
            <a:ext cx="117633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03064" y="2116438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e1561ae894e4e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071" y="2236453"/>
            <a:ext cx="101041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4483" y="211643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e5863a5afd993e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0989" y="2236453"/>
            <a:ext cx="720661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91651" y="21164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290" y="28753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dd377e872e9d4e4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1091" y="3005978"/>
            <a:ext cx="1442180" cy="2707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43271" y="2875390"/>
            <a:ext cx="1119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b75662d7fd6f12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6034" y="3008311"/>
            <a:ext cx="1563528" cy="268366"/>
          </a:xfrm>
          <a:prstGeom prst="rect">
            <a:avLst/>
          </a:prstGeom>
        </p:spPr>
      </p:pic>
      <p:pic>
        <p:nvPicPr>
          <p:cNvPr id="19" name="Picture 18" descr="2899ab4d0ffda9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9154" y="3464511"/>
            <a:ext cx="242925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58410" y="33783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869a797ec94ecf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0687" y="3513279"/>
            <a:ext cx="725424" cy="213360"/>
          </a:xfrm>
          <a:prstGeom prst="rect">
            <a:avLst/>
          </a:prstGeom>
        </p:spPr>
      </p:pic>
      <p:pic>
        <p:nvPicPr>
          <p:cNvPr id="22" name="Picture 21" descr="b1b8042aeba401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9154" y="4016199"/>
            <a:ext cx="2380488" cy="2133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36 units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30298" y="1591967"/>
            <a:ext cx="6874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Ana's home H is at </a:t>
            </a:r>
          </a:p>
        </p:txBody>
      </p:sp>
      <p:pic>
        <p:nvPicPr>
          <p:cNvPr id="9" name="Picture 8" descr="7d14c651bb500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266" y="1711982"/>
            <a:ext cx="116395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5254" y="2277767"/>
            <a:ext cx="2899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gym G at </a:t>
            </a:r>
          </a:p>
        </p:txBody>
      </p:sp>
      <p:pic>
        <p:nvPicPr>
          <p:cNvPr id="11" name="Picture 10" descr="d3f3db88036135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7322" y="2400259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43124" y="2277767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dc0aefe51d8e6f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19" y="2986427"/>
            <a:ext cx="2926080" cy="20519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3675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along the streets? In a straight line, to the nearest tenth?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1ffce193f79756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51960" cy="350520"/>
          </a:xfrm>
          <a:prstGeom prst="rect">
            <a:avLst/>
          </a:prstGeom>
        </p:spPr>
      </p:pic>
      <p:pic>
        <p:nvPicPr>
          <p:cNvPr id="9" name="Picture 8" descr="13d4e50efd4c3b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5080"/>
            <a:ext cx="1530096" cy="277368"/>
          </a:xfrm>
          <a:prstGeom prst="rect">
            <a:avLst/>
          </a:prstGeom>
        </p:spPr>
      </p:pic>
      <p:pic>
        <p:nvPicPr>
          <p:cNvPr id="10" name="Picture 9" descr="5fa77f02f7f5d38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096767"/>
            <a:ext cx="5663184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blocks along the streets; about 8.6 blocks straight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1605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c24bc71b07f684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468" y="1699831"/>
            <a:ext cx="90144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0258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337b7924af30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083" y="2383155"/>
            <a:ext cx="11911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8279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367" y="1577340"/>
            <a:ext cx="6534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blocks, Ben's home is at </a:t>
            </a:r>
          </a:p>
        </p:txBody>
      </p:sp>
      <p:pic>
        <p:nvPicPr>
          <p:cNvPr id="9" name="Picture 8" descr="66fd2bf88109e2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230" y="1697355"/>
            <a:ext cx="90392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69020" y="2263140"/>
            <a:ext cx="2603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park at </a:t>
            </a:r>
          </a:p>
        </p:txBody>
      </p:sp>
      <p:pic>
        <p:nvPicPr>
          <p:cNvPr id="11" name="Picture 10" descr="eeb24940e898cd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844" y="2380678"/>
            <a:ext cx="119367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529517" y="2263140"/>
            <a:ext cx="49001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How far is it along the streets?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 a straight line,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27904" y="3561190"/>
            <a:ext cx="13639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4704" y="3701112"/>
            <a:ext cx="142351" cy="2100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97055" y="3561190"/>
            <a:ext cx="155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f881daf22278d3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4690" y="3701112"/>
            <a:ext cx="142351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57042" y="3561190"/>
            <a:ext cx="1753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:   streets  </a:t>
            </a:r>
          </a:p>
        </p:txBody>
      </p:sp>
      <p:pic>
        <p:nvPicPr>
          <p:cNvPr id="19" name="Picture 18" descr="9ff67c01493767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3804" y="3698779"/>
            <a:ext cx="1162145" cy="21235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27904" y="4064110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21" name="Picture 20" descr="e5ca82a6025d91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3262" y="4152692"/>
            <a:ext cx="1934575" cy="26136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667838" y="4064110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d3e2c57dc9fe8fb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0115" y="4120022"/>
            <a:ext cx="1752552" cy="36637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3561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blocks along the streets; about 8.5 blocks straight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20651465751a1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9198"/>
            <a:ext cx="139674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1483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6b8c6650b1e427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489" y="1969198"/>
            <a:ext cx="1186243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3873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4665787323d98f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5240" y="1969198"/>
            <a:ext cx="89649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173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3071986"/>
            <a:ext cx="3840480" cy="20374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9292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017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ABC has corners </a:t>
            </a:r>
          </a:p>
        </p:txBody>
      </p:sp>
      <p:pic>
        <p:nvPicPr>
          <p:cNvPr id="9" name="Picture 8" descr="91e37486c2daf4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737" y="1966722"/>
            <a:ext cx="1399222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13960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5d3ee67f1492f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966" y="1966722"/>
            <a:ext cx="1188720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368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0c98c87b1cfc68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0193" y="1966722"/>
            <a:ext cx="901446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61639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cc93785af0ed582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5853" y="3071986"/>
            <a:ext cx="3840480" cy="2037475"/>
          </a:xfrm>
          <a:prstGeom prst="rect">
            <a:avLst/>
          </a:prstGeom>
        </p:spPr>
      </p:pic>
      <p:pic>
        <p:nvPicPr>
          <p:cNvPr id="17" name="Picture 16" descr="2ad16f491f3a9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2717" y="3497221"/>
            <a:ext cx="1563624" cy="2651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46341" y="335920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bea86e4d3b7a254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8618" y="3497221"/>
            <a:ext cx="1408176" cy="265176"/>
          </a:xfrm>
          <a:prstGeom prst="rect">
            <a:avLst/>
          </a:prstGeom>
        </p:spPr>
      </p:pic>
      <p:pic>
        <p:nvPicPr>
          <p:cNvPr id="20" name="Picture 19" descr="b5a3055c75d2f9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2717" y="3948325"/>
            <a:ext cx="2429256" cy="2621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111973" y="3862124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2" name="Picture 21" descr="323e35a470aba23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4250" y="3997093"/>
            <a:ext cx="719328" cy="213360"/>
          </a:xfrm>
          <a:prstGeom prst="rect">
            <a:avLst/>
          </a:prstGeom>
        </p:spPr>
      </p:pic>
      <p:pic>
        <p:nvPicPr>
          <p:cNvPr id="23" name="Picture 22" descr="b0cd45a756bbf01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82717" y="4500013"/>
            <a:ext cx="2383536" cy="213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539292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units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4151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3028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14f1e4fdf2858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4034" y="1971675"/>
            <a:ext cx="995553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9587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1f888c65bc7e46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6094" y="1971675"/>
            <a:ext cx="681037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771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595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corners 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785" y="1971675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5505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61bb298a85bac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6511" y="1969198"/>
            <a:ext cx="998029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8454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dfcee36a543c9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1047" y="1969198"/>
            <a:ext cx="68351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8456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perimeter, to the nearest tenth.</a:t>
            </a:r>
          </a:p>
        </p:txBody>
      </p:sp>
      <p:pic>
        <p:nvPicPr>
          <p:cNvPr id="16" name="Picture 15" descr="4ecb7174b2f126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7573" y="3260295"/>
            <a:ext cx="1402080" cy="2651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89653" y="312227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8" name="Picture 17" descr="6c42fd71d3e069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930" y="3260295"/>
            <a:ext cx="1438656" cy="265176"/>
          </a:xfrm>
          <a:prstGeom prst="rect">
            <a:avLst/>
          </a:prstGeom>
        </p:spPr>
      </p:pic>
      <p:pic>
        <p:nvPicPr>
          <p:cNvPr id="19" name="Picture 18" descr="9fdb8650e92ba2d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7573" y="3711399"/>
            <a:ext cx="2066543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5411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6af8d51231c004d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394" y="3680919"/>
            <a:ext cx="1094232" cy="368808"/>
          </a:xfrm>
          <a:prstGeom prst="rect">
            <a:avLst/>
          </a:prstGeom>
        </p:spPr>
      </p:pic>
      <p:pic>
        <p:nvPicPr>
          <p:cNvPr id="22" name="Picture 21" descr="95a936965c2fc42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7573" y="4183839"/>
            <a:ext cx="284073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22.8 units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d832b4bac91533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9198"/>
            <a:ext cx="14190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0986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973c6edcb7dba7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0869" y="1969198"/>
            <a:ext cx="136207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294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9fced5befde40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950" y="1969198"/>
            <a:ext cx="889063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4301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664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4935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Triangle </a:t>
            </a:r>
          </a:p>
        </p:txBody>
      </p:sp>
      <p:pic>
        <p:nvPicPr>
          <p:cNvPr id="9" name="Picture 8" descr="a9da81e531be71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28" y="1966722"/>
            <a:ext cx="142151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12339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6c2f1763edcf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345" y="1966722"/>
            <a:ext cx="136455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17897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04b6b4f9e2e5e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8903" y="1966722"/>
            <a:ext cx="89154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50443" y="18516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has no right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perimeter.</a:t>
            </a:r>
          </a:p>
        </p:txBody>
      </p:sp>
      <p:pic>
        <p:nvPicPr>
          <p:cNvPr id="16" name="Picture 15" descr="g7e2e8b59de7d1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5993" y="3071986"/>
            <a:ext cx="2508190" cy="22132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645703" y="3447089"/>
            <a:ext cx="8830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AC:  </a:t>
            </a:r>
          </a:p>
        </p:txBody>
      </p:sp>
      <p:pic>
        <p:nvPicPr>
          <p:cNvPr id="18" name="Picture 17" descr="f99e1e60b05ca1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571" y="3535671"/>
            <a:ext cx="2310288" cy="2613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01860" y="344708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d65cbda9bdc0017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4137" y="3584677"/>
            <a:ext cx="718756" cy="21235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45703" y="3950009"/>
            <a:ext cx="8833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BC:  </a:t>
            </a:r>
          </a:p>
        </p:txBody>
      </p:sp>
      <p:pic>
        <p:nvPicPr>
          <p:cNvPr id="22" name="Picture 21" descr="4d8caafc7f3b642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871" y="4038591"/>
            <a:ext cx="2314956" cy="261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06827" y="3950009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4" name="Picture 23" descr="de21a50ad46b70b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39104" y="4087597"/>
            <a:ext cx="723423" cy="212359"/>
          </a:xfrm>
          <a:prstGeom prst="rect">
            <a:avLst/>
          </a:prstGeom>
        </p:spPr>
      </p:pic>
      <p:pic>
        <p:nvPicPr>
          <p:cNvPr id="25" name="Picture 24" descr="b5e1abcfea899e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0567" y="4587898"/>
            <a:ext cx="2566416" cy="2133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 units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8267466ea736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121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89f134f801c00f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655" y="2510773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4169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85355efc44b8aa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1631" y="2510773"/>
            <a:ext cx="1010412" cy="28232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204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19.1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triangle with corners</a:t>
            </a:r>
          </a:p>
        </p:txBody>
      </p:sp>
      <p:pic>
        <p:nvPicPr>
          <p:cNvPr id="9" name="Picture 8" descr="551393e40b0172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08296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03691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53bf76273dd0fe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131" y="2508296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9122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5cac30a7325a50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6584" y="2508296"/>
            <a:ext cx="1012888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29473" y="2390758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5" name="Picture 14" descr="266f276499f022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7761" y="3259867"/>
            <a:ext cx="165687" cy="2076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33448" y="3122278"/>
            <a:ext cx="9691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14a758a03a2f4a8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5442" y="3259867"/>
            <a:ext cx="135350" cy="2076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00792" y="3122278"/>
            <a:ext cx="2153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on grid lines</a:t>
            </a:r>
          </a:p>
        </p:txBody>
      </p:sp>
      <p:pic>
        <p:nvPicPr>
          <p:cNvPr id="19" name="Picture 18" descr="750acb3136d72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7761" y="3711399"/>
            <a:ext cx="2093976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61737" y="3625198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cba45acd94f9f2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4014" y="3680919"/>
            <a:ext cx="1103376" cy="368808"/>
          </a:xfrm>
          <a:prstGeom prst="rect">
            <a:avLst/>
          </a:prstGeom>
        </p:spPr>
      </p:pic>
      <p:pic>
        <p:nvPicPr>
          <p:cNvPr id="22" name="Picture 21" descr="3da6e9a4942eac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67761" y="4183839"/>
            <a:ext cx="2810256" cy="3688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46996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19.1 units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b381385a56012e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e6f553610f6180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6799"/>
            <a:ext cx="718185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173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551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map in blocks, the library is at </a:t>
            </a:r>
          </a:p>
        </p:txBody>
      </p:sp>
      <p:pic>
        <p:nvPicPr>
          <p:cNvPr id="9" name="Picture 8" descr="59e86e97f1b20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2452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566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pool at </a:t>
            </a:r>
          </a:p>
        </p:txBody>
      </p:sp>
      <p:pic>
        <p:nvPicPr>
          <p:cNvPr id="11" name="Picture 10" descr="4536ab029dd41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3547" y="2584323"/>
            <a:ext cx="720661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420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the straight line than the streets?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1412" y="3734926"/>
            <a:ext cx="14907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streets:  </a:t>
            </a:r>
          </a:p>
        </p:txBody>
      </p:sp>
      <p:pic>
        <p:nvPicPr>
          <p:cNvPr id="15" name="Picture 14" descr="9c44261c617b9f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5003" y="3870181"/>
            <a:ext cx="1309163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91412" y="4237846"/>
            <a:ext cx="1642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straight:  </a:t>
            </a:r>
          </a:p>
        </p:txBody>
      </p:sp>
      <p:pic>
        <p:nvPicPr>
          <p:cNvPr id="17" name="Picture 16" descr="66901e8dbd0d7c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6771" y="4326428"/>
            <a:ext cx="2429303" cy="26136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526074" y="4237846"/>
            <a:ext cx="4694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d65cbda9bdc0017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352" y="4375435"/>
            <a:ext cx="718756" cy="212359"/>
          </a:xfrm>
          <a:prstGeom prst="rect">
            <a:avLst/>
          </a:prstGeom>
        </p:spPr>
      </p:pic>
      <p:pic>
        <p:nvPicPr>
          <p:cNvPr id="20" name="Picture 19" descr="50b2058d54e97cf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6276" y="4875735"/>
            <a:ext cx="1319784" cy="213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blocks shorter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cddc938f2754fd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3249"/>
            <a:ext cx="1186243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0683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53b53c1ff7ca6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123" y="2508296"/>
            <a:ext cx="1012888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3012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5be363abca88bd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452" y="2508296"/>
            <a:ext cx="703326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5577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a073f0616c6f53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3241" y="2513249"/>
            <a:ext cx="876681" cy="2798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99922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1634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8492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5506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diagonal of the rectangle with corners</a:t>
            </a:r>
          </a:p>
        </p:txBody>
      </p:sp>
      <p:pic>
        <p:nvPicPr>
          <p:cNvPr id="9" name="Picture 8" descr="766d9171f27c16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510773"/>
            <a:ext cx="118872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23160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6abbcd38a0851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2600" y="2505820"/>
            <a:ext cx="1015365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97965" y="2390758"/>
            <a:ext cx="396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3" name="Picture 12" descr="c1f63a00e4aba7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7405" y="2505820"/>
            <a:ext cx="705802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63208" y="2390758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5" name="Picture 14" descr="c4d9a797873976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0670" y="2510773"/>
            <a:ext cx="879157" cy="2823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9828" y="239075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4721" y="3122278"/>
            <a:ext cx="13288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sides  </a:t>
            </a:r>
          </a:p>
        </p:txBody>
      </p:sp>
      <p:pic>
        <p:nvPicPr>
          <p:cNvPr id="18" name="Picture 17" descr="b3de44e021298e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6452" y="3234863"/>
            <a:ext cx="1668399" cy="3204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84851" y="3122278"/>
            <a:ext cx="1316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20" name="Picture 19" descr="f976dc64324c813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3993" y="3237626"/>
            <a:ext cx="1875567" cy="317658"/>
          </a:xfrm>
          <a:prstGeom prst="rect">
            <a:avLst/>
          </a:prstGeom>
        </p:spPr>
      </p:pic>
      <p:pic>
        <p:nvPicPr>
          <p:cNvPr id="21" name="Picture 20" descr="f26d83ebda20826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79585" y="3729782"/>
            <a:ext cx="2871216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50801" y="3661774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ff28beca06f781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0686" y="3781598"/>
            <a:ext cx="853440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15 units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6cd0cd2d13a380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71675"/>
            <a:ext cx="879157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eba37c76e917a3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6799"/>
            <a:ext cx="1005459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03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697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park map in meters, the fountain is at </a:t>
            </a:r>
          </a:p>
        </p:txBody>
      </p:sp>
      <p:pic>
        <p:nvPicPr>
          <p:cNvPr id="9" name="Picture 8" descr="2247b49f98365d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761" y="1969198"/>
            <a:ext cx="88163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34440" y="2464308"/>
            <a:ext cx="2607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gate at </a:t>
            </a:r>
          </a:p>
        </p:txBody>
      </p:sp>
      <p:pic>
        <p:nvPicPr>
          <p:cNvPr id="11" name="Picture 10" descr="de7e15c7b8d74a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4861" y="2584323"/>
            <a:ext cx="100793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1279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it straight across, to the nearest tenth?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9593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5" name="Picture 14" descr="dd377e872e9d4e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360" y="3847511"/>
            <a:ext cx="1707070" cy="3204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95430" y="3734926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7" name="Picture 16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0101" y="3850274"/>
            <a:ext cx="1660112" cy="317658"/>
          </a:xfrm>
          <a:prstGeom prst="rect">
            <a:avLst/>
          </a:prstGeom>
        </p:spPr>
      </p:pic>
      <p:pic>
        <p:nvPicPr>
          <p:cNvPr id="18" name="Picture 17" descr="91cf07a762e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4457" y="4353098"/>
            <a:ext cx="2660904" cy="304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65361" y="428509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0" name="Picture 19" descr="b009dc32ba55e7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5247" y="4297282"/>
            <a:ext cx="2459736" cy="43281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672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√106 ≈ 10.3 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890cad1d225c0e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9198"/>
            <a:ext cx="116643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0811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64a0bcb964d3ac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81846"/>
            <a:ext cx="693420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6966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c10c7ade43b947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495" y="2584323"/>
            <a:ext cx="876681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317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927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trail map in miles, the camp is at </a:t>
            </a:r>
          </a:p>
        </p:txBody>
      </p:sp>
      <p:pic>
        <p:nvPicPr>
          <p:cNvPr id="9" name="Picture 8" descr="5078aaa02558f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4380" y="1966722"/>
            <a:ext cx="1168908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328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76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lake at </a:t>
            </a:r>
          </a:p>
        </p:txBody>
      </p:sp>
      <p:pic>
        <p:nvPicPr>
          <p:cNvPr id="12" name="Picture 11" descr="560793fe7d3f04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546" y="2579370"/>
            <a:ext cx="695896" cy="28727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69442" y="2464308"/>
            <a:ext cx="3346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trailhead at </a:t>
            </a:r>
          </a:p>
        </p:txBody>
      </p:sp>
      <p:pic>
        <p:nvPicPr>
          <p:cNvPr id="14" name="Picture 13" descr="49c8c6e822b84b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8972" y="2581846"/>
            <a:ext cx="879157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58129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camp from the lake, in a straight line?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151" y="373492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8" name="Picture 17" descr="2a151f79b2b1c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3918" y="3850274"/>
            <a:ext cx="1660112" cy="3176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34030" y="373492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20" name="Picture 19" descr="d7ba9e475850f3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3947" y="3847511"/>
            <a:ext cx="1850707" cy="320421"/>
          </a:xfrm>
          <a:prstGeom prst="rect">
            <a:avLst/>
          </a:prstGeom>
        </p:spPr>
      </p:pic>
      <p:pic>
        <p:nvPicPr>
          <p:cNvPr id="21" name="Picture 20" descr="bad877a561fe219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0015" y="4342430"/>
            <a:ext cx="287426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64279" y="4274422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09a1ea0ee626ec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4165" y="4394246"/>
            <a:ext cx="847344" cy="2529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a14bf8353d2e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71675"/>
            <a:ext cx="72809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6964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052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65707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215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says the segment from </a:t>
            </a:r>
          </a:p>
        </p:txBody>
      </p:sp>
      <p:pic>
        <p:nvPicPr>
          <p:cNvPr id="9" name="Picture 8" descr="9ebcc4ac7047e3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8873" y="1969198"/>
            <a:ext cx="73056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9441" y="1851660"/>
            <a:ext cx="6872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to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529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70660" y="1851660"/>
            <a:ext cx="2399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3 units long,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because it crosses 3 grid squares.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Explain, and find its length to the nearest tenth.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749" y="3661376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6" name="Picture 15" descr="e1c78402da53da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1515" y="3785011"/>
            <a:ext cx="168497" cy="2486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30013" y="3661376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8" name="Picture 17" descr="dcd07b346f0b25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9930" y="3779486"/>
            <a:ext cx="124301" cy="248602"/>
          </a:xfrm>
          <a:prstGeom prst="rect">
            <a:avLst/>
          </a:prstGeom>
        </p:spPr>
      </p:pic>
      <p:pic>
        <p:nvPicPr>
          <p:cNvPr id="19" name="Picture 18" descr="cb8915871a8227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7613" y="4279549"/>
            <a:ext cx="2060448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938061" y="4211540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8e57f85f0236f14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7946" y="4223732"/>
            <a:ext cx="2072640" cy="4328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793708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it is the hypotenuse of a triangle with legs 3 and 1, √10 ≈ 3.2 units.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0" name="Picture 9" descr="f8df7d2fbd4127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4512" y="1570780"/>
            <a:ext cx="964360" cy="2341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8873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b490da1242b960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4960" y="1570780"/>
            <a:ext cx="725158" cy="23416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0119" y="1499019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dca74f84de6bf1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205" y="1572039"/>
            <a:ext cx="569048" cy="2316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5254" y="1499019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966953"/>
            <a:ext cx="420719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triangle </a:t>
            </a:r>
          </a:p>
        </p:txBody>
      </p:sp>
      <p:pic>
        <p:nvPicPr>
          <p:cNvPr id="18" name="Picture 17" descr="98ab927d307bab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4512" y="2038714"/>
            <a:ext cx="725158" cy="23416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49671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0" name="Picture 19" descr="1b12795c3604660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5758" y="2038714"/>
            <a:ext cx="556458" cy="23416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112217" y="1966953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047226acc1322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303" y="2038714"/>
            <a:ext cx="833429" cy="23416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51733" y="1966953"/>
            <a:ext cx="272697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2434888"/>
            <a:ext cx="494270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perimeter of the parallelogram </a:t>
            </a:r>
          </a:p>
        </p:txBody>
      </p:sp>
      <p:pic>
        <p:nvPicPr>
          <p:cNvPr id="26" name="Picture 25" descr="36f61976a2ef1ad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0024" y="2507907"/>
            <a:ext cx="989539" cy="23164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49564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8" name="Picture 27" descr="e47ee9949ebce04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5651" y="2506648"/>
            <a:ext cx="820839" cy="23416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376490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0" name="Picture 29" descr="d02d33295232874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82577" y="2507907"/>
            <a:ext cx="566530" cy="23164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149107" y="2434888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32" name="Picture 31" descr="2d42b3e817eed69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55194" y="2506648"/>
            <a:ext cx="556458" cy="23416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9911653" y="2434888"/>
            <a:ext cx="265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90282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2902822"/>
            <a:ext cx="450903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blocks, Kai's home is at </a:t>
            </a:r>
          </a:p>
        </p:txBody>
      </p:sp>
      <p:pic>
        <p:nvPicPr>
          <p:cNvPr id="36" name="Picture 35" descr="6f3371b3f4bbf6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26350" y="2974582"/>
            <a:ext cx="974432" cy="23416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900783" y="2902822"/>
            <a:ext cx="23294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his school at </a:t>
            </a:r>
          </a:p>
        </p:txBody>
      </p:sp>
      <p:pic>
        <p:nvPicPr>
          <p:cNvPr id="38" name="Picture 37" descr="4b06abb07817386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93046" y="2975841"/>
            <a:ext cx="564012" cy="23164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57058" y="2902822"/>
            <a:ext cx="16391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much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3270172"/>
            <a:ext cx="52734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shorter is the straight line than the streets?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738106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3738106"/>
            <a:ext cx="38841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map in miles, a dock is at </a:t>
            </a:r>
          </a:p>
        </p:txBody>
      </p:sp>
      <p:pic>
        <p:nvPicPr>
          <p:cNvPr id="43" name="Picture 42" descr="ede51becaffdb32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1443" y="3811126"/>
            <a:ext cx="732712" cy="23164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034156" y="3738106"/>
            <a:ext cx="224344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an island at </a:t>
            </a:r>
          </a:p>
        </p:txBody>
      </p:sp>
      <p:pic>
        <p:nvPicPr>
          <p:cNvPr id="45" name="Picture 44" descr="06d2d48467fcd0c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40443" y="3811126"/>
            <a:ext cx="815803" cy="2316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956247" y="3738106"/>
            <a:ext cx="251800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far apart are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105457"/>
            <a:ext cx="331476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they, to the nearest tenth?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57339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4480" y="4573391"/>
            <a:ext cx="30600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has corners </a:t>
            </a:r>
          </a:p>
        </p:txBody>
      </p:sp>
      <p:pic>
        <p:nvPicPr>
          <p:cNvPr id="50" name="Picture 49" descr="6d8814c221810b9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7358" y="4645152"/>
            <a:ext cx="961842" cy="23416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439201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2" name="Picture 51" descr="209a3bec006696b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645288" y="4645152"/>
            <a:ext cx="815803" cy="23416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461091" y="4573391"/>
            <a:ext cx="34324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54" name="Picture 53" descr="aee1254e09a88494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67178" y="4645152"/>
            <a:ext cx="715087" cy="23416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7382265" y="4573391"/>
            <a:ext cx="79885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56" name="Picture 55" descr="3c9a30b1926c4727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43956" y="4645152"/>
            <a:ext cx="861126" cy="23416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8905083" y="4573391"/>
            <a:ext cx="197782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How long is a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4940741"/>
            <a:ext cx="13764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diagonal?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6 — Real-World Coordinate-Plane Problems; Perimeter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find the perimeter — VGE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