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6916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B6B6B"/>
                </a:solidFill>
                <a:latin typeface="Century Schoolbook"/>
              </a:rPr>
              <a:t>GRADE 7 ACCELERATED  ·  UNIT 3  ·  LESSON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400" b="1" i="0">
                <a:solidFill>
                  <a:srgbClr val="1A1A1A"/>
                </a:solidFill>
                <a:latin typeface="Century Schoolbook"/>
              </a:rPr>
              <a:t>Writing Small Numbers in Scientific Notation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2552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3375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5021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entury Schoolbook"/>
              </a:rPr>
              <a:t>MA.8.NSO.1.4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1A1A1A"/>
                </a:solidFill>
                <a:latin typeface="Century Schoolbook"/>
              </a:rPr>
              <a:t>I can write very small numbers in scientific notation, read them back, and find how many times larger or smaller one number is than another.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4736592"/>
            <a:ext cx="7406640" cy="1051560"/>
          </a:xfrm>
          <a:prstGeom prst="rect">
            <a:avLst/>
          </a:prstGeom>
          <a:solidFill>
            <a:srgbClr val="F2F2F0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4892040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0" i="1">
                <a:solidFill>
                  <a:srgbClr val="6B6B6B"/>
                </a:solidFill>
                <a:latin typeface="Century Schoolbook"/>
              </a:rPr>
              <a:t>Yesterday the exponents on the 10 were positive.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5276088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1A1A1A"/>
                </a:solidFill>
                <a:latin typeface="Century Schoolbook"/>
              </a:rPr>
              <a:t>Today they are negative — and the numbers get very small.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On your own. Four minutes. No notes.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62497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Write  4,300,000  in scientific notation.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372868"/>
            <a:ext cx="170054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Write  </a:t>
            </a:r>
          </a:p>
        </p:txBody>
      </p:sp>
      <p:pic>
        <p:nvPicPr>
          <p:cNvPr id="11" name="Picture 10" descr="fc19434018fde66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7904" y="2461260"/>
            <a:ext cx="557784" cy="2804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995688" y="2372868"/>
            <a:ext cx="22390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 as a fraction.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2985516"/>
            <a:ext cx="7268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</a:t>
            </a:r>
          </a:p>
        </p:txBody>
      </p:sp>
      <p:pic>
        <p:nvPicPr>
          <p:cNvPr id="14" name="Picture 13" descr="c7ed55c1b213895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4171" y="3009900"/>
            <a:ext cx="688848" cy="4084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153019" y="2985516"/>
            <a:ext cx="581965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 is between which two whole numbers?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598164"/>
            <a:ext cx="450405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Write  0.007  as a fraction.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62497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Write  4,300,000  in scientific notation.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35754" y="1760220"/>
            <a:ext cx="145943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4.3 × 10</a:t>
            </a:r>
            <a:r>
              <a:rPr sz="23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372868"/>
            <a:ext cx="170054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Write  </a:t>
            </a:r>
          </a:p>
        </p:txBody>
      </p:sp>
      <p:pic>
        <p:nvPicPr>
          <p:cNvPr id="12" name="Picture 11" descr="fc19434018fde66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7904" y="2461260"/>
            <a:ext cx="557784" cy="2804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995688" y="2372868"/>
            <a:ext cx="22390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 as a fraction.</a:t>
            </a:r>
          </a:p>
        </p:txBody>
      </p:sp>
      <p:pic>
        <p:nvPicPr>
          <p:cNvPr id="14" name="Picture 13" descr="357ee64ca77eb39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6246" y="2395728"/>
            <a:ext cx="746760" cy="60045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874519" y="2985516"/>
            <a:ext cx="7268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</a:t>
            </a:r>
          </a:p>
        </p:txBody>
      </p:sp>
      <p:pic>
        <p:nvPicPr>
          <p:cNvPr id="16" name="Picture 15" descr="c7ed55c1b213895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4171" y="3009900"/>
            <a:ext cx="688848" cy="40843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153019" y="2985516"/>
            <a:ext cx="581965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 is between which two whole numbers?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84153" y="2985516"/>
            <a:ext cx="15290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9 and 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3598164"/>
            <a:ext cx="450405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Write  0.007  as a fraction.</a:t>
            </a:r>
          </a:p>
        </p:txBody>
      </p:sp>
      <p:pic>
        <p:nvPicPr>
          <p:cNvPr id="20" name="Picture 19" descr="0d671d8905812bd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0058" y="3621024"/>
            <a:ext cx="746760" cy="5974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Copy the table.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I.  Negative powers of ten name the decimal places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142999" y="2340864"/>
          <a:ext cx="9875520" cy="7680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  <a:gridCol w="164592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-1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-2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-3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-4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-5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0.1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0.01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0.001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0.0001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0.00001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12" name="Picture 11" descr="87b97c2695b4b35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4020" y="3364991"/>
            <a:ext cx="1691640" cy="6797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25660" y="3476244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4" name="Picture 13" descr="9756d439c25d70a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1651" y="3337560"/>
            <a:ext cx="3355848" cy="7345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87552" y="4410456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A negative exponent puts the 1 in that decimal place: 10</a:t>
            </a:r>
            <a:r>
              <a:rPr sz="2300" b="1" i="0" baseline="30000">
                <a:solidFill>
                  <a:srgbClr val="1A1A1A"/>
                </a:solidFill>
                <a:latin typeface="Century Schoolbook"/>
              </a:rPr>
              <a:t>-4</a:t>
            </a:r>
            <a:r>
              <a:rPr sz="2300" b="1" i="0">
                <a:solidFill>
                  <a:srgbClr val="1A1A1A"/>
                </a:solidFill>
                <a:latin typeface="Century Schoolbook"/>
              </a:rPr>
              <a:t> is a 1 in the fourth place.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II.  Small numbers in scientific notation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7b164213b9232e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1792" y="2369820"/>
            <a:ext cx="3233928" cy="3535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205720" y="2318004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2" name="Picture 11" descr="a5d136b823d619f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1711" y="2369820"/>
            <a:ext cx="3938016" cy="353568"/>
          </a:xfrm>
          <a:prstGeom prst="rect">
            <a:avLst/>
          </a:prstGeom>
        </p:spPr>
      </p:pic>
      <p:pic>
        <p:nvPicPr>
          <p:cNvPr id="13" name="Picture 12" descr="40f6cd0eb0ebc88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8391" y="3058668"/>
            <a:ext cx="4364736" cy="3474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7552" y="3776472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The coefficient is still at least 1 and less than 10. The exponent is negative for a number less than 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4983480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The exponent is how many places the point moves: 0.0000672 → 6.72 is five places right, so 10</a:t>
            </a:r>
            <a:r>
              <a:rPr sz="2300" b="0" i="0" baseline="30000">
                <a:solidFill>
                  <a:srgbClr val="1A1A1A"/>
                </a:solidFill>
                <a:latin typeface="Century Schoolbook"/>
              </a:rPr>
              <a:t>-5</a:t>
            </a:r>
            <a:r>
              <a:rPr sz="23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III.  How many times larger — or smaller?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1960a542aafe9c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4276" y="2340864"/>
            <a:ext cx="4556760" cy="8229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91036" y="2523744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2" name="Picture 11" descr="a13ef6adfb19a5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027" y="2340864"/>
            <a:ext cx="2490216" cy="8229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87552" y="3502151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Divide the coefficients. Divide the powers of 10 — subtract the exponents. Multiply the results.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4709160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Which is bigger, 10</a:t>
            </a:r>
            <a:r>
              <a:rPr sz="2300" b="0" i="0" baseline="30000">
                <a:solidFill>
                  <a:srgbClr val="1A1A1A"/>
                </a:solidFill>
                <a:latin typeface="Century Schoolbook"/>
              </a:rPr>
              <a:t>-5</a:t>
            </a:r>
            <a:r>
              <a:rPr sz="2300" b="0" i="0">
                <a:solidFill>
                  <a:srgbClr val="1A1A1A"/>
                </a:solidFill>
                <a:latin typeface="Century Schoolbook"/>
              </a:rPr>
              <a:t> or 10</a:t>
            </a:r>
            <a:r>
              <a:rPr sz="2300" b="0" i="0" baseline="30000">
                <a:solidFill>
                  <a:srgbClr val="1A1A1A"/>
                </a:solidFill>
                <a:latin typeface="Century Schoolbook"/>
              </a:rPr>
              <a:t>-8</a:t>
            </a:r>
            <a:r>
              <a:rPr sz="2300" b="0" i="0">
                <a:solidFill>
                  <a:srgbClr val="1A1A1A"/>
                </a:solidFill>
                <a:latin typeface="Century Schoolbook"/>
              </a:rPr>
              <a:t>? The one with the larger exponent: −5 &gt; −8, so 10</a:t>
            </a:r>
            <a:r>
              <a:rPr sz="2300" b="0" i="0" baseline="30000">
                <a:solidFill>
                  <a:srgbClr val="1A1A1A"/>
                </a:solidFill>
                <a:latin typeface="Century Schoolbook"/>
              </a:rPr>
              <a:t>-5</a:t>
            </a:r>
            <a:r>
              <a:rPr sz="23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 quantity in words, to scientific notation.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1060704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The density of oxygen is 1,332 millionths of a gram per cubic centimeter.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7158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Write this value as a decimal, then in scientific notation.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8</a:t>
            </a:r>
          </a:p>
        </p:txBody>
      </p:sp>
      <p:pic>
        <p:nvPicPr>
          <p:cNvPr id="9" name="Picture 8" descr="3795759730f8e37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3590544" cy="792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76544" y="2087880"/>
            <a:ext cx="5507735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1,332 millionths, as a decimal</a:t>
            </a:r>
          </a:p>
        </p:txBody>
      </p:sp>
      <p:pic>
        <p:nvPicPr>
          <p:cNvPr id="11" name="Picture 10" descr="e86600eaee99ccc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987040"/>
            <a:ext cx="3938016" cy="3505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24016" y="2933700"/>
            <a:ext cx="5160263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the 1 is in the thousandths place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0.001332 = 1.332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A human hair is about 67 hundred-thousandths of an inch thick.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3365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Write this value in scientific notation.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A human hair is about 67 hundred-thousandths of an inch thick.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3365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Write this value in scientific notation.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7275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0.00067 — the 6 is in the ten-thousandths place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6.7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How many times larger?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9191" y="2080260"/>
            <a:ext cx="455806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How many times larger is  </a:t>
            </a:r>
          </a:p>
        </p:txBody>
      </p:sp>
      <p:pic>
        <p:nvPicPr>
          <p:cNvPr id="10" name="Picture 9" descr="ee4e609945ec82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0096" y="2133599"/>
            <a:ext cx="1621536" cy="35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41632" y="2080260"/>
            <a:ext cx="13562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than  </a:t>
            </a:r>
          </a:p>
        </p:txBody>
      </p:sp>
      <p:pic>
        <p:nvPicPr>
          <p:cNvPr id="12" name="Picture 11" descr="dee1eef8fb06ad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0684" y="2136648"/>
            <a:ext cx="1575816" cy="34442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336500" y="2080260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12</a:t>
            </a:r>
          </a:p>
        </p:txBody>
      </p:sp>
      <p:pic>
        <p:nvPicPr>
          <p:cNvPr id="9" name="Picture 8" descr="59c7818cbaac33b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1152144" cy="685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438144" y="2034540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coefficients</a:t>
            </a:r>
          </a:p>
        </p:txBody>
      </p:sp>
      <p:pic>
        <p:nvPicPr>
          <p:cNvPr id="11" name="Picture 10" descr="6b497f46afc4e7f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880360"/>
            <a:ext cx="3721608" cy="8107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07608" y="3057144"/>
            <a:ext cx="5376671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powers of 10: −4 − (−7) = 3</a:t>
            </a:r>
          </a:p>
        </p:txBody>
      </p:sp>
      <p:pic>
        <p:nvPicPr>
          <p:cNvPr id="13" name="Picture 12" descr="60571d6036a338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965448"/>
            <a:ext cx="2450592" cy="39928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736592" y="3936492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multiply the two results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2193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4,000 times larger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235" y="2185415"/>
            <a:ext cx="455806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How many times larger is  </a:t>
            </a:r>
          </a:p>
        </p:txBody>
      </p:sp>
      <p:pic>
        <p:nvPicPr>
          <p:cNvPr id="10" name="Picture 9" descr="496ffc9a205d258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0140" y="2196083"/>
            <a:ext cx="2005584" cy="4358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15724" y="2185415"/>
            <a:ext cx="13562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than  </a:t>
            </a:r>
          </a:p>
        </p:txBody>
      </p:sp>
      <p:pic>
        <p:nvPicPr>
          <p:cNvPr id="12" name="Picture 11" descr="a82e6bba98260e6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4776" y="2194560"/>
            <a:ext cx="2011680" cy="4389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746456" y="2185415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7711" y="2183892"/>
            <a:ext cx="455806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How many times larger is  </a:t>
            </a:r>
          </a:p>
        </p:txBody>
      </p:sp>
      <p:pic>
        <p:nvPicPr>
          <p:cNvPr id="10" name="Picture 9" descr="2496b86a473803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8616" y="2194560"/>
            <a:ext cx="2008632" cy="4358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17248" y="2183892"/>
            <a:ext cx="13562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than  </a:t>
            </a:r>
          </a:p>
        </p:txBody>
      </p:sp>
      <p:pic>
        <p:nvPicPr>
          <p:cNvPr id="12" name="Picture 11" descr="8ceadc81776217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6300" y="2194560"/>
            <a:ext cx="2011680" cy="4358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747980" y="2183892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95046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2 ×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200,000 times larger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15</a:t>
            </a:r>
          </a:p>
        </p:txBody>
      </p:sp>
      <p:pic>
        <p:nvPicPr>
          <p:cNvPr id="9" name="Picture 8" descr="1f36aa11b2dfcf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3371" y="2194560"/>
            <a:ext cx="874776" cy="4328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Write it as a decimal.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16</a:t>
            </a:r>
          </a:p>
        </p:txBody>
      </p:sp>
      <p:pic>
        <p:nvPicPr>
          <p:cNvPr id="9" name="Picture 8" descr="043ff5c9055650f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3371" y="2103120"/>
            <a:ext cx="874776" cy="426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804160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a 1 in the fourth decimal place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0.0001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Write  0.003  in scientific notation.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Which place is the 3 in?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Write  0.003  in scientific notation.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72371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3 thousandths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3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36153" y="2171700"/>
            <a:ext cx="13110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Write  </a:t>
            </a:r>
          </a:p>
        </p:txBody>
      </p:sp>
      <p:pic>
        <p:nvPicPr>
          <p:cNvPr id="10" name="Picture 9" descr="f7e39139daee107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0034" y="2225040"/>
            <a:ext cx="1618488" cy="35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28522" y="2171700"/>
            <a:ext cx="32340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in standard form.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Move the point four places left.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36153" y="2080260"/>
            <a:ext cx="13110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Write  </a:t>
            </a:r>
          </a:p>
        </p:txBody>
      </p:sp>
      <p:pic>
        <p:nvPicPr>
          <p:cNvPr id="10" name="Picture 9" descr="533d0b83fdac28f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0034" y="2132076"/>
            <a:ext cx="1618488" cy="3535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28522" y="2080260"/>
            <a:ext cx="32340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in standard form.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83463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the 2 lands in the ten-thousandths place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0.00025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A machine's cutting tolerance is  0.0000988  inch.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The part it cuts is 4 inches long.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9527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Write the tolerance in scientific notation.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A machine's cutting tolerance is  0.0000988  inch.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The part it cuts is 4 inches long.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9527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Write the tolerance in scientific notation.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583255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the 9 is in the hundred-thousandths place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9.88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 0.00081  written in scientific notation?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8608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8.1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8608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8.1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81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8.1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55251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 0.00081  written in scientific notation?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7694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8.1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7694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8.1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4552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81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4552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D.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8.1 × 10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-4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D — 8.1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97895" y="2171700"/>
            <a:ext cx="455806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How many times larger is  </a:t>
            </a:r>
          </a:p>
        </p:txBody>
      </p:sp>
      <p:pic>
        <p:nvPicPr>
          <p:cNvPr id="10" name="Picture 9" descr="6343b50271775d7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8800" y="2225040"/>
            <a:ext cx="1298448" cy="35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17248" y="2171700"/>
            <a:ext cx="13562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than  </a:t>
            </a:r>
          </a:p>
        </p:txBody>
      </p:sp>
      <p:pic>
        <p:nvPicPr>
          <p:cNvPr id="12" name="Picture 11" descr="c3e8fbaa365da3f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6300" y="2223516"/>
            <a:ext cx="1301496" cy="3535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037796" y="2171700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97180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97180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65760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65760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0.03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66344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93323" y="2080260"/>
            <a:ext cx="455806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How many times larger is  </a:t>
            </a:r>
          </a:p>
        </p:txBody>
      </p:sp>
      <p:pic>
        <p:nvPicPr>
          <p:cNvPr id="10" name="Picture 9" descr="e98b31f32f5b097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4228" y="2133599"/>
            <a:ext cx="1304544" cy="35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18772" y="2080260"/>
            <a:ext cx="13562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than  </a:t>
            </a:r>
          </a:p>
        </p:txBody>
      </p:sp>
      <p:pic>
        <p:nvPicPr>
          <p:cNvPr id="12" name="Picture 11" descr="ccaef7e81c68392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7824" y="2132076"/>
            <a:ext cx="1304544" cy="3535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042368" y="2080260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88036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A.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300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88036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56616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56616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0.03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A — 300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00756" y="2171700"/>
            <a:ext cx="31660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Which is greater,  </a:t>
            </a:r>
          </a:p>
        </p:txBody>
      </p:sp>
      <p:pic>
        <p:nvPicPr>
          <p:cNvPr id="10" name="Picture 9" descr="746391bb3aa389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658" y="2223516"/>
            <a:ext cx="1600200" cy="3535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029858" y="2171700"/>
            <a:ext cx="92984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or  </a:t>
            </a:r>
          </a:p>
        </p:txBody>
      </p:sp>
      <p:pic>
        <p:nvPicPr>
          <p:cNvPr id="12" name="Picture 11" descr="9027aa45f8c131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2544" y="2225040"/>
            <a:ext cx="1612392" cy="350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434936" y="2171700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Compare the exponents first.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97708" y="2080260"/>
            <a:ext cx="31660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Which is greater,  </a:t>
            </a:r>
          </a:p>
        </p:txBody>
      </p:sp>
      <p:pic>
        <p:nvPicPr>
          <p:cNvPr id="10" name="Picture 9" descr="df917c83e179d4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6610" y="2132076"/>
            <a:ext cx="1606296" cy="3535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032906" y="2080260"/>
            <a:ext cx="92984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or  </a:t>
            </a:r>
          </a:p>
        </p:txBody>
      </p:sp>
      <p:pic>
        <p:nvPicPr>
          <p:cNvPr id="12" name="Picture 11" descr="1a294302f9ade9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5592" y="2133599"/>
            <a:ext cx="1612392" cy="350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437984" y="2080260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83463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−5 &gt; −8, so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-5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is the larger power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3.9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A computer displays a number as  4.2E−6.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6943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Write the number in standard form.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E−6 means × 10</a:t>
            </a:r>
            <a:r>
              <a:rPr sz="1900" b="0" i="1" baseline="30000">
                <a:solidFill>
                  <a:srgbClr val="6B6B6B"/>
                </a:solidFill>
                <a:latin typeface="Century Schoolbook"/>
              </a:rPr>
              <a:t>-6</a:t>
            </a:r>
            <a:r>
              <a:rPr sz="1900" b="0" i="1">
                <a:solidFill>
                  <a:srgbClr val="6B6B6B"/>
                </a:solidFill>
                <a:latin typeface="Century Schoolbook"/>
              </a:rPr>
              <a:t>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A computer displays a number as  4.2E−6.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7799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Write the number in standard form.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298598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4.2 ×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-6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0.0000042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Take your time. Boards up when you have written it.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7665" y="2171700"/>
            <a:ext cx="30629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Fishing line A is  </a:t>
            </a:r>
          </a:p>
        </p:txBody>
      </p:sp>
      <p:pic>
        <p:nvPicPr>
          <p:cNvPr id="10" name="Picture 9" descr="24f5c2a7f64db6c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3499" y="2226564"/>
            <a:ext cx="1313688" cy="3474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17187" y="2171700"/>
            <a:ext cx="21038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inch thick.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9189" y="2857500"/>
            <a:ext cx="30629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Fishing line B is  </a:t>
            </a:r>
          </a:p>
        </p:txBody>
      </p:sp>
      <p:pic>
        <p:nvPicPr>
          <p:cNvPr id="13" name="Picture 12" descr="66c17032647eb85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023" y="2912364"/>
            <a:ext cx="1310640" cy="3474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15663" y="2857500"/>
            <a:ext cx="21038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inch thick.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56616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0" i="0">
                <a:solidFill>
                  <a:srgbClr val="1A1A1A"/>
                </a:solidFill>
                <a:latin typeface="Century Schoolbook"/>
              </a:rPr>
              <a:t>Which is thicker, and how many times? Name a thickness between them.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Write your answer in sentences.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Same power of 10 — compare the coefficients.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6141" y="2080260"/>
            <a:ext cx="30629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Fishing line A is  </a:t>
            </a:r>
          </a:p>
        </p:txBody>
      </p:sp>
      <p:pic>
        <p:nvPicPr>
          <p:cNvPr id="10" name="Picture 9" descr="77a4d57c92c152c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1975" y="2135124"/>
            <a:ext cx="1316736" cy="3474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18711" y="2080260"/>
            <a:ext cx="21038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inch thick.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6141" y="2766060"/>
            <a:ext cx="30629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Fishing line B is  </a:t>
            </a:r>
          </a:p>
        </p:txBody>
      </p:sp>
      <p:pic>
        <p:nvPicPr>
          <p:cNvPr id="13" name="Picture 12" descr="ecebfbd77cf00b5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1975" y="2820924"/>
            <a:ext cx="1316736" cy="3474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18711" y="2766060"/>
            <a:ext cx="21038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inch thick.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47472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0" i="0">
                <a:solidFill>
                  <a:srgbClr val="1A1A1A"/>
                </a:solidFill>
                <a:latin typeface="Century Schoolbook"/>
              </a:rPr>
              <a:t>Which is thicker, and how many times? Name a thickness between them.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041648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0.02 in and 0.06 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773168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B; 3 times; e.g. 4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-2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in.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Six questions. On your own, in silence.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01168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Six questions. Work down the page.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5117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51176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Show the step that does the work, not just the answer.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90672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090672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Silence until the six minutes are up.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Last five minutes.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Open IXL and start today's skills.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Work on paper where the question needs work. The answer box does not show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Every skill listed is required, to a SmartScore of 67. Due at the start of the next class.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Century Schoolbook"/>
              </a:rPr>
              <a:t>Today's skills — all 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Convert between standard and scientific notation: small numbers — 85M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Compare small numbers — KDR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5166360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Powers of ten with negative exponents — SKD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