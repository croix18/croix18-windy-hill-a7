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Product Laws of Exponents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MA.7.NSO.1.1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use the product of powers, power of a product, power of a power and identity laws to rewrite and evaluate a numerical expression.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720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9" name="Picture 8" descr="0ae0cbe9590d6d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65" y="1464564"/>
            <a:ext cx="688848" cy="408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052828"/>
            <a:ext cx="61639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Between which two whole numbers is </a:t>
            </a:r>
          </a:p>
        </p:txBody>
      </p:sp>
      <p:pic>
        <p:nvPicPr>
          <p:cNvPr id="11" name="Picture 10" descr="bab7398c9b21b5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1346" y="2077212"/>
            <a:ext cx="688848" cy="4084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90194" y="2052828"/>
            <a:ext cx="347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665476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4" name="Picture 13" descr="d836f789d79888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368" y="2778252"/>
            <a:ext cx="1402080" cy="2316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3349752"/>
            <a:ext cx="21904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  </a:t>
            </a:r>
          </a:p>
        </p:txBody>
      </p:sp>
      <p:pic>
        <p:nvPicPr>
          <p:cNvPr id="16" name="Picture 15" descr="ec4478436d606e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95" y="3300984"/>
            <a:ext cx="637032" cy="5547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720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9" name="Picture 8" descr="0ae0cbe9590d6d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65" y="1464564"/>
            <a:ext cx="688848" cy="408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95453" y="1440180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052828"/>
            <a:ext cx="61639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Between which two whole numbers is </a:t>
            </a:r>
          </a:p>
        </p:txBody>
      </p:sp>
      <p:pic>
        <p:nvPicPr>
          <p:cNvPr id="12" name="Picture 11" descr="bab7398c9b21b5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1346" y="2077212"/>
            <a:ext cx="688848" cy="4084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90194" y="2052828"/>
            <a:ext cx="347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49446" y="2052828"/>
            <a:ext cx="13513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6 and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665476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6" name="Picture 15" descr="d836f789d79888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368" y="2778252"/>
            <a:ext cx="1402080" cy="2316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40088" y="2665476"/>
            <a:ext cx="9426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x =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349752"/>
            <a:ext cx="21904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  </a:t>
            </a:r>
          </a:p>
        </p:txBody>
      </p:sp>
      <p:pic>
        <p:nvPicPr>
          <p:cNvPr id="19" name="Picture 18" descr="ec4478436d606e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95" y="3300984"/>
            <a:ext cx="637032" cy="554736"/>
          </a:xfrm>
          <a:prstGeom prst="rect">
            <a:avLst/>
          </a:prstGeom>
        </p:spPr>
      </p:pic>
      <p:pic>
        <p:nvPicPr>
          <p:cNvPr id="20" name="Picture 19" descr="3a92952d92bb77a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3467" y="3300984"/>
            <a:ext cx="170688" cy="5577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A power is a shorthand for repeated multiplication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50392" y="1975104"/>
            <a:ext cx="10405872" cy="585216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057400"/>
            <a:ext cx="9537192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B5394"/>
                </a:solidFill>
                <a:latin typeface="Century Schoolbook"/>
              </a:rPr>
              <a:t>base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   —   the number used as a factor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" y="2706624"/>
            <a:ext cx="10405872" cy="585216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788920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2788920"/>
            <a:ext cx="9537192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B5394"/>
                </a:solidFill>
                <a:latin typeface="Century Schoolbook"/>
              </a:rPr>
              <a:t>exponent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   —   how many times the base is a factor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" y="3438144"/>
            <a:ext cx="10405872" cy="585216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520439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3520439"/>
            <a:ext cx="9537192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B5394"/>
                </a:solidFill>
                <a:latin typeface="Century Schoolbook"/>
              </a:rPr>
              <a:t>power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   —   the whole thing, base and exponent together</a:t>
            </a:r>
          </a:p>
        </p:txBody>
      </p:sp>
      <p:pic>
        <p:nvPicPr>
          <p:cNvPr id="19" name="Picture 18" descr="0ab145e8ca7379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500" y="4361688"/>
            <a:ext cx="2410968" cy="34442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586468" y="4305300"/>
            <a:ext cx="9885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</a:t>
            </a:r>
          </a:p>
        </p:txBody>
      </p:sp>
      <p:pic>
        <p:nvPicPr>
          <p:cNvPr id="21" name="Picture 20" descr="3b6b0e0ba8659f8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891" y="4187952"/>
            <a:ext cx="2548128" cy="6918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Product of powers — same base, add the exponents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979221dae3c66b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536" y="1993392"/>
            <a:ext cx="4346448" cy="411480"/>
          </a:xfrm>
          <a:prstGeom prst="rect">
            <a:avLst/>
          </a:prstGeom>
        </p:spPr>
      </p:pic>
      <p:pic>
        <p:nvPicPr>
          <p:cNvPr id="11" name="Picture 10" descr="3ebe349f0ffa36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2781" y="2680716"/>
            <a:ext cx="3596640" cy="4084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69421" y="2656332"/>
            <a:ext cx="53564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— different bases, no shortcut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3387852"/>
            <a:ext cx="34192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Product of powers:  </a:t>
            </a:r>
          </a:p>
        </p:txBody>
      </p:sp>
      <p:pic>
        <p:nvPicPr>
          <p:cNvPr id="14" name="Picture 13" descr="90652a6387118d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9655" y="3462528"/>
            <a:ext cx="2313432" cy="3078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7552" y="4055363"/>
            <a:ext cx="30884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Check with values:  </a:t>
            </a:r>
          </a:p>
        </p:txBody>
      </p:sp>
      <p:pic>
        <p:nvPicPr>
          <p:cNvPr id="16" name="Picture 15" descr="381f7ba218ba42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8837" y="4107179"/>
            <a:ext cx="3934968" cy="3535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Power of a product — the exponent goes to every factor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ba972b1c36f6d1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411" y="1994916"/>
            <a:ext cx="8616696" cy="408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2702052"/>
            <a:ext cx="35301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Power of a product:  </a:t>
            </a:r>
          </a:p>
        </p:txBody>
      </p:sp>
      <p:pic>
        <p:nvPicPr>
          <p:cNvPr id="12" name="Picture 11" descr="7d1b404025905c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559" y="2756916"/>
            <a:ext cx="2420112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52" y="341071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Works for a product only, never for a sum:</a:t>
            </a:r>
          </a:p>
        </p:txBody>
      </p:sp>
      <p:pic>
        <p:nvPicPr>
          <p:cNvPr id="14" name="Picture 13" descr="6a79f5fbe0b8b3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125468"/>
            <a:ext cx="3739896" cy="4084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27448" y="4101083"/>
            <a:ext cx="12086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 but   </a:t>
            </a:r>
          </a:p>
        </p:txBody>
      </p:sp>
      <p:pic>
        <p:nvPicPr>
          <p:cNvPr id="16" name="Picture 15" descr="25abd5cd359cd53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8891" y="4125468"/>
            <a:ext cx="2840736" cy="4084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IV.  Power of a power, and the exponent 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325879" y="1993392"/>
          <a:ext cx="9509760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/>
                <a:gridCol w="4206240"/>
                <a:gridCol w="23774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A1A1A"/>
                          </a:solidFill>
                          <a:latin typeface="Century Schoolbook"/>
                        </a:rPr>
                        <a:t>Power of a power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A1A1A"/>
                          </a:solidFill>
                          <a:latin typeface="Century Schoolbook"/>
                        </a:rPr>
                        <a:t>Repeated multiplication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A1A1A"/>
                          </a:solidFill>
                          <a:latin typeface="Century Schoolbook"/>
                        </a:rPr>
                        <a:t>Single power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(4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 · 4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 · 4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(10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 · 10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 · 10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 · 10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(3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3 · 3 · 3 · 3 · 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87552" y="3781044"/>
            <a:ext cx="32480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Power of a power:  </a:t>
            </a:r>
          </a:p>
        </p:txBody>
      </p:sp>
      <p:pic>
        <p:nvPicPr>
          <p:cNvPr id="12" name="Picture 11" descr="3ba570017fc9cc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435" y="3835908"/>
            <a:ext cx="1837943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36379" y="3781044"/>
            <a:ext cx="24864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        Identity:  </a:t>
            </a:r>
          </a:p>
        </p:txBody>
      </p:sp>
      <p:pic>
        <p:nvPicPr>
          <p:cNvPr id="14" name="Picture 13" descr="61e89ca5117b4f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5661" y="3838956"/>
            <a:ext cx="975360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8" name="Picture 7" descr="662f7ef757f30a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0512" y="2136648"/>
            <a:ext cx="920495" cy="3444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0175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Which law? Then find the value.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8" name="Picture 7" descr="1638dccdf2248b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877312" cy="347472"/>
          </a:xfrm>
          <a:prstGeom prst="rect">
            <a:avLst/>
          </a:prstGeom>
        </p:spPr>
      </p:pic>
      <p:pic>
        <p:nvPicPr>
          <p:cNvPr id="9" name="Picture 8" descr="4bce5fcbc09ba5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42032"/>
            <a:ext cx="1335024" cy="347472"/>
          </a:xfrm>
          <a:prstGeom prst="rect">
            <a:avLst/>
          </a:prstGeom>
        </p:spPr>
      </p:pic>
      <p:pic>
        <p:nvPicPr>
          <p:cNvPr id="10" name="Picture 9" descr="939d17ddf54fca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163823"/>
            <a:ext cx="1810512" cy="2865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243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8" name="Picture 7" descr="0dfb72a0f6508b3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020" y="2194560"/>
            <a:ext cx="1173480" cy="426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124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Which law? Then find the value.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8" name="Picture 7" descr="f61491015b87f3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020" y="2194560"/>
            <a:ext cx="1173480" cy="420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11810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Which law? Then find the value.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7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8" name="Picture 7" descr="111bd13923d7f5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872" y="2103120"/>
            <a:ext cx="1255776" cy="411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0175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Which law? Then find the value.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8" name="Picture 7" descr="996ff584766950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187952" cy="411480"/>
          </a:xfrm>
          <a:prstGeom prst="rect">
            <a:avLst/>
          </a:prstGeom>
        </p:spPr>
      </p:pic>
      <p:pic>
        <p:nvPicPr>
          <p:cNvPr id="9" name="Picture 8" descr="816ea1a633337a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6040"/>
            <a:ext cx="1697736" cy="411480"/>
          </a:xfrm>
          <a:prstGeom prst="rect">
            <a:avLst/>
          </a:prstGeom>
        </p:spPr>
      </p:pic>
      <p:pic>
        <p:nvPicPr>
          <p:cNvPr id="10" name="Picture 9" descr="ed67bc8f2938c1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91840"/>
            <a:ext cx="1697736" cy="4053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8" name="Picture 7" descr="bb2905f7bc6949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194560"/>
            <a:ext cx="1554480" cy="518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156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Which law? Then find the value.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8" name="Picture 7" descr="44c6670a1f9083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1996" y="2194560"/>
            <a:ext cx="1557528" cy="518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156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Which law? Then find the value.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(−3)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729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8" name="Picture 7" descr="7a6e349cb42101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3163" y="2194560"/>
            <a:ext cx="1155192" cy="4328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pic>
        <p:nvPicPr>
          <p:cNvPr id="8" name="Picture 7" descr="c64ca1a4dc51bf5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639" y="2103120"/>
            <a:ext cx="1158240" cy="429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20995" y="4604003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0" name="Picture 9" descr="fb5a5ab64e7e78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235" y="4663440"/>
            <a:ext cx="399288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4405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rectangle is  </a:t>
            </a:r>
          </a:p>
        </p:txBody>
      </p:sp>
      <p:pic>
        <p:nvPicPr>
          <p:cNvPr id="9" name="Picture 8" descr="d5ca6e2822ee53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7866" y="1941575"/>
            <a:ext cx="268224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806090" y="1851660"/>
            <a:ext cx="36999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centimeters long and  </a:t>
            </a:r>
          </a:p>
        </p:txBody>
      </p:sp>
      <p:pic>
        <p:nvPicPr>
          <p:cNvPr id="11" name="Picture 10" descr="ad43ae3bbc8b22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8898" y="1943100"/>
            <a:ext cx="268224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37122" y="1851660"/>
            <a:ext cx="30237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centimeters wide.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Its perimeter is 40 centimeters.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What is the area of the rectangle, in square centimeters?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4405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rectangle is  </a:t>
            </a:r>
          </a:p>
        </p:txBody>
      </p:sp>
      <p:pic>
        <p:nvPicPr>
          <p:cNvPr id="9" name="Picture 8" descr="5257a77d61b891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7866" y="1943100"/>
            <a:ext cx="27432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812186" y="1851660"/>
            <a:ext cx="36999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centimeters long and  </a:t>
            </a:r>
          </a:p>
        </p:txBody>
      </p:sp>
      <p:pic>
        <p:nvPicPr>
          <p:cNvPr id="11" name="Picture 10" descr="fcc0337caf95aa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994" y="1943100"/>
            <a:ext cx="271272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46266" y="1851660"/>
            <a:ext cx="30237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centimeters wide.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Its perimeter is 40 centimeters.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What is the area of the rectangle, in square centimeters?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64 square centimeters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8" name="Picture 7" descr="0682cf5d6aba1b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728" y="2194560"/>
            <a:ext cx="1274064" cy="512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8" name="Picture 7" descr="b6b82c3fc17cdb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79" y="2103120"/>
            <a:ext cx="1280160" cy="5151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1000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8" name="Picture 7" descr="d3482028085e50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748" y="2194560"/>
            <a:ext cx="954023" cy="518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8" name="Picture 7" descr="35097bf00c93665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748" y="2103120"/>
            <a:ext cx="954023" cy="518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20995" y="4604003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0" name="Picture 9" descr="46595cae23e895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235" y="4663440"/>
            <a:ext cx="399288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8" name="Picture 7" descr="fba9bd10890881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971" y="2194560"/>
            <a:ext cx="1179576" cy="426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4988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0783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8" name="Picture 7" descr="fc3793d359b5c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9448" y="2103120"/>
            <a:ext cx="1182624" cy="4236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55392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42171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42171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10751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10751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D.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4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1335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D — 4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8" name="Picture 7" descr="806ea7b0be26cf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748" y="2194560"/>
            <a:ext cx="954023" cy="518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9413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6076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6076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93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93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9927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8" name="Picture 7" descr="0fac146190426f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2223" y="2103120"/>
            <a:ext cx="957072" cy="518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4987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C.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2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0783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C —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8" name="Picture 7" descr="80e874aaffdac4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556" y="2194560"/>
            <a:ext cx="2502408" cy="518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8" name="Picture 7" descr="5b98b742702029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1" y="2103120"/>
            <a:ext cx="2505456" cy="518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−27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8" name="Picture 7" descr="f58654af4b9460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3376" y="2194560"/>
            <a:ext cx="2334768" cy="853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pic>
        <p:nvPicPr>
          <p:cNvPr id="8" name="Picture 7" descr="a9bbd2622d9f15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00" y="2103120"/>
            <a:ext cx="2331720" cy="8503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64607" y="4817363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0" name="Picture 9" descr="08b8d08dca6c51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4663440"/>
            <a:ext cx="512064" cy="85648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Aiyanna says she can use the power of a product 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7912" y="2746579"/>
            <a:ext cx="21902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to evaluate  </a:t>
            </a:r>
          </a:p>
        </p:txBody>
      </p:sp>
      <p:pic>
        <p:nvPicPr>
          <p:cNvPr id="10" name="Picture 9" descr="c4163b4848547f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030" y="2769439"/>
            <a:ext cx="1938528" cy="411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89558" y="2746579"/>
            <a:ext cx="25112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Is she right?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Aiyanna says she can use the power of a product 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6388" y="2655139"/>
            <a:ext cx="21902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to evaluate  </a:t>
            </a:r>
          </a:p>
        </p:txBody>
      </p:sp>
      <p:pic>
        <p:nvPicPr>
          <p:cNvPr id="10" name="Picture 9" descr="45831de1d391fe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506" y="2679523"/>
            <a:ext cx="1941576" cy="408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91082" y="2655139"/>
            <a:ext cx="25112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Is she right?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No — (10 + (−2))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8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512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Evaluate powers — SZQ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Multiplication with exponents — 5SK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Power rule — 8DA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495544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Understanding exponents — BFA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