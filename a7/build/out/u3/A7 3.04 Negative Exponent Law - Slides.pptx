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6916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Century Schoolbook"/>
              </a:rPr>
              <a:t>GRADE 7 ACCELERATED  ·  UNIT 3  ·  LESSON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1" i="0">
                <a:solidFill>
                  <a:srgbClr val="1A1A1A"/>
                </a:solidFill>
                <a:latin typeface="Century Schoolbook"/>
              </a:rPr>
              <a:t>Negative Exponent Law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2552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3375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5021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entury Schoolbook"/>
              </a:rPr>
              <a:t>MA.8.NSO.1.3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1A1A1A"/>
                </a:solidFill>
                <a:latin typeface="Century Schoolbook"/>
              </a:rPr>
              <a:t>I can rewrite a power with a negative exponent using a positive exponent, and evaluate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4736592"/>
            <a:ext cx="7406640" cy="1051560"/>
          </a:xfrm>
          <a:prstGeom prst="rect">
            <a:avLst/>
          </a:prstGeom>
          <a:solidFill>
            <a:srgbClr val="F2F2F0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4892040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 i="1">
                <a:solidFill>
                  <a:srgbClr val="6B6B6B"/>
                </a:solidFill>
                <a:latin typeface="Century Schoolbook"/>
              </a:rPr>
              <a:t>Yesterday the exponents stopped at 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5276088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1A1A1A"/>
                </a:solidFill>
                <a:latin typeface="Century Schoolbook"/>
              </a:rPr>
              <a:t>Today they keep going — and 5</a:t>
            </a:r>
            <a:r>
              <a:rPr sz="1700" b="1" i="0" baseline="30000">
                <a:solidFill>
                  <a:srgbClr val="1A1A1A"/>
                </a:solidFill>
                <a:latin typeface="Century Schoolbook"/>
              </a:rPr>
              <a:t>-2</a:t>
            </a:r>
            <a:r>
              <a:rPr sz="1700" b="1" i="0">
                <a:solidFill>
                  <a:srgbClr val="1A1A1A"/>
                </a:solidFill>
                <a:latin typeface="Century Schoolbook"/>
              </a:rPr>
              <a:t> is not a negative number.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On your own. Four minutes. No notes.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886712"/>
            <a:ext cx="30587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Find the value:  </a:t>
            </a:r>
          </a:p>
        </p:txBody>
      </p:sp>
      <p:pic>
        <p:nvPicPr>
          <p:cNvPr id="10" name="Picture 9" descr="e6b67427858e96f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094" y="1783080"/>
            <a:ext cx="795528" cy="6644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2625852"/>
            <a:ext cx="325556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Which is greater, </a:t>
            </a:r>
          </a:p>
        </p:txBody>
      </p:sp>
      <p:pic>
        <p:nvPicPr>
          <p:cNvPr id="12" name="Picture 11" descr="9a9a9137b9c7170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2923" y="2650236"/>
            <a:ext cx="688848" cy="4084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681771" y="2625852"/>
            <a:ext cx="12426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or 5.5?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3238500"/>
            <a:ext cx="16520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Solve  </a:t>
            </a:r>
          </a:p>
        </p:txBody>
      </p:sp>
      <p:pic>
        <p:nvPicPr>
          <p:cNvPr id="15" name="Picture 14" descr="86c14b3a9138d08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9368" y="3351276"/>
            <a:ext cx="1136904" cy="2316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874519" y="3922776"/>
            <a:ext cx="430896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What is the reciprocal of </a:t>
            </a:r>
          </a:p>
        </p:txBody>
      </p:sp>
      <p:pic>
        <p:nvPicPr>
          <p:cNvPr id="17" name="Picture 16" descr="ef641fad4ba74c7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6325" y="3874008"/>
            <a:ext cx="170688" cy="55473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217013" y="3922776"/>
            <a:ext cx="388038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?  What is the opposite of </a:t>
            </a:r>
          </a:p>
        </p:txBody>
      </p:sp>
      <p:pic>
        <p:nvPicPr>
          <p:cNvPr id="19" name="Picture 18" descr="ef641fad4ba74c7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0242" y="3874008"/>
            <a:ext cx="170688" cy="55473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130930" y="3922776"/>
            <a:ext cx="34777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886712"/>
            <a:ext cx="30587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Find the value:  </a:t>
            </a:r>
          </a:p>
        </p:txBody>
      </p:sp>
      <p:pic>
        <p:nvPicPr>
          <p:cNvPr id="10" name="Picture 9" descr="e6b67427858e96f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094" y="1783080"/>
            <a:ext cx="795528" cy="6644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40262" y="1760220"/>
            <a:ext cx="56579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625852"/>
            <a:ext cx="325556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Which is greater, </a:t>
            </a:r>
          </a:p>
        </p:txBody>
      </p:sp>
      <p:pic>
        <p:nvPicPr>
          <p:cNvPr id="13" name="Picture 12" descr="9a9a9137b9c7170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2923" y="2650236"/>
            <a:ext cx="688848" cy="4084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81771" y="2625852"/>
            <a:ext cx="12426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or 5.5?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5878" y="2625852"/>
            <a:ext cx="65187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5.5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238500"/>
            <a:ext cx="16520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Solve  </a:t>
            </a:r>
          </a:p>
        </p:txBody>
      </p:sp>
      <p:pic>
        <p:nvPicPr>
          <p:cNvPr id="17" name="Picture 16" descr="86c14b3a9138d08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9368" y="3351276"/>
            <a:ext cx="1136904" cy="23164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074912" y="3238500"/>
            <a:ext cx="113025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x = −7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3922776"/>
            <a:ext cx="430896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What is the reciprocal of </a:t>
            </a:r>
          </a:p>
        </p:txBody>
      </p:sp>
      <p:pic>
        <p:nvPicPr>
          <p:cNvPr id="20" name="Picture 19" descr="ef641fad4ba74c7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6325" y="3874008"/>
            <a:ext cx="170688" cy="55473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217013" y="3922776"/>
            <a:ext cx="388038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?  What is the opposite of </a:t>
            </a:r>
          </a:p>
        </p:txBody>
      </p:sp>
      <p:pic>
        <p:nvPicPr>
          <p:cNvPr id="22" name="Picture 21" descr="ef641fad4ba74c7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0242" y="3874008"/>
            <a:ext cx="170688" cy="55473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130930" y="3922776"/>
            <a:ext cx="34777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?</a:t>
            </a:r>
          </a:p>
        </p:txBody>
      </p:sp>
      <p:pic>
        <p:nvPicPr>
          <p:cNvPr id="24" name="Picture 23" descr="c947c2e93b2d33a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06040" y="4474464"/>
            <a:ext cx="170688" cy="55473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776728" y="4523232"/>
            <a:ext cx="117358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  and  </a:t>
            </a:r>
          </a:p>
        </p:txBody>
      </p:sp>
      <p:pic>
        <p:nvPicPr>
          <p:cNvPr id="26" name="Picture 25" descr="a339c6c78254d98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3149" y="4474464"/>
            <a:ext cx="377952" cy="5547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Copy the table.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I.  The pattern keeps going past zero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77240" y="2340864"/>
          <a:ext cx="10607040" cy="768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  <a:gridCol w="1325880"/>
                <a:gridCol w="1325880"/>
                <a:gridCol w="1325880"/>
                <a:gridCol w="132588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-1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-2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-3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1/2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1/4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1/8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12" name="Picture 11" descr="81375e471a1972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1960" y="3337560"/>
            <a:ext cx="1316736" cy="7345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918696" y="3476244"/>
            <a:ext cx="9885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</a:t>
            </a:r>
          </a:p>
        </p:txBody>
      </p:sp>
      <p:pic>
        <p:nvPicPr>
          <p:cNvPr id="14" name="Picture 13" descr="e662eafaba09aa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0120" y="3337560"/>
            <a:ext cx="1969008" cy="7345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739128" y="3476244"/>
            <a:ext cx="9885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</a:t>
            </a:r>
          </a:p>
        </p:txBody>
      </p:sp>
      <p:pic>
        <p:nvPicPr>
          <p:cNvPr id="16" name="Picture 15" descr="97a68c5b0d6f071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0551" y="3337560"/>
            <a:ext cx="1969008" cy="7345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II.  The negative exponent law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db26dd1c4f0616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7725" y="2340864"/>
            <a:ext cx="1362456" cy="673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470181" y="2449068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2" name="Picture 11" descr="d3322f317e3cda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6173" y="2340864"/>
            <a:ext cx="1395984" cy="6736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912157" y="2449068"/>
            <a:ext cx="129968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(</a:t>
            </a:r>
          </a:p>
        </p:txBody>
      </p:sp>
      <p:pic>
        <p:nvPicPr>
          <p:cNvPr id="14" name="Picture 13" descr="6a9975e145b437d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4679" y="2508504"/>
            <a:ext cx="789432" cy="33832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864111" y="2449068"/>
            <a:ext cx="3268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)</a:t>
            </a:r>
          </a:p>
        </p:txBody>
      </p:sp>
      <p:pic>
        <p:nvPicPr>
          <p:cNvPr id="16" name="Picture 15" descr="01a1e8399ce2f91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7114" y="3288792"/>
            <a:ext cx="2170176" cy="7406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667290" y="3430524"/>
            <a:ext cx="19223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but      </a:t>
            </a:r>
          </a:p>
        </p:txBody>
      </p:sp>
      <p:pic>
        <p:nvPicPr>
          <p:cNvPr id="18" name="Picture 17" descr="4d0780cba10826c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2483" y="3488436"/>
            <a:ext cx="1682496" cy="34137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134979" y="3430524"/>
            <a:ext cx="19871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and      </a:t>
            </a:r>
          </a:p>
        </p:txBody>
      </p:sp>
      <p:pic>
        <p:nvPicPr>
          <p:cNvPr id="20" name="Picture 19" descr="06d6b57bc03862b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84957" y="3456432"/>
            <a:ext cx="1679448" cy="40538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87552" y="4367784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A negative exponent means reciprocal. It never means a negative value.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5256275"/>
            <a:ext cx="443348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The base keeps its own sign:  </a:t>
            </a:r>
          </a:p>
        </p:txBody>
      </p:sp>
      <p:pic>
        <p:nvPicPr>
          <p:cNvPr id="23" name="Picture 22" descr="6487353c74996e1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83880" y="5081015"/>
            <a:ext cx="4267200" cy="807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III.  The laws still work with negative exponents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5f5217f7eb4021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5219" y="2340864"/>
            <a:ext cx="4831080" cy="7528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438293" y="3345180"/>
            <a:ext cx="112441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or      </a:t>
            </a:r>
          </a:p>
        </p:txBody>
      </p:sp>
      <p:pic>
        <p:nvPicPr>
          <p:cNvPr id="12" name="Picture 11" descr="9ad19008f4436a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5546" y="3400044"/>
            <a:ext cx="4297680" cy="347472"/>
          </a:xfrm>
          <a:prstGeom prst="rect">
            <a:avLst/>
          </a:prstGeom>
        </p:spPr>
      </p:pic>
      <p:pic>
        <p:nvPicPr>
          <p:cNvPr id="13" name="Picture 12" descr="986b589c42d2856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9955" y="4053839"/>
            <a:ext cx="3721608" cy="822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" y="5215128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Add, subtract and multiply exponents exactly as before — the exponents are just integers now.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Negative exponents top and bottom.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pic>
        <p:nvPicPr>
          <p:cNvPr id="9" name="Picture 8" descr="55e053ce9247b8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5772" y="2103120"/>
            <a:ext cx="569976" cy="8168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42290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Rewrite with positive exponents, then find the value.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8</a:t>
            </a:r>
          </a:p>
        </p:txBody>
      </p:sp>
      <p:pic>
        <p:nvPicPr>
          <p:cNvPr id="9" name="Picture 8" descr="86e883f301281d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1380744" cy="8168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66744" y="2100072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each power swaps sides and loses the minus</a:t>
            </a:r>
          </a:p>
        </p:txBody>
      </p:sp>
      <p:pic>
        <p:nvPicPr>
          <p:cNvPr id="11" name="Picture 10" descr="bdb5dbd5190fc4b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3011423"/>
            <a:ext cx="2764536" cy="8046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50536" y="3185159"/>
            <a:ext cx="6333743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evaluate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81/8 = 10.125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9</a:t>
            </a:r>
          </a:p>
        </p:txBody>
      </p:sp>
      <p:pic>
        <p:nvPicPr>
          <p:cNvPr id="9" name="Picture 8" descr="04c00c9d3a9d247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5667" y="2194560"/>
            <a:ext cx="710184" cy="10210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10</a:t>
            </a:r>
          </a:p>
        </p:txBody>
      </p:sp>
      <p:pic>
        <p:nvPicPr>
          <p:cNvPr id="9" name="Picture 8" descr="395fcf61f0d867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8716" y="2194560"/>
            <a:ext cx="704088" cy="10149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52958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swap sides, positive exponents: 5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1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over 3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1100" y="4645152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f8b652a33b6da2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1340" y="4480560"/>
            <a:ext cx="259080" cy="87782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 quotient law crossing zero.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11</a:t>
            </a:r>
          </a:p>
        </p:txBody>
      </p:sp>
      <p:pic>
        <p:nvPicPr>
          <p:cNvPr id="9" name="Picture 8" descr="4ffd0e25f89e0e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5772" y="2103120"/>
            <a:ext cx="569976" cy="807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4137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 both ways.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12</a:t>
            </a:r>
          </a:p>
        </p:txBody>
      </p:sp>
      <p:pic>
        <p:nvPicPr>
          <p:cNvPr id="9" name="Picture 8" descr="8b0ea9280595c69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929128" cy="8046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15128" y="2093976"/>
            <a:ext cx="6169151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quotient of powers: 0 − (−4) = 4</a:t>
            </a:r>
          </a:p>
        </p:txBody>
      </p:sp>
      <p:pic>
        <p:nvPicPr>
          <p:cNvPr id="11" name="Picture 10" descr="a0522eb547e4ba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999232"/>
            <a:ext cx="2368296" cy="8046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54296" y="3172968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zero exponent, then move 7</a:t>
            </a:r>
            <a:r>
              <a:rPr sz="2100" b="0" i="1" baseline="30000">
                <a:solidFill>
                  <a:srgbClr val="6B6B6B"/>
                </a:solidFill>
                <a:latin typeface="Century Schoolbook"/>
              </a:rPr>
              <a:t>-4</a:t>
            </a:r>
            <a:r>
              <a:rPr sz="2100" b="0" i="1">
                <a:solidFill>
                  <a:srgbClr val="6B6B6B"/>
                </a:solidFill>
                <a:latin typeface="Century Schoolbook"/>
              </a:rPr>
              <a:t> up</a:t>
            </a:r>
          </a:p>
        </p:txBody>
      </p:sp>
      <p:pic>
        <p:nvPicPr>
          <p:cNvPr id="13" name="Picture 12" descr="f5e46e308b616f8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4078224"/>
            <a:ext cx="1530096" cy="3474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816096" y="4023360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evaluate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8289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2,401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13</a:t>
            </a:r>
          </a:p>
        </p:txBody>
      </p:sp>
      <p:pic>
        <p:nvPicPr>
          <p:cNvPr id="9" name="Picture 8" descr="3d867da8578334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2767" y="2194560"/>
            <a:ext cx="1395984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14</a:t>
            </a:r>
          </a:p>
        </p:txBody>
      </p:sp>
      <p:pic>
        <p:nvPicPr>
          <p:cNvPr id="9" name="Picture 8" descr="bd647a6f29dfd2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4291" y="2194560"/>
            <a:ext cx="1392936" cy="11856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700271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−4 − (−6) = 2, so (−8)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64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15</a:t>
            </a:r>
          </a:p>
        </p:txBody>
      </p:sp>
      <p:pic>
        <p:nvPicPr>
          <p:cNvPr id="9" name="Picture 8" descr="2d36713d8b0595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5292" y="2194560"/>
            <a:ext cx="630936" cy="426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Rewrite with a positive exponent.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16</a:t>
            </a:r>
          </a:p>
        </p:txBody>
      </p:sp>
      <p:pic>
        <p:nvPicPr>
          <p:cNvPr id="9" name="Picture 8" descr="745cde1f9722bf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2243" y="2103120"/>
            <a:ext cx="637032" cy="426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04160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reciprocal of 8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7468" y="4855464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ae3379378f6437b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7708" y="4663440"/>
            <a:ext cx="466344" cy="93268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 sheet of paper 30 centimeters long is folded in half 7 times.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Each fold makes the top layer half as big.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952716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What fraction of the whole sheet is the top layer after 7 folds?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 sheet of paper 30 centimeters long is folded in half 7 times.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Each fold makes the top layer half as big.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952716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What fraction of the whole sheet is the top layer after 7 folds?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012625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halved 7 times: 2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-7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= 1 over 2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8116" y="4899593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4" name="Picture 13" descr="b025bbe2352d11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8356" y="4744145"/>
            <a:ext cx="765048" cy="85953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19</a:t>
            </a:r>
          </a:p>
        </p:txBody>
      </p:sp>
      <p:pic>
        <p:nvPicPr>
          <p:cNvPr id="9" name="Picture 8" descr="229e5926a19b9f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9176" y="2194560"/>
            <a:ext cx="963167" cy="9326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Rewrite with a positive exponent, then find the value.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20</a:t>
            </a:r>
          </a:p>
        </p:txBody>
      </p:sp>
      <p:pic>
        <p:nvPicPr>
          <p:cNvPr id="9" name="Picture 8" descr="8f039f30161276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699" y="2103120"/>
            <a:ext cx="960120" cy="9326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310127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the power moves up: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2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100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21</a:t>
            </a:r>
          </a:p>
        </p:txBody>
      </p:sp>
      <p:pic>
        <p:nvPicPr>
          <p:cNvPr id="9" name="Picture 8" descr="c242b51e1e2a08a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0867" y="2194560"/>
            <a:ext cx="1319784" cy="5120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22</a:t>
            </a:r>
          </a:p>
        </p:txBody>
      </p:sp>
      <p:pic>
        <p:nvPicPr>
          <p:cNvPr id="9" name="Picture 8" descr="79a5e9e14577308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7820" y="2103120"/>
            <a:ext cx="1325880" cy="5151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92552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1 over (−2)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= 1 over −8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32603" y="4818888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ec4ffcbfe2b2982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2844" y="4663440"/>
            <a:ext cx="576072" cy="85953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23</a:t>
            </a:r>
          </a:p>
        </p:txBody>
      </p:sp>
      <p:pic>
        <p:nvPicPr>
          <p:cNvPr id="9" name="Picture 8" descr="2f69500044ec6e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1575" y="2194560"/>
            <a:ext cx="658368" cy="4328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855975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value?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52229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1/10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52229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1/25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20809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−25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20809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−10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13935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24</a:t>
            </a:r>
          </a:p>
        </p:txBody>
      </p:sp>
      <p:pic>
        <p:nvPicPr>
          <p:cNvPr id="9" name="Picture 8" descr="0b09890174e136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0052" y="2103120"/>
            <a:ext cx="661416" cy="4297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76148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value?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4278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1/10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4278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B.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1/25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1136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−25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1136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−10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19447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B — 1/25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25</a:t>
            </a:r>
          </a:p>
        </p:txBody>
      </p:sp>
      <p:pic>
        <p:nvPicPr>
          <p:cNvPr id="9" name="Picture 8" descr="9e50adf1c83696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1244" y="2194560"/>
            <a:ext cx="1399032" cy="4297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85292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51924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6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51924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36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20504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6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20504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6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10887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26</a:t>
            </a:r>
          </a:p>
        </p:txBody>
      </p:sp>
      <p:pic>
        <p:nvPicPr>
          <p:cNvPr id="9" name="Picture 8" descr="c950f888df2a107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1244" y="2103120"/>
            <a:ext cx="1399032" cy="4297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76148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4278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6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4278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36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1136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6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1136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D.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6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19447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D — 6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27</a:t>
            </a:r>
          </a:p>
        </p:txBody>
      </p:sp>
      <p:pic>
        <p:nvPicPr>
          <p:cNvPr id="9" name="Picture 8" descr="e37e6585587b73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5148" y="2194560"/>
            <a:ext cx="1411224" cy="4328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28</a:t>
            </a:r>
          </a:p>
        </p:txBody>
      </p:sp>
      <p:pic>
        <p:nvPicPr>
          <p:cNvPr id="9" name="Picture 8" descr="3a37a698b11c2b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5148" y="2103120"/>
            <a:ext cx="1411224" cy="426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04160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3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29</a:t>
            </a:r>
          </a:p>
        </p:txBody>
      </p:sp>
      <p:pic>
        <p:nvPicPr>
          <p:cNvPr id="9" name="Picture 8" descr="d5e2dc9bfa32df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5667" y="2194560"/>
            <a:ext cx="710184" cy="1027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Write it as one power with a positive exponent.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30</a:t>
            </a:r>
          </a:p>
        </p:txBody>
      </p:sp>
      <p:pic>
        <p:nvPicPr>
          <p:cNvPr id="9" name="Picture 8" descr="4d44fa8d60938d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8716" y="2103120"/>
            <a:ext cx="704088" cy="1027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404615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9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-8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7468" y="4860036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f17cb56101b5168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7708" y="4663440"/>
            <a:ext cx="466344" cy="941832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Take your time. Boards up when you have written it.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1600" y="2171700"/>
            <a:ext cx="40348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Ellen says the value of  </a:t>
            </a:r>
          </a:p>
        </p:txBody>
      </p:sp>
      <p:pic>
        <p:nvPicPr>
          <p:cNvPr id="10" name="Picture 9" descr="b9af177cb680bc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9327" y="2229612"/>
            <a:ext cx="527304" cy="3413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76631" y="2171700"/>
            <a:ext cx="157044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is  −25.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803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Explain why she is wrong, and show the correct value.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Write your answer in sentences.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Use the word reciprocal.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0076" y="2080260"/>
            <a:ext cx="40348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Ellen says the value of  </a:t>
            </a:r>
          </a:p>
        </p:txBody>
      </p:sp>
      <p:pic>
        <p:nvPicPr>
          <p:cNvPr id="10" name="Picture 9" descr="04a54a40cd0eb4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7803" y="2138171"/>
            <a:ext cx="530352" cy="3413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78155" y="2080260"/>
            <a:ext cx="157044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is  −25.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889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Explain why she is wrong, and show the correct value.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40951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reciprocal, not opposite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5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-2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1/5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2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1/25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Six questions. On your own, in silence.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1168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Six questions. Work down the page.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5117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51176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Show the step that does the work, not just the answer.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90672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90672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Silence until the six minutes are up.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Last five minutes.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Open IXL and start today's skills.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Work on paper where the question needs work. The answer box does not show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Every skill listed is required, to a SmartScore of 67. Due at the start of the next class.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Century Schoolbook"/>
              </a:rPr>
              <a:t>Today's skills — all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Understanding negative exponents — YBB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Evaluate powers with negative exponents — WGS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