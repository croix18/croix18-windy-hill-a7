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2.xml"/><Relationship Id="rId5" Type="http://schemas.openxmlformats.org/officeDocument/2006/relationships/slide" Target="slide106.xml"/><Relationship Id="rId6" Type="http://schemas.openxmlformats.org/officeDocument/2006/relationships/slide" Target="slide140.xml"/><Relationship Id="rId7" Type="http://schemas.openxmlformats.org/officeDocument/2006/relationships/slide" Target="slide174.xml"/><Relationship Id="rId8" Type="http://schemas.openxmlformats.org/officeDocument/2006/relationships/slide" Target="slide209.xml"/><Relationship Id="rId9" Type="http://schemas.openxmlformats.org/officeDocument/2006/relationships/slide" Target="slide243.xml"/><Relationship Id="rId10" Type="http://schemas.openxmlformats.org/officeDocument/2006/relationships/slide" Target="slide277.xml"/><Relationship Id="rId11" Type="http://schemas.openxmlformats.org/officeDocument/2006/relationships/slide" Target="slide3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7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0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16.png"/><Relationship Id="rId4" Type="http://schemas.openxmlformats.org/officeDocument/2006/relationships/image" Target="../media/image11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Relationship Id="rId3" Type="http://schemas.openxmlformats.org/officeDocument/2006/relationships/image" Target="../media/image127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Relationship Id="rId3" Type="http://schemas.openxmlformats.org/officeDocument/2006/relationships/image" Target="../media/image145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Relationship Id="rId6" Type="http://schemas.openxmlformats.org/officeDocument/2006/relationships/image" Target="../media/image152.png"/><Relationship Id="rId7" Type="http://schemas.openxmlformats.org/officeDocument/2006/relationships/image" Target="../media/image15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Relationship Id="rId3" Type="http://schemas.openxmlformats.org/officeDocument/2006/relationships/image" Target="../media/image155.png"/><Relationship Id="rId4" Type="http://schemas.openxmlformats.org/officeDocument/2006/relationships/image" Target="../media/image15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Relationship Id="rId4" Type="http://schemas.openxmlformats.org/officeDocument/2006/relationships/image" Target="../media/image60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Relationship Id="rId4" Type="http://schemas.openxmlformats.org/officeDocument/2006/relationships/image" Target="../media/image165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17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Relationship Id="rId4" Type="http://schemas.openxmlformats.org/officeDocument/2006/relationships/image" Target="../media/image17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Relationship Id="rId3" Type="http://schemas.openxmlformats.org/officeDocument/2006/relationships/image" Target="../media/image186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Relationship Id="rId3" Type="http://schemas.openxmlformats.org/officeDocument/2006/relationships/image" Target="../media/image19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99.png"/><Relationship Id="rId4" Type="http://schemas.openxmlformats.org/officeDocument/2006/relationships/image" Target="../media/image200.png"/><Relationship Id="rId5" Type="http://schemas.openxmlformats.org/officeDocument/2006/relationships/image" Target="../media/image201.png"/><Relationship Id="rId6" Type="http://schemas.openxmlformats.org/officeDocument/2006/relationships/image" Target="../media/image20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203.png"/><Relationship Id="rId4" Type="http://schemas.openxmlformats.org/officeDocument/2006/relationships/image" Target="../media/image199.png"/><Relationship Id="rId5" Type="http://schemas.openxmlformats.org/officeDocument/2006/relationships/image" Target="../media/image204.png"/><Relationship Id="rId6" Type="http://schemas.openxmlformats.org/officeDocument/2006/relationships/image" Target="../media/image200.png"/><Relationship Id="rId7" Type="http://schemas.openxmlformats.org/officeDocument/2006/relationships/image" Target="../media/image201.png"/><Relationship Id="rId8" Type="http://schemas.openxmlformats.org/officeDocument/2006/relationships/image" Target="../media/image205.png"/><Relationship Id="rId9" Type="http://schemas.openxmlformats.org/officeDocument/2006/relationships/image" Target="../media/image202.png"/><Relationship Id="rId10" Type="http://schemas.openxmlformats.org/officeDocument/2006/relationships/image" Target="../media/image206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210.png"/><Relationship Id="rId6" Type="http://schemas.openxmlformats.org/officeDocument/2006/relationships/image" Target="../media/image211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Relationship Id="rId3" Type="http://schemas.openxmlformats.org/officeDocument/2006/relationships/image" Target="../media/image218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Relationship Id="rId3" Type="http://schemas.openxmlformats.org/officeDocument/2006/relationships/image" Target="../media/image22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Relationship Id="rId3" Type="http://schemas.openxmlformats.org/officeDocument/2006/relationships/image" Target="../media/image224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Relationship Id="rId3" Type="http://schemas.openxmlformats.org/officeDocument/2006/relationships/image" Target="../media/image227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Relationship Id="rId3" Type="http://schemas.openxmlformats.org/officeDocument/2006/relationships/image" Target="../media/image23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Relationship Id="rId3" Type="http://schemas.openxmlformats.org/officeDocument/2006/relationships/image" Target="../media/image236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Relationship Id="rId3" Type="http://schemas.openxmlformats.org/officeDocument/2006/relationships/image" Target="../media/image24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Relationship Id="rId3" Type="http://schemas.openxmlformats.org/officeDocument/2006/relationships/image" Target="../media/image24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Relationship Id="rId3" Type="http://schemas.openxmlformats.org/officeDocument/2006/relationships/image" Target="../media/image250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2.png"/><Relationship Id="rId4" Type="http://schemas.openxmlformats.org/officeDocument/2006/relationships/image" Target="../media/image25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4.png"/><Relationship Id="rId4" Type="http://schemas.openxmlformats.org/officeDocument/2006/relationships/image" Target="../media/image252.png"/><Relationship Id="rId5" Type="http://schemas.openxmlformats.org/officeDocument/2006/relationships/image" Target="../media/image253.png"/><Relationship Id="rId6" Type="http://schemas.openxmlformats.org/officeDocument/2006/relationships/image" Target="../media/image255.png"/><Relationship Id="rId7" Type="http://schemas.openxmlformats.org/officeDocument/2006/relationships/image" Target="../media/image256.png"/><Relationship Id="rId8" Type="http://schemas.openxmlformats.org/officeDocument/2006/relationships/image" Target="../media/image257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62.png"/><Relationship Id="rId5" Type="http://schemas.openxmlformats.org/officeDocument/2006/relationships/image" Target="../media/image263.png"/><Relationship Id="rId6" Type="http://schemas.openxmlformats.org/officeDocument/2006/relationships/image" Target="../media/image264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Relationship Id="rId3" Type="http://schemas.openxmlformats.org/officeDocument/2006/relationships/image" Target="../media/image269.png"/><Relationship Id="rId4" Type="http://schemas.openxmlformats.org/officeDocument/2006/relationships/image" Target="../media/image270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Relationship Id="rId3" Type="http://schemas.openxmlformats.org/officeDocument/2006/relationships/image" Target="../media/image27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Relationship Id="rId3" Type="http://schemas.openxmlformats.org/officeDocument/2006/relationships/image" Target="../media/image276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Relationship Id="rId3" Type="http://schemas.openxmlformats.org/officeDocument/2006/relationships/image" Target="../media/image278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Relationship Id="rId3" Type="http://schemas.openxmlformats.org/officeDocument/2006/relationships/image" Target="../media/image280.png"/><Relationship Id="rId4" Type="http://schemas.openxmlformats.org/officeDocument/2006/relationships/image" Target="../media/image281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Relationship Id="rId3" Type="http://schemas.openxmlformats.org/officeDocument/2006/relationships/image" Target="../media/image283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Relationship Id="rId3" Type="http://schemas.openxmlformats.org/officeDocument/2006/relationships/image" Target="../media/image28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Relationship Id="rId3" Type="http://schemas.openxmlformats.org/officeDocument/2006/relationships/image" Target="../media/image290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Relationship Id="rId3" Type="http://schemas.openxmlformats.org/officeDocument/2006/relationships/image" Target="../media/image29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Relationship Id="rId3" Type="http://schemas.openxmlformats.org/officeDocument/2006/relationships/image" Target="../media/image29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Relationship Id="rId3" Type="http://schemas.openxmlformats.org/officeDocument/2006/relationships/image" Target="../media/image29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Relationship Id="rId3" Type="http://schemas.openxmlformats.org/officeDocument/2006/relationships/image" Target="../media/image304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Relationship Id="rId3" Type="http://schemas.openxmlformats.org/officeDocument/2006/relationships/image" Target="../media/image307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Relationship Id="rId3" Type="http://schemas.openxmlformats.org/officeDocument/2006/relationships/image" Target="../media/image309.png"/><Relationship Id="rId4" Type="http://schemas.openxmlformats.org/officeDocument/2006/relationships/image" Target="../media/image310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Relationship Id="rId3" Type="http://schemas.openxmlformats.org/officeDocument/2006/relationships/image" Target="../media/image312.png"/><Relationship Id="rId4" Type="http://schemas.openxmlformats.org/officeDocument/2006/relationships/image" Target="../media/image313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107.png"/><Relationship Id="rId5" Type="http://schemas.openxmlformats.org/officeDocument/2006/relationships/image" Target="../media/image316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107.png"/><Relationship Id="rId5" Type="http://schemas.openxmlformats.org/officeDocument/2006/relationships/image" Target="../media/image316.png"/><Relationship Id="rId6" Type="http://schemas.openxmlformats.org/officeDocument/2006/relationships/image" Target="../media/image317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Relationship Id="rId3" Type="http://schemas.openxmlformats.org/officeDocument/2006/relationships/image" Target="../media/image319.png"/><Relationship Id="rId4" Type="http://schemas.openxmlformats.org/officeDocument/2006/relationships/image" Target="../media/image320.png"/><Relationship Id="rId5" Type="http://schemas.openxmlformats.org/officeDocument/2006/relationships/image" Target="../media/image321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Relationship Id="rId3" Type="http://schemas.openxmlformats.org/officeDocument/2006/relationships/image" Target="../media/image323.png"/><Relationship Id="rId4" Type="http://schemas.openxmlformats.org/officeDocument/2006/relationships/image" Target="../media/image324.png"/><Relationship Id="rId5" Type="http://schemas.openxmlformats.org/officeDocument/2006/relationships/image" Target="../media/image325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Relationship Id="rId3" Type="http://schemas.openxmlformats.org/officeDocument/2006/relationships/image" Target="../media/image327.png"/><Relationship Id="rId4" Type="http://schemas.openxmlformats.org/officeDocument/2006/relationships/image" Target="../media/image328.png"/><Relationship Id="rId5" Type="http://schemas.openxmlformats.org/officeDocument/2006/relationships/image" Target="../media/image329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Relationship Id="rId3" Type="http://schemas.openxmlformats.org/officeDocument/2006/relationships/image" Target="../media/image332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Relationship Id="rId3" Type="http://schemas.openxmlformats.org/officeDocument/2006/relationships/image" Target="../media/image337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Relationship Id="rId3" Type="http://schemas.openxmlformats.org/officeDocument/2006/relationships/image" Target="../media/image342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Relationship Id="rId3" Type="http://schemas.openxmlformats.org/officeDocument/2006/relationships/image" Target="../media/image345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Relationship Id="rId3" Type="http://schemas.openxmlformats.org/officeDocument/2006/relationships/image" Target="../media/image34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Relationship Id="rId3" Type="http://schemas.openxmlformats.org/officeDocument/2006/relationships/image" Target="../media/image349.png"/><Relationship Id="rId4" Type="http://schemas.openxmlformats.org/officeDocument/2006/relationships/image" Target="../media/image350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Relationship Id="rId3" Type="http://schemas.openxmlformats.org/officeDocument/2006/relationships/image" Target="../media/image353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Relationship Id="rId3" Type="http://schemas.openxmlformats.org/officeDocument/2006/relationships/image" Target="../media/image360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362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363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Relationship Id="rId3" Type="http://schemas.openxmlformats.org/officeDocument/2006/relationships/image" Target="../media/image365.png"/><Relationship Id="rId4" Type="http://schemas.openxmlformats.org/officeDocument/2006/relationships/image" Target="../media/image366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Relationship Id="rId3" Type="http://schemas.openxmlformats.org/officeDocument/2006/relationships/image" Target="../media/image368.png"/><Relationship Id="rId4" Type="http://schemas.openxmlformats.org/officeDocument/2006/relationships/image" Target="../media/image369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Relationship Id="rId3" Type="http://schemas.openxmlformats.org/officeDocument/2006/relationships/image" Target="../media/image371.png"/><Relationship Id="rId4" Type="http://schemas.openxmlformats.org/officeDocument/2006/relationships/image" Target="../media/image372.png"/><Relationship Id="rId5" Type="http://schemas.openxmlformats.org/officeDocument/2006/relationships/image" Target="../media/image22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Relationship Id="rId3" Type="http://schemas.openxmlformats.org/officeDocument/2006/relationships/image" Target="../media/image371.png"/><Relationship Id="rId4" Type="http://schemas.openxmlformats.org/officeDocument/2006/relationships/image" Target="../media/image372.png"/><Relationship Id="rId5" Type="http://schemas.openxmlformats.org/officeDocument/2006/relationships/image" Target="../media/image225.png"/><Relationship Id="rId6" Type="http://schemas.openxmlformats.org/officeDocument/2006/relationships/image" Target="../media/image373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Relationship Id="rId3" Type="http://schemas.openxmlformats.org/officeDocument/2006/relationships/image" Target="../media/image375.png"/><Relationship Id="rId4" Type="http://schemas.openxmlformats.org/officeDocument/2006/relationships/image" Target="../media/image37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Relationship Id="rId3" Type="http://schemas.openxmlformats.org/officeDocument/2006/relationships/image" Target="../media/image378.png"/><Relationship Id="rId4" Type="http://schemas.openxmlformats.org/officeDocument/2006/relationships/image" Target="../media/image379.png"/><Relationship Id="rId5" Type="http://schemas.openxmlformats.org/officeDocument/2006/relationships/image" Target="../media/image380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Relationship Id="rId3" Type="http://schemas.openxmlformats.org/officeDocument/2006/relationships/image" Target="../media/image382.png"/><Relationship Id="rId4" Type="http://schemas.openxmlformats.org/officeDocument/2006/relationships/image" Target="../media/image383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Relationship Id="rId3" Type="http://schemas.openxmlformats.org/officeDocument/2006/relationships/image" Target="../media/image386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Relationship Id="rId3" Type="http://schemas.openxmlformats.org/officeDocument/2006/relationships/image" Target="../media/image389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Relationship Id="rId3" Type="http://schemas.openxmlformats.org/officeDocument/2006/relationships/image" Target="../media/image392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Relationship Id="rId3" Type="http://schemas.openxmlformats.org/officeDocument/2006/relationships/image" Target="../media/image395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Relationship Id="rId3" Type="http://schemas.openxmlformats.org/officeDocument/2006/relationships/image" Target="../media/image39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Relationship Id="rId3" Type="http://schemas.openxmlformats.org/officeDocument/2006/relationships/image" Target="../media/image401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Relationship Id="rId3" Type="http://schemas.openxmlformats.org/officeDocument/2006/relationships/image" Target="../media/image403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Relationship Id="rId3" Type="http://schemas.openxmlformats.org/officeDocument/2006/relationships/image" Target="../media/image404.png"/><Relationship Id="rId4" Type="http://schemas.openxmlformats.org/officeDocument/2006/relationships/image" Target="../media/image405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Relationship Id="rId3" Type="http://schemas.openxmlformats.org/officeDocument/2006/relationships/image" Target="../media/image408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Relationship Id="rId3" Type="http://schemas.openxmlformats.org/officeDocument/2006/relationships/image" Target="../media/image415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416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417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Relationship Id="rId3" Type="http://schemas.openxmlformats.org/officeDocument/2006/relationships/image" Target="../media/image419.png"/><Relationship Id="rId4" Type="http://schemas.openxmlformats.org/officeDocument/2006/relationships/image" Target="../media/image420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Relationship Id="rId3" Type="http://schemas.openxmlformats.org/officeDocument/2006/relationships/image" Target="../media/image422.png"/><Relationship Id="rId4" Type="http://schemas.openxmlformats.org/officeDocument/2006/relationships/image" Target="../media/image423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Relationship Id="rId3" Type="http://schemas.openxmlformats.org/officeDocument/2006/relationships/image" Target="../media/image425.png"/><Relationship Id="rId4" Type="http://schemas.openxmlformats.org/officeDocument/2006/relationships/image" Target="../media/image426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Relationship Id="rId3" Type="http://schemas.openxmlformats.org/officeDocument/2006/relationships/image" Target="../media/image425.png"/><Relationship Id="rId4" Type="http://schemas.openxmlformats.org/officeDocument/2006/relationships/image" Target="../media/image426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Relationship Id="rId3" Type="http://schemas.openxmlformats.org/officeDocument/2006/relationships/image" Target="../media/image428.png"/><Relationship Id="rId4" Type="http://schemas.openxmlformats.org/officeDocument/2006/relationships/image" Target="../media/image429.png"/><Relationship Id="rId5" Type="http://schemas.openxmlformats.org/officeDocument/2006/relationships/image" Target="../media/image430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Relationship Id="rId3" Type="http://schemas.openxmlformats.org/officeDocument/2006/relationships/image" Target="../media/image432.png"/><Relationship Id="rId4" Type="http://schemas.openxmlformats.org/officeDocument/2006/relationships/image" Target="../media/image433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Relationship Id="rId3" Type="http://schemas.openxmlformats.org/officeDocument/2006/relationships/image" Target="../media/image435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Relationship Id="rId3" Type="http://schemas.openxmlformats.org/officeDocument/2006/relationships/image" Target="../media/image437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Relationship Id="rId3" Type="http://schemas.openxmlformats.org/officeDocument/2006/relationships/image" Target="../media/image439.png"/><Relationship Id="rId4" Type="http://schemas.openxmlformats.org/officeDocument/2006/relationships/image" Target="../media/image440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Relationship Id="rId3" Type="http://schemas.openxmlformats.org/officeDocument/2006/relationships/image" Target="../media/image442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Relationship Id="rId3" Type="http://schemas.openxmlformats.org/officeDocument/2006/relationships/image" Target="../media/image444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Relationship Id="rId3" Type="http://schemas.openxmlformats.org/officeDocument/2006/relationships/image" Target="../media/image448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Relationship Id="rId3" Type="http://schemas.openxmlformats.org/officeDocument/2006/relationships/image" Target="../media/image450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Relationship Id="rId3" Type="http://schemas.openxmlformats.org/officeDocument/2006/relationships/image" Target="../media/image452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Relationship Id="rId3" Type="http://schemas.openxmlformats.org/officeDocument/2006/relationships/image" Target="../media/image454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Relationship Id="rId3" Type="http://schemas.openxmlformats.org/officeDocument/2006/relationships/image" Target="../media/image456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Relationship Id="rId3" Type="http://schemas.openxmlformats.org/officeDocument/2006/relationships/image" Target="../media/image458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Relationship Id="rId3" Type="http://schemas.openxmlformats.org/officeDocument/2006/relationships/image" Target="../media/image462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Relationship Id="rId3" Type="http://schemas.openxmlformats.org/officeDocument/2006/relationships/image" Target="../media/image463.png"/><Relationship Id="rId4" Type="http://schemas.openxmlformats.org/officeDocument/2006/relationships/image" Target="../media/image462.png"/><Relationship Id="rId5" Type="http://schemas.openxmlformats.org/officeDocument/2006/relationships/image" Target="../media/image464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Relationship Id="rId3" Type="http://schemas.openxmlformats.org/officeDocument/2006/relationships/image" Target="../media/image466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Relationship Id="rId3" Type="http://schemas.openxmlformats.org/officeDocument/2006/relationships/image" Target="../media/image468.png"/><Relationship Id="rId4" Type="http://schemas.openxmlformats.org/officeDocument/2006/relationships/image" Target="../media/image469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Relationship Id="rId3" Type="http://schemas.openxmlformats.org/officeDocument/2006/relationships/image" Target="../media/image471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Relationship Id="rId3" Type="http://schemas.openxmlformats.org/officeDocument/2006/relationships/image" Target="../media/image473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Relationship Id="rId3" Type="http://schemas.openxmlformats.org/officeDocument/2006/relationships/image" Target="../media/image475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Relationship Id="rId3" Type="http://schemas.openxmlformats.org/officeDocument/2006/relationships/image" Target="../media/image477.png"/><Relationship Id="rId4" Type="http://schemas.openxmlformats.org/officeDocument/2006/relationships/image" Target="../media/image478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Relationship Id="rId3" Type="http://schemas.openxmlformats.org/officeDocument/2006/relationships/image" Target="../media/image480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Relationship Id="rId3" Type="http://schemas.openxmlformats.org/officeDocument/2006/relationships/image" Target="../media/image482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Relationship Id="rId3" Type="http://schemas.openxmlformats.org/officeDocument/2006/relationships/image" Target="../media/image488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Relationship Id="rId3" Type="http://schemas.openxmlformats.org/officeDocument/2006/relationships/image" Target="../media/image490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Relationship Id="rId3" Type="http://schemas.openxmlformats.org/officeDocument/2006/relationships/image" Target="../media/image492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Relationship Id="rId3" Type="http://schemas.openxmlformats.org/officeDocument/2006/relationships/image" Target="../media/image494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Relationship Id="rId3" Type="http://schemas.openxmlformats.org/officeDocument/2006/relationships/image" Target="../media/image496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Relationship Id="rId3" Type="http://schemas.openxmlformats.org/officeDocument/2006/relationships/image" Target="../media/image498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 i="0">
                <a:solidFill>
                  <a:srgbClr val="1A1A1A"/>
                </a:solidFill>
                <a:latin typeface="Century Schoolbook"/>
              </a:rPr>
              <a:t>Exponents and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Ten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— Exponents and 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Click a lesson to jump to it. Each lesson numbers its slides from 1, as its Teacher Edition does.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— Exponents and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3.01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3.02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sp>
        <p:nvSpPr>
          <p:cNvPr id="15" name="TextBox 14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3.03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sp>
        <p:nvSpPr>
          <p:cNvPr id="19" name="TextBox 18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72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3.04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sp>
        <p:nvSpPr>
          <p:cNvPr id="23" name="TextBox 22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106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3.05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sp>
        <p:nvSpPr>
          <p:cNvPr id="27" name="TextBox 26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140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3.06–07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sp>
        <p:nvSpPr>
          <p:cNvPr id="31" name="TextBox 30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174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T-A1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sp>
        <p:nvSpPr>
          <p:cNvPr id="35" name="TextBox 34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209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T-A2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sp>
        <p:nvSpPr>
          <p:cNvPr id="39" name="TextBox 38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243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hlinkClick action="ppaction://hlinksldjump" r:id="rId10"/>
          </p:cNvPr>
          <p:cNvSpPr txBox="1"/>
          <p:nvPr/>
        </p:nvSpPr>
        <p:spPr>
          <a:xfrm>
            <a:off x="1143000" y="514807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3.08</a:t>
            </a:r>
          </a:p>
        </p:txBody>
      </p:sp>
      <p:sp>
        <p:nvSpPr>
          <p:cNvPr id="42" name="TextBox 41">
            <a:hlinkClick action="ppaction://hlinksldjump" r:id="rId10"/>
          </p:cNvPr>
          <p:cNvSpPr txBox="1"/>
          <p:nvPr/>
        </p:nvSpPr>
        <p:spPr>
          <a:xfrm>
            <a:off x="2560320" y="514807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sp>
        <p:nvSpPr>
          <p:cNvPr id="43" name="TextBox 42">
            <a:hlinkClick action="ppaction://hlinksldjump" r:id="rId10"/>
          </p:cNvPr>
          <p:cNvSpPr txBox="1"/>
          <p:nvPr/>
        </p:nvSpPr>
        <p:spPr>
          <a:xfrm>
            <a:off x="9555480" y="514807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277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143000" y="560527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hlinkClick action="ppaction://hlinksldjump" r:id="rId11"/>
          </p:cNvPr>
          <p:cNvSpPr txBox="1"/>
          <p:nvPr/>
        </p:nvSpPr>
        <p:spPr>
          <a:xfrm>
            <a:off x="1143000" y="556869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3.09</a:t>
            </a:r>
          </a:p>
        </p:txBody>
      </p:sp>
      <p:sp>
        <p:nvSpPr>
          <p:cNvPr id="46" name="TextBox 45">
            <a:hlinkClick action="ppaction://hlinksldjump" r:id="rId11"/>
          </p:cNvPr>
          <p:cNvSpPr txBox="1"/>
          <p:nvPr/>
        </p:nvSpPr>
        <p:spPr>
          <a:xfrm>
            <a:off x="2560320" y="556869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sp>
        <p:nvSpPr>
          <p:cNvPr id="47" name="TextBox 46">
            <a:hlinkClick action="ppaction://hlinksldjump" r:id="rId11"/>
          </p:cNvPr>
          <p:cNvSpPr txBox="1"/>
          <p:nvPr/>
        </p:nvSpPr>
        <p:spPr>
          <a:xfrm>
            <a:off x="9555480" y="556869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311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143000" y="602589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95453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9446" y="2372868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40088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  <p:pic>
        <p:nvPicPr>
          <p:cNvPr id="21" name="Picture 20" descr="3a92952d92bb77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3467" y="3621024"/>
            <a:ext cx="170688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0ab145e8ca7379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500" y="4709160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6468" y="4652772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3b6b0e0ba8659f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1" y="4535424"/>
            <a:ext cx="2548128" cy="6918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979221dae3c66b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536" y="2340864"/>
            <a:ext cx="4346448" cy="411480"/>
          </a:xfrm>
          <a:prstGeom prst="rect">
            <a:avLst/>
          </a:prstGeom>
        </p:spPr>
      </p:pic>
      <p:pic>
        <p:nvPicPr>
          <p:cNvPr id="12" name="Picture 11" descr="3ebe349f0ffa36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781" y="3028188"/>
            <a:ext cx="359664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9421" y="3003804"/>
            <a:ext cx="5356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5324"/>
            <a:ext cx="34192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90652a6387118d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655" y="3810000"/>
            <a:ext cx="2313432" cy="3078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2836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381f7ba218ba42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54652"/>
            <a:ext cx="3934968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a972b1c36f6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1" y="2342388"/>
            <a:ext cx="861669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530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7d1b404025905c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559" y="3104388"/>
            <a:ext cx="2420112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6a79f5fbe0b8b3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2940"/>
            <a:ext cx="3739896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7448" y="4448555"/>
            <a:ext cx="12086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25abd5cd359cd5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891" y="4472940"/>
            <a:ext cx="28407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3248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ba570017fc9cc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435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36379" y="4128515"/>
            <a:ext cx="2486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61e89ca5117b4f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661" y="4186428"/>
            <a:ext cx="97536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1638dccdf2248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731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3312" y="1865376"/>
            <a:ext cx="62209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4bce5fcbc09ba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502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21024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939d17ddf54fca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10512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6512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f61491015b87f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352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96ff584766950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7380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816ea1a633337a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1697736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3736" y="258318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ed67bc8f2938c1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1840"/>
            <a:ext cx="1697736" cy="405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3736" y="326593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4c6670a1f9083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c64ca1a4dc51bf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4405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rectangle is  </a:t>
            </a:r>
          </a:p>
        </p:txBody>
      </p:sp>
      <p:pic>
        <p:nvPicPr>
          <p:cNvPr id="10" name="Picture 9" descr="d5ca6e2822ee53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866" y="1941575"/>
            <a:ext cx="26822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06090" y="1851660"/>
            <a:ext cx="3699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 and  </a:t>
            </a:r>
          </a:p>
        </p:txBody>
      </p:sp>
      <p:pic>
        <p:nvPicPr>
          <p:cNvPr id="12" name="Picture 11" descr="ad43ae3bbc8b22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898" y="1943100"/>
            <a:ext cx="268224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37122" y="1851660"/>
            <a:ext cx="30237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wide.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perimeter is 40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area of the rectangle, in square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4405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rectangle is  </a:t>
            </a:r>
          </a:p>
        </p:txBody>
      </p:sp>
      <p:pic>
        <p:nvPicPr>
          <p:cNvPr id="10" name="Picture 9" descr="5257a77d61b89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866" y="1943100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12186" y="1851660"/>
            <a:ext cx="3699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 and  </a:t>
            </a:r>
          </a:p>
        </p:txBody>
      </p:sp>
      <p:pic>
        <p:nvPicPr>
          <p:cNvPr id="12" name="Picture 11" descr="fcc0337caf95aa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994" y="1943100"/>
            <a:ext cx="271272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46266" y="1851660"/>
            <a:ext cx="30237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wide.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perimeter is 40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area of the rectangle, in square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b6b82c3fc17cd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79" y="2103120"/>
            <a:ext cx="128016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5097bf00c9366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c3793d359b5c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448" y="2103120"/>
            <a:ext cx="118262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53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33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0fac146190426f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23" y="2103120"/>
            <a:ext cx="957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5b98b742702029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1" y="2103120"/>
            <a:ext cx="250545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f58654af4b9460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94560"/>
            <a:ext cx="233476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a9bbd2622d9f1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103120"/>
            <a:ext cx="233172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1736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8b8d08dca6c5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5648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7912" y="274657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89558" y="274657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6388" y="265513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45831de1d391fe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506" y="2679523"/>
            <a:ext cx="1941576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91082" y="265513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exponents — BFA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same base, add the exponents.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same base, subtract — and exponent 0 is not 0.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6" name="Picture 15" descr="18ea63a1522c26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pic>
        <p:nvPicPr>
          <p:cNvPr id="11" name="Picture 10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360" y="1848611"/>
            <a:ext cx="25908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27211" y="2372868"/>
            <a:ext cx="575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3136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9" name="Picture 18" descr="18ea63a1522c26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66596" y="359816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fc742bc47e6f6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752" y="2340864"/>
            <a:ext cx="5462016" cy="813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81400"/>
            <a:ext cx="353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3" name="Picture 12" descr="99376a582dd72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871" y="3474720"/>
            <a:ext cx="1749552" cy="67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34423" y="3581400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5" name="Picture 14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607" y="3640836"/>
            <a:ext cx="789432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84039" y="3581400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579620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8" name="Picture 17" descr="74344545705a48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01312"/>
            <a:ext cx="3621024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2c69fb4c92c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220" y="2340864"/>
            <a:ext cx="635508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584448"/>
            <a:ext cx="36134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669ee74891112a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855" y="3471672"/>
            <a:ext cx="16916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55495" y="3584448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a22d74845d9bf1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0" y="3642359"/>
            <a:ext cx="786384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2064" y="3584448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87240"/>
            <a:ext cx="2033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efb58e8ff7264b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4121" y="4410456"/>
            <a:ext cx="3188208" cy="810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72329" y="4587240"/>
            <a:ext cx="1265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1d8df7a17576de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1091" y="4611624"/>
            <a:ext cx="22311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2340864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885" y="3337560"/>
            <a:ext cx="1630680" cy="7985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48565" y="3508248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3484dae0b8b01f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543" y="3337560"/>
            <a:ext cx="2350008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48551" y="3508248"/>
            <a:ext cx="171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7798067ac75298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186" y="3567683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33315"/>
            <a:ext cx="2787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591c8ddcc96ae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835" y="4491228"/>
            <a:ext cx="941832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9667" y="4433315"/>
            <a:ext cx="3406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c030b8e94fe02f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992" y="4570476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66659ac1f0ea04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88" y="2103120"/>
            <a:ext cx="923544" cy="947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665e93b2158cd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986784" cy="94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2784" y="2164080"/>
            <a:ext cx="51114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subtract</a:t>
            </a:r>
          </a:p>
        </p:txBody>
      </p:sp>
      <p:pic>
        <p:nvPicPr>
          <p:cNvPr id="11" name="Picture 10" descr="a6bb031371915f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9440"/>
            <a:ext cx="1758696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44696" y="311505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three negative factors</a:t>
            </a:r>
          </a:p>
        </p:txBody>
      </p:sp>
      <p:pic>
        <p:nvPicPr>
          <p:cNvPr id="13" name="Picture 12" descr="1a7fe49e913d8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22192"/>
            <a:ext cx="2353056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39056" y="376885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divide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299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309fc1c6c87d6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0a43ae0750e3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94560"/>
            <a:ext cx="463296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326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subtract: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decimal base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43cc8ad2e0ead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103120"/>
            <a:ext cx="1097280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ab80e4044f303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1136" y="2098548"/>
            <a:ext cx="534314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</a:t>
            </a:r>
          </a:p>
        </p:txBody>
      </p:sp>
      <p:pic>
        <p:nvPicPr>
          <p:cNvPr id="11" name="Picture 10" descr="e1269a6bd04833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8376"/>
            <a:ext cx="3486912" cy="691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72912" y="3125724"/>
            <a:ext cx="5611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by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: four places left</a:t>
            </a:r>
          </a:p>
        </p:txBody>
      </p:sp>
      <p:pic>
        <p:nvPicPr>
          <p:cNvPr id="13" name="Picture 12" descr="ac2b58a90d22f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74592"/>
            <a:ext cx="3447288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33288" y="3951731"/>
            <a:ext cx="565099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divide first, then raise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e60d4cb6647bee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94560"/>
            <a:ext cx="966216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74bc3eff5c14b1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1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numerator and denominator both cubed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90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8fdb0141a7d8d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563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858f7499cc3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095" y="2194560"/>
            <a:ext cx="71932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0b61f7be1f45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03120"/>
            <a:ext cx="716280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10" name="Picture 9" descr="138fda74184657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38527"/>
            <a:ext cx="25908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40453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10" name="Picture 9" descr="7c23c9fd82d9d4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40052"/>
            <a:ext cx="26517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46549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1252d608a8797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1197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97669c0d54b74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1191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9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(−6)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615f3e719211e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Apply the power of a quotient law. Do not simplify.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60e9dabd7b640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91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goes to both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49331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55647924d788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4663440"/>
            <a:ext cx="1152144" cy="108813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17e435e9fa7e4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7" y="2103120"/>
            <a:ext cx="420624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d177fa159bf9a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02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a899e53ebcbfa2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03120"/>
            <a:ext cx="463296" cy="9997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14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7fd8a7336ddfa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088" y="2194560"/>
            <a:ext cx="847344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73bf2466d9323c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611" y="2103120"/>
            <a:ext cx="844296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41e42a07b259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9456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262fa269296131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0312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69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any nonzero base to the zero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338" y="2366772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62ec99fb62ba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624" y="2194560"/>
            <a:ext cx="1627632" cy="801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366772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814e799b3c3f0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94560"/>
            <a:ext cx="1161288" cy="801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4745" y="23667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050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one did, and what it tells you about 2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290" y="2273807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576" y="2103120"/>
            <a:ext cx="1630680" cy="79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273807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1b1a2270832c8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03120"/>
            <a:ext cx="1164336" cy="798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7793" y="2273807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7601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96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right, so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must equal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Division with exponents — XNC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seven laws,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several laws in one expression — the order is yours.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46939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4126" y="1760220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8447" y="262585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9764" y="2625852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23844"/>
            <a:ext cx="1658112" cy="2865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96120" y="3238500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934968"/>
            <a:ext cx="1112520" cy="289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8955" y="385114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 It is your reference for the rest of the unit.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340864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students, two orders, one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30561" y="2514600"/>
            <a:ext cx="1854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2" name="Picture 11" descr="2d268109f28c9a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390" y="2340864"/>
            <a:ext cx="3782568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43041" y="3663696"/>
            <a:ext cx="1621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4" name="Picture 13" descr="20e6fc4620e3ea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022" y="3419856"/>
            <a:ext cx="4791456" cy="944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703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404872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1187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61187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43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343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074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5033771"/>
            <a:ext cx="40781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b0973f9ba7881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864" y="5085587"/>
            <a:ext cx="3118104" cy="3535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0968" y="5033771"/>
            <a:ext cx="1002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c3382604741c40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485" y="5091683"/>
            <a:ext cx="326136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32621" y="5033771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zero exponent inside a product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c240cefdf3b14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0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— Caroline's plan and Jamir's plan.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fcc880844c57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6664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2664" y="2093976"/>
            <a:ext cx="60716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Caroline: product of powers first</a:t>
            </a:r>
          </a:p>
        </p:txBody>
      </p:sp>
      <p:pic>
        <p:nvPicPr>
          <p:cNvPr id="11" name="Picture 10" descr="4c8aa7fdd39a68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3041904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27904" y="3172968"/>
            <a:ext cx="605637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Jamir: zero exponent first</a:t>
            </a:r>
          </a:p>
        </p:txBody>
      </p:sp>
      <p:pic>
        <p:nvPicPr>
          <p:cNvPr id="13" name="Picture 12" descr="8fb9fcec01a757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981199" cy="804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7199" y="42519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both: quotient of powers, then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3400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ecdab13571b72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36" y="2194560"/>
            <a:ext cx="1222248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d381195bd435c1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683" y="2194560"/>
            <a:ext cx="1216152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65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Three laws, a decimal and 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30d1cf39c0294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2103120"/>
            <a:ext cx="21945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86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f14d1bdb840e7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04360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90360" y="2132076"/>
            <a:ext cx="4693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exponent; power of a quotient, backwards</a:t>
            </a:r>
          </a:p>
        </p:txBody>
      </p:sp>
      <p:pic>
        <p:nvPicPr>
          <p:cNvPr id="11" name="Picture 10" descr="d8954ab13f1548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75432"/>
            <a:ext cx="2798064" cy="701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4064" y="3197352"/>
            <a:ext cx="6300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inside: −15 ÷ 1.5 = −10</a:t>
            </a:r>
          </a:p>
        </p:txBody>
      </p:sp>
      <p:pic>
        <p:nvPicPr>
          <p:cNvPr id="13" name="Picture 12" descr="c6322a59797434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2508504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94504" y="402793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four negative factors: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19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274e6fec14c7e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5" y="2194560"/>
            <a:ext cx="2151888" cy="1091184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e1a3a8f726b8bf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91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057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· (−12 ÷ 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10" name="Picture 9" descr="ef1987aeb6be68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38527"/>
            <a:ext cx="268224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1172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2" name="Picture 11" descr="bd667566e598f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3812" y="1940052"/>
            <a:ext cx="26822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2036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10" name="Picture 9" descr="08d825ede09be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40052"/>
            <a:ext cx="271272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64220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2" name="Picture 11" descr="e32dba3262b93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860" y="1940052"/>
            <a:ext cx="26822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5084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3af1907ef808e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415" y="2103120"/>
            <a:ext cx="169468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32948134bf5e3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7bfc7057b3b2cf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03120"/>
            <a:ext cx="1389888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5b85e638d34eb1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e041e4b255d1e3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03120"/>
            <a:ext cx="1600200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 exponent 1 changes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85a5d92abe26b9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194560"/>
            <a:ext cx="2148840" cy="1100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3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c78ed1ad0d5de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94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6dd69d05a8fa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9456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90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916206a62c8d46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03120"/>
            <a:ext cx="201168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7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51f9e7dda47d97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99" y="2103120"/>
            <a:ext cx="248412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a2077b17c7711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2f375830fedea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31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6876" y="2369820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8510a940fc605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94560"/>
            <a:ext cx="2185416" cy="80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3032" y="2369820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895c1949fc6ae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94560"/>
            <a:ext cx="1932432" cy="807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4207" y="23698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Name the law each one used first, and give the value.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8400" y="2276856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7499f9d1d2ab2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140" y="2103120"/>
            <a:ext cx="2188464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7604" y="2276856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dc00211af1d70f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347" y="2103120"/>
            <a:ext cx="1926335" cy="8046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2683" y="227685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821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802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plans end at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stopped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keep going — and 5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-2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7" name="Picture 16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9" name="Picture 18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0262" y="1760220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3" name="Picture 12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5878" y="2625852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4912" y="3238500"/>
            <a:ext cx="11302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20" name="Picture 19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2" name="Picture 21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4" name="Picture 23" descr="c947c2e93b2d33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474464"/>
            <a:ext cx="170688" cy="5547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76728" y="4523232"/>
            <a:ext cx="1173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6" name="Picture 25" descr="a339c6c78254d9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149" y="4474464"/>
            <a:ext cx="37795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1375e471a197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960" y="3337560"/>
            <a:ext cx="1316736" cy="73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18696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4" name="Picture 13" descr="e662eafaba09aa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120" y="3337560"/>
            <a:ext cx="196900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39128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6" name="Picture 15" descr="97a68c5b0d6f07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551" y="3337560"/>
            <a:ext cx="1969008" cy="734568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b26dd1c4f061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725" y="2340864"/>
            <a:ext cx="1362456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0181" y="24490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d3322f317e3cda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173" y="2340864"/>
            <a:ext cx="13959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12157" y="244906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679" y="2508504"/>
            <a:ext cx="78943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64111" y="244906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01a1e8399ce2f9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114" y="3288792"/>
            <a:ext cx="2170176" cy="7406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67290" y="3430524"/>
            <a:ext cx="1922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4d0780cba10826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2483" y="3488436"/>
            <a:ext cx="1682496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34979" y="3430524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06d6b57bc03862b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4957" y="3456432"/>
            <a:ext cx="1679448" cy="4053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367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5256275"/>
            <a:ext cx="44334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6487353c74996e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3880" y="5081015"/>
            <a:ext cx="4267200" cy="807720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f5217f7eb4021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219" y="2340864"/>
            <a:ext cx="4831080" cy="752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8293" y="3345180"/>
            <a:ext cx="11244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9ad19008f4436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546" y="3400044"/>
            <a:ext cx="4297680" cy="347472"/>
          </a:xfrm>
          <a:prstGeom prst="rect">
            <a:avLst/>
          </a:prstGeom>
        </p:spPr>
      </p:pic>
      <p:pic>
        <p:nvPicPr>
          <p:cNvPr id="13" name="Picture 12" descr="986b589c42d285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9955" y="4053839"/>
            <a:ext cx="3721608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1512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Negative exponents top and bottom.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55e053ce9247b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29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6e883f301281d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8074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66744" y="21000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each power swaps sides and loses the minus</a:t>
            </a:r>
          </a:p>
        </p:txBody>
      </p:sp>
      <p:pic>
        <p:nvPicPr>
          <p:cNvPr id="11" name="Picture 10" descr="bdb5dbd5190fc4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276453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50536" y="3185159"/>
            <a:ext cx="633374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04c00c9d3a9d2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395fcf61f0d867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94560"/>
            <a:ext cx="70408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95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swap sides, positive exponents: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64515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8b652a33b6da2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480560"/>
            <a:ext cx="259080" cy="877824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quotient law crossing zero.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ffd0e25f89e0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b0ea9280595c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912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5128" y="2093976"/>
            <a:ext cx="616915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0 − (−4) = 4</a:t>
            </a:r>
          </a:p>
        </p:txBody>
      </p:sp>
      <p:pic>
        <p:nvPicPr>
          <p:cNvPr id="11" name="Picture 10" descr="a0522eb547e4ba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236829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54296" y="3172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exponent, then move 7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up</a:t>
            </a:r>
          </a:p>
        </p:txBody>
      </p:sp>
      <p:pic>
        <p:nvPicPr>
          <p:cNvPr id="13" name="Picture 12" descr="f5e46e308b616f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53009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6096" y="40233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828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d867da857833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94560"/>
            <a:ext cx="139598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d647a6f29dfd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002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−4 − (−6) = 2, so (−8)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45cde1f9722bf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243" y="2103120"/>
            <a:ext cx="63703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e3379378f643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sheet of paper 30 centimeters long is folded in half 7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fold makes the top layer half as big.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whole sheet is the top layer after 7 folds?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sheet of paper 30 centimeters long is folded in half 7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fold makes the top layer half as big.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whole sheet is the top layer after 7 folds?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01262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halved 7 times: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116" y="489959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4" name="Picture 13" descr="b025bbe2352d1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356" y="4744145"/>
            <a:ext cx="7650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229e5926a19b9f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76" y="2194560"/>
            <a:ext cx="963167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8f039f30161276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99" y="2103120"/>
            <a:ext cx="960120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101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up: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79a5e9e1457730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−8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2603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c4ffcbfe2b298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844" y="4663440"/>
            <a:ext cx="576072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0b09890174e136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1/25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c950f888df2a10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3a37a698b11c2b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d5e2dc9bfa32d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with a positive exponent.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4d44fa8d60938d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03120"/>
            <a:ext cx="704088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04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600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17cb56101b516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41832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1600" y="217170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27" y="2229612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6631" y="217170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0076" y="208026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04a54a40cd0eb4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803" y="2138171"/>
            <a:ext cx="530352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8155" y="208026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reciprocal, not opposite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a negative exponent means reciprocal.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fraction — so the reciprocal flips it.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82be0161615a5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4" name="Picture 13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6" name="Picture 15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9" name="Picture 18" descr="e5446a4e89f9a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pic>
        <p:nvPicPr>
          <p:cNvPr id="11" name="Picture 10" descr="0f45754c5988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310" y="1783080"/>
            <a:ext cx="170688" cy="5547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3" name="Picture 12" descr="82be0161615a5d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pic>
        <p:nvPicPr>
          <p:cNvPr id="14" name="Picture 13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494" y="2462784"/>
            <a:ext cx="27127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6" name="Picture 15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8" name="Picture 17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0" name="Picture 19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125" y="3264408"/>
            <a:ext cx="265176" cy="283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95301" y="3177540"/>
            <a:ext cx="16163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3" name="Picture 22" descr="e5446a4e89f9a3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  <p:pic>
        <p:nvPicPr>
          <p:cNvPr id="24" name="Picture 23" descr="84c4e18228051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8059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51760" y="2340864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05dd24fbf391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785" y="2340864"/>
            <a:ext cx="2133600" cy="691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5385" y="2458212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2e707716356433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907" y="2516124"/>
            <a:ext cx="115214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051" y="2458212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33556cc2e82731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5588" y="3307080"/>
            <a:ext cx="3075432" cy="697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1020" y="342747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7adc35e6f9ec4d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011" y="3311652"/>
            <a:ext cx="2788920" cy="688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43434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5166359"/>
            <a:ext cx="55453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dee9fbc307a9f9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5757" y="5056631"/>
            <a:ext cx="3230880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90af24b50c4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163" y="2340864"/>
            <a:ext cx="8013192" cy="816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9605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Flip, then 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ed1bed15013a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e941bf8846b5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8064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84064" y="2037588"/>
            <a:ext cx="6300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flip the base; the sign stays</a:t>
            </a:r>
          </a:p>
        </p:txBody>
      </p:sp>
      <p:pic>
        <p:nvPicPr>
          <p:cNvPr id="11" name="Picture 10" descr="b75e3c313a78d6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1889760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75760" y="300685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even power: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7f1f688f77ec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94560"/>
            <a:ext cx="15636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55ea4267017c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424" y="2194560"/>
            <a:ext cx="156667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(−2/5)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odd power, 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5" y="46421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acffea294d431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335" y="4480560"/>
            <a:ext cx="1085088" cy="871728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laws, then a flip.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8ecac4debf08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820" y="2103120"/>
            <a:ext cx="2087880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7936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0be869d41e0d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239512" cy="6949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5512" y="2039112"/>
            <a:ext cx="38587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</a:t>
            </a:r>
          </a:p>
        </p:txBody>
      </p:sp>
      <p:pic>
        <p:nvPicPr>
          <p:cNvPr id="11" name="Picture 10" descr="268771bcd93959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9504"/>
            <a:ext cx="1621536" cy="694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07536" y="300837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already positive: no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a7f97d6945899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194560"/>
            <a:ext cx="352958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40cdd198e50607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94560"/>
            <a:ext cx="353263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exponent −10, then flip: (−4/5)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4735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269d301dd5e8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976" y="4480560"/>
            <a:ext cx="1511808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21764"/>
            <a:ext cx="53577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is set to shrink a page to  </a:t>
            </a:r>
          </a:p>
        </p:txBody>
      </p:sp>
      <p:pic>
        <p:nvPicPr>
          <p:cNvPr id="10" name="Picture 9" descr="e8022fa09c25c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019" y="1874519"/>
            <a:ext cx="170688" cy="5516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5707" y="1921764"/>
            <a:ext cx="1873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its size.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2737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page 6 inches wide is copied 4 times in a row, each copy from the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9584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original page's size is the last copy?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23287"/>
            <a:ext cx="53577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is set to shrink a page to  </a:t>
            </a:r>
          </a:p>
        </p:txBody>
      </p:sp>
      <p:pic>
        <p:nvPicPr>
          <p:cNvPr id="10" name="Picture 9" descr="024e90b41a6caf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019" y="1874519"/>
            <a:ext cx="164592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19611" y="1923287"/>
            <a:ext cx="1873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its size.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30424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page 6 inches wide is copied 4 times in a row, each copy from the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9889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original page's size is the last copy?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2943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7" y="51209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7dd35ac51a0ee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960951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23a87bc643d7e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2" y="2194560"/>
            <a:ext cx="1575816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7b4aab4c0a6cc8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28" y="2103120"/>
            <a:ext cx="1578864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numbers; the sign stays in the 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4651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37676bd53bd7e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891" y="4663440"/>
            <a:ext cx="1331976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c08fd56f1b4e3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94560"/>
            <a:ext cx="158496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bc194338a8886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03120"/>
            <a:ext cx="158496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(−9/8)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81/64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148abf2051aa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285e954aff8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bf10b2e2dc356d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9516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2c7971114380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4663440"/>
            <a:ext cx="1222248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fb95563de5133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de3072ed6d5fe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103120"/>
            <a:ext cx="1560576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31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e9242358ed1b2b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9456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528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7243053f2f7c3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0312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34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983316d8a340e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94560"/>
            <a:ext cx="2575560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cccf2e6aacb49b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5" y="2103120"/>
            <a:ext cx="25786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52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041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7c2f03a9ba86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18abdc6135b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656" y="2194560"/>
            <a:ext cx="3188208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with one base and one positive exponent.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7d2314fb4fc511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07" y="2103120"/>
            <a:ext cx="3194304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69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inside, then power of a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296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e17728107926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199" y="4663440"/>
            <a:ext cx="97536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3551" y="2304288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bcbcbf803cfe7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53" y="2194560"/>
            <a:ext cx="1246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5185" y="2304288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9b43b28c955127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94560"/>
            <a:ext cx="774192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negative exponent does, and what it does not do. Give the correct rewrite.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8979" y="2215896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61e0767165f6b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981" y="2103120"/>
            <a:ext cx="1252728" cy="682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709" y="2215896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5c0a9d4ef3b8e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300" y="2103120"/>
            <a:ext cx="7772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0601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80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flips the fraction; it never touches the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So far: every law, every kind of base, every kind of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use all of it at once — and rewrite bases to compare.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136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a4522c3024ca65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538984"/>
            <a:ext cx="463296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518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574a5d3a612aa1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346704"/>
            <a:ext cx="469392" cy="667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192524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pic>
        <p:nvPicPr>
          <p:cNvPr id="11" name="Picture 10" descr="b2f9cb953a93e9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383536"/>
            <a:ext cx="1152144" cy="5577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1716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a4522c3024ca65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142488"/>
            <a:ext cx="463296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14235" y="31196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55363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574a5d3a612aa1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2299" y="3950207"/>
            <a:ext cx="469392" cy="6675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20331" y="3927347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796027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9" name="Picture 18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654" y="4887467"/>
            <a:ext cx="26822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97878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1" name="Picture 20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4" y="4887467"/>
            <a:ext cx="265176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00030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7005" y="4884419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2836" y="2491740"/>
            <a:ext cx="18116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071da3cb12a3a9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283" y="2340864"/>
            <a:ext cx="3581400" cy="758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90638" y="3694176"/>
            <a:ext cx="17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76734bcd012bfd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065" y="3374136"/>
            <a:ext cx="5004816" cy="1097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worked line.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59ee1a209667e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328" y="2340864"/>
            <a:ext cx="538886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60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3" name="Picture 12" descr="6c3d06b279be6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3296"/>
            <a:ext cx="3535680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23232" y="4387596"/>
            <a:ext cx="4614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5" name="Picture 14" descr="e9e6240f6a5ac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245" y="4273296"/>
            <a:ext cx="792480" cy="685800"/>
          </a:xfrm>
          <a:prstGeom prst="rect">
            <a:avLst/>
          </a:prstGeom>
        </p:spPr>
      </p:pic>
      <p:pic>
        <p:nvPicPr>
          <p:cNvPr id="16" name="Picture 15" descr="b45588bb7e9f07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5215128"/>
            <a:ext cx="1965960" cy="8046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53512" y="5388864"/>
            <a:ext cx="6270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8" name="Picture 17" descr="d631bf12f968ff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6772" y="5276088"/>
            <a:ext cx="777240" cy="682752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2340864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c34f90c6fc7d4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96" y="4105656"/>
            <a:ext cx="242316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056" y="4082796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9053d689824c5c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79" y="4105656"/>
            <a:ext cx="2295144" cy="411480"/>
          </a:xfrm>
          <a:prstGeom prst="rect">
            <a:avLst/>
          </a:prstGeom>
        </p:spPr>
      </p:pic>
      <p:pic>
        <p:nvPicPr>
          <p:cNvPr id="14" name="Picture 13" descr="a561d3e29393bc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791456"/>
            <a:ext cx="4873752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a7ecf87f384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4" y="2340864"/>
            <a:ext cx="4294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4716" y="245059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505da5ea0c261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707" y="2340864"/>
            <a:ext cx="43007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3558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5954d94571e7ef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073651"/>
            <a:ext cx="1487424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4046219"/>
            <a:ext cx="3404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d16e4daaa9b6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1ca1397ffa03d4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2008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8008" y="2036064"/>
            <a:ext cx="59862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negative exponent: flip</a:t>
            </a:r>
          </a:p>
        </p:txBody>
      </p:sp>
      <p:pic>
        <p:nvPicPr>
          <p:cNvPr id="11" name="Picture 10" descr="f25419565ed35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3408"/>
            <a:ext cx="1697736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3736" y="300380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quotient, then multiply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5586861463d6b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2194560"/>
            <a:ext cx="17922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ba5d3554b7f4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2194560"/>
            <a:ext cx="1798320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 = 25/4 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a56cc9ab8e3b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Equivalent or not?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6109" y="2313432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954" y="2369819"/>
            <a:ext cx="920495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7450" y="231343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69969edd9de468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156" y="2103120"/>
            <a:ext cx="1082040" cy="877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81196" y="2313432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838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dc7ad07cd91fb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7200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53200" y="1865376"/>
            <a:ext cx="4831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product of powers</a:t>
            </a:r>
          </a:p>
        </p:txBody>
      </p:sp>
      <p:pic>
        <p:nvPicPr>
          <p:cNvPr id="11" name="Picture 10" descr="77d3b6258368a7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883152" cy="8747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69152" y="2750820"/>
            <a:ext cx="52151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quotient of powers</a:t>
            </a:r>
          </a:p>
        </p:txBody>
      </p:sp>
      <p:pic>
        <p:nvPicPr>
          <p:cNvPr id="13" name="Picture 12" descr="4af5e130ae69d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91127"/>
            <a:ext cx="229514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81144" y="363626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bases, same exponents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6633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478" y="2528315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8702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566d1e7830f89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408" y="2194560"/>
            <a:ext cx="1350264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60672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8157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7788e03876974c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002" y="2529840"/>
            <a:ext cx="1411224" cy="429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40226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7201d2b15f8c8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32" y="2194560"/>
            <a:ext cx="1347216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59148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49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1e8ec21e00a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956b769eca71d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61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a81991eb38a0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3" y="2194560"/>
            <a:ext cx="2694432" cy="1865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425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1032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b34bc56ecccd0f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067" y="2103120"/>
            <a:ext cx="2691384" cy="1871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42489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−3 − (−2) = −1, so (3/4)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5132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d9a31f1d02f31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980432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2f8b87745f5bc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75" y="2194560"/>
            <a:ext cx="2868168" cy="1432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8df33e2a7e48c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3" y="2103120"/>
            <a:ext cx="2862072" cy="1429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8069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8143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bb7fdb900ba4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547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One flash drive holds  </a:t>
            </a:r>
          </a:p>
        </p:txBody>
      </p:sp>
      <p:pic>
        <p:nvPicPr>
          <p:cNvPr id="10" name="Picture 9" descr="c5917418503255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432" y="1943100"/>
            <a:ext cx="377952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84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24877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Another holds  </a:t>
            </a:r>
          </a:p>
        </p:txBody>
      </p:sp>
      <p:pic>
        <p:nvPicPr>
          <p:cNvPr id="13" name="Picture 12" descr="1d8988fc9968dd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036" y="2552700"/>
            <a:ext cx="252984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38020" y="2464308"/>
            <a:ext cx="6509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 The first one costs 45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Which holds more — or is it the same? Show why.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547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One flash drive holds  </a:t>
            </a:r>
          </a:p>
        </p:txBody>
      </p:sp>
      <p:pic>
        <p:nvPicPr>
          <p:cNvPr id="10" name="Picture 9" descr="b4b5a35a336421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432" y="1943100"/>
            <a:ext cx="38100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5432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24877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Another holds  </a:t>
            </a:r>
          </a:p>
        </p:txBody>
      </p:sp>
      <p:pic>
        <p:nvPicPr>
          <p:cNvPr id="13" name="Picture 12" descr="e7e94afbdd4008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036" y="2552700"/>
            <a:ext cx="256032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41068" y="2464308"/>
            <a:ext cx="6509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 The first one costs 45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Which holds more — or is it the same? Show why.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The same: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2a82b5b2f64aa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1971" y="2103120"/>
            <a:ext cx="41757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8733fd3b94c87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4ef405027ff61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03120"/>
            <a:ext cx="196596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21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00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9a83df8a23e939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798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a58ef65a72479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03120"/>
            <a:ext cx="142646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294" y="230428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928a3b4f052209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46" y="2194560"/>
            <a:ext cx="156972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30428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84e4faf309355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94560"/>
            <a:ext cx="15575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3100" y="230428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296" y="3122675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75" y="3185159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1183" y="3122675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each with base 2, and say what you find.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4246" y="221284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5cc8e379c9f0f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098" y="2103120"/>
            <a:ext cx="1572768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21284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3544f9e4eb8bbb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03120"/>
            <a:ext cx="1560576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6148" y="221284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1772" y="3031236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afdbc5b48ef25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451" y="3093720"/>
            <a:ext cx="524256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2707" y="3031236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85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and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bases were all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letter. Every law still works.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7" name="Picture 16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12702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95605" y="2372868"/>
            <a:ext cx="121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8069" y="3238500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20" name="Picture 19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  <p:pic>
        <p:nvPicPr>
          <p:cNvPr id="21" name="Picture 20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284" y="3909059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7f4dc7bb52f349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024" y="2340864"/>
            <a:ext cx="4245864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49888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4bb1e456c94b13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879" y="2391156"/>
            <a:ext cx="2261616" cy="310896"/>
          </a:xfrm>
          <a:prstGeom prst="rect">
            <a:avLst/>
          </a:prstGeom>
        </p:spPr>
      </p:pic>
      <p:pic>
        <p:nvPicPr>
          <p:cNvPr id="14" name="Picture 13" descr="a285865d99a08f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064" y="3026664"/>
            <a:ext cx="5041392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64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472940"/>
            <a:ext cx="5144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7" name="Picture 16" descr="2a950411e1004b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632" y="4489704"/>
            <a:ext cx="261823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e72c58bfa2a9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64" y="2340864"/>
            <a:ext cx="4227576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44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f6f2fe1277a80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1431" y="2372868"/>
            <a:ext cx="1792224" cy="347472"/>
          </a:xfrm>
          <a:prstGeom prst="rect">
            <a:avLst/>
          </a:prstGeom>
        </p:spPr>
      </p:pic>
      <p:pic>
        <p:nvPicPr>
          <p:cNvPr id="13" name="Picture 12" descr="783225cb699ff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9224" y="3026664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6928" y="30099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1389c559d7859c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919" y="3026664"/>
            <a:ext cx="338937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886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3942cbc98c315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152" y="2340864"/>
            <a:ext cx="4270248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36400" y="25146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0de12726cf0d0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391" y="2406396"/>
            <a:ext cx="1712976" cy="673608"/>
          </a:xfrm>
          <a:prstGeom prst="rect">
            <a:avLst/>
          </a:prstGeom>
        </p:spPr>
      </p:pic>
      <p:pic>
        <p:nvPicPr>
          <p:cNvPr id="13" name="Picture 12" descr="56477ae8447c46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0700" y="3419856"/>
            <a:ext cx="1801368" cy="810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42068" y="359664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7b39cdb0ef566b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059" y="3421379"/>
            <a:ext cx="3032760" cy="807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568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two monomials.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e63dedae86b58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456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90560" y="1903476"/>
            <a:ext cx="30937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regroup: coefficients, x's, y's</a:t>
            </a:r>
          </a:p>
        </p:txBody>
      </p:sp>
      <p:pic>
        <p:nvPicPr>
          <p:cNvPr id="11" name="Picture 10" descr="2f53120bf9dfff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67399" y="2601468"/>
            <a:ext cx="5516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8700badd3bdf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· 3,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of a product, then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9dec83acdd3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8900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60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5a2c92467f9be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4132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7320" y="1897380"/>
            <a:ext cx="615695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product: raise all three factors</a:t>
            </a:r>
          </a:p>
        </p:txBody>
      </p:sp>
      <p:pic>
        <p:nvPicPr>
          <p:cNvPr id="11" name="Picture 10" descr="8affb1101a179d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541264" cy="8168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263" y="2785872"/>
            <a:ext cx="355701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coefficients; subtract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92ab9962e6dc8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107" y="2194560"/>
            <a:ext cx="1289304" cy="121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2770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16p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0123ea625216e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like bases: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00e7a99be8e12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03120"/>
            <a:ext cx="935736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1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10" name="Picture 9" descr="1df02a95485ce3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84641c90e2ee91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597408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60837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10" name="Picture 9" descr="a28e2ea3731f9d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627f906189b40b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63885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: raise the 2 as well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7551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0518fcef0388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8" y="2103120"/>
            <a:ext cx="2645664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4,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a, b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63f3b3a75f7bb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94560"/>
            <a:ext cx="969264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35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57f74e63f18b4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03120"/>
            <a:ext cx="966216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36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94560"/>
            <a:ext cx="1088136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b4ec42ed5af64d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215" y="2103120"/>
            <a:ext cx="108508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242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and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9b87377120470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82244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+ n =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7268" y="2176272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9456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0357" y="2176272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225040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3815" y="21762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0629" y="287273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88950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1407" y="287273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of them did.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5744" y="2084831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c182d5e9af300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9" y="2103120"/>
            <a:ext cx="1338072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1881" y="2084831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633192d31288b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859" y="2133599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5339" y="2084831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9105" y="278129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9c1cc680a1f0e7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635" y="2798063"/>
            <a:ext cx="160629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2931" y="278129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417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— Justina's is Rachel's product, multiplied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exponent on a letter was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x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-3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arrives — and it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4" name="Picture 13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7" name="Picture 16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31776" y="1760220"/>
            <a:ext cx="841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61260"/>
            <a:ext cx="42672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77659" y="237286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6" name="Picture 15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67854" y="298551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5878" y="298551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826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20" name="Picture 19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621024"/>
            <a:ext cx="170688" cy="5516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3096" y="366826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2" name="Picture 21" descr="0ea9c861f6451d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31" y="3621024"/>
            <a:ext cx="170688" cy="551688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566883ffdb2567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253" y="3337560"/>
            <a:ext cx="1335024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76277" y="344728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bdac5bab61ffd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269" y="3337560"/>
            <a:ext cx="1362456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84725" y="344728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6" name="Picture 15" descr="3202774bcb0530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247" y="3506724"/>
            <a:ext cx="783336" cy="338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30583" y="344728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7d04d8cca973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184" y="2377440"/>
            <a:ext cx="1508760" cy="743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75944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4816a7a2bcf2f2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935" y="2340864"/>
            <a:ext cx="2209800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5206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0f65a6bfbd89b5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727" y="2345436"/>
            <a:ext cx="1816608" cy="807720"/>
          </a:xfrm>
          <a:prstGeom prst="rect">
            <a:avLst/>
          </a:prstGeom>
        </p:spPr>
      </p:pic>
      <p:pic>
        <p:nvPicPr>
          <p:cNvPr id="15" name="Picture 14" descr="70bc6e0f1b3eca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3432047"/>
            <a:ext cx="2304288" cy="9204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6908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7aaf26d66cf98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012" y="2374392"/>
            <a:ext cx="4456176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2188" y="2516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1fc48e462d92b6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179" y="2340864"/>
            <a:ext cx="3767328" cy="807720"/>
          </a:xfrm>
          <a:prstGeom prst="rect">
            <a:avLst/>
          </a:prstGeom>
        </p:spPr>
      </p:pic>
      <p:pic>
        <p:nvPicPr>
          <p:cNvPr id="13" name="Picture 12" descr="92a6d22e61379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159" y="3422904"/>
            <a:ext cx="3505200" cy="819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581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monomials with negative exponents.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99ce65e5c8ec57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722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903476"/>
            <a:ext cx="2926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pic>
        <p:nvPicPr>
          <p:cNvPr id="11" name="Picture 10" descr="52caabd3337864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816352" cy="883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02352" y="2831592"/>
            <a:ext cx="62819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move y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down; the 12 and the x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stay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6f4e119bf12e31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7260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fcfdcd223fa6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99" y="4480560"/>
            <a:ext cx="746760" cy="1011936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Several laws in one expression — the state guide's item.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61639b8c49f6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03120"/>
            <a:ext cx="1417320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c62f1bbbc7a81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1704" y="2100072"/>
            <a:ext cx="61325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raise every factor: a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, 4,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-7</a:t>
            </a:r>
          </a:p>
        </p:txBody>
      </p:sp>
      <p:pic>
        <p:nvPicPr>
          <p:cNvPr id="11" name="Picture 10" descr="d55cada8037b33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1399032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85032" y="318668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1,024;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-35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moves up as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42f4571630d5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94560"/>
            <a:ext cx="1773936" cy="1112520"/>
          </a:xfrm>
          <a:prstGeom prst="rect">
            <a:avLst/>
          </a:prstGeom>
        </p:spPr>
      </p:pic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95018b9c2dda3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194560"/>
            <a:ext cx="1776984" cy="1112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62711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27y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move the 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2772" y="47259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636f909b16359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11" y="4480560"/>
            <a:ext cx="935736" cy="1039368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299b72688be4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1372" y="48539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4033d6f9e46bb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663440"/>
            <a:ext cx="478536" cy="929640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0a7739fb7946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94560"/>
            <a:ext cx="716280" cy="103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1b19adcea2f05b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2103120"/>
            <a:ext cx="713232" cy="10332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107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88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brightness of a lamp from  </a:t>
            </a:r>
          </a:p>
        </p:txBody>
      </p:sp>
      <p:pic>
        <p:nvPicPr>
          <p:cNvPr id="10" name="Picture 9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23" y="2005584"/>
            <a:ext cx="158496" cy="149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1819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2" name="Picture 11" descr="47fe29c90fa7b5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47" y="1940052"/>
            <a:ext cx="585216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68063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15 centimeters tall.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bright is the lamp from 2 meters away?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488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brightness of a lamp from  </a:t>
            </a:r>
          </a:p>
        </p:txBody>
      </p:sp>
      <p:pic>
        <p:nvPicPr>
          <p:cNvPr id="10" name="Picture 9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23" y="2005584"/>
            <a:ext cx="158496" cy="149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1819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2" name="Picture 11" descr="69ad6c7cdf468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47" y="1940052"/>
            <a:ext cx="58826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71111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15 centimeters tall.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bright is the lamp from 2 meters away?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65680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110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c414c4c741c779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340" y="4663440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positive exponents.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c896e7a3b1e79b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580" y="2103120"/>
            <a:ext cx="1356360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1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factors move 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9536" y="49042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532a74f60c6ce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76" y="4663440"/>
            <a:ext cx="902208" cy="1030224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1b7d9d459c2854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004" y="2103120"/>
            <a:ext cx="142951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1768e3b0aaa3b8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03120"/>
            <a:ext cx="144780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61aec65184b6be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7" y="2194560"/>
            <a:ext cx="603504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with a positive exponent.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00d9c35b01c5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055" y="2103120"/>
            <a:ext cx="597408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832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then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74f00062d590b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7" y="4663440"/>
            <a:ext cx="60350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06d7fcaebeec00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687" y="2820924"/>
            <a:ext cx="1914144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+ n =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17170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22808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1717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22808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17170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5540" y="285750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94589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5544" y="28575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6774" y="208026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3da309422df21a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13664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71323" y="208026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50a3dff9085ab5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13664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2526" y="208026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4016" y="276606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2cebf16dedade3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0684" y="2854452"/>
            <a:ext cx="78638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27068" y="27660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reciprocals: 8 and 1/8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 laws finished — numbers and letters.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go to work on twenty-digit numbers.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42209" y="1760220"/>
            <a:ext cx="769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5131" y="2372868"/>
            <a:ext cx="2426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3604" y="3598164"/>
            <a:ext cx="1511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3401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a362daa5aca8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840" y="2403348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3552" y="2318004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24588923a2e411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47" y="2388108"/>
            <a:ext cx="1551432" cy="316992"/>
          </a:xfrm>
          <a:prstGeom prst="rect">
            <a:avLst/>
          </a:prstGeom>
        </p:spPr>
      </p:pic>
      <p:pic>
        <p:nvPicPr>
          <p:cNvPr id="13" name="Picture 12" descr="8e6cc14ac5e461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8388" y="3031236"/>
            <a:ext cx="3136392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04780" y="30038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067fcc93f2b9d5f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771" y="3037332"/>
            <a:ext cx="3642360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8462689543fb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320" y="2348484"/>
            <a:ext cx="210312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0440" y="25252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23b76398c3e7ac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431" y="2340864"/>
            <a:ext cx="3477768" cy="826008"/>
          </a:xfrm>
          <a:prstGeom prst="rect">
            <a:avLst/>
          </a:prstGeom>
        </p:spPr>
      </p:pic>
      <p:pic>
        <p:nvPicPr>
          <p:cNvPr id="13" name="Picture 12" descr="a006e1f5dbf830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316" y="3441192"/>
            <a:ext cx="4056888" cy="8260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6055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337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Standard form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33cd55185211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3064" cy="3992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89064" y="1891284"/>
            <a:ext cx="4395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3 is in the ten-billions place</a:t>
            </a:r>
          </a:p>
        </p:txBody>
      </p:sp>
      <p:pic>
        <p:nvPicPr>
          <p:cNvPr id="11" name="Picture 10" descr="826a198efbf96e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3848"/>
            <a:ext cx="6544056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30056" y="2532887"/>
            <a:ext cx="255422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0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1 is in the hundred-millions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8167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072" y="2133599"/>
            <a:ext cx="140512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4200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252" y="2136648"/>
            <a:ext cx="1414272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752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ea7fbd33ef479e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24656" y="203758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ecf3b7ddda2003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2386584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72583" y="30617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subtract the exponents</a:t>
            </a:r>
          </a:p>
        </p:txBody>
      </p:sp>
      <p:pic>
        <p:nvPicPr>
          <p:cNvPr id="13" name="Picture 12" descr="8a1e664f4b4116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8496"/>
            <a:ext cx="2026920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2920" y="388467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152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5415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5892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6940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9213e17c26819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8940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c0aa154a2b895b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6560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57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0.75 × 10 = 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796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4 in?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0641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522" y="2225040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4034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2165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2d884c0ec37c9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046" y="2132076"/>
            <a:ext cx="142646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2510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7.2 × 10,000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83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3.56 hundred-thousands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6622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9308" y="222351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powers first.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8380355eb5e9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132076"/>
            <a:ext cx="1414272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9670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7abd88142838d7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356" y="2132076"/>
            <a:ext cx="1386840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950,000 versus 1,200,000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9919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824" y="2225040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20296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348" y="222351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5772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8395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5c1556a2a4007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300" y="2133599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e6a3bddbc4c7d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109472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72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1,000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9023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92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225040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6668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Coefficients, then powers, then multiply.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07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4de1fd42bbb2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976" y="2132076"/>
            <a:ext cx="140817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f8ac844b49182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132076"/>
            <a:ext cx="142341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362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 is not an error.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26" y="217170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417" y="222351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7057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definition.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2502" y="208026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b1be6639231b1d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893" y="2132076"/>
            <a:ext cx="13136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58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558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equal, yes — scientific notation,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— LJQ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on the 10 were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are negative — and the numbers get very small.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5754" y="176022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2" name="Picture 11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4" name="Picture 13" descr="357ee64ca77eb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46" y="2395728"/>
            <a:ext cx="746760" cy="600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4153" y="2985516"/>
            <a:ext cx="1529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20" name="Picture 19" descr="0d671d8905812b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058" y="3621024"/>
            <a:ext cx="746760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7b97c2695b4b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020" y="3364991"/>
            <a:ext cx="1691640" cy="679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25660" y="34762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9756d439c25d70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651" y="3337560"/>
            <a:ext cx="335584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104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b164213b9232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792" y="2369820"/>
            <a:ext cx="323392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0572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5d136b823d619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11" y="2369820"/>
            <a:ext cx="3938016" cy="353568"/>
          </a:xfrm>
          <a:prstGeom prst="rect">
            <a:avLst/>
          </a:prstGeom>
        </p:spPr>
      </p:pic>
      <p:pic>
        <p:nvPicPr>
          <p:cNvPr id="13" name="Picture 12" descr="40f6cd0eb0ebc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8391" y="3058668"/>
            <a:ext cx="4364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960a542aafe9c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276" y="2340864"/>
            <a:ext cx="45567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1036" y="25237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13ef6adfb19a5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27" y="2340864"/>
            <a:ext cx="2490216" cy="822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502151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091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quantity in words,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795759730f8e3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90544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76544" y="2087880"/>
            <a:ext cx="55077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1,332 millionths, as a decimal</a:t>
            </a:r>
          </a:p>
        </p:txBody>
      </p:sp>
      <p:pic>
        <p:nvPicPr>
          <p:cNvPr id="11" name="Picture 10" descr="e86600eaee99c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93801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24016" y="2933700"/>
            <a:ext cx="51602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1 is in the 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0.00067 — the 6 is in the ten-thousandths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19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096" y="2133599"/>
            <a:ext cx="162153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163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684" y="2136648"/>
            <a:ext cx="157581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650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59c7818cbaac33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52144" cy="685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44" y="20345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6b497f46afc4e7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0360"/>
            <a:ext cx="3721608" cy="810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07608" y="3057144"/>
            <a:ext cx="53766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−4 − (−7) = 3</a:t>
            </a:r>
          </a:p>
        </p:txBody>
      </p:sp>
      <p:pic>
        <p:nvPicPr>
          <p:cNvPr id="13" name="Picture 12" descr="60571d6036a338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5448"/>
            <a:ext cx="2450592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6592" y="39364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19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235" y="2185415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40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5724" y="2185415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776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6456" y="2185415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7711" y="2183892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2496b86a47380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16" y="2194560"/>
            <a:ext cx="2008632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83892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8ceadc81776217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94560"/>
            <a:ext cx="2011680" cy="435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7980" y="2183892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04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decimal.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043ff5c9055650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1 in the fourth decimal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3 in?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thousandths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225040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 left.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33d0b83fdac28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132076"/>
            <a:ext cx="16184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2 lands in the ten-thousandths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83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9 is in the hundred-thousandths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895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800" y="2225040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22351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77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3323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98b31f32f5b09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228" y="2133599"/>
            <a:ext cx="1304544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caef7e81c683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3045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42368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075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58" y="222351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29858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544" y="2225040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493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Compare the exponents first.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7708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df917c83e179d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610" y="2132076"/>
            <a:ext cx="160629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32906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1a294302f9ade9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5592" y="2133599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798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&gt; −8, so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the larger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E−6 means ×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665" y="21717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9" y="222656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7187" y="21717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9189" y="28575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023" y="291236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5663" y="28575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 of 10 — compare the coefficients.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6141" y="20802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77a4d57c92c152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975" y="2135124"/>
            <a:ext cx="13167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8711" y="20802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6141" y="27660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ecebfbd77cf00b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975" y="2820924"/>
            <a:ext cx="1316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8711" y="27660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0.02 in and 0.06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