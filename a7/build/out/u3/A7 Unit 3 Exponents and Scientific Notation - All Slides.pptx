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2.xml"/><Relationship Id="rId5" Type="http://schemas.openxmlformats.org/officeDocument/2006/relationships/slide" Target="slide106.xml"/><Relationship Id="rId6" Type="http://schemas.openxmlformats.org/officeDocument/2006/relationships/slide" Target="slide140.xml"/><Relationship Id="rId7" Type="http://schemas.openxmlformats.org/officeDocument/2006/relationships/slide" Target="slide174.xml"/><Relationship Id="rId8" Type="http://schemas.openxmlformats.org/officeDocument/2006/relationships/slide" Target="slide209.xml"/><Relationship Id="rId9" Type="http://schemas.openxmlformats.org/officeDocument/2006/relationships/slide" Target="slide243.xml"/><Relationship Id="rId10" Type="http://schemas.openxmlformats.org/officeDocument/2006/relationships/slide" Target="slide277.xml"/><Relationship Id="rId11" Type="http://schemas.openxmlformats.org/officeDocument/2006/relationships/slide" Target="slide3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81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image" Target="../media/image92.png"/><Relationship Id="rId4" Type="http://schemas.openxmlformats.org/officeDocument/2006/relationships/image" Target="../media/image93.png"/><Relationship Id="rId5" Type="http://schemas.openxmlformats.org/officeDocument/2006/relationships/image" Target="../media/image94.png"/><Relationship Id="rId6" Type="http://schemas.openxmlformats.org/officeDocument/2006/relationships/image" Target="../media/image9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Relationship Id="rId3" Type="http://schemas.openxmlformats.org/officeDocument/2006/relationships/image" Target="../media/image98.png"/><Relationship Id="rId4" Type="http://schemas.openxmlformats.org/officeDocument/2006/relationships/image" Target="../media/image9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Relationship Id="rId3" Type="http://schemas.openxmlformats.org/officeDocument/2006/relationships/image" Target="../media/image102.png"/><Relationship Id="rId4" Type="http://schemas.openxmlformats.org/officeDocument/2006/relationships/image" Target="../media/image10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Relationship Id="rId3" Type="http://schemas.openxmlformats.org/officeDocument/2006/relationships/image" Target="../media/image110.png"/><Relationship Id="rId4" Type="http://schemas.openxmlformats.org/officeDocument/2006/relationships/image" Target="../media/image1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Relationship Id="rId3" Type="http://schemas.openxmlformats.org/officeDocument/2006/relationships/image" Target="../media/image114.png"/><Relationship Id="rId4" Type="http://schemas.openxmlformats.org/officeDocument/2006/relationships/image" Target="../media/image11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Relationship Id="rId3" Type="http://schemas.openxmlformats.org/officeDocument/2006/relationships/image" Target="../media/image118.png"/><Relationship Id="rId4" Type="http://schemas.openxmlformats.org/officeDocument/2006/relationships/image" Target="../media/image11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2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Relationship Id="rId3" Type="http://schemas.openxmlformats.org/officeDocument/2006/relationships/image" Target="../media/image125.png"/><Relationship Id="rId4" Type="http://schemas.openxmlformats.org/officeDocument/2006/relationships/image" Target="../media/image126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Relationship Id="rId3" Type="http://schemas.openxmlformats.org/officeDocument/2006/relationships/image" Target="../media/image12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Relationship Id="rId3" Type="http://schemas.openxmlformats.org/officeDocument/2006/relationships/image" Target="../media/image13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Relationship Id="rId3" Type="http://schemas.openxmlformats.org/officeDocument/2006/relationships/image" Target="../media/image13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Relationship Id="rId3" Type="http://schemas.openxmlformats.org/officeDocument/2006/relationships/image" Target="../media/image14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image" Target="../media/image142.png"/><Relationship Id="rId4" Type="http://schemas.openxmlformats.org/officeDocument/2006/relationships/image" Target="../media/image143.png"/><Relationship Id="rId5" Type="http://schemas.openxmlformats.org/officeDocument/2006/relationships/image" Target="../media/image144.png"/><Relationship Id="rId6" Type="http://schemas.openxmlformats.org/officeDocument/2006/relationships/image" Target="../media/image145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Relationship Id="rId3" Type="http://schemas.openxmlformats.org/officeDocument/2006/relationships/image" Target="../media/image147.png"/><Relationship Id="rId4" Type="http://schemas.openxmlformats.org/officeDocument/2006/relationships/image" Target="../media/image148.png"/><Relationship Id="rId5" Type="http://schemas.openxmlformats.org/officeDocument/2006/relationships/image" Target="../media/image149.png"/><Relationship Id="rId6" Type="http://schemas.openxmlformats.org/officeDocument/2006/relationships/image" Target="../media/image150.png"/><Relationship Id="rId7" Type="http://schemas.openxmlformats.org/officeDocument/2006/relationships/image" Target="../media/image75.png"/><Relationship Id="rId8" Type="http://schemas.openxmlformats.org/officeDocument/2006/relationships/image" Target="../media/image15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Relationship Id="rId3" Type="http://schemas.openxmlformats.org/officeDocument/2006/relationships/image" Target="../media/image153.png"/><Relationship Id="rId4" Type="http://schemas.openxmlformats.org/officeDocument/2006/relationships/image" Target="../media/image154.png"/><Relationship Id="rId5" Type="http://schemas.openxmlformats.org/officeDocument/2006/relationships/image" Target="../media/image155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Relationship Id="rId3" Type="http://schemas.openxmlformats.org/officeDocument/2006/relationships/image" Target="../media/image153.png"/><Relationship Id="rId4" Type="http://schemas.openxmlformats.org/officeDocument/2006/relationships/image" Target="../media/image154.png"/><Relationship Id="rId5" Type="http://schemas.openxmlformats.org/officeDocument/2006/relationships/image" Target="../media/image155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Relationship Id="rId3" Type="http://schemas.openxmlformats.org/officeDocument/2006/relationships/image" Target="../media/image157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Relationship Id="rId3" Type="http://schemas.openxmlformats.org/officeDocument/2006/relationships/image" Target="../media/image159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Relationship Id="rId3" Type="http://schemas.openxmlformats.org/officeDocument/2006/relationships/image" Target="../media/image162.png"/><Relationship Id="rId4" Type="http://schemas.openxmlformats.org/officeDocument/2006/relationships/image" Target="../media/image16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Relationship Id="rId4" Type="http://schemas.openxmlformats.org/officeDocument/2006/relationships/image" Target="../media/image167.png"/><Relationship Id="rId5" Type="http://schemas.openxmlformats.org/officeDocument/2006/relationships/image" Target="../media/image168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Relationship Id="rId3" Type="http://schemas.openxmlformats.org/officeDocument/2006/relationships/image" Target="../media/image171.png"/><Relationship Id="rId4" Type="http://schemas.openxmlformats.org/officeDocument/2006/relationships/image" Target="../media/image17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Relationship Id="rId3" Type="http://schemas.openxmlformats.org/officeDocument/2006/relationships/image" Target="../media/image175.png"/><Relationship Id="rId4" Type="http://schemas.openxmlformats.org/officeDocument/2006/relationships/image" Target="../media/image176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Relationship Id="rId3" Type="http://schemas.openxmlformats.org/officeDocument/2006/relationships/image" Target="../media/image178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Relationship Id="rId3" Type="http://schemas.openxmlformats.org/officeDocument/2006/relationships/image" Target="../media/image180.png"/><Relationship Id="rId4" Type="http://schemas.openxmlformats.org/officeDocument/2006/relationships/image" Target="../media/image181.png"/><Relationship Id="rId5" Type="http://schemas.openxmlformats.org/officeDocument/2006/relationships/image" Target="../media/image18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Relationship Id="rId3" Type="http://schemas.openxmlformats.org/officeDocument/2006/relationships/image" Target="../media/image185.png"/><Relationship Id="rId4" Type="http://schemas.openxmlformats.org/officeDocument/2006/relationships/image" Target="../media/image186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Relationship Id="rId3" Type="http://schemas.openxmlformats.org/officeDocument/2006/relationships/image" Target="../media/image189.png"/><Relationship Id="rId4" Type="http://schemas.openxmlformats.org/officeDocument/2006/relationships/image" Target="../media/image190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Relationship Id="rId3" Type="http://schemas.openxmlformats.org/officeDocument/2006/relationships/image" Target="../media/image193.png"/><Relationship Id="rId4" Type="http://schemas.openxmlformats.org/officeDocument/2006/relationships/image" Target="../media/image194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Relationship Id="rId3" Type="http://schemas.openxmlformats.org/officeDocument/2006/relationships/image" Target="../media/image197.png"/><Relationship Id="rId4" Type="http://schemas.openxmlformats.org/officeDocument/2006/relationships/image" Target="../media/image198.png"/><Relationship Id="rId5" Type="http://schemas.openxmlformats.org/officeDocument/2006/relationships/image" Target="../media/image199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Relationship Id="rId3" Type="http://schemas.openxmlformats.org/officeDocument/2006/relationships/image" Target="../media/image202.png"/><Relationship Id="rId4" Type="http://schemas.openxmlformats.org/officeDocument/2006/relationships/image" Target="../media/image20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Relationship Id="rId3" Type="http://schemas.openxmlformats.org/officeDocument/2006/relationships/image" Target="../media/image206.png"/><Relationship Id="rId4" Type="http://schemas.openxmlformats.org/officeDocument/2006/relationships/image" Target="../media/image207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Relationship Id="rId3" Type="http://schemas.openxmlformats.org/officeDocument/2006/relationships/image" Target="../media/image210.png"/><Relationship Id="rId4" Type="http://schemas.openxmlformats.org/officeDocument/2006/relationships/image" Target="../media/image211.png"/><Relationship Id="rId5" Type="http://schemas.openxmlformats.org/officeDocument/2006/relationships/image" Target="../media/image212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Relationship Id="rId3" Type="http://schemas.openxmlformats.org/officeDocument/2006/relationships/image" Target="../media/image214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Relationship Id="rId3" Type="http://schemas.openxmlformats.org/officeDocument/2006/relationships/image" Target="../media/image216.png"/><Relationship Id="rId4" Type="http://schemas.openxmlformats.org/officeDocument/2006/relationships/image" Target="../media/image217.png"/><Relationship Id="rId5" Type="http://schemas.openxmlformats.org/officeDocument/2006/relationships/image" Target="../media/image218.png"/><Relationship Id="rId6" Type="http://schemas.openxmlformats.org/officeDocument/2006/relationships/image" Target="../media/image43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Relationship Id="rId3" Type="http://schemas.openxmlformats.org/officeDocument/2006/relationships/image" Target="../media/image220.png"/><Relationship Id="rId4" Type="http://schemas.openxmlformats.org/officeDocument/2006/relationships/image" Target="../media/image221.png"/><Relationship Id="rId5" Type="http://schemas.openxmlformats.org/officeDocument/2006/relationships/image" Target="../media/image222.png"/><Relationship Id="rId6" Type="http://schemas.openxmlformats.org/officeDocument/2006/relationships/image" Target="../media/image223.png"/><Relationship Id="rId7" Type="http://schemas.openxmlformats.org/officeDocument/2006/relationships/image" Target="../media/image224.png"/><Relationship Id="rId8" Type="http://schemas.openxmlformats.org/officeDocument/2006/relationships/image" Target="../media/image225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Relationship Id="rId3" Type="http://schemas.openxmlformats.org/officeDocument/2006/relationships/image" Target="../media/image227.png"/><Relationship Id="rId4" Type="http://schemas.openxmlformats.org/officeDocument/2006/relationships/image" Target="../media/image228.png"/><Relationship Id="rId5" Type="http://schemas.openxmlformats.org/officeDocument/2006/relationships/image" Target="../media/image229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Relationship Id="rId3" Type="http://schemas.openxmlformats.org/officeDocument/2006/relationships/image" Target="../media/image227.png"/><Relationship Id="rId4" Type="http://schemas.openxmlformats.org/officeDocument/2006/relationships/image" Target="../media/image228.png"/><Relationship Id="rId5" Type="http://schemas.openxmlformats.org/officeDocument/2006/relationships/image" Target="../media/image229.png"/><Relationship Id="rId6" Type="http://schemas.openxmlformats.org/officeDocument/2006/relationships/image" Target="../media/image230.png"/><Relationship Id="rId7" Type="http://schemas.openxmlformats.org/officeDocument/2006/relationships/image" Target="../media/image23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Relationship Id="rId4" Type="http://schemas.openxmlformats.org/officeDocument/2006/relationships/image" Target="../media/image234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Relationship Id="rId3" Type="http://schemas.openxmlformats.org/officeDocument/2006/relationships/image" Target="../media/image236.png"/><Relationship Id="rId4" Type="http://schemas.openxmlformats.org/officeDocument/2006/relationships/image" Target="../media/image84.png"/><Relationship Id="rId5" Type="http://schemas.openxmlformats.org/officeDocument/2006/relationships/image" Target="../media/image237.png"/><Relationship Id="rId6" Type="http://schemas.openxmlformats.org/officeDocument/2006/relationships/image" Target="../media/image238.png"/><Relationship Id="rId7" Type="http://schemas.openxmlformats.org/officeDocument/2006/relationships/image" Target="../media/image239.png"/><Relationship Id="rId8" Type="http://schemas.openxmlformats.org/officeDocument/2006/relationships/image" Target="../media/image240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Relationship Id="rId3" Type="http://schemas.openxmlformats.org/officeDocument/2006/relationships/image" Target="../media/image242.png"/><Relationship Id="rId4" Type="http://schemas.openxmlformats.org/officeDocument/2006/relationships/image" Target="../media/image243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Relationship Id="rId3" Type="http://schemas.openxmlformats.org/officeDocument/2006/relationships/image" Target="../media/image246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Relationship Id="rId3" Type="http://schemas.openxmlformats.org/officeDocument/2006/relationships/image" Target="../media/image249.png"/><Relationship Id="rId4" Type="http://schemas.openxmlformats.org/officeDocument/2006/relationships/image" Target="../media/image250.png"/><Relationship Id="rId5" Type="http://schemas.openxmlformats.org/officeDocument/2006/relationships/image" Target="../media/image251.png"/><Relationship Id="rId6" Type="http://schemas.openxmlformats.org/officeDocument/2006/relationships/image" Target="../media/image252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Relationship Id="rId3" Type="http://schemas.openxmlformats.org/officeDocument/2006/relationships/image" Target="../media/image255.png"/><Relationship Id="rId4" Type="http://schemas.openxmlformats.org/officeDocument/2006/relationships/image" Target="../media/image256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Relationship Id="rId3" Type="http://schemas.openxmlformats.org/officeDocument/2006/relationships/image" Target="../media/image259.png"/><Relationship Id="rId4" Type="http://schemas.openxmlformats.org/officeDocument/2006/relationships/image" Target="../media/image260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Relationship Id="rId3" Type="http://schemas.openxmlformats.org/officeDocument/2006/relationships/image" Target="../media/image263.png"/><Relationship Id="rId4" Type="http://schemas.openxmlformats.org/officeDocument/2006/relationships/image" Target="../media/image264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Relationship Id="rId3" Type="http://schemas.openxmlformats.org/officeDocument/2006/relationships/image" Target="../media/image25.png"/><Relationship Id="rId4" Type="http://schemas.openxmlformats.org/officeDocument/2006/relationships/image" Target="../media/image266.png"/><Relationship Id="rId5" Type="http://schemas.openxmlformats.org/officeDocument/2006/relationships/image" Target="../media/image267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Relationship Id="rId3" Type="http://schemas.openxmlformats.org/officeDocument/2006/relationships/image" Target="../media/image270.png"/><Relationship Id="rId4" Type="http://schemas.openxmlformats.org/officeDocument/2006/relationships/image" Target="../media/image271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Relationship Id="rId3" Type="http://schemas.openxmlformats.org/officeDocument/2006/relationships/image" Target="../media/image274.png"/><Relationship Id="rId4" Type="http://schemas.openxmlformats.org/officeDocument/2006/relationships/image" Target="../media/image275.png"/><Relationship Id="rId5" Type="http://schemas.openxmlformats.org/officeDocument/2006/relationships/image" Target="../media/image276.png"/><Relationship Id="rId6" Type="http://schemas.openxmlformats.org/officeDocument/2006/relationships/image" Target="../media/image277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Relationship Id="rId3" Type="http://schemas.openxmlformats.org/officeDocument/2006/relationships/image" Target="../media/image280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Relationship Id="rId3" Type="http://schemas.openxmlformats.org/officeDocument/2006/relationships/image" Target="../media/image283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Relationship Id="rId3" Type="http://schemas.openxmlformats.org/officeDocument/2006/relationships/image" Target="../media/image286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Relationship Id="rId3" Type="http://schemas.openxmlformats.org/officeDocument/2006/relationships/image" Target="../media/image289.png"/><Relationship Id="rId4" Type="http://schemas.openxmlformats.org/officeDocument/2006/relationships/image" Target="../media/image290.png"/><Relationship Id="rId5" Type="http://schemas.openxmlformats.org/officeDocument/2006/relationships/image" Target="../media/image291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Relationship Id="rId3" Type="http://schemas.openxmlformats.org/officeDocument/2006/relationships/image" Target="../media/image294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Relationship Id="rId3" Type="http://schemas.openxmlformats.org/officeDocument/2006/relationships/image" Target="../media/image296.png"/><Relationship Id="rId4" Type="http://schemas.openxmlformats.org/officeDocument/2006/relationships/image" Target="../media/image297.png"/><Relationship Id="rId5" Type="http://schemas.openxmlformats.org/officeDocument/2006/relationships/image" Target="../media/image298.png"/><Relationship Id="rId6" Type="http://schemas.openxmlformats.org/officeDocument/2006/relationships/image" Target="../media/image299.png"/><Relationship Id="rId7" Type="http://schemas.openxmlformats.org/officeDocument/2006/relationships/image" Target="../media/image75.png"/><Relationship Id="rId8" Type="http://schemas.openxmlformats.org/officeDocument/2006/relationships/image" Target="../media/image300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Relationship Id="rId3" Type="http://schemas.openxmlformats.org/officeDocument/2006/relationships/image" Target="../media/image302.png"/><Relationship Id="rId4" Type="http://schemas.openxmlformats.org/officeDocument/2006/relationships/image" Target="../media/image303.png"/><Relationship Id="rId5" Type="http://schemas.openxmlformats.org/officeDocument/2006/relationships/image" Target="../media/image304.png"/><Relationship Id="rId6" Type="http://schemas.openxmlformats.org/officeDocument/2006/relationships/image" Target="../media/image305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Relationship Id="rId3" Type="http://schemas.openxmlformats.org/officeDocument/2006/relationships/image" Target="../media/image306.png"/><Relationship Id="rId4" Type="http://schemas.openxmlformats.org/officeDocument/2006/relationships/image" Target="../media/image302.png"/><Relationship Id="rId5" Type="http://schemas.openxmlformats.org/officeDocument/2006/relationships/image" Target="../media/image307.png"/><Relationship Id="rId6" Type="http://schemas.openxmlformats.org/officeDocument/2006/relationships/image" Target="../media/image303.png"/><Relationship Id="rId7" Type="http://schemas.openxmlformats.org/officeDocument/2006/relationships/image" Target="../media/image304.png"/><Relationship Id="rId8" Type="http://schemas.openxmlformats.org/officeDocument/2006/relationships/image" Target="../media/image308.png"/><Relationship Id="rId9" Type="http://schemas.openxmlformats.org/officeDocument/2006/relationships/image" Target="../media/image305.png"/><Relationship Id="rId10" Type="http://schemas.openxmlformats.org/officeDocument/2006/relationships/image" Target="../media/image309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Relationship Id="rId3" Type="http://schemas.openxmlformats.org/officeDocument/2006/relationships/image" Target="../media/image311.png"/><Relationship Id="rId4" Type="http://schemas.openxmlformats.org/officeDocument/2006/relationships/image" Target="../media/image312.png"/><Relationship Id="rId5" Type="http://schemas.openxmlformats.org/officeDocument/2006/relationships/image" Target="../media/image313.png"/><Relationship Id="rId6" Type="http://schemas.openxmlformats.org/officeDocument/2006/relationships/image" Target="../media/image314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Relationship Id="rId3" Type="http://schemas.openxmlformats.org/officeDocument/2006/relationships/image" Target="../media/image31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Relationship Id="rId3" Type="http://schemas.openxmlformats.org/officeDocument/2006/relationships/image" Target="../media/image321.png"/><Relationship Id="rId4" Type="http://schemas.openxmlformats.org/officeDocument/2006/relationships/image" Target="../media/image322.png"/><Relationship Id="rId5" Type="http://schemas.openxmlformats.org/officeDocument/2006/relationships/image" Target="../media/image323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Relationship Id="rId3" Type="http://schemas.openxmlformats.org/officeDocument/2006/relationships/image" Target="../media/image326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Relationship Id="rId3" Type="http://schemas.openxmlformats.org/officeDocument/2006/relationships/image" Target="../media/image329.png"/><Relationship Id="rId4" Type="http://schemas.openxmlformats.org/officeDocument/2006/relationships/image" Target="../media/image330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Relationship Id="rId3" Type="http://schemas.openxmlformats.org/officeDocument/2006/relationships/image" Target="../media/image333.png"/><Relationship Id="rId4" Type="http://schemas.openxmlformats.org/officeDocument/2006/relationships/image" Target="../media/image334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Relationship Id="rId3" Type="http://schemas.openxmlformats.org/officeDocument/2006/relationships/image" Target="../media/image337.png"/><Relationship Id="rId4" Type="http://schemas.openxmlformats.org/officeDocument/2006/relationships/image" Target="../media/image338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Relationship Id="rId3" Type="http://schemas.openxmlformats.org/officeDocument/2006/relationships/image" Target="../media/image341.png"/><Relationship Id="rId4" Type="http://schemas.openxmlformats.org/officeDocument/2006/relationships/image" Target="../media/image342.png"/><Relationship Id="rId5" Type="http://schemas.openxmlformats.org/officeDocument/2006/relationships/image" Target="../media/image343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Relationship Id="rId3" Type="http://schemas.openxmlformats.org/officeDocument/2006/relationships/image" Target="../media/image346.png"/><Relationship Id="rId4" Type="http://schemas.openxmlformats.org/officeDocument/2006/relationships/image" Target="../media/image347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Relationship Id="rId3" Type="http://schemas.openxmlformats.org/officeDocument/2006/relationships/image" Target="../media/image350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Relationship Id="rId3" Type="http://schemas.openxmlformats.org/officeDocument/2006/relationships/image" Target="../media/image353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4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Relationship Id="rId3" Type="http://schemas.openxmlformats.org/officeDocument/2006/relationships/image" Target="../media/image356.png"/><Relationship Id="rId4" Type="http://schemas.openxmlformats.org/officeDocument/2006/relationships/image" Target="../media/image357.png"/><Relationship Id="rId5" Type="http://schemas.openxmlformats.org/officeDocument/2006/relationships/image" Target="../media/image358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0.png"/><Relationship Id="rId3" Type="http://schemas.openxmlformats.org/officeDocument/2006/relationships/image" Target="../media/image361.png"/><Relationship Id="rId4" Type="http://schemas.openxmlformats.org/officeDocument/2006/relationships/image" Target="../media/image362.png"/><Relationship Id="rId5" Type="http://schemas.openxmlformats.org/officeDocument/2006/relationships/image" Target="../media/image363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Relationship Id="rId3" Type="http://schemas.openxmlformats.org/officeDocument/2006/relationships/image" Target="../media/image365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6.png"/><Relationship Id="rId3" Type="http://schemas.openxmlformats.org/officeDocument/2006/relationships/image" Target="../media/image367.png"/><Relationship Id="rId4" Type="http://schemas.openxmlformats.org/officeDocument/2006/relationships/image" Target="../media/image368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9.png"/><Relationship Id="rId3" Type="http://schemas.openxmlformats.org/officeDocument/2006/relationships/image" Target="../media/image370.png"/><Relationship Id="rId4" Type="http://schemas.openxmlformats.org/officeDocument/2006/relationships/image" Target="../media/image371.png"/><Relationship Id="rId5" Type="http://schemas.openxmlformats.org/officeDocument/2006/relationships/image" Target="../media/image372.png"/><Relationship Id="rId6" Type="http://schemas.openxmlformats.org/officeDocument/2006/relationships/image" Target="../media/image373.png"/><Relationship Id="rId7" Type="http://schemas.openxmlformats.org/officeDocument/2006/relationships/image" Target="../media/image75.png"/><Relationship Id="rId8" Type="http://schemas.openxmlformats.org/officeDocument/2006/relationships/image" Target="../media/image374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5.png"/><Relationship Id="rId3" Type="http://schemas.openxmlformats.org/officeDocument/2006/relationships/image" Target="../media/image376.png"/><Relationship Id="rId4" Type="http://schemas.openxmlformats.org/officeDocument/2006/relationships/image" Target="../media/image377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5.png"/><Relationship Id="rId3" Type="http://schemas.openxmlformats.org/officeDocument/2006/relationships/image" Target="../media/image378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9.png"/><Relationship Id="rId7" Type="http://schemas.openxmlformats.org/officeDocument/2006/relationships/image" Target="../media/image380.png"/><Relationship Id="rId8" Type="http://schemas.openxmlformats.org/officeDocument/2006/relationships/image" Target="../media/image381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2.png"/><Relationship Id="rId3" Type="http://schemas.openxmlformats.org/officeDocument/2006/relationships/image" Target="../media/image383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Relationship Id="rId3" Type="http://schemas.openxmlformats.org/officeDocument/2006/relationships/image" Target="../media/image385.png"/><Relationship Id="rId4" Type="http://schemas.openxmlformats.org/officeDocument/2006/relationships/image" Target="../media/image386.png"/><Relationship Id="rId5" Type="http://schemas.openxmlformats.org/officeDocument/2006/relationships/image" Target="../media/image387.png"/><Relationship Id="rId6" Type="http://schemas.openxmlformats.org/officeDocument/2006/relationships/image" Target="../media/image38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9.png"/><Relationship Id="rId3" Type="http://schemas.openxmlformats.org/officeDocument/2006/relationships/image" Target="../media/image390.png"/><Relationship Id="rId4" Type="http://schemas.openxmlformats.org/officeDocument/2006/relationships/image" Target="../media/image391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2.png"/><Relationship Id="rId3" Type="http://schemas.openxmlformats.org/officeDocument/2006/relationships/image" Target="../media/image393.png"/><Relationship Id="rId4" Type="http://schemas.openxmlformats.org/officeDocument/2006/relationships/image" Target="../media/image394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5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Relationship Id="rId3" Type="http://schemas.openxmlformats.org/officeDocument/2006/relationships/image" Target="../media/image39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8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Relationship Id="rId3" Type="http://schemas.openxmlformats.org/officeDocument/2006/relationships/image" Target="../media/image400.png"/><Relationship Id="rId4" Type="http://schemas.openxmlformats.org/officeDocument/2006/relationships/image" Target="../media/image401.png"/><Relationship Id="rId5" Type="http://schemas.openxmlformats.org/officeDocument/2006/relationships/image" Target="../media/image402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3.png"/><Relationship Id="rId3" Type="http://schemas.openxmlformats.org/officeDocument/2006/relationships/image" Target="../media/image404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Relationship Id="rId3" Type="http://schemas.openxmlformats.org/officeDocument/2006/relationships/image" Target="../media/image406.png"/><Relationship Id="rId4" Type="http://schemas.openxmlformats.org/officeDocument/2006/relationships/image" Target="../media/image407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8.png"/><Relationship Id="rId3" Type="http://schemas.openxmlformats.org/officeDocument/2006/relationships/image" Target="../media/image409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0.png"/><Relationship Id="rId3" Type="http://schemas.openxmlformats.org/officeDocument/2006/relationships/image" Target="../media/image411.png"/><Relationship Id="rId4" Type="http://schemas.openxmlformats.org/officeDocument/2006/relationships/image" Target="../media/image412.png"/><Relationship Id="rId5" Type="http://schemas.openxmlformats.org/officeDocument/2006/relationships/image" Target="../media/image413.png"/><Relationship Id="rId6" Type="http://schemas.openxmlformats.org/officeDocument/2006/relationships/image" Target="../media/image414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5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Relationship Id="rId3" Type="http://schemas.openxmlformats.org/officeDocument/2006/relationships/image" Target="../media/image417.png"/><Relationship Id="rId4" Type="http://schemas.openxmlformats.org/officeDocument/2006/relationships/image" Target="../media/image418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0.png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4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5.png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Relationship Id="rId8" Type="http://schemas.openxmlformats.org/officeDocument/2006/relationships/image" Target="../media/image431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2.png"/><Relationship Id="rId3" Type="http://schemas.openxmlformats.org/officeDocument/2006/relationships/image" Target="../media/image433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4.png"/><Relationship Id="rId3" Type="http://schemas.openxmlformats.org/officeDocument/2006/relationships/image" Target="../media/image435.png"/><Relationship Id="rId4" Type="http://schemas.openxmlformats.org/officeDocument/2006/relationships/image" Target="../media/image436.png"/><Relationship Id="rId5" Type="http://schemas.openxmlformats.org/officeDocument/2006/relationships/image" Target="../media/image437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8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9.png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2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Relationship Id="rId3" Type="http://schemas.openxmlformats.org/officeDocument/2006/relationships/image" Target="../media/image444.png"/><Relationship Id="rId4" Type="http://schemas.openxmlformats.org/officeDocument/2006/relationships/image" Target="../media/image445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7.png"/><Relationship Id="rId3" Type="http://schemas.openxmlformats.org/officeDocument/2006/relationships/image" Target="../media/image448.png"/><Relationship Id="rId4" Type="http://schemas.openxmlformats.org/officeDocument/2006/relationships/image" Target="../media/image449.png"/><Relationship Id="rId5" Type="http://schemas.openxmlformats.org/officeDocument/2006/relationships/image" Target="../media/image450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1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2.png"/><Relationship Id="rId3" Type="http://schemas.openxmlformats.org/officeDocument/2006/relationships/image" Target="../media/image453.png"/><Relationship Id="rId4" Type="http://schemas.openxmlformats.org/officeDocument/2006/relationships/image" Target="../media/image454.png"/><Relationship Id="rId5" Type="http://schemas.openxmlformats.org/officeDocument/2006/relationships/image" Target="../media/image455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Relationship Id="rId3" Type="http://schemas.openxmlformats.org/officeDocument/2006/relationships/image" Target="../media/image457.png"/><Relationship Id="rId4" Type="http://schemas.openxmlformats.org/officeDocument/2006/relationships/image" Target="../media/image458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9.png"/><Relationship Id="rId3" Type="http://schemas.openxmlformats.org/officeDocument/2006/relationships/image" Target="../media/image460.png"/><Relationship Id="rId4" Type="http://schemas.openxmlformats.org/officeDocument/2006/relationships/image" Target="../media/image461.png"/><Relationship Id="rId5" Type="http://schemas.openxmlformats.org/officeDocument/2006/relationships/image" Target="../media/image462.png"/><Relationship Id="rId6" Type="http://schemas.openxmlformats.org/officeDocument/2006/relationships/image" Target="../media/image463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4.png"/><Relationship Id="rId3" Type="http://schemas.openxmlformats.org/officeDocument/2006/relationships/image" Target="../media/image465.png"/><Relationship Id="rId4" Type="http://schemas.openxmlformats.org/officeDocument/2006/relationships/image" Target="../media/image466.png"/><Relationship Id="rId5" Type="http://schemas.openxmlformats.org/officeDocument/2006/relationships/image" Target="../media/image467.png"/><Relationship Id="rId6" Type="http://schemas.openxmlformats.org/officeDocument/2006/relationships/image" Target="../media/image468.png"/><Relationship Id="rId7" Type="http://schemas.openxmlformats.org/officeDocument/2006/relationships/image" Target="../media/image469.png"/><Relationship Id="rId8" Type="http://schemas.openxmlformats.org/officeDocument/2006/relationships/image" Target="../media/image470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1.png"/><Relationship Id="rId3" Type="http://schemas.openxmlformats.org/officeDocument/2006/relationships/image" Target="../media/image472.png"/><Relationship Id="rId4" Type="http://schemas.openxmlformats.org/officeDocument/2006/relationships/image" Target="../media/image153.png"/><Relationship Id="rId5" Type="http://schemas.openxmlformats.org/officeDocument/2006/relationships/image" Target="../media/image473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1.png"/><Relationship Id="rId3" Type="http://schemas.openxmlformats.org/officeDocument/2006/relationships/image" Target="../media/image472.png"/><Relationship Id="rId4" Type="http://schemas.openxmlformats.org/officeDocument/2006/relationships/image" Target="../media/image153.png"/><Relationship Id="rId5" Type="http://schemas.openxmlformats.org/officeDocument/2006/relationships/image" Target="../media/image473.png"/><Relationship Id="rId6" Type="http://schemas.openxmlformats.org/officeDocument/2006/relationships/image" Target="../media/image474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5.png"/><Relationship Id="rId3" Type="http://schemas.openxmlformats.org/officeDocument/2006/relationships/image" Target="../media/image476.png"/><Relationship Id="rId4" Type="http://schemas.openxmlformats.org/officeDocument/2006/relationships/image" Target="../media/image477.png"/><Relationship Id="rId5" Type="http://schemas.openxmlformats.org/officeDocument/2006/relationships/image" Target="../media/image478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9.png"/><Relationship Id="rId3" Type="http://schemas.openxmlformats.org/officeDocument/2006/relationships/image" Target="../media/image480.png"/><Relationship Id="rId4" Type="http://schemas.openxmlformats.org/officeDocument/2006/relationships/image" Target="../media/image481.png"/><Relationship Id="rId5" Type="http://schemas.openxmlformats.org/officeDocument/2006/relationships/image" Target="../media/image482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3.png"/><Relationship Id="rId3" Type="http://schemas.openxmlformats.org/officeDocument/2006/relationships/image" Target="../media/image484.png"/><Relationship Id="rId4" Type="http://schemas.openxmlformats.org/officeDocument/2006/relationships/image" Target="../media/image485.png"/><Relationship Id="rId5" Type="http://schemas.openxmlformats.org/officeDocument/2006/relationships/image" Target="../media/image486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7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8.png"/><Relationship Id="rId3" Type="http://schemas.openxmlformats.org/officeDocument/2006/relationships/image" Target="../media/image489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0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1.png"/><Relationship Id="rId3" Type="http://schemas.openxmlformats.org/officeDocument/2006/relationships/image" Target="../media/image492.png"/><Relationship Id="rId4" Type="http://schemas.openxmlformats.org/officeDocument/2006/relationships/image" Target="../media/image493.png"/><Relationship Id="rId5" Type="http://schemas.openxmlformats.org/officeDocument/2006/relationships/image" Target="../media/image494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5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6.png"/><Relationship Id="rId3" Type="http://schemas.openxmlformats.org/officeDocument/2006/relationships/image" Target="../media/image497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9.png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3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4.png"/><Relationship Id="rId3" Type="http://schemas.openxmlformats.org/officeDocument/2006/relationships/image" Target="../media/image505.png"/><Relationship Id="rId4" Type="http://schemas.openxmlformats.org/officeDocument/2006/relationships/image" Target="../media/image506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7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8.png"/><Relationship Id="rId3" Type="http://schemas.openxmlformats.org/officeDocument/2006/relationships/image" Target="../media/image509.png"/><Relationship Id="rId4" Type="http://schemas.openxmlformats.org/officeDocument/2006/relationships/image" Target="../media/image510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1.png"/><Relationship Id="rId3" Type="http://schemas.openxmlformats.org/officeDocument/2006/relationships/image" Target="../media/image512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3.png"/><Relationship Id="rId3" Type="http://schemas.openxmlformats.org/officeDocument/2006/relationships/image" Target="../media/image514.png"/><Relationship Id="rId4" Type="http://schemas.openxmlformats.org/officeDocument/2006/relationships/image" Target="../media/image515.png"/><Relationship Id="rId5" Type="http://schemas.openxmlformats.org/officeDocument/2006/relationships/image" Target="../media/image516.png"/><Relationship Id="rId6" Type="http://schemas.openxmlformats.org/officeDocument/2006/relationships/image" Target="../media/image517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8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9.png"/><Relationship Id="rId3" Type="http://schemas.openxmlformats.org/officeDocument/2006/relationships/image" Target="../media/image520.png"/><Relationship Id="rId4" Type="http://schemas.openxmlformats.org/officeDocument/2006/relationships/image" Target="../media/image493.png"/><Relationship Id="rId5" Type="http://schemas.openxmlformats.org/officeDocument/2006/relationships/image" Target="../media/image521.png"/><Relationship Id="rId6" Type="http://schemas.openxmlformats.org/officeDocument/2006/relationships/image" Target="../media/image522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3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4.png"/><Relationship Id="rId3" Type="http://schemas.openxmlformats.org/officeDocument/2006/relationships/image" Target="../media/image525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6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7.png"/><Relationship Id="rId3" Type="http://schemas.openxmlformats.org/officeDocument/2006/relationships/image" Target="../media/image528.png"/><Relationship Id="rId4" Type="http://schemas.openxmlformats.org/officeDocument/2006/relationships/image" Target="../media/image529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0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1.png"/><Relationship Id="rId3" Type="http://schemas.openxmlformats.org/officeDocument/2006/relationships/image" Target="../media/image532.png"/><Relationship Id="rId4" Type="http://schemas.openxmlformats.org/officeDocument/2006/relationships/image" Target="../media/image533.png"/><Relationship Id="rId5" Type="http://schemas.openxmlformats.org/officeDocument/2006/relationships/image" Target="../media/image534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5.png"/><Relationship Id="rId3" Type="http://schemas.openxmlformats.org/officeDocument/2006/relationships/image" Target="../media/image536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5.png"/><Relationship Id="rId3" Type="http://schemas.openxmlformats.org/officeDocument/2006/relationships/image" Target="../media/image537.png"/><Relationship Id="rId4" Type="http://schemas.openxmlformats.org/officeDocument/2006/relationships/image" Target="../media/image538.png"/><Relationship Id="rId5" Type="http://schemas.openxmlformats.org/officeDocument/2006/relationships/image" Target="../media/image5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0.png"/><Relationship Id="rId3" Type="http://schemas.openxmlformats.org/officeDocument/2006/relationships/image" Target="../media/image541.png"/><Relationship Id="rId4" Type="http://schemas.openxmlformats.org/officeDocument/2006/relationships/image" Target="../media/image542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3.png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9.png"/><Relationship Id="rId3" Type="http://schemas.openxmlformats.org/officeDocument/2006/relationships/image" Target="../media/image550.png"/><Relationship Id="rId4" Type="http://schemas.openxmlformats.org/officeDocument/2006/relationships/image" Target="../media/image551.png"/><Relationship Id="rId5" Type="http://schemas.openxmlformats.org/officeDocument/2006/relationships/image" Target="../media/image552.png"/><Relationship Id="rId6" Type="http://schemas.openxmlformats.org/officeDocument/2006/relationships/image" Target="../media/image553.png"/><Relationship Id="rId7" Type="http://schemas.openxmlformats.org/officeDocument/2006/relationships/image" Target="../media/image75.png"/><Relationship Id="rId8" Type="http://schemas.openxmlformats.org/officeDocument/2006/relationships/image" Target="../media/image5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5.png"/><Relationship Id="rId3" Type="http://schemas.openxmlformats.org/officeDocument/2006/relationships/image" Target="../media/image556.png"/><Relationship Id="rId4" Type="http://schemas.openxmlformats.org/officeDocument/2006/relationships/image" Target="../media/image557.png"/><Relationship Id="rId5" Type="http://schemas.openxmlformats.org/officeDocument/2006/relationships/image" Target="../media/image331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5.png"/><Relationship Id="rId3" Type="http://schemas.openxmlformats.org/officeDocument/2006/relationships/image" Target="../media/image556.png"/><Relationship Id="rId4" Type="http://schemas.openxmlformats.org/officeDocument/2006/relationships/image" Target="../media/image557.png"/><Relationship Id="rId5" Type="http://schemas.openxmlformats.org/officeDocument/2006/relationships/image" Target="../media/image331.png"/><Relationship Id="rId6" Type="http://schemas.openxmlformats.org/officeDocument/2006/relationships/image" Target="../media/image558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9.png"/><Relationship Id="rId3" Type="http://schemas.openxmlformats.org/officeDocument/2006/relationships/image" Target="../media/image560.png"/><Relationship Id="rId4" Type="http://schemas.openxmlformats.org/officeDocument/2006/relationships/image" Target="../media/image561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2.png"/><Relationship Id="rId3" Type="http://schemas.openxmlformats.org/officeDocument/2006/relationships/image" Target="../media/image563.png"/><Relationship Id="rId4" Type="http://schemas.openxmlformats.org/officeDocument/2006/relationships/image" Target="../media/image564.png"/><Relationship Id="rId5" Type="http://schemas.openxmlformats.org/officeDocument/2006/relationships/image" Target="../media/image565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6.png"/><Relationship Id="rId3" Type="http://schemas.openxmlformats.org/officeDocument/2006/relationships/image" Target="../media/image567.png"/><Relationship Id="rId4" Type="http://schemas.openxmlformats.org/officeDocument/2006/relationships/image" Target="../media/image568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9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0.png"/><Relationship Id="rId3" Type="http://schemas.openxmlformats.org/officeDocument/2006/relationships/image" Target="../media/image571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2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3.png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Relationship Id="rId6" Type="http://schemas.openxmlformats.org/officeDocument/2006/relationships/image" Target="../media/image577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8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9.png"/><Relationship Id="rId3" Type="http://schemas.openxmlformats.org/officeDocument/2006/relationships/image" Target="../media/image580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1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2.png"/><Relationship Id="rId3" Type="http://schemas.openxmlformats.org/officeDocument/2006/relationships/image" Target="../media/image583.png"/><Relationship Id="rId4" Type="http://schemas.openxmlformats.org/officeDocument/2006/relationships/image" Target="../media/image584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5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6.png"/><Relationship Id="rId3" Type="http://schemas.openxmlformats.org/officeDocument/2006/relationships/image" Target="../media/image587.png"/><Relationship Id="rId4" Type="http://schemas.openxmlformats.org/officeDocument/2006/relationships/image" Target="../media/image588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9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0.png"/><Relationship Id="rId3" Type="http://schemas.openxmlformats.org/officeDocument/2006/relationships/image" Target="../media/image591.png"/><Relationship Id="rId4" Type="http://schemas.openxmlformats.org/officeDocument/2006/relationships/image" Target="../media/image592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3.png"/><Relationship Id="rId3" Type="http://schemas.openxmlformats.org/officeDocument/2006/relationships/image" Target="../media/image594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3.png"/><Relationship Id="rId3" Type="http://schemas.openxmlformats.org/officeDocument/2006/relationships/image" Target="../media/image595.png"/><Relationship Id="rId4" Type="http://schemas.openxmlformats.org/officeDocument/2006/relationships/image" Target="../media/image596.png"/><Relationship Id="rId5" Type="http://schemas.openxmlformats.org/officeDocument/2006/relationships/image" Target="../media/image597.png"/><Relationship Id="rId6" Type="http://schemas.openxmlformats.org/officeDocument/2006/relationships/image" Target="../media/image598.png"/><Relationship Id="rId7" Type="http://schemas.openxmlformats.org/officeDocument/2006/relationships/image" Target="../media/image599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0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1.png"/><Relationship Id="rId3" Type="http://schemas.openxmlformats.org/officeDocument/2006/relationships/image" Target="../media/image602.png"/><Relationship Id="rId4" Type="http://schemas.openxmlformats.org/officeDocument/2006/relationships/image" Target="../media/image603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4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5.png"/><Relationship Id="rId3" Type="http://schemas.openxmlformats.org/officeDocument/2006/relationships/image" Target="../media/image606.png"/><Relationship Id="rId4" Type="http://schemas.openxmlformats.org/officeDocument/2006/relationships/image" Target="../media/image607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8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9.png"/><Relationship Id="rId3" Type="http://schemas.openxmlformats.org/officeDocument/2006/relationships/image" Target="../media/image610.png"/><Relationship Id="rId4" Type="http://schemas.openxmlformats.org/officeDocument/2006/relationships/image" Target="../media/image611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2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3.png"/><Relationship Id="rId3" Type="http://schemas.openxmlformats.org/officeDocument/2006/relationships/image" Target="../media/image614.png"/><Relationship Id="rId4" Type="http://schemas.openxmlformats.org/officeDocument/2006/relationships/image" Target="../media/image615.png"/><Relationship Id="rId5" Type="http://schemas.openxmlformats.org/officeDocument/2006/relationships/image" Target="../media/image616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5.png"/><Relationship Id="rId3" Type="http://schemas.openxmlformats.org/officeDocument/2006/relationships/image" Target="../media/image617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5.png"/><Relationship Id="rId3" Type="http://schemas.openxmlformats.org/officeDocument/2006/relationships/image" Target="../media/image618.png"/><Relationship Id="rId4" Type="http://schemas.openxmlformats.org/officeDocument/2006/relationships/image" Target="../media/image619.png"/><Relationship Id="rId5" Type="http://schemas.openxmlformats.org/officeDocument/2006/relationships/image" Target="../media/image620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1.png"/><Relationship Id="rId3" Type="http://schemas.openxmlformats.org/officeDocument/2006/relationships/image" Target="../media/image622.png"/><Relationship Id="rId4" Type="http://schemas.openxmlformats.org/officeDocument/2006/relationships/image" Target="../media/image623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4.png"/><Relationship Id="rId3" Type="http://schemas.openxmlformats.org/officeDocument/2006/relationships/image" Target="../media/image625.png"/><Relationship Id="rId4" Type="http://schemas.openxmlformats.org/officeDocument/2006/relationships/image" Target="../media/image623.png"/><Relationship Id="rId5" Type="http://schemas.openxmlformats.org/officeDocument/2006/relationships/image" Target="../media/image626.png"/><Relationship Id="rId6" Type="http://schemas.openxmlformats.org/officeDocument/2006/relationships/image" Target="../media/image627.png"/><Relationship Id="rId7" Type="http://schemas.openxmlformats.org/officeDocument/2006/relationships/image" Target="../media/image597.png"/><Relationship Id="rId8" Type="http://schemas.openxmlformats.org/officeDocument/2006/relationships/image" Target="../media/image628.png"/><Relationship Id="rId9" Type="http://schemas.openxmlformats.org/officeDocument/2006/relationships/image" Target="../media/image629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0.png"/><Relationship Id="rId3" Type="http://schemas.openxmlformats.org/officeDocument/2006/relationships/image" Target="../media/image631.png"/><Relationship Id="rId4" Type="http://schemas.openxmlformats.org/officeDocument/2006/relationships/image" Target="../media/image632.png"/><Relationship Id="rId5" Type="http://schemas.openxmlformats.org/officeDocument/2006/relationships/image" Target="../media/image633.png"/><Relationship Id="rId6" Type="http://schemas.openxmlformats.org/officeDocument/2006/relationships/image" Target="../media/image634.png"/><Relationship Id="rId7" Type="http://schemas.openxmlformats.org/officeDocument/2006/relationships/image" Target="../media/image75.png"/><Relationship Id="rId8" Type="http://schemas.openxmlformats.org/officeDocument/2006/relationships/image" Target="../media/image635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6.png"/><Relationship Id="rId3" Type="http://schemas.openxmlformats.org/officeDocument/2006/relationships/image" Target="../media/image637.png"/><Relationship Id="rId4" Type="http://schemas.openxmlformats.org/officeDocument/2006/relationships/image" Target="../media/image638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6.png"/><Relationship Id="rId3" Type="http://schemas.openxmlformats.org/officeDocument/2006/relationships/image" Target="../media/image637.png"/><Relationship Id="rId4" Type="http://schemas.openxmlformats.org/officeDocument/2006/relationships/image" Target="../media/image638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9.png"/><Relationship Id="rId3" Type="http://schemas.openxmlformats.org/officeDocument/2006/relationships/image" Target="../media/image640.png"/><Relationship Id="rId4" Type="http://schemas.openxmlformats.org/officeDocument/2006/relationships/image" Target="../media/image641.png"/><Relationship Id="rId5" Type="http://schemas.openxmlformats.org/officeDocument/2006/relationships/image" Target="../media/image642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3.png"/><Relationship Id="rId3" Type="http://schemas.openxmlformats.org/officeDocument/2006/relationships/image" Target="../media/image644.png"/><Relationship Id="rId4" Type="http://schemas.openxmlformats.org/officeDocument/2006/relationships/image" Target="../media/image645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6.png"/><Relationship Id="rId3" Type="http://schemas.openxmlformats.org/officeDocument/2006/relationships/image" Target="../media/image647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8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9.png"/><Relationship Id="rId3" Type="http://schemas.openxmlformats.org/officeDocument/2006/relationships/image" Target="../media/image650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1.png"/><Relationship Id="rId3" Type="http://schemas.openxmlformats.org/officeDocument/2006/relationships/image" Target="../media/image652.png"/><Relationship Id="rId4" Type="http://schemas.openxmlformats.org/officeDocument/2006/relationships/image" Target="../media/image653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4.png"/><Relationship Id="rId3" Type="http://schemas.openxmlformats.org/officeDocument/2006/relationships/image" Target="../media/image655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6.png"/><Relationship Id="rId3" Type="http://schemas.openxmlformats.org/officeDocument/2006/relationships/image" Target="../media/image657.png"/><Relationship Id="rId4" Type="http://schemas.openxmlformats.org/officeDocument/2006/relationships/image" Target="../media/image658.png"/><Relationship Id="rId5" Type="http://schemas.openxmlformats.org/officeDocument/2006/relationships/image" Target="../media/image659.png"/><Relationship Id="rId6" Type="http://schemas.openxmlformats.org/officeDocument/2006/relationships/image" Target="../media/image660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1.png"/><Relationship Id="rId3" Type="http://schemas.openxmlformats.org/officeDocument/2006/relationships/image" Target="../media/image662.png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3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4.png"/><Relationship Id="rId3" Type="http://schemas.openxmlformats.org/officeDocument/2006/relationships/image" Target="../media/image665.png"/><Relationship Id="rId4" Type="http://schemas.openxmlformats.org/officeDocument/2006/relationships/image" Target="../media/image666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7.pn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8.png"/><Relationship Id="rId3" Type="http://schemas.openxmlformats.org/officeDocument/2006/relationships/image" Target="../media/image669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0.png"/><Relationship Id="rId3" Type="http://schemas.openxmlformats.org/officeDocument/2006/relationships/image" Target="../media/image671.png"/><Relationship Id="rId4" Type="http://schemas.openxmlformats.org/officeDocument/2006/relationships/image" Target="../media/image672.png"/><Relationship Id="rId5" Type="http://schemas.openxmlformats.org/officeDocument/2006/relationships/image" Target="../media/image673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4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5.png"/><Relationship Id="rId3" Type="http://schemas.openxmlformats.org/officeDocument/2006/relationships/image" Target="../media/image676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7.png"/><Relationship Id="rId3" Type="http://schemas.openxmlformats.org/officeDocument/2006/relationships/image" Target="../media/image678.png"/><Relationship Id="rId4" Type="http://schemas.openxmlformats.org/officeDocument/2006/relationships/image" Target="../media/image679.png"/><Relationship Id="rId5" Type="http://schemas.openxmlformats.org/officeDocument/2006/relationships/image" Target="../media/image680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1.png"/><Relationship Id="rId3" Type="http://schemas.openxmlformats.org/officeDocument/2006/relationships/image" Target="../media/image682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3.png"/><Relationship Id="rId3" Type="http://schemas.openxmlformats.org/officeDocument/2006/relationships/image" Target="../media/image684.png"/><Relationship Id="rId4" Type="http://schemas.openxmlformats.org/officeDocument/2006/relationships/image" Target="../media/image685.png"/><Relationship Id="rId5" Type="http://schemas.openxmlformats.org/officeDocument/2006/relationships/image" Target="../media/image686.png"/><Relationship Id="rId6" Type="http://schemas.openxmlformats.org/officeDocument/2006/relationships/image" Target="../media/image687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8.png"/><Relationship Id="rId3" Type="http://schemas.openxmlformats.org/officeDocument/2006/relationships/image" Target="../media/image689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0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1.png"/><Relationship Id="rId3" Type="http://schemas.openxmlformats.org/officeDocument/2006/relationships/image" Target="../media/image692.png"/><Relationship Id="rId4" Type="http://schemas.openxmlformats.org/officeDocument/2006/relationships/image" Target="../media/image693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4.png"/><Relationship Id="rId3" Type="http://schemas.openxmlformats.org/officeDocument/2006/relationships/image" Target="../media/image695.png"/><Relationship Id="rId4" Type="http://schemas.openxmlformats.org/officeDocument/2006/relationships/image" Target="../media/image696.png"/><Relationship Id="rId5" Type="http://schemas.openxmlformats.org/officeDocument/2006/relationships/image" Target="../media/image697.png"/><Relationship Id="rId6" Type="http://schemas.openxmlformats.org/officeDocument/2006/relationships/image" Target="../media/image698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9.png"/><Relationship Id="rId3" Type="http://schemas.openxmlformats.org/officeDocument/2006/relationships/image" Target="../media/image700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9.png"/><Relationship Id="rId3" Type="http://schemas.openxmlformats.org/officeDocument/2006/relationships/image" Target="../media/image701.png"/><Relationship Id="rId4" Type="http://schemas.openxmlformats.org/officeDocument/2006/relationships/image" Target="../media/image700.png"/><Relationship Id="rId5" Type="http://schemas.openxmlformats.org/officeDocument/2006/relationships/image" Target="../media/image702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3.png"/><Relationship Id="rId3" Type="http://schemas.openxmlformats.org/officeDocument/2006/relationships/image" Target="../media/image704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5.png"/><Relationship Id="rId3" Type="http://schemas.openxmlformats.org/officeDocument/2006/relationships/image" Target="../media/image706.png"/><Relationship Id="rId4" Type="http://schemas.openxmlformats.org/officeDocument/2006/relationships/image" Target="../media/image707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8.png"/><Relationship Id="rId3" Type="http://schemas.openxmlformats.org/officeDocument/2006/relationships/image" Target="../media/image709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0.png"/><Relationship Id="rId3" Type="http://schemas.openxmlformats.org/officeDocument/2006/relationships/image" Target="../media/image711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2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3.png"/><Relationship Id="rId3" Type="http://schemas.openxmlformats.org/officeDocument/2006/relationships/image" Target="../media/image714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5.png"/><Relationship Id="rId3" Type="http://schemas.openxmlformats.org/officeDocument/2006/relationships/image" Target="../media/image716.png"/><Relationship Id="rId4" Type="http://schemas.openxmlformats.org/officeDocument/2006/relationships/image" Target="../media/image717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8.png"/><Relationship Id="rId3" Type="http://schemas.openxmlformats.org/officeDocument/2006/relationships/image" Target="../media/image719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0.png"/><Relationship Id="rId3" Type="http://schemas.openxmlformats.org/officeDocument/2006/relationships/image" Target="../media/image721.png"/><Relationship Id="rId4" Type="http://schemas.openxmlformats.org/officeDocument/2006/relationships/image" Target="../media/image722.png"/><Relationship Id="rId5" Type="http://schemas.openxmlformats.org/officeDocument/2006/relationships/image" Target="../media/image723.png"/><Relationship Id="rId6" Type="http://schemas.openxmlformats.org/officeDocument/2006/relationships/image" Target="../media/image724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5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6.png"/><Relationship Id="rId3" Type="http://schemas.openxmlformats.org/officeDocument/2006/relationships/image" Target="../media/image727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8.png"/><Relationship Id="rId3" Type="http://schemas.openxmlformats.org/officeDocument/2006/relationships/image" Target="../media/image729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0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1.png"/><Relationship Id="rId3" Type="http://schemas.openxmlformats.org/officeDocument/2006/relationships/image" Target="../media/image732.png"/><Relationship Id="rId4" Type="http://schemas.openxmlformats.org/officeDocument/2006/relationships/image" Target="../media/image733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4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5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6.png"/><Relationship Id="rId3" Type="http://schemas.openxmlformats.org/officeDocument/2006/relationships/image" Target="../media/image737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8.png"/><Relationship Id="rId3" Type="http://schemas.openxmlformats.org/officeDocument/2006/relationships/image" Target="../media/image739.png"/><Relationship Id="rId4" Type="http://schemas.openxmlformats.org/officeDocument/2006/relationships/image" Target="../media/image740.png"/><Relationship Id="rId5" Type="http://schemas.openxmlformats.org/officeDocument/2006/relationships/image" Target="../media/image741.png"/><Relationship Id="rId6" Type="http://schemas.openxmlformats.org/officeDocument/2006/relationships/image" Target="../media/image742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3.png"/><Relationship Id="rId3" Type="http://schemas.openxmlformats.org/officeDocument/2006/relationships/image" Target="../media/image744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5.png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9.png"/><Relationship Id="rId3" Type="http://schemas.openxmlformats.org/officeDocument/2006/relationships/image" Target="../media/image750.png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1.png"/><Relationship Id="rId3" Type="http://schemas.openxmlformats.org/officeDocument/2006/relationships/image" Target="../media/image752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3.png"/><Relationship Id="rId3" Type="http://schemas.openxmlformats.org/officeDocument/2006/relationships/image" Target="../media/image754.png"/><Relationship Id="rId4" Type="http://schemas.openxmlformats.org/officeDocument/2006/relationships/image" Target="../media/image740.png"/><Relationship Id="rId5" Type="http://schemas.openxmlformats.org/officeDocument/2006/relationships/image" Target="../media/image755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6.png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10" b="1" i="0">
                <a:solidFill>
                  <a:srgbClr val="1A1A1A"/>
                </a:solidFill>
                <a:latin typeface="Lexend"/>
              </a:rPr>
              <a:t>Exponents and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6B6B6B"/>
                </a:solidFill>
                <a:latin typeface="Lexend"/>
              </a:rPr>
              <a:t>Ten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— Exponents and Scientific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— Exponents and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3.01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Product Laws of Exponents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3.02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Quotient Laws of Exponents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3.03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Exponential Expressions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72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3.04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Negative Exponent Law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106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3.05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Applying Exponent Laws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140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3.06–07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Evaluating and Equivalent Expressions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174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hlinkClick action="ppaction://hlinksldjump" r:id="rId8"/>
          </p:cNvPr>
          <p:cNvSpPr txBox="1"/>
          <p:nvPr/>
        </p:nvSpPr>
        <p:spPr>
          <a:xfrm>
            <a:off x="1143000" y="430682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T-A1</a:t>
            </a:r>
          </a:p>
        </p:txBody>
      </p:sp>
      <p:sp>
        <p:nvSpPr>
          <p:cNvPr id="33" name="TextBox 32">
            <a:hlinkClick action="ppaction://hlinksldjump" r:id="rId8"/>
          </p:cNvPr>
          <p:cNvSpPr txBox="1"/>
          <p:nvPr/>
        </p:nvSpPr>
        <p:spPr>
          <a:xfrm>
            <a:off x="2560320" y="430682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Exponent Laws with Variable Bases</a:t>
            </a:r>
          </a:p>
        </p:txBody>
      </p:sp>
      <p:sp>
        <p:nvSpPr>
          <p:cNvPr id="34" name="TextBox 33">
            <a:hlinkClick action="ppaction://hlinksldjump" r:id="rId8"/>
          </p:cNvPr>
          <p:cNvSpPr txBox="1"/>
          <p:nvPr/>
        </p:nvSpPr>
        <p:spPr>
          <a:xfrm>
            <a:off x="9555480" y="430682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209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43000" y="476402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hlinkClick action="ppaction://hlinksldjump" r:id="rId9"/>
          </p:cNvPr>
          <p:cNvSpPr txBox="1"/>
          <p:nvPr/>
        </p:nvSpPr>
        <p:spPr>
          <a:xfrm>
            <a:off x="1143000" y="472744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T-A2</a:t>
            </a:r>
          </a:p>
        </p:txBody>
      </p:sp>
      <p:sp>
        <p:nvSpPr>
          <p:cNvPr id="37" name="TextBox 36">
            <a:hlinkClick action="ppaction://hlinksldjump" r:id="rId9"/>
          </p:cNvPr>
          <p:cNvSpPr txBox="1"/>
          <p:nvPr/>
        </p:nvSpPr>
        <p:spPr>
          <a:xfrm>
            <a:off x="2560320" y="472744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Negative Exponents with Variable Bases</a:t>
            </a:r>
          </a:p>
        </p:txBody>
      </p:sp>
      <p:sp>
        <p:nvSpPr>
          <p:cNvPr id="38" name="TextBox 37">
            <a:hlinkClick action="ppaction://hlinksldjump" r:id="rId9"/>
          </p:cNvPr>
          <p:cNvSpPr txBox="1"/>
          <p:nvPr/>
        </p:nvSpPr>
        <p:spPr>
          <a:xfrm>
            <a:off x="9555480" y="472744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243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143000" y="518464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hlinkClick action="ppaction://hlinksldjump" r:id="rId10"/>
          </p:cNvPr>
          <p:cNvSpPr txBox="1"/>
          <p:nvPr/>
        </p:nvSpPr>
        <p:spPr>
          <a:xfrm>
            <a:off x="1143000" y="514807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3.08</a:t>
            </a:r>
          </a:p>
        </p:txBody>
      </p:sp>
      <p:sp>
        <p:nvSpPr>
          <p:cNvPr id="41" name="TextBox 40">
            <a:hlinkClick action="ppaction://hlinksldjump" r:id="rId10"/>
          </p:cNvPr>
          <p:cNvSpPr txBox="1"/>
          <p:nvPr/>
        </p:nvSpPr>
        <p:spPr>
          <a:xfrm>
            <a:off x="2560320" y="514807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Writing Large Numbers in Scientific Notation</a:t>
            </a:r>
          </a:p>
        </p:txBody>
      </p:sp>
      <p:sp>
        <p:nvSpPr>
          <p:cNvPr id="42" name="TextBox 41">
            <a:hlinkClick action="ppaction://hlinksldjump" r:id="rId10"/>
          </p:cNvPr>
          <p:cNvSpPr txBox="1"/>
          <p:nvPr/>
        </p:nvSpPr>
        <p:spPr>
          <a:xfrm>
            <a:off x="9555480" y="514807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277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143000" y="560527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hlinkClick action="ppaction://hlinksldjump" r:id="rId11"/>
          </p:cNvPr>
          <p:cNvSpPr txBox="1"/>
          <p:nvPr/>
        </p:nvSpPr>
        <p:spPr>
          <a:xfrm>
            <a:off x="1143000" y="556869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3.09</a:t>
            </a:r>
          </a:p>
        </p:txBody>
      </p:sp>
      <p:sp>
        <p:nvSpPr>
          <p:cNvPr id="45" name="TextBox 44">
            <a:hlinkClick action="ppaction://hlinksldjump" r:id="rId11"/>
          </p:cNvPr>
          <p:cNvSpPr txBox="1"/>
          <p:nvPr/>
        </p:nvSpPr>
        <p:spPr>
          <a:xfrm>
            <a:off x="2560320" y="556869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Writing Small Numbers in Scientific Notation</a:t>
            </a:r>
          </a:p>
        </p:txBody>
      </p:sp>
      <p:sp>
        <p:nvSpPr>
          <p:cNvPr id="46" name="TextBox 45">
            <a:hlinkClick action="ppaction://hlinksldjump" r:id="rId11"/>
          </p:cNvPr>
          <p:cNvSpPr txBox="1"/>
          <p:nvPr/>
        </p:nvSpPr>
        <p:spPr>
          <a:xfrm>
            <a:off x="9555480" y="556869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311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143000" y="602589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Product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the product of powers, power of a product, power of a power and identity laws to rewrite and evaluate a numerical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dfad0a4d6a24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67970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063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Between which two whole numbers is </a:t>
            </a:r>
          </a:p>
        </p:txBody>
      </p:sp>
      <p:pic>
        <p:nvPicPr>
          <p:cNvPr id="11" name="Picture 10" descr="77d9db560e6d3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0442" y="2086356"/>
            <a:ext cx="72542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25866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4" name="Picture 13" descr="e6d9f3b3b9bc14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781300"/>
            <a:ext cx="1392936" cy="2255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343656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6" name="Picture 15" descr="dec81119567891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300984"/>
            <a:ext cx="640080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dfad0a4d6a24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67970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37265" y="1440180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063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Between which two whole numbers is </a:t>
            </a:r>
          </a:p>
        </p:txBody>
      </p:sp>
      <p:pic>
        <p:nvPicPr>
          <p:cNvPr id="12" name="Picture 11" descr="77d9db560e6d3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0442" y="2086356"/>
            <a:ext cx="72542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25866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97977" y="2052828"/>
            <a:ext cx="13045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 and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6" name="Picture 15" descr="e6d9f3b3b9bc14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781300"/>
            <a:ext cx="1392936" cy="225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91231" y="2665476"/>
            <a:ext cx="9303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=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343656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9" name="Picture 18" descr="dec81119567891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300984"/>
            <a:ext cx="640080" cy="542544"/>
          </a:xfrm>
          <a:prstGeom prst="rect">
            <a:avLst/>
          </a:prstGeom>
        </p:spPr>
      </p:pic>
      <p:pic>
        <p:nvPicPr>
          <p:cNvPr id="20" name="Picture 19" descr="2579f76da37693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4635" y="3300984"/>
            <a:ext cx="19812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power is a shorthand for repeated multiplication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50392" y="197510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057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05740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base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the number used as a factor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" y="270662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278892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278892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exponent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how many times the base is a factor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" y="343814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52043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3520439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power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the whole thing, base and exponent together</a:t>
            </a:r>
          </a:p>
        </p:txBody>
      </p:sp>
      <p:pic>
        <p:nvPicPr>
          <p:cNvPr id="19" name="Picture 18" descr="4d4b8fabf53441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067" y="4357116"/>
            <a:ext cx="2383536" cy="335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01603" y="4296156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21" name="Picture 20" descr="3fda2a63990642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708" y="4187952"/>
            <a:ext cx="2523744" cy="6736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Product of powers — same base, add the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42b4bcba7fe84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776" y="1993392"/>
            <a:ext cx="4315968" cy="411480"/>
          </a:xfrm>
          <a:prstGeom prst="rect">
            <a:avLst/>
          </a:prstGeom>
        </p:spPr>
      </p:pic>
      <p:pic>
        <p:nvPicPr>
          <p:cNvPr id="11" name="Picture 10" descr="3565be77b64ee5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0812" y="2679192"/>
            <a:ext cx="3627120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07932" y="2656332"/>
            <a:ext cx="5309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— different bases, no shortcut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387852"/>
            <a:ext cx="32037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Product of powers:  </a:t>
            </a:r>
          </a:p>
        </p:txBody>
      </p:sp>
      <p:pic>
        <p:nvPicPr>
          <p:cNvPr id="14" name="Picture 13" descr="968ec809d435da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4105" y="3471672"/>
            <a:ext cx="2447544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055363"/>
            <a:ext cx="29972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Check with values:  </a:t>
            </a:r>
          </a:p>
        </p:txBody>
      </p:sp>
      <p:pic>
        <p:nvPicPr>
          <p:cNvPr id="16" name="Picture 15" descr="d5d6c6f74431375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85" y="4113275"/>
            <a:ext cx="3910583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Power of a product — the exponent goes to every 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44ef493e450a9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068" y="1994916"/>
            <a:ext cx="8787384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02052"/>
            <a:ext cx="33430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product:  </a:t>
            </a:r>
          </a:p>
        </p:txBody>
      </p:sp>
      <p:pic>
        <p:nvPicPr>
          <p:cNvPr id="12" name="Picture 11" descr="b9ea13f96cb17d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3484" y="2747772"/>
            <a:ext cx="2639568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107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Works for a product only, never for a sum:</a:t>
            </a:r>
          </a:p>
        </p:txBody>
      </p:sp>
      <p:pic>
        <p:nvPicPr>
          <p:cNvPr id="14" name="Picture 13" descr="39ca05d2d51d13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125468"/>
            <a:ext cx="3654552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42104" y="4101083"/>
            <a:ext cx="11807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 but   </a:t>
            </a:r>
          </a:p>
        </p:txBody>
      </p:sp>
      <p:pic>
        <p:nvPicPr>
          <p:cNvPr id="16" name="Picture 15" descr="d063d47dd555d8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5713" y="4125468"/>
            <a:ext cx="277977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IV.  Power of a power, and the exponent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25879" y="1993392"/>
          <a:ext cx="95097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2062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Repeated multiplication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Single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(3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3 · 3 · 3 · 3 ·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3781044"/>
            <a:ext cx="3093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power:  </a:t>
            </a:r>
          </a:p>
        </p:txBody>
      </p:sp>
      <p:pic>
        <p:nvPicPr>
          <p:cNvPr id="12" name="Picture 11" descr="d8dde935facf94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101" y="3828288"/>
            <a:ext cx="1978152" cy="3627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22253" y="3781044"/>
            <a:ext cx="2452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     Identity:  </a:t>
            </a:r>
          </a:p>
        </p:txBody>
      </p:sp>
      <p:pic>
        <p:nvPicPr>
          <p:cNvPr id="14" name="Picture 13" descr="c0cd50cdc3f131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7259" y="3838956"/>
            <a:ext cx="972311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329b8ca23c9d75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38171"/>
            <a:ext cx="935736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c20bafbdc63ca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91968" cy="341376"/>
          </a:xfrm>
          <a:prstGeom prst="rect">
            <a:avLst/>
          </a:prstGeom>
        </p:spPr>
      </p:pic>
      <p:pic>
        <p:nvPicPr>
          <p:cNvPr id="9" name="Picture 8" descr="7bb738bd6adb720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1371600" cy="335280"/>
          </a:xfrm>
          <a:prstGeom prst="rect">
            <a:avLst/>
          </a:prstGeom>
        </p:spPr>
      </p:pic>
      <p:pic>
        <p:nvPicPr>
          <p:cNvPr id="10" name="Picture 9" descr="a913e805eb4313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45536"/>
            <a:ext cx="1862328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03341d68f8c14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351" y="1600200"/>
            <a:ext cx="119481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517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e5689ca8283150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7" y="1600200"/>
            <a:ext cx="119786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517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  <p:pic>
        <p:nvPicPr>
          <p:cNvPr id="10" name="Picture 9" descr="bfd4a5c1b9d0cb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796" y="3184762"/>
            <a:ext cx="2581656" cy="301752"/>
          </a:xfrm>
          <a:prstGeom prst="rect">
            <a:avLst/>
          </a:prstGeom>
        </p:spPr>
      </p:pic>
      <p:pic>
        <p:nvPicPr>
          <p:cNvPr id="11" name="Picture 10" descr="93c08fb8bb36cd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4796" y="3724258"/>
            <a:ext cx="1197864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f74b6125835b47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5732" y="2103120"/>
            <a:ext cx="1210056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987870fb252ca5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005072" cy="414528"/>
          </a:xfrm>
          <a:prstGeom prst="rect">
            <a:avLst/>
          </a:prstGeom>
        </p:spPr>
      </p:pic>
      <p:pic>
        <p:nvPicPr>
          <p:cNvPr id="9" name="Picture 8" descr="c753a81ccef19f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1670304" cy="414528"/>
          </a:xfrm>
          <a:prstGeom prst="rect">
            <a:avLst/>
          </a:prstGeom>
        </p:spPr>
      </p:pic>
      <p:pic>
        <p:nvPicPr>
          <p:cNvPr id="10" name="Picture 9" descr="da387a30282d42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97935"/>
            <a:ext cx="167944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cfb8ebff7a58f4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1600200"/>
            <a:ext cx="150571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f91f6c751d4e98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1600200"/>
            <a:ext cx="1505712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  <p:pic>
        <p:nvPicPr>
          <p:cNvPr id="10" name="Picture 9" descr="9760ae71abb97b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204" y="3244198"/>
            <a:ext cx="3672840" cy="371856"/>
          </a:xfrm>
          <a:prstGeom prst="rect">
            <a:avLst/>
          </a:prstGeom>
        </p:spPr>
      </p:pic>
      <p:pic>
        <p:nvPicPr>
          <p:cNvPr id="11" name="Picture 10" descr="e55c874f9b6e92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9204" y="3783694"/>
            <a:ext cx="1670304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(−3)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729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b1e26e5bc6d682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7" y="2194560"/>
            <a:ext cx="119786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a10b19c9014489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0304" y="2103120"/>
            <a:ext cx="1200912" cy="420624"/>
          </a:xfrm>
          <a:prstGeom prst="rect">
            <a:avLst/>
          </a:prstGeom>
        </p:spPr>
      </p:pic>
      <p:pic>
        <p:nvPicPr>
          <p:cNvPr id="9" name="Picture 8" descr="c3ef13471fa147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7843" y="2878836"/>
            <a:ext cx="2578608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04232" y="45979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24dca2f9e99e6f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4472" y="4663440"/>
            <a:ext cx="432816" cy="41757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084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rectangle is  </a:t>
            </a:r>
          </a:p>
        </p:txBody>
      </p:sp>
      <p:pic>
        <p:nvPicPr>
          <p:cNvPr id="9" name="Picture 8" descr="be331936b361ba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734" y="1946147"/>
            <a:ext cx="286512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92246" y="1851660"/>
            <a:ext cx="37012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 and  </a:t>
            </a:r>
          </a:p>
        </p:txBody>
      </p:sp>
      <p:pic>
        <p:nvPicPr>
          <p:cNvPr id="11" name="Picture 10" descr="d631b8b2f265b3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6318" y="1943100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0638" y="185166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wide.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perimeter is 40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of the rectangle, in square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084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rectangle is  </a:t>
            </a:r>
          </a:p>
        </p:txBody>
      </p:sp>
      <p:pic>
        <p:nvPicPr>
          <p:cNvPr id="9" name="Picture 8" descr="c15b55b0bc0ad0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734" y="1944623"/>
            <a:ext cx="28956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95294" y="1851660"/>
            <a:ext cx="37012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 and  </a:t>
            </a:r>
          </a:p>
        </p:txBody>
      </p:sp>
      <p:pic>
        <p:nvPicPr>
          <p:cNvPr id="11" name="Picture 10" descr="2187ef2d8316ce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9366" y="1943100"/>
            <a:ext cx="277368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6734" y="185166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wide.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perimeter is 40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of the rectangle, in square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522" y="3661376"/>
            <a:ext cx="34096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 = length × width</a:t>
            </a:r>
          </a:p>
        </p:txBody>
      </p:sp>
      <p:pic>
        <p:nvPicPr>
          <p:cNvPr id="16" name="Picture 15" descr="00eded558c78f1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9386" y="4263356"/>
            <a:ext cx="2194560" cy="259080"/>
          </a:xfrm>
          <a:prstGeom prst="rect">
            <a:avLst/>
          </a:prstGeom>
        </p:spPr>
      </p:pic>
      <p:pic>
        <p:nvPicPr>
          <p:cNvPr id="17" name="Picture 16" descr="8539984585d0f2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9386" y="4766276"/>
            <a:ext cx="890016" cy="259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387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64 square centimeters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5affe015bded25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194560"/>
            <a:ext cx="1341120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b79ccee972120d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103120"/>
            <a:ext cx="1341120" cy="509016"/>
          </a:xfrm>
          <a:prstGeom prst="rect">
            <a:avLst/>
          </a:prstGeom>
        </p:spPr>
      </p:pic>
      <p:pic>
        <p:nvPicPr>
          <p:cNvPr id="9" name="Picture 8" descr="40c6ca452737ffb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0375" y="2935224"/>
            <a:ext cx="4730496" cy="3688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ef29e4c51122a8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5459" y="2194560"/>
            <a:ext cx="990599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8eed60f03f689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3936" y="2103120"/>
            <a:ext cx="993648" cy="509016"/>
          </a:xfrm>
          <a:prstGeom prst="rect">
            <a:avLst/>
          </a:prstGeom>
        </p:spPr>
      </p:pic>
      <p:pic>
        <p:nvPicPr>
          <p:cNvPr id="9" name="Picture 8" descr="a192ef6ffd071b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667" y="2933699"/>
            <a:ext cx="2343912" cy="371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05755" y="46009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4d9300a6406813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96" y="4663440"/>
            <a:ext cx="42976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8bbe3445ce6255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94560"/>
            <a:ext cx="125882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869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76d2e0b7339287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9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3a724d11a6d468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3" y="3452191"/>
            <a:ext cx="2654808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086b323a5a1e49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367" y="2194560"/>
            <a:ext cx="938784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29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954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954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81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81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870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9a96c530649f2c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9844" y="2103120"/>
            <a:ext cx="941832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76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5669e1447e03fc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7383" y="3505531"/>
            <a:ext cx="2316480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d33980bdb1b2c9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0" y="2194560"/>
            <a:ext cx="2407920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1fa821c78ab6d2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2103120"/>
            <a:ext cx="2414016" cy="512064"/>
          </a:xfrm>
          <a:prstGeom prst="rect">
            <a:avLst/>
          </a:prstGeom>
        </p:spPr>
      </p:pic>
      <p:pic>
        <p:nvPicPr>
          <p:cNvPr id="9" name="Picture 8" descr="f1691282fd903b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447" y="2936748"/>
            <a:ext cx="4340352" cy="371856"/>
          </a:xfrm>
          <a:prstGeom prst="rect">
            <a:avLst/>
          </a:prstGeom>
        </p:spPr>
      </p:pic>
      <p:pic>
        <p:nvPicPr>
          <p:cNvPr id="10" name="Picture 9" descr="e24b5ec6ef9ddd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5447" y="3477768"/>
            <a:ext cx="1673352" cy="3688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3d20fb6b472c53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8803" y="2194560"/>
            <a:ext cx="234391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9bac66b5c58a7c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7" y="2103120"/>
            <a:ext cx="2340864" cy="841248"/>
          </a:xfrm>
          <a:prstGeom prst="rect">
            <a:avLst/>
          </a:prstGeom>
        </p:spPr>
      </p:pic>
      <p:pic>
        <p:nvPicPr>
          <p:cNvPr id="9" name="Picture 8" descr="efcb7ed02df521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6595" y="3246120"/>
            <a:ext cx="4264152" cy="612648"/>
          </a:xfrm>
          <a:prstGeom prst="rect">
            <a:avLst/>
          </a:prstGeom>
        </p:spPr>
      </p:pic>
      <p:pic>
        <p:nvPicPr>
          <p:cNvPr id="10" name="Picture 9" descr="2365def5832106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6595" y="3986783"/>
            <a:ext cx="1438656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8511" y="488442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74507af7579a50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8751" y="4736592"/>
            <a:ext cx="524256" cy="84429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Aiyanna says she can use the power of a product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13590" y="2746579"/>
            <a:ext cx="2222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to evaluate  </a:t>
            </a:r>
          </a:p>
        </p:txBody>
      </p:sp>
      <p:pic>
        <p:nvPicPr>
          <p:cNvPr id="10" name="Picture 9" descr="3c467de68f6a90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446" y="2770963"/>
            <a:ext cx="192024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18686" y="2746579"/>
            <a:ext cx="24664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Is she right?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Aiyanna says she can use the power of a product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12066" y="2655139"/>
            <a:ext cx="2222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to evaluate  </a:t>
            </a:r>
          </a:p>
        </p:txBody>
      </p:sp>
      <p:pic>
        <p:nvPicPr>
          <p:cNvPr id="10" name="Picture 9" descr="8bb89340cbe987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6922" y="2679523"/>
            <a:ext cx="192328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20210" y="2655139"/>
            <a:ext cx="24664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Is she right?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6746" y="3414091"/>
            <a:ext cx="73251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Inside the parentheses is a sum, not a product.</a:t>
            </a:r>
          </a:p>
        </p:txBody>
      </p:sp>
      <p:pic>
        <p:nvPicPr>
          <p:cNvPr id="13" name="Picture 12" descr="df452ab7ad4daf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1610" y="4013023"/>
            <a:ext cx="1569720" cy="265176"/>
          </a:xfrm>
          <a:prstGeom prst="rect">
            <a:avLst/>
          </a:prstGeom>
        </p:spPr>
      </p:pic>
      <p:pic>
        <p:nvPicPr>
          <p:cNvPr id="14" name="Picture 13" descr="5b67aed5b26673e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610" y="4520515"/>
            <a:ext cx="1024128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(10 + (−2))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8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512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0" name="Picture 9" descr="e58cd8710f0bf3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63" y="1588008"/>
            <a:ext cx="780288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4b095ad4a4725d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180844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6" name="Picture 15" descr="99f4e10d55b01f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6963" y="2746247"/>
            <a:ext cx="609600" cy="3322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7812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3825344689b6a43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339083"/>
            <a:ext cx="886968" cy="335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87248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bb914d77e9f3c4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3933444"/>
            <a:ext cx="1591056" cy="3352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466844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611624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46684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dc32ec21fb3f891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556760"/>
            <a:ext cx="1392936" cy="27736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powers — SZQ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Multiplication with exponents — 5SK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 rule — 8DA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495544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Understanding exponents — BFA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Quotient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the quotient of powers, power of a quotient and zero exponent laws to rewrite and evaluate a numerical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6644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one power:  </a:t>
            </a:r>
          </a:p>
        </p:txBody>
      </p:sp>
      <p:pic>
        <p:nvPicPr>
          <p:cNvPr id="9" name="Picture 8" descr="0edb9b2424bafe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1774" y="1530096"/>
            <a:ext cx="75895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58c968e8bf18d1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86258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3" name="Picture 12" descr="ff0aa95dcc4008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781300"/>
            <a:ext cx="1374648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340608"/>
            <a:ext cx="20355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Simplify  </a:t>
            </a:r>
          </a:p>
        </p:txBody>
      </p:sp>
      <p:pic>
        <p:nvPicPr>
          <p:cNvPr id="15" name="Picture 14" descr="f6a28b8ae12f374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2937" y="3300984"/>
            <a:ext cx="923544" cy="53644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6644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one power:  </a:t>
            </a:r>
          </a:p>
        </p:txBody>
      </p:sp>
      <p:pic>
        <p:nvPicPr>
          <p:cNvPr id="9" name="Picture 8" descr="0edb9b2424bafe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1774" y="1530096"/>
            <a:ext cx="758952" cy="277368"/>
          </a:xfrm>
          <a:prstGeom prst="rect">
            <a:avLst/>
          </a:prstGeom>
        </p:spPr>
      </p:pic>
      <p:pic>
        <p:nvPicPr>
          <p:cNvPr id="10" name="Picture 9" descr="228b900b807e90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366" y="1533144"/>
            <a:ext cx="274320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58c968e8bf18d1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059" y="2086356"/>
            <a:ext cx="86258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34283" y="2052828"/>
            <a:ext cx="5547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5" name="Picture 14" descr="ff0aa95dcc4008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9655" y="2781300"/>
            <a:ext cx="1374648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72943" y="2665476"/>
            <a:ext cx="925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&lt;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340608"/>
            <a:ext cx="20355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Simplify  </a:t>
            </a:r>
          </a:p>
        </p:txBody>
      </p:sp>
      <p:pic>
        <p:nvPicPr>
          <p:cNvPr id="18" name="Picture 17" descr="f6a28b8ae12f374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2937" y="3300984"/>
            <a:ext cx="923544" cy="5364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45121" y="3278124"/>
            <a:ext cx="385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Quotient of powers — same base, subtract the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75c22fc6b7d89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7080" y="1993392"/>
            <a:ext cx="5547360" cy="795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32404"/>
            <a:ext cx="3333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Quotient of powers:  </a:t>
            </a:r>
          </a:p>
        </p:txBody>
      </p:sp>
      <p:pic>
        <p:nvPicPr>
          <p:cNvPr id="12" name="Picture 11" descr="2719c53adc764b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493" y="3108960"/>
            <a:ext cx="1840991" cy="7040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4485" y="3232404"/>
            <a:ext cx="607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(</a:t>
            </a:r>
          </a:p>
        </p:txBody>
      </p:sp>
      <p:pic>
        <p:nvPicPr>
          <p:cNvPr id="14" name="Picture 13" descr="47b5f205461fb9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4692" y="3322320"/>
            <a:ext cx="810768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05460" y="3232404"/>
            <a:ext cx="325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238244"/>
            <a:ext cx="29972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Check with values:  </a:t>
            </a:r>
          </a:p>
        </p:txBody>
      </p:sp>
      <p:pic>
        <p:nvPicPr>
          <p:cNvPr id="17" name="Picture 16" descr="d483ca18e1ed7f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85" y="4069080"/>
            <a:ext cx="3602736" cy="7955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Power of a quotient — the exponent goes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c7f0c386a86fa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7980" y="1993392"/>
            <a:ext cx="6385560" cy="792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30880"/>
            <a:ext cx="34280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quotient:  </a:t>
            </a:r>
          </a:p>
        </p:txBody>
      </p:sp>
      <p:pic>
        <p:nvPicPr>
          <p:cNvPr id="12" name="Picture 11" descr="e37a072013928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8461" y="3105912"/>
            <a:ext cx="1804416" cy="7071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82877" y="3230880"/>
            <a:ext cx="607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(</a:t>
            </a:r>
          </a:p>
        </p:txBody>
      </p:sp>
      <p:pic>
        <p:nvPicPr>
          <p:cNvPr id="14" name="Picture 13" descr="cc4966101ceb7e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84" y="3314700"/>
            <a:ext cx="798576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51660" y="3230880"/>
            <a:ext cx="325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236720"/>
            <a:ext cx="1950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Either way:  </a:t>
            </a:r>
          </a:p>
        </p:txBody>
      </p:sp>
      <p:pic>
        <p:nvPicPr>
          <p:cNvPr id="17" name="Picture 16" descr="39a07b3eaa91d2f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0543" y="4069080"/>
            <a:ext cx="3233928" cy="7924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4471" y="4236720"/>
            <a:ext cx="12522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9" name="Picture 18" descr="5df7a26ae56fb2a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9569" y="4262628"/>
            <a:ext cx="2240280" cy="40538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zero exponent — two roads to the same answer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423160" y="1993392"/>
          <a:ext cx="731520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36cadf9b5edf76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266" y="2990088"/>
            <a:ext cx="1581912" cy="7863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00178" y="3154680"/>
            <a:ext cx="1946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and      </a:t>
            </a:r>
          </a:p>
        </p:txBody>
      </p:sp>
      <p:pic>
        <p:nvPicPr>
          <p:cNvPr id="13" name="Picture 12" descr="3f4324b961ec0a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9873" y="2990088"/>
            <a:ext cx="2273808" cy="7863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83681" y="3154680"/>
            <a:ext cx="16914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so      </a:t>
            </a:r>
          </a:p>
        </p:txBody>
      </p:sp>
      <p:pic>
        <p:nvPicPr>
          <p:cNvPr id="15" name="Picture 14" descr="30376742585bb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7997" y="3214116"/>
            <a:ext cx="905256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073651"/>
            <a:ext cx="265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Zero exponent:  </a:t>
            </a:r>
          </a:p>
        </p:txBody>
      </p:sp>
      <p:pic>
        <p:nvPicPr>
          <p:cNvPr id="17" name="Picture 16" descr="6d55b3ee728095c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1385" y="4131563"/>
            <a:ext cx="954023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455409" y="4073651"/>
            <a:ext cx="3247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for every nonzero </a:t>
            </a:r>
          </a:p>
        </p:txBody>
      </p:sp>
      <p:pic>
        <p:nvPicPr>
          <p:cNvPr id="19" name="Picture 18" descr="7feb388dbf36f7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6025" y="4197096"/>
            <a:ext cx="204216" cy="21031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6370c244a2f01b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5" y="2103120"/>
            <a:ext cx="886968" cy="9357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417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0c94eb2ca76e9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91712" cy="938784"/>
          </a:xfrm>
          <a:prstGeom prst="rect">
            <a:avLst/>
          </a:prstGeom>
        </p:spPr>
      </p:pic>
      <p:pic>
        <p:nvPicPr>
          <p:cNvPr id="9" name="Picture 8" descr="a554635d943785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133344"/>
            <a:ext cx="1648968" cy="408432"/>
          </a:xfrm>
          <a:prstGeom prst="rect">
            <a:avLst/>
          </a:prstGeom>
        </p:spPr>
      </p:pic>
      <p:pic>
        <p:nvPicPr>
          <p:cNvPr id="10" name="Picture 9" descr="5c1f83d7f33d27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6096"/>
            <a:ext cx="233172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686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c1d7f761d4b7d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1600200"/>
            <a:ext cx="466344" cy="10027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05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9a555cc0fb30ff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0635" y="1600200"/>
            <a:ext cx="460247" cy="996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98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  <p:pic>
        <p:nvPicPr>
          <p:cNvPr id="10" name="Picture 9" descr="a96092e33ee7290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5399" y="3712066"/>
            <a:ext cx="2063496" cy="722376"/>
          </a:xfrm>
          <a:prstGeom prst="rect">
            <a:avLst/>
          </a:prstGeom>
        </p:spPr>
      </p:pic>
      <p:pic>
        <p:nvPicPr>
          <p:cNvPr id="11" name="Picture 10" descr="2d0acfb864622b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399" y="4615798"/>
            <a:ext cx="1030224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11109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81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02fe0df1b08bc8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5356" y="2103120"/>
            <a:ext cx="1130808" cy="673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9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d097b929243b7c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34384" cy="795528"/>
          </a:xfrm>
          <a:prstGeom prst="rect">
            <a:avLst/>
          </a:prstGeom>
        </p:spPr>
      </p:pic>
      <p:pic>
        <p:nvPicPr>
          <p:cNvPr id="9" name="Picture 8" descr="798f0955cfae57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0088"/>
            <a:ext cx="3733799" cy="682752"/>
          </a:xfrm>
          <a:prstGeom prst="rect">
            <a:avLst/>
          </a:prstGeom>
        </p:spPr>
      </p:pic>
      <p:pic>
        <p:nvPicPr>
          <p:cNvPr id="10" name="Picture 9" descr="66e59263d2af30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47160"/>
            <a:ext cx="370332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127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0.00000016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44e7eea339e5c1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6315" y="1600200"/>
            <a:ext cx="100888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be6f9f06f86603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791" y="1600200"/>
            <a:ext cx="1011936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  <p:pic>
        <p:nvPicPr>
          <p:cNvPr id="10" name="Picture 9" descr="02ea3d3dd2c1ff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627" y="3550522"/>
            <a:ext cx="2215896" cy="713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34128" y="46253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b8c676244c610a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4368" y="4480560"/>
            <a:ext cx="573024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3e9756fa540e4c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7380" y="2194560"/>
            <a:ext cx="746760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ca365731157fa0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904" y="2103120"/>
            <a:ext cx="743712" cy="990599"/>
          </a:xfrm>
          <a:prstGeom prst="rect">
            <a:avLst/>
          </a:prstGeom>
        </p:spPr>
      </p:pic>
      <p:pic>
        <p:nvPicPr>
          <p:cNvPr id="9" name="Picture 8" descr="f1d501cf95f357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219" y="3395471"/>
            <a:ext cx="2654808" cy="71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83836" y="46009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20daecf28d2128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076" y="4663440"/>
            <a:ext cx="67360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619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website puts  </a:t>
            </a:r>
          </a:p>
        </p:txBody>
      </p:sp>
      <p:pic>
        <p:nvPicPr>
          <p:cNvPr id="9" name="Picture 8" descr="d7dee7bac0eb5c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200" y="1946147"/>
            <a:ext cx="295656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54856" y="1851660"/>
            <a:ext cx="447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photos into 8 equal albums.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site is 30 days 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photos are in each album?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619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website puts  </a:t>
            </a:r>
          </a:p>
        </p:txBody>
      </p:sp>
      <p:pic>
        <p:nvPicPr>
          <p:cNvPr id="9" name="Picture 8" descr="249c39e6033768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200" y="1944623"/>
            <a:ext cx="295656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54856" y="1851660"/>
            <a:ext cx="447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photos into 8 equal albums.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site is 30 days 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photos are in each album?</a:t>
            </a:r>
          </a:p>
        </p:txBody>
      </p:sp>
      <p:pic>
        <p:nvPicPr>
          <p:cNvPr id="13" name="Picture 12" descr="6c1f346a6254f1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7" y="3739100"/>
            <a:ext cx="2727960" cy="301752"/>
          </a:xfrm>
          <a:prstGeom prst="rect">
            <a:avLst/>
          </a:prstGeom>
        </p:spPr>
      </p:pic>
      <p:pic>
        <p:nvPicPr>
          <p:cNvPr id="14" name="Picture 13" descr="7e3b81dbc2bff30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7" y="4277072"/>
            <a:ext cx="1213104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512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65357565e2967f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975" y="2194560"/>
            <a:ext cx="1115568" cy="1167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7a2d988691ed78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499" y="2103120"/>
            <a:ext cx="1112520" cy="1167384"/>
          </a:xfrm>
          <a:prstGeom prst="rect">
            <a:avLst/>
          </a:prstGeom>
        </p:spPr>
      </p:pic>
      <p:pic>
        <p:nvPicPr>
          <p:cNvPr id="9" name="Picture 8" descr="9ede1db7650679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7743" y="3572255"/>
            <a:ext cx="4178808" cy="8473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dda27b062e079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2be21e0d759d6f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03120"/>
            <a:ext cx="1274064" cy="841248"/>
          </a:xfrm>
          <a:prstGeom prst="rect">
            <a:avLst/>
          </a:prstGeom>
        </p:spPr>
      </p:pic>
      <p:pic>
        <p:nvPicPr>
          <p:cNvPr id="9" name="Picture 8" descr="3578dff92cd336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9303" y="3246120"/>
            <a:ext cx="2069591" cy="777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4380" y="492709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4ab832f314e81a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620" y="4663440"/>
            <a:ext cx="1112520" cy="1075944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24ad149a2162bc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731" y="2194560"/>
            <a:ext cx="44805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378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174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1629cabbb0de35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731" y="2103120"/>
            <a:ext cx="44805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5234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3450" y="3377515"/>
            <a:ext cx="73917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Any nonzero number to the power 0 is 1.</a:t>
            </a:r>
          </a:p>
        </p:txBody>
      </p:sp>
      <p:pic>
        <p:nvPicPr>
          <p:cNvPr id="11" name="Picture 10" descr="c09f26f770b7cb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314" y="3994735"/>
            <a:ext cx="826008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c64457c91756da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3204" y="2194560"/>
            <a:ext cx="515112" cy="984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76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492b406a8f5b14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4727" y="2103120"/>
            <a:ext cx="512064" cy="987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192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131314ea478871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679" y="3967303"/>
            <a:ext cx="2154936" cy="713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1769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0538c15f498df9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228" y="2194560"/>
            <a:ext cx="893064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0ae3b03db9ce2a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752" y="2103120"/>
            <a:ext cx="890016" cy="993648"/>
          </a:xfrm>
          <a:prstGeom prst="rect">
            <a:avLst/>
          </a:prstGeom>
        </p:spPr>
      </p:pic>
      <p:pic>
        <p:nvPicPr>
          <p:cNvPr id="9" name="Picture 8" descr="f1adc35cb08825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9723" y="3398520"/>
            <a:ext cx="2974848" cy="716280"/>
          </a:xfrm>
          <a:prstGeom prst="rect">
            <a:avLst/>
          </a:prstGeom>
        </p:spPr>
      </p:pic>
      <p:pic>
        <p:nvPicPr>
          <p:cNvPr id="10" name="Picture 9" descr="0431727820ff0b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9723" y="4296156"/>
            <a:ext cx="178308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914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0.125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6b12155fed1886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8442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9336c4e0de941d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03120"/>
            <a:ext cx="1274064" cy="8442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53450" y="3226308"/>
            <a:ext cx="73917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Any nonzero number to the power 0 is 1.</a:t>
            </a:r>
          </a:p>
        </p:txBody>
      </p:sp>
      <p:pic>
        <p:nvPicPr>
          <p:cNvPr id="10" name="Picture 9" descr="57a6de2c0fe6ec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314" y="3788664"/>
            <a:ext cx="1426464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6769" y="1812036"/>
            <a:ext cx="30346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Hannah cancels:  </a:t>
            </a:r>
          </a:p>
        </p:txBody>
      </p:sp>
      <p:pic>
        <p:nvPicPr>
          <p:cNvPr id="9" name="Picture 8" descr="f187a11a89af76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4219" y="1645920"/>
            <a:ext cx="1578864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23083" y="1812036"/>
            <a:ext cx="40368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Sebastian subtracts:  </a:t>
            </a:r>
          </a:p>
        </p:txBody>
      </p:sp>
      <p:pic>
        <p:nvPicPr>
          <p:cNvPr id="11" name="Picture 10" descr="f7fea7d63fe294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2764" y="1645920"/>
            <a:ext cx="1143000" cy="789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65764" y="1812036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096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Who is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721" y="1810512"/>
            <a:ext cx="30346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Hannah cancels:  </a:t>
            </a:r>
          </a:p>
        </p:txBody>
      </p:sp>
      <p:pic>
        <p:nvPicPr>
          <p:cNvPr id="9" name="Picture 8" descr="36cadf9b5edf76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1171" y="1645920"/>
            <a:ext cx="1581912" cy="7863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23083" y="1810512"/>
            <a:ext cx="40368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Sebastian subtracts:  </a:t>
            </a:r>
          </a:p>
        </p:txBody>
      </p:sp>
      <p:pic>
        <p:nvPicPr>
          <p:cNvPr id="11" name="Picture 10" descr="481073d0dfc434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2764" y="1645920"/>
            <a:ext cx="1146048" cy="7863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68812" y="1810512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066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Who is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017" y="3426283"/>
            <a:ext cx="16516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Hannah:  </a:t>
            </a:r>
          </a:p>
        </p:txBody>
      </p:sp>
      <p:pic>
        <p:nvPicPr>
          <p:cNvPr id="15" name="Picture 14" descr="cccc3c74ba494f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3468" y="3354655"/>
            <a:ext cx="1213104" cy="6004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79017" y="4118179"/>
            <a:ext cx="1974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Sebastian:  </a:t>
            </a:r>
          </a:p>
        </p:txBody>
      </p:sp>
      <p:pic>
        <p:nvPicPr>
          <p:cNvPr id="17" name="Picture 16" descr="c39e2f4fb05682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6138" y="4046551"/>
            <a:ext cx="1743456" cy="600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279017" y="4715587"/>
            <a:ext cx="30487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Same fraction, so  </a:t>
            </a:r>
          </a:p>
        </p:txBody>
      </p:sp>
      <p:pic>
        <p:nvPicPr>
          <p:cNvPr id="19" name="Picture 18" descr="c474a6f40cf4113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90606" y="4814647"/>
            <a:ext cx="691896" cy="259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28708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Both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0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9218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92182"/>
            <a:ext cx="265499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0" name="Picture 9" descr="a20fd9ba3a575f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2310" y="1517904"/>
            <a:ext cx="254309" cy="52624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2502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250219"/>
            <a:ext cx="20691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88fae2052833ae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6518" y="2172163"/>
            <a:ext cx="271934" cy="533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95861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958614"/>
            <a:ext cx="20691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6" name="Picture 15" descr="086531e7053a3b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6518" y="2833977"/>
            <a:ext cx="616888" cy="626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622945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622945"/>
            <a:ext cx="85208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Rewrite so the exponent is on the numerator and on the denominator.  </a:t>
            </a:r>
          </a:p>
        </p:txBody>
      </p:sp>
      <p:pic>
        <p:nvPicPr>
          <p:cNvPr id="19" name="Picture 18" descr="eb63da779674ef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8218" y="3588953"/>
            <a:ext cx="533797" cy="44567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199150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99150"/>
            <a:ext cx="20691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5724de55833e2de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6518" y="4162640"/>
            <a:ext cx="667246" cy="45070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80179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801792"/>
            <a:ext cx="225388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208" y="4921393"/>
            <a:ext cx="120859" cy="13848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792068" y="4801792"/>
            <a:ext cx="40179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70948e8ce7156c1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56703" y="4741362"/>
            <a:ext cx="783070" cy="498546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with negative bases — WFW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Division with exponents — XNC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equivalent expressions involving whole-number exponents — KBE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Exponential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apply more than one law of exponents to evaluate an expression and to write an equivalent 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6004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eabcc1a7697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487680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284476"/>
            <a:ext cx="1049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Is </a:t>
            </a:r>
          </a:p>
        </p:txBody>
      </p:sp>
      <p:pic>
        <p:nvPicPr>
          <p:cNvPr id="11" name="Picture 10" descr="bcdd9774053692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6893" y="2318004"/>
            <a:ext cx="71018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97077" y="2284476"/>
            <a:ext cx="29097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closer to 7 or to 8?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897124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4" name="Picture 13" descr="c4840976746a8c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983992"/>
            <a:ext cx="1673352" cy="283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09772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6" name="Picture 15" descr="3d00c0b948695d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599688"/>
            <a:ext cx="1127760" cy="277368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6004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eabcc1a7697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487680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95488" y="1440180"/>
            <a:ext cx="7723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284476"/>
            <a:ext cx="1049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Is </a:t>
            </a:r>
          </a:p>
        </p:txBody>
      </p:sp>
      <p:pic>
        <p:nvPicPr>
          <p:cNvPr id="12" name="Picture 11" descr="bcdd9774053692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6893" y="2318004"/>
            <a:ext cx="71018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97077" y="2284476"/>
            <a:ext cx="29097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closer to 7 or to 8?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8326" y="2284476"/>
            <a:ext cx="3729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897124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6" name="Picture 15" descr="c4840976746a8c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983992"/>
            <a:ext cx="1673352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571647" y="2897124"/>
            <a:ext cx="9353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=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09772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9" name="Picture 18" descr="3d00c0b948695d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599688"/>
            <a:ext cx="1127760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32315" y="3509772"/>
            <a:ext cx="584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seven laws, in one place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1993392"/>
          <a:ext cx="1005840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65760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Law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Rule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Example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Product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n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m+n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Quotient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n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m-n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(−3)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7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(−3)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(−3)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Power of a product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(ab)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b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(−7 · 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(−7)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Power of a quotient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(a ÷ b)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b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(13 ÷ 5)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n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(6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6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Identity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15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Zero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127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More than one law — make a plan, then follow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05456" y="2159508"/>
            <a:ext cx="17813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Winston:  </a:t>
            </a:r>
          </a:p>
        </p:txBody>
      </p:sp>
      <p:pic>
        <p:nvPicPr>
          <p:cNvPr id="11" name="Picture 10" descr="26de40715e21e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9695" y="1993392"/>
            <a:ext cx="3706368" cy="789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81866" y="3297936"/>
            <a:ext cx="16105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Yvette:   </a:t>
            </a:r>
          </a:p>
        </p:txBody>
      </p:sp>
      <p:pic>
        <p:nvPicPr>
          <p:cNvPr id="13" name="Picture 12" descr="354e7e69552fdc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5253" y="3057144"/>
            <a:ext cx="4724400" cy="9387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3342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Different plans, same value. Any correct sequence of laws gives the same answer.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Order of operations still applies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87552" y="2057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057400"/>
            <a:ext cx="9537192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Parentheses first — including a fraction bar, which is a pair of parentheses in disguise.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6440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264408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Exponents next — the laws of exponents are applied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99592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995928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Then multiply and divide, left to right; then add and subtract.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72744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686299"/>
            <a:ext cx="3942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Never across a + or a −:  </a:t>
            </a:r>
          </a:p>
        </p:txBody>
      </p:sp>
      <p:pic>
        <p:nvPicPr>
          <p:cNvPr id="18" name="Picture 17" descr="b054382c410b71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7624" y="4745736"/>
            <a:ext cx="3041904" cy="338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29528" y="4686299"/>
            <a:ext cx="9753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, not </a:t>
            </a:r>
          </a:p>
        </p:txBody>
      </p:sp>
      <p:pic>
        <p:nvPicPr>
          <p:cNvPr id="20" name="Picture 19" descr="b8a8a24b141b26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7716" y="4748783"/>
            <a:ext cx="335280" cy="3322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02996" y="4686299"/>
            <a:ext cx="2858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871450e41cfad6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8883" y="2103120"/>
            <a:ext cx="1063752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98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5359036a1f698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15056" cy="792480"/>
          </a:xfrm>
          <a:prstGeom prst="rect">
            <a:avLst/>
          </a:prstGeom>
        </p:spPr>
      </p:pic>
      <p:pic>
        <p:nvPicPr>
          <p:cNvPr id="9" name="Picture 8" descr="a9f26448e74da4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121152" cy="792480"/>
          </a:xfrm>
          <a:prstGeom prst="rect">
            <a:avLst/>
          </a:prstGeom>
        </p:spPr>
      </p:pic>
      <p:pic>
        <p:nvPicPr>
          <p:cNvPr id="10" name="Picture 9" descr="55388f3dbeaaa9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3839"/>
            <a:ext cx="2014727" cy="786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29742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7c1c49302d0312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536" y="1600200"/>
            <a:ext cx="1298448" cy="996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98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64d9077d4a04b7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1600200"/>
            <a:ext cx="1292352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67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  <p:pic>
        <p:nvPicPr>
          <p:cNvPr id="10" name="Picture 9" descr="7d5966605e1b5a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7217" y="3762358"/>
            <a:ext cx="832104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59321" y="3686158"/>
            <a:ext cx="3113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the top is   </a:t>
            </a:r>
          </a:p>
        </p:txBody>
      </p:sp>
      <p:pic>
        <p:nvPicPr>
          <p:cNvPr id="12" name="Picture 11" descr="cfeba237a81f83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5854" y="3762358"/>
            <a:ext cx="1414272" cy="304800"/>
          </a:xfrm>
          <a:prstGeom prst="rect">
            <a:avLst/>
          </a:prstGeom>
        </p:spPr>
      </p:pic>
      <p:pic>
        <p:nvPicPr>
          <p:cNvPr id="13" name="Picture 12" descr="c9da1d73bbb72e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7217" y="4248514"/>
            <a:ext cx="2834640" cy="719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10500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25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2eb7f507fb1bdd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4147" y="2103120"/>
            <a:ext cx="2173224" cy="86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68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466ad9eb1c6c0f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91584" cy="862584"/>
          </a:xfrm>
          <a:prstGeom prst="rect">
            <a:avLst/>
          </a:prstGeom>
        </p:spPr>
      </p:pic>
      <p:pic>
        <p:nvPicPr>
          <p:cNvPr id="9" name="Picture 8" descr="805526f61b3f74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57144"/>
            <a:ext cx="2709672" cy="676656"/>
          </a:xfrm>
          <a:prstGeom prst="rect">
            <a:avLst/>
          </a:prstGeom>
        </p:spPr>
      </p:pic>
      <p:pic>
        <p:nvPicPr>
          <p:cNvPr id="10" name="Picture 9" descr="e03466c326967c3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08119"/>
            <a:ext cx="257860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7375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10,000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31005eb0e2b932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295" y="1600200"/>
            <a:ext cx="2090928" cy="10698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2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3c51ce23219019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44" y="1600200"/>
            <a:ext cx="2084831" cy="10698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2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  <p:pic>
        <p:nvPicPr>
          <p:cNvPr id="10" name="Picture 9" descr="861380fef57da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7723" y="3837034"/>
            <a:ext cx="813816" cy="307848"/>
          </a:xfrm>
          <a:prstGeom prst="rect">
            <a:avLst/>
          </a:prstGeom>
        </p:spPr>
      </p:pic>
      <p:pic>
        <p:nvPicPr>
          <p:cNvPr id="11" name="Picture 10" descr="6ae16a65768a73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7723" y="4324714"/>
            <a:ext cx="4498848" cy="7741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2360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−27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718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warehouse holds  </a:t>
            </a:r>
          </a:p>
        </p:txBody>
      </p:sp>
      <p:pic>
        <p:nvPicPr>
          <p:cNvPr id="9" name="Picture 8" descr="0ad9a9f5739e68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9171" y="1946147"/>
            <a:ext cx="292608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1779" y="1851660"/>
            <a:ext cx="1774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boxes in  </a:t>
            </a:r>
          </a:p>
        </p:txBody>
      </p:sp>
      <p:pic>
        <p:nvPicPr>
          <p:cNvPr id="11" name="Picture 10" descr="90ca6f61d8d9d8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724" y="1943100"/>
            <a:ext cx="28041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79140" y="1851660"/>
            <a:ext cx="20589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equal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box weighs 3 kilograms.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boxes are in each row?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718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warehouse holds  </a:t>
            </a:r>
          </a:p>
        </p:txBody>
      </p:sp>
      <p:pic>
        <p:nvPicPr>
          <p:cNvPr id="9" name="Picture 8" descr="39f35dfe45d06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9171" y="1944623"/>
            <a:ext cx="292608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1779" y="1851660"/>
            <a:ext cx="1774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boxes in  </a:t>
            </a:r>
          </a:p>
        </p:txBody>
      </p:sp>
      <p:pic>
        <p:nvPicPr>
          <p:cNvPr id="11" name="Picture 10" descr="83256b733f6eea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724" y="1943100"/>
            <a:ext cx="283464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82188" y="1851660"/>
            <a:ext cx="20589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equal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box weighs 3 kilograms.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boxes are in each row?</a:t>
            </a:r>
          </a:p>
        </p:txBody>
      </p:sp>
      <p:pic>
        <p:nvPicPr>
          <p:cNvPr id="15" name="Picture 14" descr="7a08f76444d3db9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0119" y="3739100"/>
            <a:ext cx="2727960" cy="301752"/>
          </a:xfrm>
          <a:prstGeom prst="rect">
            <a:avLst/>
          </a:prstGeom>
        </p:spPr>
      </p:pic>
      <p:pic>
        <p:nvPicPr>
          <p:cNvPr id="16" name="Picture 15" descr="8cf4bb25f9be76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0119" y="4277072"/>
            <a:ext cx="1024128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d7dfc0540bf78c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2194560"/>
            <a:ext cx="170078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1728c2e18e9d37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2103120"/>
            <a:ext cx="170078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36576" y="2891028"/>
            <a:ext cx="245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Inside first:  </a:t>
            </a:r>
          </a:p>
        </p:txBody>
      </p:sp>
      <p:pic>
        <p:nvPicPr>
          <p:cNvPr id="10" name="Picture 9" descr="a8f80e542aac10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5479" y="2967228"/>
            <a:ext cx="2569464" cy="304800"/>
          </a:xfrm>
          <a:prstGeom prst="rect">
            <a:avLst/>
          </a:prstGeom>
        </p:spPr>
      </p:pic>
      <p:pic>
        <p:nvPicPr>
          <p:cNvPr id="11" name="Picture 10" descr="562836d64a2498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1440" y="3473195"/>
            <a:ext cx="3206496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853f704f39adc6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9720" y="2194560"/>
            <a:ext cx="1402080" cy="11612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8cfe86bd927791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2767" y="2103120"/>
            <a:ext cx="1395984" cy="1158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83151" y="3540252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c8aacd963cc0ab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295" y="3582923"/>
            <a:ext cx="3212592" cy="371856"/>
          </a:xfrm>
          <a:prstGeom prst="rect">
            <a:avLst/>
          </a:prstGeom>
        </p:spPr>
      </p:pic>
      <p:pic>
        <p:nvPicPr>
          <p:cNvPr id="11" name="Picture 10" descr="024670428e914a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8015" y="4102607"/>
            <a:ext cx="4395216" cy="722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96214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0.0625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c1a85d6466844e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94560"/>
            <a:ext cx="1600200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201b523e87142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9135" y="2103120"/>
            <a:ext cx="1603248" cy="990599"/>
          </a:xfrm>
          <a:prstGeom prst="rect">
            <a:avLst/>
          </a:prstGeom>
        </p:spPr>
      </p:pic>
      <p:pic>
        <p:nvPicPr>
          <p:cNvPr id="9" name="Picture 8" descr="559f26ed92ee9a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203" y="3395471"/>
            <a:ext cx="2904744" cy="716280"/>
          </a:xfrm>
          <a:prstGeom prst="rect">
            <a:avLst/>
          </a:prstGeom>
        </p:spPr>
      </p:pic>
      <p:pic>
        <p:nvPicPr>
          <p:cNvPr id="10" name="Picture 9" descr="24d3fe5a98bd3a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203" y="4259580"/>
            <a:ext cx="2910840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884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6.25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bc2795e448a34e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7864" y="2194560"/>
            <a:ext cx="2145792" cy="10789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021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1684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1684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854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854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0dc5a9a7ac0e32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9387" y="2103120"/>
            <a:ext cx="2142744" cy="1072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46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0d09560877107f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4945" y="4105987"/>
            <a:ext cx="109728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72225" y="4029787"/>
            <a:ext cx="3113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the top is   </a:t>
            </a:r>
          </a:p>
        </p:txBody>
      </p:sp>
      <p:pic>
        <p:nvPicPr>
          <p:cNvPr id="12" name="Picture 11" descr="2fb277e921b4c8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758" y="4072459"/>
            <a:ext cx="2450592" cy="371856"/>
          </a:xfrm>
          <a:prstGeom prst="rect">
            <a:avLst/>
          </a:prstGeom>
        </p:spPr>
      </p:pic>
      <p:pic>
        <p:nvPicPr>
          <p:cNvPr id="13" name="Picture 12" descr="06fcc5f13e11315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4945" y="4592143"/>
            <a:ext cx="3008376" cy="716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44558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4f0d140d692f52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680" y="2194560"/>
            <a:ext cx="2042160" cy="984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76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0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· 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· 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d5144192dfe296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1" y="2103120"/>
            <a:ext cx="2048256" cy="984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162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94a1e1b1de4bfc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919" y="3964255"/>
            <a:ext cx="2980944" cy="713232"/>
          </a:xfrm>
          <a:prstGeom prst="rect">
            <a:avLst/>
          </a:prstGeom>
        </p:spPr>
      </p:pic>
      <p:pic>
        <p:nvPicPr>
          <p:cNvPr id="11" name="Picture 10" descr="f5db90305a3cc13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919" y="4858843"/>
            <a:ext cx="3648456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35414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0.1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1f6a545d117e0f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3939" y="2194560"/>
            <a:ext cx="2453640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4a52109175a88e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416" y="2103120"/>
            <a:ext cx="2456688" cy="509016"/>
          </a:xfrm>
          <a:prstGeom prst="rect">
            <a:avLst/>
          </a:prstGeom>
        </p:spPr>
      </p:pic>
      <p:pic>
        <p:nvPicPr>
          <p:cNvPr id="9" name="Picture 8" descr="9994c4103bc079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48" y="2933699"/>
            <a:ext cx="3127248" cy="371856"/>
          </a:xfrm>
          <a:prstGeom prst="rect">
            <a:avLst/>
          </a:prstGeom>
        </p:spPr>
      </p:pic>
      <p:pic>
        <p:nvPicPr>
          <p:cNvPr id="10" name="Picture 9" descr="a3962f919eaa2e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4448" y="3506724"/>
            <a:ext cx="510844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0.0001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c207f4faf046f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3648" y="2194560"/>
            <a:ext cx="2554224" cy="1170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b21b3b08159601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6695" y="2103120"/>
            <a:ext cx="2548128" cy="1170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62714" y="3552444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7cb6b0e3712490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333" y="3624072"/>
            <a:ext cx="3776472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62714" y="4055363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2" name="Picture 11" descr="7fc1a3bd4f31f4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8824" y="4126992"/>
            <a:ext cx="1103376" cy="313944"/>
          </a:xfrm>
          <a:prstGeom prst="rect">
            <a:avLst/>
          </a:prstGeom>
        </p:spPr>
      </p:pic>
      <p:pic>
        <p:nvPicPr>
          <p:cNvPr id="13" name="Picture 12" descr="9f85f887b8d2d3a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7578" y="4632960"/>
            <a:ext cx="1469136" cy="3078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12978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−64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2037" y="2362199"/>
            <a:ext cx="2771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Winston writes  </a:t>
            </a:r>
          </a:p>
        </p:txBody>
      </p:sp>
      <p:pic>
        <p:nvPicPr>
          <p:cNvPr id="9" name="Picture 8" descr="c980b6f8e4155c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6116" y="2196083"/>
            <a:ext cx="2170176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292" y="2362199"/>
            <a:ext cx="2862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Yvette writes  </a:t>
            </a:r>
          </a:p>
        </p:txBody>
      </p:sp>
      <p:pic>
        <p:nvPicPr>
          <p:cNvPr id="11" name="Picture 10" descr="149a6d7e3b789f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1592" y="2194560"/>
            <a:ext cx="1898904" cy="792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20496" y="236219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61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Do they get the same value? Explain.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0513" y="2270760"/>
            <a:ext cx="2771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Winston writes  </a:t>
            </a:r>
          </a:p>
        </p:txBody>
      </p:sp>
      <p:pic>
        <p:nvPicPr>
          <p:cNvPr id="9" name="Picture 8" descr="e64c2044df8773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592" y="2104644"/>
            <a:ext cx="2176272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00864" y="2270760"/>
            <a:ext cx="2862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Yvette writes  </a:t>
            </a:r>
          </a:p>
        </p:txBody>
      </p:sp>
      <p:pic>
        <p:nvPicPr>
          <p:cNvPr id="11" name="Picture 10" descr="cee0462912012d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6164" y="2103120"/>
            <a:ext cx="1895856" cy="792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22020" y="22707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6991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Do they get the same value? Explain.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4019" y="3795091"/>
            <a:ext cx="1690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Winston:  </a:t>
            </a:r>
          </a:p>
        </p:txBody>
      </p:sp>
      <p:pic>
        <p:nvPicPr>
          <p:cNvPr id="15" name="Picture 14" descr="39098cfa8576ec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7636" y="3866719"/>
            <a:ext cx="1962911" cy="3139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24019" y="4395547"/>
            <a:ext cx="14419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Yvette:  </a:t>
            </a:r>
          </a:p>
        </p:txBody>
      </p:sp>
      <p:pic>
        <p:nvPicPr>
          <p:cNvPr id="17" name="Picture 16" descr="c0e6871a3ee6bdb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8802" y="4320871"/>
            <a:ext cx="2069591" cy="606552"/>
          </a:xfrm>
          <a:prstGeom prst="rect">
            <a:avLst/>
          </a:prstGeom>
        </p:spPr>
      </p:pic>
      <p:pic>
        <p:nvPicPr>
          <p:cNvPr id="18" name="Picture 17" descr="8539984585d0f2a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8883" y="5095063"/>
            <a:ext cx="890016" cy="259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6750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both give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64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61086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1086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0" name="Picture 9" descr="c7e89364d519cf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78" y="1517904"/>
            <a:ext cx="862584" cy="6431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321052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21052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4708afb69f8d23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383536"/>
            <a:ext cx="1121664" cy="332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03276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32760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6" name="Picture 15" descr="9089217fb5b948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6963" y="2938272"/>
            <a:ext cx="819912" cy="6461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74446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4446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271b6d25ef87d1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806952"/>
            <a:ext cx="1624584" cy="3322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51561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515611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4cda08a3e11dfd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4361688"/>
            <a:ext cx="1621536" cy="765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54041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404104"/>
            <a:ext cx="18133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Show that  </a:t>
            </a:r>
          </a:p>
        </p:txBody>
      </p:sp>
      <p:pic>
        <p:nvPicPr>
          <p:cNvPr id="25" name="Picture 24" descr="ae2b35341e662e1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0690" y="5309616"/>
            <a:ext cx="996696" cy="64617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27386" y="5404104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27" name="Picture 26" descr="b168ae64df955b7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77727" y="5311140"/>
            <a:ext cx="499871" cy="6431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677599" y="5404104"/>
            <a:ext cx="338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have the same value.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expressions using properties of exponents — ZE9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Negative Exponent Law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rewrite a power with a negative exponent using a positive exponent, and evaluate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9052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2e2a945d199f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844296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290572"/>
            <a:ext cx="3159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Which is greater, </a:t>
            </a:r>
          </a:p>
        </p:txBody>
      </p:sp>
      <p:pic>
        <p:nvPicPr>
          <p:cNvPr id="11" name="Picture 10" descr="10d7b99c008a1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762" y="2324100"/>
            <a:ext cx="697992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94754" y="2290572"/>
            <a:ext cx="1225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5.5?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03220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4" name="Picture 13" descr="3835561d3a3338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3019044"/>
            <a:ext cx="1112520" cy="2255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79876"/>
            <a:ext cx="4278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</a:t>
            </a:r>
          </a:p>
        </p:txBody>
      </p:sp>
      <p:pic>
        <p:nvPicPr>
          <p:cNvPr id="16" name="Picture 15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240" y="3538728"/>
            <a:ext cx="198120" cy="5394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4360" y="3579876"/>
            <a:ext cx="39173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  What is the opposite of </a:t>
            </a:r>
          </a:p>
        </p:txBody>
      </p:sp>
      <p:pic>
        <p:nvPicPr>
          <p:cNvPr id="18" name="Picture 17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595" y="3538728"/>
            <a:ext cx="198120" cy="5394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192715" y="3579876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9052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2e2a945d199f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844296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52104" y="1440180"/>
            <a:ext cx="546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290572"/>
            <a:ext cx="3159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Which is greater, </a:t>
            </a:r>
          </a:p>
        </p:txBody>
      </p:sp>
      <p:pic>
        <p:nvPicPr>
          <p:cNvPr id="12" name="Picture 11" descr="10d7b99c008a1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762" y="2324100"/>
            <a:ext cx="697992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94754" y="2290572"/>
            <a:ext cx="1225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5.5?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2214" y="2290572"/>
            <a:ext cx="6364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03220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6" name="Picture 15" descr="3835561d3a3338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3019044"/>
            <a:ext cx="1112520" cy="225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10815" y="2903220"/>
            <a:ext cx="1093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= −7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79876"/>
            <a:ext cx="4278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</a:t>
            </a:r>
          </a:p>
        </p:txBody>
      </p:sp>
      <p:pic>
        <p:nvPicPr>
          <p:cNvPr id="19" name="Picture 18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240" y="3538728"/>
            <a:ext cx="198120" cy="5394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14360" y="3579876"/>
            <a:ext cx="39173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  What is the opposite of </a:t>
            </a:r>
          </a:p>
        </p:txBody>
      </p:sp>
      <p:pic>
        <p:nvPicPr>
          <p:cNvPr id="21" name="Picture 20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595" y="3538728"/>
            <a:ext cx="198120" cy="5394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192715" y="3579876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23" name="Picture 22" descr="fa151ddb9afb949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123944"/>
            <a:ext cx="198120" cy="5394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804160" y="4165092"/>
            <a:ext cx="11597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  and  </a:t>
            </a:r>
          </a:p>
        </p:txBody>
      </p:sp>
      <p:pic>
        <p:nvPicPr>
          <p:cNvPr id="25" name="Picture 24" descr="8205fb4d0fb708a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6787" y="4123944"/>
            <a:ext cx="36576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pattern keeps going past zero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93392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311a92ab63e08f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438" y="2990088"/>
            <a:ext cx="1219200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91638" y="3127248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13" name="Picture 12" descr="049aeed39d2b92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2990088"/>
            <a:ext cx="1892807" cy="731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02552" y="3127248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15" name="Picture 14" descr="bccda897994661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657" y="2991612"/>
            <a:ext cx="1868424" cy="728472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negative exponent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8aa15ddbf8bf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445" y="1993392"/>
            <a:ext cx="1365504" cy="685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92949" y="210769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703929da3359c7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293" y="1993392"/>
            <a:ext cx="1405128" cy="685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2421" y="2107692"/>
            <a:ext cx="1263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(</a:t>
            </a:r>
          </a:p>
        </p:txBody>
      </p:sp>
      <p:pic>
        <p:nvPicPr>
          <p:cNvPr id="14" name="Picture 13" descr="47b5f205461fb9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59" y="2197608"/>
            <a:ext cx="810768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39227" y="2107692"/>
            <a:ext cx="3320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pic>
        <p:nvPicPr>
          <p:cNvPr id="16" name="Picture 15" descr="c4472833bac66d5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79" y="2953512"/>
            <a:ext cx="2103120" cy="7345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49099" y="3092196"/>
            <a:ext cx="18660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but      </a:t>
            </a:r>
          </a:p>
        </p:txBody>
      </p:sp>
      <p:pic>
        <p:nvPicPr>
          <p:cNvPr id="18" name="Picture 17" descr="423c7123e052fac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8014" y="3150108"/>
            <a:ext cx="1581912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59926" y="3092196"/>
            <a:ext cx="1946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and      </a:t>
            </a:r>
          </a:p>
        </p:txBody>
      </p:sp>
      <p:pic>
        <p:nvPicPr>
          <p:cNvPr id="20" name="Picture 19" descr="1f1d03da98083e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20" y="3115056"/>
            <a:ext cx="1645920" cy="4114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7552" y="40264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 negative exponent means reciprocal. It never means a negative value.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4911851"/>
            <a:ext cx="44025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base keeps its own sign:  </a:t>
            </a:r>
          </a:p>
        </p:txBody>
      </p:sp>
      <p:pic>
        <p:nvPicPr>
          <p:cNvPr id="23" name="Picture 22" descr="40306a195e2bf5f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2915" y="4739639"/>
            <a:ext cx="3962399" cy="801624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laws still work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c0334afe7b278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0271" y="1993392"/>
            <a:ext cx="4760976" cy="734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2958" y="2979420"/>
            <a:ext cx="1107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or      </a:t>
            </a:r>
          </a:p>
        </p:txBody>
      </p:sp>
      <p:pic>
        <p:nvPicPr>
          <p:cNvPr id="12" name="Picture 11" descr="9c8b9f7e693c72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3281" y="3038856"/>
            <a:ext cx="4145280" cy="338328"/>
          </a:xfrm>
          <a:prstGeom prst="rect">
            <a:avLst/>
          </a:prstGeom>
        </p:spPr>
      </p:pic>
      <p:pic>
        <p:nvPicPr>
          <p:cNvPr id="13" name="Picture 12" descr="ba6216107014bb8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9015" y="3688080"/>
            <a:ext cx="3523488" cy="783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974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Add, subtract and multiply exponents exactly as before — the exponents are just integers now.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d8836e49d1cfec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2536" y="2103120"/>
            <a:ext cx="536448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954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5557daf282610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313688" cy="792480"/>
          </a:xfrm>
          <a:prstGeom prst="rect">
            <a:avLst/>
          </a:prstGeom>
        </p:spPr>
      </p:pic>
      <p:pic>
        <p:nvPicPr>
          <p:cNvPr id="9" name="Picture 8" descr="910e7e74eaed25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2727960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81/8 = 10.125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6f58bfbd6c8fb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1600200"/>
            <a:ext cx="661416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67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614b6a36d8c6f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3099" y="1600200"/>
            <a:ext cx="655320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3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positive exponents, then find the value.</a:t>
            </a:r>
          </a:p>
        </p:txBody>
      </p:sp>
      <p:pic>
        <p:nvPicPr>
          <p:cNvPr id="10" name="Picture 9" descr="a77b1d7cf427ed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1473" y="3705970"/>
            <a:ext cx="1124712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16185" y="3809602"/>
            <a:ext cx="193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2" name="Picture 11" descr="9dc9678259e96a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8486" y="3705970"/>
            <a:ext cx="1161288" cy="664464"/>
          </a:xfrm>
          <a:prstGeom prst="rect">
            <a:avLst/>
          </a:prstGeom>
        </p:spPr>
      </p:pic>
      <p:pic>
        <p:nvPicPr>
          <p:cNvPr id="13" name="Picture 12" descr="c675e00ae2c4c2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1473" y="4498450"/>
            <a:ext cx="1749552" cy="722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81956" y="550124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5" name="Picture 14" descr="7cc84f7ce49a4b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2196" y="5357986"/>
            <a:ext cx="277368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1d7b994a7331cb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915" y="2103120"/>
            <a:ext cx="551688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98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a40b57a8a09e72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55976" cy="789432"/>
          </a:xfrm>
          <a:prstGeom prst="rect">
            <a:avLst/>
          </a:prstGeom>
        </p:spPr>
      </p:pic>
      <p:pic>
        <p:nvPicPr>
          <p:cNvPr id="9" name="Picture 8" descr="cf7273435b0489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3992"/>
            <a:ext cx="2286000" cy="789432"/>
          </a:xfrm>
          <a:prstGeom prst="rect">
            <a:avLst/>
          </a:prstGeom>
        </p:spPr>
      </p:pic>
      <p:pic>
        <p:nvPicPr>
          <p:cNvPr id="10" name="Picture 9" descr="1b79637c342989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47744"/>
            <a:ext cx="158496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432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2,401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2b1010d50fd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1600200"/>
            <a:ext cx="1341120" cy="1164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74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7ac64fd7acb912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1600200"/>
            <a:ext cx="1335024" cy="1167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05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  <p:pic>
        <p:nvPicPr>
          <p:cNvPr id="10" name="Picture 9" descr="7d3ab70b25bdc1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223" y="3882754"/>
            <a:ext cx="4114800" cy="847344"/>
          </a:xfrm>
          <a:prstGeom prst="rect">
            <a:avLst/>
          </a:prstGeom>
        </p:spPr>
      </p:pic>
      <p:pic>
        <p:nvPicPr>
          <p:cNvPr id="11" name="Picture 10" descr="815116ea718577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223" y="4877926"/>
            <a:ext cx="1520952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40675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9c3ed80bb4c057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864" y="2194560"/>
            <a:ext cx="621792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e28a9bdc45329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8339" y="2103120"/>
            <a:ext cx="624840" cy="414528"/>
          </a:xfrm>
          <a:prstGeom prst="rect">
            <a:avLst/>
          </a:prstGeom>
        </p:spPr>
      </p:pic>
      <p:pic>
        <p:nvPicPr>
          <p:cNvPr id="9" name="Picture 8" descr="15da0b6dbd5791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4123" y="2819399"/>
            <a:ext cx="1139952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81372" y="484327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1abbd0053a87d7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1611" y="4663440"/>
            <a:ext cx="478536" cy="908304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sheet of paper 30 centimeters long is folded in half 7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fold makes the top layer half as big.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whole sheet is the top layer after 7 folds?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sheet of paper 30 centimeters long is folded in half 7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fold makes the top layer half as big.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whole sheet is the top layer after 7 folds?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5587" y="3712795"/>
            <a:ext cx="37715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Each fold halves it:  </a:t>
            </a:r>
          </a:p>
        </p:txBody>
      </p:sp>
      <p:pic>
        <p:nvPicPr>
          <p:cNvPr id="12" name="Picture 11" descr="55ec7b58e31aa3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948" y="3610687"/>
            <a:ext cx="1392936" cy="661416"/>
          </a:xfrm>
          <a:prstGeom prst="rect">
            <a:avLst/>
          </a:prstGeom>
        </p:spPr>
      </p:pic>
      <p:pic>
        <p:nvPicPr>
          <p:cNvPr id="13" name="Picture 12" descr="93c08fb8bb36cd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0451" y="4578427"/>
            <a:ext cx="1197864" cy="301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18315" y="4500703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5" name="Picture 14" descr="d5cb71527a492a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9388" y="4400119"/>
            <a:ext cx="1277112" cy="658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725924" y="5340427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7" name="Picture 16" descr="e1d9433f34f957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6163" y="5195647"/>
            <a:ext cx="789432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0f4f7eddbf6258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94560"/>
            <a:ext cx="935736" cy="9174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a062827f8f12e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03120"/>
            <a:ext cx="932688" cy="917448"/>
          </a:xfrm>
          <a:prstGeom prst="rect">
            <a:avLst/>
          </a:prstGeom>
        </p:spPr>
      </p:pic>
      <p:pic>
        <p:nvPicPr>
          <p:cNvPr id="9" name="Picture 8" descr="cf7fb92401bc0f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3812" y="3322320"/>
            <a:ext cx="1563624" cy="664464"/>
          </a:xfrm>
          <a:prstGeom prst="rect">
            <a:avLst/>
          </a:prstGeom>
        </p:spPr>
      </p:pic>
      <p:pic>
        <p:nvPicPr>
          <p:cNvPr id="10" name="Picture 9" descr="33a15115538126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3812" y="4168140"/>
            <a:ext cx="141732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100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20cab291981eb6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7444" y="2194560"/>
            <a:ext cx="1246632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b3224c13b7d8fa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919" y="2103120"/>
            <a:ext cx="1249680" cy="509016"/>
          </a:xfrm>
          <a:prstGeom prst="rect">
            <a:avLst/>
          </a:prstGeom>
        </p:spPr>
      </p:pic>
      <p:pic>
        <p:nvPicPr>
          <p:cNvPr id="9" name="Picture 8" descr="6b0d31b34f4f07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943" y="2913888"/>
            <a:ext cx="2039112" cy="728472"/>
          </a:xfrm>
          <a:prstGeom prst="rect">
            <a:avLst/>
          </a:prstGeom>
        </p:spPr>
      </p:pic>
      <p:pic>
        <p:nvPicPr>
          <p:cNvPr id="10" name="Picture 9" descr="6a0147d16c9e8c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1943" y="3950207"/>
            <a:ext cx="1493520" cy="3688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95463" y="3906012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2" name="Picture 11" descr="e42c82d3a51966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536" y="3770375"/>
            <a:ext cx="1569720" cy="728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49367" y="480669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4df8b33a9d5d56b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9607" y="4663440"/>
            <a:ext cx="542544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9e00e37454aae3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2194560"/>
            <a:ext cx="63093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378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174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34b6c156891d88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3767" y="2103120"/>
            <a:ext cx="63398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5234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b9c8e2103b9491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8551" y="3400375"/>
            <a:ext cx="1908047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1/25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2ea43d19b748a4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94560"/>
            <a:ext cx="1389888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869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f0604488e0753f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03120"/>
            <a:ext cx="1392936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9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3c35b48e83eedb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4587" y="3452191"/>
            <a:ext cx="2862072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c6574940b1c5cc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94560"/>
            <a:ext cx="1417320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737bd8d522cf78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0576" y="2103120"/>
            <a:ext cx="1420368" cy="420624"/>
          </a:xfrm>
          <a:prstGeom prst="rect">
            <a:avLst/>
          </a:prstGeom>
        </p:spPr>
      </p:pic>
      <p:pic>
        <p:nvPicPr>
          <p:cNvPr id="9" name="Picture 8" descr="cd3edc3f48ebd1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1791" y="2878836"/>
            <a:ext cx="3410712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c069a33fa07e09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94560"/>
            <a:ext cx="676656" cy="9784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3bba102cf2b4d3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5480" y="2103120"/>
            <a:ext cx="670560" cy="981455"/>
          </a:xfrm>
          <a:prstGeom prst="rect">
            <a:avLst/>
          </a:prstGeom>
        </p:spPr>
      </p:pic>
      <p:pic>
        <p:nvPicPr>
          <p:cNvPr id="9" name="Picture 8" descr="0e2ea5a2bdf7f3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5944" y="3386328"/>
            <a:ext cx="2502408" cy="710184"/>
          </a:xfrm>
          <a:prstGeom prst="rect">
            <a:avLst/>
          </a:prstGeom>
        </p:spPr>
      </p:pic>
      <p:pic>
        <p:nvPicPr>
          <p:cNvPr id="10" name="Picture 9" descr="c6e45c9cf6e731b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5944" y="4224528"/>
            <a:ext cx="1149096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8324" y="51998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d47bd37afc5ec3e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8564" y="5020056"/>
            <a:ext cx="484632" cy="908304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4327" y="2171700"/>
            <a:ext cx="39670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Ellen says the value of  </a:t>
            </a:r>
          </a:p>
        </p:txBody>
      </p:sp>
      <p:pic>
        <p:nvPicPr>
          <p:cNvPr id="9" name="Picture 8" descr="64e1dd1e79cf69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4169" y="2229612"/>
            <a:ext cx="50596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0137" y="2171700"/>
            <a:ext cx="1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 −25.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she is wrong, and show the correct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4327" y="2080260"/>
            <a:ext cx="39670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Ellen says the value of  </a:t>
            </a:r>
          </a:p>
        </p:txBody>
      </p:sp>
      <p:pic>
        <p:nvPicPr>
          <p:cNvPr id="9" name="Picture 8" descr="c0ab7b0d6a4ecd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4169" y="2138171"/>
            <a:ext cx="50596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0137" y="2080260"/>
            <a:ext cx="1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 −25.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she is wrong, and show the correct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5283" y="3414091"/>
            <a:ext cx="93681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 negative exponent means the reciprocal, not the opposite.</a:t>
            </a:r>
          </a:p>
        </p:txBody>
      </p:sp>
      <p:pic>
        <p:nvPicPr>
          <p:cNvPr id="13" name="Picture 12" descr="f6e64cf386c379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147" y="3939871"/>
            <a:ext cx="1612392" cy="5608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1/5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1/25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75332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with a positive exponent. Do not evaluate.  </a:t>
            </a:r>
          </a:p>
        </p:txBody>
      </p:sp>
      <p:pic>
        <p:nvPicPr>
          <p:cNvPr id="10" name="Picture 9" descr="53ac0340f6e451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0526" y="1586484"/>
            <a:ext cx="408432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c0045698145203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182367"/>
            <a:ext cx="417576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6" name="Picture 15" descr="ede3a948398667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7878" y="2744723"/>
            <a:ext cx="838200" cy="3352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36803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68039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813a84954f7417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300983"/>
            <a:ext cx="606552" cy="5913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05231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52315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220f65bf45ba47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4142231"/>
            <a:ext cx="908304" cy="2773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71220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712207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856987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712207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99c5f65aa2cee22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669535"/>
            <a:ext cx="926592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Understanding negative exponents — YBB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powers with negative exponents — WGS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Applying Exponent Laws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rewrite a rational base with a negative exponent using a positive exponent, and apply several laws to generate an equivalent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dfd26d8ad0c549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34668"/>
            <a:ext cx="39624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42744"/>
            <a:ext cx="5584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Rewrite with a positive exponent:  </a:t>
            </a:r>
          </a:p>
        </p:txBody>
      </p:sp>
      <p:pic>
        <p:nvPicPr>
          <p:cNvPr id="11" name="Picture 10" descr="592658f9055527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1907" y="2075688"/>
            <a:ext cx="432816" cy="591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45308"/>
            <a:ext cx="2942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larger, </a:t>
            </a:r>
          </a:p>
        </p:txBody>
      </p:sp>
      <p:pic>
        <p:nvPicPr>
          <p:cNvPr id="13" name="Picture 12" descr="6e3fb6dc69f29d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300" y="2939796"/>
            <a:ext cx="295656" cy="268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75956" y="2845308"/>
            <a:ext cx="674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</a:t>
            </a:r>
          </a:p>
        </p:txBody>
      </p:sp>
      <p:pic>
        <p:nvPicPr>
          <p:cNvPr id="15" name="Picture 14" descr="f5c888b6c84690f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3305" y="2938272"/>
            <a:ext cx="289560" cy="2712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02865" y="284530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21964"/>
            <a:ext cx="40653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the reciprocal of  </a:t>
            </a:r>
          </a:p>
        </p:txBody>
      </p:sp>
      <p:pic>
        <p:nvPicPr>
          <p:cNvPr id="18" name="Picture 17" descr="1a683e70796a000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2726" y="3480816"/>
            <a:ext cx="35052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dfd26d8ad0c549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34668"/>
            <a:ext cx="396240" cy="268224"/>
          </a:xfrm>
          <a:prstGeom prst="rect">
            <a:avLst/>
          </a:prstGeom>
        </p:spPr>
      </p:pic>
      <p:pic>
        <p:nvPicPr>
          <p:cNvPr id="10" name="Picture 9" descr="9353f77b4d8885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4048" y="1463040"/>
            <a:ext cx="185928" cy="5394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142744"/>
            <a:ext cx="5584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Rewrite with a positive exponent:  </a:t>
            </a:r>
          </a:p>
        </p:txBody>
      </p:sp>
      <p:pic>
        <p:nvPicPr>
          <p:cNvPr id="12" name="Picture 11" descr="592658f9055527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1907" y="2075688"/>
            <a:ext cx="432816" cy="591312"/>
          </a:xfrm>
          <a:prstGeom prst="rect">
            <a:avLst/>
          </a:prstGeom>
        </p:spPr>
      </p:pic>
      <p:pic>
        <p:nvPicPr>
          <p:cNvPr id="13" name="Picture 12" descr="54c7ca2f4972dcb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3363" y="2144268"/>
            <a:ext cx="268224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2845308"/>
            <a:ext cx="2942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larger, </a:t>
            </a:r>
          </a:p>
        </p:txBody>
      </p:sp>
      <p:pic>
        <p:nvPicPr>
          <p:cNvPr id="15" name="Picture 14" descr="6e3fb6dc69f29d2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0300" y="2939796"/>
            <a:ext cx="295656" cy="2682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75956" y="2845308"/>
            <a:ext cx="674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</a:t>
            </a:r>
          </a:p>
        </p:txBody>
      </p:sp>
      <p:pic>
        <p:nvPicPr>
          <p:cNvPr id="17" name="Picture 16" descr="f5c888b6c84690f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13305" y="2938272"/>
            <a:ext cx="289560" cy="2712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02865" y="284530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9" name="Picture 18" descr="3cd5a7bd49e1112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4976" y="2938272"/>
            <a:ext cx="289560" cy="2712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64536" y="2845308"/>
            <a:ext cx="15830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 (81 &gt; 64)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521964"/>
            <a:ext cx="40653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the reciprocal of  </a:t>
            </a:r>
          </a:p>
        </p:txBody>
      </p:sp>
      <p:pic>
        <p:nvPicPr>
          <p:cNvPr id="22" name="Picture 21" descr="1a683e70796a000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02726" y="3480816"/>
            <a:ext cx="350520" cy="539496"/>
          </a:xfrm>
          <a:prstGeom prst="rect">
            <a:avLst/>
          </a:prstGeom>
        </p:spPr>
      </p:pic>
      <p:pic>
        <p:nvPicPr>
          <p:cNvPr id="23" name="Picture 22" descr="bf8821cf3198a95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01886" y="3480816"/>
            <a:ext cx="35052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pattern with a fraction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651760" y="1993392"/>
          <a:ext cx="68580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3774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Expression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Expanded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2/5 · 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4/25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5/2 · 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25/4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Flip the base, make the exponent positive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38dc06abe520b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437" y="1993392"/>
            <a:ext cx="2185416" cy="7040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8853" y="2116836"/>
            <a:ext cx="1263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(</a:t>
            </a:r>
          </a:p>
        </p:txBody>
      </p:sp>
      <p:pic>
        <p:nvPicPr>
          <p:cNvPr id="12" name="Picture 11" descr="e8ca827cacc61b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891" y="2165604"/>
            <a:ext cx="1228344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53235" y="2116836"/>
            <a:ext cx="3320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pic>
        <p:nvPicPr>
          <p:cNvPr id="14" name="Picture 13" descr="9169d867eb22c6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524" y="2971800"/>
            <a:ext cx="2983992" cy="6766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4516" y="3081528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6" name="Picture 15" descr="f0e84f7b8a0e30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8859" y="2973324"/>
            <a:ext cx="2612136" cy="673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39867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sign stays with the fraction. Flip the numbers, not the 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806695"/>
            <a:ext cx="5468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whole number is a fraction over 1:  </a:t>
            </a:r>
          </a:p>
        </p:txBody>
      </p:sp>
      <p:pic>
        <p:nvPicPr>
          <p:cNvPr id="19" name="Picture 18" descr="b03f09abb77756a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840" y="4700016"/>
            <a:ext cx="3151632" cy="670560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Several laws at once — the plan is still yours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c7035540ba8a0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0948" y="1993392"/>
            <a:ext cx="7659624" cy="792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24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Any correct order of laws gives the same value. Finish with a positive exponent.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388277379d8e20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03120"/>
            <a:ext cx="1173480" cy="661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74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545e90417d70b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627376" cy="664464"/>
          </a:xfrm>
          <a:prstGeom prst="rect">
            <a:avLst/>
          </a:prstGeom>
        </p:spPr>
      </p:pic>
      <p:pic>
        <p:nvPicPr>
          <p:cNvPr id="9" name="Picture 8" descr="8945cb43fcf3af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59024"/>
            <a:ext cx="185318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64/49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4e69c1d91f1a3f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1600200"/>
            <a:ext cx="145999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8d211e9c6d2b33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1600200"/>
            <a:ext cx="145999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a positive exponent,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87326" y="3629770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1" name="Picture 10" descr="196afe9826da4a0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945" y="3550522"/>
            <a:ext cx="2368296" cy="615696"/>
          </a:xfrm>
          <a:prstGeom prst="rect">
            <a:avLst/>
          </a:prstGeom>
        </p:spPr>
      </p:pic>
      <p:pic>
        <p:nvPicPr>
          <p:cNvPr id="12" name="Picture 11" descr="31d33b28236bfb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2190" y="4294234"/>
            <a:ext cx="2029968" cy="6156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99431" y="519187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314171b6a1b287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1" y="5047090"/>
            <a:ext cx="1042415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17b9fb3163beeb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963" y="2103120"/>
            <a:ext cx="2069591" cy="664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0504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415161a3488c78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11496" cy="667512"/>
          </a:xfrm>
          <a:prstGeom prst="rect">
            <a:avLst/>
          </a:prstGeom>
        </p:spPr>
      </p:pic>
      <p:pic>
        <p:nvPicPr>
          <p:cNvPr id="9" name="Picture 8" descr="0b481a76517fb38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1630680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(5/8)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25/64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726f578657118a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5883" y="1600200"/>
            <a:ext cx="3349752" cy="8321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5224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0084f7f2bc8d1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2836" y="1600200"/>
            <a:ext cx="335584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one base and a positive exponent.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66900" y="3957032"/>
            <a:ext cx="75648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Add the exponents, then flip the fraction:</a:t>
            </a:r>
          </a:p>
        </p:txBody>
      </p:sp>
      <p:pic>
        <p:nvPicPr>
          <p:cNvPr id="11" name="Picture 10" descr="42824fa219a1c3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1764" y="4519388"/>
            <a:ext cx="4834128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1499" y="54048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364254372aca3e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739" y="5263100"/>
            <a:ext cx="147828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5364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copier is set to shrink a page to  </a:t>
            </a:r>
          </a:p>
        </p:txBody>
      </p:sp>
      <p:pic>
        <p:nvPicPr>
          <p:cNvPr id="9" name="Picture 8" descr="6fa687cf291616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418" y="1874519"/>
            <a:ext cx="176784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38202" y="1917192"/>
            <a:ext cx="1841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of its size.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232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page 6 inches wide is copied 4 times in a row, each copy from the last.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586700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original page's size is the last copy?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5364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copier is set to shrink a page to  </a:t>
            </a:r>
          </a:p>
        </p:txBody>
      </p:sp>
      <p:pic>
        <p:nvPicPr>
          <p:cNvPr id="9" name="Picture 8" descr="82207df6c92535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418" y="1874519"/>
            <a:ext cx="170688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32106" y="1917192"/>
            <a:ext cx="1841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of its size.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232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page 6 inches wide is copied 4 times in a row, each copy from the last.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586700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original page's size is the last copy?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5755" y="4372687"/>
            <a:ext cx="25848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Four copies:  </a:t>
            </a:r>
          </a:p>
        </p:txBody>
      </p:sp>
      <p:pic>
        <p:nvPicPr>
          <p:cNvPr id="14" name="Picture 13" descr="d5a448eea45117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3396" y="4244671"/>
            <a:ext cx="2176272" cy="713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8511" y="523984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6" name="Picture 15" descr="62bc59a32308df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8751" y="5095063"/>
            <a:ext cx="524256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60a7160d7e15e9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191" y="2194560"/>
            <a:ext cx="1469136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ccbe016419b287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191" y="2103120"/>
            <a:ext cx="1469136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82754" y="3319272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0" name="Picture 9" descr="8696ad001dd2b6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4373" y="3240023"/>
            <a:ext cx="2377440" cy="6156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83608" y="480669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c0f8e1841d70d1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3848" y="4663440"/>
            <a:ext cx="1274064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202d2f9edf4ff6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144" y="2194560"/>
            <a:ext cx="147523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434b7f64e448db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144" y="2103120"/>
            <a:ext cx="1475232" cy="838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78182" y="3319272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0" name="Picture 9" descr="0c11b020145ca0a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801" y="3243072"/>
            <a:ext cx="2383536" cy="609600"/>
          </a:xfrm>
          <a:prstGeom prst="rect">
            <a:avLst/>
          </a:prstGeom>
        </p:spPr>
      </p:pic>
      <p:pic>
        <p:nvPicPr>
          <p:cNvPr id="11" name="Picture 10" descr="7480f7bb643801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3046" y="3980688"/>
            <a:ext cx="1679448" cy="609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34128" y="48722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8b23c582eb8d136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4368" y="4727448"/>
            <a:ext cx="573024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aad42ec8f13de1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94560"/>
            <a:ext cx="1417320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8a3193cda974bd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0576" y="2103120"/>
            <a:ext cx="142036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17806" y="3314699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0" name="Picture 9" descr="f8fd36b400e406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9425" y="3240023"/>
            <a:ext cx="2304288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09516" y="480669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d8c9697ca23389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756" y="4663440"/>
            <a:ext cx="1222248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a6f8febe7f997d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1463040" cy="8321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52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1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(7/8)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1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(−8/7)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07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(−7/8)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07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(8/7)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322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718f106a310bdb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03120"/>
            <a:ext cx="1466088" cy="8290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077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387" y="3885007"/>
            <a:ext cx="6086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fraction. The sign stays:  </a:t>
            </a:r>
          </a:p>
        </p:txBody>
      </p:sp>
      <p:pic>
        <p:nvPicPr>
          <p:cNvPr id="11" name="Picture 10" descr="363a60b00e1ac4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9788" y="3808807"/>
            <a:ext cx="2368296" cy="609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(−8/7)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10298acefb5a4b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003" y="2194560"/>
            <a:ext cx="295351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83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(8/5)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(5/8)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(5/8)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(5/8)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627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b36e025e50608c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956" y="2103120"/>
            <a:ext cx="295960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898488e370c297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8060" y="3814903"/>
            <a:ext cx="5215128" cy="6035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(5/8)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d311d29764bdd3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0412" y="2194560"/>
            <a:ext cx="2520696" cy="838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8959dbceac072f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0412" y="2103120"/>
            <a:ext cx="2520696" cy="838200"/>
          </a:xfrm>
          <a:prstGeom prst="rect">
            <a:avLst/>
          </a:prstGeom>
        </p:spPr>
      </p:pic>
      <p:pic>
        <p:nvPicPr>
          <p:cNvPr id="9" name="Picture 8" descr="ffce3c700a0e00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7783" y="3243072"/>
            <a:ext cx="1941576" cy="615696"/>
          </a:xfrm>
          <a:prstGeom prst="rect">
            <a:avLst/>
          </a:prstGeom>
        </p:spPr>
      </p:pic>
      <p:pic>
        <p:nvPicPr>
          <p:cNvPr id="10" name="Picture 9" descr="d84f4ec980f8ff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7783" y="3986783"/>
            <a:ext cx="3532632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49367" y="487984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6ae3029025b12a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9607" y="4736592"/>
            <a:ext cx="542544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bf74f091e96668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516" y="2194560"/>
            <a:ext cx="3142488" cy="8442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0c942442683f51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516" y="2103120"/>
            <a:ext cx="314248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964155" y="3323844"/>
            <a:ext cx="1633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Inside:  </a:t>
            </a:r>
          </a:p>
        </p:txBody>
      </p:sp>
      <p:pic>
        <p:nvPicPr>
          <p:cNvPr id="10" name="Picture 9" descr="91fa5aa22598ea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0772" y="3246120"/>
            <a:ext cx="4745736" cy="612648"/>
          </a:xfrm>
          <a:prstGeom prst="rect">
            <a:avLst/>
          </a:prstGeom>
        </p:spPr>
      </p:pic>
      <p:pic>
        <p:nvPicPr>
          <p:cNvPr id="11" name="Picture 10" descr="339da7c30fdc7d4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9019" y="3986783"/>
            <a:ext cx="3724656" cy="612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26864" y="48828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72cf4eeb1d6aaf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4736592"/>
            <a:ext cx="987552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01793" y="2299715"/>
            <a:ext cx="2211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Marco says  </a:t>
            </a:r>
          </a:p>
        </p:txBody>
      </p:sp>
      <p:pic>
        <p:nvPicPr>
          <p:cNvPr id="9" name="Picture 8" descr="dc9bb23a8d85d0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5959" y="2194560"/>
            <a:ext cx="1161288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37247" y="2299715"/>
            <a:ext cx="3679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can be rewritten as  </a:t>
            </a:r>
          </a:p>
        </p:txBody>
      </p:sp>
      <p:pic>
        <p:nvPicPr>
          <p:cNvPr id="11" name="Picture 10" descr="75b3b503a37e46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438" y="2194560"/>
            <a:ext cx="780288" cy="6675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1363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'two negatives make a positive.'  Is 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95697" y="2211323"/>
            <a:ext cx="2211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Marco says  </a:t>
            </a:r>
          </a:p>
        </p:txBody>
      </p:sp>
      <p:pic>
        <p:nvPicPr>
          <p:cNvPr id="9" name="Picture 8" descr="337392e9b7df8f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9863" y="2103120"/>
            <a:ext cx="116738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37247" y="2211323"/>
            <a:ext cx="3679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can be rewritten as  </a:t>
            </a:r>
          </a:p>
        </p:txBody>
      </p:sp>
      <p:pic>
        <p:nvPicPr>
          <p:cNvPr id="11" name="Picture 10" descr="35a9c06a4a4a85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438" y="2103120"/>
            <a:ext cx="786384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5104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'two negatives make a positive.'  Is 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9625" y="3676219"/>
            <a:ext cx="86594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negative exponent flips the fraction. The sign stays.</a:t>
            </a:r>
          </a:p>
        </p:txBody>
      </p:sp>
      <p:pic>
        <p:nvPicPr>
          <p:cNvPr id="14" name="Picture 13" descr="e6d15a07a9b818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489" y="4201999"/>
            <a:ext cx="2002536" cy="5151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85427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(−2/3)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(−3/2)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5905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59051"/>
            <a:ext cx="5109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with a positive exponent.  </a:t>
            </a:r>
          </a:p>
        </p:txBody>
      </p:sp>
      <p:pic>
        <p:nvPicPr>
          <p:cNvPr id="10" name="Picture 9" descr="8957ceb1115470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6480" y="1517904"/>
            <a:ext cx="786384" cy="5394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28142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28142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8047be576e0f82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240280"/>
            <a:ext cx="771144" cy="5394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0038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03804"/>
            <a:ext cx="5109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with a positive exponent.  </a:t>
            </a:r>
          </a:p>
        </p:txBody>
      </p:sp>
      <p:pic>
        <p:nvPicPr>
          <p:cNvPr id="16" name="Picture 15" descr="6754f41029653f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6480" y="2962656"/>
            <a:ext cx="944880" cy="5394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7277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27704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5d72cdcfdc8659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685032"/>
            <a:ext cx="777240" cy="5425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45312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45312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987c9144230c55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4410456"/>
            <a:ext cx="1633728" cy="5425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51755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175504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5320284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517550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2b417829a513b45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5135880"/>
            <a:ext cx="1664208" cy="536448"/>
          </a:xfrm>
          <a:prstGeom prst="rect">
            <a:avLst/>
          </a:prstGeom>
        </p:spPr>
      </p:pic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equivalent expressions involving exponents I — VLM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Evaluating and Equivalent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an expression with integer exponents using the laws, and decide whether two expressions with different bases are equivalent.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05712"/>
            <a:ext cx="76832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exponent, then evaluate:  </a:t>
            </a:r>
          </a:p>
        </p:txBody>
      </p:sp>
      <p:pic>
        <p:nvPicPr>
          <p:cNvPr id="9" name="Picture 8" descr="f3c8135f85cfec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585" y="1463040"/>
            <a:ext cx="765048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275332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eb4b098ae3e189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206752"/>
            <a:ext cx="44196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09676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c39296e5705a45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3002280"/>
            <a:ext cx="499871" cy="646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826763"/>
            <a:ext cx="6288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64 as a power of 2, of 4, and of 8.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05712"/>
            <a:ext cx="76832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exponent, then evaluate:  </a:t>
            </a:r>
          </a:p>
        </p:txBody>
      </p:sp>
      <p:pic>
        <p:nvPicPr>
          <p:cNvPr id="9" name="Picture 8" descr="f3c8135f85cfec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585" y="1463040"/>
            <a:ext cx="765048" cy="542544"/>
          </a:xfrm>
          <a:prstGeom prst="rect">
            <a:avLst/>
          </a:prstGeom>
        </p:spPr>
      </p:pic>
      <p:pic>
        <p:nvPicPr>
          <p:cNvPr id="10" name="Picture 9" descr="6caafeea515e2e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051303"/>
            <a:ext cx="1146048" cy="5425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863596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eb4b098ae3e189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306" y="2795016"/>
            <a:ext cx="4419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3906" y="2772156"/>
            <a:ext cx="546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68503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c39296e5705a45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711" y="3590544"/>
            <a:ext cx="499871" cy="646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16223" y="3567684"/>
            <a:ext cx="7723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415028"/>
            <a:ext cx="6288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64 as a power of 2, of 4, and of 8.</a:t>
            </a:r>
          </a:p>
        </p:txBody>
      </p:sp>
      <p:pic>
        <p:nvPicPr>
          <p:cNvPr id="18" name="Picture 17" descr="f9e6eaa0e482393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4636" y="4507992"/>
            <a:ext cx="274320" cy="2712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48956" y="4415028"/>
            <a:ext cx="482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,  </a:t>
            </a:r>
          </a:p>
        </p:txBody>
      </p:sp>
      <p:pic>
        <p:nvPicPr>
          <p:cNvPr id="20" name="Picture 19" descr="bde95a28370ef03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4771" y="4509516"/>
            <a:ext cx="295656" cy="2682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90427" y="4415028"/>
            <a:ext cx="482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,  </a:t>
            </a:r>
          </a:p>
        </p:txBody>
      </p:sp>
      <p:pic>
        <p:nvPicPr>
          <p:cNvPr id="22" name="Picture 21" descr="dc3644d208527bb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36243" y="4506468"/>
            <a:ext cx="28346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Two students, two plans, one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30119" y="2132076"/>
            <a:ext cx="17301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Melanie:  </a:t>
            </a:r>
          </a:p>
        </p:txBody>
      </p:sp>
      <p:pic>
        <p:nvPicPr>
          <p:cNvPr id="11" name="Picture 10" descr="00df267b117cf9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152" y="1993392"/>
            <a:ext cx="3508248" cy="734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38540" y="3307080"/>
            <a:ext cx="16564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Adonis:   </a:t>
            </a:r>
          </a:p>
        </p:txBody>
      </p:sp>
      <p:pic>
        <p:nvPicPr>
          <p:cNvPr id="13" name="Picture 12" descr="d967a2b39e147d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787" y="3002280"/>
            <a:ext cx="4965192" cy="1066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4074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Apply the laws first, evaluate last. The value is the same; the arithmetic is smaller.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Every law, one expression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b27ed10ad0337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0920" y="1993392"/>
            <a:ext cx="5059680" cy="859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912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Find the step that broke:</a:t>
            </a:r>
          </a:p>
        </p:txBody>
      </p:sp>
      <p:pic>
        <p:nvPicPr>
          <p:cNvPr id="12" name="Picture 11" descr="bbf7af94964783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904487"/>
            <a:ext cx="3453384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40936" y="4012691"/>
            <a:ext cx="44639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  — wrong: multiplied; should be </a:t>
            </a:r>
          </a:p>
        </p:txBody>
      </p:sp>
      <p:pic>
        <p:nvPicPr>
          <p:cNvPr id="14" name="Picture 13" descr="16b6a750bacccc0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7696" y="3904487"/>
            <a:ext cx="795528" cy="673608"/>
          </a:xfrm>
          <a:prstGeom prst="rect">
            <a:avLst/>
          </a:prstGeom>
        </p:spPr>
      </p:pic>
      <p:pic>
        <p:nvPicPr>
          <p:cNvPr id="15" name="Picture 14" descr="d085f6d1f5151f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834128"/>
            <a:ext cx="1844040" cy="789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831592" y="5000244"/>
            <a:ext cx="6151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  — wrong: flipped, kept the minus; should be </a:t>
            </a:r>
          </a:p>
        </p:txBody>
      </p:sp>
      <p:pic>
        <p:nvPicPr>
          <p:cNvPr id="17" name="Picture 16" descr="60c0141e8aad4c3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46237" y="4892040"/>
            <a:ext cx="783336" cy="673608"/>
          </a:xfrm>
          <a:prstGeom prst="rect">
            <a:avLst/>
          </a:prstGeom>
        </p:spPr>
      </p:pic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Different bases, same value — rewrite to a common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39" y="1993392"/>
          <a:ext cx="74066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01168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Square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Cube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Fourth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77b6fa4d0b8ffa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5227" y="3761232"/>
            <a:ext cx="2371344" cy="4053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26571" y="3735324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13" name="Picture 12" descr="ae135669eeaf19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4676" y="3761232"/>
            <a:ext cx="2261616" cy="405384"/>
          </a:xfrm>
          <a:prstGeom prst="rect">
            <a:avLst/>
          </a:prstGeom>
        </p:spPr>
      </p:pic>
      <p:pic>
        <p:nvPicPr>
          <p:cNvPr id="14" name="Picture 13" descr="452a14f090d2241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031" y="4445508"/>
            <a:ext cx="479145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IV.  Testing equivalence: Xavier's claim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f1f92d6ecfd54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0260" y="1996440"/>
            <a:ext cx="4136136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66396" y="210159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a226c4dacfbe2e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739" y="1993392"/>
            <a:ext cx="4160520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00532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base, then compare exponents.</a:t>
            </a:r>
          </a:p>
        </p:txBody>
      </p:sp>
      <p:pic>
        <p:nvPicPr>
          <p:cNvPr id="14" name="Picture 13" descr="da5364dfc120c7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3755136"/>
            <a:ext cx="1386840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4392" y="3695699"/>
            <a:ext cx="3301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— so Xavier is wrong.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ad4c645122a3fc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03120"/>
            <a:ext cx="1414272" cy="664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05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6395c789165e95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99816" cy="670560"/>
          </a:xfrm>
          <a:prstGeom prst="rect">
            <a:avLst/>
          </a:prstGeom>
        </p:spPr>
      </p:pic>
      <p:pic>
        <p:nvPicPr>
          <p:cNvPr id="9" name="Picture 8" descr="670bdda2de14de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1664208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16/3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3d228ca9c4261f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936" y="1600200"/>
            <a:ext cx="175564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50a8128bf10ae9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936" y="1600200"/>
            <a:ext cx="175564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6638" y="3628246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1" name="Picture 10" descr="53cd19114de648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257" y="3550522"/>
            <a:ext cx="2703576" cy="612648"/>
          </a:xfrm>
          <a:prstGeom prst="rect">
            <a:avLst/>
          </a:prstGeom>
        </p:spPr>
      </p:pic>
      <p:pic>
        <p:nvPicPr>
          <p:cNvPr id="12" name="Picture 11" descr="955d96682c0ead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502" y="4291186"/>
            <a:ext cx="1557528" cy="609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49367" y="518425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0d571a7f25ddb5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9607" y="5037946"/>
            <a:ext cx="542544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2547" y="2304287"/>
            <a:ext cx="95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9" name="Picture 8" descr="0d148dfd488325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6206" y="2362199"/>
            <a:ext cx="94792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14134" y="2304287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7449bbc668c15f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8876" y="2103120"/>
            <a:ext cx="1106424" cy="8595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85300" y="2304287"/>
            <a:ext cx="2260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equivalent?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65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both with the bases 3 and 2, then compare.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eb75ca0841ae7d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15384" cy="341376"/>
          </a:xfrm>
          <a:prstGeom prst="rect">
            <a:avLst/>
          </a:prstGeom>
        </p:spPr>
      </p:pic>
      <p:pic>
        <p:nvPicPr>
          <p:cNvPr id="9" name="Picture 8" descr="ca38d42fdf4407a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3864864" cy="859536"/>
          </a:xfrm>
          <a:prstGeom prst="rect">
            <a:avLst/>
          </a:prstGeom>
        </p:spPr>
      </p:pic>
      <p:pic>
        <p:nvPicPr>
          <p:cNvPr id="10" name="Picture 9" descr="3a6f019e256834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69792"/>
            <a:ext cx="2289048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both are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·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1944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831" y="1909572"/>
            <a:ext cx="95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9" name="Picture 8" descr="84aa90b249340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490" y="1926335"/>
            <a:ext cx="144170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3194" y="1909572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93c2bf6d51952a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7936" y="1600200"/>
            <a:ext cx="1402080" cy="1075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80016" y="1909572"/>
            <a:ext cx="2260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equivalent?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9355" y="1909572"/>
            <a:ext cx="95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9" name="Picture 8" descr="6bdebf666f4e84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014" y="1926335"/>
            <a:ext cx="1444752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7766" y="1909572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11cdaf58cd65ad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2508" y="1600200"/>
            <a:ext cx="1395984" cy="1075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8492" y="1909572"/>
            <a:ext cx="2260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equivalent?</a:t>
            </a:r>
          </a:p>
        </p:txBody>
      </p:sp>
      <p:pic>
        <p:nvPicPr>
          <p:cNvPr id="13" name="Picture 12" descr="12bc1171b09321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7219" y="3144012"/>
            <a:ext cx="3416808" cy="262128"/>
          </a:xfrm>
          <a:prstGeom prst="rect">
            <a:avLst/>
          </a:prstGeom>
        </p:spPr>
      </p:pic>
      <p:pic>
        <p:nvPicPr>
          <p:cNvPr id="14" name="Picture 13" descr="971ad3431ee49ff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7219" y="3572256"/>
            <a:ext cx="2996184" cy="658368"/>
          </a:xfrm>
          <a:prstGeom prst="rect">
            <a:avLst/>
          </a:prstGeom>
        </p:spPr>
      </p:pic>
      <p:pic>
        <p:nvPicPr>
          <p:cNvPr id="15" name="Picture 14" descr="1bb9b59be4ff30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7219" y="4372356"/>
            <a:ext cx="3063240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870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· 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4000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98d50335413467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59" y="2194560"/>
            <a:ext cx="2514600" cy="1164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9efbb2c592ceee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507" y="2103120"/>
            <a:ext cx="2508504" cy="1164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76094" y="3546348"/>
            <a:ext cx="18356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0" name="Picture 9" descr="0d57b7d41c345a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4585" y="3589020"/>
            <a:ext cx="2910840" cy="371856"/>
          </a:xfrm>
          <a:prstGeom prst="rect">
            <a:avLst/>
          </a:prstGeom>
        </p:spPr>
      </p:pic>
      <p:pic>
        <p:nvPicPr>
          <p:cNvPr id="11" name="Picture 10" descr="3ca69b29105dbe9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0958" y="4108704"/>
            <a:ext cx="4559808" cy="847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932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−343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f80d8fff5950e2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399" y="1645920"/>
            <a:ext cx="2712720" cy="1819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18b7b58559baeb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645920"/>
            <a:ext cx="2706624" cy="1819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999824" y="3840480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fc033812d86956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3967" y="3767328"/>
            <a:ext cx="3163824" cy="603504"/>
          </a:xfrm>
          <a:prstGeom prst="rect">
            <a:avLst/>
          </a:prstGeom>
        </p:spPr>
      </p:pic>
      <p:pic>
        <p:nvPicPr>
          <p:cNvPr id="11" name="Picture 10" descr="586b82ff05c6f1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4688" y="4498848"/>
            <a:ext cx="3377184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968239" y="538429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84bf2c5ba00215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8480" y="5242560"/>
            <a:ext cx="30480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b967aae4e7c30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063" y="1645920"/>
            <a:ext cx="2755392" cy="14081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548be30c5a8556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112" y="1645920"/>
            <a:ext cx="2749296" cy="14051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95239" y="3381756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090145bfb5fa4f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858" y="3453384"/>
            <a:ext cx="1386840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41698" y="3381756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2" name="Picture 11" descr="8f1e7bc2c81192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4587" y="3352800"/>
            <a:ext cx="1313688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38275" y="3381756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4" name="Picture 13" descr="8c42dc4521855ba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4200" y="3480816"/>
            <a:ext cx="1405128" cy="259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95239" y="3936491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6" name="Picture 15" descr="85dfe78cfc49527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1349" y="4035552"/>
            <a:ext cx="1158240" cy="259080"/>
          </a:xfrm>
          <a:prstGeom prst="rect">
            <a:avLst/>
          </a:prstGeom>
        </p:spPr>
      </p:pic>
      <p:pic>
        <p:nvPicPr>
          <p:cNvPr id="17" name="Picture 16" descr="a335dfb088e7c59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50103" y="4462272"/>
            <a:ext cx="2319528" cy="603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968239" y="534466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9" name="Picture 18" descr="60f3158f055494f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8480" y="5202936"/>
            <a:ext cx="30480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028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flash drive holds  </a:t>
            </a:r>
          </a:p>
        </p:txBody>
      </p:sp>
      <p:pic>
        <p:nvPicPr>
          <p:cNvPr id="9" name="Picture 8" descr="467b1d14e5da28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084" y="1943100"/>
            <a:ext cx="38100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81084" y="1851660"/>
            <a:ext cx="21153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4454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Another holds  </a:t>
            </a:r>
          </a:p>
        </p:txBody>
      </p:sp>
      <p:pic>
        <p:nvPicPr>
          <p:cNvPr id="12" name="Picture 11" descr="30913582715e42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2702" y="2558796"/>
            <a:ext cx="280416" cy="2682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23118" y="2464308"/>
            <a:ext cx="6521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 The first one costs 45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holds more — or is it the same? Show why.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028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flash drive holds  </a:t>
            </a:r>
          </a:p>
        </p:txBody>
      </p:sp>
      <p:pic>
        <p:nvPicPr>
          <p:cNvPr id="9" name="Picture 8" descr="ae046867a8f4e7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084" y="1943100"/>
            <a:ext cx="384048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84132" y="1851660"/>
            <a:ext cx="21153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4454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Another holds  </a:t>
            </a:r>
          </a:p>
        </p:txBody>
      </p:sp>
      <p:pic>
        <p:nvPicPr>
          <p:cNvPr id="12" name="Picture 11" descr="4b0d991037dffa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2702" y="2558796"/>
            <a:ext cx="280416" cy="2682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23118" y="2464308"/>
            <a:ext cx="6521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 The first one costs 45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holds more — or is it the same? Show why.</a:t>
            </a:r>
          </a:p>
        </p:txBody>
      </p:sp>
      <p:pic>
        <p:nvPicPr>
          <p:cNvPr id="15" name="Picture 14" descr="4d73f60d98d6278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5047" y="3812650"/>
            <a:ext cx="829056" cy="301752"/>
          </a:xfrm>
          <a:prstGeom prst="rect">
            <a:avLst/>
          </a:prstGeom>
        </p:spPr>
      </p:pic>
      <p:pic>
        <p:nvPicPr>
          <p:cNvPr id="16" name="Picture 15" descr="5fb5e30ab5054c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5047" y="4317094"/>
            <a:ext cx="3121152" cy="3718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same: 8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(2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15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d4c29a874424d7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5207" y="2194560"/>
            <a:ext cx="45110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76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4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4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56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ed2e8b94db7fa1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5207" y="2103120"/>
            <a:ext cx="45110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9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78aebac3387598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243" y="3450667"/>
            <a:ext cx="822960" cy="304800"/>
          </a:xfrm>
          <a:prstGeom prst="rect">
            <a:avLst/>
          </a:prstGeom>
        </p:spPr>
      </p:pic>
      <p:pic>
        <p:nvPicPr>
          <p:cNvPr id="11" name="Picture 10" descr="04672528a36f35f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9243" y="3956635"/>
            <a:ext cx="3029712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6f49059bfeda69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94560"/>
            <a:ext cx="1965960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83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627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2e484734d8312e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6255" y="2103120"/>
            <a:ext cx="196900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88e579fcfc3dc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87" y="3814903"/>
            <a:ext cx="2770632" cy="603504"/>
          </a:xfrm>
          <a:prstGeom prst="rect">
            <a:avLst/>
          </a:prstGeom>
        </p:spPr>
      </p:pic>
      <p:pic>
        <p:nvPicPr>
          <p:cNvPr id="11" name="Picture 10" descr="76ebb55f9259b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9787" y="4599763"/>
            <a:ext cx="3471672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9506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-7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8aa79e338eec26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0304" y="2194560"/>
            <a:ext cx="1200912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955eff3a17c3a9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8780" y="2103120"/>
            <a:ext cx="1203960" cy="414528"/>
          </a:xfrm>
          <a:prstGeom prst="rect">
            <a:avLst/>
          </a:prstGeom>
        </p:spPr>
      </p:pic>
      <p:pic>
        <p:nvPicPr>
          <p:cNvPr id="9" name="Picture 8" descr="9b88a36b8746eb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8511" y="2839211"/>
            <a:ext cx="2063496" cy="371856"/>
          </a:xfrm>
          <a:prstGeom prst="rect">
            <a:avLst/>
          </a:prstGeom>
        </p:spPr>
      </p:pic>
      <p:pic>
        <p:nvPicPr>
          <p:cNvPr id="10" name="Picture 9" descr="73f533a4d1835d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8511" y="3410711"/>
            <a:ext cx="2551176" cy="3078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10327" y="45979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340250b80ab728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0567" y="4663440"/>
            <a:ext cx="420624" cy="417576"/>
          </a:xfrm>
          <a:prstGeom prst="rect">
            <a:avLst/>
          </a:prstGeom>
        </p:spPr>
      </p:pic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fabcaa4b09e391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194560"/>
            <a:ext cx="145694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cf7aaf90f7175a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103120"/>
            <a:ext cx="1456944" cy="417576"/>
          </a:xfrm>
          <a:prstGeom prst="rect">
            <a:avLst/>
          </a:prstGeom>
        </p:spPr>
      </p:pic>
      <p:pic>
        <p:nvPicPr>
          <p:cNvPr id="9" name="Picture 8" descr="85f7d1d146f1f2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5047" y="2877312"/>
            <a:ext cx="3124200" cy="301752"/>
          </a:xfrm>
          <a:prstGeom prst="rect">
            <a:avLst/>
          </a:prstGeom>
        </p:spPr>
      </p:pic>
      <p:pic>
        <p:nvPicPr>
          <p:cNvPr id="10" name="Picture 9" descr="a2e7bc9cfa7f6a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5047" y="3381756"/>
            <a:ext cx="2218944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8888" y="45994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00e3982d4021e9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9127" y="4663440"/>
            <a:ext cx="603504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33663" y="2299715"/>
            <a:ext cx="2242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Xavier says  </a:t>
            </a:r>
          </a:p>
        </p:txBody>
      </p:sp>
      <p:pic>
        <p:nvPicPr>
          <p:cNvPr id="9" name="Picture 8" descr="0cca3298828a02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8701" y="2196083"/>
            <a:ext cx="1569720" cy="664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8421" y="2299715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410598a25a8c83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163" y="2194560"/>
            <a:ext cx="1575816" cy="6675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48979" y="2299715"/>
            <a:ext cx="27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are equivalent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1547" y="3113532"/>
            <a:ext cx="54452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because both can be written as  </a:t>
            </a:r>
          </a:p>
        </p:txBody>
      </p:sp>
      <p:pic>
        <p:nvPicPr>
          <p:cNvPr id="14" name="Picture 13" descr="d2ebb822973674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605" y="3174491"/>
            <a:ext cx="487680" cy="3352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37285" y="3113532"/>
            <a:ext cx="28198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Do you agree?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567" y="2211323"/>
            <a:ext cx="2242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Xavier says  </a:t>
            </a:r>
          </a:p>
        </p:txBody>
      </p:sp>
      <p:pic>
        <p:nvPicPr>
          <p:cNvPr id="9" name="Picture 8" descr="387b1e44b6216a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2605" y="2106168"/>
            <a:ext cx="1575816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8421" y="2211323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5a4b2276e1b02b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163" y="2103120"/>
            <a:ext cx="1581912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55075" y="2211323"/>
            <a:ext cx="27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are equivalent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0023" y="3028188"/>
            <a:ext cx="54452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because both can be written as  </a:t>
            </a:r>
          </a:p>
        </p:txBody>
      </p:sp>
      <p:pic>
        <p:nvPicPr>
          <p:cNvPr id="14" name="Picture 13" descr="b57ed0c2af593e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8081" y="3090672"/>
            <a:ext cx="490727" cy="332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38809" y="3028188"/>
            <a:ext cx="28198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Do you agree?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0348" y="3883152"/>
            <a:ext cx="1298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First:  </a:t>
            </a:r>
          </a:p>
        </p:txBody>
      </p:sp>
      <p:pic>
        <p:nvPicPr>
          <p:cNvPr id="17" name="Picture 16" descr="a54eb59ad31b1d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706" y="3810000"/>
            <a:ext cx="3749039" cy="603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350348" y="4619244"/>
            <a:ext cx="18337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Second:  </a:t>
            </a:r>
          </a:p>
        </p:txBody>
      </p:sp>
      <p:pic>
        <p:nvPicPr>
          <p:cNvPr id="19" name="Picture 18" descr="a1e5d3fbd0cb369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6891" y="4541520"/>
            <a:ext cx="3767328" cy="6126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29132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the second is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not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-7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66878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68780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0" name="Picture 9" descr="3554ae34b18383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78" y="1517904"/>
            <a:ext cx="1652016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50240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0240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352eb1a88709ca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459736"/>
            <a:ext cx="1645920" cy="54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16230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162300"/>
            <a:ext cx="34776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power of 2.  </a:t>
            </a:r>
          </a:p>
        </p:txBody>
      </p:sp>
      <p:pic>
        <p:nvPicPr>
          <p:cNvPr id="16" name="Picture 15" descr="f8a57f68dc51185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4996" y="3256788"/>
            <a:ext cx="417576" cy="2682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75665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56659"/>
            <a:ext cx="3472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power of 3.  </a:t>
            </a:r>
          </a:p>
        </p:txBody>
      </p:sp>
      <p:pic>
        <p:nvPicPr>
          <p:cNvPr id="19" name="Picture 18" descr="8991108252781c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9400" y="3848099"/>
            <a:ext cx="813816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35102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351020"/>
            <a:ext cx="865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22" name="Picture 21" descr="19f6b2e98322074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2713" y="4442460"/>
            <a:ext cx="429768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712481" y="4351020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24" name="Picture 23" descr="f49fd30c1f16e95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2822" y="4445508"/>
            <a:ext cx="414528" cy="2682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077350" y="4351020"/>
            <a:ext cx="3592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equivalent? Show why.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94538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945380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8" name="Picture 27" descr="272bae85e8b361c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77878" y="5007864"/>
            <a:ext cx="1213104" cy="332232"/>
          </a:xfrm>
          <a:prstGeom prst="rect">
            <a:avLst/>
          </a:prstGeom>
        </p:spPr>
      </p:pic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expressions using properties of exponents — 6T7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equivalent expressions involving exponents II — QDM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THREAD A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Exponent Laws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multiply and divide monomials, and raise a monomial to a power, by applying the laws of exponents to variable bases.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84532672c5136f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01140"/>
            <a:ext cx="12679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64080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1" name="Picture 10" descr="dea7bce85a1354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313944" cy="633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87980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3" name="Picture 12" descr="bcdd9774053692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464" y="2921508"/>
            <a:ext cx="710184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27648" y="2887980"/>
            <a:ext cx="5723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between which two whole numbers?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00628"/>
            <a:ext cx="4266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with an exponent:  </a:t>
            </a:r>
          </a:p>
        </p:txBody>
      </p:sp>
      <p:pic>
        <p:nvPicPr>
          <p:cNvPr id="16" name="Picture 15" descr="10f3e19ce6b193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4151" y="3610356"/>
            <a:ext cx="16794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84532672c5136f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01140"/>
            <a:ext cx="12679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5776" y="1440180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64080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2" name="Picture 11" descr="dea7bce85a1354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313944" cy="633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78495" y="2052828"/>
            <a:ext cx="120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2180" b="1" i="0">
                <a:solidFill>
                  <a:srgbClr val="9E1B32"/>
                </a:solidFill>
                <a:latin typeface="Lexend"/>
              </a:rPr>
              <a:t> = 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7980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5" name="Picture 14" descr="bcdd9774053692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464" y="2921508"/>
            <a:ext cx="710184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127648" y="2887980"/>
            <a:ext cx="5723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between which two whole numbers?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62405" y="2887980"/>
            <a:ext cx="13104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 and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00628"/>
            <a:ext cx="4266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with an exponent:  </a:t>
            </a:r>
          </a:p>
        </p:txBody>
      </p:sp>
      <p:pic>
        <p:nvPicPr>
          <p:cNvPr id="19" name="Picture 18" descr="10f3e19ce6b193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4151" y="3610356"/>
            <a:ext cx="1679448" cy="237744"/>
          </a:xfrm>
          <a:prstGeom prst="rect">
            <a:avLst/>
          </a:prstGeom>
        </p:spPr>
      </p:pic>
      <p:pic>
        <p:nvPicPr>
          <p:cNvPr id="20" name="Picture 19" descr="6318b2f43b5ea3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2239" y="3558540"/>
            <a:ext cx="307848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Product of powers — the base is a letter now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d4fe73c289b0e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1780" y="1993392"/>
            <a:ext cx="445922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1004" y="19705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531b3ca0b6947c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5347" y="2055876"/>
            <a:ext cx="2374392" cy="286512"/>
          </a:xfrm>
          <a:prstGeom prst="rect">
            <a:avLst/>
          </a:prstGeom>
        </p:spPr>
      </p:pic>
      <p:pic>
        <p:nvPicPr>
          <p:cNvPr id="13" name="Picture 12" descr="3a24062b248a79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4052" y="2679192"/>
            <a:ext cx="5233416" cy="4145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320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the coefficients. Add the exponents of like bases.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130040"/>
            <a:ext cx="5140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Different variables stay separate:  </a:t>
            </a:r>
          </a:p>
        </p:txBody>
      </p:sp>
      <p:pic>
        <p:nvPicPr>
          <p:cNvPr id="16" name="Picture 15" descr="cb5cb67ed0c2e1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0725" y="4145280"/>
            <a:ext cx="278892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Power of a power, power of a product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6bfdf3d19b6c6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436" y="1993392"/>
            <a:ext cx="432206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9500" y="19705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ccf0a74e9f8b1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843" y="2017776"/>
            <a:ext cx="1920240" cy="362712"/>
          </a:xfrm>
          <a:prstGeom prst="rect">
            <a:avLst/>
          </a:prstGeom>
        </p:spPr>
      </p:pic>
      <p:pic>
        <p:nvPicPr>
          <p:cNvPr id="13" name="Picture 12" descr="ae79d4a9e407b4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3368" y="2679192"/>
            <a:ext cx="3806952" cy="426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20320" y="266395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5" name="Picture 14" descr="4c84c2e4af97e3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4663" y="2679192"/>
            <a:ext cx="3523488" cy="426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4424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power: multiply the exponents.  Power of a product: raise every factor.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Quotient of powers — dividing monomials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992b07e12d929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480" y="1993392"/>
            <a:ext cx="4517136" cy="786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5616" y="215798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e5743ba7bca77d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9959" y="2037588"/>
            <a:ext cx="1783080" cy="697992"/>
          </a:xfrm>
          <a:prstGeom prst="rect">
            <a:avLst/>
          </a:prstGeom>
        </p:spPr>
      </p:pic>
      <p:pic>
        <p:nvPicPr>
          <p:cNvPr id="13" name="Picture 12" descr="bff3d968f5264f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2652" y="3054096"/>
            <a:ext cx="1840991" cy="7955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83644" y="32232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5" name="Picture 14" descr="babaa48f738357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7987" y="3055619"/>
            <a:ext cx="3230880" cy="792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18795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Subtract the exponents of like bases.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f82502c420b1e8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1644" y="2103120"/>
            <a:ext cx="2618232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d34a71302951cd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248400" cy="426720"/>
          </a:xfrm>
          <a:prstGeom prst="rect">
            <a:avLst/>
          </a:prstGeom>
        </p:spPr>
      </p:pic>
      <p:pic>
        <p:nvPicPr>
          <p:cNvPr id="9" name="Picture 8" descr="9880f38cb80c40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21280"/>
            <a:ext cx="3578352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−8x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y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cebc1086f5007b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136" y="1600200"/>
            <a:ext cx="3127248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44018e03469d2a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5611" y="1600200"/>
            <a:ext cx="313029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7719" y="3201526"/>
            <a:ext cx="18411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1" name="Picture 10" descr="1f9f47243b423b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1756" y="3323446"/>
            <a:ext cx="1072896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17719" y="3704446"/>
            <a:ext cx="1508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a's:  </a:t>
            </a:r>
          </a:p>
        </p:txBody>
      </p:sp>
      <p:pic>
        <p:nvPicPr>
          <p:cNvPr id="13" name="Picture 12" descr="5f3fb78ccfb86d8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645" y="3801982"/>
            <a:ext cx="2282952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17719" y="4207366"/>
            <a:ext cx="1507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b's:  </a:t>
            </a:r>
          </a:p>
        </p:txBody>
      </p:sp>
      <p:pic>
        <p:nvPicPr>
          <p:cNvPr id="15" name="Picture 14" descr="795cd8a8804113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7696" y="4304902"/>
            <a:ext cx="2362200" cy="262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788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15a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b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b9b17b427698fa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2103120"/>
            <a:ext cx="1408176" cy="8656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16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c921a6ad516c9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87624" cy="414528"/>
          </a:xfrm>
          <a:prstGeom prst="rect">
            <a:avLst/>
          </a:prstGeom>
        </p:spPr>
      </p:pic>
      <p:pic>
        <p:nvPicPr>
          <p:cNvPr id="9" name="Picture 8" descr="69e7633d2c21fb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5672328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8188cd9592de45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8007" y="1600200"/>
            <a:ext cx="1365504" cy="1191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3fd6aa4af28a39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531" y="1600200"/>
            <a:ext cx="1362456" cy="1191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6286" y="3884278"/>
            <a:ext cx="16914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 first:  </a:t>
            </a:r>
          </a:p>
        </p:txBody>
      </p:sp>
      <p:pic>
        <p:nvPicPr>
          <p:cNvPr id="11" name="Picture 10" descr="0a070322ca6b9f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0553" y="3951334"/>
            <a:ext cx="3151632" cy="3230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26286" y="4387198"/>
            <a:ext cx="18411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3" name="Picture 12" descr="6dd81528b6eb10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0323" y="4510642"/>
            <a:ext cx="1176528" cy="2103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26286" y="4890118"/>
            <a:ext cx="15074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p's:  </a:t>
            </a:r>
          </a:p>
        </p:txBody>
      </p:sp>
      <p:pic>
        <p:nvPicPr>
          <p:cNvPr id="15" name="Picture 14" descr="234d1df8f51eff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6612" y="4957174"/>
            <a:ext cx="2609088" cy="3230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54616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2p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c22a98d40a0fe3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72" y="2194560"/>
            <a:ext cx="1255776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7057d29314ff53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3" y="2103120"/>
            <a:ext cx="1261872" cy="417576"/>
          </a:xfrm>
          <a:prstGeom prst="rect">
            <a:avLst/>
          </a:prstGeom>
        </p:spPr>
      </p:pic>
      <p:pic>
        <p:nvPicPr>
          <p:cNvPr id="9" name="Picture 8" descr="5c18f5c8d80754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5" y="2877312"/>
            <a:ext cx="2779776" cy="3017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09744" y="45994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f1aeccb44d2ab97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983" y="4663440"/>
            <a:ext cx="621792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d27a1b65e2e808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647" y="2194560"/>
            <a:ext cx="1030224" cy="52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b08eef5dde2a5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647" y="2103120"/>
            <a:ext cx="1030224" cy="524256"/>
          </a:xfrm>
          <a:prstGeom prst="rect">
            <a:avLst/>
          </a:prstGeom>
        </p:spPr>
      </p:pic>
      <p:pic>
        <p:nvPicPr>
          <p:cNvPr id="9" name="Picture 8" descr="4ee0afac3f8991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3083" y="2942844"/>
            <a:ext cx="2542032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97551" y="46542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aa93a227db193e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7791" y="4663440"/>
            <a:ext cx="64617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0023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cube has edges  </a:t>
            </a:r>
          </a:p>
        </p:txBody>
      </p:sp>
      <p:pic>
        <p:nvPicPr>
          <p:cNvPr id="9" name="Picture 8" descr="b2218f1b6cc7bf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618" y="1946147"/>
            <a:ext cx="454152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53770" y="1851660"/>
            <a:ext cx="2941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3084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surface area is  </a:t>
            </a:r>
          </a:p>
        </p:txBody>
      </p:sp>
      <p:pic>
        <p:nvPicPr>
          <p:cNvPr id="12" name="Picture 11" descr="c9ee10aba47627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897" y="2557272"/>
            <a:ext cx="65532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37217" y="2464308"/>
            <a:ext cx="3314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square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volume of the cube, in cubic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0023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cube has edges  </a:t>
            </a:r>
          </a:p>
        </p:txBody>
      </p:sp>
      <p:pic>
        <p:nvPicPr>
          <p:cNvPr id="9" name="Picture 8" descr="47e41d1215f68b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618" y="1946147"/>
            <a:ext cx="4572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56818" y="1851660"/>
            <a:ext cx="2941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3084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surface area is  </a:t>
            </a:r>
          </a:p>
        </p:txBody>
      </p:sp>
      <p:pic>
        <p:nvPicPr>
          <p:cNvPr id="12" name="Picture 11" descr="e168afa666552c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897" y="2555748"/>
            <a:ext cx="658368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40265" y="2464308"/>
            <a:ext cx="3314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square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volume of the cube, in cubic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9370" y="3734926"/>
            <a:ext cx="57716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Volume = edge × edge × edge:  </a:t>
            </a:r>
          </a:p>
        </p:txBody>
      </p:sp>
      <p:pic>
        <p:nvPicPr>
          <p:cNvPr id="16" name="Picture 15" descr="f2db44398d05b7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3845" y="3779122"/>
            <a:ext cx="908304" cy="368808"/>
          </a:xfrm>
          <a:prstGeom prst="rect">
            <a:avLst/>
          </a:prstGeom>
        </p:spPr>
      </p:pic>
      <p:pic>
        <p:nvPicPr>
          <p:cNvPr id="17" name="Picture 16" descr="83e03eeb217037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4234" y="4315570"/>
            <a:ext cx="3297936" cy="3749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759451" y="478039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9" name="Picture 18" descr="930c42f7a917cf6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9692" y="4845922"/>
            <a:ext cx="722376" cy="417576"/>
          </a:xfrm>
          <a:prstGeom prst="rect">
            <a:avLst/>
          </a:prstGeom>
        </p:spPr>
      </p:pic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4ae5c6bf68c5f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c5f8cdff3a58f6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387" y="2103120"/>
            <a:ext cx="290474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37531" y="2891028"/>
            <a:ext cx="18411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0" name="Picture 9" descr="10283f176991c3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1568" y="3012948"/>
            <a:ext cx="1091184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37531" y="3393948"/>
            <a:ext cx="1508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a's:  </a:t>
            </a:r>
          </a:p>
        </p:txBody>
      </p:sp>
      <p:pic>
        <p:nvPicPr>
          <p:cNvPr id="12" name="Picture 11" descr="5f3fb78ccfb86d8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8457" y="3491483"/>
            <a:ext cx="2282952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37531" y="3896867"/>
            <a:ext cx="1507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b's:  </a:t>
            </a:r>
          </a:p>
        </p:txBody>
      </p:sp>
      <p:pic>
        <p:nvPicPr>
          <p:cNvPr id="14" name="Picture 13" descr="32bbfbda57c94e6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7508" y="3994404"/>
            <a:ext cx="2319528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70831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6" name="Picture 15" descr="36d05054388e0f5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1071" y="4663440"/>
            <a:ext cx="1499616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54d7a3db40dafe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217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901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71344e364b98fd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36" y="2103120"/>
            <a:ext cx="1450848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6dcc307e4b4bb3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7951" y="3508579"/>
            <a:ext cx="3892296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25m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a573a675710e22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791" y="2194560"/>
            <a:ext cx="1011936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137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800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800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65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65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662958141cc876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2103120"/>
            <a:ext cx="1005840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253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0227" y="3950539"/>
            <a:ext cx="21407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1" name="Picture 10" descr="2908f8b1131494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854" y="4052647"/>
            <a:ext cx="138988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83742" y="3950539"/>
            <a:ext cx="25510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   The x's:  </a:t>
            </a:r>
          </a:p>
        </p:txBody>
      </p:sp>
      <p:pic>
        <p:nvPicPr>
          <p:cNvPr id="13" name="Picture 12" descr="3aeb7558cdc9ff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7612" y="4026739"/>
            <a:ext cx="2770632" cy="304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4x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15eaf6bc755cbb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0304" y="2194560"/>
            <a:ext cx="1200912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1f89042524950c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7" y="2103120"/>
            <a:ext cx="1197864" cy="987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91992" y="3369564"/>
            <a:ext cx="18533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m's:  </a:t>
            </a:r>
          </a:p>
        </p:txBody>
      </p:sp>
      <p:pic>
        <p:nvPicPr>
          <p:cNvPr id="10" name="Picture 9" descr="f17cd6c71b560f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167" y="3445764"/>
            <a:ext cx="326136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91992" y="3909059"/>
            <a:ext cx="17323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n's:  </a:t>
            </a:r>
          </a:p>
        </p:txBody>
      </p:sp>
      <p:pic>
        <p:nvPicPr>
          <p:cNvPr id="12" name="Picture 11" descr="928f349ecf76cf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7222" y="3986783"/>
            <a:ext cx="3371088" cy="301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08220" y="459638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9f07b18d81f593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8459" y="4663440"/>
            <a:ext cx="624840" cy="414528"/>
          </a:xfrm>
          <a:prstGeom prst="rect">
            <a:avLst/>
          </a:prstGeom>
        </p:spPr>
      </p:pic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17170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9666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a981bea298d1f2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5023" y="2916936"/>
            <a:ext cx="187147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08026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0522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8d2620ce0f386f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5023" y="2825496"/>
            <a:ext cx="187147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73772" y="3525012"/>
            <a:ext cx="65734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base, so the exponents add:  </a:t>
            </a:r>
          </a:p>
        </p:txBody>
      </p:sp>
      <p:pic>
        <p:nvPicPr>
          <p:cNvPr id="13" name="Picture 12" descr="b4a56cf80f1421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051" y="3627120"/>
            <a:ext cx="1383792" cy="252984"/>
          </a:xfrm>
          <a:prstGeom prst="rect">
            <a:avLst/>
          </a:prstGeom>
        </p:spPr>
      </p:pic>
      <p:pic>
        <p:nvPicPr>
          <p:cNvPr id="14" name="Picture 13" descr="faf016cfea52a86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8636" y="4166616"/>
            <a:ext cx="188976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8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649" y="2179320"/>
            <a:ext cx="2551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Rachel writes  </a:t>
            </a:r>
          </a:p>
        </p:txBody>
      </p:sp>
      <p:pic>
        <p:nvPicPr>
          <p:cNvPr id="9" name="Picture 8" descr="cfeea6bcd2283e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0670" y="2194560"/>
            <a:ext cx="1432560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23230" y="2179320"/>
            <a:ext cx="952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as  </a:t>
            </a:r>
          </a:p>
        </p:txBody>
      </p:sp>
      <p:pic>
        <p:nvPicPr>
          <p:cNvPr id="11" name="Picture 10" descr="bb618bfdbdefcd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8587" y="2226564"/>
            <a:ext cx="5797296" cy="3627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235883" y="217932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0114" y="2878835"/>
            <a:ext cx="34239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Justina writes it as  </a:t>
            </a:r>
          </a:p>
        </p:txBody>
      </p:sp>
      <p:pic>
        <p:nvPicPr>
          <p:cNvPr id="14" name="Picture 13" descr="1693b7be1771319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6927" y="2895600"/>
            <a:ext cx="1703832" cy="4236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90759" y="2878835"/>
            <a:ext cx="4307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Who is correct? Explain.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5125" y="2087880"/>
            <a:ext cx="2551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Rachel writes  </a:t>
            </a:r>
          </a:p>
        </p:txBody>
      </p:sp>
      <p:pic>
        <p:nvPicPr>
          <p:cNvPr id="9" name="Picture 8" descr="2e7c8f87b9f4d0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9146" y="2103120"/>
            <a:ext cx="1435608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24754" y="2087880"/>
            <a:ext cx="952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as  </a:t>
            </a:r>
          </a:p>
        </p:txBody>
      </p:sp>
      <p:pic>
        <p:nvPicPr>
          <p:cNvPr id="11" name="Picture 10" descr="010d92783b6e24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111" y="2135124"/>
            <a:ext cx="5797296" cy="3627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237407" y="208788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8590" y="2788920"/>
            <a:ext cx="34239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Justina writes it as  </a:t>
            </a:r>
          </a:p>
        </p:txBody>
      </p:sp>
      <p:pic>
        <p:nvPicPr>
          <p:cNvPr id="14" name="Picture 13" descr="95db59124d1ea5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5403" y="2804160"/>
            <a:ext cx="1706880" cy="4267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92283" y="2788920"/>
            <a:ext cx="4307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Who is correct? Explain.</a:t>
            </a:r>
          </a:p>
        </p:txBody>
      </p:sp>
      <p:pic>
        <p:nvPicPr>
          <p:cNvPr id="16" name="Picture 15" descr="cb983d4a48c3fc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5" y="3649979"/>
            <a:ext cx="2267712" cy="268224"/>
          </a:xfrm>
          <a:prstGeom prst="rect">
            <a:avLst/>
          </a:prstGeom>
        </p:spPr>
      </p:pic>
      <p:pic>
        <p:nvPicPr>
          <p:cNvPr id="17" name="Picture 16" descr="7d1d579d9371e63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5" y="4160520"/>
            <a:ext cx="1417320" cy="252984"/>
          </a:xfrm>
          <a:prstGeom prst="rect">
            <a:avLst/>
          </a:prstGeom>
        </p:spPr>
      </p:pic>
      <p:pic>
        <p:nvPicPr>
          <p:cNvPr id="18" name="Picture 17" descr="f6926bf22434ff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5" y="4626864"/>
            <a:ext cx="2508504" cy="3261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132832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Both are correct; 15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3,375, x · x · x =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and six y's make y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0" name="Picture 9" descr="2eaabd0e034350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63" y="1588008"/>
            <a:ext cx="813816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13" name="Picture 12" descr="759d173ab3ce1a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620" y="2154936"/>
            <a:ext cx="670560" cy="3261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16" name="Picture 15" descr="21810693e2eaa1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0620" y="2738627"/>
            <a:ext cx="826008" cy="3474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78123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19" name="Picture 18" descr="b4d4ab21b5b301a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0620" y="3343655"/>
            <a:ext cx="1615440" cy="3261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398830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988307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22" name="Picture 21" descr="8715ef2ef01682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0620" y="3895344"/>
            <a:ext cx="685800" cy="6431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69849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698491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843272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698491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7739f2fcdf71af3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753356"/>
            <a:ext cx="1588008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powers: variable bases — TR9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a power: variable bases — 2CU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Divide monomials with positive exponents — C8L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THREAD A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Negative Exponents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rewrite an algebraic expression with negative exponents using only positive exponents, and apply several laws of exponents to a monomial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4774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a single monomial:  </a:t>
            </a:r>
          </a:p>
        </p:txBody>
      </p:sp>
      <p:pic>
        <p:nvPicPr>
          <p:cNvPr id="9" name="Picture 8" descr="9876647aa2adbd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10" y="1501140"/>
            <a:ext cx="813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daac0ec1771ab0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42744"/>
            <a:ext cx="41148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3236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greater,  </a:t>
            </a:r>
          </a:p>
        </p:txBody>
      </p:sp>
      <p:pic>
        <p:nvPicPr>
          <p:cNvPr id="13" name="Picture 12" descr="36070a9ce3916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3545" y="2699004"/>
            <a:ext cx="713232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86777" y="2665476"/>
            <a:ext cx="1151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9?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343656"/>
            <a:ext cx="43612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 </a:t>
            </a:r>
          </a:p>
        </p:txBody>
      </p:sp>
      <p:pic>
        <p:nvPicPr>
          <p:cNvPr id="16" name="Picture 15" descr="6fa687cf291616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619" y="3300984"/>
            <a:ext cx="176784" cy="5425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75403" y="3343656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4774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a single monomial:  </a:t>
            </a:r>
          </a:p>
        </p:txBody>
      </p:sp>
      <p:pic>
        <p:nvPicPr>
          <p:cNvPr id="9" name="Picture 8" descr="9876647aa2adbd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10" y="1501140"/>
            <a:ext cx="813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74366" y="1440180"/>
            <a:ext cx="8233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27x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daac0ec1771ab0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42744"/>
            <a:ext cx="41148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33426" y="2052828"/>
            <a:ext cx="8779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1/25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236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greater,  </a:t>
            </a:r>
          </a:p>
        </p:txBody>
      </p:sp>
      <p:pic>
        <p:nvPicPr>
          <p:cNvPr id="15" name="Picture 14" descr="36070a9ce3916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3545" y="2699004"/>
            <a:ext cx="713232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86777" y="2665476"/>
            <a:ext cx="1151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9?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9902" y="2665476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343656"/>
            <a:ext cx="43612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 </a:t>
            </a:r>
          </a:p>
        </p:txBody>
      </p:sp>
      <p:pic>
        <p:nvPicPr>
          <p:cNvPr id="19" name="Picture 18" descr="6fa687cf291616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619" y="3300984"/>
            <a:ext cx="176784" cy="5425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75403" y="3343656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21" name="Picture 20" descr="0ef102b5f3cf8f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9893" y="3300984"/>
            <a:ext cx="176784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pattern, with a letter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93392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  <a:r>
                        <a:rPr sz="17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  <a:r>
                        <a:rPr sz="17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959d23703025cf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405" y="2990088"/>
            <a:ext cx="1319784" cy="682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08189" y="310286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3" name="Picture 12" descr="50055cd3f97ed5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2533" y="2990088"/>
            <a:ext cx="1347216" cy="682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9749" y="3102864"/>
            <a:ext cx="1263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(</a:t>
            </a:r>
          </a:p>
        </p:txBody>
      </p:sp>
      <p:pic>
        <p:nvPicPr>
          <p:cNvPr id="15" name="Picture 14" descr="69c32b8b9be784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787" y="3192780"/>
            <a:ext cx="792480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78267" y="3102864"/>
            <a:ext cx="3320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Moving factors across the fraction bar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40171f025bff8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8832" y="2036064"/>
            <a:ext cx="1496568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05400" y="217322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b3850983250dec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1993392"/>
            <a:ext cx="2221992" cy="816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31736" y="217322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4" name="Picture 13" descr="560526d4cbdf3f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6079" y="2002536"/>
            <a:ext cx="1816608" cy="798576"/>
          </a:xfrm>
          <a:prstGeom prst="rect">
            <a:avLst/>
          </a:prstGeom>
        </p:spPr>
      </p:pic>
      <p:pic>
        <p:nvPicPr>
          <p:cNvPr id="15" name="Picture 14" descr="e650137e6d4e49d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1372" y="3084575"/>
            <a:ext cx="2398776" cy="8808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30377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Only the factor with the negative exponent moves. Its exponent turns positive.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laws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a24d7800dcaf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264" y="2020824"/>
            <a:ext cx="438912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51384" y="215798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2c9767efe7def6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5727" y="1993392"/>
            <a:ext cx="3843528" cy="786384"/>
          </a:xfrm>
          <a:prstGeom prst="rect">
            <a:avLst/>
          </a:prstGeom>
        </p:spPr>
      </p:pic>
      <p:pic>
        <p:nvPicPr>
          <p:cNvPr id="13" name="Picture 12" descr="84afeb60d2ecec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0351" y="3054096"/>
            <a:ext cx="3480816" cy="8138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Apply the law. Then rewrite so that every exponent is positive.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c31c4577474535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104" y="2103120"/>
            <a:ext cx="2877312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30c11d9477e5ce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245352" cy="426720"/>
          </a:xfrm>
          <a:prstGeom prst="rect">
            <a:avLst/>
          </a:prstGeom>
        </p:spPr>
      </p:pic>
      <p:pic>
        <p:nvPicPr>
          <p:cNvPr id="9" name="Picture 8" descr="d89781ec390765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21280"/>
            <a:ext cx="2776728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/y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69930e82b2e70e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651" y="1600200"/>
            <a:ext cx="325221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43519e6fe93bd6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651" y="1600200"/>
            <a:ext cx="325221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8223" y="3201526"/>
            <a:ext cx="1508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a's:  </a:t>
            </a:r>
          </a:p>
        </p:txBody>
      </p:sp>
      <p:pic>
        <p:nvPicPr>
          <p:cNvPr id="11" name="Picture 10" descr="5cce26f9814b90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149" y="3299062"/>
            <a:ext cx="2551176" cy="262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78223" y="3779122"/>
            <a:ext cx="1507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b's:  </a:t>
            </a:r>
          </a:p>
        </p:txBody>
      </p:sp>
      <p:pic>
        <p:nvPicPr>
          <p:cNvPr id="13" name="Picture 12" descr="455b440955e368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200" y="3727306"/>
            <a:ext cx="3429000" cy="560832"/>
          </a:xfrm>
          <a:prstGeom prst="rect">
            <a:avLst/>
          </a:prstGeom>
        </p:spPr>
      </p:pic>
      <p:pic>
        <p:nvPicPr>
          <p:cNvPr id="14" name="Picture 13" descr="153f36a6e04348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3087" y="4379578"/>
            <a:ext cx="1996439" cy="6065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09159" y="534579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6" name="Picture 15" descr="682a312527072d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123290"/>
            <a:ext cx="822960" cy="993648"/>
          </a:xfrm>
          <a:prstGeom prst="rect">
            <a:avLst/>
          </a:prstGeom>
        </p:spPr>
      </p:pic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7f7328112e67c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03120"/>
            <a:ext cx="1432560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15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855def8551484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798576"/>
          </a:xfrm>
          <a:prstGeom prst="rect">
            <a:avLst/>
          </a:prstGeom>
        </p:spPr>
      </p:pic>
      <p:pic>
        <p:nvPicPr>
          <p:cNvPr id="9" name="Picture 8" descr="44c539f0c5b2a6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3136"/>
            <a:ext cx="1408176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b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/1,024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c43798c2465e5d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1481328"/>
            <a:ext cx="1411224" cy="8808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65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03a681fbad5650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1481328"/>
            <a:ext cx="1417320" cy="883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681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1617" y="3457558"/>
            <a:ext cx="68554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Cube every part, then move the y up:</a:t>
            </a:r>
          </a:p>
        </p:txBody>
      </p:sp>
      <p:pic>
        <p:nvPicPr>
          <p:cNvPr id="11" name="Picture 10" descr="0c8a8ac9e9217b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6481" y="4019914"/>
            <a:ext cx="3605784" cy="8808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20767" y="527721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f55882cbb9feaf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1007" y="5037946"/>
            <a:ext cx="999743" cy="1027176"/>
          </a:xfrm>
          <a:prstGeom prst="rect">
            <a:avLst/>
          </a:prstGeom>
        </p:spPr>
      </p:pic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ec408266b04573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94560"/>
            <a:ext cx="67665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d0e787fdcb7c6f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03120"/>
            <a:ext cx="676656" cy="414528"/>
          </a:xfrm>
          <a:prstGeom prst="rect">
            <a:avLst/>
          </a:prstGeom>
        </p:spPr>
      </p:pic>
      <p:pic>
        <p:nvPicPr>
          <p:cNvPr id="9" name="Picture 8" descr="120fc012f8affb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7547" y="2819399"/>
            <a:ext cx="1207008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61560" y="484327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fb1ddbcef519bc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1799" y="4663440"/>
            <a:ext cx="518160" cy="908304"/>
          </a:xfrm>
          <a:prstGeom prst="rect">
            <a:avLst/>
          </a:prstGeom>
        </p:spPr>
      </p:pic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1b13ec9f58c182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7191" y="2194560"/>
            <a:ext cx="707136" cy="1018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7eacf3d693b1d7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0239" y="2103120"/>
            <a:ext cx="701040" cy="1018032"/>
          </a:xfrm>
          <a:prstGeom prst="rect">
            <a:avLst/>
          </a:prstGeom>
        </p:spPr>
      </p:pic>
      <p:pic>
        <p:nvPicPr>
          <p:cNvPr id="9" name="Picture 8" descr="6b87df3e62c7c1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499" y="3422904"/>
            <a:ext cx="1222248" cy="7406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84419" y="4651247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552d05db14a864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660" y="4663440"/>
            <a:ext cx="472440" cy="524256"/>
          </a:xfrm>
          <a:prstGeom prst="rect">
            <a:avLst/>
          </a:prstGeom>
        </p:spPr>
      </p:pic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6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brightness of a lamp from  </a:t>
            </a:r>
          </a:p>
        </p:txBody>
      </p:sp>
      <p:pic>
        <p:nvPicPr>
          <p:cNvPr id="9" name="Picture 8" descr="c15f87ddcb3bf3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255" y="1997963"/>
            <a:ext cx="170688" cy="164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8943" y="1851660"/>
            <a:ext cx="27899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meters away is  </a:t>
            </a:r>
          </a:p>
        </p:txBody>
      </p:sp>
      <p:pic>
        <p:nvPicPr>
          <p:cNvPr id="11" name="Picture 10" descr="bea5ec65db107f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706" y="1941575"/>
            <a:ext cx="591312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73018" y="1851660"/>
            <a:ext cx="1176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units.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lamp is 15 centimeters tall.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bright is the lamp from 2 meters away?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6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brightness of a lamp from  </a:t>
            </a:r>
          </a:p>
        </p:txBody>
      </p:sp>
      <p:pic>
        <p:nvPicPr>
          <p:cNvPr id="9" name="Picture 8" descr="c15f87ddcb3bf3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255" y="1997963"/>
            <a:ext cx="170688" cy="164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8943" y="1851660"/>
            <a:ext cx="27899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meters away is  </a:t>
            </a:r>
          </a:p>
        </p:txBody>
      </p:sp>
      <p:pic>
        <p:nvPicPr>
          <p:cNvPr id="11" name="Picture 10" descr="751d7165ce0bd9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706" y="1941575"/>
            <a:ext cx="5943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76066" y="1851660"/>
            <a:ext cx="1176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units.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lamp is 15 centimeters tall.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bright is the lamp from 2 meters away?</a:t>
            </a:r>
          </a:p>
        </p:txBody>
      </p:sp>
      <p:pic>
        <p:nvPicPr>
          <p:cNvPr id="15" name="Picture 14" descr="0c0f23d02279b1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3120" y="3684236"/>
            <a:ext cx="1356360" cy="661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28256" y="4575776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17" name="Picture 16" descr="07b139cdbb0c92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3275" y="4679408"/>
            <a:ext cx="704088" cy="24993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37363" y="4575776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19" name="Picture 18" descr="317e2464069192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6671" y="4473668"/>
            <a:ext cx="926592" cy="6614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968239" y="541397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21" name="Picture 20" descr="7857f3e6801ae9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8480" y="5272244"/>
            <a:ext cx="30480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ad788033b92abb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94560"/>
            <a:ext cx="1331976" cy="52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b8711b9cfc864f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03120"/>
            <a:ext cx="1331976" cy="524256"/>
          </a:xfrm>
          <a:prstGeom prst="rect">
            <a:avLst/>
          </a:prstGeom>
        </p:spPr>
      </p:pic>
      <p:pic>
        <p:nvPicPr>
          <p:cNvPr id="9" name="Picture 8" descr="8a0e20154d3860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9223" y="2929128"/>
            <a:ext cx="3343656" cy="7406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32960" y="489813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288f02ec57e356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199" y="4663440"/>
            <a:ext cx="975360" cy="1018032"/>
          </a:xfrm>
          <a:prstGeom prst="rect">
            <a:avLst/>
          </a:prstGeom>
        </p:spPr>
      </p:pic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76e7ce04dbed46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94560"/>
            <a:ext cx="1466088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378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174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57c3b1d76dc5c9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191" y="2103120"/>
            <a:ext cx="146913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5234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3dfe241d36c83f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4275" y="3453715"/>
            <a:ext cx="3279648" cy="304800"/>
          </a:xfrm>
          <a:prstGeom prst="rect">
            <a:avLst/>
          </a:prstGeom>
        </p:spPr>
      </p:pic>
      <p:pic>
        <p:nvPicPr>
          <p:cNvPr id="11" name="Picture 10" descr="b1ab2b2f40b1e3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4275" y="3939871"/>
            <a:ext cx="1173480" cy="661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738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1/x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5ddb63c42875a2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2194560"/>
            <a:ext cx="1459992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217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4/x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1/(4x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901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0b4a094821466f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03120"/>
            <a:ext cx="1463040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7719b4b74c44dd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8056" y="3508579"/>
            <a:ext cx="3752088" cy="371856"/>
          </a:xfrm>
          <a:prstGeom prst="rect">
            <a:avLst/>
          </a:prstGeom>
        </p:spPr>
      </p:pic>
      <p:pic>
        <p:nvPicPr>
          <p:cNvPr id="11" name="Picture 10" descr="5bac0c5947c6ee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8056" y="4028263"/>
            <a:ext cx="1389888" cy="661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826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4/x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636cf809238389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003" y="2194560"/>
            <a:ext cx="667512" cy="9784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c5cfb9ca7ed5b5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2103120"/>
            <a:ext cx="661416" cy="978408"/>
          </a:xfrm>
          <a:prstGeom prst="rect">
            <a:avLst/>
          </a:prstGeom>
        </p:spPr>
      </p:pic>
      <p:pic>
        <p:nvPicPr>
          <p:cNvPr id="9" name="Picture 8" descr="d5d202bb372dce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5839" y="3383280"/>
            <a:ext cx="2642616" cy="710184"/>
          </a:xfrm>
          <a:prstGeom prst="rect">
            <a:avLst/>
          </a:prstGeom>
        </p:spPr>
      </p:pic>
      <p:pic>
        <p:nvPicPr>
          <p:cNvPr id="10" name="Picture 9" descr="b3a0847db3beb5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5839" y="4221480"/>
            <a:ext cx="1441704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74692" y="5196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c3401cb351d5db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4932" y="5017008"/>
            <a:ext cx="691896" cy="908304"/>
          </a:xfrm>
          <a:prstGeom prst="rect">
            <a:avLst/>
          </a:prstGeom>
        </p:spPr>
      </p:pic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17170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9666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64533c8a20ef97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115" y="2916936"/>
            <a:ext cx="192328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08026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0522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46b0784f7c8733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115" y="2825496"/>
            <a:ext cx="192328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43292" y="3525012"/>
            <a:ext cx="65734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base, so the exponents add:  </a:t>
            </a:r>
          </a:p>
        </p:txBody>
      </p:sp>
      <p:pic>
        <p:nvPicPr>
          <p:cNvPr id="13" name="Picture 12" descr="448fa4db260ab5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9571" y="3627120"/>
            <a:ext cx="1438656" cy="252984"/>
          </a:xfrm>
          <a:prstGeom prst="rect">
            <a:avLst/>
          </a:prstGeom>
        </p:spPr>
      </p:pic>
      <p:pic>
        <p:nvPicPr>
          <p:cNvPr id="14" name="Picture 13" descr="070b8a66ba960f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8156" y="4166616"/>
            <a:ext cx="1746504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7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9191" y="2171700"/>
            <a:ext cx="1738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are  </a:t>
            </a:r>
          </a:p>
        </p:txBody>
      </p:sp>
      <p:pic>
        <p:nvPicPr>
          <p:cNvPr id="9" name="Picture 8" descr="7f8cc9402f9faa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567" y="2232660"/>
            <a:ext cx="362712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3279" y="217170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985ff9dbb24c36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020" y="2232660"/>
            <a:ext cx="521207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9228" y="2171700"/>
            <a:ext cx="17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related?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335" y="2857500"/>
            <a:ext cx="6986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Explain, and give the value of each when  </a:t>
            </a:r>
          </a:p>
        </p:txBody>
      </p:sp>
      <p:pic>
        <p:nvPicPr>
          <p:cNvPr id="14" name="Picture 13" descr="1c40b7a80b3cb0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4006" y="2948940"/>
            <a:ext cx="774192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18198" y="28575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9191" y="2080260"/>
            <a:ext cx="1738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are  </a:t>
            </a:r>
          </a:p>
        </p:txBody>
      </p:sp>
      <p:pic>
        <p:nvPicPr>
          <p:cNvPr id="9" name="Picture 8" descr="fb0a7a04003102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567" y="2141219"/>
            <a:ext cx="362712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3279" y="208026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127b4fbd30bb78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020" y="2141219"/>
            <a:ext cx="521207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9228" y="2080260"/>
            <a:ext cx="17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related?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335" y="2766060"/>
            <a:ext cx="6986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Explain, and give the value of each when  </a:t>
            </a:r>
          </a:p>
        </p:txBody>
      </p:sp>
      <p:pic>
        <p:nvPicPr>
          <p:cNvPr id="14" name="Picture 13" descr="1c40b7a80b3cb0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4006" y="2857500"/>
            <a:ext cx="774192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18198" y="27660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6" name="Picture 15" descr="4b887876abd3325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3157" y="3547872"/>
            <a:ext cx="1164336" cy="658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07493" y="3648456"/>
            <a:ext cx="3876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the reciprocal of   </a:t>
            </a:r>
          </a:p>
        </p:txBody>
      </p:sp>
      <p:pic>
        <p:nvPicPr>
          <p:cNvPr id="18" name="Picture 17" descr="0273c9ade1e97b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7312" y="3726180"/>
            <a:ext cx="329184" cy="3017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288293" y="4407408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20" name="Picture 19" descr="07b139cdbb0c92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93312" y="4511040"/>
            <a:ext cx="704088" cy="24993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197400" y="4407408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22" name="Picture 21" descr="5e737102846c642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6708" y="4485132"/>
            <a:ext cx="829056" cy="30175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95764" y="4407408"/>
            <a:ext cx="15240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24" name="Picture 23" descr="175de81595c1b41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82626" y="4334256"/>
            <a:ext cx="987552" cy="60350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507492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is the reciprocal of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 When x = 2: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8 and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1/8.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0" name="Picture 9" descr="d0b6a1cb6c5104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4756" y="1588008"/>
            <a:ext cx="524256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3" name="Picture 12" descr="43c032e9738a93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4756" y="2147315"/>
            <a:ext cx="59740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77215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772155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6" name="Picture 15" descr="06266648dc403e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4756" y="2706623"/>
            <a:ext cx="448056" cy="5882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45490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454907"/>
            <a:ext cx="5711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Simplify. Use positive exponents only.  </a:t>
            </a:r>
          </a:p>
        </p:txBody>
      </p:sp>
      <p:pic>
        <p:nvPicPr>
          <p:cNvPr id="19" name="Picture 18" descr="374d67a93a7cbdf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9157" y="3546347"/>
            <a:ext cx="93878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04926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49267"/>
            <a:ext cx="5711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Simplify. Use positive exponents only.  </a:t>
            </a:r>
          </a:p>
        </p:txBody>
      </p:sp>
      <p:pic>
        <p:nvPicPr>
          <p:cNvPr id="22" name="Picture 21" descr="c40b3e76d5e8f93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9157" y="4111751"/>
            <a:ext cx="1033271" cy="3322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64362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643628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788408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643628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6e9a5405552d7f9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701540"/>
            <a:ext cx="1588008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Variables with negative exponents — 2NL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and divide powers: variable bases — 85P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Writing Large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write a large number in scientific notation, read one back into standard form, and find how many times larger one number is than another.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5704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exponent:  </a:t>
            </a:r>
          </a:p>
        </p:txBody>
      </p:sp>
      <p:pic>
        <p:nvPicPr>
          <p:cNvPr id="9" name="Picture 8" descr="46ce777176e304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769" y="1534668"/>
            <a:ext cx="6096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0f586036346000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13788"/>
            <a:ext cx="80772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e90d31abd60813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26008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278124"/>
            <a:ext cx="59461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In 4,500,000, which place is the 4 in?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5704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exponent:  </a:t>
            </a:r>
          </a:p>
        </p:txBody>
      </p:sp>
      <p:pic>
        <p:nvPicPr>
          <p:cNvPr id="9" name="Picture 8" descr="46ce777176e304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769" y="1534668"/>
            <a:ext cx="6096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66009" y="1440180"/>
            <a:ext cx="861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4/x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0f586036346000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13788"/>
            <a:ext cx="807720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9666" y="2052828"/>
            <a:ext cx="258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2180" b="1" i="0">
                <a:solidFill>
                  <a:srgbClr val="9E1B32"/>
                </a:solidFill>
                <a:latin typeface="Lexend"/>
              </a:rPr>
              <a:t> = 1,000,000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e90d31abd60813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26008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42359" y="2665476"/>
            <a:ext cx="540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78124"/>
            <a:ext cx="59461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In 4,500,000, which place is the 4 in?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2133" y="3278124"/>
            <a:ext cx="13806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millions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Powers of ten name the places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42999" y="1993392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1,000,000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30540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exponent counts the zeros — and names the place of the 1.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5d2b93ef624f7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3252" y="2054352"/>
            <a:ext cx="1133856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17108" y="1970532"/>
            <a:ext cx="1452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with   </a:t>
            </a:r>
          </a:p>
        </p:txBody>
      </p:sp>
      <p:pic>
        <p:nvPicPr>
          <p:cNvPr id="12" name="Picture 11" descr="f3e5877ddc95e3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2931" y="2060448"/>
            <a:ext cx="1545336" cy="277368"/>
          </a:xfrm>
          <a:prstGeom prst="rect">
            <a:avLst/>
          </a:prstGeom>
        </p:spPr>
      </p:pic>
      <p:pic>
        <p:nvPicPr>
          <p:cNvPr id="13" name="Picture 12" descr="e18c35a42d2be4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1384" y="2679192"/>
            <a:ext cx="3282696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24080" y="26563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5" name="Picture 14" descr="fa83316ec23a8fb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8423" y="2683764"/>
            <a:ext cx="3791712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coefficient is at least 1 and less than 10: one nonzero digit before the decimal point.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6360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exponent is how many places the decimal point moves: 26,000,000. </a:t>
            </a:r>
            <a:r>
              <a:rPr sz="2180" b="0" i="0">
                <a:solidFill>
                  <a:srgbClr val="1A1A1A"/>
                </a:solidFill>
                <a:latin typeface="Arial"/>
              </a:rPr>
              <a:t>→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2.6, seven places,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7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How many times larger?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2171bb0cafdb8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6432" y="1994916"/>
            <a:ext cx="2069591" cy="792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6024" y="216255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4ecd045e0e8155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0367" y="1993392"/>
            <a:ext cx="3474720" cy="795528"/>
          </a:xfrm>
          <a:prstGeom prst="rect">
            <a:avLst/>
          </a:prstGeom>
        </p:spPr>
      </p:pic>
      <p:pic>
        <p:nvPicPr>
          <p:cNvPr id="13" name="Picture 12" descr="d1693eaff94ed7e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4027" y="3063240"/>
            <a:ext cx="4093464" cy="798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00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Divide the powers of 10. Multiply the two results.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316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a screen, 8.4E6 means 8.4 ×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6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2018, funding for education in Florida totaled 30,100,000,000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58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Express this value in scientific notation.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602c4ddc3236a1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937760" cy="408432"/>
          </a:xfrm>
          <a:prstGeom prst="rect">
            <a:avLst/>
          </a:prstGeom>
        </p:spPr>
      </p:pic>
      <p:pic>
        <p:nvPicPr>
          <p:cNvPr id="9" name="Picture 8" descr="d1d3ba89cea32f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7050024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painting sold for 110,500,000 dollars.  Write this value in scientific notation.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painting sold for 110,500,000 dollars.  Write this value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3649" y="2618960"/>
            <a:ext cx="63513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8 places left:  1.105</a:t>
            </a:r>
          </a:p>
        </p:txBody>
      </p:sp>
      <p:pic>
        <p:nvPicPr>
          <p:cNvPr id="10" name="Picture 9" descr="036eb30c5b345b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8513" y="3204176"/>
            <a:ext cx="3971544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1.105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9206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e6569deac08d6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345" y="2139696"/>
            <a:ext cx="138684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77185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416dd2cfada87c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627" y="2139696"/>
            <a:ext cx="142951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86139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9fc71f71d11df7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438656" cy="673608"/>
          </a:xfrm>
          <a:prstGeom prst="rect">
            <a:avLst/>
          </a:prstGeom>
        </p:spPr>
      </p:pic>
      <p:pic>
        <p:nvPicPr>
          <p:cNvPr id="9" name="Picture 8" descr="8ba743c5890011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359152" cy="795528"/>
          </a:xfrm>
          <a:prstGeom prst="rect">
            <a:avLst/>
          </a:prstGeom>
        </p:spPr>
      </p:pic>
      <p:pic>
        <p:nvPicPr>
          <p:cNvPr id="10" name="Picture 9" descr="9c7006607715b9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38016"/>
            <a:ext cx="197510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7258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times larger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4324" y="1581912"/>
            <a:ext cx="386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Everglades alligators:  </a:t>
            </a:r>
          </a:p>
        </p:txBody>
      </p:sp>
      <p:pic>
        <p:nvPicPr>
          <p:cNvPr id="9" name="Picture 8" descr="3084bf1d1a28c6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403" y="1600200"/>
            <a:ext cx="1764792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83926" y="2325624"/>
            <a:ext cx="32178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Florida alligators:  </a:t>
            </a:r>
          </a:p>
        </p:txBody>
      </p:sp>
      <p:pic>
        <p:nvPicPr>
          <p:cNvPr id="11" name="Picture 10" descr="8f2aa491890c8b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4617" y="2340864"/>
            <a:ext cx="1712976" cy="426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87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About how many times larger is the Florida number?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2800" y="1581912"/>
            <a:ext cx="386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Everglades alligators:  </a:t>
            </a:r>
          </a:p>
        </p:txBody>
      </p:sp>
      <p:pic>
        <p:nvPicPr>
          <p:cNvPr id="9" name="Picture 8" descr="cdc1cc7791403f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879" y="1600200"/>
            <a:ext cx="17678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85450" y="2325624"/>
            <a:ext cx="32178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Florida alligators:  </a:t>
            </a:r>
          </a:p>
        </p:txBody>
      </p:sp>
      <p:pic>
        <p:nvPicPr>
          <p:cNvPr id="11" name="Picture 10" descr="97a43bfe3668a3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141" y="2340864"/>
            <a:ext cx="1709928" cy="426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87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About how many times larger is the Florida number?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8343" y="3677014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065d4ec2ea76ad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6464" y="3798934"/>
            <a:ext cx="1892807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98343" y="4179934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88fcdaa08f344d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4615" y="4277470"/>
            <a:ext cx="1871472" cy="262128"/>
          </a:xfrm>
          <a:prstGeom prst="rect">
            <a:avLst/>
          </a:prstGeom>
        </p:spPr>
      </p:pic>
      <p:pic>
        <p:nvPicPr>
          <p:cNvPr id="17" name="Picture 16" descr="6133d72459d952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3207" y="4780390"/>
            <a:ext cx="1911095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5435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7.5 times larger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4,000,000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4,000,000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0795" y="2728291"/>
            <a:ext cx="55264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4 is in the millions place:  </a:t>
            </a:r>
          </a:p>
        </p:txBody>
      </p:sp>
      <p:pic>
        <p:nvPicPr>
          <p:cNvPr id="10" name="Picture 9" descr="2fbe08c1a41f36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0132" y="2772487"/>
            <a:ext cx="2450592" cy="368808"/>
          </a:xfrm>
          <a:prstGeom prst="rect">
            <a:avLst/>
          </a:prstGeom>
        </p:spPr>
      </p:pic>
      <p:pic>
        <p:nvPicPr>
          <p:cNvPr id="11" name="Picture 10" descr="05b1e2b22daef4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5659" y="3311983"/>
            <a:ext cx="3032760" cy="3688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3365" y="217170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23296af58026d0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193" y="2232660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35321" y="217170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3365" y="208026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e49d7c02aeaf03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193" y="2139696"/>
            <a:ext cx="14051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35321" y="208026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pic>
        <p:nvPicPr>
          <p:cNvPr id="11" name="Picture 10" descr="f2fdf0be925309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799" y="2884932"/>
            <a:ext cx="1950720" cy="365760"/>
          </a:xfrm>
          <a:prstGeom prst="rect">
            <a:avLst/>
          </a:prstGeom>
        </p:spPr>
      </p:pic>
      <p:pic>
        <p:nvPicPr>
          <p:cNvPr id="12" name="Picture 11" descr="134110467fe4e6f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799" y="3450335"/>
            <a:ext cx="3279648" cy="3139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72,000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stadium's renovation used  356,000  bolts.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stadium seats 71,000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number of bolts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stadium's renovation used  356,000  bolts.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stadium seats 71,000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number of bolts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288" y="3587827"/>
            <a:ext cx="61541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5 places left:  3.56</a:t>
            </a:r>
          </a:p>
        </p:txBody>
      </p:sp>
      <p:pic>
        <p:nvPicPr>
          <p:cNvPr id="12" name="Picture 11" descr="ab46d03e7278ad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152" y="4173043"/>
            <a:ext cx="3112008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988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3.56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065" y="217170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43cb3ae958f537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659" y="2232660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24787" y="217170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92daabb7e870f7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872" y="2231136"/>
            <a:ext cx="135940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68280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065" y="208026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1feacfcb0f3ecc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659" y="2141219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24787" y="208026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73bd38815e7d3f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872" y="2138171"/>
            <a:ext cx="1359408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68280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172e9537a453d6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091" y="2884932"/>
            <a:ext cx="2944368" cy="365760"/>
          </a:xfrm>
          <a:prstGeom prst="rect">
            <a:avLst/>
          </a:prstGeom>
        </p:spPr>
      </p:pic>
      <p:pic>
        <p:nvPicPr>
          <p:cNvPr id="14" name="Picture 13" descr="5bf6050deecf9a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6091" y="3422904"/>
            <a:ext cx="3179064" cy="3688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52,000,000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52,000,000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6872" y="2728291"/>
            <a:ext cx="59449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7 places left:  5.2</a:t>
            </a:r>
          </a:p>
        </p:txBody>
      </p:sp>
      <p:pic>
        <p:nvPicPr>
          <p:cNvPr id="10" name="Picture 9" descr="faf48c280b171a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1736" y="3313507"/>
            <a:ext cx="3453384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0102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f3f7fb3f9c4eb8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241" y="2231136"/>
            <a:ext cx="11003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1569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24010bd5a04baa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1011" y="2232660"/>
            <a:ext cx="109423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5243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5530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f55ab610390199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669" y="2139696"/>
            <a:ext cx="110642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3093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48b21e1c13d68e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2535" y="2141219"/>
            <a:ext cx="109728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9815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eb9f83f40dace9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4091" y="2941320"/>
            <a:ext cx="1197864" cy="252984"/>
          </a:xfrm>
          <a:prstGeom prst="rect">
            <a:avLst/>
          </a:prstGeom>
        </p:spPr>
      </p:pic>
      <p:pic>
        <p:nvPicPr>
          <p:cNvPr id="14" name="Picture 13" descr="b4e216bfcb8fd2e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4091" y="3424427"/>
            <a:ext cx="4700016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1,000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6158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a21c12e381007a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297" y="2231136"/>
            <a:ext cx="143256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9857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aaaf2b9082714b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299" y="2232660"/>
            <a:ext cx="1389888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89187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3110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6927284ac777f2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249" y="2138171"/>
            <a:ext cx="14325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6809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0e66f4ec969ea3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6251" y="2139696"/>
            <a:ext cx="1395984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92235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220" y="2839212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024eebcb36c872b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340" y="2961132"/>
            <a:ext cx="1520952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11220" y="3342132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b4e1be01d60942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491" y="3439667"/>
            <a:ext cx="1895856" cy="262128"/>
          </a:xfrm>
          <a:prstGeom prst="rect">
            <a:avLst/>
          </a:prstGeom>
        </p:spPr>
      </p:pic>
      <p:pic>
        <p:nvPicPr>
          <p:cNvPr id="17" name="Picture 16" descr="41bbac836a9b253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6084" y="3942588"/>
            <a:ext cx="1685544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400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3.5E9.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3.5E9.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9560" y="3303170"/>
            <a:ext cx="26373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3.5E9 means  </a:t>
            </a:r>
          </a:p>
        </p:txBody>
      </p:sp>
      <p:pic>
        <p:nvPicPr>
          <p:cNvPr id="11" name="Picture 10" descr="b45fb8c7dbcd17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755" y="3376322"/>
            <a:ext cx="1274064" cy="310896"/>
          </a:xfrm>
          <a:prstGeom prst="rect">
            <a:avLst/>
          </a:prstGeom>
        </p:spPr>
      </p:pic>
      <p:pic>
        <p:nvPicPr>
          <p:cNvPr id="12" name="Picture 11" descr="5ff869fd9c2b81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4423" y="3885338"/>
            <a:ext cx="3965448" cy="3718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3,500,000,000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4476" y="2171700"/>
            <a:ext cx="4937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Marcus writes  2,000,000  as  </a:t>
            </a:r>
          </a:p>
        </p:txBody>
      </p:sp>
      <p:pic>
        <p:nvPicPr>
          <p:cNvPr id="9" name="Picture 8" descr="1e6b101793739f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225" y="2232660"/>
            <a:ext cx="1322832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68057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Is his expression equal to 2,000,000? Is it scientific notation? Explain.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2952" y="2080260"/>
            <a:ext cx="4937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Marcus writes  2,000,000  as  </a:t>
            </a:r>
          </a:p>
        </p:txBody>
      </p:sp>
      <p:pic>
        <p:nvPicPr>
          <p:cNvPr id="9" name="Picture 8" descr="24bd3819b8f5ce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3701" y="2141219"/>
            <a:ext cx="1325880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69581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Is his expression equal to 2,000,000? Is it scientific notation? Explain.</a:t>
            </a:r>
          </a:p>
        </p:txBody>
      </p:sp>
      <p:pic>
        <p:nvPicPr>
          <p:cNvPr id="12" name="Picture 11" descr="304621095a2a00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2864" y="3433572"/>
            <a:ext cx="2697480" cy="3108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40344" y="3360420"/>
            <a:ext cx="25266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it is equal.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8000" y="3863339"/>
            <a:ext cx="9522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first number must be at least 1 and less than 10. 20 is not.</a:t>
            </a:r>
          </a:p>
        </p:txBody>
      </p:sp>
      <p:pic>
        <p:nvPicPr>
          <p:cNvPr id="15" name="Picture 14" descr="5e939c5ec66d91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2864" y="4436364"/>
            <a:ext cx="251460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93776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Equal, yes. Scientific notation, no: 20 is not less than 10.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666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8,200,000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89403"/>
            <a:ext cx="1151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12" name="Picture 11" descr="3e7ab53ed67d41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615" y="2182367"/>
            <a:ext cx="115824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26855" y="2089403"/>
            <a:ext cx="282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59901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915,000,000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78123"/>
            <a:ext cx="2766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18" name="Picture 17" descr="f3e3f368d404e0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713" y="3371087"/>
            <a:ext cx="1155192" cy="2712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38905" y="3278123"/>
            <a:ext cx="839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20" name="Picture 19" descr="bee7f03ef7d076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1011" y="3369563"/>
            <a:ext cx="1133856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74867" y="327812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72483"/>
            <a:ext cx="39948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24" name="Picture 23" descr="17885e04efb3044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2147" y="3965447"/>
            <a:ext cx="893064" cy="2712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05211" y="3872483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26" name="Picture 25" descr="5fbd47d0e64f50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7013" y="3965447"/>
            <a:ext cx="902208" cy="2712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59221" y="387248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466844"/>
            <a:ext cx="9667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computer displays a number as  2.6E7.  Write it in standard form.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standard and scientific notation: large numbers — 2AL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large numbers — WEZ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ten — LJQ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Writing Small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write very small numbers in scientific notation, read them back, and find how many times larger or smaller one number is than another.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1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1626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 </a:t>
            </a:r>
          </a:p>
        </p:txBody>
      </p:sp>
      <p:pic>
        <p:nvPicPr>
          <p:cNvPr id="10" name="Picture 9" descr="b44355ff61a16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042" y="2145792"/>
            <a:ext cx="560832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24874" y="2052828"/>
            <a:ext cx="22419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fraction.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65476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3" name="Picture 12" descr="703b0b7ef618e4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7464" y="2699004"/>
            <a:ext cx="69189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09360" y="2665476"/>
            <a:ext cx="580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is between which two whole numbers?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44415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 0.007  as a fraction.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1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20719" y="1440180"/>
            <a:ext cx="14736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4.3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1626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 </a:t>
            </a:r>
          </a:p>
        </p:txBody>
      </p:sp>
      <p:pic>
        <p:nvPicPr>
          <p:cNvPr id="11" name="Picture 10" descr="b44355ff61a16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042" y="2145792"/>
            <a:ext cx="56083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24874" y="2052828"/>
            <a:ext cx="22419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fraction.</a:t>
            </a:r>
          </a:p>
        </p:txBody>
      </p:sp>
      <p:pic>
        <p:nvPicPr>
          <p:cNvPr id="13" name="Picture 12" descr="2b698db5dc091f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303" y="2075688"/>
            <a:ext cx="816864" cy="600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2665476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5" name="Picture 14" descr="703b0b7ef618e4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464" y="2699004"/>
            <a:ext cx="691896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109360" y="2665476"/>
            <a:ext cx="580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is between which two whole numbers?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495" y="2665476"/>
            <a:ext cx="15047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and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44415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 0.007  as a fraction.</a:t>
            </a:r>
          </a:p>
        </p:txBody>
      </p:sp>
      <p:pic>
        <p:nvPicPr>
          <p:cNvPr id="19" name="Picture 18" descr="24e3778fee0149c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7589" y="3300984"/>
            <a:ext cx="816864" cy="597408"/>
          </a:xfrm>
          <a:prstGeom prst="rect">
            <a:avLst/>
          </a:prstGeom>
        </p:spPr>
      </p:pic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Negative powers of ten name the decimal places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42999" y="1993392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654e90524fa10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6744" y="3017520"/>
            <a:ext cx="1685544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02288" y="313182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3" name="Picture 12" descr="4ca5845658b16c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6631" y="2990088"/>
            <a:ext cx="3438144" cy="7406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690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 negative exponent puts the 1 in that decimal place: 10</a:t>
            </a:r>
            <a:r>
              <a:rPr sz="2180" b="1" i="0" baseline="30000">
                <a:solidFill>
                  <a:srgbClr val="1A1A1A"/>
                </a:solidFill>
                <a:latin typeface="Lexend"/>
              </a:rPr>
              <a:t>-4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 is a 1 in the fourth place.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Small numbers in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7cf70d1664c7c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844" y="2028444"/>
            <a:ext cx="331622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28068" y="19705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a88e78fd38d3b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411" y="2031492"/>
            <a:ext cx="4017264" cy="335280"/>
          </a:xfrm>
          <a:prstGeom prst="rect">
            <a:avLst/>
          </a:prstGeom>
        </p:spPr>
      </p:pic>
      <p:pic>
        <p:nvPicPr>
          <p:cNvPr id="13" name="Picture 12" descr="fa690032944f26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5615" y="2714244"/>
            <a:ext cx="459028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coefficient is still at least 1 and less than 10. The exponent is negative for a number less than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360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exponent is how many places the point moves: 0.0000672 </a:t>
            </a:r>
            <a:r>
              <a:rPr sz="2180" b="0" i="0">
                <a:solidFill>
                  <a:srgbClr val="1A1A1A"/>
                </a:solidFill>
                <a:latin typeface="Arial"/>
              </a:rPr>
              <a:t>→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6.72 is five places right,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How many times larger — or smaller?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6cc52bce800e0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200" y="1993392"/>
            <a:ext cx="4556760" cy="795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49960" y="216255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3a5416871ca10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4303" y="1993392"/>
            <a:ext cx="2414016" cy="7955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12724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Divide the powers of 10 — subtract the exponents. Multiply the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3425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bigger,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or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-8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? The one with the larger exponent: −5 &gt; −8,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density of oxygen is 1,332 millionths of a gram per cubic centimeter.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58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as a decimal, then in scientific notation.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c6b0aa89dc2547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06952" cy="810768"/>
          </a:xfrm>
          <a:prstGeom prst="rect">
            <a:avLst/>
          </a:prstGeom>
        </p:spPr>
      </p:pic>
      <p:pic>
        <p:nvPicPr>
          <p:cNvPr id="9" name="Picture 8" descr="b11101a855a1dd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5328"/>
            <a:ext cx="3898392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0.001332 = 1.332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in scientific notation.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30777" y="2728688"/>
            <a:ext cx="54371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67 hundred-thousandths = 0.00067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0777" y="3231608"/>
            <a:ext cx="52939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Move the point 4 places right:  6.7</a:t>
            </a:r>
          </a:p>
        </p:txBody>
      </p:sp>
      <p:pic>
        <p:nvPicPr>
          <p:cNvPr id="12" name="Picture 11" descr="6b2179ecfff78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641" y="3835112"/>
            <a:ext cx="2599944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5094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b4e84117b325ad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6233" y="2141219"/>
            <a:ext cx="15605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6809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23867d22f72f68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6251" y="2139696"/>
            <a:ext cx="1524000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220251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8663d5441fef8d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46048" cy="676656"/>
          </a:xfrm>
          <a:prstGeom prst="rect">
            <a:avLst/>
          </a:prstGeom>
        </p:spPr>
      </p:pic>
      <p:pic>
        <p:nvPicPr>
          <p:cNvPr id="9" name="Picture 8" descr="101a9ffba773bd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3624072" cy="795528"/>
          </a:xfrm>
          <a:prstGeom prst="rect">
            <a:avLst/>
          </a:prstGeom>
        </p:spPr>
      </p:pic>
      <p:pic>
        <p:nvPicPr>
          <p:cNvPr id="10" name="Picture 9" descr="8b5cad9d159043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41063"/>
            <a:ext cx="2532888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0364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4,000 times larger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4282" y="1583436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9c7a204f287653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5421" y="1601724"/>
            <a:ext cx="1941576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6997" y="1583436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873100442e093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439" y="1600200"/>
            <a:ext cx="1944623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21063" y="1583436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1234" y="1583436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edd08f0868705a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2373" y="1601724"/>
            <a:ext cx="1944623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6997" y="1583436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c12161b97b98d8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439" y="1600200"/>
            <a:ext cx="1947672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24111" y="1583436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3688" y="2394204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ff9a26e5845eab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1808" y="2516124"/>
            <a:ext cx="149656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83688" y="2897124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e0fb676db25f9e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959" y="2996184"/>
            <a:ext cx="3550920" cy="259080"/>
          </a:xfrm>
          <a:prstGeom prst="rect">
            <a:avLst/>
          </a:prstGeom>
        </p:spPr>
      </p:pic>
      <p:pic>
        <p:nvPicPr>
          <p:cNvPr id="17" name="Picture 16" descr="2847951d0162e9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8552" y="3473196"/>
            <a:ext cx="2258568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200,000 times larger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1c75e9d33d93ce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752" y="2194560"/>
            <a:ext cx="89001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641b1ae2e3e695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5" y="2103120"/>
            <a:ext cx="886968" cy="420624"/>
          </a:xfrm>
          <a:prstGeom prst="rect">
            <a:avLst/>
          </a:prstGeom>
        </p:spPr>
      </p:pic>
      <p:pic>
        <p:nvPicPr>
          <p:cNvPr id="9" name="Picture 8" descr="72478af1c7b01c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2295" y="2825496"/>
            <a:ext cx="4486656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0.0001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2785" y="2728291"/>
            <a:ext cx="63568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3 is in the thousandths place:  </a:t>
            </a:r>
          </a:p>
        </p:txBody>
      </p:sp>
      <p:pic>
        <p:nvPicPr>
          <p:cNvPr id="10" name="Picture 9" descr="830231c5d5c0db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2502" y="2804491"/>
            <a:ext cx="1859280" cy="304800"/>
          </a:xfrm>
          <a:prstGeom prst="rect">
            <a:avLst/>
          </a:prstGeom>
        </p:spPr>
      </p:pic>
      <p:pic>
        <p:nvPicPr>
          <p:cNvPr id="11" name="Picture 10" descr="33c20a97ceac52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7649" y="3343987"/>
            <a:ext cx="2365248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5" y="217170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a7aaa5b3e98ae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6373" y="2232660"/>
            <a:ext cx="15727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19141" y="217170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6497" y="208026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1b45f78dcdf522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325" y="2139696"/>
            <a:ext cx="157886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22189" y="208026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pic>
        <p:nvPicPr>
          <p:cNvPr id="11" name="Picture 10" descr="562f191cbb88b9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3691" y="2915412"/>
            <a:ext cx="2075688" cy="304800"/>
          </a:xfrm>
          <a:prstGeom prst="rect">
            <a:avLst/>
          </a:prstGeom>
        </p:spPr>
      </p:pic>
      <p:pic>
        <p:nvPicPr>
          <p:cNvPr id="12" name="Picture 11" descr="6f8ea1aa564467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3691" y="3480816"/>
            <a:ext cx="3483864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0.00025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1910" y="3587827"/>
            <a:ext cx="64348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5 places right:  9.88</a:t>
            </a:r>
          </a:p>
        </p:txBody>
      </p:sp>
      <p:pic>
        <p:nvPicPr>
          <p:cNvPr id="12" name="Picture 11" descr="45f9f3462ccd0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774" y="4203523"/>
            <a:ext cx="3694176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988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9.88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39092" y="2728291"/>
            <a:ext cx="62204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4 places right:  8.1</a:t>
            </a:r>
          </a:p>
        </p:txBody>
      </p:sp>
      <p:pic>
        <p:nvPicPr>
          <p:cNvPr id="10" name="Picture 9" descr="2b19566df5af1f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3956" y="3343987"/>
            <a:ext cx="304800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8.1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9226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5a2c3be760cceb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0365" y="2231136"/>
            <a:ext cx="124968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0045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9a8c04db501f05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9487" y="2232660"/>
            <a:ext cx="124663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926119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6178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a75ced4ea1776b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7317" y="2139696"/>
            <a:ext cx="12527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0045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aed887976cb4b8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9487" y="2141219"/>
            <a:ext cx="124968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929167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5212" y="2839212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38fe3a113732c6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3332" y="2961132"/>
            <a:ext cx="102412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85212" y="3342132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65ff84f4a4ec86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1483" y="3439667"/>
            <a:ext cx="3547872" cy="262128"/>
          </a:xfrm>
          <a:prstGeom prst="rect">
            <a:avLst/>
          </a:prstGeom>
        </p:spPr>
      </p:pic>
      <p:pic>
        <p:nvPicPr>
          <p:cNvPr id="17" name="Picture 16" descr="9d511f57c8dac01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0076" y="3942588"/>
            <a:ext cx="1630680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300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77233" y="217170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6b87d3400d9bb2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9827" y="2232660"/>
            <a:ext cx="1551432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91259" y="217170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1da1a250efe258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5344" y="2231136"/>
            <a:ext cx="157276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48112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75709" y="208026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81b1ad24407d18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8303" y="2141219"/>
            <a:ext cx="1554480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92783" y="208026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2167ac4363e070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6868" y="2139696"/>
            <a:ext cx="157276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49636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7da4b69f6a4a0e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2043" y="2915412"/>
            <a:ext cx="3267456" cy="304800"/>
          </a:xfrm>
          <a:prstGeom prst="rect">
            <a:avLst/>
          </a:prstGeom>
        </p:spPr>
      </p:pic>
      <p:pic>
        <p:nvPicPr>
          <p:cNvPr id="14" name="Picture 13" descr="adf9adaf96fc0f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2043" y="3454908"/>
            <a:ext cx="3947160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91038" y="3303170"/>
            <a:ext cx="28809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4.2E−6 means  </a:t>
            </a:r>
          </a:p>
        </p:txBody>
      </p:sp>
      <p:pic>
        <p:nvPicPr>
          <p:cNvPr id="11" name="Picture 10" descr="5a5877e7059393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4873" y="3377846"/>
            <a:ext cx="1438656" cy="307848"/>
          </a:xfrm>
          <a:prstGeom prst="rect">
            <a:avLst/>
          </a:prstGeom>
        </p:spPr>
      </p:pic>
      <p:pic>
        <p:nvPicPr>
          <p:cNvPr id="12" name="Picture 11" descr="2ef28584177cdf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5902" y="3917342"/>
            <a:ext cx="3538728" cy="3078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0.0000042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42662" y="2171700"/>
            <a:ext cx="288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A is  </a:t>
            </a:r>
          </a:p>
        </p:txBody>
      </p:sp>
      <p:pic>
        <p:nvPicPr>
          <p:cNvPr id="9" name="Picture 8" descr="6f28bcb12f677a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0143" y="2229612"/>
            <a:ext cx="124968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39823" y="217170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2761" y="2857500"/>
            <a:ext cx="2878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B is  </a:t>
            </a:r>
          </a:p>
        </p:txBody>
      </p:sp>
      <p:pic>
        <p:nvPicPr>
          <p:cNvPr id="12" name="Picture 11" descr="d925408048692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3947" y="2915412"/>
            <a:ext cx="1255776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9723" y="285750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41138" y="2080260"/>
            <a:ext cx="288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A is  </a:t>
            </a:r>
          </a:p>
        </p:txBody>
      </p:sp>
      <p:pic>
        <p:nvPicPr>
          <p:cNvPr id="9" name="Picture 8" descr="846d6a6440d7a0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619" y="2138171"/>
            <a:ext cx="125272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41347" y="208026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1237" y="2766060"/>
            <a:ext cx="2878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B is  </a:t>
            </a:r>
          </a:p>
        </p:txBody>
      </p:sp>
      <p:pic>
        <p:nvPicPr>
          <p:cNvPr id="12" name="Picture 11" descr="9a59c78d08cd98b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423" y="2823971"/>
            <a:ext cx="1258824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41247" y="276606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4286" y="4046220"/>
            <a:ext cx="61501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Same power of 10, so compare 2 and 6.</a:t>
            </a:r>
          </a:p>
        </p:txBody>
      </p:sp>
      <p:pic>
        <p:nvPicPr>
          <p:cNvPr id="16" name="Picture 15" descr="38fe3a113732c6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150" y="4671060"/>
            <a:ext cx="1024128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074286" y="5052059"/>
            <a:ext cx="2640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Between them:  </a:t>
            </a:r>
          </a:p>
        </p:txBody>
      </p:sp>
      <p:pic>
        <p:nvPicPr>
          <p:cNvPr id="18" name="Picture 17" descr="581fc6e4e685e84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529" y="5149596"/>
            <a:ext cx="984504" cy="2621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62356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B; 3 times; e.g. 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in.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402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0.00047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89403"/>
            <a:ext cx="1151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12" name="Picture 11" descr="f029b45e0ecab7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615" y="2182367"/>
            <a:ext cx="1261872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30487" y="2089403"/>
            <a:ext cx="282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57349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0.0000061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78123"/>
            <a:ext cx="2766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18" name="Picture 17" descr="2b6d28ce99c0e7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713" y="3369563"/>
            <a:ext cx="128016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63873" y="3278123"/>
            <a:ext cx="839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20" name="Picture 19" descr="4f77a3766b4748d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5979" y="3368039"/>
            <a:ext cx="1252728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18707" y="327812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72483"/>
            <a:ext cx="39948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24" name="Picture 23" descr="36f5a0412d8a35a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2147" y="3962399"/>
            <a:ext cx="1024128" cy="2773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36275" y="3872483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26" name="Picture 25" descr="a131a25e21d7bac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8077" y="3965447"/>
            <a:ext cx="1042415" cy="2712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530493" y="387248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466844"/>
            <a:ext cx="9859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computer displays a number as  3.7E−5.  Write it in standard form.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standard and scientific notation: small numbers — 85M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small numbers — KDR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ten with negative exponents — SKD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