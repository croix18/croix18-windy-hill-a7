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2.xml"/><Relationship Id="rId5" Type="http://schemas.openxmlformats.org/officeDocument/2006/relationships/slide" Target="slide106.xml"/><Relationship Id="rId6" Type="http://schemas.openxmlformats.org/officeDocument/2006/relationships/slide" Target="slide140.xml"/><Relationship Id="rId7" Type="http://schemas.openxmlformats.org/officeDocument/2006/relationships/slide" Target="slide174.xml"/><Relationship Id="rId8" Type="http://schemas.openxmlformats.org/officeDocument/2006/relationships/slide" Target="slide209.xml"/><Relationship Id="rId9" Type="http://schemas.openxmlformats.org/officeDocument/2006/relationships/slide" Target="slide243.xml"/><Relationship Id="rId10" Type="http://schemas.openxmlformats.org/officeDocument/2006/relationships/slide" Target="slide277.xml"/><Relationship Id="rId11" Type="http://schemas.openxmlformats.org/officeDocument/2006/relationships/slide" Target="slide3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4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11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58.png"/><Relationship Id="rId8" Type="http://schemas.openxmlformats.org/officeDocument/2006/relationships/image" Target="../media/image11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Relationship Id="rId3" Type="http://schemas.openxmlformats.org/officeDocument/2006/relationships/image" Target="../media/image16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png"/><Relationship Id="rId3" Type="http://schemas.openxmlformats.org/officeDocument/2006/relationships/image" Target="../media/image162.png"/><Relationship Id="rId4" Type="http://schemas.openxmlformats.org/officeDocument/2006/relationships/image" Target="../media/image163.png"/><Relationship Id="rId5" Type="http://schemas.openxmlformats.org/officeDocument/2006/relationships/image" Target="../media/image164.png"/><Relationship Id="rId6" Type="http://schemas.openxmlformats.org/officeDocument/2006/relationships/image" Target="../media/image165.png"/><Relationship Id="rId7" Type="http://schemas.openxmlformats.org/officeDocument/2006/relationships/image" Target="../media/image166.png"/><Relationship Id="rId8" Type="http://schemas.openxmlformats.org/officeDocument/2006/relationships/image" Target="../media/image167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69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69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Relationship Id="rId4" Type="http://schemas.openxmlformats.org/officeDocument/2006/relationships/image" Target="../media/image67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Relationship Id="rId3" Type="http://schemas.openxmlformats.org/officeDocument/2006/relationships/image" Target="../media/image184.png"/><Relationship Id="rId4" Type="http://schemas.openxmlformats.org/officeDocument/2006/relationships/image" Target="../media/image185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Relationship Id="rId3" Type="http://schemas.openxmlformats.org/officeDocument/2006/relationships/image" Target="../media/image188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png"/><Relationship Id="rId3" Type="http://schemas.openxmlformats.org/officeDocument/2006/relationships/image" Target="../media/image19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png"/><Relationship Id="rId3" Type="http://schemas.openxmlformats.org/officeDocument/2006/relationships/image" Target="../media/image200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Relationship Id="rId3" Type="http://schemas.openxmlformats.org/officeDocument/2006/relationships/image" Target="../media/image206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219.png"/><Relationship Id="rId4" Type="http://schemas.openxmlformats.org/officeDocument/2006/relationships/image" Target="../media/image220.png"/><Relationship Id="rId5" Type="http://schemas.openxmlformats.org/officeDocument/2006/relationships/image" Target="../media/image221.png"/><Relationship Id="rId6" Type="http://schemas.openxmlformats.org/officeDocument/2006/relationships/image" Target="../media/image222.png"/><Relationship Id="rId7" Type="http://schemas.openxmlformats.org/officeDocument/2006/relationships/image" Target="../media/image58.png"/><Relationship Id="rId8" Type="http://schemas.openxmlformats.org/officeDocument/2006/relationships/image" Target="../media/image223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229.png"/><Relationship Id="rId4" Type="http://schemas.openxmlformats.org/officeDocument/2006/relationships/image" Target="../media/image225.png"/><Relationship Id="rId5" Type="http://schemas.openxmlformats.org/officeDocument/2006/relationships/image" Target="../media/image230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Relationship Id="rId8" Type="http://schemas.openxmlformats.org/officeDocument/2006/relationships/image" Target="../media/image231.png"/><Relationship Id="rId9" Type="http://schemas.openxmlformats.org/officeDocument/2006/relationships/image" Target="../media/image228.png"/><Relationship Id="rId10" Type="http://schemas.openxmlformats.org/officeDocument/2006/relationships/image" Target="../media/image232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png"/><Relationship Id="rId3" Type="http://schemas.openxmlformats.org/officeDocument/2006/relationships/image" Target="../media/image24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png"/><Relationship Id="rId3" Type="http://schemas.openxmlformats.org/officeDocument/2006/relationships/image" Target="../media/image253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Relationship Id="rId3" Type="http://schemas.openxmlformats.org/officeDocument/2006/relationships/image" Target="../media/image259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png"/><Relationship Id="rId3" Type="http://schemas.openxmlformats.org/officeDocument/2006/relationships/image" Target="../media/image262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Relationship Id="rId3" Type="http://schemas.openxmlformats.org/officeDocument/2006/relationships/image" Target="../media/image269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Relationship Id="rId3" Type="http://schemas.openxmlformats.org/officeDocument/2006/relationships/image" Target="../media/image272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png"/><Relationship Id="rId3" Type="http://schemas.openxmlformats.org/officeDocument/2006/relationships/image" Target="../media/image27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Relationship Id="rId3" Type="http://schemas.openxmlformats.org/officeDocument/2006/relationships/image" Target="../media/image276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png"/><Relationship Id="rId3" Type="http://schemas.openxmlformats.org/officeDocument/2006/relationships/image" Target="../media/image278.png"/><Relationship Id="rId4" Type="http://schemas.openxmlformats.org/officeDocument/2006/relationships/image" Target="../media/image279.png"/><Relationship Id="rId5" Type="http://schemas.openxmlformats.org/officeDocument/2006/relationships/image" Target="../media/image280.png"/><Relationship Id="rId6" Type="http://schemas.openxmlformats.org/officeDocument/2006/relationships/image" Target="../media/image281.png"/><Relationship Id="rId7" Type="http://schemas.openxmlformats.org/officeDocument/2006/relationships/image" Target="../media/image58.png"/><Relationship Id="rId8" Type="http://schemas.openxmlformats.org/officeDocument/2006/relationships/image" Target="../media/image282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image" Target="../media/image284.png"/><Relationship Id="rId4" Type="http://schemas.openxmlformats.org/officeDocument/2006/relationships/image" Target="../media/image285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image" Target="../media/image286.png"/><Relationship Id="rId4" Type="http://schemas.openxmlformats.org/officeDocument/2006/relationships/image" Target="../media/image284.png"/><Relationship Id="rId5" Type="http://schemas.openxmlformats.org/officeDocument/2006/relationships/image" Target="../media/image285.png"/><Relationship Id="rId6" Type="http://schemas.openxmlformats.org/officeDocument/2006/relationships/image" Target="../media/image287.png"/><Relationship Id="rId7" Type="http://schemas.openxmlformats.org/officeDocument/2006/relationships/image" Target="../media/image288.png"/><Relationship Id="rId8" Type="http://schemas.openxmlformats.org/officeDocument/2006/relationships/image" Target="../media/image289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Relationship Id="rId3" Type="http://schemas.openxmlformats.org/officeDocument/2006/relationships/image" Target="../media/image29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png"/><Relationship Id="rId3" Type="http://schemas.openxmlformats.org/officeDocument/2006/relationships/image" Target="../media/image293.png"/><Relationship Id="rId4" Type="http://schemas.openxmlformats.org/officeDocument/2006/relationships/image" Target="../media/image294.png"/><Relationship Id="rId5" Type="http://schemas.openxmlformats.org/officeDocument/2006/relationships/image" Target="../media/image295.png"/><Relationship Id="rId6" Type="http://schemas.openxmlformats.org/officeDocument/2006/relationships/image" Target="../media/image296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png"/><Relationship Id="rId3" Type="http://schemas.openxmlformats.org/officeDocument/2006/relationships/image" Target="../media/image298.png"/><Relationship Id="rId4" Type="http://schemas.openxmlformats.org/officeDocument/2006/relationships/image" Target="../media/image299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png"/><Relationship Id="rId3" Type="http://schemas.openxmlformats.org/officeDocument/2006/relationships/image" Target="../media/image301.png"/><Relationship Id="rId4" Type="http://schemas.openxmlformats.org/officeDocument/2006/relationships/image" Target="../media/image302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Relationship Id="rId3" Type="http://schemas.openxmlformats.org/officeDocument/2006/relationships/image" Target="../media/image305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png"/><Relationship Id="rId3" Type="http://schemas.openxmlformats.org/officeDocument/2006/relationships/image" Target="../media/image308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png"/><Relationship Id="rId3" Type="http://schemas.openxmlformats.org/officeDocument/2006/relationships/image" Target="../media/image31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Relationship Id="rId3" Type="http://schemas.openxmlformats.org/officeDocument/2006/relationships/image" Target="../media/image312.png"/><Relationship Id="rId4" Type="http://schemas.openxmlformats.org/officeDocument/2006/relationships/image" Target="../media/image313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4.png"/><Relationship Id="rId3" Type="http://schemas.openxmlformats.org/officeDocument/2006/relationships/image" Target="../media/image315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Relationship Id="rId3" Type="http://schemas.openxmlformats.org/officeDocument/2006/relationships/image" Target="../media/image317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1.png"/><Relationship Id="rId3" Type="http://schemas.openxmlformats.org/officeDocument/2006/relationships/image" Target="../media/image32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png"/><Relationship Id="rId3" Type="http://schemas.openxmlformats.org/officeDocument/2006/relationships/image" Target="../media/image325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png"/><Relationship Id="rId3" Type="http://schemas.openxmlformats.org/officeDocument/2006/relationships/image" Target="../media/image327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png"/><Relationship Id="rId3" Type="http://schemas.openxmlformats.org/officeDocument/2006/relationships/image" Target="../media/image329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Relationship Id="rId3" Type="http://schemas.openxmlformats.org/officeDocument/2006/relationships/image" Target="../media/image336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png"/><Relationship Id="rId3" Type="http://schemas.openxmlformats.org/officeDocument/2006/relationships/image" Target="../media/image339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png"/><Relationship Id="rId3" Type="http://schemas.openxmlformats.org/officeDocument/2006/relationships/image" Target="../media/image341.png"/><Relationship Id="rId4" Type="http://schemas.openxmlformats.org/officeDocument/2006/relationships/image" Target="../media/image34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png"/><Relationship Id="rId3" Type="http://schemas.openxmlformats.org/officeDocument/2006/relationships/image" Target="../media/image344.png"/><Relationship Id="rId4" Type="http://schemas.openxmlformats.org/officeDocument/2006/relationships/image" Target="../media/image34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png"/><Relationship Id="rId3" Type="http://schemas.openxmlformats.org/officeDocument/2006/relationships/image" Target="../media/image347.png"/><Relationship Id="rId4" Type="http://schemas.openxmlformats.org/officeDocument/2006/relationships/image" Target="../media/image348.png"/><Relationship Id="rId5" Type="http://schemas.openxmlformats.org/officeDocument/2006/relationships/image" Target="../media/image349.png"/><Relationship Id="rId6" Type="http://schemas.openxmlformats.org/officeDocument/2006/relationships/image" Target="../media/image350.png"/><Relationship Id="rId7" Type="http://schemas.openxmlformats.org/officeDocument/2006/relationships/image" Target="../media/image351.png"/><Relationship Id="rId8" Type="http://schemas.openxmlformats.org/officeDocument/2006/relationships/image" Target="../media/image352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Relationship Id="rId4" Type="http://schemas.openxmlformats.org/officeDocument/2006/relationships/image" Target="../media/image120.png"/><Relationship Id="rId5" Type="http://schemas.openxmlformats.org/officeDocument/2006/relationships/image" Target="../media/image355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Relationship Id="rId4" Type="http://schemas.openxmlformats.org/officeDocument/2006/relationships/image" Target="../media/image120.png"/><Relationship Id="rId5" Type="http://schemas.openxmlformats.org/officeDocument/2006/relationships/image" Target="../media/image355.png"/><Relationship Id="rId6" Type="http://schemas.openxmlformats.org/officeDocument/2006/relationships/image" Target="../media/image356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Relationship Id="rId3" Type="http://schemas.openxmlformats.org/officeDocument/2006/relationships/image" Target="../media/image358.png"/><Relationship Id="rId4" Type="http://schemas.openxmlformats.org/officeDocument/2006/relationships/image" Target="../media/image359.png"/><Relationship Id="rId5" Type="http://schemas.openxmlformats.org/officeDocument/2006/relationships/image" Target="../media/image360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1.png"/><Relationship Id="rId3" Type="http://schemas.openxmlformats.org/officeDocument/2006/relationships/image" Target="../media/image362.png"/><Relationship Id="rId4" Type="http://schemas.openxmlformats.org/officeDocument/2006/relationships/image" Target="../media/image363.png"/><Relationship Id="rId5" Type="http://schemas.openxmlformats.org/officeDocument/2006/relationships/image" Target="../media/image364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Relationship Id="rId3" Type="http://schemas.openxmlformats.org/officeDocument/2006/relationships/image" Target="../media/image366.png"/><Relationship Id="rId4" Type="http://schemas.openxmlformats.org/officeDocument/2006/relationships/image" Target="../media/image367.png"/><Relationship Id="rId5" Type="http://schemas.openxmlformats.org/officeDocument/2006/relationships/image" Target="../media/image36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0.png"/><Relationship Id="rId3" Type="http://schemas.openxmlformats.org/officeDocument/2006/relationships/image" Target="../media/image371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3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5.png"/><Relationship Id="rId3" Type="http://schemas.openxmlformats.org/officeDocument/2006/relationships/image" Target="../media/image376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8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0.png"/><Relationship Id="rId3" Type="http://schemas.openxmlformats.org/officeDocument/2006/relationships/image" Target="../media/image38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2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png"/><Relationship Id="rId3" Type="http://schemas.openxmlformats.org/officeDocument/2006/relationships/image" Target="../media/image384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Relationship Id="rId3" Type="http://schemas.openxmlformats.org/officeDocument/2006/relationships/image" Target="../media/image386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7.png"/><Relationship Id="rId3" Type="http://schemas.openxmlformats.org/officeDocument/2006/relationships/image" Target="../media/image388.png"/><Relationship Id="rId4" Type="http://schemas.openxmlformats.org/officeDocument/2006/relationships/image" Target="../media/image389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1.png"/><Relationship Id="rId3" Type="http://schemas.openxmlformats.org/officeDocument/2006/relationships/image" Target="../media/image392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4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6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7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8.png"/><Relationship Id="rId3" Type="http://schemas.openxmlformats.org/officeDocument/2006/relationships/image" Target="../media/image399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Relationship Id="rId3" Type="http://schemas.openxmlformats.org/officeDocument/2006/relationships/image" Target="../media/image401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Relationship Id="rId3" Type="http://schemas.openxmlformats.org/officeDocument/2006/relationships/image" Target="../media/image402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3.png"/><Relationship Id="rId3" Type="http://schemas.openxmlformats.org/officeDocument/2006/relationships/image" Target="../media/image404.png"/><Relationship Id="rId4" Type="http://schemas.openxmlformats.org/officeDocument/2006/relationships/image" Target="../media/image405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png"/><Relationship Id="rId3" Type="http://schemas.openxmlformats.org/officeDocument/2006/relationships/image" Target="../media/image407.png"/><Relationship Id="rId4" Type="http://schemas.openxmlformats.org/officeDocument/2006/relationships/image" Target="../media/image408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9.png"/><Relationship Id="rId3" Type="http://schemas.openxmlformats.org/officeDocument/2006/relationships/image" Target="../media/image410.png"/><Relationship Id="rId4" Type="http://schemas.openxmlformats.org/officeDocument/2006/relationships/image" Target="../media/image411.png"/><Relationship Id="rId5" Type="http://schemas.openxmlformats.org/officeDocument/2006/relationships/image" Target="../media/image412.png"/><Relationship Id="rId6" Type="http://schemas.openxmlformats.org/officeDocument/2006/relationships/image" Target="../media/image413.png"/><Relationship Id="rId7" Type="http://schemas.openxmlformats.org/officeDocument/2006/relationships/image" Target="../media/image58.png"/><Relationship Id="rId8" Type="http://schemas.openxmlformats.org/officeDocument/2006/relationships/image" Target="../media/image41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png"/><Relationship Id="rId3" Type="http://schemas.openxmlformats.org/officeDocument/2006/relationships/image" Target="../media/image416.png"/><Relationship Id="rId4" Type="http://schemas.openxmlformats.org/officeDocument/2006/relationships/image" Target="../media/image417.png"/><Relationship Id="rId5" Type="http://schemas.openxmlformats.org/officeDocument/2006/relationships/image" Target="../media/image251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png"/><Relationship Id="rId3" Type="http://schemas.openxmlformats.org/officeDocument/2006/relationships/image" Target="../media/image416.png"/><Relationship Id="rId4" Type="http://schemas.openxmlformats.org/officeDocument/2006/relationships/image" Target="../media/image417.png"/><Relationship Id="rId5" Type="http://schemas.openxmlformats.org/officeDocument/2006/relationships/image" Target="../media/image251.png"/><Relationship Id="rId6" Type="http://schemas.openxmlformats.org/officeDocument/2006/relationships/image" Target="../media/image418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9.png"/><Relationship Id="rId3" Type="http://schemas.openxmlformats.org/officeDocument/2006/relationships/image" Target="../media/image420.png"/><Relationship Id="rId4" Type="http://schemas.openxmlformats.org/officeDocument/2006/relationships/image" Target="../media/image421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2.png"/><Relationship Id="rId3" Type="http://schemas.openxmlformats.org/officeDocument/2006/relationships/image" Target="../media/image423.png"/><Relationship Id="rId4" Type="http://schemas.openxmlformats.org/officeDocument/2006/relationships/image" Target="../media/image424.png"/><Relationship Id="rId5" Type="http://schemas.openxmlformats.org/officeDocument/2006/relationships/image" Target="../media/image42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Relationship Id="rId3" Type="http://schemas.openxmlformats.org/officeDocument/2006/relationships/image" Target="../media/image427.png"/><Relationship Id="rId4" Type="http://schemas.openxmlformats.org/officeDocument/2006/relationships/image" Target="../media/image428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9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0.png"/><Relationship Id="rId3" Type="http://schemas.openxmlformats.org/officeDocument/2006/relationships/image" Target="../media/image431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3.png"/><Relationship Id="rId3" Type="http://schemas.openxmlformats.org/officeDocument/2006/relationships/image" Target="../media/image434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5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6.png"/><Relationship Id="rId3" Type="http://schemas.openxmlformats.org/officeDocument/2006/relationships/image" Target="../media/image437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8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9.png"/><Relationship Id="rId3" Type="http://schemas.openxmlformats.org/officeDocument/2006/relationships/image" Target="../media/image440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1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2.png"/><Relationship Id="rId3" Type="http://schemas.openxmlformats.org/officeDocument/2006/relationships/image" Target="../media/image443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4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5.png"/><Relationship Id="rId3" Type="http://schemas.openxmlformats.org/officeDocument/2006/relationships/image" Target="../media/image446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7.png"/><Relationship Id="rId3" Type="http://schemas.openxmlformats.org/officeDocument/2006/relationships/image" Target="../media/image448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7.png"/><Relationship Id="rId3" Type="http://schemas.openxmlformats.org/officeDocument/2006/relationships/image" Target="../media/image449.png"/><Relationship Id="rId4" Type="http://schemas.openxmlformats.org/officeDocument/2006/relationships/image" Target="../media/image450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1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2.png"/><Relationship Id="rId3" Type="http://schemas.openxmlformats.org/officeDocument/2006/relationships/image" Target="../media/image453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4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5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6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7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8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9.png"/><Relationship Id="rId3" Type="http://schemas.openxmlformats.org/officeDocument/2006/relationships/image" Target="../media/image460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Relationship Id="rId3" Type="http://schemas.openxmlformats.org/officeDocument/2006/relationships/image" Target="../media/image461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Relationship Id="rId3" Type="http://schemas.openxmlformats.org/officeDocument/2006/relationships/image" Target="../media/image462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3.png"/><Relationship Id="rId3" Type="http://schemas.openxmlformats.org/officeDocument/2006/relationships/image" Target="../media/image464.png"/><Relationship Id="rId4" Type="http://schemas.openxmlformats.org/officeDocument/2006/relationships/image" Target="../media/image465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6.png"/><Relationship Id="rId3" Type="http://schemas.openxmlformats.org/officeDocument/2006/relationships/image" Target="../media/image467.png"/><Relationship Id="rId4" Type="http://schemas.openxmlformats.org/officeDocument/2006/relationships/image" Target="../media/image468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9.png"/><Relationship Id="rId3" Type="http://schemas.openxmlformats.org/officeDocument/2006/relationships/image" Target="../media/image470.png"/><Relationship Id="rId4" Type="http://schemas.openxmlformats.org/officeDocument/2006/relationships/image" Target="../media/image471.png"/><Relationship Id="rId5" Type="http://schemas.openxmlformats.org/officeDocument/2006/relationships/image" Target="../media/image472.png"/><Relationship Id="rId6" Type="http://schemas.openxmlformats.org/officeDocument/2006/relationships/image" Target="../media/image473.png"/><Relationship Id="rId7" Type="http://schemas.openxmlformats.org/officeDocument/2006/relationships/image" Target="../media/image58.png"/><Relationship Id="rId8" Type="http://schemas.openxmlformats.org/officeDocument/2006/relationships/image" Target="../media/image474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5.png"/><Relationship Id="rId3" Type="http://schemas.openxmlformats.org/officeDocument/2006/relationships/image" Target="../media/image476.png"/><Relationship Id="rId4" Type="http://schemas.openxmlformats.org/officeDocument/2006/relationships/image" Target="../media/image477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5.png"/><Relationship Id="rId3" Type="http://schemas.openxmlformats.org/officeDocument/2006/relationships/image" Target="../media/image476.png"/><Relationship Id="rId4" Type="http://schemas.openxmlformats.org/officeDocument/2006/relationships/image" Target="../media/image477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8.png"/><Relationship Id="rId3" Type="http://schemas.openxmlformats.org/officeDocument/2006/relationships/image" Target="../media/image479.png"/><Relationship Id="rId4" Type="http://schemas.openxmlformats.org/officeDocument/2006/relationships/image" Target="../media/image480.png"/><Relationship Id="rId5" Type="http://schemas.openxmlformats.org/officeDocument/2006/relationships/image" Target="../media/image481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2.png"/><Relationship Id="rId3" Type="http://schemas.openxmlformats.org/officeDocument/2006/relationships/image" Target="../media/image483.png"/><Relationship Id="rId4" Type="http://schemas.openxmlformats.org/officeDocument/2006/relationships/image" Target="../media/image484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5.png"/><Relationship Id="rId3" Type="http://schemas.openxmlformats.org/officeDocument/2006/relationships/image" Target="../media/image486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7.png"/><Relationship Id="rId3" Type="http://schemas.openxmlformats.org/officeDocument/2006/relationships/image" Target="../media/image488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9.png"/><Relationship Id="rId3" Type="http://schemas.openxmlformats.org/officeDocument/2006/relationships/image" Target="../media/image490.png"/><Relationship Id="rId4" Type="http://schemas.openxmlformats.org/officeDocument/2006/relationships/image" Target="../media/image491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2.png"/><Relationship Id="rId3" Type="http://schemas.openxmlformats.org/officeDocument/2006/relationships/image" Target="../media/image493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4.png"/><Relationship Id="rId3" Type="http://schemas.openxmlformats.org/officeDocument/2006/relationships/image" Target="../media/image495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6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7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8.png"/><Relationship Id="rId3" Type="http://schemas.openxmlformats.org/officeDocument/2006/relationships/image" Target="../media/image499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0.png"/><Relationship Id="rId3" Type="http://schemas.openxmlformats.org/officeDocument/2006/relationships/image" Target="../media/image501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2.png"/><Relationship Id="rId3" Type="http://schemas.openxmlformats.org/officeDocument/2006/relationships/image" Target="../media/image503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4.png"/><Relationship Id="rId3" Type="http://schemas.openxmlformats.org/officeDocument/2006/relationships/image" Target="../media/image505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6.png"/><Relationship Id="rId3" Type="http://schemas.openxmlformats.org/officeDocument/2006/relationships/image" Target="../media/image507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8.png"/><Relationship Id="rId3" Type="http://schemas.openxmlformats.org/officeDocument/2006/relationships/image" Target="../media/image509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0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1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2.png"/><Relationship Id="rId3" Type="http://schemas.openxmlformats.org/officeDocument/2006/relationships/image" Target="../media/image513.png"/><Relationship Id="rId4" Type="http://schemas.openxmlformats.org/officeDocument/2006/relationships/image" Target="../media/image514.png"/><Relationship Id="rId5" Type="http://schemas.openxmlformats.org/officeDocument/2006/relationships/image" Target="../media/image515.png"/><Relationship Id="rId6" Type="http://schemas.openxmlformats.org/officeDocument/2006/relationships/image" Target="../media/image516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7.png"/><Relationship Id="rId3" Type="http://schemas.openxmlformats.org/officeDocument/2006/relationships/image" Target="../media/image518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7.png"/><Relationship Id="rId3" Type="http://schemas.openxmlformats.org/officeDocument/2006/relationships/image" Target="../media/image519.png"/><Relationship Id="rId4" Type="http://schemas.openxmlformats.org/officeDocument/2006/relationships/image" Target="../media/image518.png"/><Relationship Id="rId5" Type="http://schemas.openxmlformats.org/officeDocument/2006/relationships/image" Target="../media/image520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1.png"/><Relationship Id="rId3" Type="http://schemas.openxmlformats.org/officeDocument/2006/relationships/image" Target="../media/image522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3.png"/><Relationship Id="rId3" Type="http://schemas.openxmlformats.org/officeDocument/2006/relationships/image" Target="../media/image524.png"/><Relationship Id="rId4" Type="http://schemas.openxmlformats.org/officeDocument/2006/relationships/image" Target="../media/image525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6.png"/><Relationship Id="rId3" Type="http://schemas.openxmlformats.org/officeDocument/2006/relationships/image" Target="../media/image527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8.png"/><Relationship Id="rId3" Type="http://schemas.openxmlformats.org/officeDocument/2006/relationships/image" Target="../media/image529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0.png"/><Relationship Id="rId3" Type="http://schemas.openxmlformats.org/officeDocument/2006/relationships/image" Target="../media/image531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2.png"/><Relationship Id="rId3" Type="http://schemas.openxmlformats.org/officeDocument/2006/relationships/image" Target="../media/image533.png"/><Relationship Id="rId4" Type="http://schemas.openxmlformats.org/officeDocument/2006/relationships/image" Target="../media/image534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5.png"/><Relationship Id="rId3" Type="http://schemas.openxmlformats.org/officeDocument/2006/relationships/image" Target="../media/image536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7.png"/><Relationship Id="rId3" Type="http://schemas.openxmlformats.org/officeDocument/2006/relationships/image" Target="../media/image538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9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0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1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2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3.png"/><Relationship Id="rId3" Type="http://schemas.openxmlformats.org/officeDocument/2006/relationships/image" Target="../media/image544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5.png"/><Relationship Id="rId3" Type="http://schemas.openxmlformats.org/officeDocument/2006/relationships/image" Target="../media/image546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7.png"/><Relationship Id="rId3" Type="http://schemas.openxmlformats.org/officeDocument/2006/relationships/image" Target="../media/image548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9.png"/><Relationship Id="rId3" Type="http://schemas.openxmlformats.org/officeDocument/2006/relationships/image" Target="../media/image550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1.png"/><Relationship Id="rId3" Type="http://schemas.openxmlformats.org/officeDocument/2006/relationships/image" Target="../media/image552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3.png"/><Relationship Id="rId3" Type="http://schemas.openxmlformats.org/officeDocument/2006/relationships/image" Target="../media/image554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5.png"/><Relationship Id="rId3" Type="http://schemas.openxmlformats.org/officeDocument/2006/relationships/image" Target="../media/image556.png"/><Relationship Id="rId4" Type="http://schemas.openxmlformats.org/officeDocument/2006/relationships/image" Target="../media/image557.png"/><Relationship Id="rId5" Type="http://schemas.openxmlformats.org/officeDocument/2006/relationships/image" Target="../media/image558.png"/><Relationship Id="rId6" Type="http://schemas.openxmlformats.org/officeDocument/2006/relationships/image" Target="../media/image559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 i="0">
                <a:solidFill>
                  <a:srgbClr val="1A1A1A"/>
                </a:solidFill>
                <a:latin typeface="Century Schoolbook"/>
              </a:rPr>
              <a:t>Exponents and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Ten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— Exponents and Scientific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— Exponents and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3.01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Product Laws of Exponents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3.02</a:t>
            </a:r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Quotient Laws of Exponents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3.03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Exponential Expressions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72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3.04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106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3.05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Applying Exponent Laws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3.06–07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Evaluating and Equivalent Expressions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174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hlinkClick action="ppaction://hlinksldjump" r:id="rId8"/>
          </p:cNvPr>
          <p:cNvSpPr txBox="1"/>
          <p:nvPr/>
        </p:nvSpPr>
        <p:spPr>
          <a:xfrm>
            <a:off x="1143000" y="430682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T-A1</a:t>
            </a:r>
          </a:p>
        </p:txBody>
      </p: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2560320" y="430682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Exponent Laws with Variable Bases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9555480" y="430682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209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476402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hlinkClick action="ppaction://hlinksldjump" r:id="rId9"/>
          </p:cNvPr>
          <p:cNvSpPr txBox="1"/>
          <p:nvPr/>
        </p:nvSpPr>
        <p:spPr>
          <a:xfrm>
            <a:off x="1143000" y="472744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T-A2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2560320" y="472744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Negative Exponents with Variable Bases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9555480" y="472744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243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43000" y="518464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1143000" y="514807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3.08</a:t>
            </a:r>
          </a:p>
        </p:txBody>
      </p:sp>
      <p:sp>
        <p:nvSpPr>
          <p:cNvPr id="41" name="TextBox 40">
            <a:hlinkClick action="ppaction://hlinksldjump" r:id="rId10"/>
          </p:cNvPr>
          <p:cNvSpPr txBox="1"/>
          <p:nvPr/>
        </p:nvSpPr>
        <p:spPr>
          <a:xfrm>
            <a:off x="2560320" y="514807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sp>
        <p:nvSpPr>
          <p:cNvPr id="42" name="TextBox 41">
            <a:hlinkClick action="ppaction://hlinksldjump" r:id="rId10"/>
          </p:cNvPr>
          <p:cNvSpPr txBox="1"/>
          <p:nvPr/>
        </p:nvSpPr>
        <p:spPr>
          <a:xfrm>
            <a:off x="9555480" y="514807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277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43000" y="560527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hlinkClick action="ppaction://hlinksldjump" r:id="rId11"/>
          </p:cNvPr>
          <p:cNvSpPr txBox="1"/>
          <p:nvPr/>
        </p:nvSpPr>
        <p:spPr>
          <a:xfrm>
            <a:off x="1143000" y="556869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3.09</a:t>
            </a:r>
          </a:p>
        </p:txBody>
      </p:sp>
      <p:sp>
        <p:nvSpPr>
          <p:cNvPr id="45" name="TextBox 44">
            <a:hlinkClick action="ppaction://hlinksldjump" r:id="rId11"/>
          </p:cNvPr>
          <p:cNvSpPr txBox="1"/>
          <p:nvPr/>
        </p:nvSpPr>
        <p:spPr>
          <a:xfrm>
            <a:off x="2560320" y="556869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Writing Small Numbers in Scientific Notation</a:t>
            </a:r>
          </a:p>
        </p:txBody>
      </p:sp>
      <p:sp>
        <p:nvSpPr>
          <p:cNvPr id="46" name="TextBox 45">
            <a:hlinkClick action="ppaction://hlinksldjump" r:id="rId11"/>
          </p:cNvPr>
          <p:cNvSpPr txBox="1"/>
          <p:nvPr/>
        </p:nvSpPr>
        <p:spPr>
          <a:xfrm>
            <a:off x="9555480" y="556869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311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43000" y="602589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Product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product of powers, power of a product, power of a power and identity laws to rewrite and evaluate a numerical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9" name="Picture 8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464564"/>
            <a:ext cx="68884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1" name="Picture 10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077212"/>
            <a:ext cx="688848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0194" y="205282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6547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4" name="Picture 13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2778252"/>
            <a:ext cx="1402080" cy="2316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34975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6" name="Picture 15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300984"/>
            <a:ext cx="63703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9" name="Picture 8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464564"/>
            <a:ext cx="68884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95453" y="144018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2" name="Picture 11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077212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90194" y="205282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9446" y="2052828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and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6547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6" name="Picture 15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2778252"/>
            <a:ext cx="1402080" cy="2316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0088" y="266547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4975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9" name="Picture 18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300984"/>
            <a:ext cx="637032" cy="554736"/>
          </a:xfrm>
          <a:prstGeom prst="rect">
            <a:avLst/>
          </a:prstGeom>
        </p:spPr>
      </p:pic>
      <p:pic>
        <p:nvPicPr>
          <p:cNvPr id="20" name="Picture 19" descr="3a92952d92bb77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467" y="3300984"/>
            <a:ext cx="170688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is a shorthand for repeated multiplication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50392" y="197510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5740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base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number used as a factor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70662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8892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278892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exponent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how many times the base is a 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" y="343814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2043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520439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power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whole thing, base and exponent together</a:t>
            </a:r>
          </a:p>
        </p:txBody>
      </p:sp>
      <p:pic>
        <p:nvPicPr>
          <p:cNvPr id="19" name="Picture 18" descr="0ab145e8ca7379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00" y="4361688"/>
            <a:ext cx="2410968" cy="3444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86468" y="4305300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21" name="Picture 20" descr="3b6b0e0ba8659f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91" y="4187952"/>
            <a:ext cx="2548128" cy="691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Product of powers — same base, add the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79221dae3c66b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536" y="1993392"/>
            <a:ext cx="4346448" cy="411480"/>
          </a:xfrm>
          <a:prstGeom prst="rect">
            <a:avLst/>
          </a:prstGeom>
        </p:spPr>
      </p:pic>
      <p:pic>
        <p:nvPicPr>
          <p:cNvPr id="11" name="Picture 10" descr="3ebe349f0ffa36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781" y="2680716"/>
            <a:ext cx="3596640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9421" y="2656332"/>
            <a:ext cx="5356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— different bases, no shortcut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387852"/>
            <a:ext cx="34192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Product of powers:  </a:t>
            </a:r>
          </a:p>
        </p:txBody>
      </p:sp>
      <p:pic>
        <p:nvPicPr>
          <p:cNvPr id="14" name="Picture 13" descr="90652a6387118d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655" y="3462528"/>
            <a:ext cx="2313432" cy="307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055363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6" name="Picture 15" descr="381f7ba218ba42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107179"/>
            <a:ext cx="3934968" cy="353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Power of a product — the exponent goes to every factor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a972b1c36f6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11" y="1994916"/>
            <a:ext cx="8616696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702052"/>
            <a:ext cx="3530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product:  </a:t>
            </a:r>
          </a:p>
        </p:txBody>
      </p:sp>
      <p:pic>
        <p:nvPicPr>
          <p:cNvPr id="12" name="Picture 11" descr="7d1b404025905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559" y="2756916"/>
            <a:ext cx="242011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410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Works for a product only, never for a sum:</a:t>
            </a:r>
          </a:p>
        </p:txBody>
      </p:sp>
      <p:pic>
        <p:nvPicPr>
          <p:cNvPr id="14" name="Picture 13" descr="6a79f5fbe0b8b3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25468"/>
            <a:ext cx="3739896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27448" y="4101083"/>
            <a:ext cx="12086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but   </a:t>
            </a:r>
          </a:p>
        </p:txBody>
      </p:sp>
      <p:pic>
        <p:nvPicPr>
          <p:cNvPr id="16" name="Picture 15" descr="25abd5cd359cd5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891" y="4125468"/>
            <a:ext cx="28407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Power of a power, and the exponent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79" y="1993392"/>
          <a:ext cx="95097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2062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Repeated multiplication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Single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 · 3 · 3 · 3 ·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3781044"/>
            <a:ext cx="3248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 </a:t>
            </a:r>
          </a:p>
        </p:txBody>
      </p:sp>
      <p:pic>
        <p:nvPicPr>
          <p:cNvPr id="12" name="Picture 11" descr="3ba570017fc9cc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35" y="3835908"/>
            <a:ext cx="1837943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36379" y="3781044"/>
            <a:ext cx="2486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     Identity:  </a:t>
            </a:r>
          </a:p>
        </p:txBody>
      </p:sp>
      <p:pic>
        <p:nvPicPr>
          <p:cNvPr id="14" name="Picture 13" descr="61e89ca5117b4f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661" y="3838956"/>
            <a:ext cx="9753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662f7ef757f30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512" y="2136648"/>
            <a:ext cx="920495" cy="3444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1638dccdf2248b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77312" cy="347472"/>
          </a:xfrm>
          <a:prstGeom prst="rect">
            <a:avLst/>
          </a:prstGeom>
        </p:spPr>
      </p:pic>
      <p:pic>
        <p:nvPicPr>
          <p:cNvPr id="9" name="Picture 8" descr="4bce5fcbc09ba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1335024" cy="347472"/>
          </a:xfrm>
          <a:prstGeom prst="rect">
            <a:avLst/>
          </a:prstGeom>
        </p:spPr>
      </p:pic>
      <p:pic>
        <p:nvPicPr>
          <p:cNvPr id="10" name="Picture 9" descr="939d17ddf54fca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3"/>
            <a:ext cx="1810512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0dfb72a0f6508b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24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f61491015b87f3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181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111bd13923d7f5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72" y="2103120"/>
            <a:ext cx="1255776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996ff584766950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187952" cy="411480"/>
          </a:xfrm>
          <a:prstGeom prst="rect">
            <a:avLst/>
          </a:prstGeom>
        </p:spPr>
      </p:pic>
      <p:pic>
        <p:nvPicPr>
          <p:cNvPr id="9" name="Picture 8" descr="816ea1a633337a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1697736" cy="411480"/>
          </a:xfrm>
          <a:prstGeom prst="rect">
            <a:avLst/>
          </a:prstGeom>
        </p:spPr>
      </p:pic>
      <p:pic>
        <p:nvPicPr>
          <p:cNvPr id="10" name="Picture 9" descr="ed67bc8f2938c1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91840"/>
            <a:ext cx="1697736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bb2905f7bc69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94560"/>
            <a:ext cx="1554480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5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8" name="Picture 7" descr="44c6670a1f908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5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(−3)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729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7a6e349cb4210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163" y="2194560"/>
            <a:ext cx="1155192" cy="43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8" name="Picture 7" descr="c64ca1a4dc51bf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fb5a5ab64e7e78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405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rectangle is  </a:t>
            </a:r>
          </a:p>
        </p:txBody>
      </p:sp>
      <p:pic>
        <p:nvPicPr>
          <p:cNvPr id="9" name="Picture 8" descr="d5ca6e2822ee53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66" y="1941575"/>
            <a:ext cx="268224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06090" y="1851660"/>
            <a:ext cx="36999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 and  </a:t>
            </a:r>
          </a:p>
        </p:txBody>
      </p:sp>
      <p:pic>
        <p:nvPicPr>
          <p:cNvPr id="11" name="Picture 10" descr="ad43ae3bbc8b22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898" y="1943100"/>
            <a:ext cx="26822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7122" y="1851660"/>
            <a:ext cx="30237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perimeter is 40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area of the rectangle, in square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405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rectangle is  </a:t>
            </a:r>
          </a:p>
        </p:txBody>
      </p:sp>
      <p:pic>
        <p:nvPicPr>
          <p:cNvPr id="9" name="Picture 8" descr="5257a77d61b89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66" y="194310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12186" y="1851660"/>
            <a:ext cx="36999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 and  </a:t>
            </a:r>
          </a:p>
        </p:txBody>
      </p:sp>
      <p:pic>
        <p:nvPicPr>
          <p:cNvPr id="11" name="Picture 10" descr="fcc0337caf95aa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994" y="1943100"/>
            <a:ext cx="271272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6266" y="1851660"/>
            <a:ext cx="30237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perimeter is 40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area of the rectangle, in square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 square centimeters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8" name="Picture 7" descr="0682cf5d6aba1b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b6b82c3fc17cd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79" y="2103120"/>
            <a:ext cx="1280160" cy="515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d3482028085e5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35097bf00c9366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03120"/>
            <a:ext cx="954023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46595cae23e895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fba9bd10890881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98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783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fc3793d359b5c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48" y="2103120"/>
            <a:ext cx="1182624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5539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335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806ea7b0be26cf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0fac146190426f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223" y="2103120"/>
            <a:ext cx="957072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80e874aaffdac4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56" y="2194560"/>
            <a:ext cx="2502408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8" name="Picture 7" descr="5b98b742702029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1" y="2103120"/>
            <a:ext cx="2505456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8" name="Picture 7" descr="f58654af4b9460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376" y="2194560"/>
            <a:ext cx="2334768" cy="85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8" name="Picture 7" descr="a9bbd2622d9f1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103120"/>
            <a:ext cx="2331720" cy="850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64607" y="481736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08b8d08dca6c51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564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7912" y="274657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0" name="Picture 9" descr="c4163b4848547f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30" y="2769439"/>
            <a:ext cx="1938528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89558" y="274657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6388" y="265513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0" name="Picture 9" descr="45831de1d391fe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6" y="2679523"/>
            <a:ext cx="1941576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91082" y="265513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(10 + (−2))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512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31681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one power.  </a:t>
            </a:r>
          </a:p>
        </p:txBody>
      </p:sp>
      <p:pic>
        <p:nvPicPr>
          <p:cNvPr id="10" name="Picture 9" descr="6d3773d9800b92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485" y="1583436"/>
            <a:ext cx="749808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3" name="Picture 12" descr="8b7a2cb55dcba9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60" y="2180844"/>
            <a:ext cx="758952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31681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one power.  </a:t>
            </a:r>
          </a:p>
        </p:txBody>
      </p:sp>
      <p:pic>
        <p:nvPicPr>
          <p:cNvPr id="16" name="Picture 15" descr="8e2e3ba64c00d8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485" y="2744723"/>
            <a:ext cx="618744" cy="335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8123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9" name="Picture 18" descr="46f85d9f4b1916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60" y="3339083"/>
            <a:ext cx="838200" cy="335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872483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22" name="Picture 21" descr="df0ae84d8a3187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760" y="3933444"/>
            <a:ext cx="1645920" cy="335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66844"/>
            <a:ext cx="27202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25" name="Picture 24" descr="0afe177f69dd5e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11" y="4620768"/>
            <a:ext cx="155448" cy="1493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93059" y="4466844"/>
            <a:ext cx="468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  </a:t>
            </a:r>
          </a:p>
        </p:txBody>
      </p:sp>
      <p:pic>
        <p:nvPicPr>
          <p:cNvPr id="27" name="Picture 26" descr="46cee507e28ffb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4460" y="4555236"/>
            <a:ext cx="1374648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— SZQ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Multiplication with exponents — 5SK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 rule — 8DA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495544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exponents — BFA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Quotient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quotient of powers, power of a quotient and zero exponent laws to rewrite and evaluate a numerical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9" name="Picture 8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528572"/>
            <a:ext cx="74676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1" name="Picture 10" descr="38e9b447bed4dd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077212"/>
            <a:ext cx="914400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3" name="Picture 12" descr="73f8d0478760fc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2773680"/>
            <a:ext cx="1405128" cy="2407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35737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5" name="Picture 14" descr="18ea63a1522c26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084" y="3300984"/>
            <a:ext cx="880872" cy="56997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9" name="Picture 8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528572"/>
            <a:ext cx="746760" cy="280416"/>
          </a:xfrm>
          <a:prstGeom prst="rect">
            <a:avLst/>
          </a:prstGeom>
        </p:spPr>
      </p:pic>
      <p:pic>
        <p:nvPicPr>
          <p:cNvPr id="10" name="Picture 9" descr="fe5bb28ba59f7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360" y="1528572"/>
            <a:ext cx="25908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05282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38e9b447bed4dd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2077212"/>
            <a:ext cx="914400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27211" y="2052828"/>
            <a:ext cx="5756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−3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73f8d0478760fc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368" y="2773680"/>
            <a:ext cx="1405128" cy="2407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43136" y="266547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&lt;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35737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8" name="Picture 17" descr="18ea63a1522c26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084" y="3300984"/>
            <a:ext cx="880872" cy="5699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66596" y="3278124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Quotient of powers — same base, subtract the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fc742bc47e6f6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752" y="1993392"/>
            <a:ext cx="5462016" cy="813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33928"/>
            <a:ext cx="35344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Quotient of powers:  </a:t>
            </a:r>
          </a:p>
        </p:txBody>
      </p:sp>
      <p:pic>
        <p:nvPicPr>
          <p:cNvPr id="12" name="Picture 11" descr="99376a582dd722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871" y="3127248"/>
            <a:ext cx="1749552" cy="67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34423" y="3233928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4" name="Picture 13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07" y="3293364"/>
            <a:ext cx="789432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84039" y="3233928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232148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7" name="Picture 16" descr="74344545705a48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053840"/>
            <a:ext cx="3621024" cy="81381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quotient — the exponent goes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72c69fb4c92c9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1993392"/>
            <a:ext cx="635508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36976"/>
            <a:ext cx="36134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quotient:  </a:t>
            </a:r>
          </a:p>
        </p:txBody>
      </p:sp>
      <p:pic>
        <p:nvPicPr>
          <p:cNvPr id="12" name="Picture 11" descr="669ee74891112a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855" y="3124200"/>
            <a:ext cx="1691640" cy="682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55495" y="3236976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4" name="Picture 13" descr="a22d74845d9bf1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0" y="3294887"/>
            <a:ext cx="786384" cy="34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02064" y="3236976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239768"/>
            <a:ext cx="20337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Either way:  </a:t>
            </a:r>
          </a:p>
        </p:txBody>
      </p:sp>
      <p:pic>
        <p:nvPicPr>
          <p:cNvPr id="17" name="Picture 16" descr="efb58e8ff7264b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121" y="4062984"/>
            <a:ext cx="3188208" cy="810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72329" y="4239768"/>
            <a:ext cx="1265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and   </a:t>
            </a:r>
          </a:p>
        </p:txBody>
      </p:sp>
      <p:pic>
        <p:nvPicPr>
          <p:cNvPr id="19" name="Picture 18" descr="1d8df7a17576de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091" y="4264152"/>
            <a:ext cx="22311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zero exponent — two roads to the same 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60" y="1993392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3c353a5052ea2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85" y="2990088"/>
            <a:ext cx="1630680" cy="7985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48565" y="3160776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13" name="Picture 12" descr="3484dae0b8b01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543" y="2990088"/>
            <a:ext cx="2350008" cy="798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48551" y="3160776"/>
            <a:ext cx="1714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so      </a:t>
            </a:r>
          </a:p>
        </p:txBody>
      </p:sp>
      <p:pic>
        <p:nvPicPr>
          <p:cNvPr id="15" name="Picture 14" descr="7798067ac75298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186" y="3220212"/>
            <a:ext cx="917448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085843"/>
            <a:ext cx="2787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Zero exponent:  </a:t>
            </a:r>
          </a:p>
        </p:txBody>
      </p:sp>
      <p:pic>
        <p:nvPicPr>
          <p:cNvPr id="17" name="Picture 16" descr="d591c8ddcc96ae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835" y="4143755"/>
            <a:ext cx="941832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9667" y="4085843"/>
            <a:ext cx="34064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for every nonzero </a:t>
            </a:r>
          </a:p>
        </p:txBody>
      </p:sp>
      <p:pic>
        <p:nvPicPr>
          <p:cNvPr id="19" name="Picture 18" descr="c030b8e94fe02f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992" y="4223004"/>
            <a:ext cx="188976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8" name="Picture 7" descr="66659ac1f0ea04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988" y="2103120"/>
            <a:ext cx="923544" cy="947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53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8665e93b2158cd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986784" cy="944880"/>
          </a:xfrm>
          <a:prstGeom prst="rect">
            <a:avLst/>
          </a:prstGeom>
        </p:spPr>
      </p:pic>
      <p:pic>
        <p:nvPicPr>
          <p:cNvPr id="9" name="Picture 8" descr="a6bb031371915f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39440"/>
            <a:ext cx="1758696" cy="408432"/>
          </a:xfrm>
          <a:prstGeom prst="rect">
            <a:avLst/>
          </a:prstGeom>
        </p:spPr>
      </p:pic>
      <p:pic>
        <p:nvPicPr>
          <p:cNvPr id="10" name="Picture 9" descr="1a7fe49e913d88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22192"/>
            <a:ext cx="235305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2991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309fc1c6c87d6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21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18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b0a43ae0750e3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112" y="2194560"/>
            <a:ext cx="463296" cy="1018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b43cc8ad2e0ead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03120"/>
            <a:ext cx="1097280" cy="68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7ab80e4044f303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55136" cy="813816"/>
          </a:xfrm>
          <a:prstGeom prst="rect">
            <a:avLst/>
          </a:prstGeom>
        </p:spPr>
      </p:pic>
      <p:pic>
        <p:nvPicPr>
          <p:cNvPr id="9" name="Picture 8" descr="e1269a6bd04833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8376"/>
            <a:ext cx="3486912" cy="691896"/>
          </a:xfrm>
          <a:prstGeom prst="rect">
            <a:avLst/>
          </a:prstGeom>
        </p:spPr>
      </p:pic>
      <p:pic>
        <p:nvPicPr>
          <p:cNvPr id="10" name="Picture 9" descr="ac2b58a90d22f6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74592"/>
            <a:ext cx="3447288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432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0.00000016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e60d4cb6647bee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94560"/>
            <a:ext cx="966216" cy="85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509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74bc3eff5c14b1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2194560"/>
            <a:ext cx="972311" cy="856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53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7" y="46390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78fdb0141a7d8d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563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8" name="Picture 7" descr="858f7499cc3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095" y="2194560"/>
            <a:ext cx="719328" cy="1014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b0b61f7be1f45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03120"/>
            <a:ext cx="716280" cy="1018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05172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6677a7c7565446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412" y="4663440"/>
            <a:ext cx="63093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840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website puts  </a:t>
            </a:r>
          </a:p>
        </p:txBody>
      </p:sp>
      <p:pic>
        <p:nvPicPr>
          <p:cNvPr id="9" name="Picture 8" descr="138fda74184657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3" y="1938527"/>
            <a:ext cx="259080" cy="283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0453" y="1851660"/>
            <a:ext cx="44951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photos into 8 equal albums.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site is 30 days 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photos are in each album?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840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website puts  </a:t>
            </a:r>
          </a:p>
        </p:txBody>
      </p:sp>
      <p:pic>
        <p:nvPicPr>
          <p:cNvPr id="9" name="Picture 8" descr="7c23c9fd82d9d4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3" y="1940052"/>
            <a:ext cx="265176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6549" y="1851660"/>
            <a:ext cx="44951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photos into 8 equal albums.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site is 30 days 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photos are in each album?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512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8" name="Picture 7" descr="1252d608a87976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194560"/>
            <a:ext cx="1152144" cy="1197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8" name="Picture 7" descr="e97669c0d54b74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12" y="2103120"/>
            <a:ext cx="1149096" cy="1191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615f3e719211e4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94560"/>
            <a:ext cx="1331976" cy="871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260e9dabd7b640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03120"/>
            <a:ext cx="1331976" cy="871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44568" y="49331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a55647924d788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663440"/>
            <a:ext cx="1152144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b00c54b2f2476e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5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902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698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17e435e9fa7e4f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7" y="2103120"/>
            <a:ext cx="420624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ad177fa159bf9a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02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a899e53ebcbfa2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112" y="2103120"/>
            <a:ext cx="463296" cy="9997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314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7fd8a7336ddfa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088" y="2194560"/>
            <a:ext cx="847344" cy="1021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73bf2466d932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611" y="2103120"/>
            <a:ext cx="844296" cy="1018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0.125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8" name="Picture 7" descr="41e42a07b25976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94560"/>
            <a:ext cx="1240536" cy="859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8" name="Picture 7" descr="262fa269296131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03120"/>
            <a:ext cx="1240536" cy="859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338" y="2366772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9" name="Picture 8" descr="62ec99fb62ba2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24" y="2194560"/>
            <a:ext cx="1627632" cy="801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5256" y="2366772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1" name="Picture 10" descr="814e799b3c3f04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94560"/>
            <a:ext cx="1161288" cy="801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44745" y="23667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70503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290" y="2273807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9" name="Picture 8" descr="3c353a5052ea2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576" y="2103120"/>
            <a:ext cx="1630680" cy="798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5256" y="2273807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1" name="Picture 10" descr="1b1a2270832c81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03120"/>
            <a:ext cx="1164336" cy="7985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47793" y="2273807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7601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0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00995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00995"/>
            <a:ext cx="265366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Write as one power.  </a:t>
            </a:r>
          </a:p>
        </p:txBody>
      </p:sp>
      <p:pic>
        <p:nvPicPr>
          <p:cNvPr id="10" name="Picture 9" descr="902eda9aed980d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985" y="1517904"/>
            <a:ext cx="251791" cy="5438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276657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76657"/>
            <a:ext cx="214163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3" name="Picture 12" descr="50981f95c1e46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955" y="2189789"/>
            <a:ext cx="251791" cy="5514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00015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00159"/>
            <a:ext cx="214163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6" name="Picture 15" descr="406d0c52d10417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955" y="2869228"/>
            <a:ext cx="621924" cy="6395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677080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77080"/>
            <a:ext cx="857263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Rewrite so the exponent is on the numerator and on the denominator.  </a:t>
            </a:r>
          </a:p>
        </p:txBody>
      </p:sp>
      <p:pic>
        <p:nvPicPr>
          <p:cNvPr id="19" name="Picture 18" descr="7680a96943fc65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952" y="3636794"/>
            <a:ext cx="526243" cy="4582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26587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65874"/>
            <a:ext cx="214163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22" name="Picture 21" descr="bb269878437e8e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955" y="4223070"/>
            <a:ext cx="669764" cy="4632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87481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74812"/>
            <a:ext cx="228361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25" name="Picture 24" descr="0afe177f69dd5e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0937" y="5001966"/>
            <a:ext cx="128413" cy="1233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29351" y="4874812"/>
            <a:ext cx="42360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.  </a:t>
            </a:r>
          </a:p>
        </p:txBody>
      </p:sp>
      <p:pic>
        <p:nvPicPr>
          <p:cNvPr id="27" name="Picture 26" descr="e9a852f8219a3ab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5791" y="4814382"/>
            <a:ext cx="778035" cy="49854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with negative bases — WFW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Division with exponents — XNC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whole-number exponents — KBE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Exponential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apply more than one law of exponents to evaluate an expression and to write an equivalent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6667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463040"/>
            <a:ext cx="469392" cy="664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30581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1" name="Picture 10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330196"/>
            <a:ext cx="688848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08447" y="230581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1846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4" name="Picture 13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03804"/>
            <a:ext cx="1658112" cy="286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3110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6" name="Picture 15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14928"/>
            <a:ext cx="1112520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6667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463040"/>
            <a:ext cx="469392" cy="664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4126" y="1440180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0581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2" name="Picture 11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33019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8447" y="230581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9764" y="2305812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1846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6" name="Picture 15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03804"/>
            <a:ext cx="1658112" cy="2865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96120" y="2918460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3110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9" name="Picture 18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14928"/>
            <a:ext cx="1112520" cy="289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88955" y="353110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seven laws, in one place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1993392"/>
          <a:ext cx="100584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65760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Law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Product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m+n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Quotient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m-n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7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product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(−7 · 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(−7)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quotient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 ÷ 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(13 ÷ 5)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Identity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Zero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127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More than one law — make a plan, then follow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30561" y="2167128"/>
            <a:ext cx="18549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Winston:  </a:t>
            </a:r>
          </a:p>
        </p:txBody>
      </p:sp>
      <p:pic>
        <p:nvPicPr>
          <p:cNvPr id="11" name="Picture 10" descr="2d268109f28c9a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390" y="1993392"/>
            <a:ext cx="3782568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43041" y="3316224"/>
            <a:ext cx="16211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Yvette:   </a:t>
            </a:r>
          </a:p>
        </p:txBody>
      </p:sp>
      <p:pic>
        <p:nvPicPr>
          <p:cNvPr id="13" name="Picture 12" descr="20e6fc4620e3ea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022" y="3072384"/>
            <a:ext cx="4791456" cy="94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35559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plans, same value. Any correct sequence of laws gives the same answer.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Order of operations still applies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057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057400"/>
            <a:ext cx="9537192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Parentheses first — including a fraction bar, which is a pair of parentheses in disguise.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6440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264408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Exponents next — the laws of exponents are applied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99592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995928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Then multiply and divide, left to right; then add and subtract.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72744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686299"/>
            <a:ext cx="40781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Never across a + or a −:  </a:t>
            </a:r>
          </a:p>
        </p:txBody>
      </p:sp>
      <p:pic>
        <p:nvPicPr>
          <p:cNvPr id="18" name="Picture 17" descr="b0973f9ba7881b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864" y="4738115"/>
            <a:ext cx="3118104" cy="353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0968" y="4686299"/>
            <a:ext cx="10026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, not </a:t>
            </a:r>
          </a:p>
        </p:txBody>
      </p:sp>
      <p:pic>
        <p:nvPicPr>
          <p:cNvPr id="20" name="Picture 19" descr="c3382604741c4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485" y="4744211"/>
            <a:ext cx="326136" cy="34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32621" y="4686299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8" name="Picture 7" descr="9c240cefdf3b14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5" y="2103120"/>
            <a:ext cx="978408" cy="804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10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cfcc880844c57b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26664" cy="804672"/>
          </a:xfrm>
          <a:prstGeom prst="rect">
            <a:avLst/>
          </a:prstGeom>
        </p:spPr>
      </p:pic>
      <p:pic>
        <p:nvPicPr>
          <p:cNvPr id="9" name="Picture 8" descr="4c8aa7fdd39a68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3041904" cy="804672"/>
          </a:xfrm>
          <a:prstGeom prst="rect">
            <a:avLst/>
          </a:prstGeom>
        </p:spPr>
      </p:pic>
      <p:pic>
        <p:nvPicPr>
          <p:cNvPr id="10" name="Picture 9" descr="8fb9fcec01a757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981199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3400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ecdab13571b725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636" y="2194560"/>
            <a:ext cx="1222248" cy="1018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d381195bd435c1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3" y="2194560"/>
            <a:ext cx="1216152" cy="1011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094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30d1cf39c0294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2103120"/>
            <a:ext cx="2194560" cy="880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86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8f14d1bdb840e7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404360" cy="880872"/>
          </a:xfrm>
          <a:prstGeom prst="rect">
            <a:avLst/>
          </a:prstGeom>
        </p:spPr>
      </p:pic>
      <p:pic>
        <p:nvPicPr>
          <p:cNvPr id="9" name="Picture 8" descr="d8954ab13f1548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75432"/>
            <a:ext cx="2798064" cy="701040"/>
          </a:xfrm>
          <a:prstGeom prst="rect">
            <a:avLst/>
          </a:prstGeom>
        </p:spPr>
      </p:pic>
      <p:pic>
        <p:nvPicPr>
          <p:cNvPr id="10" name="Picture 9" descr="c6322a59797434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0791"/>
            <a:ext cx="250850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9194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10,000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274e6fec14c7e7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5" y="2194560"/>
            <a:ext cx="2151888" cy="109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886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e1a3a8f726b8bf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64" y="2194560"/>
            <a:ext cx="2145792" cy="109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886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95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warehouse holds  </a:t>
            </a:r>
          </a:p>
        </p:txBody>
      </p:sp>
      <p:pic>
        <p:nvPicPr>
          <p:cNvPr id="9" name="Picture 8" descr="ef1987aeb6be68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948" y="1938527"/>
            <a:ext cx="268224" cy="283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1172" y="1851660"/>
            <a:ext cx="17698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boxes in  </a:t>
            </a:r>
          </a:p>
        </p:txBody>
      </p:sp>
      <p:pic>
        <p:nvPicPr>
          <p:cNvPr id="11" name="Picture 10" descr="bd667566e598f5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812" y="1940052"/>
            <a:ext cx="26822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62036" y="1851660"/>
            <a:ext cx="2079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equal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Each box weighs 3 kilograms.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boxes are in each row?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95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warehouse holds  </a:t>
            </a:r>
          </a:p>
        </p:txBody>
      </p:sp>
      <p:pic>
        <p:nvPicPr>
          <p:cNvPr id="9" name="Picture 8" descr="08d825ede09be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948" y="1940052"/>
            <a:ext cx="271272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4220" y="1851660"/>
            <a:ext cx="17698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boxes in  </a:t>
            </a:r>
          </a:p>
        </p:txBody>
      </p:sp>
      <p:pic>
        <p:nvPicPr>
          <p:cNvPr id="11" name="Picture 10" descr="e32dba3262b932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860" y="1940052"/>
            <a:ext cx="26822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65084" y="1851660"/>
            <a:ext cx="2079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equal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Each box weighs 3 kilograms.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boxes are in each row?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8" name="Picture 7" descr="eca797d063644f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40" y="2194560"/>
            <a:ext cx="1691640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8" name="Picture 7" descr="3af1907ef808e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415" y="2103120"/>
            <a:ext cx="1694688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8" name="Picture 7" descr="32948134bf5e3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8" name="Picture 7" descr="7bfc7057b3b2cf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103120"/>
            <a:ext cx="1389888" cy="1185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0.0625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5b85e638d34eb1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94560"/>
            <a:ext cx="1600200" cy="1014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e041e4b255d1e3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03120"/>
            <a:ext cx="1600200" cy="1018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6.25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85a5d92abe26b9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194560"/>
            <a:ext cx="2148840" cy="1100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234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c78ed1ad0d5ded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87" y="2103120"/>
            <a:ext cx="2142744" cy="1094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36dd69d05a8fa1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94560"/>
            <a:ext cx="201168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290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916206a62c8d46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03120"/>
            <a:ext cx="201168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37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0.1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0.1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1564dccdbc1be4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224" y="2194560"/>
            <a:ext cx="2481072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51f9e7dda47d9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699" y="2103120"/>
            <a:ext cx="2484120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8" name="Picture 7" descr="a2077b17c7711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8" name="Picture 7" descr="c2f375830fedea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5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76" y="2369820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9" name="Picture 8" descr="8510a940fc605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616" y="2194560"/>
            <a:ext cx="2185416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3032" y="2369820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1" name="Picture 10" descr="895c1949fc6ae6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775" y="2194560"/>
            <a:ext cx="1932432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14207" y="23698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8400" y="2276856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9" name="Picture 8" descr="7499f9d1d2ab2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140" y="2103120"/>
            <a:ext cx="2188464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7604" y="2276856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1" name="Picture 10" descr="dc00211af1d70f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347" y="2103120"/>
            <a:ext cx="1926335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12683" y="2276856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8211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give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1696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16964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0" name="Picture 9" descr="c3712374923f97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760" y="1517904"/>
            <a:ext cx="795528" cy="655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3332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3244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3" name="Picture 12" descr="838223a6e608c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60" y="2394204"/>
            <a:ext cx="110947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0571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57144"/>
            <a:ext cx="31681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one power.  </a:t>
            </a:r>
          </a:p>
        </p:txBody>
      </p:sp>
      <p:pic>
        <p:nvPicPr>
          <p:cNvPr id="16" name="Picture 15" descr="c3aa4635365ee7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485" y="2950464"/>
            <a:ext cx="801624" cy="670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7810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81044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9" name="Picture 18" descr="f06c6a4d76a6bc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60" y="3842004"/>
            <a:ext cx="1612392" cy="335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55676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56760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22" name="Picture 21" descr="b0ae21ade1d55a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760" y="4398264"/>
            <a:ext cx="1688592" cy="7741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545896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58968"/>
            <a:ext cx="18414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Show that  </a:t>
            </a:r>
          </a:p>
        </p:txBody>
      </p:sp>
      <p:pic>
        <p:nvPicPr>
          <p:cNvPr id="25" name="Picture 24" descr="e88c5dabf2ca65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8795" y="5355336"/>
            <a:ext cx="975360" cy="6644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34155" y="5458968"/>
            <a:ext cx="10937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27" name="Picture 26" descr="f77131d9c4c010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0750" y="5355336"/>
            <a:ext cx="469392" cy="6644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60142" y="5458968"/>
            <a:ext cx="3372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have the same value.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ZE9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power with a negative exponent using a positive exponent, and evaluate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6667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463040"/>
            <a:ext cx="795528" cy="664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30581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1" name="Picture 10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330196"/>
            <a:ext cx="688848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81771" y="230581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1846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4" name="Picture 13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31236"/>
            <a:ext cx="1136904" cy="2316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60273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16" name="Picture 15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553968"/>
            <a:ext cx="170688" cy="5547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013" y="360273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18" name="Picture 17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553968"/>
            <a:ext cx="170688" cy="5547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30930" y="360273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6667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463040"/>
            <a:ext cx="795528" cy="664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0262" y="1440180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0581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2" name="Picture 11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33019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1771" y="230581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5878" y="2305812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1846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6" name="Picture 15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31236"/>
            <a:ext cx="1136904" cy="2316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74912" y="2918460"/>
            <a:ext cx="11302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−7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60273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19" name="Picture 18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553968"/>
            <a:ext cx="170688" cy="5547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013" y="360273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21" name="Picture 20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553968"/>
            <a:ext cx="170688" cy="5547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30930" y="360273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3" name="Picture 22" descr="c947c2e93b2d3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154424"/>
            <a:ext cx="170688" cy="5547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776728" y="4203192"/>
            <a:ext cx="1173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 and  </a:t>
            </a:r>
          </a:p>
        </p:txBody>
      </p:sp>
      <p:pic>
        <p:nvPicPr>
          <p:cNvPr id="25" name="Picture 24" descr="a339c6c78254d9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149" y="4154424"/>
            <a:ext cx="37795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keeps going past zero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93392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1375e471a1972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60" y="2990088"/>
            <a:ext cx="1316736" cy="734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18696" y="3128772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3" name="Picture 12" descr="e662eafaba09aa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0" y="2990088"/>
            <a:ext cx="1969008" cy="734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39128" y="3128772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5" name="Picture 14" descr="97a68c5b0d6f07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551" y="2990088"/>
            <a:ext cx="1969008" cy="734568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The negative exponent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b26dd1c4f061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725" y="1993392"/>
            <a:ext cx="136245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0181" y="21015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d3322f317e3cda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173" y="1993392"/>
            <a:ext cx="1395984" cy="67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12157" y="2101596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4" name="Picture 13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679" y="2161032"/>
            <a:ext cx="789432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64111" y="2101596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6" name="Picture 15" descr="01a1e8399ce2f9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114" y="2941320"/>
            <a:ext cx="2170176" cy="7406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67290" y="3083052"/>
            <a:ext cx="19223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but      </a:t>
            </a:r>
          </a:p>
        </p:txBody>
      </p:sp>
      <p:pic>
        <p:nvPicPr>
          <p:cNvPr id="18" name="Picture 17" descr="4d0780cba10826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483" y="3140964"/>
            <a:ext cx="1682496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4979" y="3083052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20" name="Picture 19" descr="06d6b57bc03862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957" y="3108960"/>
            <a:ext cx="1679448" cy="4053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7552" y="40203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means reciprocal. It never means a negative value.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908804"/>
            <a:ext cx="44334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base keeps its own sign:  </a:t>
            </a:r>
          </a:p>
        </p:txBody>
      </p:sp>
      <p:pic>
        <p:nvPicPr>
          <p:cNvPr id="23" name="Picture 22" descr="6487353c74996e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880" y="4733544"/>
            <a:ext cx="4267200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still work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f5217f7eb4021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219" y="1993392"/>
            <a:ext cx="4831080" cy="752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38293" y="2997708"/>
            <a:ext cx="11244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or      </a:t>
            </a:r>
          </a:p>
        </p:txBody>
      </p:sp>
      <p:pic>
        <p:nvPicPr>
          <p:cNvPr id="12" name="Picture 11" descr="9ad19008f4436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46" y="3052572"/>
            <a:ext cx="4297680" cy="347472"/>
          </a:xfrm>
          <a:prstGeom prst="rect">
            <a:avLst/>
          </a:prstGeom>
        </p:spPr>
      </p:pic>
      <p:pic>
        <p:nvPicPr>
          <p:cNvPr id="13" name="Picture 12" descr="986b589c42d285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955" y="3706368"/>
            <a:ext cx="3721608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6765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Add, subtract and multiply exponents exactly as before — the exponents are just integers now.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8" name="Picture 7" descr="55e053ce9247b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16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229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86e883f301281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380744" cy="816864"/>
          </a:xfrm>
          <a:prstGeom prst="rect">
            <a:avLst/>
          </a:prstGeom>
        </p:spPr>
      </p:pic>
      <p:pic>
        <p:nvPicPr>
          <p:cNvPr id="9" name="Picture 8" descr="bdb5dbd5190fc4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2764536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81/8 = 10.125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04c00c9d3a9d2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1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18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395fcf61f0d867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94560"/>
            <a:ext cx="704088" cy="1014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1246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464515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f8b652a33b6da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480560"/>
            <a:ext cx="259080" cy="877824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4ffd0e25f89e0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0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8b0ea9280595c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9128" cy="804672"/>
          </a:xfrm>
          <a:prstGeom prst="rect">
            <a:avLst/>
          </a:prstGeom>
        </p:spPr>
      </p:pic>
      <p:pic>
        <p:nvPicPr>
          <p:cNvPr id="9" name="Picture 8" descr="a0522eb547e4ba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2368296" cy="804672"/>
          </a:xfrm>
          <a:prstGeom prst="rect">
            <a:avLst/>
          </a:prstGeom>
        </p:spPr>
      </p:pic>
      <p:pic>
        <p:nvPicPr>
          <p:cNvPr id="10" name="Picture 9" descr="f5e46e308b616f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53009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828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2,401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3d867da857833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94560"/>
            <a:ext cx="1395984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886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bd647a6f29dfd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88315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0513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8" name="Picture 7" descr="2d36713d8b0595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194560"/>
            <a:ext cx="630936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745cde1f9722bf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243" y="2103120"/>
            <a:ext cx="637032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746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ae3379378f6437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sheet of paper 30 centimeters long is folded in half 7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Each fold makes the top layer half as big.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whole sheet is the top layer after 7 folds?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sheet of paper 30 centimeters long is folded in half 7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Each fold makes the top layer half as big.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whole sheet is the top layer after 7 folds?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8116" y="48188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b025bbe2352d1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356" y="4663440"/>
            <a:ext cx="7650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8" name="Picture 7" descr="229e5926a19b9f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76" y="2194560"/>
            <a:ext cx="963167" cy="9326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8" name="Picture 7" descr="8f039f3016127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699" y="2103120"/>
            <a:ext cx="960120" cy="9326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100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c242b51e1e2a0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94560"/>
            <a:ext cx="131978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79a5e9e1457730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515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32603" y="48188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ec4ffcbfe2b298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44" y="4663440"/>
            <a:ext cx="576072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2f69500044ec6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5" y="2194560"/>
            <a:ext cx="658368" cy="43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39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0b09890174e136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52" y="2103120"/>
            <a:ext cx="661416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1/25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9e50adf1c8369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94560"/>
            <a:ext cx="1399032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c950f888df2a10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03120"/>
            <a:ext cx="1399032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6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e37e6585587b7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94560"/>
            <a:ext cx="1411224" cy="43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3a37a698b11c2b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03120"/>
            <a:ext cx="1411224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8" name="Picture 7" descr="d5e2dc9bfa32d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7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8" name="Picture 7" descr="4d44fa8d60938d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03120"/>
            <a:ext cx="704088" cy="1027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7468" y="486003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f17cb56101b516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1600" y="217170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9" name="Picture 8" descr="b9af177cb680bc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7" y="2229612"/>
            <a:ext cx="527304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76631" y="217170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0076" y="208026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9" name="Picture 8" descr="04a54a40cd0eb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03" y="2138171"/>
            <a:ext cx="530352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78155" y="208026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1/25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75817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Rewrite with a positive exponent. Do not evaluate.  </a:t>
            </a:r>
          </a:p>
        </p:txBody>
      </p:sp>
      <p:pic>
        <p:nvPicPr>
          <p:cNvPr id="10" name="Picture 9" descr="461f8cd1ec532b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023" y="1583436"/>
            <a:ext cx="42672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3" name="Picture 12" descr="dfc1ef4164404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60" y="2176271"/>
            <a:ext cx="42367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6" name="Picture 15" descr="e54deab6934343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760" y="2744723"/>
            <a:ext cx="868680" cy="335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37565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75659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9" name="Picture 18" descr="15c9666cbba8ef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60" y="3300983"/>
            <a:ext cx="627888" cy="6065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06755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67555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22" name="Picture 21" descr="cf4e0187a56e96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760" y="4155947"/>
            <a:ext cx="911352" cy="2804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73506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35067"/>
            <a:ext cx="27202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25" name="Picture 24" descr="0afe177f69dd5e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11" y="4888992"/>
            <a:ext cx="155448" cy="1493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93059" y="4735067"/>
            <a:ext cx="468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  </a:t>
            </a:r>
          </a:p>
        </p:txBody>
      </p:sp>
      <p:pic>
        <p:nvPicPr>
          <p:cNvPr id="27" name="Picture 26" descr="cd419a222e900c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4460" y="4684776"/>
            <a:ext cx="947928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negative exponents — YBB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with negative exponents — WGS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Applying Exponent Laws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rational base with a negative exponent using a positive exponent, and apply several laws to generate an equivalent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531620"/>
            <a:ext cx="417576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4884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1" name="Picture 10" descr="82be0161615a5d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558" y="2075688"/>
            <a:ext cx="463296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85750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3" name="Picture 12" descr="5fa67493f2d0b1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30" y="2948940"/>
            <a:ext cx="265176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68106" y="285750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5" name="Picture 14" descr="cd79bb74d01bc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697" y="2944368"/>
            <a:ext cx="265176" cy="283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70873" y="285750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4330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18" name="Picture 17" descr="e5446a4e89f9a3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467" y="349300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531620"/>
            <a:ext cx="417576" cy="274320"/>
          </a:xfrm>
          <a:prstGeom prst="rect">
            <a:avLst/>
          </a:prstGeom>
        </p:spPr>
      </p:pic>
      <p:pic>
        <p:nvPicPr>
          <p:cNvPr id="10" name="Picture 9" descr="0f45754c5988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310" y="1463040"/>
            <a:ext cx="170688" cy="554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14884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2" name="Picture 11" descr="82be0161615a5d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58" y="2075688"/>
            <a:ext cx="463296" cy="603504"/>
          </a:xfrm>
          <a:prstGeom prst="rect">
            <a:avLst/>
          </a:prstGeom>
        </p:spPr>
      </p:pic>
      <p:pic>
        <p:nvPicPr>
          <p:cNvPr id="13" name="Picture 12" descr="b031d4b8beeb84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494" y="2142744"/>
            <a:ext cx="271272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285750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5" name="Picture 14" descr="5fa67493f2d0b1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930" y="2948940"/>
            <a:ext cx="265176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68106" y="285750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7" name="Picture 16" descr="cd79bb74d01bc9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697" y="2944368"/>
            <a:ext cx="265176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873" y="285750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19" name="Picture 18" descr="0663332b63521a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125" y="2944368"/>
            <a:ext cx="265176" cy="2834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95301" y="2857500"/>
            <a:ext cx="16163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(81 &gt; 64)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54330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22" name="Picture 21" descr="e5446a4e89f9a3a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1467" y="3493008"/>
            <a:ext cx="377952" cy="557784"/>
          </a:xfrm>
          <a:prstGeom prst="rect">
            <a:avLst/>
          </a:prstGeom>
        </p:spPr>
      </p:pic>
      <p:pic>
        <p:nvPicPr>
          <p:cNvPr id="23" name="Picture 22" descr="84c4e182280519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059" y="349300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with a fraction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651760" y="1993392"/>
          <a:ext cx="68580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3774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Expression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Expanded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 · 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4/25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 · 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25/4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Flip the base, make the exponent positive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05dd24fbf391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785" y="1993392"/>
            <a:ext cx="2133600" cy="691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5385" y="2110740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2" name="Picture 11" descr="2e707716356433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907" y="2168652"/>
            <a:ext cx="1152144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10051" y="2110740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4" name="Picture 13" descr="33556cc2e8273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588" y="2959608"/>
            <a:ext cx="3075432" cy="697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01020" y="3080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6" name="Picture 15" descr="7adc35e6f9ec4d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011" y="2964180"/>
            <a:ext cx="2788920" cy="6888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399592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sign stays with the fraction. Flip the numbers, not the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818888"/>
            <a:ext cx="55453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 whole number is a fraction over 1:  </a:t>
            </a:r>
          </a:p>
        </p:txBody>
      </p:sp>
      <p:pic>
        <p:nvPicPr>
          <p:cNvPr id="19" name="Picture 18" descr="dee9fbc307a9f9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757" y="4709159"/>
            <a:ext cx="323088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Several laws at once — the plan is still yours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390af24b50c4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63" y="1993392"/>
            <a:ext cx="8013192" cy="816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4858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Any correct order of laws gives the same value. Finish with a positive exponent.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8" name="Picture 7" descr="9ed1bed15013a3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676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8e941bf8846b5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98064" cy="691896"/>
          </a:xfrm>
          <a:prstGeom prst="rect">
            <a:avLst/>
          </a:prstGeom>
        </p:spPr>
      </p:pic>
      <p:pic>
        <p:nvPicPr>
          <p:cNvPr id="9" name="Picture 8" descr="b75e3c313a78d6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1889760" cy="697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64/49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a7f1f688f77ec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948" y="2194560"/>
            <a:ext cx="1563624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60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055ea4267017c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424" y="2194560"/>
            <a:ext cx="1566672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60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a positive exponent,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8095" y="464210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cacffea294d431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35" y="4480560"/>
            <a:ext cx="1085088" cy="871728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b8ecac4debf086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20" y="2103120"/>
            <a:ext cx="2087880" cy="691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97936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10be869d41e0d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239512" cy="694944"/>
          </a:xfrm>
          <a:prstGeom prst="rect">
            <a:avLst/>
          </a:prstGeom>
        </p:spPr>
      </p:pic>
      <p:pic>
        <p:nvPicPr>
          <p:cNvPr id="9" name="Picture 8" descr="268771bcd93959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9504"/>
            <a:ext cx="1621536" cy="694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25/64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a7f97d6945899e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194560"/>
            <a:ext cx="3529584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60064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40cdd198e50607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94560"/>
            <a:ext cx="3532632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60064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one base and a positive exponent.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4735" y="486838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3269d301dd5e8a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76" y="4711412"/>
            <a:ext cx="1511808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21764"/>
            <a:ext cx="53577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copier is set to shrink a page to  </a:t>
            </a:r>
          </a:p>
        </p:txBody>
      </p:sp>
      <p:pic>
        <p:nvPicPr>
          <p:cNvPr id="9" name="Picture 8" descr="e8022fa09c25c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019" y="1874519"/>
            <a:ext cx="170688" cy="551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5707" y="1921764"/>
            <a:ext cx="18738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of its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2737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page 6 inches wide is copied 4 times in a row, each copy from the last.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9584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original page's size is the last copy?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23287"/>
            <a:ext cx="53577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copier is set to shrink a page to  </a:t>
            </a:r>
          </a:p>
        </p:txBody>
      </p:sp>
      <p:pic>
        <p:nvPicPr>
          <p:cNvPr id="9" name="Picture 8" descr="024e90b41a6caf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019" y="1874519"/>
            <a:ext cx="164592" cy="5547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19611" y="1923287"/>
            <a:ext cx="18738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of its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30424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page 6 inches wide is copied 4 times in a row, each copy from the last.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98892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original page's size is the last copy?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7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4" name="Picture 13" descr="7dd35ac51a0ee4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8" name="Picture 7" descr="23a87bc643d7e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52" y="2194560"/>
            <a:ext cx="1575816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8" name="Picture 7" descr="7b4aab4c0a6cc8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328" y="2103120"/>
            <a:ext cx="1578864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54651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837676bd53bd7e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91" y="4663440"/>
            <a:ext cx="1331976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8" name="Picture 7" descr="c08fd56f1b4e34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94560"/>
            <a:ext cx="1584960" cy="871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8" name="Picture 7" descr="bc194338a8886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03120"/>
            <a:ext cx="158496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64607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3148abf2051aaa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c2285e954aff8d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15" y="2194560"/>
            <a:ext cx="1466088" cy="85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bf10b2e2dc356d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03120"/>
            <a:ext cx="1463040" cy="850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09516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c2c7971114380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56" y="4663440"/>
            <a:ext cx="1222248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fb95563de51335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85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de3072ed6d5fe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471" y="2103120"/>
            <a:ext cx="1560576" cy="85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85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(−8/7)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431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(−8/7)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e9242358ed1b2b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94560"/>
            <a:ext cx="3002280" cy="871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948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528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77243053f2f7c3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03120"/>
            <a:ext cx="3002280" cy="871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034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(5/8)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614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983316d8a340e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94560"/>
            <a:ext cx="2575560" cy="877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cccf2e6aacb49b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5" y="2103120"/>
            <a:ext cx="2578608" cy="877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64607" y="482041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c37c2f03a9ba86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8" name="Picture 7" descr="c18abdc6135b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2194560"/>
            <a:ext cx="3188208" cy="856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8" name="Picture 7" descr="7d2314fb4fc511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607" y="2103120"/>
            <a:ext cx="3194304" cy="859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3296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2e17728107926c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9" y="4663440"/>
            <a:ext cx="97536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3551" y="2304288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9" name="Picture 8" descr="bcbcbf803cfe7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53" y="2194560"/>
            <a:ext cx="1246632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65185" y="2304288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1" name="Picture 10" descr="9b43b28c955127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776" y="2194560"/>
            <a:ext cx="774192" cy="676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8979" y="2215896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9" name="Picture 8" descr="61e0767165f6b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981" y="2103120"/>
            <a:ext cx="1252728" cy="6827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66709" y="2215896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1" name="Picture 10" descr="5c0a9d4ef3b8e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300" y="2103120"/>
            <a:ext cx="777240" cy="682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0601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(−2/3)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(−3/2)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6819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68195"/>
            <a:ext cx="51669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Rewrite with a positive exponent.  </a:t>
            </a:r>
          </a:p>
        </p:txBody>
      </p:sp>
      <p:pic>
        <p:nvPicPr>
          <p:cNvPr id="10" name="Picture 9" descr="b9b133d5c474e0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224" y="1517904"/>
            <a:ext cx="798576" cy="5577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3103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10383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3" name="Picture 12" descr="3fba44314d6758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60" y="2258568"/>
            <a:ext cx="801624" cy="5608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06019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60192"/>
            <a:ext cx="51669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Rewrite with a positive exponent.  </a:t>
            </a:r>
          </a:p>
        </p:txBody>
      </p:sp>
      <p:pic>
        <p:nvPicPr>
          <p:cNvPr id="16" name="Picture 15" descr="1d4029ad0054a1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224" y="3002280"/>
            <a:ext cx="1021080" cy="5730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8039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3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9" name="Picture 18" descr="8b0a8d12009284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60" y="3758183"/>
            <a:ext cx="795528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53847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38472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22" name="Picture 21" descr="be7b6b1f4326d3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760" y="4489703"/>
            <a:ext cx="1676400" cy="5547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52745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74563"/>
            <a:ext cx="27202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25" name="Picture 24" descr="0afe177f69dd5e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11" y="5428487"/>
            <a:ext cx="155448" cy="1493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93059" y="5274563"/>
            <a:ext cx="468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  </a:t>
            </a:r>
          </a:p>
        </p:txBody>
      </p:sp>
      <p:pic>
        <p:nvPicPr>
          <p:cNvPr id="27" name="Picture 26" descr="1915fd5a078944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4460" y="5227319"/>
            <a:ext cx="1645920" cy="551688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 — VLM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and Equivalent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with integer exponents using the laws, and decide whether two expressions with different bases are equivalent.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1180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9" name="Picture 8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463040"/>
            <a:ext cx="795528" cy="5547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29362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1" name="Picture 10" descr="a4522c3024ca65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218944"/>
            <a:ext cx="463296" cy="60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13182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574a5d3a612aa1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26664"/>
            <a:ext cx="469392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872484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1180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9" name="Picture 8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463040"/>
            <a:ext cx="795528" cy="554736"/>
          </a:xfrm>
          <a:prstGeom prst="rect">
            <a:avLst/>
          </a:prstGeom>
        </p:spPr>
      </p:pic>
      <p:pic>
        <p:nvPicPr>
          <p:cNvPr id="10" name="Picture 9" descr="b2f9cb953a93e9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063496"/>
            <a:ext cx="1152144" cy="5577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89712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a4522c3024ca65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2822448"/>
            <a:ext cx="463296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4235" y="279958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3532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574a5d3a612aa1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299" y="3630168"/>
            <a:ext cx="469392" cy="667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20331" y="3607308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475988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  <p:pic>
        <p:nvPicPr>
          <p:cNvPr id="18" name="Picture 17" descr="b2c477a7a0fb52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654" y="4567428"/>
            <a:ext cx="268224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97878" y="4475988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0" name="Picture 19" descr="555a2ab77fff0f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4" y="4567428"/>
            <a:ext cx="265176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00030" y="4475988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2" name="Picture 21" descr="f2c3dde86c5203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005" y="4564380"/>
            <a:ext cx="259080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Two students, two plans, one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2836" y="2144268"/>
            <a:ext cx="18116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Melanie:  </a:t>
            </a:r>
          </a:p>
        </p:txBody>
      </p:sp>
      <p:pic>
        <p:nvPicPr>
          <p:cNvPr id="11" name="Picture 10" descr="071da3cb12a3a9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283" y="1993392"/>
            <a:ext cx="3581400" cy="758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90638" y="3346704"/>
            <a:ext cx="17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Adonis:   </a:t>
            </a:r>
          </a:p>
        </p:txBody>
      </p:sp>
      <p:pic>
        <p:nvPicPr>
          <p:cNvPr id="13" name="Picture 12" descr="76734bcd012bfd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65" y="3026664"/>
            <a:ext cx="5004816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4622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laws first, evaluate last. The value is the same; the arithmetic is smaller.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Every law, one expression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59ee1a209667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28" y="1993392"/>
            <a:ext cx="5388864" cy="880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1259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Find the step that broke:</a:t>
            </a:r>
          </a:p>
        </p:txBody>
      </p:sp>
      <p:pic>
        <p:nvPicPr>
          <p:cNvPr id="12" name="Picture 11" descr="6c3d06b279be60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925823"/>
            <a:ext cx="3535680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3232" y="4040123"/>
            <a:ext cx="4614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multiplied; should be </a:t>
            </a:r>
          </a:p>
        </p:txBody>
      </p:sp>
      <p:pic>
        <p:nvPicPr>
          <p:cNvPr id="14" name="Picture 13" descr="e9e6240f6a5ac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245" y="3925823"/>
            <a:ext cx="792480" cy="685800"/>
          </a:xfrm>
          <a:prstGeom prst="rect">
            <a:avLst/>
          </a:prstGeom>
        </p:spPr>
      </p:pic>
      <p:pic>
        <p:nvPicPr>
          <p:cNvPr id="15" name="Picture 14" descr="b45588bb7e9f07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867656"/>
            <a:ext cx="1965960" cy="804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53512" y="5041392"/>
            <a:ext cx="6270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flipped, kept the minus; should be </a:t>
            </a:r>
          </a:p>
        </p:txBody>
      </p:sp>
      <p:pic>
        <p:nvPicPr>
          <p:cNvPr id="17" name="Picture 16" descr="d631bf12f968ff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772" y="4928616"/>
            <a:ext cx="777240" cy="682752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bases, same value — rewrite to a common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77439" y="1993392"/>
          <a:ext cx="74066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Square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Cube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Fourth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c34f90c6fc7d4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96" y="3758184"/>
            <a:ext cx="242316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056" y="373532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3" name="Picture 12" descr="9053d689824c5c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79" y="3758184"/>
            <a:ext cx="2295144" cy="411480"/>
          </a:xfrm>
          <a:prstGeom prst="rect">
            <a:avLst/>
          </a:prstGeom>
        </p:spPr>
      </p:pic>
      <p:pic>
        <p:nvPicPr>
          <p:cNvPr id="14" name="Picture 13" descr="a561d3e29393bc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4443984"/>
            <a:ext cx="487375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Testing equivalence: Xavier's claim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fba7ecf87f384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84" y="1993392"/>
            <a:ext cx="4294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4716" y="210312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505da5ea0c261b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707" y="1993392"/>
            <a:ext cx="43007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00837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Same base, then compare exponents.</a:t>
            </a:r>
          </a:p>
        </p:txBody>
      </p:sp>
      <p:pic>
        <p:nvPicPr>
          <p:cNvPr id="14" name="Picture 13" descr="5954d94571e7e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726179"/>
            <a:ext cx="1487424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74976" y="3698747"/>
            <a:ext cx="34041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— so Xavier is wrong.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2d16e4daaa9b6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23" y="2103120"/>
            <a:ext cx="1414272" cy="676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1ca1397ffa03d4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12008" cy="688848"/>
          </a:xfrm>
          <a:prstGeom prst="rect">
            <a:avLst/>
          </a:prstGeom>
        </p:spPr>
      </p:pic>
      <p:pic>
        <p:nvPicPr>
          <p:cNvPr id="9" name="Picture 8" descr="f25419565ed35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3408"/>
            <a:ext cx="1697736" cy="697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16/3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b5586861463d6b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194560"/>
            <a:ext cx="1792224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60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4ba5d3554b7f4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2194560"/>
            <a:ext cx="1798320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60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7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3a56cc9ab8e3bb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6109" y="2313432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9" name="Picture 8" descr="67df2d652c1a7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54" y="2369819"/>
            <a:ext cx="920495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27450" y="2313432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69969edd9de468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156" y="2103120"/>
            <a:ext cx="1082040" cy="8778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81196" y="2313432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838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both with the bases 3 and 2, then compare.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9dc7ad07cd91fb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67200" cy="347472"/>
          </a:xfrm>
          <a:prstGeom prst="rect">
            <a:avLst/>
          </a:prstGeom>
        </p:spPr>
      </p:pic>
      <p:pic>
        <p:nvPicPr>
          <p:cNvPr id="9" name="Picture 8" descr="77d3b6258368a7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3883152" cy="874776"/>
          </a:xfrm>
          <a:prstGeom prst="rect">
            <a:avLst/>
          </a:prstGeom>
        </p:spPr>
      </p:pic>
      <p:pic>
        <p:nvPicPr>
          <p:cNvPr id="10" name="Picture 9" descr="4af5e130ae69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91127"/>
            <a:ext cx="229514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are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1944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6633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9" name="Picture 8" descr="9b99919743149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478" y="2528315"/>
            <a:ext cx="1411224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8702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e566d1e7830f89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408" y="2194560"/>
            <a:ext cx="1350264" cy="1100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672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8157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9" name="Picture 8" descr="7788e03876974c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02" y="2529840"/>
            <a:ext cx="1411224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40226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b7201d2b15f8c8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32" y="2194560"/>
            <a:ext cx="1347216" cy="1100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59148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4000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61e8ec21e00a89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8" name="Picture 7" descr="956b769eca71d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−343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8" name="Picture 7" descr="5a81991eb38a0b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43" y="2194560"/>
            <a:ext cx="2694432" cy="1865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425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8" name="Picture 7" descr="b34bc56ecccd0f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067" y="2103120"/>
            <a:ext cx="2691384" cy="1871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9110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6d9a31f1d02f31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663440"/>
            <a:ext cx="25908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8" name="Picture 7" descr="2f8b87745f5bc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75" y="2194560"/>
            <a:ext cx="2868168" cy="1432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48df33e2a7e48c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3" y="2103120"/>
            <a:ext cx="2862072" cy="1429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91100" y="481431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2bb7fdb900ba42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663440"/>
            <a:ext cx="25908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7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One flash drive holds  </a:t>
            </a:r>
          </a:p>
        </p:txBody>
      </p:sp>
      <p:pic>
        <p:nvPicPr>
          <p:cNvPr id="9" name="Picture 8" descr="c5917418503255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432" y="1943100"/>
            <a:ext cx="377952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2384" y="1851660"/>
            <a:ext cx="2063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4877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Another holds  </a:t>
            </a:r>
          </a:p>
        </p:txBody>
      </p:sp>
      <p:pic>
        <p:nvPicPr>
          <p:cNvPr id="12" name="Picture 11" descr="1d8988fc9968dd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036" y="2552700"/>
            <a:ext cx="252984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38020" y="2464308"/>
            <a:ext cx="6509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 The first one costs 45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Which holds more — or is it the same? Show why.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7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One flash drive holds  </a:t>
            </a:r>
          </a:p>
        </p:txBody>
      </p:sp>
      <p:pic>
        <p:nvPicPr>
          <p:cNvPr id="9" name="Picture 8" descr="b4b5a35a336421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432" y="1943100"/>
            <a:ext cx="38100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5432" y="1851660"/>
            <a:ext cx="2063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4877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Another holds  </a:t>
            </a:r>
          </a:p>
        </p:txBody>
      </p:sp>
      <p:pic>
        <p:nvPicPr>
          <p:cNvPr id="12" name="Picture 11" descr="e7e94afbdd4008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036" y="2552700"/>
            <a:ext cx="25603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1068" y="2464308"/>
            <a:ext cx="6509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 The first one costs 45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Which holds more — or is it the same? Show why.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The same: 8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(2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39fbeb40e62d1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6207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2003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2a82b5b2f64aa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971" y="2103120"/>
            <a:ext cx="417576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78733fd3b94c8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94560"/>
            <a:ext cx="1965960" cy="85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4ef405027ff61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03120"/>
            <a:ext cx="1965960" cy="850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8211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4007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11b1cae12f4ad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94560"/>
            <a:ext cx="11582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8" name="Picture 7" descr="9a83df8a23e939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4900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474833020a9714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663440"/>
            <a:ext cx="411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8" name="Picture 7" descr="cd86dc37fd0c05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051" y="2194560"/>
            <a:ext cx="1423416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8" name="Picture 7" descr="a58ef65a72479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7" y="2103120"/>
            <a:ext cx="1426464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21935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c9101e99983c70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176" y="4663440"/>
            <a:ext cx="597408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294" y="230428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9" name="Picture 8" descr="928a3b4f052209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146" y="2194560"/>
            <a:ext cx="1569720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3866" y="230428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b84e4faf309355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94560"/>
            <a:ext cx="1557528" cy="676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43100" y="230428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3296" y="3122675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4" name="Picture 13" descr="c9adefc290aa5b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75" y="3185159"/>
            <a:ext cx="521207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41183" y="3122675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4246" y="221284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9" name="Picture 8" descr="5cc8e379c9f0fb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098" y="2103120"/>
            <a:ext cx="1572768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3866" y="221284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3544f9e4eb8bbb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03120"/>
            <a:ext cx="1560576" cy="676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46148" y="221284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1772" y="3031236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4" name="Picture 13" descr="afdbc5b48ef25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451" y="3093720"/>
            <a:ext cx="524256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42707" y="3031236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the second is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not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7792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77924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0" name="Picture 9" descr="ea8eebb3a97fa0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760" y="1517904"/>
            <a:ext cx="1688592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52679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26792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3" name="Picture 12" descr="8ac5f19cf038a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60" y="2478024"/>
            <a:ext cx="1676400" cy="554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19278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92780"/>
            <a:ext cx="3467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a power of 2.  </a:t>
            </a:r>
          </a:p>
        </p:txBody>
      </p:sp>
      <p:pic>
        <p:nvPicPr>
          <p:cNvPr id="16" name="Picture 15" descr="f8e949f0e98d16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331" y="3281172"/>
            <a:ext cx="399288" cy="2804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78713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87139"/>
            <a:ext cx="3467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a power of 3.  </a:t>
            </a:r>
          </a:p>
        </p:txBody>
      </p:sp>
      <p:pic>
        <p:nvPicPr>
          <p:cNvPr id="19" name="Picture 18" descr="7d1829112605dc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4331" y="3875531"/>
            <a:ext cx="798576" cy="2804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38149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81499"/>
            <a:ext cx="8982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22" name="Picture 21" descr="2548b15b1d35bd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5613" y="4472940"/>
            <a:ext cx="432816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48429" y="4381499"/>
            <a:ext cx="10937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24" name="Picture 23" descr="08acdadc8f4ac3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025" y="4471416"/>
            <a:ext cx="426720" cy="27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31745" y="4381499"/>
            <a:ext cx="3612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equivalent? Show why.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7586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75860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28" name="Picture 27" descr="eb89b2f91444568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5760" y="5036820"/>
            <a:ext cx="1261872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6T7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II — QDM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 Laws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multiply and divide monomials, and raise a monomial to a power, by applying the laws of exponents to variable bases.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501140"/>
            <a:ext cx="12679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7932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1" name="Picture 10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075688"/>
            <a:ext cx="304800" cy="664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91846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3" name="Picture 12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2942844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53019" y="291846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31108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16" name="Picture 15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653028"/>
            <a:ext cx="1499616" cy="21336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501140"/>
            <a:ext cx="12679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12702" y="144018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7932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2" name="Picture 11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075688"/>
            <a:ext cx="304800" cy="664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95605" y="2052828"/>
            <a:ext cx="1215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1846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5" name="Picture 14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2942844"/>
            <a:ext cx="688848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53019" y="291846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8069" y="2918460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 and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31108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19" name="Picture 18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653028"/>
            <a:ext cx="1499616" cy="213360"/>
          </a:xfrm>
          <a:prstGeom prst="rect">
            <a:avLst/>
          </a:prstGeom>
        </p:spPr>
      </p:pic>
      <p:pic>
        <p:nvPicPr>
          <p:cNvPr id="20" name="Picture 19" descr="cb1e58e5201185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284" y="3589020"/>
            <a:ext cx="280416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Product of powers — the base is a letter now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f4dc7bb52f349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4" y="1993392"/>
            <a:ext cx="424586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49888" y="197053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4bb1e456c94b13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879" y="2043684"/>
            <a:ext cx="2261616" cy="310896"/>
          </a:xfrm>
          <a:prstGeom prst="rect">
            <a:avLst/>
          </a:prstGeom>
        </p:spPr>
      </p:pic>
      <p:pic>
        <p:nvPicPr>
          <p:cNvPr id="13" name="Picture 12" descr="a285865d99a08f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064" y="2679192"/>
            <a:ext cx="5041392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290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the coefficients. Add the exponents of like bases.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25468"/>
            <a:ext cx="5144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variables stay separate:  </a:t>
            </a:r>
          </a:p>
        </p:txBody>
      </p:sp>
      <p:pic>
        <p:nvPicPr>
          <p:cNvPr id="16" name="Picture 15" descr="2a950411e1004b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632" y="4142232"/>
            <a:ext cx="2618232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power, power of a 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e72c58bfa2a95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64" y="1993392"/>
            <a:ext cx="422757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5440" y="197053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f6f2fe1277a80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431" y="2025396"/>
            <a:ext cx="1792224" cy="347472"/>
          </a:xfrm>
          <a:prstGeom prst="rect">
            <a:avLst/>
          </a:prstGeom>
        </p:spPr>
      </p:pic>
      <p:pic>
        <p:nvPicPr>
          <p:cNvPr id="13" name="Picture 12" descr="783225cb699ff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224" y="2679192"/>
            <a:ext cx="3727704" cy="423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26928" y="266242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1389c559d7859c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919" y="2679192"/>
            <a:ext cx="3389376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44119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multiply the exponents.  Power of a product: raise every factor.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Quotient of powers — dividing monomials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3942cbc98c315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52" y="1993392"/>
            <a:ext cx="4270248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6400" y="216712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90de12726cf0d0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391" y="2058924"/>
            <a:ext cx="1712976" cy="673608"/>
          </a:xfrm>
          <a:prstGeom prst="rect">
            <a:avLst/>
          </a:prstGeom>
        </p:spPr>
      </p:pic>
      <p:pic>
        <p:nvPicPr>
          <p:cNvPr id="13" name="Picture 12" descr="56477ae8447c46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700" y="3072384"/>
            <a:ext cx="1801368" cy="810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42068" y="32491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7b39cdb0ef566b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059" y="3073907"/>
            <a:ext cx="3032760" cy="807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22148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Subtract the exponents of like bases.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8" name="Picture 7" descr="a0894cd9a5ccf6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43" y="2103120"/>
            <a:ext cx="2465832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de63dedae86b58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004560" cy="423672"/>
          </a:xfrm>
          <a:prstGeom prst="rect">
            <a:avLst/>
          </a:prstGeom>
        </p:spPr>
      </p:pic>
      <p:pic>
        <p:nvPicPr>
          <p:cNvPr id="9" name="Picture 8" descr="2f53120bf9dfff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358140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83ae14ddaf39e7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5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28700badd3bdf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5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b9dec83acdd34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890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960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d5a2c92467f9be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41320" cy="411480"/>
          </a:xfrm>
          <a:prstGeom prst="rect">
            <a:avLst/>
          </a:prstGeom>
        </p:spPr>
      </p:pic>
      <p:pic>
        <p:nvPicPr>
          <p:cNvPr id="9" name="Picture 8" descr="8affb1101a179d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554126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n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c61e723e73851e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2194560"/>
            <a:ext cx="1292352" cy="1216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91363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192ab9962e6dc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107" y="2194560"/>
            <a:ext cx="1289304" cy="1213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91058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3256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2p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8" name="Picture 7" descr="d4d3158a21a48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20123ea625216e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03120"/>
            <a:ext cx="1179576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17363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ea1790c6884cea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603" y="4663440"/>
            <a:ext cx="606552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8" name="Picture 7" descr="df024cff5e9ce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194560"/>
            <a:ext cx="932688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8" name="Picture 7" descr="00e7a99be8e12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891" y="2103120"/>
            <a:ext cx="935736" cy="52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12791" y="46542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5d59527968cea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2" y="4663440"/>
            <a:ext cx="615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31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cube has edges  </a:t>
            </a:r>
          </a:p>
        </p:txBody>
      </p:sp>
      <p:pic>
        <p:nvPicPr>
          <p:cNvPr id="9" name="Picture 8" descr="1df02a95485ce3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51" y="1941575"/>
            <a:ext cx="42367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52323" y="1851660"/>
            <a:ext cx="295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30661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2" name="Picture 11" descr="84641c90e2ee91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429" y="2554224"/>
            <a:ext cx="597408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0837" y="2464308"/>
            <a:ext cx="3331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volume of the cube, in cubic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31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cube has edges  </a:t>
            </a:r>
          </a:p>
        </p:txBody>
      </p:sp>
      <p:pic>
        <p:nvPicPr>
          <p:cNvPr id="9" name="Picture 8" descr="a28e2ea3731f9d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51" y="1941575"/>
            <a:ext cx="42367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52323" y="1851660"/>
            <a:ext cx="295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30661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2" name="Picture 11" descr="627f906189b40b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429" y="2554224"/>
            <a:ext cx="600456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3885" y="2464308"/>
            <a:ext cx="3331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volume of the cube, in cubic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7551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b5d97e94079cb0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791" y="4663440"/>
            <a:ext cx="64617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4f0d74218b39c7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1" y="2194560"/>
            <a:ext cx="2642616" cy="515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20518fcef0388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28" y="2103120"/>
            <a:ext cx="2645664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11979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53df2d82dfc942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19" y="4663440"/>
            <a:ext cx="1417320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6cf649989ec0d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5" y="2194560"/>
            <a:ext cx="1344168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b63f3b3a75f7bb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52" y="2103120"/>
            <a:ext cx="1347216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25m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25m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a9b3bfaec72a6e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94560"/>
            <a:ext cx="969264" cy="1011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3509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57f74e63f18b45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03120"/>
            <a:ext cx="966216" cy="1011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4365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4x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85c3b95db630c6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692" y="2194560"/>
            <a:ext cx="1088136" cy="1021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b4ec42ed5af64d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215" y="2103120"/>
            <a:ext cx="1085088" cy="1014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0224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c33514adb2311b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463" y="4663440"/>
            <a:ext cx="560832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9" name="Picture 8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1" name="Picture 10" descr="6af21d554c0d03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913888"/>
            <a:ext cx="1834896" cy="344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9" name="Picture 8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1" name="Picture 10" descr="9b87377120470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822448"/>
            <a:ext cx="1834896" cy="344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268" y="2176272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9" name="Picture 8" descr="a608046776132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333" y="2194560"/>
            <a:ext cx="13350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10357" y="2176272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1" name="Picture 10" descr="300f952ef0d53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335" y="2225040"/>
            <a:ext cx="5364480" cy="3596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93815" y="21762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0629" y="287273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4" name="Picture 13" descr="7c47cd9abe6657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159" y="2889503"/>
            <a:ext cx="1603248" cy="423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31407" y="287273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44" y="2084831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9" name="Picture 8" descr="c182d5e9af300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09" y="2103120"/>
            <a:ext cx="1338072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11881" y="2084831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1" name="Picture 10" descr="633192d31288b5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859" y="2133599"/>
            <a:ext cx="5364480" cy="3596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95339" y="2084831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105" y="278129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4" name="Picture 13" descr="9c1cc680a1f0e7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635" y="2798063"/>
            <a:ext cx="1606296" cy="423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32931" y="278129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are correct; 15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3,375, x · x · x =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and six y's make 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31681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one power.  </a:t>
            </a:r>
          </a:p>
        </p:txBody>
      </p:sp>
      <p:pic>
        <p:nvPicPr>
          <p:cNvPr id="10" name="Picture 9" descr="f0610eb2352664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485" y="1584959"/>
            <a:ext cx="771144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4364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a single monomial.  </a:t>
            </a:r>
          </a:p>
        </p:txBody>
      </p:sp>
      <p:pic>
        <p:nvPicPr>
          <p:cNvPr id="13" name="Picture 12" descr="f4d6cfbb8675d9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658" y="2150363"/>
            <a:ext cx="633984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4364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a single monomial.  </a:t>
            </a:r>
          </a:p>
        </p:txBody>
      </p:sp>
      <p:pic>
        <p:nvPicPr>
          <p:cNvPr id="16" name="Picture 15" descr="620cb7f114546a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658" y="2741675"/>
            <a:ext cx="786384" cy="34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8123"/>
            <a:ext cx="4364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a single monomial.  </a:t>
            </a:r>
          </a:p>
        </p:txBody>
      </p:sp>
      <p:pic>
        <p:nvPicPr>
          <p:cNvPr id="19" name="Picture 18" descr="c3a1d706675437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658" y="3339083"/>
            <a:ext cx="1517904" cy="335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399745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97451"/>
            <a:ext cx="4364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as a single monomial.  </a:t>
            </a:r>
          </a:p>
        </p:txBody>
      </p:sp>
      <p:pic>
        <p:nvPicPr>
          <p:cNvPr id="22" name="Picture 21" descr="0130a9e18efff1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1658" y="3895344"/>
            <a:ext cx="630936" cy="6614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71678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16780"/>
            <a:ext cx="27202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25" name="Picture 24" descr="0afe177f69dd5e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11" y="4870704"/>
            <a:ext cx="155448" cy="1493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93059" y="4716780"/>
            <a:ext cx="468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  </a:t>
            </a:r>
          </a:p>
        </p:txBody>
      </p:sp>
      <p:pic>
        <p:nvPicPr>
          <p:cNvPr id="27" name="Picture 26" descr="a0f60224273681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4460" y="4774692"/>
            <a:ext cx="1511808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powers: variable bases — TR9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a power: variable bases — 2CU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Divide monomials with positive exponents — C8L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an algebraic expression with negative exponents using only positive exponents, and apply several laws of exponents to a monomial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9" name="Picture 8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501140"/>
            <a:ext cx="77114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1" name="Picture 10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141220"/>
            <a:ext cx="42672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3" name="Picture 12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2689860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67854" y="266547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34822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16" name="Picture 15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300984"/>
            <a:ext cx="170688" cy="5516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3096" y="334822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9" name="Picture 8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501140"/>
            <a:ext cx="77114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31776" y="1440180"/>
            <a:ext cx="8417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27x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141220"/>
            <a:ext cx="42672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77659" y="205282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5" name="Picture 14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2689860"/>
            <a:ext cx="688848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7854" y="266547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5878" y="2665476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4822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19" name="Picture 18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300984"/>
            <a:ext cx="170688" cy="5516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03096" y="334822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pic>
        <p:nvPicPr>
          <p:cNvPr id="21" name="Picture 20" descr="0ea9c861f6451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431" y="3300984"/>
            <a:ext cx="170688" cy="551688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pattern, with a letter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93392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566883ffdb2567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53" y="2990088"/>
            <a:ext cx="1335024" cy="676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76277" y="309981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3" name="Picture 12" descr="bdac5bab61ffd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269" y="2990088"/>
            <a:ext cx="1362456" cy="676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84725" y="3099816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5" name="Picture 14" descr="3202774bcb0530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247" y="3159252"/>
            <a:ext cx="783336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30583" y="3099816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Moving factors across the fraction bar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f7d04d8cca97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184" y="2029968"/>
            <a:ext cx="1508760" cy="743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75944" y="21732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4816a7a2bcf2f2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35" y="1993392"/>
            <a:ext cx="2209800" cy="816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1736" y="21732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0f65a6bfbd89b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727" y="1997964"/>
            <a:ext cx="1816608" cy="807720"/>
          </a:xfrm>
          <a:prstGeom prst="rect">
            <a:avLst/>
          </a:prstGeom>
        </p:spPr>
      </p:pic>
      <p:pic>
        <p:nvPicPr>
          <p:cNvPr id="15" name="Picture 14" descr="70bc6e0f1b3eca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084575"/>
            <a:ext cx="2304288" cy="9204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3434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Only the factor with the negative exponent moves. Its exponent turns positive.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7aaf26d66cf98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12" y="2026920"/>
            <a:ext cx="4456176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2188" y="216865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1fc48e462d92b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179" y="1993392"/>
            <a:ext cx="3767328" cy="807720"/>
          </a:xfrm>
          <a:prstGeom prst="rect">
            <a:avLst/>
          </a:prstGeom>
        </p:spPr>
      </p:pic>
      <p:pic>
        <p:nvPicPr>
          <p:cNvPr id="13" name="Picture 12" descr="92a6d22e61379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9" y="3075432"/>
            <a:ext cx="3505200" cy="819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2336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law. Then rewrite so that every exponent is positive.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8" name="Picture 7" descr="284a92747d139e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103120"/>
            <a:ext cx="2761488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99ce65e5c8ec57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172200" cy="423672"/>
          </a:xfrm>
          <a:prstGeom prst="rect">
            <a:avLst/>
          </a:prstGeom>
        </p:spPr>
      </p:pic>
      <p:pic>
        <p:nvPicPr>
          <p:cNvPr id="9" name="Picture 8" descr="52caabd3337864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2816352" cy="883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26181856cce005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5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2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6f4e119bf12e31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5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7260" y="471220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5fcfdcd223fa6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99" y="4480560"/>
            <a:ext cx="746760" cy="1011936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061639b8c49f6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2103120"/>
            <a:ext cx="1417320" cy="80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dc62f1bbbc7a81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816864"/>
          </a:xfrm>
          <a:prstGeom prst="rect">
            <a:avLst/>
          </a:prstGeom>
        </p:spPr>
      </p:pic>
      <p:pic>
        <p:nvPicPr>
          <p:cNvPr id="9" name="Picture 8" descr="d55cada8037b33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1399032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/1,024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c42f4571630d5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194560"/>
            <a:ext cx="1773936" cy="1112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80999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195018b9c2dda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267" y="2194560"/>
            <a:ext cx="1776984" cy="1112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80999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2772" y="477734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3636f909b16359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11" y="4531978"/>
            <a:ext cx="935736" cy="1039368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8" name="Picture 7" descr="49cdf5a8f688d8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94560"/>
            <a:ext cx="685800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6299b72688be4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03120"/>
            <a:ext cx="685800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1372" y="485393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f4033d6f9e46bb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663440"/>
            <a:ext cx="478536" cy="929640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8" name="Picture 7" descr="70a7739fb79464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94560"/>
            <a:ext cx="716280" cy="103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8" name="Picture 7" descr="1b19adcea2f05b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2103120"/>
            <a:ext cx="713232" cy="1033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08804" y="465277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666f79c957ad2d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044" y="4663440"/>
            <a:ext cx="423672" cy="527304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86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brightness of a lamp from  </a:t>
            </a:r>
          </a:p>
        </p:txBody>
      </p:sp>
      <p:pic>
        <p:nvPicPr>
          <p:cNvPr id="9" name="Picture 8" descr="36ab662f01dc4d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323" y="2005584"/>
            <a:ext cx="158496" cy="14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1819" y="1851660"/>
            <a:ext cx="27781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meters away is  </a:t>
            </a:r>
          </a:p>
        </p:txBody>
      </p:sp>
      <p:pic>
        <p:nvPicPr>
          <p:cNvPr id="11" name="Picture 10" descr="47fe29c90fa7b5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47" y="1940052"/>
            <a:ext cx="585216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68063" y="1851660"/>
            <a:ext cx="1251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lamp is 15 centimeters 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bright is the lamp from 2 meters away?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86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brightness of a lamp from  </a:t>
            </a:r>
          </a:p>
        </p:txBody>
      </p:sp>
      <p:pic>
        <p:nvPicPr>
          <p:cNvPr id="9" name="Picture 8" descr="36ab662f01dc4d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323" y="2005584"/>
            <a:ext cx="158496" cy="14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1819" y="1851660"/>
            <a:ext cx="27781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meters away is  </a:t>
            </a:r>
          </a:p>
        </p:txBody>
      </p:sp>
      <p:pic>
        <p:nvPicPr>
          <p:cNvPr id="11" name="Picture 10" descr="69ad6c7cdf468f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47" y="1940052"/>
            <a:ext cx="58826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71111" y="1851660"/>
            <a:ext cx="1251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lamp is 15 centimeters 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bright is the lamp from 2 meters away?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c414c4c741c779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340" y="4663440"/>
            <a:ext cx="25908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42962fa6a8bfc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194560"/>
            <a:ext cx="1353312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c896e7a3b1e79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580" y="2103120"/>
            <a:ext cx="1356360" cy="52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9536" y="49042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f532a74f60c6c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6" y="4663440"/>
            <a:ext cx="902208" cy="1030224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950663683f0a3a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194560"/>
            <a:ext cx="1432560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1b7d9d459c285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2103120"/>
            <a:ext cx="1429512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1/x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cd9c5622a19be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3" y="2194560"/>
            <a:ext cx="1444752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1768e3b0aaa3b8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03120"/>
            <a:ext cx="1447800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61aec65184b6be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7" y="2194560"/>
            <a:ext cx="603504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00d9c35b01c5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55" y="2103120"/>
            <a:ext cx="597408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1888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a74f00062d590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7" y="4663440"/>
            <a:ext cx="60350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9" name="Picture 8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1" name="Picture 10" descr="768d523c6bd8c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12" y="2912364"/>
            <a:ext cx="1911095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9" name="Picture 8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1" name="Picture 10" descr="06d7fcaebeec00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687" y="2820924"/>
            <a:ext cx="1914144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7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6774" y="217170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9" name="Picture 8" descr="cc078cbc81823c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228088"/>
            <a:ext cx="344424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1323" y="217170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d31e0d14216148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228088"/>
            <a:ext cx="539496" cy="344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2526" y="217170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5540" y="285750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4" name="Picture 13" descr="118dd4b796dc85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208" y="2945892"/>
            <a:ext cx="783336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25544" y="28575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6774" y="208026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9" name="Picture 8" descr="3da309422df21a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136648"/>
            <a:ext cx="344424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1323" y="208026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1" name="Picture 10" descr="50a3dff9085ab5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136648"/>
            <a:ext cx="539496" cy="344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2526" y="208026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4016" y="276606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4" name="Picture 13" descr="2cebf16dedade3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684" y="2854452"/>
            <a:ext cx="786384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27068" y="27660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is the reciprocal of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 When x = 2: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 and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1/8.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5875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Rewrite using only positive exponents.  </a:t>
            </a:r>
          </a:p>
        </p:txBody>
      </p:sp>
      <p:pic>
        <p:nvPicPr>
          <p:cNvPr id="10" name="Picture 9" descr="ba584368475047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977" y="1584959"/>
            <a:ext cx="521207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5875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Rewrite using only positive exponents.  </a:t>
            </a:r>
          </a:p>
        </p:txBody>
      </p:sp>
      <p:pic>
        <p:nvPicPr>
          <p:cNvPr id="13" name="Picture 12" descr="e1af689e41d8f9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977" y="2147315"/>
            <a:ext cx="579120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77825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78251"/>
            <a:ext cx="5875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Rewrite using only positive exponents.  </a:t>
            </a:r>
          </a:p>
        </p:txBody>
      </p:sp>
      <p:pic>
        <p:nvPicPr>
          <p:cNvPr id="16" name="Picture 15" descr="0c2d1dd467193a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977" y="2706623"/>
            <a:ext cx="472440" cy="600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46710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67100"/>
            <a:ext cx="57484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Simplify. Use positive exponents only.  </a:t>
            </a:r>
          </a:p>
        </p:txBody>
      </p:sp>
      <p:pic>
        <p:nvPicPr>
          <p:cNvPr id="19" name="Picture 18" descr="c5f7759a92eb26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772" y="3557015"/>
            <a:ext cx="929640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06146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61460"/>
            <a:ext cx="57484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Simplify. Use positive exponents only.  </a:t>
            </a:r>
          </a:p>
        </p:txBody>
      </p:sp>
      <p:pic>
        <p:nvPicPr>
          <p:cNvPr id="22" name="Picture 21" descr="60d888c7ce1f98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5772" y="4122420"/>
            <a:ext cx="1021080" cy="335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65582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55820"/>
            <a:ext cx="27202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25" name="Picture 24" descr="0afe177f69dd5e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11" y="4809744"/>
            <a:ext cx="155448" cy="1493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93059" y="4655820"/>
            <a:ext cx="468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  </a:t>
            </a:r>
          </a:p>
        </p:txBody>
      </p:sp>
      <p:pic>
        <p:nvPicPr>
          <p:cNvPr id="27" name="Picture 26" descr="6cb3df3e64f6e06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4460" y="4713732"/>
            <a:ext cx="1551432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Variables with negative exponents — 2NL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and divide powers: variable bases — 85P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a large number in scientific notation, read one back into standard form, and find how many times larger one number is than another.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9" name="Picture 8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530096"/>
            <a:ext cx="585216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1" name="Picture 10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113788"/>
            <a:ext cx="774192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2689860"/>
            <a:ext cx="85344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27812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9" name="Picture 8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530096"/>
            <a:ext cx="585216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2209" y="1440180"/>
            <a:ext cx="769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113788"/>
            <a:ext cx="774192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5131" y="2052828"/>
            <a:ext cx="2426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1,000,000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2689860"/>
            <a:ext cx="853440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4379" y="266547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7812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3604" y="3278124"/>
            <a:ext cx="1511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millions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Powers of ten name the places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42999" y="1993392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305409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exponent counts the zeros — and names the place of the 1.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a362daa5aca8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840" y="2055876"/>
            <a:ext cx="1124712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3552" y="1970532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2" name="Picture 11" descr="24588923a2e411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47" y="2040636"/>
            <a:ext cx="1551432" cy="316992"/>
          </a:xfrm>
          <a:prstGeom prst="rect">
            <a:avLst/>
          </a:prstGeom>
        </p:spPr>
      </p:pic>
      <p:pic>
        <p:nvPicPr>
          <p:cNvPr id="13" name="Picture 12" descr="8e6cc14ac5e46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388" y="2683764"/>
            <a:ext cx="3136392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4780" y="265633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067fcc93f2b9d5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771" y="2689860"/>
            <a:ext cx="3642360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at least 1 and less than 10: one nonzero digit before the decimal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63600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decimal point moves: 26,000,000. → 2.6, seven places,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7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8462689543fb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20" y="2001012"/>
            <a:ext cx="210312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0440" y="21777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23b76398c3e7ac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431" y="1993392"/>
            <a:ext cx="3477768" cy="826008"/>
          </a:xfrm>
          <a:prstGeom prst="rect">
            <a:avLst/>
          </a:prstGeom>
        </p:spPr>
      </p:pic>
      <p:pic>
        <p:nvPicPr>
          <p:cNvPr id="13" name="Picture 12" descr="a006e1f5dbf830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316" y="3093720"/>
            <a:ext cx="4056888" cy="826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2580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10. Multiply the two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98957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On a screen, 8.4E6 means 8.4 ×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 2018, funding for education in Florida totaled 30,100,000,000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058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Express this value in scientific notation.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c33cd55185211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03064" cy="399288"/>
          </a:xfrm>
          <a:prstGeom prst="rect">
            <a:avLst/>
          </a:prstGeom>
        </p:spPr>
      </p:pic>
      <p:pic>
        <p:nvPicPr>
          <p:cNvPr id="9" name="Picture 8" descr="826a198efbf96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3848"/>
            <a:ext cx="654405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1.105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8167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4dc6640317f68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72" y="2133599"/>
            <a:ext cx="1405128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4200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a7f651d263392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252" y="2136648"/>
            <a:ext cx="1414272" cy="344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14752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ea7fbd33ef479e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438656" cy="691896"/>
          </a:xfrm>
          <a:prstGeom prst="rect">
            <a:avLst/>
          </a:prstGeom>
        </p:spPr>
      </p:pic>
      <p:pic>
        <p:nvPicPr>
          <p:cNvPr id="9" name="Picture 8" descr="ecf3b7ddda2003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2386584" cy="807720"/>
          </a:xfrm>
          <a:prstGeom prst="rect">
            <a:avLst/>
          </a:prstGeom>
        </p:spPr>
      </p:pic>
      <p:pic>
        <p:nvPicPr>
          <p:cNvPr id="10" name="Picture 9" descr="8a1e664f4b4116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8496"/>
            <a:ext cx="2026920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152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 times larger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4952" y="2185415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9" name="Picture 8" descr="b3b23388699e71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24165" y="2945892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1" name="Picture 10" descr="33ace73c84f9a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3512"/>
            <a:ext cx="1734312" cy="441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4952" y="2186940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9" name="Picture 8" descr="9213e17c268194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4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24165" y="2948940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1" name="Picture 10" descr="c0aa154a2b895b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6560"/>
            <a:ext cx="1734312" cy="441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718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about 7.5 times larger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0641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9" name="Picture 8" descr="5f1494d210188d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22" y="2225040"/>
            <a:ext cx="142951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34034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2165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9" name="Picture 8" descr="52d884c0ec37c9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046" y="2132076"/>
            <a:ext cx="142646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32510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72,000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49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9" name="Picture 8" descr="1ab45d017fce8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223516"/>
            <a:ext cx="141122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6622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1" name="Picture 10" descr="d99a9851995ad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308" y="2223516"/>
            <a:ext cx="1389888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291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496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9" name="Picture 8" descr="78380355eb5e9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132076"/>
            <a:ext cx="1414272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9670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1" name="Picture 10" descr="7abd88142838d7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56" y="2132076"/>
            <a:ext cx="138684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291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5.2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5.2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9919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cb3383a0ac489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4" y="2225040"/>
            <a:ext cx="110947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0296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136c380adf2ac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48" y="2223516"/>
            <a:ext cx="1106424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45772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8395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f5c1556a2a4007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300" y="2133599"/>
            <a:ext cx="110947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e6a3bddbc4c7da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109472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472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1,000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9023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9dfa88f60f7695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928" y="2223516"/>
            <a:ext cx="141122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1152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441501d81b57e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225040"/>
            <a:ext cx="142646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156668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207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f4de1fd42bbb2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76" y="2132076"/>
            <a:ext cx="1408176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115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f8ac844b491820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132076"/>
            <a:ext cx="1423416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15362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400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3,500,000,000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4026" y="217170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9" name="Picture 8" descr="8eae714437c97e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417" y="2223516"/>
            <a:ext cx="1310640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97057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2502" y="208026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9" name="Picture 8" descr="b1be6639231b1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893" y="2132076"/>
            <a:ext cx="1313688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9858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Equal, yes. Scientific notation, no: 20 is not less than 10.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5739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 8,200,000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89403"/>
            <a:ext cx="1184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2" name="Picture 11" descr="484364d373954d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365" y="2176271"/>
            <a:ext cx="1149096" cy="283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50461" y="2089403"/>
            <a:ext cx="28852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60837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 915,000,000  in scientific notation.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78123"/>
            <a:ext cx="2825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8" name="Picture 17" descr="aa6198a3eb54a7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467" y="3366515"/>
            <a:ext cx="1155192" cy="2804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97659" y="3278123"/>
            <a:ext cx="8469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20" name="Picture 19" descr="36d95168835a27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417" y="3364991"/>
            <a:ext cx="1155192" cy="283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62609" y="3278123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72483"/>
            <a:ext cx="4056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24" name="Picture 23" descr="7587dd48b320b2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925" y="3960875"/>
            <a:ext cx="899160" cy="2804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73085" y="3872483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26" name="Picture 25" descr="745c0d39ba6280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0041" y="3957828"/>
            <a:ext cx="902208" cy="2865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62249" y="3872483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66844"/>
            <a:ext cx="98989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 computer displays a number as  2.6E7.  Write it in standard form.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large numbers — 2AL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large numbers — WEZ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— LJQ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Small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very small numbers in scientific notation, read them back, and find how many times larger or smaller one number is than another.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0" name="Picture 9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141220"/>
            <a:ext cx="557784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95688" y="205282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6547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3" name="Picture 12" descr="c7ed55c1b21389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689860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53019" y="266547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5754" y="1440180"/>
            <a:ext cx="14594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4.3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1" name="Picture 10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141220"/>
            <a:ext cx="55778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95688" y="205282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pic>
        <p:nvPicPr>
          <p:cNvPr id="13" name="Picture 12" descr="357ee64ca77eb3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246" y="2075688"/>
            <a:ext cx="746760" cy="600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266547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5" name="Picture 14" descr="c7ed55c1b21389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2689860"/>
            <a:ext cx="688848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53019" y="266547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4153" y="2665476"/>
            <a:ext cx="1529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 and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  <p:pic>
        <p:nvPicPr>
          <p:cNvPr id="19" name="Picture 18" descr="0d671d8905812b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058" y="3300984"/>
            <a:ext cx="746760" cy="597408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Negative powers of ten name the decimal places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42999" y="1993392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7b97c2695b4b3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20" y="3017520"/>
            <a:ext cx="1691640" cy="6797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25660" y="312877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3" name="Picture 12" descr="9756d439c25d70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51" y="2990088"/>
            <a:ext cx="3355848" cy="734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06298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puts the 1 in that decimal place: 10</a:t>
            </a:r>
            <a:r>
              <a:rPr sz="2300" b="1" i="0" baseline="30000">
                <a:solidFill>
                  <a:srgbClr val="1A1A1A"/>
                </a:solidFill>
                <a:latin typeface="Century Schoolbook"/>
              </a:rPr>
              <a:t>-4</a:t>
            </a:r>
            <a:r>
              <a:rPr sz="2300" b="1" i="0">
                <a:solidFill>
                  <a:srgbClr val="1A1A1A"/>
                </a:solidFill>
                <a:latin typeface="Century Schoolbook"/>
              </a:rPr>
              <a:t> is a 1 in the fourth place.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Small numbers in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b164213b9232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792" y="2022348"/>
            <a:ext cx="323392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05720" y="197053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5d136b823d619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11" y="2022348"/>
            <a:ext cx="3938016" cy="353568"/>
          </a:xfrm>
          <a:prstGeom prst="rect">
            <a:avLst/>
          </a:prstGeom>
        </p:spPr>
      </p:pic>
      <p:pic>
        <p:nvPicPr>
          <p:cNvPr id="13" name="Picture 12" descr="40f6cd0eb0ebc8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391" y="2711196"/>
            <a:ext cx="436473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still at least 1 and less than 10. The exponent is negative for a number less than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3600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point moves: 0.0000672 → 6.72 is five places right,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 — or smaller?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960a542aafe9c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76" y="1993392"/>
            <a:ext cx="45567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91036" y="217627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13ef6adfb19a5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27" y="1993392"/>
            <a:ext cx="2490216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154679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 — subtract the exponents. Multiply the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6168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Which is bigger,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or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-8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? The one with the larger exponent: −5 &gt; −8,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The density of oxygen is 1,332 millionths of a gram per cubic centimeter.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058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as a decimal, then in scientific notation.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3795759730f8e3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590544" cy="792480"/>
          </a:xfrm>
          <a:prstGeom prst="rect">
            <a:avLst/>
          </a:prstGeom>
        </p:spPr>
      </p:pic>
      <p:pic>
        <p:nvPicPr>
          <p:cNvPr id="9" name="Picture 8" descr="e86600eaee99cc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938016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0.001332 = 1.332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19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ee4e609945ec82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96" y="2133599"/>
            <a:ext cx="1621536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163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dee1eef8fb06ad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684" y="2136648"/>
            <a:ext cx="1575816" cy="344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3650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59c7818cbaac3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152144" cy="685800"/>
          </a:xfrm>
          <a:prstGeom prst="rect">
            <a:avLst/>
          </a:prstGeom>
        </p:spPr>
      </p:pic>
      <p:pic>
        <p:nvPicPr>
          <p:cNvPr id="9" name="Picture 8" descr="6b497f46afc4e7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0360"/>
            <a:ext cx="3721608" cy="810768"/>
          </a:xfrm>
          <a:prstGeom prst="rect">
            <a:avLst/>
          </a:prstGeom>
        </p:spPr>
      </p:pic>
      <p:pic>
        <p:nvPicPr>
          <p:cNvPr id="10" name="Picture 9" descr="60571d6036a338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5448"/>
            <a:ext cx="2450592" cy="3992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219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4,000 times larger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235" y="2185415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496ffc9a205d25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140" y="2196083"/>
            <a:ext cx="2005584" cy="435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5724" y="2185415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a82e6bba98260e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776" y="2194560"/>
            <a:ext cx="2011680" cy="438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46456" y="2185415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7711" y="2183892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2496b86a47380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16" y="2194560"/>
            <a:ext cx="2008632" cy="435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7248" y="2183892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8ceadc81776217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194560"/>
            <a:ext cx="2011680" cy="435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47980" y="2183892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200,000 times larger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8" name="Picture 7" descr="1f36aa11b2dfcf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94560"/>
            <a:ext cx="874776" cy="43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043ff5c9055650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03120"/>
            <a:ext cx="874776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6153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9" name="Picture 8" descr="f7e39139daee10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225040"/>
            <a:ext cx="1618488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28522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6153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9" name="Picture 8" descr="533d0b83fdac28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132076"/>
            <a:ext cx="1618488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28522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0.00025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9.88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8.1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8.1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7895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6343b50271775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800" y="2225040"/>
            <a:ext cx="1298448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7248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c3e8fbaa365da3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223516"/>
            <a:ext cx="1301496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377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3323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e98b31f32f5b09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228" y="2133599"/>
            <a:ext cx="1304544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ccaef7e81c6839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304544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42368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300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075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9" name="Picture 8" descr="746391bb3aa38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58" y="2223516"/>
            <a:ext cx="1600200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29858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1" name="Picture 10" descr="9027aa45f8c13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544" y="2225040"/>
            <a:ext cx="1612392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3493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7708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9" name="Picture 8" descr="df917c83e179d4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610" y="2132076"/>
            <a:ext cx="1606296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32906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1" name="Picture 10" descr="1a294302f9ade9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592" y="2133599"/>
            <a:ext cx="1612392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3798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3.9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0.0000042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7665" y="21717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9" name="Picture 8" descr="24f5c2a7f64db6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499" y="2226564"/>
            <a:ext cx="1313688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7187" y="21717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9189" y="28575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2" name="Picture 11" descr="66c17032647eb8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23" y="2912364"/>
            <a:ext cx="1310640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15663" y="28575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6141" y="20802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9" name="Picture 8" descr="77a4d57c92c152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975" y="2135124"/>
            <a:ext cx="1316736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8711" y="20802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6141" y="27660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2" name="Picture 11" descr="ecebfbd77cf00b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75" y="2820924"/>
            <a:ext cx="1316736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18711" y="27660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B; 3 times; e.g.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in.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54812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 0.00047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89403"/>
            <a:ext cx="1184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2" name="Picture 11" descr="c482772bd1edac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365" y="2176271"/>
            <a:ext cx="1304544" cy="283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05909" y="2089403"/>
            <a:ext cx="28852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5825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Write  0.0000061  in scientific notation.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78123"/>
            <a:ext cx="2825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8" name="Picture 17" descr="c4c2da5961006a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467" y="3364991"/>
            <a:ext cx="1313688" cy="283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56155" y="3278123"/>
            <a:ext cx="8469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20" name="Picture 19" descr="da742c0cc16263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913" y="3363467"/>
            <a:ext cx="1301496" cy="2865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67409" y="3278123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72483"/>
            <a:ext cx="4056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24" name="Picture 23" descr="71f394ba76b8be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925" y="3959352"/>
            <a:ext cx="1054608" cy="2834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28533" y="3872483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26" name="Picture 25" descr="5f3e69e0f33afe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489" y="3959352"/>
            <a:ext cx="1063752" cy="2834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79241" y="3872483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66844"/>
            <a:ext cx="9351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 computer displays a number as  3.7E−5.  Write it in standard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905756"/>
            <a:ext cx="9670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form.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small numbers — 85M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small numbers — KDR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with negative exponents — SKD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