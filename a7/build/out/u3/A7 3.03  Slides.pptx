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Exponential Expressions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apply more than one law of exponents to evaluate an expression and to write an equivalent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Yesterday: seven laws, one at a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Today: two or three laws in one expression — and the order is yours.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8671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0d08d420e081e8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783080"/>
            <a:ext cx="469392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25852"/>
            <a:ext cx="1082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Is </a:t>
            </a:r>
          </a:p>
        </p:txBody>
      </p:sp>
      <p:pic>
        <p:nvPicPr>
          <p:cNvPr id="12" name="Picture 11" descr="697434924d454a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599" y="2650236"/>
            <a:ext cx="68884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08447" y="2625852"/>
            <a:ext cx="2879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closer to 7 or to 8?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23850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5" name="Picture 14" descr="7747f117721bd8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323844"/>
            <a:ext cx="1658112" cy="2865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851148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7" name="Picture 16" descr="2a87b786c67fb6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934968"/>
            <a:ext cx="1112520" cy="289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8671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0d08d420e081e8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783080"/>
            <a:ext cx="469392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4126" y="1760220"/>
            <a:ext cx="743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625852"/>
            <a:ext cx="1082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Is </a:t>
            </a:r>
          </a:p>
        </p:txBody>
      </p:sp>
      <p:pic>
        <p:nvPicPr>
          <p:cNvPr id="13" name="Picture 12" descr="697434924d454a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599" y="2650236"/>
            <a:ext cx="68884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08447" y="2625852"/>
            <a:ext cx="2879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closer to 7 or to 8?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9764" y="2625852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23850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7" name="Picture 16" descr="7747f117721bd8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323844"/>
            <a:ext cx="1658112" cy="2865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96120" y="3238500"/>
            <a:ext cx="942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=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851148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20" name="Picture 19" descr="2a87b786c67fb6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934968"/>
            <a:ext cx="1112520" cy="2895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88955" y="3851148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 It is your reference for the rest of the unit.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seven laws, in one place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51560" y="2340864"/>
          <a:ext cx="1005840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365760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Law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Rule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Example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Product of powers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n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m+n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Quotient of powers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n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m-n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(−3)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7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(−3)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(−3)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Power of a product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(ab)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b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(−7 · 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(−7)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Power of a quotient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(a ÷ b)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b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(13 ÷ 5)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Power of a power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n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(6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6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Identity exponent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15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Zero exponent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127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Two students, two orders, one value.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More than one law — make a plan, then follow 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30561" y="2514600"/>
            <a:ext cx="18549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Winston:  </a:t>
            </a:r>
          </a:p>
        </p:txBody>
      </p:sp>
      <p:pic>
        <p:nvPicPr>
          <p:cNvPr id="12" name="Picture 11" descr="2d268109f28c9a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390" y="2340864"/>
            <a:ext cx="3782568" cy="8046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43041" y="3663696"/>
            <a:ext cx="16211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Yvette:   </a:t>
            </a:r>
          </a:p>
        </p:txBody>
      </p:sp>
      <p:pic>
        <p:nvPicPr>
          <p:cNvPr id="14" name="Picture 13" descr="20e6fc4620e3ea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022" y="3419856"/>
            <a:ext cx="4791456" cy="944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70306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Different plans, same value. Any correct sequence of laws gives the same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Order of operations still applies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7552" y="2404872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404872"/>
            <a:ext cx="9537192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Parentheses first — including a fraction bar, which is a pair of parentheses in disguise.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611879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3611879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Exponents next — the laws of exponents are applied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34340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4343400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Then multiply and divide, left to right; then add and subtract.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07492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5033771"/>
            <a:ext cx="40781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Never across a + or a −:  </a:t>
            </a:r>
          </a:p>
        </p:txBody>
      </p:sp>
      <p:pic>
        <p:nvPicPr>
          <p:cNvPr id="18" name="Picture 17" descr="b0973f9ba7881b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864" y="5085587"/>
            <a:ext cx="3118104" cy="3535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40968" y="5033771"/>
            <a:ext cx="10026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, not </a:t>
            </a:r>
          </a:p>
        </p:txBody>
      </p:sp>
      <p:pic>
        <p:nvPicPr>
          <p:cNvPr id="20" name="Picture 19" descr="c3382604741c40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6485" y="5091683"/>
            <a:ext cx="326136" cy="34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32621" y="5033771"/>
            <a:ext cx="2963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zero exponent inside a product inside a quotient.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9c240cefdf3b14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555" y="2103120"/>
            <a:ext cx="978408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10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 — Caroline's plan and Jamir's plan.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cfcc880844c57b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026664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12664" y="2093976"/>
            <a:ext cx="60716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Caroline: product of powers first</a:t>
            </a:r>
          </a:p>
        </p:txBody>
      </p:sp>
      <p:pic>
        <p:nvPicPr>
          <p:cNvPr id="11" name="Picture 10" descr="4c8aa7fdd39a68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99232"/>
            <a:ext cx="3041904" cy="804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27904" y="3172968"/>
            <a:ext cx="6056376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Jamir: zero exponent first</a:t>
            </a:r>
          </a:p>
        </p:txBody>
      </p:sp>
      <p:pic>
        <p:nvPicPr>
          <p:cNvPr id="13" name="Picture 12" descr="8fb9fcec01a757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78224"/>
            <a:ext cx="1981199" cy="8046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67199" y="425196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both: quotient of powers, then 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400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ecdab13571b725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636" y="2194560"/>
            <a:ext cx="1222248" cy="10180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d381195bd435c1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683" y="2194560"/>
            <a:ext cx="1216152" cy="1011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265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1 over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Three laws, a decimal and a negative base.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30d1cf39c0294a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79" y="2103120"/>
            <a:ext cx="2194560" cy="8808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869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8f14d1bdb840e7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404360" cy="8808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90360" y="2132076"/>
            <a:ext cx="4693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zero exponent; power of a quotient, backwards</a:t>
            </a:r>
          </a:p>
        </p:txBody>
      </p:sp>
      <p:pic>
        <p:nvPicPr>
          <p:cNvPr id="11" name="Picture 10" descr="d8954ab13f1548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75432"/>
            <a:ext cx="2798064" cy="701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84064" y="3197352"/>
            <a:ext cx="63002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divide inside: −15 ÷ 1.5 = −10</a:t>
            </a:r>
          </a:p>
        </p:txBody>
      </p:sp>
      <p:pic>
        <p:nvPicPr>
          <p:cNvPr id="13" name="Picture 12" descr="c6322a59797434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50791"/>
            <a:ext cx="2508504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94504" y="4027931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four negative factors: positive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194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10,000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274e6fec14c7e7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815" y="2194560"/>
            <a:ext cx="2151888" cy="10911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e1a3a8f726b8bf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864" y="2194560"/>
            <a:ext cx="2145792" cy="1091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6057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 · (−12 ÷ 4)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(−3)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419" y="2171700"/>
            <a:ext cx="36583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spreadsheet holds  </a:t>
            </a:r>
          </a:p>
        </p:txBody>
      </p:sp>
      <p:pic>
        <p:nvPicPr>
          <p:cNvPr id="10" name="Picture 9" descr="a9a688dcb35987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631" y="2228088"/>
            <a:ext cx="935736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00367" y="2171700"/>
            <a:ext cx="17338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cells in  </a:t>
            </a:r>
          </a:p>
        </p:txBody>
      </p:sp>
      <p:pic>
        <p:nvPicPr>
          <p:cNvPr id="12" name="Picture 11" descr="2b46a8bae93fb0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091" y="2229612"/>
            <a:ext cx="332232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29323" y="2171700"/>
            <a:ext cx="28259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equal columns.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file is 3 megabytes.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cells are in each column?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0371" y="2080260"/>
            <a:ext cx="36583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spreadsheet holds  </a:t>
            </a:r>
          </a:p>
        </p:txBody>
      </p:sp>
      <p:pic>
        <p:nvPicPr>
          <p:cNvPr id="10" name="Picture 9" descr="799e3e8272a315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583" y="2135124"/>
            <a:ext cx="938784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00367" y="2080260"/>
            <a:ext cx="17338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cells in  </a:t>
            </a:r>
          </a:p>
        </p:txBody>
      </p:sp>
      <p:pic>
        <p:nvPicPr>
          <p:cNvPr id="12" name="Picture 11" descr="8616d6e97c2e53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091" y="2138171"/>
            <a:ext cx="335280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32371" y="2080260"/>
            <a:ext cx="28259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equal columns.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file is 3 megabytes.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cells are in each column?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1 over 6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6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159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eca797d063644f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940" y="2194560"/>
            <a:ext cx="1691640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3af1907ef808e9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415" y="2103120"/>
            <a:ext cx="1694688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32948134bf5e35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291" y="2194560"/>
            <a:ext cx="1392936" cy="1185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7bfc7057b3b2cf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2103120"/>
            <a:ext cx="1389888" cy="1185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56311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÷ 0.5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0.5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0.0625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5b85e638d34eb1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59" y="2194560"/>
            <a:ext cx="1600200" cy="1014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e041e4b255d1e3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59" y="2103120"/>
            <a:ext cx="1600200" cy="1018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9547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— the exponent 1 changes nothing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6.25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85a5d92abe26b9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194560"/>
            <a:ext cx="2148840" cy="1100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2348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189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189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875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875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c78ed1ad0d5ded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387" y="2103120"/>
            <a:ext cx="2142744" cy="1094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2595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36dd69d05a8fa1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19" y="2194560"/>
            <a:ext cx="2011680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290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953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953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781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81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916206a62c8d46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19" y="2103120"/>
            <a:ext cx="2011680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37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03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0.1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03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89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89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0.1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1564dccdbc1be4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224" y="2194560"/>
            <a:ext cx="2481072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51f9e7dda47d97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699" y="2103120"/>
            <a:ext cx="2484120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0.1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0.1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a2077b17c7711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836" y="2194560"/>
            <a:ext cx="2593848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c2f375830fedea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3" y="2103120"/>
            <a:ext cx="2587752" cy="1185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56311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(−4)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−64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6876" y="2369820"/>
            <a:ext cx="28679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Winston writes  </a:t>
            </a:r>
          </a:p>
        </p:txBody>
      </p:sp>
      <p:pic>
        <p:nvPicPr>
          <p:cNvPr id="10" name="Picture 9" descr="8510a940fc6058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616" y="2194560"/>
            <a:ext cx="2185416" cy="80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3032" y="2369820"/>
            <a:ext cx="29259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Yvette writes  </a:t>
            </a:r>
          </a:p>
        </p:txBody>
      </p:sp>
      <p:pic>
        <p:nvPicPr>
          <p:cNvPr id="12" name="Picture 11" descr="895c1949fc6ae6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1775" y="2194560"/>
            <a:ext cx="1932432" cy="807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14207" y="236982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765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Do they get the same value? Explain.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Name the law each one used first, and give the value.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8400" y="2276856"/>
            <a:ext cx="28679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Winston writes  </a:t>
            </a:r>
          </a:p>
        </p:txBody>
      </p:sp>
      <p:pic>
        <p:nvPicPr>
          <p:cNvPr id="10" name="Picture 9" descr="7499f9d1d2ab2e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140" y="2103120"/>
            <a:ext cx="2188464" cy="8046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7604" y="2276856"/>
            <a:ext cx="29259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Yvette writes  </a:t>
            </a:r>
          </a:p>
        </p:txBody>
      </p:sp>
      <p:pic>
        <p:nvPicPr>
          <p:cNvPr id="12" name="Picture 11" descr="dc00211af1d70f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347" y="2103120"/>
            <a:ext cx="1926335" cy="8046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12683" y="2276856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8211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Do they get the same value? Explain.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0271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plans end at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Yes — both give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64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expressions using properties of exponents — ZE9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