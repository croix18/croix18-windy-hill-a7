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.xml"/><Relationship Id="rId4" Type="http://schemas.openxmlformats.org/officeDocument/2006/relationships/slide" Target="slide72.xml"/><Relationship Id="rId5" Type="http://schemas.openxmlformats.org/officeDocument/2006/relationships/slide" Target="slide106.xml"/><Relationship Id="rId6" Type="http://schemas.openxmlformats.org/officeDocument/2006/relationships/slide" Target="slide140.xml"/><Relationship Id="rId7" Type="http://schemas.openxmlformats.org/officeDocument/2006/relationships/slide" Target="slide174.xml"/><Relationship Id="rId8" Type="http://schemas.openxmlformats.org/officeDocument/2006/relationships/slide" Target="slide209.xml"/><Relationship Id="rId9" Type="http://schemas.openxmlformats.org/officeDocument/2006/relationships/slide" Target="slide243.xml"/><Relationship Id="rId10" Type="http://schemas.openxmlformats.org/officeDocument/2006/relationships/slide" Target="slide277.xml"/><Relationship Id="rId11" Type="http://schemas.openxmlformats.org/officeDocument/2006/relationships/slide" Target="slide3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7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07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4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png"/><Relationship Id="rId3" Type="http://schemas.openxmlformats.org/officeDocument/2006/relationships/image" Target="../media/image14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Relationship Id="rId6" Type="http://schemas.openxmlformats.org/officeDocument/2006/relationships/image" Target="../media/image154.png"/><Relationship Id="rId7" Type="http://schemas.openxmlformats.org/officeDocument/2006/relationships/image" Target="../media/image15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Relationship Id="rId3" Type="http://schemas.openxmlformats.org/officeDocument/2006/relationships/image" Target="../media/image157.png"/><Relationship Id="rId4" Type="http://schemas.openxmlformats.org/officeDocument/2006/relationships/image" Target="../media/image158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Relationship Id="rId3" Type="http://schemas.openxmlformats.org/officeDocument/2006/relationships/image" Target="../media/image160.png"/><Relationship Id="rId4" Type="http://schemas.openxmlformats.org/officeDocument/2006/relationships/image" Target="../media/image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Relationship Id="rId7" Type="http://schemas.openxmlformats.org/officeDocument/2006/relationships/image" Target="../media/image163.png"/><Relationship Id="rId8" Type="http://schemas.openxmlformats.org/officeDocument/2006/relationships/image" Target="../media/image164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Relationship Id="rId3" Type="http://schemas.openxmlformats.org/officeDocument/2006/relationships/image" Target="../media/image166.png"/><Relationship Id="rId4" Type="http://schemas.openxmlformats.org/officeDocument/2006/relationships/image" Target="../media/image167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Relationship Id="rId3" Type="http://schemas.openxmlformats.org/officeDocument/2006/relationships/image" Target="../media/image170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Relationship Id="rId3" Type="http://schemas.openxmlformats.org/officeDocument/2006/relationships/image" Target="../media/image17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Relationship Id="rId4" Type="http://schemas.openxmlformats.org/officeDocument/2006/relationships/image" Target="../media/image177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png"/><Relationship Id="rId3" Type="http://schemas.openxmlformats.org/officeDocument/2006/relationships/image" Target="../media/image185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Relationship Id="rId3" Type="http://schemas.openxmlformats.org/officeDocument/2006/relationships/image" Target="../media/image19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99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Relationship Id="rId3" Type="http://schemas.openxmlformats.org/officeDocument/2006/relationships/image" Target="../media/image203.png"/><Relationship Id="rId4" Type="http://schemas.openxmlformats.org/officeDocument/2006/relationships/image" Target="../media/image204.png"/><Relationship Id="rId5" Type="http://schemas.openxmlformats.org/officeDocument/2006/relationships/image" Target="../media/image205.png"/><Relationship Id="rId6" Type="http://schemas.openxmlformats.org/officeDocument/2006/relationships/image" Target="../media/image20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Relationship Id="rId3" Type="http://schemas.openxmlformats.org/officeDocument/2006/relationships/image" Target="../media/image207.png"/><Relationship Id="rId4" Type="http://schemas.openxmlformats.org/officeDocument/2006/relationships/image" Target="../media/image203.png"/><Relationship Id="rId5" Type="http://schemas.openxmlformats.org/officeDocument/2006/relationships/image" Target="../media/image208.png"/><Relationship Id="rId6" Type="http://schemas.openxmlformats.org/officeDocument/2006/relationships/image" Target="../media/image204.png"/><Relationship Id="rId7" Type="http://schemas.openxmlformats.org/officeDocument/2006/relationships/image" Target="../media/image205.png"/><Relationship Id="rId8" Type="http://schemas.openxmlformats.org/officeDocument/2006/relationships/image" Target="../media/image209.png"/><Relationship Id="rId9" Type="http://schemas.openxmlformats.org/officeDocument/2006/relationships/image" Target="../media/image206.png"/><Relationship Id="rId10" Type="http://schemas.openxmlformats.org/officeDocument/2006/relationships/image" Target="../media/image210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png"/><Relationship Id="rId3" Type="http://schemas.openxmlformats.org/officeDocument/2006/relationships/image" Target="../media/image212.png"/><Relationship Id="rId4" Type="http://schemas.openxmlformats.org/officeDocument/2006/relationships/image" Target="../media/image213.png"/><Relationship Id="rId5" Type="http://schemas.openxmlformats.org/officeDocument/2006/relationships/image" Target="../media/image214.png"/><Relationship Id="rId6" Type="http://schemas.openxmlformats.org/officeDocument/2006/relationships/image" Target="../media/image215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219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Relationship Id="rId3" Type="http://schemas.openxmlformats.org/officeDocument/2006/relationships/image" Target="../media/image222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png"/><Relationship Id="rId3" Type="http://schemas.openxmlformats.org/officeDocument/2006/relationships/image" Target="../media/image23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237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Relationship Id="rId3" Type="http://schemas.openxmlformats.org/officeDocument/2006/relationships/image" Target="../media/image24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Relationship Id="rId3" Type="http://schemas.openxmlformats.org/officeDocument/2006/relationships/image" Target="../media/image247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png"/><Relationship Id="rId3" Type="http://schemas.openxmlformats.org/officeDocument/2006/relationships/image" Target="../media/image254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256.png"/><Relationship Id="rId4" Type="http://schemas.openxmlformats.org/officeDocument/2006/relationships/image" Target="../media/image257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258.png"/><Relationship Id="rId4" Type="http://schemas.openxmlformats.org/officeDocument/2006/relationships/image" Target="../media/image256.png"/><Relationship Id="rId5" Type="http://schemas.openxmlformats.org/officeDocument/2006/relationships/image" Target="../media/image257.png"/><Relationship Id="rId6" Type="http://schemas.openxmlformats.org/officeDocument/2006/relationships/image" Target="../media/image259.png"/><Relationship Id="rId7" Type="http://schemas.openxmlformats.org/officeDocument/2006/relationships/image" Target="../media/image260.png"/><Relationship Id="rId8" Type="http://schemas.openxmlformats.org/officeDocument/2006/relationships/image" Target="../media/image26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png"/><Relationship Id="rId3" Type="http://schemas.openxmlformats.org/officeDocument/2006/relationships/image" Target="../media/image263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Relationship Id="rId3" Type="http://schemas.openxmlformats.org/officeDocument/2006/relationships/image" Target="../media/image265.png"/><Relationship Id="rId4" Type="http://schemas.openxmlformats.org/officeDocument/2006/relationships/image" Target="../media/image266.png"/><Relationship Id="rId5" Type="http://schemas.openxmlformats.org/officeDocument/2006/relationships/image" Target="../media/image267.png"/><Relationship Id="rId6" Type="http://schemas.openxmlformats.org/officeDocument/2006/relationships/image" Target="../media/image26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png"/><Relationship Id="rId3" Type="http://schemas.openxmlformats.org/officeDocument/2006/relationships/image" Target="../media/image270.png"/><Relationship Id="rId4" Type="http://schemas.openxmlformats.org/officeDocument/2006/relationships/image" Target="../media/image27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png"/><Relationship Id="rId3" Type="http://schemas.openxmlformats.org/officeDocument/2006/relationships/image" Target="../media/image273.png"/><Relationship Id="rId4" Type="http://schemas.openxmlformats.org/officeDocument/2006/relationships/image" Target="../media/image274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6.png"/><Relationship Id="rId3" Type="http://schemas.openxmlformats.org/officeDocument/2006/relationships/image" Target="../media/image27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png"/><Relationship Id="rId3" Type="http://schemas.openxmlformats.org/officeDocument/2006/relationships/image" Target="../media/image280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png"/><Relationship Id="rId3" Type="http://schemas.openxmlformats.org/officeDocument/2006/relationships/image" Target="../media/image282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Relationship Id="rId3" Type="http://schemas.openxmlformats.org/officeDocument/2006/relationships/image" Target="../media/image284.png"/><Relationship Id="rId4" Type="http://schemas.openxmlformats.org/officeDocument/2006/relationships/image" Target="../media/image285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png"/><Relationship Id="rId3" Type="http://schemas.openxmlformats.org/officeDocument/2006/relationships/image" Target="../media/image287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png"/><Relationship Id="rId3" Type="http://schemas.openxmlformats.org/officeDocument/2006/relationships/image" Target="../media/image289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2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Relationship Id="rId3" Type="http://schemas.openxmlformats.org/officeDocument/2006/relationships/image" Target="../media/image294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6.png"/><Relationship Id="rId3" Type="http://schemas.openxmlformats.org/officeDocument/2006/relationships/image" Target="../media/image297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8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png"/><Relationship Id="rId3" Type="http://schemas.openxmlformats.org/officeDocument/2006/relationships/image" Target="../media/image300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2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3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png"/><Relationship Id="rId3" Type="http://schemas.openxmlformats.org/officeDocument/2006/relationships/image" Target="../media/image30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8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9.png"/><Relationship Id="rId3" Type="http://schemas.openxmlformats.org/officeDocument/2006/relationships/image" Target="../media/image3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png"/><Relationship Id="rId3" Type="http://schemas.openxmlformats.org/officeDocument/2006/relationships/image" Target="../media/image312.png"/><Relationship Id="rId4" Type="http://schemas.openxmlformats.org/officeDocument/2006/relationships/image" Target="../media/image18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3.png"/><Relationship Id="rId3" Type="http://schemas.openxmlformats.org/officeDocument/2006/relationships/image" Target="../media/image314.png"/><Relationship Id="rId4" Type="http://schemas.openxmlformats.org/officeDocument/2006/relationships/image" Target="../media/image18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png"/><Relationship Id="rId3" Type="http://schemas.openxmlformats.org/officeDocument/2006/relationships/image" Target="../media/image316.png"/><Relationship Id="rId4" Type="http://schemas.openxmlformats.org/officeDocument/2006/relationships/image" Target="../media/image109.png"/><Relationship Id="rId5" Type="http://schemas.openxmlformats.org/officeDocument/2006/relationships/image" Target="../media/image317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png"/><Relationship Id="rId3" Type="http://schemas.openxmlformats.org/officeDocument/2006/relationships/image" Target="../media/image316.png"/><Relationship Id="rId4" Type="http://schemas.openxmlformats.org/officeDocument/2006/relationships/image" Target="../media/image109.png"/><Relationship Id="rId5" Type="http://schemas.openxmlformats.org/officeDocument/2006/relationships/image" Target="../media/image317.png"/><Relationship Id="rId6" Type="http://schemas.openxmlformats.org/officeDocument/2006/relationships/image" Target="../media/image318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png"/><Relationship Id="rId3" Type="http://schemas.openxmlformats.org/officeDocument/2006/relationships/image" Target="../media/image320.png"/><Relationship Id="rId4" Type="http://schemas.openxmlformats.org/officeDocument/2006/relationships/image" Target="../media/image321.png"/><Relationship Id="rId5" Type="http://schemas.openxmlformats.org/officeDocument/2006/relationships/image" Target="../media/image322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3.png"/><Relationship Id="rId3" Type="http://schemas.openxmlformats.org/officeDocument/2006/relationships/image" Target="../media/image324.png"/><Relationship Id="rId4" Type="http://schemas.openxmlformats.org/officeDocument/2006/relationships/image" Target="../media/image325.png"/><Relationship Id="rId5" Type="http://schemas.openxmlformats.org/officeDocument/2006/relationships/image" Target="../media/image32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png"/><Relationship Id="rId3" Type="http://schemas.openxmlformats.org/officeDocument/2006/relationships/image" Target="../media/image333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4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png"/><Relationship Id="rId3" Type="http://schemas.openxmlformats.org/officeDocument/2006/relationships/image" Target="../media/image338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9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0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1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2.png"/><Relationship Id="rId3" Type="http://schemas.openxmlformats.org/officeDocument/2006/relationships/image" Target="../media/image343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4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5.png"/><Relationship Id="rId3" Type="http://schemas.openxmlformats.org/officeDocument/2006/relationships/image" Target="../media/image346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7.png"/><Relationship Id="rId3" Type="http://schemas.openxmlformats.org/officeDocument/2006/relationships/image" Target="../media/image348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9.png"/><Relationship Id="rId3" Type="http://schemas.openxmlformats.org/officeDocument/2006/relationships/image" Target="../media/image350.png"/><Relationship Id="rId4" Type="http://schemas.openxmlformats.org/officeDocument/2006/relationships/image" Target="../media/image351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png"/><Relationship Id="rId3" Type="http://schemas.openxmlformats.org/officeDocument/2006/relationships/image" Target="../media/image354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5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6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9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0.png"/><Relationship Id="rId3" Type="http://schemas.openxmlformats.org/officeDocument/2006/relationships/image" Target="../media/image361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Relationship Id="rId3" Type="http://schemas.openxmlformats.org/officeDocument/2006/relationships/image" Target="../media/image363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Relationship Id="rId3" Type="http://schemas.openxmlformats.org/officeDocument/2006/relationships/image" Target="../media/image364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png"/><Relationship Id="rId3" Type="http://schemas.openxmlformats.org/officeDocument/2006/relationships/image" Target="../media/image366.png"/><Relationship Id="rId4" Type="http://schemas.openxmlformats.org/officeDocument/2006/relationships/image" Target="../media/image367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8.png"/><Relationship Id="rId3" Type="http://schemas.openxmlformats.org/officeDocument/2006/relationships/image" Target="../media/image369.png"/><Relationship Id="rId4" Type="http://schemas.openxmlformats.org/officeDocument/2006/relationships/image" Target="../media/image370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1.png"/><Relationship Id="rId3" Type="http://schemas.openxmlformats.org/officeDocument/2006/relationships/image" Target="../media/image372.png"/><Relationship Id="rId4" Type="http://schemas.openxmlformats.org/officeDocument/2006/relationships/image" Target="../media/image373.png"/><Relationship Id="rId5" Type="http://schemas.openxmlformats.org/officeDocument/2006/relationships/image" Target="../media/image37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1.png"/><Relationship Id="rId3" Type="http://schemas.openxmlformats.org/officeDocument/2006/relationships/image" Target="../media/image372.png"/><Relationship Id="rId4" Type="http://schemas.openxmlformats.org/officeDocument/2006/relationships/image" Target="../media/image373.png"/><Relationship Id="rId5" Type="http://schemas.openxmlformats.org/officeDocument/2006/relationships/image" Target="../media/image374.png"/><Relationship Id="rId6" Type="http://schemas.openxmlformats.org/officeDocument/2006/relationships/image" Target="../media/image37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6.png"/><Relationship Id="rId3" Type="http://schemas.openxmlformats.org/officeDocument/2006/relationships/image" Target="../media/image377.png"/><Relationship Id="rId4" Type="http://schemas.openxmlformats.org/officeDocument/2006/relationships/image" Target="../media/image378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9.png"/><Relationship Id="rId3" Type="http://schemas.openxmlformats.org/officeDocument/2006/relationships/image" Target="../media/image380.png"/><Relationship Id="rId4" Type="http://schemas.openxmlformats.org/officeDocument/2006/relationships/image" Target="../media/image381.png"/><Relationship Id="rId5" Type="http://schemas.openxmlformats.org/officeDocument/2006/relationships/image" Target="../media/image382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3.png"/><Relationship Id="rId3" Type="http://schemas.openxmlformats.org/officeDocument/2006/relationships/image" Target="../media/image384.png"/><Relationship Id="rId4" Type="http://schemas.openxmlformats.org/officeDocument/2006/relationships/image" Target="../media/image385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6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7.png"/><Relationship Id="rId3" Type="http://schemas.openxmlformats.org/officeDocument/2006/relationships/image" Target="../media/image388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9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0.png"/><Relationship Id="rId3" Type="http://schemas.openxmlformats.org/officeDocument/2006/relationships/image" Target="../media/image391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2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3.png"/><Relationship Id="rId3" Type="http://schemas.openxmlformats.org/officeDocument/2006/relationships/image" Target="../media/image394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5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6.png"/><Relationship Id="rId3" Type="http://schemas.openxmlformats.org/officeDocument/2006/relationships/image" Target="../media/image397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8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9.png"/><Relationship Id="rId3" Type="http://schemas.openxmlformats.org/officeDocument/2006/relationships/image" Target="../media/image400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1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2.png"/><Relationship Id="rId3" Type="http://schemas.openxmlformats.org/officeDocument/2006/relationships/image" Target="../media/image403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4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5.png"/><Relationship Id="rId3" Type="http://schemas.openxmlformats.org/officeDocument/2006/relationships/image" Target="../media/image406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7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8.png"/><Relationship Id="rId3" Type="http://schemas.openxmlformats.org/officeDocument/2006/relationships/image" Target="../media/image409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0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1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2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3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4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5.png"/><Relationship Id="rId3" Type="http://schemas.openxmlformats.org/officeDocument/2006/relationships/image" Target="../media/image416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Relationship Id="rId3" Type="http://schemas.openxmlformats.org/officeDocument/2006/relationships/image" Target="../media/image417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Relationship Id="rId3" Type="http://schemas.openxmlformats.org/officeDocument/2006/relationships/image" Target="../media/image418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9.png"/><Relationship Id="rId3" Type="http://schemas.openxmlformats.org/officeDocument/2006/relationships/image" Target="../media/image420.png"/><Relationship Id="rId4" Type="http://schemas.openxmlformats.org/officeDocument/2006/relationships/image" Target="../media/image421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2.png"/><Relationship Id="rId3" Type="http://schemas.openxmlformats.org/officeDocument/2006/relationships/image" Target="../media/image423.png"/><Relationship Id="rId4" Type="http://schemas.openxmlformats.org/officeDocument/2006/relationships/image" Target="../media/image424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5.png"/><Relationship Id="rId3" Type="http://schemas.openxmlformats.org/officeDocument/2006/relationships/image" Target="../media/image426.png"/><Relationship Id="rId4" Type="http://schemas.openxmlformats.org/officeDocument/2006/relationships/image" Target="../media/image427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5.png"/><Relationship Id="rId3" Type="http://schemas.openxmlformats.org/officeDocument/2006/relationships/image" Target="../media/image426.png"/><Relationship Id="rId4" Type="http://schemas.openxmlformats.org/officeDocument/2006/relationships/image" Target="../media/image427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8.png"/><Relationship Id="rId3" Type="http://schemas.openxmlformats.org/officeDocument/2006/relationships/image" Target="../media/image429.png"/><Relationship Id="rId4" Type="http://schemas.openxmlformats.org/officeDocument/2006/relationships/image" Target="../media/image430.png"/><Relationship Id="rId5" Type="http://schemas.openxmlformats.org/officeDocument/2006/relationships/image" Target="../media/image431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2.png"/><Relationship Id="rId3" Type="http://schemas.openxmlformats.org/officeDocument/2006/relationships/image" Target="../media/image433.png"/><Relationship Id="rId4" Type="http://schemas.openxmlformats.org/officeDocument/2006/relationships/image" Target="../media/image434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5.png"/><Relationship Id="rId3" Type="http://schemas.openxmlformats.org/officeDocument/2006/relationships/image" Target="../media/image436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7.png"/><Relationship Id="rId3" Type="http://schemas.openxmlformats.org/officeDocument/2006/relationships/image" Target="../media/image438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9.png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2.png"/><Relationship Id="rId3" Type="http://schemas.openxmlformats.org/officeDocument/2006/relationships/image" Target="../media/image443.pn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4.png"/><Relationship Id="rId3" Type="http://schemas.openxmlformats.org/officeDocument/2006/relationships/image" Target="../media/image445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6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7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8.png"/><Relationship Id="rId3" Type="http://schemas.openxmlformats.org/officeDocument/2006/relationships/image" Target="../media/image449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0.png"/><Relationship Id="rId3" Type="http://schemas.openxmlformats.org/officeDocument/2006/relationships/image" Target="../media/image451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2.png"/><Relationship Id="rId3" Type="http://schemas.openxmlformats.org/officeDocument/2006/relationships/image" Target="../media/image453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4.png"/><Relationship Id="rId3" Type="http://schemas.openxmlformats.org/officeDocument/2006/relationships/image" Target="../media/image455.pn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6.png"/><Relationship Id="rId3" Type="http://schemas.openxmlformats.org/officeDocument/2006/relationships/image" Target="../media/image457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8.png"/><Relationship Id="rId3" Type="http://schemas.openxmlformats.org/officeDocument/2006/relationships/image" Target="../media/image459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0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1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2.png"/><Relationship Id="rId3" Type="http://schemas.openxmlformats.org/officeDocument/2006/relationships/image" Target="../media/image463.pn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2.png"/><Relationship Id="rId3" Type="http://schemas.openxmlformats.org/officeDocument/2006/relationships/image" Target="../media/image464.png"/><Relationship Id="rId4" Type="http://schemas.openxmlformats.org/officeDocument/2006/relationships/image" Target="../media/image463.png"/><Relationship Id="rId5" Type="http://schemas.openxmlformats.org/officeDocument/2006/relationships/image" Target="../media/image465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6.png"/><Relationship Id="rId3" Type="http://schemas.openxmlformats.org/officeDocument/2006/relationships/image" Target="../media/image467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8.png"/><Relationship Id="rId3" Type="http://schemas.openxmlformats.org/officeDocument/2006/relationships/image" Target="../media/image469.png"/><Relationship Id="rId4" Type="http://schemas.openxmlformats.org/officeDocument/2006/relationships/image" Target="../media/image470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1.png"/><Relationship Id="rId3" Type="http://schemas.openxmlformats.org/officeDocument/2006/relationships/image" Target="../media/image472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3.png"/><Relationship Id="rId3" Type="http://schemas.openxmlformats.org/officeDocument/2006/relationships/image" Target="../media/image474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5.png"/><Relationship Id="rId3" Type="http://schemas.openxmlformats.org/officeDocument/2006/relationships/image" Target="../media/image476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7.png"/><Relationship Id="rId3" Type="http://schemas.openxmlformats.org/officeDocument/2006/relationships/image" Target="../media/image478.png"/><Relationship Id="rId4" Type="http://schemas.openxmlformats.org/officeDocument/2006/relationships/image" Target="../media/image479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0.png"/><Relationship Id="rId3" Type="http://schemas.openxmlformats.org/officeDocument/2006/relationships/image" Target="../media/image481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2.png"/><Relationship Id="rId3" Type="http://schemas.openxmlformats.org/officeDocument/2006/relationships/image" Target="../media/image483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4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5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6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7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8.png"/><Relationship Id="rId3" Type="http://schemas.openxmlformats.org/officeDocument/2006/relationships/image" Target="../media/image489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0.png"/><Relationship Id="rId3" Type="http://schemas.openxmlformats.org/officeDocument/2006/relationships/image" Target="../media/image491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2.png"/><Relationship Id="rId3" Type="http://schemas.openxmlformats.org/officeDocument/2006/relationships/image" Target="../media/image493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4.png"/><Relationship Id="rId3" Type="http://schemas.openxmlformats.org/officeDocument/2006/relationships/image" Target="../media/image495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6.png"/><Relationship Id="rId3" Type="http://schemas.openxmlformats.org/officeDocument/2006/relationships/image" Target="../media/image497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8.png"/><Relationship Id="rId3" Type="http://schemas.openxmlformats.org/officeDocument/2006/relationships/image" Target="../media/image499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3969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 i="0">
                <a:solidFill>
                  <a:srgbClr val="1A1A1A"/>
                </a:solidFill>
                <a:latin typeface="Century Schoolbook"/>
              </a:rPr>
              <a:t>Exponents and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34670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42900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033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Ten lessons in teaching order  ·  the next slide jumps to each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— Exponents and Scientific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Click a lesson to jump to it. Each lesson numbers its slides from 1, as its Teacher Edition does.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— Exponents and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1143000" y="178308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3.01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2560320" y="178308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Product Laws of Exponents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555480" y="178308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224028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1143000" y="220370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3.02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2560320" y="220370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Quotient Laws of Exponents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9555480" y="220370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266090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1143000" y="262432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3.03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2560320" y="262432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Exponential Expressions</a:t>
            </a:r>
          </a:p>
        </p:txBody>
      </p:sp>
      <p:sp>
        <p:nvSpPr>
          <p:cNvPr id="19" name="TextBox 18">
            <a:hlinkClick action="ppaction://hlinksldjump" r:id="rId4"/>
          </p:cNvPr>
          <p:cNvSpPr txBox="1"/>
          <p:nvPr/>
        </p:nvSpPr>
        <p:spPr>
          <a:xfrm>
            <a:off x="9555480" y="262432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72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43000" y="308152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1143000" y="304495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3.04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2560320" y="304495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Negative Exponent Law</a:t>
            </a:r>
          </a:p>
        </p:txBody>
      </p:sp>
      <p:sp>
        <p:nvSpPr>
          <p:cNvPr id="23" name="TextBox 22">
            <a:hlinkClick action="ppaction://hlinksldjump" r:id="rId5"/>
          </p:cNvPr>
          <p:cNvSpPr txBox="1"/>
          <p:nvPr/>
        </p:nvSpPr>
        <p:spPr>
          <a:xfrm>
            <a:off x="9555480" y="304495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106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43000" y="350215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1143000" y="346557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3.05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2560320" y="346557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Applying Exponent Laws</a:t>
            </a:r>
          </a:p>
        </p:txBody>
      </p:sp>
      <p:sp>
        <p:nvSpPr>
          <p:cNvPr id="27" name="TextBox 26">
            <a:hlinkClick action="ppaction://hlinksldjump" r:id="rId6"/>
          </p:cNvPr>
          <p:cNvSpPr txBox="1"/>
          <p:nvPr/>
        </p:nvSpPr>
        <p:spPr>
          <a:xfrm>
            <a:off x="9555480" y="346557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140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" y="392277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1143000" y="388620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3.06–07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2560320" y="388620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Evaluating and Equivalent Expressions</a:t>
            </a:r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9555480" y="388620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174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43000" y="434340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hlinkClick action="ppaction://hlinksldjump" r:id="rId8"/>
          </p:cNvPr>
          <p:cNvSpPr txBox="1"/>
          <p:nvPr/>
        </p:nvSpPr>
        <p:spPr>
          <a:xfrm>
            <a:off x="1143000" y="430682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T-A1</a:t>
            </a:r>
          </a:p>
        </p:txBody>
      </p:sp>
      <p:sp>
        <p:nvSpPr>
          <p:cNvPr id="34" name="TextBox 33">
            <a:hlinkClick action="ppaction://hlinksldjump" r:id="rId8"/>
          </p:cNvPr>
          <p:cNvSpPr txBox="1"/>
          <p:nvPr/>
        </p:nvSpPr>
        <p:spPr>
          <a:xfrm>
            <a:off x="2560320" y="430682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Exponent Laws with Variable Bases</a:t>
            </a:r>
          </a:p>
        </p:txBody>
      </p:sp>
      <p:sp>
        <p:nvSpPr>
          <p:cNvPr id="35" name="TextBox 34">
            <a:hlinkClick action="ppaction://hlinksldjump" r:id="rId8"/>
          </p:cNvPr>
          <p:cNvSpPr txBox="1"/>
          <p:nvPr/>
        </p:nvSpPr>
        <p:spPr>
          <a:xfrm>
            <a:off x="9555480" y="430682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209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43000" y="476402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1143000" y="472744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T-A2</a:t>
            </a:r>
          </a:p>
        </p:txBody>
      </p:sp>
      <p:sp>
        <p:nvSpPr>
          <p:cNvPr id="38" name="TextBox 37">
            <a:hlinkClick action="ppaction://hlinksldjump" r:id="rId9"/>
          </p:cNvPr>
          <p:cNvSpPr txBox="1"/>
          <p:nvPr/>
        </p:nvSpPr>
        <p:spPr>
          <a:xfrm>
            <a:off x="2560320" y="472744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Negative Exponents with Variable Bases</a:t>
            </a:r>
          </a:p>
        </p:txBody>
      </p:sp>
      <p:sp>
        <p:nvSpPr>
          <p:cNvPr id="39" name="TextBox 38">
            <a:hlinkClick action="ppaction://hlinksldjump" r:id="rId9"/>
          </p:cNvPr>
          <p:cNvSpPr txBox="1"/>
          <p:nvPr/>
        </p:nvSpPr>
        <p:spPr>
          <a:xfrm>
            <a:off x="9555480" y="472744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243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43000" y="518464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hlinkClick action="ppaction://hlinksldjump" r:id="rId10"/>
          </p:cNvPr>
          <p:cNvSpPr txBox="1"/>
          <p:nvPr/>
        </p:nvSpPr>
        <p:spPr>
          <a:xfrm>
            <a:off x="1143000" y="514807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3.08</a:t>
            </a:r>
          </a:p>
        </p:txBody>
      </p:sp>
      <p:sp>
        <p:nvSpPr>
          <p:cNvPr id="42" name="TextBox 41">
            <a:hlinkClick action="ppaction://hlinksldjump" r:id="rId10"/>
          </p:cNvPr>
          <p:cNvSpPr txBox="1"/>
          <p:nvPr/>
        </p:nvSpPr>
        <p:spPr>
          <a:xfrm>
            <a:off x="2560320" y="514807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Writing Large Numbers in Scientific Notation</a:t>
            </a:r>
          </a:p>
        </p:txBody>
      </p:sp>
      <p:sp>
        <p:nvSpPr>
          <p:cNvPr id="43" name="TextBox 42">
            <a:hlinkClick action="ppaction://hlinksldjump" r:id="rId10"/>
          </p:cNvPr>
          <p:cNvSpPr txBox="1"/>
          <p:nvPr/>
        </p:nvSpPr>
        <p:spPr>
          <a:xfrm>
            <a:off x="9555480" y="514807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277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143000" y="560527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hlinkClick action="ppaction://hlinksldjump" r:id="rId11"/>
          </p:cNvPr>
          <p:cNvSpPr txBox="1"/>
          <p:nvPr/>
        </p:nvSpPr>
        <p:spPr>
          <a:xfrm>
            <a:off x="1143000" y="556869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3.09</a:t>
            </a:r>
          </a:p>
        </p:txBody>
      </p:sp>
      <p:sp>
        <p:nvSpPr>
          <p:cNvPr id="46" name="TextBox 45">
            <a:hlinkClick action="ppaction://hlinksldjump" r:id="rId11"/>
          </p:cNvPr>
          <p:cNvSpPr txBox="1"/>
          <p:nvPr/>
        </p:nvSpPr>
        <p:spPr>
          <a:xfrm>
            <a:off x="2560320" y="556869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Writing Small Numbers in Scientific Notation</a:t>
            </a:r>
          </a:p>
        </p:txBody>
      </p:sp>
      <p:sp>
        <p:nvSpPr>
          <p:cNvPr id="47" name="TextBox 46">
            <a:hlinkClick action="ppaction://hlinksldjump" r:id="rId11"/>
          </p:cNvPr>
          <p:cNvSpPr txBox="1"/>
          <p:nvPr/>
        </p:nvSpPr>
        <p:spPr>
          <a:xfrm>
            <a:off x="9555480" y="556869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311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143000" y="602589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Product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use the product of powers, power of a product, power of a power and identity laws to rewrite and evaluate a numerical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Last unit you took roots apart.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you put powers together — and the base has to match.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0ae0cbe9590d6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688848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6163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Between which two whole numbers is </a:t>
            </a:r>
          </a:p>
        </p:txBody>
      </p:sp>
      <p:pic>
        <p:nvPicPr>
          <p:cNvPr id="12" name="Picture 11" descr="bab7398c9b21b5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46" y="2397252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90194" y="2372868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d836f789d79888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98292"/>
            <a:ext cx="1402080" cy="231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669792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7" name="Picture 16" descr="ec4478436d606e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621024"/>
            <a:ext cx="63703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0ae0cbe9590d6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688848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95453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6163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Between which two whole numbers is </a:t>
            </a:r>
          </a:p>
        </p:txBody>
      </p:sp>
      <p:pic>
        <p:nvPicPr>
          <p:cNvPr id="13" name="Picture 12" descr="bab7398c9b21b5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46" y="2397252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90194" y="2372868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9446" y="2372868"/>
            <a:ext cx="13513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 and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d836f789d79888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98292"/>
            <a:ext cx="1402080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40088" y="2985516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669792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20" name="Picture 19" descr="ec4478436d606e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621024"/>
            <a:ext cx="637032" cy="554736"/>
          </a:xfrm>
          <a:prstGeom prst="rect">
            <a:avLst/>
          </a:prstGeom>
        </p:spPr>
      </p:pic>
      <p:pic>
        <p:nvPicPr>
          <p:cNvPr id="21" name="Picture 20" descr="3a92952d92bb77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467" y="3621024"/>
            <a:ext cx="170688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three words.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A power is a shorthand for repeated multiplication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50392" y="2322576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404872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404872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base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the number used as a factor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3054096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36391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136391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exponent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how many times the base is a factor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" y="3785616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867912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3867912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power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the whole thing, base and exponent together</a:t>
            </a:r>
          </a:p>
        </p:txBody>
      </p:sp>
      <p:pic>
        <p:nvPicPr>
          <p:cNvPr id="20" name="Picture 19" descr="0ab145e8ca7379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500" y="4709160"/>
            <a:ext cx="2410968" cy="3444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86468" y="4652772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22" name="Picture 21" descr="3b6b0e0ba8659f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891" y="4535424"/>
            <a:ext cx="2548128" cy="691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Where the rule comes from.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Product of powers — same base, add the exponents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979221dae3c66b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536" y="2340864"/>
            <a:ext cx="4346448" cy="411480"/>
          </a:xfrm>
          <a:prstGeom prst="rect">
            <a:avLst/>
          </a:prstGeom>
        </p:spPr>
      </p:pic>
      <p:pic>
        <p:nvPicPr>
          <p:cNvPr id="12" name="Picture 11" descr="3ebe349f0ffa36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781" y="3028188"/>
            <a:ext cx="3596640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69421" y="3003804"/>
            <a:ext cx="5356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— different bases, no shortcut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735324"/>
            <a:ext cx="34192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Product of powers:  </a:t>
            </a:r>
          </a:p>
        </p:txBody>
      </p:sp>
      <p:pic>
        <p:nvPicPr>
          <p:cNvPr id="15" name="Picture 14" descr="90652a6387118d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655" y="3810000"/>
            <a:ext cx="2313432" cy="3078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402836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Check with values:  </a:t>
            </a:r>
          </a:p>
        </p:txBody>
      </p:sp>
      <p:pic>
        <p:nvPicPr>
          <p:cNvPr id="17" name="Picture 16" descr="381f7ba218ba42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837" y="4454652"/>
            <a:ext cx="3934968" cy="353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Power of a product — the exponent goes to every factor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a972b1c36f6d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11" y="2342388"/>
            <a:ext cx="8616696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049524"/>
            <a:ext cx="35301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product:  </a:t>
            </a:r>
          </a:p>
        </p:txBody>
      </p:sp>
      <p:pic>
        <p:nvPicPr>
          <p:cNvPr id="12" name="Picture 11" descr="7d1b404025905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559" y="3104388"/>
            <a:ext cx="2420112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7581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Works for a product only, never for a sum:</a:t>
            </a:r>
          </a:p>
        </p:txBody>
      </p:sp>
      <p:pic>
        <p:nvPicPr>
          <p:cNvPr id="14" name="Picture 13" descr="6a79f5fbe0b8b3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472940"/>
            <a:ext cx="3739896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27448" y="4448555"/>
            <a:ext cx="12086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 but   </a:t>
            </a:r>
          </a:p>
        </p:txBody>
      </p:sp>
      <p:pic>
        <p:nvPicPr>
          <p:cNvPr id="16" name="Picture 15" descr="25abd5cd359cd5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891" y="4472940"/>
            <a:ext cx="284073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IV.  Power of a power, and the exponent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25879" y="2340864"/>
          <a:ext cx="950976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42062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Repeated multiplication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Single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(3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3 · 3 · 3 · 3 ·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4128515"/>
            <a:ext cx="3248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power:  </a:t>
            </a:r>
          </a:p>
        </p:txBody>
      </p:sp>
      <p:pic>
        <p:nvPicPr>
          <p:cNvPr id="12" name="Picture 11" descr="3ba570017fc9cc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435" y="4183380"/>
            <a:ext cx="1837943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36379" y="4128515"/>
            <a:ext cx="2486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     Identity:  </a:t>
            </a:r>
          </a:p>
        </p:txBody>
      </p:sp>
      <p:pic>
        <p:nvPicPr>
          <p:cNvPr id="14" name="Picture 13" descr="61e89ca5117b4f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661" y="4186428"/>
            <a:ext cx="9753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ways to the same value.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662f7ef757f30a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512" y="2136648"/>
            <a:ext cx="920495" cy="344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1638dccdf2248b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87731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3312" y="1865376"/>
            <a:ext cx="62209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product of powers: same base, add</a:t>
            </a:r>
          </a:p>
        </p:txBody>
      </p:sp>
      <p:pic>
        <p:nvPicPr>
          <p:cNvPr id="11" name="Picture 10" descr="4bce5fcbc09ba5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2032"/>
            <a:ext cx="1335024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21024" y="248716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 the single power</a:t>
            </a:r>
          </a:p>
        </p:txBody>
      </p:sp>
      <p:pic>
        <p:nvPicPr>
          <p:cNvPr id="13" name="Picture 12" descr="939d17ddf54fca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3823"/>
            <a:ext cx="1810512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96512" y="3078479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evaluate each, then multiply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0dfb72a0f6508b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94560"/>
            <a:ext cx="117348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f61491015b87f3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94560"/>
            <a:ext cx="117348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3522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add: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negative base and a power of a power.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11bd13923d7f5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72" y="2103120"/>
            <a:ext cx="1255776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996ff584766950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18795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3952" y="1897380"/>
            <a:ext cx="49103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power: multiply</a:t>
            </a:r>
          </a:p>
        </p:txBody>
      </p:sp>
      <p:pic>
        <p:nvPicPr>
          <p:cNvPr id="11" name="Picture 10" descr="816ea1a633337a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1697736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83736" y="258318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six negative factors — positive</a:t>
            </a:r>
          </a:p>
        </p:txBody>
      </p:sp>
      <p:pic>
        <p:nvPicPr>
          <p:cNvPr id="13" name="Picture 12" descr="ed67bc8f2938c1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91840"/>
            <a:ext cx="1697736" cy="4053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83736" y="32659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(−2)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= −8, then square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bb2905f7bc69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94560"/>
            <a:ext cx="1554480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44c6670a1f9083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multiply the exponents: (−3)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(−3)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729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7a6e349cb4210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163" y="2194560"/>
            <a:ext cx="1155192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c64ca1a4dc51bf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720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so add the exponents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0995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b5a5ab64e7e78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4663440"/>
            <a:ext cx="399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5753" y="2171700"/>
            <a:ext cx="5826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tile pattern grows by a factor of  </a:t>
            </a:r>
          </a:p>
        </p:txBody>
      </p:sp>
      <p:pic>
        <p:nvPicPr>
          <p:cNvPr id="10" name="Picture 9" descr="c0129e6e5f8235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978" y="2231136"/>
            <a:ext cx="335280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70258" y="2171700"/>
            <a:ext cx="1982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one week,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0520" y="2857500"/>
            <a:ext cx="14854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by  </a:t>
            </a:r>
          </a:p>
        </p:txBody>
      </p:sp>
      <p:pic>
        <p:nvPicPr>
          <p:cNvPr id="13" name="Picture 12" descr="1f70e4cbe52b37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776" y="2918460"/>
            <a:ext cx="335280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94056" y="2857500"/>
            <a:ext cx="63941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the next week. It started with 9 tiles.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Write the two-week growth factor as one power, then find its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5753" y="2080260"/>
            <a:ext cx="5826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tile pattern grows by a factor of  </a:t>
            </a:r>
          </a:p>
        </p:txBody>
      </p:sp>
      <p:pic>
        <p:nvPicPr>
          <p:cNvPr id="10" name="Picture 9" descr="1c425a5d0040b1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978" y="2138171"/>
            <a:ext cx="335280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70258" y="2080260"/>
            <a:ext cx="1982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one week,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0520" y="2766060"/>
            <a:ext cx="14854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by  </a:t>
            </a:r>
          </a:p>
        </p:txBody>
      </p:sp>
      <p:pic>
        <p:nvPicPr>
          <p:cNvPr id="13" name="Picture 12" descr="029fa134c9dbd6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776" y="2827019"/>
            <a:ext cx="335280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94056" y="2766060"/>
            <a:ext cx="63941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the next week. It started with 9 tiles.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Write the two-week growth factor as one power, then find its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4164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64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0682cf5d6aba1b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94560"/>
            <a:ext cx="1274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b6b82c3fc17cd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79" y="2103120"/>
            <a:ext cx="1280160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255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 · 125, or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d3482028085e5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94560"/>
            <a:ext cx="954023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35097bf00c9366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03120"/>
            <a:ext cx="954023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four copies of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eight 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0995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46595cae23e895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4663440"/>
            <a:ext cx="399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fba9bd10890881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94560"/>
            <a:ext cx="11795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8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fc3793d359b5c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448" y="2103120"/>
            <a:ext cx="118262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5539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1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1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07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07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335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806ea7b0be26cf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94560"/>
            <a:ext cx="954023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0fac146190426f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223" y="2103120"/>
            <a:ext cx="957072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80e874aaffdac4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56" y="2194560"/>
            <a:ext cx="250240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5b98b742702029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1" y="2103120"/>
            <a:ext cx="250545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three negative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f58654af4b9460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376" y="2194560"/>
            <a:ext cx="233476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pic>
        <p:nvPicPr>
          <p:cNvPr id="9" name="Picture 8" descr="a9bbd2622d9f1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103120"/>
            <a:ext cx="2331720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2783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(½)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1736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08b8d08dca6c51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564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Aiyanna says she can use the power of a product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7912" y="2746579"/>
            <a:ext cx="2190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to evaluate  </a:t>
            </a:r>
          </a:p>
        </p:txBody>
      </p:sp>
      <p:pic>
        <p:nvPicPr>
          <p:cNvPr id="11" name="Picture 10" descr="c4163b4848547f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030" y="2769439"/>
            <a:ext cx="1938528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89558" y="2746579"/>
            <a:ext cx="2511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Is she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the law needs, and show the value.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Aiyanna says she can use the power of a product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6388" y="2655139"/>
            <a:ext cx="2190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to evaluate  </a:t>
            </a:r>
          </a:p>
        </p:txBody>
      </p:sp>
      <p:pic>
        <p:nvPicPr>
          <p:cNvPr id="11" name="Picture 10" descr="45831de1d391fe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6" y="2679523"/>
            <a:ext cx="1941576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91082" y="2655139"/>
            <a:ext cx="2511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Is she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parentheses hold a SUM, not a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(10 + (−2))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512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— SZQ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Multiplication with exponents — 5SK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 rule — 8DA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495544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exponents — BFA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Quotient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use the quotient of powers, power of a quotient and zero exponent laws to rewrite and evaluate a numerical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same base, add the exponents.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same base, subtract — and exponent 0 is not 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698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one power:  </a:t>
            </a:r>
          </a:p>
        </p:txBody>
      </p:sp>
      <p:pic>
        <p:nvPicPr>
          <p:cNvPr id="10" name="Picture 9" descr="d71efaf91c1d96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60" y="1848611"/>
            <a:ext cx="74676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38e9b447bed4dd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397252"/>
            <a:ext cx="914400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4" name="Picture 13" descr="73f8d0478760fc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93720"/>
            <a:ext cx="1405128" cy="2407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677412"/>
            <a:ext cx="20997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Simplify  </a:t>
            </a:r>
          </a:p>
        </p:txBody>
      </p:sp>
      <p:pic>
        <p:nvPicPr>
          <p:cNvPr id="16" name="Picture 15" descr="18ea63a1522c26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084" y="3621024"/>
            <a:ext cx="880872" cy="56997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698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one power:  </a:t>
            </a:r>
          </a:p>
        </p:txBody>
      </p:sp>
      <p:pic>
        <p:nvPicPr>
          <p:cNvPr id="10" name="Picture 9" descr="d71efaf91c1d96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60" y="1848611"/>
            <a:ext cx="746760" cy="280416"/>
          </a:xfrm>
          <a:prstGeom prst="rect">
            <a:avLst/>
          </a:prstGeom>
        </p:spPr>
      </p:pic>
      <p:pic>
        <p:nvPicPr>
          <p:cNvPr id="11" name="Picture 10" descr="fe5bb28ba59f7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360" y="1848611"/>
            <a:ext cx="259080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3" name="Picture 12" descr="38e9b447bed4dd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2397252"/>
            <a:ext cx="914400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7211" y="2372868"/>
            <a:ext cx="5756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−3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6" name="Picture 15" descr="73f8d0478760fc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9368" y="3093720"/>
            <a:ext cx="1405128" cy="240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3136" y="2985516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&lt;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677412"/>
            <a:ext cx="20997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Simplify  </a:t>
            </a:r>
          </a:p>
        </p:txBody>
      </p:sp>
      <p:pic>
        <p:nvPicPr>
          <p:cNvPr id="19" name="Picture 18" descr="18ea63a1522c26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084" y="3621024"/>
            <a:ext cx="880872" cy="5699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66596" y="3598164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Where the rule comes from.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Quotient of powers — same base, subtract the exponents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fc742bc47e6f6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752" y="2340864"/>
            <a:ext cx="5462016" cy="813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581400"/>
            <a:ext cx="35344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Quotient of powers:  </a:t>
            </a:r>
          </a:p>
        </p:txBody>
      </p:sp>
      <p:pic>
        <p:nvPicPr>
          <p:cNvPr id="13" name="Picture 12" descr="99376a582dd722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871" y="3474720"/>
            <a:ext cx="1749552" cy="670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34423" y="3581400"/>
            <a:ext cx="597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(</a:t>
            </a:r>
          </a:p>
        </p:txBody>
      </p:sp>
      <p:pic>
        <p:nvPicPr>
          <p:cNvPr id="15" name="Picture 14" descr="6a9975e145b437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07" y="3640836"/>
            <a:ext cx="789432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84039" y="3581400"/>
            <a:ext cx="3307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579620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Check with values:  </a:t>
            </a:r>
          </a:p>
        </p:txBody>
      </p:sp>
      <p:pic>
        <p:nvPicPr>
          <p:cNvPr id="18" name="Picture 17" descr="74344545705a48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837" y="4401312"/>
            <a:ext cx="3621024" cy="81381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Power of a quotient — the exponent goes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72c69fb4c92c9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2340864"/>
            <a:ext cx="6355080" cy="810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584448"/>
            <a:ext cx="36134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quotient:  </a:t>
            </a:r>
          </a:p>
        </p:txBody>
      </p:sp>
      <p:pic>
        <p:nvPicPr>
          <p:cNvPr id="12" name="Picture 11" descr="669ee74891112a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855" y="3471672"/>
            <a:ext cx="1691640" cy="682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55495" y="3584448"/>
            <a:ext cx="597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(</a:t>
            </a:r>
          </a:p>
        </p:txBody>
      </p:sp>
      <p:pic>
        <p:nvPicPr>
          <p:cNvPr id="14" name="Picture 13" descr="a22d74845d9bf1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0" y="3642359"/>
            <a:ext cx="786384" cy="34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02064" y="3584448"/>
            <a:ext cx="3307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587240"/>
            <a:ext cx="20337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Either way:  </a:t>
            </a:r>
          </a:p>
        </p:txBody>
      </p:sp>
      <p:pic>
        <p:nvPicPr>
          <p:cNvPr id="17" name="Picture 16" descr="efb58e8ff7264b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4121" y="4410456"/>
            <a:ext cx="3188208" cy="8107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72329" y="4587240"/>
            <a:ext cx="1265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 and   </a:t>
            </a:r>
          </a:p>
        </p:txBody>
      </p:sp>
      <p:pic>
        <p:nvPicPr>
          <p:cNvPr id="19" name="Picture 18" descr="1d8df7a17576de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091" y="4611624"/>
            <a:ext cx="223113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zero exponent — two roads to the same answer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60" y="2340864"/>
          <a:ext cx="731520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3c353a5052ea2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885" y="3337560"/>
            <a:ext cx="1630680" cy="7985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48565" y="3508248"/>
            <a:ext cx="1987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and      </a:t>
            </a:r>
          </a:p>
        </p:txBody>
      </p:sp>
      <p:pic>
        <p:nvPicPr>
          <p:cNvPr id="13" name="Picture 12" descr="3484dae0b8b01f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543" y="3337560"/>
            <a:ext cx="2350008" cy="7985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48551" y="3508248"/>
            <a:ext cx="1714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so      </a:t>
            </a:r>
          </a:p>
        </p:txBody>
      </p:sp>
      <p:pic>
        <p:nvPicPr>
          <p:cNvPr id="15" name="Picture 14" descr="7798067ac75298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186" y="3567683"/>
            <a:ext cx="917448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433315"/>
            <a:ext cx="2787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Zero exponent:  </a:t>
            </a:r>
          </a:p>
        </p:txBody>
      </p:sp>
      <p:pic>
        <p:nvPicPr>
          <p:cNvPr id="17" name="Picture 16" descr="d591c8ddcc96ae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835" y="4491228"/>
            <a:ext cx="941832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9667" y="4433315"/>
            <a:ext cx="34064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for every nonzero </a:t>
            </a:r>
          </a:p>
        </p:txBody>
      </p:sp>
      <p:pic>
        <p:nvPicPr>
          <p:cNvPr id="19" name="Picture 18" descr="c030b8e94fe02f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992" y="4570476"/>
            <a:ext cx="188976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negative base.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66659ac1f0ea04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988" y="2103120"/>
            <a:ext cx="923544" cy="947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539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665e93b2158cd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986784" cy="944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2784" y="2164080"/>
            <a:ext cx="51114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quotient of powers: subtract</a:t>
            </a:r>
          </a:p>
        </p:txBody>
      </p:sp>
      <p:pic>
        <p:nvPicPr>
          <p:cNvPr id="11" name="Picture 10" descr="a6bb031371915f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39440"/>
            <a:ext cx="1758696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44696" y="311505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three negative factors</a:t>
            </a:r>
          </a:p>
        </p:txBody>
      </p:sp>
      <p:pic>
        <p:nvPicPr>
          <p:cNvPr id="13" name="Picture 12" descr="1a7fe49e913d88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22192"/>
            <a:ext cx="2353056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39056" y="376885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evaluate each, then divide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2991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309fc1c6c87d6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194560"/>
            <a:ext cx="466344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b0a43ae0750e3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112" y="2194560"/>
            <a:ext cx="463296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3263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subtract: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decimal base inside a quotient.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43cc8ad2e0ead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103120"/>
            <a:ext cx="1097280" cy="688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48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7ab80e4044f303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55136" cy="813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41136" y="2098548"/>
            <a:ext cx="5343144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quotient</a:t>
            </a:r>
          </a:p>
        </p:txBody>
      </p:sp>
      <p:pic>
        <p:nvPicPr>
          <p:cNvPr id="11" name="Picture 10" descr="e1269a6bd04833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08376"/>
            <a:ext cx="3486912" cy="691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72912" y="3125724"/>
            <a:ext cx="56113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by 10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: four places left</a:t>
            </a:r>
          </a:p>
        </p:txBody>
      </p:sp>
      <p:pic>
        <p:nvPicPr>
          <p:cNvPr id="13" name="Picture 12" descr="ac2b58a90d22f6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74592"/>
            <a:ext cx="3447288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33288" y="3951731"/>
            <a:ext cx="565099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divide first, then raise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32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0.00000016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e60d4cb6647bee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51" y="2194560"/>
            <a:ext cx="966216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74bc3eff5c14b1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04" y="2194560"/>
            <a:ext cx="972311" cy="856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10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numerator and denominator both cubed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6390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78fdb0141a7d8d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512064" cy="86563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858f7499cc3aa9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095" y="2194560"/>
            <a:ext cx="71932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b0b61f7be1f45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20" y="2103120"/>
            <a:ext cx="716280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54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subtract the exponents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5172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6677a7c7565446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412" y="4663440"/>
            <a:ext cx="630936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0736" y="2171700"/>
            <a:ext cx="28268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server stores  </a:t>
            </a:r>
          </a:p>
        </p:txBody>
      </p:sp>
      <p:pic>
        <p:nvPicPr>
          <p:cNvPr id="10" name="Picture 9" descr="6211579d9db5cb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459" y="2228088"/>
            <a:ext cx="323088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3547" y="2171700"/>
            <a:ext cx="1682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files in  </a:t>
            </a:r>
          </a:p>
        </p:txBody>
      </p:sp>
      <p:pic>
        <p:nvPicPr>
          <p:cNvPr id="12" name="Picture 11" descr="849ea0a036ce86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74" y="2228088"/>
            <a:ext cx="298704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87178" y="2171700"/>
            <a:ext cx="27807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folders, evenly.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has been running for 30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files are in each folder?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0736" y="2080260"/>
            <a:ext cx="28268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server stores  </a:t>
            </a:r>
          </a:p>
        </p:txBody>
      </p:sp>
      <p:pic>
        <p:nvPicPr>
          <p:cNvPr id="10" name="Picture 9" descr="2b0ddd72bd8ed3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459" y="2135124"/>
            <a:ext cx="32308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3547" y="2080260"/>
            <a:ext cx="1682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files in  </a:t>
            </a:r>
          </a:p>
        </p:txBody>
      </p:sp>
      <p:pic>
        <p:nvPicPr>
          <p:cNvPr id="12" name="Picture 11" descr="58e1a0d62eaf33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74" y="2136648"/>
            <a:ext cx="298704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87178" y="2080260"/>
            <a:ext cx="27807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folders, evenly.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has been running for 30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files are in each folder?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÷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512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1252d608a87976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194560"/>
            <a:ext cx="1152144" cy="1197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e97669c0d54b74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212" y="2103120"/>
            <a:ext cx="1149096" cy="1191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920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(−6)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615f3e719211e4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771" y="2194560"/>
            <a:ext cx="1331976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Apply the power of a quotient law. Do not simplify.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260e9dabd7b640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771" y="2103120"/>
            <a:ext cx="1331976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916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exponent goes to both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49331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55647924d788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663440"/>
            <a:ext cx="1152144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b00c54b2f2476e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96" y="2194560"/>
            <a:ext cx="414528" cy="435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902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53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53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111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111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698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17e435e9fa7e4f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7" y="2103120"/>
            <a:ext cx="420624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ad177fa159bf9a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194560"/>
            <a:ext cx="466344" cy="10027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59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a899e53ebcbfa2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112" y="2103120"/>
            <a:ext cx="463296" cy="9997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314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97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97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835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835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7fd8a7336ddfaf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088" y="2194560"/>
            <a:ext cx="847344" cy="1021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73bf2466d9323c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611" y="2103120"/>
            <a:ext cx="844296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54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0.125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41e42a07b25976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491" y="2194560"/>
            <a:ext cx="1240536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262fa269296131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491" y="2103120"/>
            <a:ext cx="1240536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369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any nonzero base to the zero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338" y="2366772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Hannah cancels:  </a:t>
            </a:r>
          </a:p>
        </p:txBody>
      </p:sp>
      <p:pic>
        <p:nvPicPr>
          <p:cNvPr id="10" name="Picture 9" descr="62ec99fb62ba29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624" y="2194560"/>
            <a:ext cx="1627632" cy="801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25256" y="2366772"/>
            <a:ext cx="40953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Sebastian subtracts:  </a:t>
            </a:r>
          </a:p>
        </p:txBody>
      </p:sp>
      <p:pic>
        <p:nvPicPr>
          <p:cNvPr id="12" name="Picture 11" descr="814e799b3c3f04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57" y="2194560"/>
            <a:ext cx="1161288" cy="801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44745" y="2366772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70503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Who is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each one did, and what it tells you about 2</a:t>
            </a:r>
            <a:r>
              <a:rPr sz="1900" b="0" i="1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1900" b="0" i="1">
                <a:solidFill>
                  <a:srgbClr val="6B6B6B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290" y="2273807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Hannah cancels:  </a:t>
            </a:r>
          </a:p>
        </p:txBody>
      </p:sp>
      <p:pic>
        <p:nvPicPr>
          <p:cNvPr id="10" name="Picture 9" descr="3c353a5052ea2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576" y="2103120"/>
            <a:ext cx="1630680" cy="7985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25256" y="2273807"/>
            <a:ext cx="40953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Sebastian subtracts:  </a:t>
            </a:r>
          </a:p>
        </p:txBody>
      </p:sp>
      <p:pic>
        <p:nvPicPr>
          <p:cNvPr id="12" name="Picture 11" descr="1b1a2270832c81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57" y="2103120"/>
            <a:ext cx="1164336" cy="798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47793" y="2273807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7601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Who is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96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are right, so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must equal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Both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0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with negative bases — WFW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Division with exponents — XNC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whole-number exponents — KBE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Exponential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apply more than one law of exponents to evaluate an expression and to write an equivalent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seven laws, one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two or three laws in one expression — and the order is yours.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0d08d420e081e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469392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25852"/>
            <a:ext cx="1082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Is </a:t>
            </a:r>
          </a:p>
        </p:txBody>
      </p:sp>
      <p:pic>
        <p:nvPicPr>
          <p:cNvPr id="12" name="Picture 11" descr="697434924d454a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599" y="2650236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08447" y="2625852"/>
            <a:ext cx="2879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closer to 7 or to 8?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7747f117721bd8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23844"/>
            <a:ext cx="1658112" cy="2865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85114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7" name="Picture 16" descr="2a87b786c67fb6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934968"/>
            <a:ext cx="1112520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0d08d420e081e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469392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4126" y="1760220"/>
            <a:ext cx="743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25852"/>
            <a:ext cx="1082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Is </a:t>
            </a:r>
          </a:p>
        </p:txBody>
      </p:sp>
      <p:pic>
        <p:nvPicPr>
          <p:cNvPr id="13" name="Picture 12" descr="697434924d454a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599" y="2650236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08447" y="2625852"/>
            <a:ext cx="2879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closer to 7 or to 8?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9764" y="2625852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7747f117721bd8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23844"/>
            <a:ext cx="1658112" cy="286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96120" y="3238500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5114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20" name="Picture 19" descr="2a87b786c67fb6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934968"/>
            <a:ext cx="1112520" cy="289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88955" y="385114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 It is your reference for the rest of the unit.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seven laws, in one place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51560" y="2340864"/>
          <a:ext cx="100584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65760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Law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Rule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Example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Product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m+n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Quotient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m-n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7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product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(ab)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b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(−7 · 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(−7)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quotient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 ÷ b)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b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(13 ÷ 5)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(6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6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Identity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15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Zero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127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students, two orders, one value.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More than one law — make a plan, then follow 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30561" y="2514600"/>
            <a:ext cx="18549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Winston:  </a:t>
            </a:r>
          </a:p>
        </p:txBody>
      </p:sp>
      <p:pic>
        <p:nvPicPr>
          <p:cNvPr id="12" name="Picture 11" descr="2d268109f28c9a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390" y="2340864"/>
            <a:ext cx="3782568" cy="804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3041" y="3663696"/>
            <a:ext cx="16211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Yvette:   </a:t>
            </a:r>
          </a:p>
        </p:txBody>
      </p:sp>
      <p:pic>
        <p:nvPicPr>
          <p:cNvPr id="14" name="Picture 13" descr="20e6fc4620e3ea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022" y="3419856"/>
            <a:ext cx="4791456" cy="94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703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Different plans, same value. Any correct sequence of laws gives the same answer.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Order of operations still applies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7552" y="2404872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404872"/>
            <a:ext cx="9537192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Parentheses first — including a fraction bar, which is a pair of parentheses in disguise.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61187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611879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Exponents next — the laws of exponents are applied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34340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4343400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Then multiply and divide, left to right; then add and subtract.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07492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5033771"/>
            <a:ext cx="40781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Never across a + or a −:  </a:t>
            </a:r>
          </a:p>
        </p:txBody>
      </p:sp>
      <p:pic>
        <p:nvPicPr>
          <p:cNvPr id="18" name="Picture 17" descr="b0973f9ba7881b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864" y="5085587"/>
            <a:ext cx="3118104" cy="353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40968" y="5033771"/>
            <a:ext cx="10026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, not </a:t>
            </a:r>
          </a:p>
        </p:txBody>
      </p:sp>
      <p:pic>
        <p:nvPicPr>
          <p:cNvPr id="20" name="Picture 19" descr="c3382604741c40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485" y="5091683"/>
            <a:ext cx="326136" cy="34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32621" y="5033771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zero exponent inside a product inside a quotient.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c240cefdf3b14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5" y="2103120"/>
            <a:ext cx="978408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0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— Caroline's plan and Jamir's plan.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cfcc880844c57b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26664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2664" y="2093976"/>
            <a:ext cx="60716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Caroline: product of powers first</a:t>
            </a:r>
          </a:p>
        </p:txBody>
      </p:sp>
      <p:pic>
        <p:nvPicPr>
          <p:cNvPr id="11" name="Picture 10" descr="4c8aa7fdd39a68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9232"/>
            <a:ext cx="3041904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27904" y="3172968"/>
            <a:ext cx="605637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Jamir: zero exponent first</a:t>
            </a:r>
          </a:p>
        </p:txBody>
      </p:sp>
      <p:pic>
        <p:nvPicPr>
          <p:cNvPr id="13" name="Picture 12" descr="8fb9fcec01a757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78224"/>
            <a:ext cx="1981199" cy="804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7199" y="425196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both: quotient of powers, then 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400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ecdab13571b725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636" y="2194560"/>
            <a:ext cx="1222248" cy="101803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d381195bd435c1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683" y="2194560"/>
            <a:ext cx="1216152" cy="1011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265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1 over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Three laws, a decimal and a negative base.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30d1cf39c0294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79" y="2103120"/>
            <a:ext cx="2194560" cy="880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86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8f14d1bdb840e7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404360" cy="880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90360" y="2132076"/>
            <a:ext cx="4693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zero exponent; power of a quotient, backwards</a:t>
            </a:r>
          </a:p>
        </p:txBody>
      </p:sp>
      <p:pic>
        <p:nvPicPr>
          <p:cNvPr id="11" name="Picture 10" descr="d8954ab13f1548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75432"/>
            <a:ext cx="2798064" cy="701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84064" y="3197352"/>
            <a:ext cx="6300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inside: −15 ÷ 1.5 = −10</a:t>
            </a:r>
          </a:p>
        </p:txBody>
      </p:sp>
      <p:pic>
        <p:nvPicPr>
          <p:cNvPr id="13" name="Picture 12" descr="c6322a59797434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0791"/>
            <a:ext cx="2508504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94504" y="4027931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four negative factors: 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194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10,000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274e6fec14c7e7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15" y="2194560"/>
            <a:ext cx="2151888" cy="1091184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e1a3a8f726b8bf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864" y="2194560"/>
            <a:ext cx="2145792" cy="1091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057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· (−12 ÷ 4)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(−3)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−27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419" y="2171700"/>
            <a:ext cx="36583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spreadsheet holds  </a:t>
            </a:r>
          </a:p>
        </p:txBody>
      </p:sp>
      <p:pic>
        <p:nvPicPr>
          <p:cNvPr id="10" name="Picture 9" descr="a9a688dcb35987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631" y="2228088"/>
            <a:ext cx="935736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00367" y="2171700"/>
            <a:ext cx="17338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cells in  </a:t>
            </a:r>
          </a:p>
        </p:txBody>
      </p:sp>
      <p:pic>
        <p:nvPicPr>
          <p:cNvPr id="12" name="Picture 11" descr="2b46a8bae93fb0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091" y="2229612"/>
            <a:ext cx="332232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29323" y="2171700"/>
            <a:ext cx="2825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equal columns.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file is 3 megabytes.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cells are in each column?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0371" y="2080260"/>
            <a:ext cx="36583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spreadsheet holds  </a:t>
            </a:r>
          </a:p>
        </p:txBody>
      </p:sp>
      <p:pic>
        <p:nvPicPr>
          <p:cNvPr id="10" name="Picture 9" descr="799e3e8272a315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583" y="2135124"/>
            <a:ext cx="93878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00367" y="2080260"/>
            <a:ext cx="17338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cells in  </a:t>
            </a:r>
          </a:p>
        </p:txBody>
      </p:sp>
      <p:pic>
        <p:nvPicPr>
          <p:cNvPr id="12" name="Picture 11" descr="8616d6e97c2e53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091" y="2138171"/>
            <a:ext cx="335280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32371" y="2080260"/>
            <a:ext cx="2825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equal columns.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file is 3 megabytes.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cells are in each column?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1 over 6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6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eca797d063644f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40" y="2194560"/>
            <a:ext cx="169164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3af1907ef808e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415" y="2103120"/>
            <a:ext cx="169468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729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32948134bf5e35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91" y="2194560"/>
            <a:ext cx="1392936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7bfc7057b3b2cf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2103120"/>
            <a:ext cx="1389888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311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÷ 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0.0625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5b85e638d34eb1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94560"/>
            <a:ext cx="1600200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e041e4b255d1e3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03120"/>
            <a:ext cx="1600200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54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the exponent 1 changes nothing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6.25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85a5d92abe26b9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194560"/>
            <a:ext cx="2148840" cy="1100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234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189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89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875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875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c78ed1ad0d5ded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87" y="2103120"/>
            <a:ext cx="2142744" cy="1094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59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36dd69d05a8fa1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9" y="2194560"/>
            <a:ext cx="201168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90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953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953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81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81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916206a62c8d46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9" y="2103120"/>
            <a:ext cx="201168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37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03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0.1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03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89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89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0.1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1564dccdbc1be4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224" y="2194560"/>
            <a:ext cx="2481072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51f9e7dda47d9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699" y="2103120"/>
            <a:ext cx="248412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0.1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a2077b17c7711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836" y="2194560"/>
            <a:ext cx="2593848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c2f375830fedea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3" y="2103120"/>
            <a:ext cx="2587752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311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(−4)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−64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876" y="2369820"/>
            <a:ext cx="28679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 writes  </a:t>
            </a:r>
          </a:p>
        </p:txBody>
      </p:sp>
      <p:pic>
        <p:nvPicPr>
          <p:cNvPr id="10" name="Picture 9" descr="8510a940fc6058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616" y="2194560"/>
            <a:ext cx="2185416" cy="80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3032" y="2369820"/>
            <a:ext cx="29259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Yvette writes  </a:t>
            </a:r>
          </a:p>
        </p:txBody>
      </p:sp>
      <p:pic>
        <p:nvPicPr>
          <p:cNvPr id="12" name="Picture 11" descr="895c1949fc6ae6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775" y="2194560"/>
            <a:ext cx="1932432" cy="807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14207" y="236982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Do they get the same value? Explain.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Name the law each one used first, and give the value.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8400" y="2276856"/>
            <a:ext cx="28679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 writes  </a:t>
            </a:r>
          </a:p>
        </p:txBody>
      </p:sp>
      <p:pic>
        <p:nvPicPr>
          <p:cNvPr id="10" name="Picture 9" descr="7499f9d1d2ab2e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140" y="2103120"/>
            <a:ext cx="2188464" cy="804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7604" y="2276856"/>
            <a:ext cx="29259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Yvette writes  </a:t>
            </a:r>
          </a:p>
        </p:txBody>
      </p:sp>
      <p:pic>
        <p:nvPicPr>
          <p:cNvPr id="12" name="Picture 11" descr="dc00211af1d70f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347" y="2103120"/>
            <a:ext cx="1926335" cy="804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12683" y="2276856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Do they get the same value? Explain.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027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plans end at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both give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64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expressions using properties of exponents — ZE9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 Law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power with a negative exponent using a positive exponent, and evaluate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exponents stopped at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keep going — and 5</a:t>
            </a:r>
            <a:r>
              <a:rPr sz="1700" b="1" i="0" baseline="30000">
                <a:solidFill>
                  <a:srgbClr val="1A1A1A"/>
                </a:solidFill>
                <a:latin typeface="Century Schoolbook"/>
              </a:rPr>
              <a:t>-2</a:t>
            </a:r>
            <a:r>
              <a:rPr sz="1700" b="1" i="0">
                <a:solidFill>
                  <a:srgbClr val="1A1A1A"/>
                </a:solidFill>
                <a:latin typeface="Century Schoolbook"/>
              </a:rPr>
              <a:t> is not a negative number.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795528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2585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2" name="Picture 11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650236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81771" y="262585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51276"/>
            <a:ext cx="1136904" cy="231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92277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17" name="Picture 16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874008"/>
            <a:ext cx="170688" cy="5547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013" y="392277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19" name="Picture 18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874008"/>
            <a:ext cx="170688" cy="5547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30930" y="392277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795528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40262" y="1760220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2585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3" name="Picture 12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650236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81771" y="262585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5878" y="2625852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51276"/>
            <a:ext cx="1136904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74912" y="3238500"/>
            <a:ext cx="11302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−7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92277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20" name="Picture 19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874008"/>
            <a:ext cx="170688" cy="5547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17013" y="392277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22" name="Picture 21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874008"/>
            <a:ext cx="170688" cy="5547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130930" y="392277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24" name="Picture 23" descr="c947c2e93b2d33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4474464"/>
            <a:ext cx="170688" cy="5547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76728" y="4523232"/>
            <a:ext cx="1173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 and  </a:t>
            </a:r>
          </a:p>
        </p:txBody>
      </p:sp>
      <p:pic>
        <p:nvPicPr>
          <p:cNvPr id="26" name="Picture 25" descr="a339c6c78254d9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149" y="4474464"/>
            <a:ext cx="37795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keeps going past zero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340864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81375e471a1972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60" y="3337560"/>
            <a:ext cx="1316736" cy="734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18696" y="3476244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4" name="Picture 13" descr="e662eafaba09aa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20" y="3337560"/>
            <a:ext cx="1969008" cy="7345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39128" y="3476244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6" name="Picture 15" descr="97a68c5b0d6f07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551" y="3337560"/>
            <a:ext cx="1969008" cy="734568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The negative exponent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b26dd1c4f061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725" y="2340864"/>
            <a:ext cx="1362456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70181" y="244906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d3322f317e3cda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173" y="2340864"/>
            <a:ext cx="1395984" cy="673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12157" y="2449068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4" name="Picture 13" descr="6a9975e145b437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679" y="2508504"/>
            <a:ext cx="789432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64111" y="2449068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6" name="Picture 15" descr="01a1e8399ce2f9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114" y="3288792"/>
            <a:ext cx="2170176" cy="7406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67290" y="3430524"/>
            <a:ext cx="19223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but      </a:t>
            </a:r>
          </a:p>
        </p:txBody>
      </p:sp>
      <p:pic>
        <p:nvPicPr>
          <p:cNvPr id="18" name="Picture 17" descr="4d0780cba10826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483" y="3488436"/>
            <a:ext cx="1682496" cy="34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4979" y="3430524"/>
            <a:ext cx="1987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and      </a:t>
            </a:r>
          </a:p>
        </p:txBody>
      </p:sp>
      <p:pic>
        <p:nvPicPr>
          <p:cNvPr id="20" name="Picture 19" descr="06d6b57bc03862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4957" y="3456432"/>
            <a:ext cx="1679448" cy="4053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7552" y="43677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 negative exponent means reciprocal. It never means a negative value.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256275"/>
            <a:ext cx="44334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base keeps its own sign:  </a:t>
            </a:r>
          </a:p>
        </p:txBody>
      </p:sp>
      <p:pic>
        <p:nvPicPr>
          <p:cNvPr id="23" name="Picture 22" descr="6487353c74996e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880" y="5081015"/>
            <a:ext cx="4267200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still work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f5217f7eb4021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219" y="2340864"/>
            <a:ext cx="4831080" cy="752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38293" y="3345180"/>
            <a:ext cx="11244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or      </a:t>
            </a:r>
          </a:p>
        </p:txBody>
      </p:sp>
      <p:pic>
        <p:nvPicPr>
          <p:cNvPr id="12" name="Picture 11" descr="9ad19008f4436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46" y="3400044"/>
            <a:ext cx="4297680" cy="347472"/>
          </a:xfrm>
          <a:prstGeom prst="rect">
            <a:avLst/>
          </a:prstGeom>
        </p:spPr>
      </p:pic>
      <p:pic>
        <p:nvPicPr>
          <p:cNvPr id="13" name="Picture 12" descr="986b589c42d285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955" y="4053839"/>
            <a:ext cx="3721608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21512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Add, subtract and multiply exponents exactly as before — the exponents are just integers now.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Negative exponents top and bottom.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55e053ce9247b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290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positive exponents, then find the value.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6e883f301281d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380744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66744" y="210007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each power swaps sides and loses the minus</a:t>
            </a:r>
          </a:p>
        </p:txBody>
      </p:sp>
      <p:pic>
        <p:nvPicPr>
          <p:cNvPr id="11" name="Picture 10" descr="bdb5dbd5190fc4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11423"/>
            <a:ext cx="2764536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50536" y="3185159"/>
            <a:ext cx="633374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81/8 = 10.125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04c00c9d3a9d24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395fcf61f0d867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194560"/>
            <a:ext cx="70408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295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swap sides, positive exponents: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464515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8b652a33b6da2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480560"/>
            <a:ext cx="259080" cy="877824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quotient law crossing zero.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ffd0e25f89e0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8b0ea9280595c6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29128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5128" y="2093976"/>
            <a:ext cx="616915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quotient of powers: 0 − (−4) = 4</a:t>
            </a:r>
          </a:p>
        </p:txBody>
      </p:sp>
      <p:pic>
        <p:nvPicPr>
          <p:cNvPr id="11" name="Picture 10" descr="a0522eb547e4ba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9232"/>
            <a:ext cx="2368296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54296" y="317296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zero exponent, then move 7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up</a:t>
            </a:r>
          </a:p>
        </p:txBody>
      </p:sp>
      <p:pic>
        <p:nvPicPr>
          <p:cNvPr id="13" name="Picture 12" descr="f5e46e308b616f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78224"/>
            <a:ext cx="153009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16096" y="402336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828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2,401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3d867da8578334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67" y="2194560"/>
            <a:ext cx="1395984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bd647a6f29dfd2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91" y="2194560"/>
            <a:ext cx="1392936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0027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−4 − (−6) = 2, so (−8)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2d36713d8b0595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2194560"/>
            <a:ext cx="63093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745cde1f9722bf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243" y="2103120"/>
            <a:ext cx="637032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 of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746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e3379378f6437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116" y="2171700"/>
            <a:ext cx="4236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pollen grain's mass is  </a:t>
            </a:r>
          </a:p>
        </p:txBody>
      </p:sp>
      <p:pic>
        <p:nvPicPr>
          <p:cNvPr id="10" name="Picture 9" descr="c9adefc290aa5b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879" y="2234184"/>
            <a:ext cx="521207" cy="332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27087" y="2171700"/>
            <a:ext cx="22654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microgram.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Its width is 25 micrometers.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3866" y="3432379"/>
            <a:ext cx="36439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 </a:t>
            </a:r>
          </a:p>
        </p:txBody>
      </p:sp>
      <p:pic>
        <p:nvPicPr>
          <p:cNvPr id="14" name="Picture 13" descr="c9adefc290aa5b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617" y="3494863"/>
            <a:ext cx="521207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31825" y="3432379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4592" y="2080260"/>
            <a:ext cx="4236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pollen grain's mass is  </a:t>
            </a:r>
          </a:p>
        </p:txBody>
      </p:sp>
      <p:pic>
        <p:nvPicPr>
          <p:cNvPr id="10" name="Picture 9" descr="afdbc5b48ef250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355" y="2142744"/>
            <a:ext cx="524256" cy="332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28611" y="2080260"/>
            <a:ext cx="22654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microgram.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Its width is 25 micrometers.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2342" y="3340939"/>
            <a:ext cx="36439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 </a:t>
            </a:r>
          </a:p>
        </p:txBody>
      </p:sp>
      <p:pic>
        <p:nvPicPr>
          <p:cNvPr id="14" name="Picture 13" descr="afdbc5b48ef250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093" y="3403423"/>
            <a:ext cx="524256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33349" y="3340939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53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over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8116" y="4982287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8" name="Picture 17" descr="b025bbe2352d11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356" y="4826839"/>
            <a:ext cx="7650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229e5926a19b9f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76" y="2194560"/>
            <a:ext cx="963167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8f039f3016127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699" y="2103120"/>
            <a:ext cx="960120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101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power moves up: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100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c242b51e1e2a08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7" y="2194560"/>
            <a:ext cx="131978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79a5e9e1457730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03120"/>
            <a:ext cx="1325880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255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over (−2)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 over −8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2603" y="48188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ec4ffcbfe2b298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844" y="4663440"/>
            <a:ext cx="576072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2f69500044ec6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5" y="2194560"/>
            <a:ext cx="658368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39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0b09890174e136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52" y="2103120"/>
            <a:ext cx="661416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1/25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9e50adf1c83696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94560"/>
            <a:ext cx="139903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c950f888df2a10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03120"/>
            <a:ext cx="139903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6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6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e37e6585587b7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94560"/>
            <a:ext cx="1411224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3a37a698b11c2b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03120"/>
            <a:ext cx="1411224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d5e2dc9bfa32d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7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with a positive exponent.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4d44fa8d60938d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103120"/>
            <a:ext cx="704088" cy="1027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404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7468" y="486003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17cb56101b516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1600" y="217170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10" name="Picture 9" descr="b9af177cb680bc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27" y="2229612"/>
            <a:ext cx="527304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6631" y="217170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word reciprocal.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0076" y="208026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10" name="Picture 9" descr="04a54a40cd0eb4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803" y="2138171"/>
            <a:ext cx="53035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8155" y="208026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reciprocal, not opposite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1/25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negative exponents — YBB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with negative exponents — WGS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Applying Exponent Laws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rational base with a negative exponent using a positive exponent, and apply several laws to generate an equivalent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a negative exponent means reciprocal.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base is a fraction — so the reciprocal flips it.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1538ef9a323b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51660"/>
            <a:ext cx="417576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468880"/>
            <a:ext cx="5677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Rewrite with a positive exponent:  </a:t>
            </a:r>
          </a:p>
        </p:txBody>
      </p:sp>
      <p:pic>
        <p:nvPicPr>
          <p:cNvPr id="12" name="Picture 11" descr="82be0161615a5d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558" y="2395728"/>
            <a:ext cx="463296" cy="603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177540"/>
            <a:ext cx="3065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larger, </a:t>
            </a:r>
          </a:p>
        </p:txBody>
      </p:sp>
      <p:pic>
        <p:nvPicPr>
          <p:cNvPr id="14" name="Picture 13" descr="5fa67493f2d0b1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930" y="3268980"/>
            <a:ext cx="265176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68106" y="3177540"/>
            <a:ext cx="674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</a:t>
            </a:r>
          </a:p>
        </p:txBody>
      </p:sp>
      <p:pic>
        <p:nvPicPr>
          <p:cNvPr id="16" name="Picture 15" descr="cd79bb74d01bc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697" y="3264408"/>
            <a:ext cx="265176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70873" y="3177540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863340"/>
            <a:ext cx="4084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the reciprocal of  </a:t>
            </a:r>
          </a:p>
        </p:txBody>
      </p:sp>
      <p:pic>
        <p:nvPicPr>
          <p:cNvPr id="19" name="Picture 18" descr="e5446a4e89f9a3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1467" y="3813048"/>
            <a:ext cx="377952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1538ef9a323b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51660"/>
            <a:ext cx="417576" cy="274320"/>
          </a:xfrm>
          <a:prstGeom prst="rect">
            <a:avLst/>
          </a:prstGeom>
        </p:spPr>
      </p:pic>
      <p:pic>
        <p:nvPicPr>
          <p:cNvPr id="11" name="Picture 10" descr="0f45754c59884b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310" y="1783080"/>
            <a:ext cx="170688" cy="5547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468880"/>
            <a:ext cx="5677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Rewrite with a positive exponent:  </a:t>
            </a:r>
          </a:p>
        </p:txBody>
      </p:sp>
      <p:pic>
        <p:nvPicPr>
          <p:cNvPr id="13" name="Picture 12" descr="82be0161615a5d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558" y="2395728"/>
            <a:ext cx="463296" cy="603504"/>
          </a:xfrm>
          <a:prstGeom prst="rect">
            <a:avLst/>
          </a:prstGeom>
        </p:spPr>
      </p:pic>
      <p:pic>
        <p:nvPicPr>
          <p:cNvPr id="14" name="Picture 13" descr="b031d4b8beeb84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494" y="2462784"/>
            <a:ext cx="271272" cy="277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177540"/>
            <a:ext cx="3065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larger, </a:t>
            </a:r>
          </a:p>
        </p:txBody>
      </p:sp>
      <p:pic>
        <p:nvPicPr>
          <p:cNvPr id="16" name="Picture 15" descr="5fa67493f2d0b1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930" y="3268980"/>
            <a:ext cx="265176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68106" y="3177540"/>
            <a:ext cx="674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</a:t>
            </a:r>
          </a:p>
        </p:txBody>
      </p:sp>
      <p:pic>
        <p:nvPicPr>
          <p:cNvPr id="18" name="Picture 17" descr="cd79bb74d01bc9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5697" y="3264408"/>
            <a:ext cx="265176" cy="2834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70873" y="3177540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20" name="Picture 19" descr="0663332b63521a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0125" y="3264408"/>
            <a:ext cx="265176" cy="2834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95301" y="3177540"/>
            <a:ext cx="16163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(81 &gt; 64)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863340"/>
            <a:ext cx="4084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the reciprocal of  </a:t>
            </a:r>
          </a:p>
        </p:txBody>
      </p:sp>
      <p:pic>
        <p:nvPicPr>
          <p:cNvPr id="23" name="Picture 22" descr="e5446a4e89f9a3a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1467" y="3813048"/>
            <a:ext cx="377952" cy="557784"/>
          </a:xfrm>
          <a:prstGeom prst="rect">
            <a:avLst/>
          </a:prstGeom>
        </p:spPr>
      </p:pic>
      <p:pic>
        <p:nvPicPr>
          <p:cNvPr id="24" name="Picture 23" descr="84c4e1822805198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8059" y="3813048"/>
            <a:ext cx="377952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with a fraction 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651760" y="2340864"/>
          <a:ext cx="685800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3774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Expression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Expanded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 · 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4/25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 · 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25/4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Flip the base, make the exponent positive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05dd24fbf391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785" y="2340864"/>
            <a:ext cx="2133600" cy="691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5385" y="2458212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2" name="Picture 11" descr="2e707716356433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907" y="2516124"/>
            <a:ext cx="1152144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10051" y="2458212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4" name="Picture 13" descr="33556cc2e82731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588" y="3307080"/>
            <a:ext cx="3075432" cy="697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01020" y="342747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6" name="Picture 15" descr="7adc35e6f9ec4d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011" y="3311652"/>
            <a:ext cx="2788920" cy="6888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" y="43434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sign stays with the fraction. Flip the numbers, not the 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166359"/>
            <a:ext cx="55453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 whole number is a fraction over 1:  </a:t>
            </a:r>
          </a:p>
        </p:txBody>
      </p:sp>
      <p:pic>
        <p:nvPicPr>
          <p:cNvPr id="19" name="Picture 18" descr="dee9fbc307a9f9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757" y="5056631"/>
            <a:ext cx="323088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Several laws at once — the plan is still yours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390af24b50c4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63" y="2340864"/>
            <a:ext cx="8013192" cy="816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49605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Any correct order of laws gives the same value. Finish with a positive exponent.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Flip, then evaluate.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ed1bed15013a3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03120"/>
            <a:ext cx="125882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e941bf8846b5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98064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4064" y="2037588"/>
            <a:ext cx="6300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flip the base; the sign stays</a:t>
            </a:r>
          </a:p>
        </p:txBody>
      </p:sp>
      <p:pic>
        <p:nvPicPr>
          <p:cNvPr id="11" name="Picture 10" descr="b75e3c313a78d6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6456"/>
            <a:ext cx="1889760" cy="697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75760" y="300685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even power: 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64/49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a7f1f688f77ec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948" y="2194560"/>
            <a:ext cx="156362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055ea4267017c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424" y="2194560"/>
            <a:ext cx="1566672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(−2/5)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odd power,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8095" y="464210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acffea294d431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335" y="4480560"/>
            <a:ext cx="1085088" cy="871728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laws, then a flip.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8ecac4debf086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820" y="2103120"/>
            <a:ext cx="2087880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79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one base and a positive exponent.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0be869d41e0d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239512" cy="6949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5512" y="2039112"/>
            <a:ext cx="38587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product of powers</a:t>
            </a:r>
          </a:p>
        </p:txBody>
      </p:sp>
      <p:pic>
        <p:nvPicPr>
          <p:cNvPr id="11" name="Picture 10" descr="268771bcd93959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9504"/>
            <a:ext cx="1621536" cy="694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07536" y="300837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already positive: no flip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(5/8)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25/64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a7f97d6945899e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194560"/>
            <a:ext cx="352958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40cdd198e50607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444" y="2194560"/>
            <a:ext cx="3532632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exponent −10, then flip: (−4/5)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4735" y="46375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269d301dd5e8a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976" y="4480560"/>
            <a:ext cx="1511808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8003" y="2304288"/>
            <a:ext cx="53707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recipe is scaled by a factor of  </a:t>
            </a:r>
          </a:p>
        </p:txBody>
      </p:sp>
      <p:pic>
        <p:nvPicPr>
          <p:cNvPr id="10" name="Picture 9" descr="b43afb9c608d06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24" y="2194560"/>
            <a:ext cx="981455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03080" y="230428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original recipe serves 6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2041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with a positive exponent.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245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17086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6479" y="2215896"/>
            <a:ext cx="53707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recipe is scaled by a factor of  </a:t>
            </a:r>
          </a:p>
        </p:txBody>
      </p:sp>
      <p:pic>
        <p:nvPicPr>
          <p:cNvPr id="10" name="Picture 9" descr="ceb45c64c87ab3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100" y="2103120"/>
            <a:ext cx="984504" cy="682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04604" y="2215896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01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original recipe serves 6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50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with a positive exponent.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5567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 the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912" y="513959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6" name="Picture 15" descr="319963a3efbf85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152" y="4987190"/>
            <a:ext cx="981455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23a87bc643d7e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52" y="2194560"/>
            <a:ext cx="157581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7b4aab4c0a6cc8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328" y="2103120"/>
            <a:ext cx="1578864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2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 the numbers; the sign stays in the fraction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4651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837676bd53bd7e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891" y="4663440"/>
            <a:ext cx="1331976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c08fd56f1b4e34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2194560"/>
            <a:ext cx="158496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bc194338a8886e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2103120"/>
            <a:ext cx="158496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2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(−9/8)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81/64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148abf2051aaa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c2285e954aff8d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715" y="2194560"/>
            <a:ext cx="146608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bf10b2e2dc356d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03120"/>
            <a:ext cx="1463040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2783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9516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2c7971114380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756" y="4663440"/>
            <a:ext cx="1222248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fb95563de51335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45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de3072ed6d5fe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471" y="2103120"/>
            <a:ext cx="1560576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851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51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(−8/7)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51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72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72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431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(−8/7)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e9242358ed1b2b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2194560"/>
            <a:ext cx="300228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48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612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612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(8/5)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47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47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5284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77243053f2f7c3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2103120"/>
            <a:ext cx="300228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034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697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(5/8)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697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(8/5)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555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555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6140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(5/8)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983316d8a340e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2194560"/>
            <a:ext cx="2575560" cy="877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cccf2e6aacb49b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5" y="2103120"/>
            <a:ext cx="2578608" cy="877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5526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2041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37c2f03a9ba86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18abdc6135b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56" y="2194560"/>
            <a:ext cx="3188208" cy="856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with one base and one positive exponent.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7d2314fb4fc511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607" y="2103120"/>
            <a:ext cx="3194304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369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(2/3)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inside, then power of a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960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2e17728107926c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99" y="4663440"/>
            <a:ext cx="97536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3551" y="2304288"/>
            <a:ext cx="22021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Marco says  </a:t>
            </a:r>
          </a:p>
        </p:txBody>
      </p:sp>
      <p:pic>
        <p:nvPicPr>
          <p:cNvPr id="10" name="Picture 9" descr="bcbcbf803cfe7e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553" y="2194560"/>
            <a:ext cx="1246632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65185" y="2304288"/>
            <a:ext cx="3705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can be rewritten as  </a:t>
            </a:r>
          </a:p>
        </p:txBody>
      </p:sp>
      <p:pic>
        <p:nvPicPr>
          <p:cNvPr id="12" name="Picture 11" descr="9b43b28c955127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776" y="2194560"/>
            <a:ext cx="774192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14553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'two negatives make a positive.'  Is he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the negative exponent does, and what it does not do. Give the correct rewrite.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8979" y="2215896"/>
            <a:ext cx="22021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Marco says  </a:t>
            </a:r>
          </a:p>
        </p:txBody>
      </p:sp>
      <p:pic>
        <p:nvPicPr>
          <p:cNvPr id="10" name="Picture 9" descr="61e0767165f6b1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981" y="2103120"/>
            <a:ext cx="1252728" cy="682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66709" y="2215896"/>
            <a:ext cx="3705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can be rewritten as  </a:t>
            </a:r>
          </a:p>
        </p:txBody>
      </p:sp>
      <p:pic>
        <p:nvPicPr>
          <p:cNvPr id="12" name="Picture 11" descr="5c0a9d4ef3b8e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300" y="2103120"/>
            <a:ext cx="777240" cy="682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0601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'two negatives make a positive.'  Is he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8079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exponent flips the fraction; it never touches the 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(−2/3)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(−3/2)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exponents I — VLM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LESSONS 6–7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Evaluating and Equivalent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an expression with integer exponents using the laws, and decide whether two expressions with different bases are equivalent.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So far: every law, every kind of base, every kind of exponent.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use all of it at once — and rewrite bases to compare.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31848"/>
            <a:ext cx="78040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exponent, then evaluate:  </a:t>
            </a:r>
          </a:p>
        </p:txBody>
      </p:sp>
      <p:pic>
        <p:nvPicPr>
          <p:cNvPr id="10" name="Picture 9" descr="70fd4f7c195b27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449" y="1783080"/>
            <a:ext cx="795528" cy="554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13660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a4522c3024ca65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538984"/>
            <a:ext cx="463296" cy="606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451860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574a5d3a612aa1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346704"/>
            <a:ext cx="469392" cy="667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4192524"/>
            <a:ext cx="6243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64 as a power of 2, of 4, and of 8.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31848"/>
            <a:ext cx="78040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exponent, then evaluate:  </a:t>
            </a:r>
          </a:p>
        </p:txBody>
      </p:sp>
      <p:pic>
        <p:nvPicPr>
          <p:cNvPr id="10" name="Picture 9" descr="70fd4f7c195b27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449" y="1783080"/>
            <a:ext cx="795528" cy="554736"/>
          </a:xfrm>
          <a:prstGeom prst="rect">
            <a:avLst/>
          </a:prstGeom>
        </p:spPr>
      </p:pic>
      <p:pic>
        <p:nvPicPr>
          <p:cNvPr id="11" name="Picture 10" descr="b2f9cb953a93e9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383536"/>
            <a:ext cx="1152144" cy="5577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21716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a4522c3024ca65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142488"/>
            <a:ext cx="463296" cy="60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4235" y="311962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055363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574a5d3a612aa1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299" y="3950207"/>
            <a:ext cx="469392" cy="6675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20331" y="3927347"/>
            <a:ext cx="743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796027"/>
            <a:ext cx="6243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64 as a power of 2, of 4, and of 8.</a:t>
            </a:r>
          </a:p>
        </p:txBody>
      </p:sp>
      <p:pic>
        <p:nvPicPr>
          <p:cNvPr id="19" name="Picture 18" descr="b2c477a7a0fb52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9654" y="4887467"/>
            <a:ext cx="268224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97878" y="4796027"/>
            <a:ext cx="474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,  </a:t>
            </a:r>
          </a:p>
        </p:txBody>
      </p:sp>
      <p:pic>
        <p:nvPicPr>
          <p:cNvPr id="21" name="Picture 20" descr="555a2ab77fff0f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854" y="4887467"/>
            <a:ext cx="265176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00030" y="4796027"/>
            <a:ext cx="474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,  </a:t>
            </a:r>
          </a:p>
        </p:txBody>
      </p:sp>
      <p:pic>
        <p:nvPicPr>
          <p:cNvPr id="23" name="Picture 22" descr="f2c3dde86c5203a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7005" y="4884419"/>
            <a:ext cx="259080" cy="280416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Two students, two plans, one value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52836" y="2491740"/>
            <a:ext cx="18116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Melanie:  </a:t>
            </a:r>
          </a:p>
        </p:txBody>
      </p:sp>
      <p:pic>
        <p:nvPicPr>
          <p:cNvPr id="11" name="Picture 10" descr="071da3cb12a3a9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283" y="2340864"/>
            <a:ext cx="3581400" cy="7589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90638" y="3694176"/>
            <a:ext cx="17125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Adonis:   </a:t>
            </a:r>
          </a:p>
        </p:txBody>
      </p:sp>
      <p:pic>
        <p:nvPicPr>
          <p:cNvPr id="13" name="Picture 12" descr="76734bcd012bfd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065" y="3374136"/>
            <a:ext cx="5004816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80974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Apply the laws first, evaluate last. The value is the same; the arithmetic is smaller.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worked line.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Every law, one expression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59ee1a209667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28" y="2340864"/>
            <a:ext cx="5388864" cy="8808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560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Find the step that broke:</a:t>
            </a:r>
          </a:p>
        </p:txBody>
      </p:sp>
      <p:pic>
        <p:nvPicPr>
          <p:cNvPr id="13" name="Picture 12" descr="6c3d06b279be60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73296"/>
            <a:ext cx="3535680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3232" y="4387596"/>
            <a:ext cx="46141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   — wrong: multiplied; should be </a:t>
            </a:r>
          </a:p>
        </p:txBody>
      </p:sp>
      <p:pic>
        <p:nvPicPr>
          <p:cNvPr id="15" name="Picture 14" descr="e9e6240f6a5ac6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245" y="4273296"/>
            <a:ext cx="792480" cy="685800"/>
          </a:xfrm>
          <a:prstGeom prst="rect">
            <a:avLst/>
          </a:prstGeom>
        </p:spPr>
      </p:pic>
      <p:pic>
        <p:nvPicPr>
          <p:cNvPr id="16" name="Picture 15" descr="b45588bb7e9f07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215128"/>
            <a:ext cx="1965960" cy="8046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53512" y="5388864"/>
            <a:ext cx="6270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   — wrong: flipped, kept the minus; should be </a:t>
            </a:r>
          </a:p>
        </p:txBody>
      </p:sp>
      <p:pic>
        <p:nvPicPr>
          <p:cNvPr id="18" name="Picture 17" descr="d631bf12f968ff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6772" y="5276088"/>
            <a:ext cx="777240" cy="682752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Different bases, same value — rewrite to a common 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377439" y="2340864"/>
          <a:ext cx="740664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011680"/>
                <a:gridCol w="201168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Base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Square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Cube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Fourth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c34f90c6fc7d4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96" y="4105656"/>
            <a:ext cx="242316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9056" y="4082796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3" name="Picture 12" descr="9053d689824c5c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479" y="4105656"/>
            <a:ext cx="2295144" cy="411480"/>
          </a:xfrm>
          <a:prstGeom prst="rect">
            <a:avLst/>
          </a:prstGeom>
        </p:spPr>
      </p:pic>
      <p:pic>
        <p:nvPicPr>
          <p:cNvPr id="14" name="Picture 13" descr="a561d3e29393bc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4791456"/>
            <a:ext cx="487375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IV.  Testing equivalence: Xavier's claim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8fba7ecf87f384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84" y="2340864"/>
            <a:ext cx="4294632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4716" y="245059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505da5ea0c261b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707" y="2340864"/>
            <a:ext cx="4300728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3558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Same base, then compare exponents.</a:t>
            </a:r>
          </a:p>
        </p:txBody>
      </p:sp>
      <p:pic>
        <p:nvPicPr>
          <p:cNvPr id="14" name="Picture 13" descr="5954d94571e7ef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073651"/>
            <a:ext cx="1487424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74976" y="4046219"/>
            <a:ext cx="34041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— so Xavier is wrong.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Evaluate.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2d16e4daaa9b6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623" y="2103120"/>
            <a:ext cx="1414272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1ca1397ffa03d4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12008" cy="688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8008" y="2036064"/>
            <a:ext cx="598627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negative exponent: flip</a:t>
            </a:r>
          </a:p>
        </p:txBody>
      </p:sp>
      <p:pic>
        <p:nvPicPr>
          <p:cNvPr id="11" name="Picture 10" descr="f25419565ed35d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3408"/>
            <a:ext cx="1697736" cy="697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83736" y="300380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quotient, then multiply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16/3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b5586861463d6b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194560"/>
            <a:ext cx="179222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ba5d3554b7f4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2194560"/>
            <a:ext cx="1798320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2 = 25/4 ·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6375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a56cc9ab8e3bb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51206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Equivalent or not?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6109" y="2313432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10" name="Picture 9" descr="67df2d652c1a7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54" y="2369819"/>
            <a:ext cx="920495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7450" y="2313432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69969edd9de468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156" y="2103120"/>
            <a:ext cx="1082040" cy="8778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81196" y="2313432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both with the bases 3 and 2, then compare.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9dc7ad07cd91fb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67200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53200" y="1865376"/>
            <a:ext cx="483107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product, product of powers</a:t>
            </a:r>
          </a:p>
        </p:txBody>
      </p:sp>
      <p:pic>
        <p:nvPicPr>
          <p:cNvPr id="11" name="Picture 10" descr="77d3b6258368a7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2032"/>
            <a:ext cx="3883152" cy="874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69152" y="2750820"/>
            <a:ext cx="52151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product, quotient of powers</a:t>
            </a:r>
          </a:p>
        </p:txBody>
      </p:sp>
      <p:pic>
        <p:nvPicPr>
          <p:cNvPr id="13" name="Picture 12" descr="4af5e130ae69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91127"/>
            <a:ext cx="2295144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44" y="3636263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same bases, same exponents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both are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·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1944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6633" y="2516124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10" name="Picture 9" descr="9b99919743149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478" y="2528315"/>
            <a:ext cx="1411224" cy="432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8702" y="251612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e566d1e7830f89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408" y="2194560"/>
            <a:ext cx="1350264" cy="1100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60672" y="2516124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8157" y="2516124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10" name="Picture 9" descr="7788e03876974c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02" y="2529840"/>
            <a:ext cx="1411224" cy="429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40226" y="251612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b7201d2b15f8c8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32" y="2194560"/>
            <a:ext cx="1347216" cy="1100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9148" y="2516124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49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are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·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4000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61e8ec21e00a89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836" y="2194560"/>
            <a:ext cx="2593848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956b769eca71d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3" y="2103120"/>
            <a:ext cx="2587752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615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(−7)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(−7)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(−7)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−343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5a81991eb38a0b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543" y="2194560"/>
            <a:ext cx="2694432" cy="1865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425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10328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b34bc56ecccd0f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067" y="2103120"/>
            <a:ext cx="2691384" cy="1871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424891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−3 − (−2) = −1, so (3/4)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51328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6d9a31f1d02f31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980432"/>
            <a:ext cx="25908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2f8b87745f5bc5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675" y="2194560"/>
            <a:ext cx="2868168" cy="1432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8df33e2a7e48c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3" y="2103120"/>
            <a:ext cx="2862072" cy="1429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80695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481431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2bb7fdb900ba42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663440"/>
            <a:ext cx="25908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934" y="2171700"/>
            <a:ext cx="2535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drive holds  </a:t>
            </a:r>
          </a:p>
        </p:txBody>
      </p:sp>
      <p:pic>
        <p:nvPicPr>
          <p:cNvPr id="10" name="Picture 9" descr="326fb02d0e36fa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911" y="2226564"/>
            <a:ext cx="31089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94807" y="2171700"/>
            <a:ext cx="22179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megabytes.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costs 45 dollars.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878" y="3432379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4" name="Picture 13" descr="326fb02d0e36fa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759" y="3487243"/>
            <a:ext cx="310896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47655" y="3432379"/>
            <a:ext cx="28881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a power of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a power of 2.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4410" y="2080260"/>
            <a:ext cx="2535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drive holds  </a:t>
            </a:r>
          </a:p>
        </p:txBody>
      </p:sp>
      <p:pic>
        <p:nvPicPr>
          <p:cNvPr id="10" name="Picture 9" descr="a6ec4c130c4a79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387" y="2135124"/>
            <a:ext cx="31394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96331" y="2080260"/>
            <a:ext cx="22179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megabytes.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costs 45 dollars.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1354" y="3340939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4" name="Picture 13" descr="a6ec4c130c4a79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235" y="3395803"/>
            <a:ext cx="313944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49179" y="3340939"/>
            <a:ext cx="28881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a power of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53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(2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9556" y="4764355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8" name="Picture 17" descr="6103e54678c6ec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795" y="4826839"/>
            <a:ext cx="582168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39fbeb40e62d1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96" y="2194560"/>
            <a:ext cx="414528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6207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83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83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141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141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2003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2a82b5b2f64aa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971" y="2103120"/>
            <a:ext cx="417576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78733fd3b94c87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79" y="2194560"/>
            <a:ext cx="1965960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45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4ef405027ff61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79" y="2103120"/>
            <a:ext cx="1965960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8211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48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48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42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42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4007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11b1cae12f4ad7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94560"/>
            <a:ext cx="115824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of 2.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9a83df8a23e939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79806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474833020a9714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663440"/>
            <a:ext cx="41148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cd86dc37fd0c05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051" y="2194560"/>
            <a:ext cx="142341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of 2.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pic>
        <p:nvPicPr>
          <p:cNvPr id="9" name="Picture 8" descr="a58ef65a72479a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7" y="2103120"/>
            <a:ext cx="142646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11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1935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9101e99983c70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176" y="4663440"/>
            <a:ext cx="597408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294" y="2304288"/>
            <a:ext cx="2254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Xavier says  </a:t>
            </a:r>
          </a:p>
        </p:txBody>
      </p:sp>
      <p:pic>
        <p:nvPicPr>
          <p:cNvPr id="10" name="Picture 9" descr="928a3b4f052209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146" y="2194560"/>
            <a:ext cx="1569720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13866" y="2304288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b84e4faf309355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72" y="2194560"/>
            <a:ext cx="1557528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43100" y="2304288"/>
            <a:ext cx="27282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are 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3296" y="3122675"/>
            <a:ext cx="5363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because both can be written as  </a:t>
            </a:r>
          </a:p>
        </p:txBody>
      </p:sp>
      <p:pic>
        <p:nvPicPr>
          <p:cNvPr id="15" name="Picture 14" descr="c9adefc290aa5b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75" y="3185159"/>
            <a:ext cx="521207" cy="332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1183" y="3122675"/>
            <a:ext cx="27642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Do you agree?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each with base 2, and say what you find.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4246" y="2212848"/>
            <a:ext cx="2254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Xavier says  </a:t>
            </a:r>
          </a:p>
        </p:txBody>
      </p:sp>
      <p:pic>
        <p:nvPicPr>
          <p:cNvPr id="10" name="Picture 9" descr="5cc8e379c9f0fb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098" y="2103120"/>
            <a:ext cx="1572768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13866" y="2212848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3544f9e4eb8bbb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72" y="2103120"/>
            <a:ext cx="1560576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46148" y="2212848"/>
            <a:ext cx="27282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are 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1772" y="3031236"/>
            <a:ext cx="5363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because both can be written as  </a:t>
            </a:r>
          </a:p>
        </p:txBody>
      </p:sp>
      <p:pic>
        <p:nvPicPr>
          <p:cNvPr id="15" name="Picture 14" descr="afdbc5b48ef250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451" y="3093720"/>
            <a:ext cx="524256" cy="332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2707" y="3031236"/>
            <a:ext cx="27642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Do you agree?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85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-7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and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the second is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, not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expressions using properties of exponents — 6T7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exponents II — QDM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THREAD A ·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Exponent Laws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multiply and divide monomials, and raise a monomial to a power, by applying the laws of exponents to variable bases.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bases were all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base is a letter. Every law still works.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d93a40084748b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21180"/>
            <a:ext cx="126796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499360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2" name="Picture 11" descr="9d90cf2f49ecc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304800" cy="664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238500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4" name="Picture 13" descr="697434924d454a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3262884"/>
            <a:ext cx="688848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53019" y="3238500"/>
            <a:ext cx="5733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is between which two whole numbers?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51147"/>
            <a:ext cx="4347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with an exponent:  </a:t>
            </a:r>
          </a:p>
        </p:txBody>
      </p:sp>
      <p:pic>
        <p:nvPicPr>
          <p:cNvPr id="17" name="Picture 16" descr="2cd7015fba8991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28" y="3973068"/>
            <a:ext cx="1499616" cy="213360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d93a40084748b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21180"/>
            <a:ext cx="126796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2702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499360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3" name="Picture 12" descr="9d90cf2f49ecc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304800" cy="664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95605" y="2372868"/>
            <a:ext cx="1215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2300" b="1" i="0">
                <a:solidFill>
                  <a:srgbClr val="9E1B32"/>
                </a:solidFill>
                <a:latin typeface="Century Schoolbook"/>
              </a:rPr>
              <a:t> =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38500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6" name="Picture 15" descr="697434924d454a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3262884"/>
            <a:ext cx="688848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53019" y="3238500"/>
            <a:ext cx="5733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is between which two whole numbers?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8069" y="3238500"/>
            <a:ext cx="13513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7 and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51147"/>
            <a:ext cx="4347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with an exponent:  </a:t>
            </a:r>
          </a:p>
        </p:txBody>
      </p:sp>
      <p:pic>
        <p:nvPicPr>
          <p:cNvPr id="20" name="Picture 19" descr="2cd7015fba8991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28" y="3973068"/>
            <a:ext cx="1499616" cy="213360"/>
          </a:xfrm>
          <a:prstGeom prst="rect">
            <a:avLst/>
          </a:prstGeom>
        </p:spPr>
      </p:pic>
      <p:pic>
        <p:nvPicPr>
          <p:cNvPr id="21" name="Picture 20" descr="cb1e58e5201185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284" y="3909059"/>
            <a:ext cx="280416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Product of powers — the base is a letter now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7f4dc7bb52f349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24" y="2340864"/>
            <a:ext cx="4245864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49888" y="2318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3" name="Picture 12" descr="4bb1e456c94b13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879" y="2391156"/>
            <a:ext cx="2261616" cy="310896"/>
          </a:xfrm>
          <a:prstGeom prst="rect">
            <a:avLst/>
          </a:prstGeom>
        </p:spPr>
      </p:pic>
      <p:pic>
        <p:nvPicPr>
          <p:cNvPr id="14" name="Picture 13" descr="a285865d99a08f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064" y="3026664"/>
            <a:ext cx="5041392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37764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the coefficients. Add the exponents of like bases.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72940"/>
            <a:ext cx="5144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Different variables stay separate:  </a:t>
            </a:r>
          </a:p>
        </p:txBody>
      </p:sp>
      <p:pic>
        <p:nvPicPr>
          <p:cNvPr id="17" name="Picture 16" descr="2a950411e1004b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632" y="4489704"/>
            <a:ext cx="2618232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Power of a power, power of a product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e72c58bfa2a95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864" y="2340864"/>
            <a:ext cx="4227576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75440" y="2318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f6f2fe1277a80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431" y="2372868"/>
            <a:ext cx="1792224" cy="347472"/>
          </a:xfrm>
          <a:prstGeom prst="rect">
            <a:avLst/>
          </a:prstGeom>
        </p:spPr>
      </p:pic>
      <p:pic>
        <p:nvPicPr>
          <p:cNvPr id="13" name="Picture 12" descr="783225cb699ff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224" y="3026664"/>
            <a:ext cx="3727704" cy="423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26928" y="300990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1389c559d7859c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919" y="3026664"/>
            <a:ext cx="3389376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8866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power: multiply the exponents.  Power of a product: raise every factor.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Quotient of powers — dividing monomials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3942cbc98c315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152" y="2340864"/>
            <a:ext cx="4270248" cy="804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36400" y="251460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90de12726cf0d0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391" y="2406396"/>
            <a:ext cx="1712976" cy="673608"/>
          </a:xfrm>
          <a:prstGeom prst="rect">
            <a:avLst/>
          </a:prstGeom>
        </p:spPr>
      </p:pic>
      <p:pic>
        <p:nvPicPr>
          <p:cNvPr id="13" name="Picture 12" descr="56477ae8447c46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700" y="3419856"/>
            <a:ext cx="1801368" cy="8107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42068" y="359664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7b39cdb0ef566b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059" y="3421379"/>
            <a:ext cx="3032760" cy="807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56895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Subtract the exponents of like bases.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Multiplying two monomials.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a0894cd9a5ccf6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843" y="2103120"/>
            <a:ext cx="2465832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de63dedae86b58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00456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90560" y="1903476"/>
            <a:ext cx="30937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regroup: coefficients, x's, y's</a:t>
            </a:r>
          </a:p>
        </p:txBody>
      </p:sp>
      <p:pic>
        <p:nvPicPr>
          <p:cNvPr id="11" name="Picture 10" descr="2f53120bf9dfff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18232"/>
            <a:ext cx="3581400" cy="423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67399" y="2601468"/>
            <a:ext cx="5516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coefficients; add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−8x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83ae14ddaf39e7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28700badd3bdf0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5 · 3,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15a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b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power of a product, then a quotient.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9dec83acdd34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03120"/>
            <a:ext cx="1325880" cy="8900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960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d5a2c92467f9be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4132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27320" y="1897380"/>
            <a:ext cx="615695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product: raise all three factors</a:t>
            </a:r>
          </a:p>
        </p:txBody>
      </p:sp>
      <p:pic>
        <p:nvPicPr>
          <p:cNvPr id="11" name="Picture 10" descr="8affb1101a179d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5541264" cy="8168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27263" y="2785872"/>
            <a:ext cx="355701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coefficients; subtract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n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c61e723e73851e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83" y="2194560"/>
            <a:ext cx="1292352" cy="1216152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192ab9962e6dc8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107" y="2194560"/>
            <a:ext cx="1289304" cy="1213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2770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16p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8p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2p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d4d3158a21a48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94560"/>
            <a:ext cx="11795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power.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0123ea625216e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03120"/>
            <a:ext cx="11795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like bases: add the exponents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7363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ea1790c6884cea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603" y="4663440"/>
            <a:ext cx="606552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df024cff5e9ce1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194560"/>
            <a:ext cx="932688" cy="530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power.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00e7a99be8e12d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891" y="2103120"/>
            <a:ext cx="935736" cy="524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0169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power of a power: multiply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2791" y="465429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5d59527968cea4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032" y="4663440"/>
            <a:ext cx="615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6587" y="2171700"/>
            <a:ext cx="2996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cube has edge  </a:t>
            </a:r>
          </a:p>
        </p:txBody>
      </p:sp>
      <p:pic>
        <p:nvPicPr>
          <p:cNvPr id="10" name="Picture 9" descr="7234be0b0114cb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479" y="2228088"/>
            <a:ext cx="524256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39735" y="2171700"/>
            <a:ext cx="24023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2791" y="2857500"/>
            <a:ext cx="33039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Its surface area is  </a:t>
            </a:r>
          </a:p>
        </p:txBody>
      </p:sp>
      <p:pic>
        <p:nvPicPr>
          <p:cNvPr id="13" name="Picture 12" descr="cf9ea632c43208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627" y="2912364"/>
            <a:ext cx="734568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4195" y="2857500"/>
            <a:ext cx="35916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square centimeters.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cube's volume as a single monomial.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monomial.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6587" y="2080260"/>
            <a:ext cx="2996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cube has edge  </a:t>
            </a:r>
          </a:p>
        </p:txBody>
      </p:sp>
      <p:pic>
        <p:nvPicPr>
          <p:cNvPr id="10" name="Picture 9" descr="8f127f99c88fb8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479" y="2136648"/>
            <a:ext cx="524256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39735" y="2080260"/>
            <a:ext cx="24023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2791" y="2766060"/>
            <a:ext cx="33039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Its surface area is  </a:t>
            </a:r>
          </a:p>
        </p:txBody>
      </p:sp>
      <p:pic>
        <p:nvPicPr>
          <p:cNvPr id="13" name="Picture 12" descr="8ee8aed49f7b7a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627" y="2820924"/>
            <a:ext cx="734568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4195" y="2766060"/>
            <a:ext cx="35916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square centimeters.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cube's volume as a single monomial.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53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(2x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: raise the 2 as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7551" y="4768927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8" name="Picture 17" descr="b5d97e94079cb0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791" y="4826839"/>
            <a:ext cx="646176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f0d74218b39c7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1" y="2194560"/>
            <a:ext cx="2642616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monomial.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20518fcef0388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928" y="2103120"/>
            <a:ext cx="2645664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· 4,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a, b ·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1979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53df2d82dfc942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19" y="4663440"/>
            <a:ext cx="1417320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6cf649989ec0d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5" y="2194560"/>
            <a:ext cx="134416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10m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b63f3b3a75f7bb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152" y="2103120"/>
            <a:ext cx="134721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25m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10m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25m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a9b3bfaec72a6e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7" y="2194560"/>
            <a:ext cx="969264" cy="1011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3509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1014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014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872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872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57f74e63f18b45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51" y="2103120"/>
            <a:ext cx="966216" cy="1011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4365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099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099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957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957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85c3b95db630c6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692" y="2194560"/>
            <a:ext cx="1088136" cy="1021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monomial.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b4ec42ed5af64d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215" y="2103120"/>
            <a:ext cx="108508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242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m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n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and n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0224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33514adb2311b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463" y="4663440"/>
            <a:ext cx="560832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17170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30886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6af21d554c0d03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312" y="2913888"/>
            <a:ext cx="18348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law applies?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08026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21742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9b87377120470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312" y="2822448"/>
            <a:ext cx="18348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+ n =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7268" y="2176272"/>
            <a:ext cx="2615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Rachel writes  </a:t>
            </a:r>
          </a:p>
        </p:txBody>
      </p:sp>
      <p:pic>
        <p:nvPicPr>
          <p:cNvPr id="10" name="Picture 9" descr="a608046776132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333" y="2194560"/>
            <a:ext cx="1335024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0357" y="2176272"/>
            <a:ext cx="956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 </a:t>
            </a:r>
          </a:p>
        </p:txBody>
      </p:sp>
      <p:pic>
        <p:nvPicPr>
          <p:cNvPr id="12" name="Picture 11" descr="300f952ef0d53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335" y="2225040"/>
            <a:ext cx="5364480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93815" y="2176272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0629" y="2872739"/>
            <a:ext cx="3534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Justina writes it as  </a:t>
            </a:r>
          </a:p>
        </p:txBody>
      </p:sp>
      <p:pic>
        <p:nvPicPr>
          <p:cNvPr id="15" name="Picture 14" descr="7c47cd9abe6657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159" y="2889503"/>
            <a:ext cx="1603248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1407" y="2872739"/>
            <a:ext cx="4436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Who is correct? Explain.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each of them did.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744" y="2084831"/>
            <a:ext cx="2615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Rachel writes  </a:t>
            </a:r>
          </a:p>
        </p:txBody>
      </p:sp>
      <p:pic>
        <p:nvPicPr>
          <p:cNvPr id="10" name="Picture 9" descr="c182d5e9af3001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09" y="2103120"/>
            <a:ext cx="1338072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1881" y="2084831"/>
            <a:ext cx="956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 </a:t>
            </a:r>
          </a:p>
        </p:txBody>
      </p:sp>
      <p:pic>
        <p:nvPicPr>
          <p:cNvPr id="12" name="Picture 11" descr="633192d31288b5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859" y="2133599"/>
            <a:ext cx="5364480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95339" y="2084831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9105" y="2781299"/>
            <a:ext cx="3534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Justina writes it as  </a:t>
            </a:r>
          </a:p>
        </p:txBody>
      </p:sp>
      <p:pic>
        <p:nvPicPr>
          <p:cNvPr id="15" name="Picture 14" descr="9c1cc680a1f0e7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635" y="2798063"/>
            <a:ext cx="1606296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2931" y="2781299"/>
            <a:ext cx="4436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Who is correct? Explain.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417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— Justina's is Rachel's product, multiplied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Both are correct; 15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3,375, x · x · x =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, and six y's make 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powers: variable bases — TR9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a power: variable bases — 2CU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Divide monomials with positive exponents — C8L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THREAD A ·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an algebraic expression with negative exponents using only positive exponents, and apply several laws of exponents to a monomial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every exponent on a letter was positive.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x</a:t>
            </a:r>
            <a:r>
              <a:rPr sz="1700" b="1" i="0" baseline="30000">
                <a:solidFill>
                  <a:srgbClr val="1A1A1A"/>
                </a:solidFill>
                <a:latin typeface="Century Schoolbook"/>
              </a:rPr>
              <a:t>-3</a:t>
            </a:r>
            <a:r>
              <a:rPr sz="1700" b="1" i="0">
                <a:solidFill>
                  <a:srgbClr val="1A1A1A"/>
                </a:solidFill>
                <a:latin typeface="Century Schoolbook"/>
              </a:rPr>
              <a:t> arrives — and it is not a negative number.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48746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a single monomial:  </a:t>
            </a:r>
          </a:p>
        </p:txBody>
      </p:sp>
      <p:pic>
        <p:nvPicPr>
          <p:cNvPr id="10" name="Picture 9" descr="c0ecde76b6542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92" y="1821180"/>
            <a:ext cx="771144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baf21e0fadb8b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61260"/>
            <a:ext cx="42672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3341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greater,  </a:t>
            </a:r>
          </a:p>
        </p:txBody>
      </p:sp>
      <p:pic>
        <p:nvPicPr>
          <p:cNvPr id="14" name="Picture 13" descr="57c771350ef6ea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06" y="3009900"/>
            <a:ext cx="688848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7854" y="2985516"/>
            <a:ext cx="1156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9?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68268"/>
            <a:ext cx="4395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 </a:t>
            </a:r>
          </a:p>
        </p:txBody>
      </p:sp>
      <p:pic>
        <p:nvPicPr>
          <p:cNvPr id="17" name="Picture 16" descr="e8022fa09c25c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08" y="3621024"/>
            <a:ext cx="170688" cy="551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03096" y="36682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48746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a single monomial:  </a:t>
            </a:r>
          </a:p>
        </p:txBody>
      </p:sp>
      <p:pic>
        <p:nvPicPr>
          <p:cNvPr id="10" name="Picture 9" descr="c0ecde76b6542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92" y="1821180"/>
            <a:ext cx="771144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31776" y="1760220"/>
            <a:ext cx="8417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27x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baf21e0fadb8b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61260"/>
            <a:ext cx="426720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77659" y="2372868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341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greater,  </a:t>
            </a:r>
          </a:p>
        </p:txBody>
      </p:sp>
      <p:pic>
        <p:nvPicPr>
          <p:cNvPr id="16" name="Picture 15" descr="57c771350ef6ea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06" y="3009900"/>
            <a:ext cx="688848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67854" y="2985516"/>
            <a:ext cx="1156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9?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5878" y="2985516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668268"/>
            <a:ext cx="4395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 </a:t>
            </a:r>
          </a:p>
        </p:txBody>
      </p:sp>
      <p:pic>
        <p:nvPicPr>
          <p:cNvPr id="20" name="Picture 19" descr="e8022fa09c25c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08" y="3621024"/>
            <a:ext cx="170688" cy="5516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3096" y="36682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pic>
        <p:nvPicPr>
          <p:cNvPr id="22" name="Picture 21" descr="0ea9c861f6451d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8431" y="3621024"/>
            <a:ext cx="170688" cy="551688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pattern, with a letter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340864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  <a:r>
                        <a:rPr sz="18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  <a:r>
                        <a:rPr sz="18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566883ffdb2567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253" y="3337560"/>
            <a:ext cx="1335024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76277" y="344728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bdac5bab61ffd0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269" y="3337560"/>
            <a:ext cx="1362456" cy="6766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84725" y="3447288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6" name="Picture 15" descr="3202774bcb0530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247" y="3506724"/>
            <a:ext cx="783336" cy="3383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30583" y="3447288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Moving factors across the fraction bar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f7d04d8cca973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184" y="2377440"/>
            <a:ext cx="1508760" cy="743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75944" y="25206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4816a7a2bcf2f2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935" y="2340864"/>
            <a:ext cx="2209800" cy="816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31736" y="25206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0f65a6bfbd89b5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727" y="2345436"/>
            <a:ext cx="1816608" cy="807720"/>
          </a:xfrm>
          <a:prstGeom prst="rect">
            <a:avLst/>
          </a:prstGeom>
        </p:spPr>
      </p:pic>
      <p:pic>
        <p:nvPicPr>
          <p:cNvPr id="15" name="Picture 14" descr="70bc6e0f1b3eca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432047"/>
            <a:ext cx="2304288" cy="9204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6908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Only the factor with the negative exponent moves. Its exponent turns positive.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7aaf26d66cf98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012" y="2374392"/>
            <a:ext cx="4456176" cy="7406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02188" y="25161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1fc48e462d92b6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179" y="2340864"/>
            <a:ext cx="3767328" cy="807720"/>
          </a:xfrm>
          <a:prstGeom prst="rect">
            <a:avLst/>
          </a:prstGeom>
        </p:spPr>
      </p:pic>
      <p:pic>
        <p:nvPicPr>
          <p:cNvPr id="13" name="Picture 12" descr="92a6d22e61379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59" y="3422904"/>
            <a:ext cx="3505200" cy="819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58114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Apply the law. Then rewrite so that every exponent is positive.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Multiplying monomials with negative exponents.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284a92747d139e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103120"/>
            <a:ext cx="2761488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99ce65e5c8ec57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17220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58200" y="1903476"/>
            <a:ext cx="292607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coefficients; add exponents</a:t>
            </a:r>
          </a:p>
        </p:txBody>
      </p:sp>
      <p:pic>
        <p:nvPicPr>
          <p:cNvPr id="11" name="Picture 10" descr="52caabd3337864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18232"/>
            <a:ext cx="2816352" cy="883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02352" y="2831592"/>
            <a:ext cx="62819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move y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-2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down; the 12 and the x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stay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12x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/y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26181856cce005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194560"/>
            <a:ext cx="3108960" cy="515112"/>
          </a:xfrm>
          <a:prstGeom prst="rect">
            <a:avLst/>
          </a:prstGeom>
        </p:spPr>
      </p:pic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6f4e119bf12e31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194560"/>
            <a:ext cx="310896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·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7260" y="471220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5fcfdcd223fa6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99" y="4480560"/>
            <a:ext cx="746760" cy="1011936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Several laws in one expression — the state guide's item.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061639b8c49f6a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9" y="2103120"/>
            <a:ext cx="1417320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dc62f1bbbc7a81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65704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1704" y="2100072"/>
            <a:ext cx="61325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raise every factor: a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, 4, b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-7</a:t>
            </a:r>
          </a:p>
        </p:txBody>
      </p:sp>
      <p:pic>
        <p:nvPicPr>
          <p:cNvPr id="11" name="Picture 10" descr="d55cada8037b33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11423"/>
            <a:ext cx="1399032" cy="80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85032" y="3186683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4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= 1,024; b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-35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moves up as b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b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/1,024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c42f4571630d5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2194560"/>
            <a:ext cx="1773936" cy="1112520"/>
          </a:xfrm>
          <a:prstGeom prst="rect">
            <a:avLst/>
          </a:prstGeom>
        </p:spPr>
      </p:pic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195018b9c2dda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267" y="2194560"/>
            <a:ext cx="1776984" cy="1112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2711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27y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-6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move the y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2772" y="472592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636f909b16359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11" y="4480560"/>
            <a:ext cx="935736" cy="1039368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49cdf5a8f688d8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59" y="2194560"/>
            <a:ext cx="685800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6299b72688be4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59" y="2103120"/>
            <a:ext cx="68580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11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 of x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1372" y="485393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4033d6f9e46bb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611" y="4663440"/>
            <a:ext cx="478536" cy="929640"/>
          </a:xfrm>
          <a:prstGeom prst="rect">
            <a:avLst/>
          </a:prstGeom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70a7739fb79464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20" y="2194560"/>
            <a:ext cx="716280" cy="103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1b19adcea2f05b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2103120"/>
            <a:ext cx="713232" cy="10332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4107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power moves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804" y="465277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666f79c957ad2d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044" y="4663440"/>
            <a:ext cx="423672" cy="527304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5481" y="2171700"/>
            <a:ext cx="4251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model's scale factor is  </a:t>
            </a:r>
          </a:p>
        </p:txBody>
      </p:sp>
      <p:pic>
        <p:nvPicPr>
          <p:cNvPr id="10" name="Picture 9" descr="270dca7efd9a2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178" y="2229612"/>
            <a:ext cx="725424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5602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model is 12 centimeters long.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using only positive exponents.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3957" y="2080260"/>
            <a:ext cx="4251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model's scale factor is  </a:t>
            </a:r>
          </a:p>
        </p:txBody>
      </p:sp>
      <p:pic>
        <p:nvPicPr>
          <p:cNvPr id="10" name="Picture 9" descr="678b4dee4b21d5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654" y="2138171"/>
            <a:ext cx="72847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7126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model is 12 centimeters long.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using only positive exponents.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only the x moves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1372" y="490794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6" name="Picture 15" descr="71f960ddecd24b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611" y="4715918"/>
            <a:ext cx="478536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2962fa6a8bfc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3" y="2194560"/>
            <a:ext cx="1353312" cy="530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positive exponents.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c896e7a3b1e79b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580" y="2103120"/>
            <a:ext cx="1356360" cy="524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0169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factors move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9536" y="49042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532a74f60c6c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76" y="4663440"/>
            <a:ext cx="902208" cy="1030224"/>
          </a:xfrm>
          <a:prstGeom prst="rect">
            <a:avLst/>
          </a:prstGeom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950663683f0a3a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2194560"/>
            <a:ext cx="1432560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1b7d9d459c285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2103120"/>
            <a:ext cx="142951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1/x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cd9c5622a19be9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3" y="2194560"/>
            <a:ext cx="1444752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1/(4x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1768e3b0aaa3b8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03120"/>
            <a:ext cx="144780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1/(4x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4/x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61aec65184b6be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7" y="2194560"/>
            <a:ext cx="603504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with a positive exponent.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00d9c35b01c5d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055" y="2103120"/>
            <a:ext cx="597408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832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m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then 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74f00062d590b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7" y="4663440"/>
            <a:ext cx="60350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17170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30886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768d523c6bd8c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212" y="2912364"/>
            <a:ext cx="1911095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law applies?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08026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21742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06d7fcaebeec00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687" y="2820924"/>
            <a:ext cx="1914144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−5 + n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7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774" y="2171700"/>
            <a:ext cx="17572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are  </a:t>
            </a:r>
          </a:p>
        </p:txBody>
      </p:sp>
      <p:pic>
        <p:nvPicPr>
          <p:cNvPr id="10" name="Picture 9" descr="cc078cbc81823c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899" y="2228088"/>
            <a:ext cx="344424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71323" y="2171700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d31e0d14216148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30" y="2228088"/>
            <a:ext cx="5394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2526" y="2171700"/>
            <a:ext cx="17093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related?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5540" y="2857500"/>
            <a:ext cx="7013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Explain, and give the value of each when  </a:t>
            </a:r>
          </a:p>
        </p:txBody>
      </p:sp>
      <p:pic>
        <p:nvPicPr>
          <p:cNvPr id="15" name="Picture 14" descr="118dd4b796dc85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208" y="2945892"/>
            <a:ext cx="783336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25544" y="28575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word reciprocal.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774" y="2080260"/>
            <a:ext cx="17572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are  </a:t>
            </a:r>
          </a:p>
        </p:txBody>
      </p:sp>
      <p:pic>
        <p:nvPicPr>
          <p:cNvPr id="10" name="Picture 9" descr="3da309422df21a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899" y="2136648"/>
            <a:ext cx="344424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71323" y="2080260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50a3dff9085ab5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30" y="2136648"/>
            <a:ext cx="5394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2526" y="2080260"/>
            <a:ext cx="17093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related?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4016" y="2766060"/>
            <a:ext cx="7013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Explain, and give the value of each when  </a:t>
            </a:r>
          </a:p>
        </p:txBody>
      </p:sp>
      <p:pic>
        <p:nvPicPr>
          <p:cNvPr id="15" name="Picture 14" descr="2cebf16dedade3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684" y="2854452"/>
            <a:ext cx="78638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27068" y="27660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reciprocals: 8 and 1/8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is the reciprocal of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 When x = 2: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 and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1/8.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Variables with negative exponents — 2NL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and divide powers: variable bases — 85P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Writing Large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write a large number in scientific notation, read one back into standard form, and find how many times larger one number is than another.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 laws finished — numbers and letters.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go to work on twenty-digit numbers.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10" name="Picture 9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850136"/>
            <a:ext cx="58521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33828"/>
            <a:ext cx="774192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59816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10" name="Picture 9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850136"/>
            <a:ext cx="58521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42209" y="1760220"/>
            <a:ext cx="769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33828"/>
            <a:ext cx="774192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5131" y="2372868"/>
            <a:ext cx="2426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2300" b="1" i="0">
                <a:solidFill>
                  <a:srgbClr val="9E1B32"/>
                </a:solidFill>
                <a:latin typeface="Century Schoolbook"/>
              </a:rPr>
              <a:t> = 1,000,000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9816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3604" y="3598164"/>
            <a:ext cx="15117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millions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Powers of ten name the places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42999" y="2340864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87552" y="34015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exponent counts the zeros — and names the place of the 1.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a362daa5aca8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840" y="2403348"/>
            <a:ext cx="1124712" cy="28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3552" y="2318004"/>
            <a:ext cx="1524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with   </a:t>
            </a:r>
          </a:p>
        </p:txBody>
      </p:sp>
      <p:pic>
        <p:nvPicPr>
          <p:cNvPr id="12" name="Picture 11" descr="24588923a2e411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247" y="2388108"/>
            <a:ext cx="1551432" cy="316992"/>
          </a:xfrm>
          <a:prstGeom prst="rect">
            <a:avLst/>
          </a:prstGeom>
        </p:spPr>
      </p:pic>
      <p:pic>
        <p:nvPicPr>
          <p:cNvPr id="13" name="Picture 12" descr="8e6cc14ac5e46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388" y="3031236"/>
            <a:ext cx="3136392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04780" y="30038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067fcc93f2b9d5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771" y="3037332"/>
            <a:ext cx="3642360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coefficient is at least 1 and less than 10: one nonzero digit before the decimal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9834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exponent is how many places the decimal point moves: 26,000,000. → 2.6, seven places,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7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How many times larger?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8462689543fb1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20" y="2348484"/>
            <a:ext cx="2103120" cy="810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70440" y="252526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23b76398c3e7ac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431" y="2340864"/>
            <a:ext cx="3477768" cy="826008"/>
          </a:xfrm>
          <a:prstGeom prst="rect">
            <a:avLst/>
          </a:prstGeom>
        </p:spPr>
      </p:pic>
      <p:pic>
        <p:nvPicPr>
          <p:cNvPr id="13" name="Picture 12" descr="a006e1f5dbf830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316" y="3441192"/>
            <a:ext cx="4056888" cy="8260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60552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Divide the powers of 10. Multiply the two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3370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On a screen, 8.4E6 means 8.4 ×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Standard form to scientific notation.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In 2018, funding for education in Florida totaled 30,100,000,000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715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Express this value in scientific notation.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c33cd55185211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703064" cy="3992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89064" y="1891284"/>
            <a:ext cx="4395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3 is in the ten-billions place</a:t>
            </a:r>
          </a:p>
        </p:txBody>
      </p:sp>
      <p:pic>
        <p:nvPicPr>
          <p:cNvPr id="11" name="Picture 10" descr="826a198efbf96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3848"/>
            <a:ext cx="6544056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30056" y="2532887"/>
            <a:ext cx="255422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630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1 is in the hundred-millions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1.105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How many times larger?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8167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4dc6640317f68a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072" y="2133599"/>
            <a:ext cx="140512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4200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a7f651d263392d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252" y="2136648"/>
            <a:ext cx="1414272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47524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ea7fbd33ef479e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438656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24656" y="203758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coefficients</a:t>
            </a:r>
          </a:p>
        </p:txBody>
      </p:sp>
      <p:pic>
        <p:nvPicPr>
          <p:cNvPr id="11" name="Picture 10" descr="ecf3b7ddda2003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6456"/>
            <a:ext cx="2386584" cy="80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72583" y="306171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powers of 10: subtract the exponents</a:t>
            </a:r>
          </a:p>
        </p:txBody>
      </p:sp>
      <p:pic>
        <p:nvPicPr>
          <p:cNvPr id="13" name="Picture 12" descr="8a1e664f4b4116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68496"/>
            <a:ext cx="2026920" cy="289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2920" y="3884675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two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1525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15 times larger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4952" y="2185415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10" name="Picture 9" descr="b3b23388699e71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4165" y="2945892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2" name="Picture 11" descr="33ace73c84f9a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3512"/>
            <a:ext cx="1734312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715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4952" y="2186940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10" name="Picture 9" descr="9213e17c268194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4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4165" y="2948940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2" name="Picture 11" descr="c0aa154a2b895b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6560"/>
            <a:ext cx="1734312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718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7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0.75 × 10 = 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796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about 7.5 times larger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place is the 4 in?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millions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0641" y="217170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f1494d210188d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522" y="2225040"/>
            <a:ext cx="142951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34034" y="217170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Move the point four places.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2165" y="208026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2d884c0ec37c9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046" y="2132076"/>
            <a:ext cx="142646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32510" y="208026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7.2 × 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72,000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431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Every nonzero digit stays in the coefficient.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5287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7347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3.56 hundred-thousands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3.56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496" y="217170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1ab45d017fce8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223516"/>
            <a:ext cx="141122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6622" y="217170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d99a9851995ad5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308" y="2223516"/>
            <a:ext cx="138988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919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Look at the powers first.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496" y="208026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78380355eb5e9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132076"/>
            <a:ext cx="1414272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9670" y="208026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7abd88142838d7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356" y="2132076"/>
            <a:ext cx="1386840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91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950,000 versus 1,200,000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5.2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5.2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9919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cb3383a0ac489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24" y="2225040"/>
            <a:ext cx="110947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20296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136c380adf2ac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48" y="2223516"/>
            <a:ext cx="110642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5772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8395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f5c1556a2a4007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300" y="2133599"/>
            <a:ext cx="110947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877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e6a3bddbc4c7da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824" y="2132076"/>
            <a:ext cx="1109472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72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1,000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9023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9dfa88f60f7695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928" y="2223516"/>
            <a:ext cx="141122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1152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441501d81b57e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225040"/>
            <a:ext cx="1426464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56668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Coefficients, then powers, then multiply.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071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f4de1fd42bbb2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976" y="2132076"/>
            <a:ext cx="140817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115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f8ac844b491820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132076"/>
            <a:ext cx="1423416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53620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400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 is not an error.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3.5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3,500,000,000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26" y="217170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10" name="Picture 9" descr="8eae714437c97e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417" y="2223516"/>
            <a:ext cx="131064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7057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definition.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2502" y="208026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10" name="Picture 9" descr="b1be6639231b1d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893" y="2132076"/>
            <a:ext cx="131368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8581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6732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equal, yes — scientific notation, 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Equal, yes. Scientific notation, no: 20 is not less than 10.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Convert between standard and scientific notation: large numbers — 2AL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Compare large numbers — WEZ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ten — LJQ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Writing Small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write very small numbers in scientific notation, read them back, and find how many times larger or smaller one number is than another.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exponents on the 10 were positive.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are negative — and the numbers get very small.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24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4,300,000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72868"/>
            <a:ext cx="17005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 </a:t>
            </a:r>
          </a:p>
        </p:txBody>
      </p:sp>
      <p:pic>
        <p:nvPicPr>
          <p:cNvPr id="11" name="Picture 10" descr="fc19434018fde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904" y="2461260"/>
            <a:ext cx="55778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95688" y="2372868"/>
            <a:ext cx="2239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as a fraction.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85516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4" name="Picture 13" descr="c7ed55c1b21389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3009900"/>
            <a:ext cx="688848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53019" y="2985516"/>
            <a:ext cx="58196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is between which two whole numbers?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98164"/>
            <a:ext cx="45040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 0.007  as a fraction.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24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4,300,000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5754" y="1760220"/>
            <a:ext cx="14594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4.3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72868"/>
            <a:ext cx="17005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 </a:t>
            </a:r>
          </a:p>
        </p:txBody>
      </p:sp>
      <p:pic>
        <p:nvPicPr>
          <p:cNvPr id="12" name="Picture 11" descr="fc19434018fde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904" y="2461260"/>
            <a:ext cx="557784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5688" y="2372868"/>
            <a:ext cx="2239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as a fraction.</a:t>
            </a:r>
          </a:p>
        </p:txBody>
      </p:sp>
      <p:pic>
        <p:nvPicPr>
          <p:cNvPr id="14" name="Picture 13" descr="357ee64ca77eb3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246" y="2395728"/>
            <a:ext cx="746760" cy="600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2985516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6" name="Picture 15" descr="c7ed55c1b21389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3009900"/>
            <a:ext cx="688848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53019" y="2985516"/>
            <a:ext cx="58196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is between which two whole numbers?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4153" y="2985516"/>
            <a:ext cx="1529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 and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598164"/>
            <a:ext cx="45040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 0.007  as a fraction.</a:t>
            </a:r>
          </a:p>
        </p:txBody>
      </p:sp>
      <p:pic>
        <p:nvPicPr>
          <p:cNvPr id="20" name="Picture 19" descr="0d671d8905812b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058" y="3621024"/>
            <a:ext cx="746760" cy="597408"/>
          </a:xfrm>
          <a:prstGeom prst="rect">
            <a:avLst/>
          </a:prstGeom>
        </p:spPr>
      </p:pic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Negative powers of ten name the decimal places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42999" y="2340864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87b97c2695b4b3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20" y="3364991"/>
            <a:ext cx="1691640" cy="67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25660" y="347624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9756d439c25d70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51" y="3337560"/>
            <a:ext cx="3355848" cy="7345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410456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 negative exponent puts the 1 in that decimal place: 10</a:t>
            </a:r>
            <a:r>
              <a:rPr sz="2300" b="1" i="0" baseline="30000">
                <a:solidFill>
                  <a:srgbClr val="1A1A1A"/>
                </a:solidFill>
                <a:latin typeface="Century Schoolbook"/>
              </a:rPr>
              <a:t>-4</a:t>
            </a:r>
            <a:r>
              <a:rPr sz="2300" b="1" i="0">
                <a:solidFill>
                  <a:srgbClr val="1A1A1A"/>
                </a:solidFill>
                <a:latin typeface="Century Schoolbook"/>
              </a:rPr>
              <a:t> is a 1 in the fourth place.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Small numbers in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b164213b9232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792" y="2369820"/>
            <a:ext cx="323392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05720" y="2318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a5d136b823d619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711" y="2369820"/>
            <a:ext cx="3938016" cy="353568"/>
          </a:xfrm>
          <a:prstGeom prst="rect">
            <a:avLst/>
          </a:prstGeom>
        </p:spPr>
      </p:pic>
      <p:pic>
        <p:nvPicPr>
          <p:cNvPr id="13" name="Picture 12" descr="40f6cd0eb0ebc8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391" y="3058668"/>
            <a:ext cx="436473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coefficient is still at least 1 and less than 10. The exponent is negative for a number less than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9834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exponent is how many places the point moves: 0.0000672 → 6.72 is five places right,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How many times larger — or smaller?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960a542aafe9c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276" y="2340864"/>
            <a:ext cx="45567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91036" y="252374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a13ef6adfb19a5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27" y="2340864"/>
            <a:ext cx="2490216" cy="822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502151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Divide the powers of 10 — subtract the exponents. Multiply the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70916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Which is bigger,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or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-8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? The one with the larger exponent: −5 &gt; −8,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quantity in words, to scientific notation.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The density of oxygen is 1,332 millionths of a gram per cubic centimeter.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715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as a decimal, then in scientific notation.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3795759730f8e3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590544" cy="792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76544" y="2087880"/>
            <a:ext cx="550773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1,332 millionths, as a decimal</a:t>
            </a:r>
          </a:p>
        </p:txBody>
      </p:sp>
      <p:pic>
        <p:nvPicPr>
          <p:cNvPr id="11" name="Picture 10" descr="e86600eaee99cc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393801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24016" y="2933700"/>
            <a:ext cx="51602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1 is in the thousandths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0.001332 = 1.332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human hair is about 67 hundred-thousandths of an inch thick.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in scientific notation.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human hair is about 67 hundred-thousandths of an inch thick.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27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0.00067 — the 6 is in the ten-thousandths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How many times larger?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191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ee4e609945ec82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96" y="2133599"/>
            <a:ext cx="1621536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163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dee1eef8fb06ad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684" y="2136648"/>
            <a:ext cx="157581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6500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59c7818cbaac3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152144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38144" y="203454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coefficients</a:t>
            </a:r>
          </a:p>
        </p:txBody>
      </p:sp>
      <p:pic>
        <p:nvPicPr>
          <p:cNvPr id="11" name="Picture 10" descr="6b497f46afc4e7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0360"/>
            <a:ext cx="3721608" cy="810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07608" y="3057144"/>
            <a:ext cx="537667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powers of 10: −4 − (−7) = 3</a:t>
            </a:r>
          </a:p>
        </p:txBody>
      </p:sp>
      <p:pic>
        <p:nvPicPr>
          <p:cNvPr id="13" name="Picture 12" descr="60571d6036a338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65448"/>
            <a:ext cx="2450592" cy="3992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6592" y="393649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two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19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4,000 times larger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235" y="2185415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496ffc9a205d25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140" y="2196083"/>
            <a:ext cx="2005584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5724" y="2185415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a82e6bba98260e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776" y="2194560"/>
            <a:ext cx="2011680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46456" y="2185415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7711" y="2183892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2496b86a47380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16" y="2194560"/>
            <a:ext cx="2008632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7248" y="2183892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8ceadc81776217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300" y="2194560"/>
            <a:ext cx="2011680" cy="435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47980" y="2183892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04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200,000 times larger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1f36aa11b2dfcf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371" y="2194560"/>
            <a:ext cx="874776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a decimal.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043ff5c9055650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371" y="2103120"/>
            <a:ext cx="8747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 1 in the fourth decimal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0.0001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0.003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place is the 3 in?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0.003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thousandths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153" y="217170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f7e39139daee10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34" y="2225040"/>
            <a:ext cx="161848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8522" y="217170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Move the point four places left.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153" y="208026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33d0b83fdac28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34" y="2132076"/>
            <a:ext cx="161848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8522" y="208026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2 lands in the ten-thousandths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0.00025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machine's cutting tolerance is  0.0000988  inch.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part it cuts is 4 inches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431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tolerance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Every nonzero digit stays in the coefficient.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machine's cutting tolerance is  0.0000988  inch.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part it cuts is 4 inches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5287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tolerance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7347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9 is in the hundred-thousandths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9.88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0.00081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0.00081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8.1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8.1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7895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6343b50271775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800" y="2225040"/>
            <a:ext cx="129844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7248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c3e8fbaa365da3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300" y="2223516"/>
            <a:ext cx="1301496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3779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3323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e98b31f32f5b09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228" y="2133599"/>
            <a:ext cx="1304544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877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ccaef7e81c6839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824" y="2132076"/>
            <a:ext cx="130454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42368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300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0756" y="217170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746391bb3aa38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658" y="2223516"/>
            <a:ext cx="160020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29858" y="217170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9027aa45f8c13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544" y="2225040"/>
            <a:ext cx="1612392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3493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Compare the exponents first.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7708" y="208026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df917c83e179d4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610" y="2132076"/>
            <a:ext cx="160629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32906" y="208026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1a294302f9ade9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592" y="2133599"/>
            <a:ext cx="1612392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37984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−5 &gt; −8, so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the larger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3.9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4.2E−6.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E−6 means × 10</a:t>
            </a:r>
            <a:r>
              <a:rPr sz="1900" b="0" i="1" baseline="30000">
                <a:solidFill>
                  <a:srgbClr val="6B6B6B"/>
                </a:solidFill>
                <a:latin typeface="Century Schoolbook"/>
              </a:rPr>
              <a:t>-6</a:t>
            </a:r>
            <a:r>
              <a:rPr sz="1900" b="0" i="1">
                <a:solidFill>
                  <a:srgbClr val="6B6B6B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4.2E−6.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4.2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0.0000042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7665" y="217170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A is  </a:t>
            </a:r>
          </a:p>
        </p:txBody>
      </p:sp>
      <p:pic>
        <p:nvPicPr>
          <p:cNvPr id="10" name="Picture 9" descr="24f5c2a7f64db6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499" y="2226564"/>
            <a:ext cx="131368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7187" y="217170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9189" y="285750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B is  </a:t>
            </a:r>
          </a:p>
        </p:txBody>
      </p:sp>
      <p:pic>
        <p:nvPicPr>
          <p:cNvPr id="13" name="Picture 12" descr="66c17032647eb8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023" y="2912364"/>
            <a:ext cx="1310640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15663" y="285750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Which is thicker, and how many times? Name a thickness between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Same power of 10 — compare the coefficients.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6141" y="208026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A is  </a:t>
            </a:r>
          </a:p>
        </p:txBody>
      </p:sp>
      <p:pic>
        <p:nvPicPr>
          <p:cNvPr id="10" name="Picture 9" descr="77a4d57c92c152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975" y="2135124"/>
            <a:ext cx="131673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8711" y="208026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6141" y="276606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B is  </a:t>
            </a:r>
          </a:p>
        </p:txBody>
      </p:sp>
      <p:pic>
        <p:nvPicPr>
          <p:cNvPr id="13" name="Picture 12" descr="ecebfbd77cf00b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975" y="2820924"/>
            <a:ext cx="131673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18711" y="276606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Which is thicker, and how many times? Name a thickness between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4164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0.02 in and 0.06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B; 3 times; e.g. 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in.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Convert between standard and scientific notation: small numbers — 85M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Compare small numbers — KDR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ten with negative exponents — SKD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