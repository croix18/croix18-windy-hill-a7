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  <p:sldId id="496" r:id="rId247"/>
    <p:sldId id="497" r:id="rId248"/>
    <p:sldId id="498" r:id="rId249"/>
    <p:sldId id="499" r:id="rId250"/>
    <p:sldId id="500" r:id="rId251"/>
    <p:sldId id="501" r:id="rId252"/>
    <p:sldId id="502" r:id="rId253"/>
    <p:sldId id="503" r:id="rId254"/>
    <p:sldId id="504" r:id="rId255"/>
    <p:sldId id="505" r:id="rId256"/>
    <p:sldId id="506" r:id="rId257"/>
    <p:sldId id="507" r:id="rId258"/>
    <p:sldId id="508" r:id="rId259"/>
    <p:sldId id="509" r:id="rId260"/>
    <p:sldId id="510" r:id="rId261"/>
    <p:sldId id="511" r:id="rId262"/>
    <p:sldId id="512" r:id="rId263"/>
    <p:sldId id="513" r:id="rId264"/>
    <p:sldId id="514" r:id="rId265"/>
    <p:sldId id="515" r:id="rId266"/>
    <p:sldId id="516" r:id="rId267"/>
    <p:sldId id="517" r:id="rId268"/>
    <p:sldId id="518" r:id="rId269"/>
    <p:sldId id="519" r:id="rId270"/>
    <p:sldId id="520" r:id="rId271"/>
    <p:sldId id="521" r:id="rId272"/>
    <p:sldId id="522" r:id="rId273"/>
    <p:sldId id="523" r:id="rId274"/>
    <p:sldId id="524" r:id="rId275"/>
    <p:sldId id="525" r:id="rId276"/>
    <p:sldId id="526" r:id="rId277"/>
    <p:sldId id="527" r:id="rId278"/>
    <p:sldId id="528" r:id="rId279"/>
    <p:sldId id="529" r:id="rId280"/>
    <p:sldId id="530" r:id="rId281"/>
    <p:sldId id="531" r:id="rId282"/>
    <p:sldId id="532" r:id="rId283"/>
    <p:sldId id="533" r:id="rId284"/>
    <p:sldId id="534" r:id="rId285"/>
    <p:sldId id="535" r:id="rId286"/>
    <p:sldId id="536" r:id="rId287"/>
    <p:sldId id="537" r:id="rId288"/>
    <p:sldId id="538" r:id="rId289"/>
    <p:sldId id="539" r:id="rId290"/>
    <p:sldId id="540" r:id="rId291"/>
    <p:sldId id="541" r:id="rId292"/>
    <p:sldId id="542" r:id="rId293"/>
    <p:sldId id="543" r:id="rId294"/>
    <p:sldId id="544" r:id="rId295"/>
    <p:sldId id="545" r:id="rId296"/>
    <p:sldId id="546" r:id="rId297"/>
    <p:sldId id="547" r:id="rId298"/>
    <p:sldId id="548" r:id="rId299"/>
    <p:sldId id="549" r:id="rId300"/>
    <p:sldId id="550" r:id="rId301"/>
    <p:sldId id="551" r:id="rId302"/>
    <p:sldId id="552" r:id="rId303"/>
    <p:sldId id="553" r:id="rId304"/>
    <p:sldId id="554" r:id="rId305"/>
    <p:sldId id="555" r:id="rId306"/>
    <p:sldId id="556" r:id="rId307"/>
    <p:sldId id="557" r:id="rId308"/>
    <p:sldId id="558" r:id="rId309"/>
    <p:sldId id="559" r:id="rId310"/>
    <p:sldId id="560" r:id="rId311"/>
    <p:sldId id="561" r:id="rId312"/>
    <p:sldId id="562" r:id="rId313"/>
    <p:sldId id="563" r:id="rId314"/>
    <p:sldId id="564" r:id="rId315"/>
    <p:sldId id="565" r:id="rId316"/>
    <p:sldId id="566" r:id="rId317"/>
    <p:sldId id="567" r:id="rId318"/>
    <p:sldId id="568" r:id="rId319"/>
    <p:sldId id="569" r:id="rId320"/>
    <p:sldId id="570" r:id="rId321"/>
    <p:sldId id="571" r:id="rId322"/>
    <p:sldId id="572" r:id="rId323"/>
    <p:sldId id="573" r:id="rId324"/>
    <p:sldId id="574" r:id="rId325"/>
    <p:sldId id="575" r:id="rId326"/>
    <p:sldId id="576" r:id="rId327"/>
    <p:sldId id="577" r:id="rId328"/>
    <p:sldId id="578" r:id="rId329"/>
    <p:sldId id="579" r:id="rId330"/>
    <p:sldId id="580" r:id="rId331"/>
    <p:sldId id="581" r:id="rId332"/>
    <p:sldId id="582" r:id="rId333"/>
    <p:sldId id="583" r:id="rId334"/>
    <p:sldId id="584" r:id="rId335"/>
    <p:sldId id="585" r:id="rId336"/>
    <p:sldId id="586" r:id="rId337"/>
    <p:sldId id="587" r:id="rId338"/>
    <p:sldId id="588" r:id="rId339"/>
    <p:sldId id="589" r:id="rId340"/>
    <p:sldId id="590" r:id="rId341"/>
    <p:sldId id="591" r:id="rId342"/>
    <p:sldId id="592" r:id="rId343"/>
    <p:sldId id="593" r:id="rId344"/>
    <p:sldId id="594" r:id="rId345"/>
    <p:sldId id="595" r:id="rId346"/>
    <p:sldId id="596" r:id="rId347"/>
    <p:sldId id="597" r:id="rId348"/>
    <p:sldId id="598" r:id="rId349"/>
    <p:sldId id="599" r:id="rId35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Relationship Id="rId247" Type="http://schemas.openxmlformats.org/officeDocument/2006/relationships/slide" Target="slides/slide241.xml"/><Relationship Id="rId248" Type="http://schemas.openxmlformats.org/officeDocument/2006/relationships/slide" Target="slides/slide242.xml"/><Relationship Id="rId249" Type="http://schemas.openxmlformats.org/officeDocument/2006/relationships/slide" Target="slides/slide243.xml"/><Relationship Id="rId250" Type="http://schemas.openxmlformats.org/officeDocument/2006/relationships/slide" Target="slides/slide244.xml"/><Relationship Id="rId251" Type="http://schemas.openxmlformats.org/officeDocument/2006/relationships/slide" Target="slides/slide245.xml"/><Relationship Id="rId252" Type="http://schemas.openxmlformats.org/officeDocument/2006/relationships/slide" Target="slides/slide246.xml"/><Relationship Id="rId253" Type="http://schemas.openxmlformats.org/officeDocument/2006/relationships/slide" Target="slides/slide247.xml"/><Relationship Id="rId254" Type="http://schemas.openxmlformats.org/officeDocument/2006/relationships/slide" Target="slides/slide248.xml"/><Relationship Id="rId255" Type="http://schemas.openxmlformats.org/officeDocument/2006/relationships/slide" Target="slides/slide249.xml"/><Relationship Id="rId256" Type="http://schemas.openxmlformats.org/officeDocument/2006/relationships/slide" Target="slides/slide250.xml"/><Relationship Id="rId257" Type="http://schemas.openxmlformats.org/officeDocument/2006/relationships/slide" Target="slides/slide251.xml"/><Relationship Id="rId258" Type="http://schemas.openxmlformats.org/officeDocument/2006/relationships/slide" Target="slides/slide252.xml"/><Relationship Id="rId259" Type="http://schemas.openxmlformats.org/officeDocument/2006/relationships/slide" Target="slides/slide253.xml"/><Relationship Id="rId260" Type="http://schemas.openxmlformats.org/officeDocument/2006/relationships/slide" Target="slides/slide254.xml"/><Relationship Id="rId261" Type="http://schemas.openxmlformats.org/officeDocument/2006/relationships/slide" Target="slides/slide255.xml"/><Relationship Id="rId262" Type="http://schemas.openxmlformats.org/officeDocument/2006/relationships/slide" Target="slides/slide256.xml"/><Relationship Id="rId263" Type="http://schemas.openxmlformats.org/officeDocument/2006/relationships/slide" Target="slides/slide257.xml"/><Relationship Id="rId264" Type="http://schemas.openxmlformats.org/officeDocument/2006/relationships/slide" Target="slides/slide258.xml"/><Relationship Id="rId265" Type="http://schemas.openxmlformats.org/officeDocument/2006/relationships/slide" Target="slides/slide259.xml"/><Relationship Id="rId266" Type="http://schemas.openxmlformats.org/officeDocument/2006/relationships/slide" Target="slides/slide260.xml"/><Relationship Id="rId267" Type="http://schemas.openxmlformats.org/officeDocument/2006/relationships/slide" Target="slides/slide261.xml"/><Relationship Id="rId268" Type="http://schemas.openxmlformats.org/officeDocument/2006/relationships/slide" Target="slides/slide262.xml"/><Relationship Id="rId269" Type="http://schemas.openxmlformats.org/officeDocument/2006/relationships/slide" Target="slides/slide263.xml"/><Relationship Id="rId270" Type="http://schemas.openxmlformats.org/officeDocument/2006/relationships/slide" Target="slides/slide264.xml"/><Relationship Id="rId271" Type="http://schemas.openxmlformats.org/officeDocument/2006/relationships/slide" Target="slides/slide265.xml"/><Relationship Id="rId272" Type="http://schemas.openxmlformats.org/officeDocument/2006/relationships/slide" Target="slides/slide266.xml"/><Relationship Id="rId273" Type="http://schemas.openxmlformats.org/officeDocument/2006/relationships/slide" Target="slides/slide267.xml"/><Relationship Id="rId274" Type="http://schemas.openxmlformats.org/officeDocument/2006/relationships/slide" Target="slides/slide268.xml"/><Relationship Id="rId275" Type="http://schemas.openxmlformats.org/officeDocument/2006/relationships/slide" Target="slides/slide269.xml"/><Relationship Id="rId276" Type="http://schemas.openxmlformats.org/officeDocument/2006/relationships/slide" Target="slides/slide270.xml"/><Relationship Id="rId277" Type="http://schemas.openxmlformats.org/officeDocument/2006/relationships/slide" Target="slides/slide271.xml"/><Relationship Id="rId278" Type="http://schemas.openxmlformats.org/officeDocument/2006/relationships/slide" Target="slides/slide272.xml"/><Relationship Id="rId279" Type="http://schemas.openxmlformats.org/officeDocument/2006/relationships/slide" Target="slides/slide273.xml"/><Relationship Id="rId280" Type="http://schemas.openxmlformats.org/officeDocument/2006/relationships/slide" Target="slides/slide274.xml"/><Relationship Id="rId281" Type="http://schemas.openxmlformats.org/officeDocument/2006/relationships/slide" Target="slides/slide275.xml"/><Relationship Id="rId282" Type="http://schemas.openxmlformats.org/officeDocument/2006/relationships/slide" Target="slides/slide276.xml"/><Relationship Id="rId283" Type="http://schemas.openxmlformats.org/officeDocument/2006/relationships/slide" Target="slides/slide277.xml"/><Relationship Id="rId284" Type="http://schemas.openxmlformats.org/officeDocument/2006/relationships/slide" Target="slides/slide278.xml"/><Relationship Id="rId285" Type="http://schemas.openxmlformats.org/officeDocument/2006/relationships/slide" Target="slides/slide279.xml"/><Relationship Id="rId286" Type="http://schemas.openxmlformats.org/officeDocument/2006/relationships/slide" Target="slides/slide280.xml"/><Relationship Id="rId287" Type="http://schemas.openxmlformats.org/officeDocument/2006/relationships/slide" Target="slides/slide281.xml"/><Relationship Id="rId288" Type="http://schemas.openxmlformats.org/officeDocument/2006/relationships/slide" Target="slides/slide282.xml"/><Relationship Id="rId289" Type="http://schemas.openxmlformats.org/officeDocument/2006/relationships/slide" Target="slides/slide283.xml"/><Relationship Id="rId290" Type="http://schemas.openxmlformats.org/officeDocument/2006/relationships/slide" Target="slides/slide284.xml"/><Relationship Id="rId291" Type="http://schemas.openxmlformats.org/officeDocument/2006/relationships/slide" Target="slides/slide285.xml"/><Relationship Id="rId292" Type="http://schemas.openxmlformats.org/officeDocument/2006/relationships/slide" Target="slides/slide286.xml"/><Relationship Id="rId293" Type="http://schemas.openxmlformats.org/officeDocument/2006/relationships/slide" Target="slides/slide287.xml"/><Relationship Id="rId294" Type="http://schemas.openxmlformats.org/officeDocument/2006/relationships/slide" Target="slides/slide288.xml"/><Relationship Id="rId295" Type="http://schemas.openxmlformats.org/officeDocument/2006/relationships/slide" Target="slides/slide289.xml"/><Relationship Id="rId296" Type="http://schemas.openxmlformats.org/officeDocument/2006/relationships/slide" Target="slides/slide290.xml"/><Relationship Id="rId297" Type="http://schemas.openxmlformats.org/officeDocument/2006/relationships/slide" Target="slides/slide291.xml"/><Relationship Id="rId298" Type="http://schemas.openxmlformats.org/officeDocument/2006/relationships/slide" Target="slides/slide292.xml"/><Relationship Id="rId299" Type="http://schemas.openxmlformats.org/officeDocument/2006/relationships/slide" Target="slides/slide293.xml"/><Relationship Id="rId300" Type="http://schemas.openxmlformats.org/officeDocument/2006/relationships/slide" Target="slides/slide294.xml"/><Relationship Id="rId301" Type="http://schemas.openxmlformats.org/officeDocument/2006/relationships/slide" Target="slides/slide295.xml"/><Relationship Id="rId302" Type="http://schemas.openxmlformats.org/officeDocument/2006/relationships/slide" Target="slides/slide296.xml"/><Relationship Id="rId303" Type="http://schemas.openxmlformats.org/officeDocument/2006/relationships/slide" Target="slides/slide297.xml"/><Relationship Id="rId304" Type="http://schemas.openxmlformats.org/officeDocument/2006/relationships/slide" Target="slides/slide298.xml"/><Relationship Id="rId305" Type="http://schemas.openxmlformats.org/officeDocument/2006/relationships/slide" Target="slides/slide299.xml"/><Relationship Id="rId306" Type="http://schemas.openxmlformats.org/officeDocument/2006/relationships/slide" Target="slides/slide300.xml"/><Relationship Id="rId307" Type="http://schemas.openxmlformats.org/officeDocument/2006/relationships/slide" Target="slides/slide301.xml"/><Relationship Id="rId308" Type="http://schemas.openxmlformats.org/officeDocument/2006/relationships/slide" Target="slides/slide302.xml"/><Relationship Id="rId309" Type="http://schemas.openxmlformats.org/officeDocument/2006/relationships/slide" Target="slides/slide303.xml"/><Relationship Id="rId310" Type="http://schemas.openxmlformats.org/officeDocument/2006/relationships/slide" Target="slides/slide304.xml"/><Relationship Id="rId311" Type="http://schemas.openxmlformats.org/officeDocument/2006/relationships/slide" Target="slides/slide305.xml"/><Relationship Id="rId312" Type="http://schemas.openxmlformats.org/officeDocument/2006/relationships/slide" Target="slides/slide306.xml"/><Relationship Id="rId313" Type="http://schemas.openxmlformats.org/officeDocument/2006/relationships/slide" Target="slides/slide307.xml"/><Relationship Id="rId314" Type="http://schemas.openxmlformats.org/officeDocument/2006/relationships/slide" Target="slides/slide308.xml"/><Relationship Id="rId315" Type="http://schemas.openxmlformats.org/officeDocument/2006/relationships/slide" Target="slides/slide309.xml"/><Relationship Id="rId316" Type="http://schemas.openxmlformats.org/officeDocument/2006/relationships/slide" Target="slides/slide310.xml"/><Relationship Id="rId317" Type="http://schemas.openxmlformats.org/officeDocument/2006/relationships/slide" Target="slides/slide311.xml"/><Relationship Id="rId318" Type="http://schemas.openxmlformats.org/officeDocument/2006/relationships/slide" Target="slides/slide312.xml"/><Relationship Id="rId319" Type="http://schemas.openxmlformats.org/officeDocument/2006/relationships/slide" Target="slides/slide313.xml"/><Relationship Id="rId320" Type="http://schemas.openxmlformats.org/officeDocument/2006/relationships/slide" Target="slides/slide314.xml"/><Relationship Id="rId321" Type="http://schemas.openxmlformats.org/officeDocument/2006/relationships/slide" Target="slides/slide315.xml"/><Relationship Id="rId322" Type="http://schemas.openxmlformats.org/officeDocument/2006/relationships/slide" Target="slides/slide316.xml"/><Relationship Id="rId323" Type="http://schemas.openxmlformats.org/officeDocument/2006/relationships/slide" Target="slides/slide317.xml"/><Relationship Id="rId324" Type="http://schemas.openxmlformats.org/officeDocument/2006/relationships/slide" Target="slides/slide318.xml"/><Relationship Id="rId325" Type="http://schemas.openxmlformats.org/officeDocument/2006/relationships/slide" Target="slides/slide319.xml"/><Relationship Id="rId326" Type="http://schemas.openxmlformats.org/officeDocument/2006/relationships/slide" Target="slides/slide320.xml"/><Relationship Id="rId327" Type="http://schemas.openxmlformats.org/officeDocument/2006/relationships/slide" Target="slides/slide321.xml"/><Relationship Id="rId328" Type="http://schemas.openxmlformats.org/officeDocument/2006/relationships/slide" Target="slides/slide322.xml"/><Relationship Id="rId329" Type="http://schemas.openxmlformats.org/officeDocument/2006/relationships/slide" Target="slides/slide323.xml"/><Relationship Id="rId330" Type="http://schemas.openxmlformats.org/officeDocument/2006/relationships/slide" Target="slides/slide324.xml"/><Relationship Id="rId331" Type="http://schemas.openxmlformats.org/officeDocument/2006/relationships/slide" Target="slides/slide325.xml"/><Relationship Id="rId332" Type="http://schemas.openxmlformats.org/officeDocument/2006/relationships/slide" Target="slides/slide326.xml"/><Relationship Id="rId333" Type="http://schemas.openxmlformats.org/officeDocument/2006/relationships/slide" Target="slides/slide327.xml"/><Relationship Id="rId334" Type="http://schemas.openxmlformats.org/officeDocument/2006/relationships/slide" Target="slides/slide328.xml"/><Relationship Id="rId335" Type="http://schemas.openxmlformats.org/officeDocument/2006/relationships/slide" Target="slides/slide329.xml"/><Relationship Id="rId336" Type="http://schemas.openxmlformats.org/officeDocument/2006/relationships/slide" Target="slides/slide330.xml"/><Relationship Id="rId337" Type="http://schemas.openxmlformats.org/officeDocument/2006/relationships/slide" Target="slides/slide331.xml"/><Relationship Id="rId338" Type="http://schemas.openxmlformats.org/officeDocument/2006/relationships/slide" Target="slides/slide332.xml"/><Relationship Id="rId339" Type="http://schemas.openxmlformats.org/officeDocument/2006/relationships/slide" Target="slides/slide333.xml"/><Relationship Id="rId340" Type="http://schemas.openxmlformats.org/officeDocument/2006/relationships/slide" Target="slides/slide334.xml"/><Relationship Id="rId341" Type="http://schemas.openxmlformats.org/officeDocument/2006/relationships/slide" Target="slides/slide335.xml"/><Relationship Id="rId342" Type="http://schemas.openxmlformats.org/officeDocument/2006/relationships/slide" Target="slides/slide336.xml"/><Relationship Id="rId343" Type="http://schemas.openxmlformats.org/officeDocument/2006/relationships/slide" Target="slides/slide337.xml"/><Relationship Id="rId344" Type="http://schemas.openxmlformats.org/officeDocument/2006/relationships/slide" Target="slides/slide338.xml"/><Relationship Id="rId345" Type="http://schemas.openxmlformats.org/officeDocument/2006/relationships/slide" Target="slides/slide339.xml"/><Relationship Id="rId346" Type="http://schemas.openxmlformats.org/officeDocument/2006/relationships/slide" Target="slides/slide340.xml"/><Relationship Id="rId347" Type="http://schemas.openxmlformats.org/officeDocument/2006/relationships/slide" Target="slides/slide341.xml"/><Relationship Id="rId348" Type="http://schemas.openxmlformats.org/officeDocument/2006/relationships/slide" Target="slides/slide342.xml"/><Relationship Id="rId349" Type="http://schemas.openxmlformats.org/officeDocument/2006/relationships/slide" Target="slides/slide343.xml"/><Relationship Id="rId350" Type="http://schemas.openxmlformats.org/officeDocument/2006/relationships/slide" Target="slides/slide34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38.xml"/><Relationship Id="rId4" Type="http://schemas.openxmlformats.org/officeDocument/2006/relationships/slide" Target="slide72.xml"/><Relationship Id="rId5" Type="http://schemas.openxmlformats.org/officeDocument/2006/relationships/slide" Target="slide106.xml"/><Relationship Id="rId6" Type="http://schemas.openxmlformats.org/officeDocument/2006/relationships/slide" Target="slide140.xml"/><Relationship Id="rId7" Type="http://schemas.openxmlformats.org/officeDocument/2006/relationships/slide" Target="slide174.xml"/><Relationship Id="rId8" Type="http://schemas.openxmlformats.org/officeDocument/2006/relationships/slide" Target="slide209.xml"/><Relationship Id="rId9" Type="http://schemas.openxmlformats.org/officeDocument/2006/relationships/slide" Target="slide243.xml"/><Relationship Id="rId10" Type="http://schemas.openxmlformats.org/officeDocument/2006/relationships/slide" Target="slide277.xml"/><Relationship Id="rId11" Type="http://schemas.openxmlformats.org/officeDocument/2006/relationships/slide" Target="slide31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54.png"/><Relationship Id="rId4" Type="http://schemas.openxmlformats.org/officeDocument/2006/relationships/image" Target="../media/image55.png"/><Relationship Id="rId5" Type="http://schemas.openxmlformats.org/officeDocument/2006/relationships/image" Target="../media/image5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57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Relationship Id="rId6" Type="http://schemas.openxmlformats.org/officeDocument/2006/relationships/image" Target="../media/image56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Relationship Id="rId5" Type="http://schemas.openxmlformats.org/officeDocument/2006/relationships/image" Target="../media/image6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Relationship Id="rId4" Type="http://schemas.openxmlformats.org/officeDocument/2006/relationships/image" Target="../media/image64.png"/><Relationship Id="rId5" Type="http://schemas.openxmlformats.org/officeDocument/2006/relationships/image" Target="../media/image65.png"/><Relationship Id="rId6" Type="http://schemas.openxmlformats.org/officeDocument/2006/relationships/image" Target="../media/image66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image" Target="../media/image68.png"/><Relationship Id="rId4" Type="http://schemas.openxmlformats.org/officeDocument/2006/relationships/image" Target="../media/image69.png"/><Relationship Id="rId5" Type="http://schemas.openxmlformats.org/officeDocument/2006/relationships/image" Target="../media/image70.png"/><Relationship Id="rId6" Type="http://schemas.openxmlformats.org/officeDocument/2006/relationships/image" Target="../media/image7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Relationship Id="rId3" Type="http://schemas.openxmlformats.org/officeDocument/2006/relationships/image" Target="../media/image74.png"/><Relationship Id="rId4" Type="http://schemas.openxmlformats.org/officeDocument/2006/relationships/image" Target="../media/image7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Relationship Id="rId3" Type="http://schemas.openxmlformats.org/officeDocument/2006/relationships/image" Target="../media/image80.png"/><Relationship Id="rId4" Type="http://schemas.openxmlformats.org/officeDocument/2006/relationships/image" Target="../media/image8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Relationship Id="rId3" Type="http://schemas.openxmlformats.org/officeDocument/2006/relationships/image" Target="../media/image84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Relationship Id="rId3" Type="http://schemas.openxmlformats.org/officeDocument/2006/relationships/image" Target="../media/image87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png"/><Relationship Id="rId3" Type="http://schemas.openxmlformats.org/officeDocument/2006/relationships/image" Target="../media/image94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5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6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7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8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9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2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3.png"/><Relationship Id="rId3" Type="http://schemas.openxmlformats.org/officeDocument/2006/relationships/image" Target="../media/image104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image" Target="../media/image105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6.png"/><Relationship Id="rId3" Type="http://schemas.openxmlformats.org/officeDocument/2006/relationships/image" Target="../media/image107.png"/><Relationship Id="rId4" Type="http://schemas.openxmlformats.org/officeDocument/2006/relationships/image" Target="../media/image108.png"/><Relationship Id="rId5" Type="http://schemas.openxmlformats.org/officeDocument/2006/relationships/image" Target="../media/image109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6.png"/><Relationship Id="rId3" Type="http://schemas.openxmlformats.org/officeDocument/2006/relationships/image" Target="../media/image107.png"/><Relationship Id="rId4" Type="http://schemas.openxmlformats.org/officeDocument/2006/relationships/image" Target="../media/image108.png"/><Relationship Id="rId5" Type="http://schemas.openxmlformats.org/officeDocument/2006/relationships/image" Target="../media/image109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0.png"/><Relationship Id="rId3" Type="http://schemas.openxmlformats.org/officeDocument/2006/relationships/image" Target="../media/image11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2.png"/><Relationship Id="rId3" Type="http://schemas.openxmlformats.org/officeDocument/2006/relationships/image" Target="../media/image113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4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5.png"/><Relationship Id="rId3" Type="http://schemas.openxmlformats.org/officeDocument/2006/relationships/image" Target="../media/image116.png"/><Relationship Id="rId4" Type="http://schemas.openxmlformats.org/officeDocument/2006/relationships/image" Target="../media/image117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8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9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0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png"/><Relationship Id="rId3" Type="http://schemas.openxmlformats.org/officeDocument/2006/relationships/image" Target="../media/image122.png"/><Relationship Id="rId4" Type="http://schemas.openxmlformats.org/officeDocument/2006/relationships/image" Target="../media/image123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4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5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6.png"/><Relationship Id="rId3" Type="http://schemas.openxmlformats.org/officeDocument/2006/relationships/image" Target="../media/image127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8.png"/><Relationship Id="rId3" Type="http://schemas.openxmlformats.org/officeDocument/2006/relationships/image" Target="../media/image129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0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2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3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4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5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6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7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8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9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0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1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2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3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4.png"/><Relationship Id="rId3" Type="http://schemas.openxmlformats.org/officeDocument/2006/relationships/image" Target="../media/image145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6.png"/><Relationship Id="rId3" Type="http://schemas.openxmlformats.org/officeDocument/2006/relationships/image" Target="../media/image147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8.png"/><Relationship Id="rId3" Type="http://schemas.openxmlformats.org/officeDocument/2006/relationships/image" Target="../media/image149.png"/><Relationship Id="rId4" Type="http://schemas.openxmlformats.org/officeDocument/2006/relationships/image" Target="../media/image150.png"/><Relationship Id="rId5" Type="http://schemas.openxmlformats.org/officeDocument/2006/relationships/image" Target="../media/image151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8.png"/><Relationship Id="rId3" Type="http://schemas.openxmlformats.org/officeDocument/2006/relationships/image" Target="../media/image149.png"/><Relationship Id="rId4" Type="http://schemas.openxmlformats.org/officeDocument/2006/relationships/image" Target="../media/image150.png"/><Relationship Id="rId5" Type="http://schemas.openxmlformats.org/officeDocument/2006/relationships/image" Target="../media/image151.png"/><Relationship Id="rId6" Type="http://schemas.openxmlformats.org/officeDocument/2006/relationships/image" Target="../media/image152.png"/><Relationship Id="rId7" Type="http://schemas.openxmlformats.org/officeDocument/2006/relationships/image" Target="../media/image153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4.png"/><Relationship Id="rId3" Type="http://schemas.openxmlformats.org/officeDocument/2006/relationships/image" Target="../media/image155.png"/><Relationship Id="rId4" Type="http://schemas.openxmlformats.org/officeDocument/2006/relationships/image" Target="../media/image156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7.png"/><Relationship Id="rId3" Type="http://schemas.openxmlformats.org/officeDocument/2006/relationships/image" Target="../media/image158.png"/><Relationship Id="rId4" Type="http://schemas.openxmlformats.org/officeDocument/2006/relationships/image" Target="../media/image60.png"/><Relationship Id="rId5" Type="http://schemas.openxmlformats.org/officeDocument/2006/relationships/image" Target="../media/image159.png"/><Relationship Id="rId6" Type="http://schemas.openxmlformats.org/officeDocument/2006/relationships/image" Target="../media/image160.png"/><Relationship Id="rId7" Type="http://schemas.openxmlformats.org/officeDocument/2006/relationships/image" Target="../media/image161.png"/><Relationship Id="rId8" Type="http://schemas.openxmlformats.org/officeDocument/2006/relationships/image" Target="../media/image162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3.png"/><Relationship Id="rId3" Type="http://schemas.openxmlformats.org/officeDocument/2006/relationships/image" Target="../media/image164.png"/><Relationship Id="rId4" Type="http://schemas.openxmlformats.org/officeDocument/2006/relationships/image" Target="../media/image165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6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7.png"/><Relationship Id="rId3" Type="http://schemas.openxmlformats.org/officeDocument/2006/relationships/image" Target="../media/image168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9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0.png"/><Relationship Id="rId3" Type="http://schemas.openxmlformats.org/officeDocument/2006/relationships/image" Target="../media/image171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2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3.png"/><Relationship Id="rId3" Type="http://schemas.openxmlformats.org/officeDocument/2006/relationships/image" Target="../media/image174.png"/><Relationship Id="rId4" Type="http://schemas.openxmlformats.org/officeDocument/2006/relationships/image" Target="../media/image175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6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7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8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9.png"/><Relationship Id="rId3" Type="http://schemas.openxmlformats.org/officeDocument/2006/relationships/image" Target="../media/image180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1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2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3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4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5.png"/><Relationship Id="rId3" Type="http://schemas.openxmlformats.org/officeDocument/2006/relationships/image" Target="../media/image186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7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8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9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0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1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2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3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4.png"/><Relationship Id="rId3" Type="http://schemas.openxmlformats.org/officeDocument/2006/relationships/image" Target="../media/image195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6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7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8.png"/><Relationship Id="rId3" Type="http://schemas.openxmlformats.org/officeDocument/2006/relationships/image" Target="../media/image199.png"/><Relationship Id="rId4" Type="http://schemas.openxmlformats.org/officeDocument/2006/relationships/image" Target="../media/image200.png"/><Relationship Id="rId5" Type="http://schemas.openxmlformats.org/officeDocument/2006/relationships/image" Target="../media/image201.png"/><Relationship Id="rId6" Type="http://schemas.openxmlformats.org/officeDocument/2006/relationships/image" Target="../media/image202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8.png"/><Relationship Id="rId3" Type="http://schemas.openxmlformats.org/officeDocument/2006/relationships/image" Target="../media/image203.png"/><Relationship Id="rId4" Type="http://schemas.openxmlformats.org/officeDocument/2006/relationships/image" Target="../media/image199.png"/><Relationship Id="rId5" Type="http://schemas.openxmlformats.org/officeDocument/2006/relationships/image" Target="../media/image204.png"/><Relationship Id="rId6" Type="http://schemas.openxmlformats.org/officeDocument/2006/relationships/image" Target="../media/image200.png"/><Relationship Id="rId7" Type="http://schemas.openxmlformats.org/officeDocument/2006/relationships/image" Target="../media/image201.png"/><Relationship Id="rId8" Type="http://schemas.openxmlformats.org/officeDocument/2006/relationships/image" Target="../media/image205.png"/><Relationship Id="rId9" Type="http://schemas.openxmlformats.org/officeDocument/2006/relationships/image" Target="../media/image202.png"/><Relationship Id="rId10" Type="http://schemas.openxmlformats.org/officeDocument/2006/relationships/image" Target="../media/image206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7.png"/><Relationship Id="rId3" Type="http://schemas.openxmlformats.org/officeDocument/2006/relationships/image" Target="../media/image208.png"/><Relationship Id="rId4" Type="http://schemas.openxmlformats.org/officeDocument/2006/relationships/image" Target="../media/image209.png"/><Relationship Id="rId5" Type="http://schemas.openxmlformats.org/officeDocument/2006/relationships/image" Target="../media/image210.png"/><Relationship Id="rId6" Type="http://schemas.openxmlformats.org/officeDocument/2006/relationships/image" Target="../media/image211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2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3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4.png"/><Relationship Id="rId3" Type="http://schemas.openxmlformats.org/officeDocument/2006/relationships/image" Target="../media/image215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6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7.png"/><Relationship Id="rId3" Type="http://schemas.openxmlformats.org/officeDocument/2006/relationships/image" Target="../media/image218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9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0.png"/><Relationship Id="rId3" Type="http://schemas.openxmlformats.org/officeDocument/2006/relationships/image" Target="../media/image221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2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3.png"/><Relationship Id="rId3" Type="http://schemas.openxmlformats.org/officeDocument/2006/relationships/image" Target="../media/image224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5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6.png"/><Relationship Id="rId3" Type="http://schemas.openxmlformats.org/officeDocument/2006/relationships/image" Target="../media/image227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8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9.png"/><Relationship Id="rId3" Type="http://schemas.openxmlformats.org/officeDocument/2006/relationships/image" Target="../media/image230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1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2.png"/><Relationship Id="rId3" Type="http://schemas.openxmlformats.org/officeDocument/2006/relationships/image" Target="../media/image233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4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5.png"/><Relationship Id="rId3" Type="http://schemas.openxmlformats.org/officeDocument/2006/relationships/image" Target="../media/image236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7.pn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8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9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0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1.pn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2.png"/><Relationship Id="rId3" Type="http://schemas.openxmlformats.org/officeDocument/2006/relationships/image" Target="../media/image243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4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5.png"/><Relationship Id="rId3" Type="http://schemas.openxmlformats.org/officeDocument/2006/relationships/image" Target="../media/image246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7.png"/><Relationship Id="rId3" Type="http://schemas.openxmlformats.org/officeDocument/2006/relationships/image" Target="../media/image248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9.png"/><Relationship Id="rId3" Type="http://schemas.openxmlformats.org/officeDocument/2006/relationships/image" Target="../media/image250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1.png"/><Relationship Id="rId3" Type="http://schemas.openxmlformats.org/officeDocument/2006/relationships/image" Target="../media/image252.png"/><Relationship Id="rId4" Type="http://schemas.openxmlformats.org/officeDocument/2006/relationships/image" Target="../media/image253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1.png"/><Relationship Id="rId3" Type="http://schemas.openxmlformats.org/officeDocument/2006/relationships/image" Target="../media/image254.png"/><Relationship Id="rId4" Type="http://schemas.openxmlformats.org/officeDocument/2006/relationships/image" Target="../media/image252.png"/><Relationship Id="rId5" Type="http://schemas.openxmlformats.org/officeDocument/2006/relationships/image" Target="../media/image253.png"/><Relationship Id="rId6" Type="http://schemas.openxmlformats.org/officeDocument/2006/relationships/image" Target="../media/image255.png"/><Relationship Id="rId7" Type="http://schemas.openxmlformats.org/officeDocument/2006/relationships/image" Target="../media/image256.png"/><Relationship Id="rId8" Type="http://schemas.openxmlformats.org/officeDocument/2006/relationships/image" Target="../media/image257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8.png"/><Relationship Id="rId3" Type="http://schemas.openxmlformats.org/officeDocument/2006/relationships/image" Target="../media/image259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0.png"/><Relationship Id="rId3" Type="http://schemas.openxmlformats.org/officeDocument/2006/relationships/image" Target="../media/image261.png"/><Relationship Id="rId4" Type="http://schemas.openxmlformats.org/officeDocument/2006/relationships/image" Target="../media/image262.png"/><Relationship Id="rId5" Type="http://schemas.openxmlformats.org/officeDocument/2006/relationships/image" Target="../media/image263.png"/><Relationship Id="rId6" Type="http://schemas.openxmlformats.org/officeDocument/2006/relationships/image" Target="../media/image264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5.png"/><Relationship Id="rId3" Type="http://schemas.openxmlformats.org/officeDocument/2006/relationships/image" Target="../media/image266.png"/><Relationship Id="rId4" Type="http://schemas.openxmlformats.org/officeDocument/2006/relationships/image" Target="../media/image267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8.png"/><Relationship Id="rId3" Type="http://schemas.openxmlformats.org/officeDocument/2006/relationships/image" Target="../media/image269.png"/><Relationship Id="rId4" Type="http://schemas.openxmlformats.org/officeDocument/2006/relationships/image" Target="../media/image270.pn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1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2.png"/><Relationship Id="rId3" Type="http://schemas.openxmlformats.org/officeDocument/2006/relationships/image" Target="../media/image273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4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5.png"/><Relationship Id="rId3" Type="http://schemas.openxmlformats.org/officeDocument/2006/relationships/image" Target="../media/image276.pn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7.png"/><Relationship Id="rId3" Type="http://schemas.openxmlformats.org/officeDocument/2006/relationships/image" Target="../media/image278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9.png"/><Relationship Id="rId3" Type="http://schemas.openxmlformats.org/officeDocument/2006/relationships/image" Target="../media/image280.png"/><Relationship Id="rId4" Type="http://schemas.openxmlformats.org/officeDocument/2006/relationships/image" Target="../media/image281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2.png"/><Relationship Id="rId3" Type="http://schemas.openxmlformats.org/officeDocument/2006/relationships/image" Target="../media/image283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4.png"/><Relationship Id="rId3" Type="http://schemas.openxmlformats.org/officeDocument/2006/relationships/image" Target="../media/image285.pn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6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7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8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9.png"/><Relationship Id="rId3" Type="http://schemas.openxmlformats.org/officeDocument/2006/relationships/image" Target="../media/image290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1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2.png"/><Relationship Id="rId3" Type="http://schemas.openxmlformats.org/officeDocument/2006/relationships/image" Target="../media/image293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4.png"/><Relationship Id="rId3" Type="http://schemas.openxmlformats.org/officeDocument/2006/relationships/image" Target="../media/image295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6.png"/><Relationship Id="rId3" Type="http://schemas.openxmlformats.org/officeDocument/2006/relationships/image" Target="../media/image297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8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9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0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1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2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3.png"/><Relationship Id="rId3" Type="http://schemas.openxmlformats.org/officeDocument/2006/relationships/image" Target="../media/image304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5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6.png"/><Relationship Id="rId3" Type="http://schemas.openxmlformats.org/officeDocument/2006/relationships/image" Target="../media/image307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8.png"/><Relationship Id="rId3" Type="http://schemas.openxmlformats.org/officeDocument/2006/relationships/image" Target="../media/image309.png"/><Relationship Id="rId4" Type="http://schemas.openxmlformats.org/officeDocument/2006/relationships/image" Target="../media/image310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1.png"/><Relationship Id="rId3" Type="http://schemas.openxmlformats.org/officeDocument/2006/relationships/image" Target="../media/image312.png"/><Relationship Id="rId4" Type="http://schemas.openxmlformats.org/officeDocument/2006/relationships/image" Target="../media/image313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4.png"/><Relationship Id="rId3" Type="http://schemas.openxmlformats.org/officeDocument/2006/relationships/image" Target="../media/image315.png"/><Relationship Id="rId4" Type="http://schemas.openxmlformats.org/officeDocument/2006/relationships/image" Target="../media/image107.png"/><Relationship Id="rId5" Type="http://schemas.openxmlformats.org/officeDocument/2006/relationships/image" Target="../media/image316.png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4.png"/><Relationship Id="rId3" Type="http://schemas.openxmlformats.org/officeDocument/2006/relationships/image" Target="../media/image315.png"/><Relationship Id="rId4" Type="http://schemas.openxmlformats.org/officeDocument/2006/relationships/image" Target="../media/image107.png"/><Relationship Id="rId5" Type="http://schemas.openxmlformats.org/officeDocument/2006/relationships/image" Target="../media/image316.png"/><Relationship Id="rId6" Type="http://schemas.openxmlformats.org/officeDocument/2006/relationships/image" Target="../media/image317.png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8.png"/><Relationship Id="rId3" Type="http://schemas.openxmlformats.org/officeDocument/2006/relationships/image" Target="../media/image319.png"/><Relationship Id="rId4" Type="http://schemas.openxmlformats.org/officeDocument/2006/relationships/image" Target="../media/image320.png"/><Relationship Id="rId5" Type="http://schemas.openxmlformats.org/officeDocument/2006/relationships/image" Target="../media/image321.png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2.png"/><Relationship Id="rId3" Type="http://schemas.openxmlformats.org/officeDocument/2006/relationships/image" Target="../media/image323.png"/><Relationship Id="rId4" Type="http://schemas.openxmlformats.org/officeDocument/2006/relationships/image" Target="../media/image324.png"/><Relationship Id="rId5" Type="http://schemas.openxmlformats.org/officeDocument/2006/relationships/image" Target="../media/image325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6.png"/><Relationship Id="rId3" Type="http://schemas.openxmlformats.org/officeDocument/2006/relationships/image" Target="../media/image327.png"/><Relationship Id="rId4" Type="http://schemas.openxmlformats.org/officeDocument/2006/relationships/image" Target="../media/image328.png"/><Relationship Id="rId5" Type="http://schemas.openxmlformats.org/officeDocument/2006/relationships/image" Target="../media/image329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0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1.png"/><Relationship Id="rId3" Type="http://schemas.openxmlformats.org/officeDocument/2006/relationships/image" Target="../media/image332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3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4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5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6.png"/><Relationship Id="rId3" Type="http://schemas.openxmlformats.org/officeDocument/2006/relationships/image" Target="../media/image337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8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9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0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1.png"/><Relationship Id="rId3" Type="http://schemas.openxmlformats.org/officeDocument/2006/relationships/image" Target="../media/image342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3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4.png"/><Relationship Id="rId3" Type="http://schemas.openxmlformats.org/officeDocument/2006/relationships/image" Target="../media/image345.pn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6.png"/><Relationship Id="rId3" Type="http://schemas.openxmlformats.org/officeDocument/2006/relationships/image" Target="../media/image347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8.png"/><Relationship Id="rId3" Type="http://schemas.openxmlformats.org/officeDocument/2006/relationships/image" Target="../media/image349.png"/><Relationship Id="rId4" Type="http://schemas.openxmlformats.org/officeDocument/2006/relationships/image" Target="../media/image350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1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2.png"/><Relationship Id="rId3" Type="http://schemas.openxmlformats.org/officeDocument/2006/relationships/image" Target="../media/image353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4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5.png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6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7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8.png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9.png"/><Relationship Id="rId3" Type="http://schemas.openxmlformats.org/officeDocument/2006/relationships/image" Target="../media/image360.png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1.png"/><Relationship Id="rId3" Type="http://schemas.openxmlformats.org/officeDocument/2006/relationships/image" Target="../media/image362.png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1.png"/><Relationship Id="rId3" Type="http://schemas.openxmlformats.org/officeDocument/2006/relationships/image" Target="../media/image363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4.png"/><Relationship Id="rId3" Type="http://schemas.openxmlformats.org/officeDocument/2006/relationships/image" Target="../media/image365.png"/><Relationship Id="rId4" Type="http://schemas.openxmlformats.org/officeDocument/2006/relationships/image" Target="../media/image366.png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7.png"/><Relationship Id="rId3" Type="http://schemas.openxmlformats.org/officeDocument/2006/relationships/image" Target="../media/image368.png"/><Relationship Id="rId4" Type="http://schemas.openxmlformats.org/officeDocument/2006/relationships/image" Target="../media/image369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0.png"/><Relationship Id="rId3" Type="http://schemas.openxmlformats.org/officeDocument/2006/relationships/image" Target="../media/image371.png"/><Relationship Id="rId4" Type="http://schemas.openxmlformats.org/officeDocument/2006/relationships/image" Target="../media/image372.png"/><Relationship Id="rId5" Type="http://schemas.openxmlformats.org/officeDocument/2006/relationships/image" Target="../media/image225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0.png"/><Relationship Id="rId3" Type="http://schemas.openxmlformats.org/officeDocument/2006/relationships/image" Target="../media/image371.png"/><Relationship Id="rId4" Type="http://schemas.openxmlformats.org/officeDocument/2006/relationships/image" Target="../media/image372.png"/><Relationship Id="rId5" Type="http://schemas.openxmlformats.org/officeDocument/2006/relationships/image" Target="../media/image225.png"/><Relationship Id="rId6" Type="http://schemas.openxmlformats.org/officeDocument/2006/relationships/image" Target="../media/image373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4.png"/><Relationship Id="rId3" Type="http://schemas.openxmlformats.org/officeDocument/2006/relationships/image" Target="../media/image375.png"/><Relationship Id="rId4" Type="http://schemas.openxmlformats.org/officeDocument/2006/relationships/image" Target="../media/image376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7.png"/><Relationship Id="rId3" Type="http://schemas.openxmlformats.org/officeDocument/2006/relationships/image" Target="../media/image378.png"/><Relationship Id="rId4" Type="http://schemas.openxmlformats.org/officeDocument/2006/relationships/image" Target="../media/image379.png"/><Relationship Id="rId5" Type="http://schemas.openxmlformats.org/officeDocument/2006/relationships/image" Target="../media/image380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1.png"/><Relationship Id="rId3" Type="http://schemas.openxmlformats.org/officeDocument/2006/relationships/image" Target="../media/image382.png"/><Relationship Id="rId4" Type="http://schemas.openxmlformats.org/officeDocument/2006/relationships/image" Target="../media/image383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4.png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5.png"/><Relationship Id="rId3" Type="http://schemas.openxmlformats.org/officeDocument/2006/relationships/image" Target="../media/image386.png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7.png"/></Relationships>
</file>

<file path=ppt/slides/_rels/slide2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8.png"/><Relationship Id="rId3" Type="http://schemas.openxmlformats.org/officeDocument/2006/relationships/image" Target="../media/image389.png"/></Relationships>
</file>

<file path=ppt/slides/_rels/slide2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0.png"/></Relationships>
</file>

<file path=ppt/slides/_rels/slide2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1.png"/><Relationship Id="rId3" Type="http://schemas.openxmlformats.org/officeDocument/2006/relationships/image" Target="../media/image392.png"/></Relationships>
</file>

<file path=ppt/slides/_rels/slide2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3.png"/></Relationships>
</file>

<file path=ppt/slides/_rels/slide2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4.png"/><Relationship Id="rId3" Type="http://schemas.openxmlformats.org/officeDocument/2006/relationships/image" Target="../media/image395.png"/></Relationships>
</file>

<file path=ppt/slides/_rels/slide2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6.png"/></Relationships>
</file>

<file path=ppt/slides/_rels/slide2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7.png"/><Relationship Id="rId3" Type="http://schemas.openxmlformats.org/officeDocument/2006/relationships/image" Target="../media/image398.png"/></Relationships>
</file>

<file path=ppt/slides/_rels/slide2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9.png"/></Relationships>
</file>

<file path=ppt/slides/_rels/slide2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0.png"/><Relationship Id="rId3" Type="http://schemas.openxmlformats.org/officeDocument/2006/relationships/image" Target="../media/image401.png"/></Relationships>
</file>

<file path=ppt/slides/_rels/slide2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2.png"/><Relationship Id="rId3" Type="http://schemas.openxmlformats.org/officeDocument/2006/relationships/image" Target="../media/image403.png"/></Relationships>
</file>

<file path=ppt/slides/_rels/slide2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2.png"/><Relationship Id="rId3" Type="http://schemas.openxmlformats.org/officeDocument/2006/relationships/image" Target="../media/image404.png"/><Relationship Id="rId4" Type="http://schemas.openxmlformats.org/officeDocument/2006/relationships/image" Target="../media/image405.png"/></Relationships>
</file>

<file path=ppt/slides/_rels/slide2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6.png"/></Relationships>
</file>

<file path=ppt/slides/_rels/slide2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7.png"/><Relationship Id="rId3" Type="http://schemas.openxmlformats.org/officeDocument/2006/relationships/image" Target="../media/image408.png"/></Relationships>
</file>

<file path=ppt/slides/_rels/slide2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9.png"/></Relationships>
</file>

<file path=ppt/slides/_rels/slide2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0.png"/></Relationships>
</file>

<file path=ppt/slides/_rels/slide2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1.png"/></Relationships>
</file>

<file path=ppt/slides/_rels/slide2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2.png"/></Relationships>
</file>

<file path=ppt/slides/_rels/slide2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3.png"/></Relationships>
</file>

<file path=ppt/slides/_rels/slide2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4.png"/><Relationship Id="rId3" Type="http://schemas.openxmlformats.org/officeDocument/2006/relationships/image" Target="../media/image415.png"/></Relationships>
</file>

<file path=ppt/slides/_rels/slide2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1.png"/><Relationship Id="rId3" Type="http://schemas.openxmlformats.org/officeDocument/2006/relationships/image" Target="../media/image416.png"/></Relationships>
</file>

<file path=ppt/slides/_rels/slide2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1.png"/><Relationship Id="rId3" Type="http://schemas.openxmlformats.org/officeDocument/2006/relationships/image" Target="../media/image417.png"/></Relationships>
</file>

<file path=ppt/slides/_rels/slide2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8.png"/><Relationship Id="rId3" Type="http://schemas.openxmlformats.org/officeDocument/2006/relationships/image" Target="../media/image419.png"/><Relationship Id="rId4" Type="http://schemas.openxmlformats.org/officeDocument/2006/relationships/image" Target="../media/image420.png"/></Relationships>
</file>

<file path=ppt/slides/_rels/slide2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1.png"/><Relationship Id="rId3" Type="http://schemas.openxmlformats.org/officeDocument/2006/relationships/image" Target="../media/image422.png"/><Relationship Id="rId4" Type="http://schemas.openxmlformats.org/officeDocument/2006/relationships/image" Target="../media/image423.png"/></Relationships>
</file>

<file path=ppt/slides/_rels/slide2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4.png"/><Relationship Id="rId3" Type="http://schemas.openxmlformats.org/officeDocument/2006/relationships/image" Target="../media/image425.png"/><Relationship Id="rId4" Type="http://schemas.openxmlformats.org/officeDocument/2006/relationships/image" Target="../media/image426.png"/></Relationships>
</file>

<file path=ppt/slides/_rels/slide2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4.png"/><Relationship Id="rId3" Type="http://schemas.openxmlformats.org/officeDocument/2006/relationships/image" Target="../media/image425.png"/><Relationship Id="rId4" Type="http://schemas.openxmlformats.org/officeDocument/2006/relationships/image" Target="../media/image426.png"/></Relationships>
</file>

<file path=ppt/slides/_rels/slide2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7.png"/><Relationship Id="rId3" Type="http://schemas.openxmlformats.org/officeDocument/2006/relationships/image" Target="../media/image428.png"/><Relationship Id="rId4" Type="http://schemas.openxmlformats.org/officeDocument/2006/relationships/image" Target="../media/image429.png"/><Relationship Id="rId5" Type="http://schemas.openxmlformats.org/officeDocument/2006/relationships/image" Target="../media/image430.png"/></Relationships>
</file>

<file path=ppt/slides/_rels/slide2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1.png"/><Relationship Id="rId3" Type="http://schemas.openxmlformats.org/officeDocument/2006/relationships/image" Target="../media/image432.png"/><Relationship Id="rId4" Type="http://schemas.openxmlformats.org/officeDocument/2006/relationships/image" Target="../media/image433.png"/></Relationships>
</file>

<file path=ppt/slides/_rels/slide2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4.png"/><Relationship Id="rId3" Type="http://schemas.openxmlformats.org/officeDocument/2006/relationships/image" Target="../media/image435.png"/></Relationships>
</file>

<file path=ppt/slides/_rels/slide2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6.png"/><Relationship Id="rId3" Type="http://schemas.openxmlformats.org/officeDocument/2006/relationships/image" Target="../media/image437.png"/></Relationships>
</file>

<file path=ppt/slides/_rels/slide2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8.png"/><Relationship Id="rId3" Type="http://schemas.openxmlformats.org/officeDocument/2006/relationships/image" Target="../media/image439.png"/><Relationship Id="rId4" Type="http://schemas.openxmlformats.org/officeDocument/2006/relationships/image" Target="../media/image440.png"/></Relationships>
</file>

<file path=ppt/slides/_rels/slide2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1.png"/><Relationship Id="rId3" Type="http://schemas.openxmlformats.org/officeDocument/2006/relationships/image" Target="../media/image442.png"/></Relationships>
</file>

<file path=ppt/slides/_rels/slide2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3.png"/><Relationship Id="rId3" Type="http://schemas.openxmlformats.org/officeDocument/2006/relationships/image" Target="../media/image444.png"/></Relationships>
</file>

<file path=ppt/slides/_rels/slide2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5.png"/></Relationships>
</file>

<file path=ppt/slides/_rels/slide2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6.png"/></Relationships>
</file>

<file path=ppt/slides/_rels/slide2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7.png"/><Relationship Id="rId3" Type="http://schemas.openxmlformats.org/officeDocument/2006/relationships/image" Target="../media/image448.png"/></Relationships>
</file>

<file path=ppt/slides/_rels/slide2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9.png"/><Relationship Id="rId3" Type="http://schemas.openxmlformats.org/officeDocument/2006/relationships/image" Target="../media/image450.png"/></Relationships>
</file>

<file path=ppt/slides/_rels/slide2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1.png"/><Relationship Id="rId3" Type="http://schemas.openxmlformats.org/officeDocument/2006/relationships/image" Target="../media/image452.png"/></Relationships>
</file>

<file path=ppt/slides/_rels/slide3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3.png"/><Relationship Id="rId3" Type="http://schemas.openxmlformats.org/officeDocument/2006/relationships/image" Target="../media/image454.png"/></Relationships>
</file>

<file path=ppt/slides/_rels/slide3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5.png"/><Relationship Id="rId3" Type="http://schemas.openxmlformats.org/officeDocument/2006/relationships/image" Target="../media/image456.png"/></Relationships>
</file>

<file path=ppt/slides/_rels/slide3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7.png"/><Relationship Id="rId3" Type="http://schemas.openxmlformats.org/officeDocument/2006/relationships/image" Target="../media/image458.png"/></Relationships>
</file>

<file path=ppt/slides/_rels/slide3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9.png"/></Relationships>
</file>

<file path=ppt/slides/_rels/slide3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0.png"/></Relationships>
</file>

<file path=ppt/slides/_rels/slide3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1.png"/><Relationship Id="rId3" Type="http://schemas.openxmlformats.org/officeDocument/2006/relationships/image" Target="../media/image462.png"/></Relationships>
</file>

<file path=ppt/slides/_rels/slide3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1.png"/><Relationship Id="rId3" Type="http://schemas.openxmlformats.org/officeDocument/2006/relationships/image" Target="../media/image463.png"/><Relationship Id="rId4" Type="http://schemas.openxmlformats.org/officeDocument/2006/relationships/image" Target="../media/image462.png"/><Relationship Id="rId5" Type="http://schemas.openxmlformats.org/officeDocument/2006/relationships/image" Target="../media/image464.png"/></Relationships>
</file>

<file path=ppt/slides/_rels/slide3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5.png"/><Relationship Id="rId3" Type="http://schemas.openxmlformats.org/officeDocument/2006/relationships/image" Target="../media/image466.png"/></Relationships>
</file>

<file path=ppt/slides/_rels/slide3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7.png"/><Relationship Id="rId3" Type="http://schemas.openxmlformats.org/officeDocument/2006/relationships/image" Target="../media/image468.png"/><Relationship Id="rId4" Type="http://schemas.openxmlformats.org/officeDocument/2006/relationships/image" Target="../media/image469.png"/></Relationships>
</file>

<file path=ppt/slides/_rels/slide3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0.png"/><Relationship Id="rId3" Type="http://schemas.openxmlformats.org/officeDocument/2006/relationships/image" Target="../media/image471.png"/></Relationships>
</file>

<file path=ppt/slides/_rels/slide3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2.png"/><Relationship Id="rId3" Type="http://schemas.openxmlformats.org/officeDocument/2006/relationships/image" Target="../media/image473.png"/></Relationships>
</file>

<file path=ppt/slides/_rels/slide3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4.png"/><Relationship Id="rId3" Type="http://schemas.openxmlformats.org/officeDocument/2006/relationships/image" Target="../media/image475.png"/></Relationships>
</file>

<file path=ppt/slides/_rels/slide3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6.png"/><Relationship Id="rId3" Type="http://schemas.openxmlformats.org/officeDocument/2006/relationships/image" Target="../media/image477.png"/><Relationship Id="rId4" Type="http://schemas.openxmlformats.org/officeDocument/2006/relationships/image" Target="../media/image478.png"/></Relationships>
</file>

<file path=ppt/slides/_rels/slide3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9.png"/><Relationship Id="rId3" Type="http://schemas.openxmlformats.org/officeDocument/2006/relationships/image" Target="../media/image480.png"/></Relationships>
</file>

<file path=ppt/slides/_rels/slide3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1.png"/><Relationship Id="rId3" Type="http://schemas.openxmlformats.org/officeDocument/2006/relationships/image" Target="../media/image482.png"/></Relationships>
</file>

<file path=ppt/slides/_rels/slide3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3.png"/></Relationships>
</file>

<file path=ppt/slides/_rels/slide3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4.png"/></Relationships>
</file>

<file path=ppt/slides/_rels/slide3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5.png"/></Relationships>
</file>

<file path=ppt/slides/_rels/slide3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6.png"/></Relationships>
</file>

<file path=ppt/slides/_rels/slide3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7.png"/><Relationship Id="rId3" Type="http://schemas.openxmlformats.org/officeDocument/2006/relationships/image" Target="../media/image488.png"/></Relationships>
</file>

<file path=ppt/slides/_rels/slide3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9.png"/><Relationship Id="rId3" Type="http://schemas.openxmlformats.org/officeDocument/2006/relationships/image" Target="../media/image490.png"/></Relationships>
</file>

<file path=ppt/slides/_rels/slide3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1.png"/><Relationship Id="rId3" Type="http://schemas.openxmlformats.org/officeDocument/2006/relationships/image" Target="../media/image492.png"/></Relationships>
</file>

<file path=ppt/slides/_rels/slide3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3.png"/><Relationship Id="rId3" Type="http://schemas.openxmlformats.org/officeDocument/2006/relationships/image" Target="../media/image494.png"/></Relationships>
</file>

<file path=ppt/slides/_rels/slide3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5.png"/><Relationship Id="rId3" Type="http://schemas.openxmlformats.org/officeDocument/2006/relationships/image" Target="../media/image496.png"/></Relationships>
</file>

<file path=ppt/slides/_rels/slide3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7.png"/><Relationship Id="rId3" Type="http://schemas.openxmlformats.org/officeDocument/2006/relationships/image" Target="../media/image498.png"/></Relationships>
</file>

<file path=ppt/slides/_rels/slide3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78308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13969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800" b="1" i="0">
                <a:solidFill>
                  <a:srgbClr val="1A1A1A"/>
                </a:solidFill>
                <a:latin typeface="Century Schoolbook"/>
              </a:rPr>
              <a:t>Exponents and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34670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42900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703320"/>
            <a:ext cx="106070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Ten lessons in teaching order  ·  the next slide jumps to each one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— Exponents and Scientific Notation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Contents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Click a lesson to jump to it. Each lesson numbers its slides from 1, as its Teacher Edition does.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— Exponents and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>
            <a:hlinkClick action="ppaction://hlinksldjump" r:id="rId2"/>
          </p:cNvPr>
          <p:cNvSpPr txBox="1"/>
          <p:nvPr/>
        </p:nvSpPr>
        <p:spPr>
          <a:xfrm>
            <a:off x="1143000" y="1783080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3.01</a:t>
            </a:r>
          </a:p>
        </p:txBody>
      </p:sp>
      <p:sp>
        <p:nvSpPr>
          <p:cNvPr id="10" name="TextBox 9">
            <a:hlinkClick action="ppaction://hlinksldjump" r:id="rId2"/>
          </p:cNvPr>
          <p:cNvSpPr txBox="1"/>
          <p:nvPr/>
        </p:nvSpPr>
        <p:spPr>
          <a:xfrm>
            <a:off x="2560320" y="1783080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Product Laws of Exponents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555480" y="1783080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3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43000" y="2240280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hlinkClick action="ppaction://hlinksldjump" r:id="rId3"/>
          </p:cNvPr>
          <p:cNvSpPr txBox="1"/>
          <p:nvPr/>
        </p:nvSpPr>
        <p:spPr>
          <a:xfrm>
            <a:off x="1143000" y="2203704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3.02</a:t>
            </a:r>
          </a:p>
        </p:txBody>
      </p:sp>
      <p:sp>
        <p:nvSpPr>
          <p:cNvPr id="14" name="TextBox 13">
            <a:hlinkClick action="ppaction://hlinksldjump" r:id="rId3"/>
          </p:cNvPr>
          <p:cNvSpPr txBox="1"/>
          <p:nvPr/>
        </p:nvSpPr>
        <p:spPr>
          <a:xfrm>
            <a:off x="2560320" y="2203704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Quotient Laws of Exponents</a:t>
            </a:r>
          </a:p>
        </p:txBody>
      </p:sp>
      <p:sp>
        <p:nvSpPr>
          <p:cNvPr id="15" name="TextBox 14">
            <a:hlinkClick action="ppaction://hlinksldjump" r:id="rId3"/>
          </p:cNvPr>
          <p:cNvSpPr txBox="1"/>
          <p:nvPr/>
        </p:nvSpPr>
        <p:spPr>
          <a:xfrm>
            <a:off x="9555480" y="2203704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38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143000" y="2660904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hlinkClick action="ppaction://hlinksldjump" r:id="rId4"/>
          </p:cNvPr>
          <p:cNvSpPr txBox="1"/>
          <p:nvPr/>
        </p:nvSpPr>
        <p:spPr>
          <a:xfrm>
            <a:off x="1143000" y="2624328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3.03</a:t>
            </a:r>
          </a:p>
        </p:txBody>
      </p:sp>
      <p:sp>
        <p:nvSpPr>
          <p:cNvPr id="18" name="TextBox 17">
            <a:hlinkClick action="ppaction://hlinksldjump" r:id="rId4"/>
          </p:cNvPr>
          <p:cNvSpPr txBox="1"/>
          <p:nvPr/>
        </p:nvSpPr>
        <p:spPr>
          <a:xfrm>
            <a:off x="2560320" y="2624328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Exponential Expressions</a:t>
            </a:r>
          </a:p>
        </p:txBody>
      </p:sp>
      <p:sp>
        <p:nvSpPr>
          <p:cNvPr id="19" name="TextBox 18">
            <a:hlinkClick action="ppaction://hlinksldjump" r:id="rId4"/>
          </p:cNvPr>
          <p:cNvSpPr txBox="1"/>
          <p:nvPr/>
        </p:nvSpPr>
        <p:spPr>
          <a:xfrm>
            <a:off x="9555480" y="2624328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72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143000" y="3081528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hlinkClick action="ppaction://hlinksldjump" r:id="rId5"/>
          </p:cNvPr>
          <p:cNvSpPr txBox="1"/>
          <p:nvPr/>
        </p:nvSpPr>
        <p:spPr>
          <a:xfrm>
            <a:off x="1143000" y="3044952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3.04</a:t>
            </a:r>
          </a:p>
        </p:txBody>
      </p:sp>
      <p:sp>
        <p:nvSpPr>
          <p:cNvPr id="22" name="TextBox 21">
            <a:hlinkClick action="ppaction://hlinksldjump" r:id="rId5"/>
          </p:cNvPr>
          <p:cNvSpPr txBox="1"/>
          <p:nvPr/>
        </p:nvSpPr>
        <p:spPr>
          <a:xfrm>
            <a:off x="2560320" y="3044952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Negative Exponent Law</a:t>
            </a:r>
          </a:p>
        </p:txBody>
      </p:sp>
      <p:sp>
        <p:nvSpPr>
          <p:cNvPr id="23" name="TextBox 22">
            <a:hlinkClick action="ppaction://hlinksldjump" r:id="rId5"/>
          </p:cNvPr>
          <p:cNvSpPr txBox="1"/>
          <p:nvPr/>
        </p:nvSpPr>
        <p:spPr>
          <a:xfrm>
            <a:off x="9555480" y="3044952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106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143000" y="3502152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hlinkClick action="ppaction://hlinksldjump" r:id="rId6"/>
          </p:cNvPr>
          <p:cNvSpPr txBox="1"/>
          <p:nvPr/>
        </p:nvSpPr>
        <p:spPr>
          <a:xfrm>
            <a:off x="1143000" y="3465576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3.05</a:t>
            </a:r>
          </a:p>
        </p:txBody>
      </p:sp>
      <p:sp>
        <p:nvSpPr>
          <p:cNvPr id="26" name="TextBox 25">
            <a:hlinkClick action="ppaction://hlinksldjump" r:id="rId6"/>
          </p:cNvPr>
          <p:cNvSpPr txBox="1"/>
          <p:nvPr/>
        </p:nvSpPr>
        <p:spPr>
          <a:xfrm>
            <a:off x="2560320" y="3465576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Applying Exponent Laws</a:t>
            </a:r>
          </a:p>
        </p:txBody>
      </p:sp>
      <p:sp>
        <p:nvSpPr>
          <p:cNvPr id="27" name="TextBox 26">
            <a:hlinkClick action="ppaction://hlinksldjump" r:id="rId6"/>
          </p:cNvPr>
          <p:cNvSpPr txBox="1"/>
          <p:nvPr/>
        </p:nvSpPr>
        <p:spPr>
          <a:xfrm>
            <a:off x="9555480" y="3465576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140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143000" y="3922776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hlinkClick action="ppaction://hlinksldjump" r:id="rId7"/>
          </p:cNvPr>
          <p:cNvSpPr txBox="1"/>
          <p:nvPr/>
        </p:nvSpPr>
        <p:spPr>
          <a:xfrm>
            <a:off x="1143000" y="3886200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3.06–07</a:t>
            </a:r>
          </a:p>
        </p:txBody>
      </p:sp>
      <p:sp>
        <p:nvSpPr>
          <p:cNvPr id="30" name="TextBox 29">
            <a:hlinkClick action="ppaction://hlinksldjump" r:id="rId7"/>
          </p:cNvPr>
          <p:cNvSpPr txBox="1"/>
          <p:nvPr/>
        </p:nvSpPr>
        <p:spPr>
          <a:xfrm>
            <a:off x="2560320" y="3886200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Evaluating and Equivalent Expressions</a:t>
            </a:r>
          </a:p>
        </p:txBody>
      </p:sp>
      <p:sp>
        <p:nvSpPr>
          <p:cNvPr id="31" name="TextBox 30">
            <a:hlinkClick action="ppaction://hlinksldjump" r:id="rId7"/>
          </p:cNvPr>
          <p:cNvSpPr txBox="1"/>
          <p:nvPr/>
        </p:nvSpPr>
        <p:spPr>
          <a:xfrm>
            <a:off x="9555480" y="3886200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174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143000" y="4343400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hlinkClick action="ppaction://hlinksldjump" r:id="rId8"/>
          </p:cNvPr>
          <p:cNvSpPr txBox="1"/>
          <p:nvPr/>
        </p:nvSpPr>
        <p:spPr>
          <a:xfrm>
            <a:off x="1143000" y="4306824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T-A1</a:t>
            </a:r>
          </a:p>
        </p:txBody>
      </p:sp>
      <p:sp>
        <p:nvSpPr>
          <p:cNvPr id="34" name="TextBox 33">
            <a:hlinkClick action="ppaction://hlinksldjump" r:id="rId8"/>
          </p:cNvPr>
          <p:cNvSpPr txBox="1"/>
          <p:nvPr/>
        </p:nvSpPr>
        <p:spPr>
          <a:xfrm>
            <a:off x="2560320" y="4306824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Exponent Laws with Variable Bases</a:t>
            </a:r>
          </a:p>
        </p:txBody>
      </p:sp>
      <p:sp>
        <p:nvSpPr>
          <p:cNvPr id="35" name="TextBox 34">
            <a:hlinkClick action="ppaction://hlinksldjump" r:id="rId8"/>
          </p:cNvPr>
          <p:cNvSpPr txBox="1"/>
          <p:nvPr/>
        </p:nvSpPr>
        <p:spPr>
          <a:xfrm>
            <a:off x="9555480" y="4306824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209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143000" y="4764024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hlinkClick action="ppaction://hlinksldjump" r:id="rId9"/>
          </p:cNvPr>
          <p:cNvSpPr txBox="1"/>
          <p:nvPr/>
        </p:nvSpPr>
        <p:spPr>
          <a:xfrm>
            <a:off x="1143000" y="4727448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T-A2</a:t>
            </a:r>
          </a:p>
        </p:txBody>
      </p:sp>
      <p:sp>
        <p:nvSpPr>
          <p:cNvPr id="38" name="TextBox 37">
            <a:hlinkClick action="ppaction://hlinksldjump" r:id="rId9"/>
          </p:cNvPr>
          <p:cNvSpPr txBox="1"/>
          <p:nvPr/>
        </p:nvSpPr>
        <p:spPr>
          <a:xfrm>
            <a:off x="2560320" y="4727448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Negative Exponents with Variable Bases</a:t>
            </a:r>
          </a:p>
        </p:txBody>
      </p:sp>
      <p:sp>
        <p:nvSpPr>
          <p:cNvPr id="39" name="TextBox 38">
            <a:hlinkClick action="ppaction://hlinksldjump" r:id="rId9"/>
          </p:cNvPr>
          <p:cNvSpPr txBox="1"/>
          <p:nvPr/>
        </p:nvSpPr>
        <p:spPr>
          <a:xfrm>
            <a:off x="9555480" y="4727448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243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143000" y="5184648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hlinkClick action="ppaction://hlinksldjump" r:id="rId10"/>
          </p:cNvPr>
          <p:cNvSpPr txBox="1"/>
          <p:nvPr/>
        </p:nvSpPr>
        <p:spPr>
          <a:xfrm>
            <a:off x="1143000" y="5148072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3.08</a:t>
            </a:r>
          </a:p>
        </p:txBody>
      </p:sp>
      <p:sp>
        <p:nvSpPr>
          <p:cNvPr id="42" name="TextBox 41">
            <a:hlinkClick action="ppaction://hlinksldjump" r:id="rId10"/>
          </p:cNvPr>
          <p:cNvSpPr txBox="1"/>
          <p:nvPr/>
        </p:nvSpPr>
        <p:spPr>
          <a:xfrm>
            <a:off x="2560320" y="5148072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Writing Large Numbers in Scientific Notation</a:t>
            </a:r>
          </a:p>
        </p:txBody>
      </p:sp>
      <p:sp>
        <p:nvSpPr>
          <p:cNvPr id="43" name="TextBox 42">
            <a:hlinkClick action="ppaction://hlinksldjump" r:id="rId10"/>
          </p:cNvPr>
          <p:cNvSpPr txBox="1"/>
          <p:nvPr/>
        </p:nvSpPr>
        <p:spPr>
          <a:xfrm>
            <a:off x="9555480" y="5148072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277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143000" y="5605272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hlinkClick action="ppaction://hlinksldjump" r:id="rId11"/>
          </p:cNvPr>
          <p:cNvSpPr txBox="1"/>
          <p:nvPr/>
        </p:nvSpPr>
        <p:spPr>
          <a:xfrm>
            <a:off x="1143000" y="5568696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3.09</a:t>
            </a:r>
          </a:p>
        </p:txBody>
      </p:sp>
      <p:sp>
        <p:nvSpPr>
          <p:cNvPr id="46" name="TextBox 45">
            <a:hlinkClick action="ppaction://hlinksldjump" r:id="rId11"/>
          </p:cNvPr>
          <p:cNvSpPr txBox="1"/>
          <p:nvPr/>
        </p:nvSpPr>
        <p:spPr>
          <a:xfrm>
            <a:off x="2560320" y="5568696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Writing Small Numbers in Scientific Notation</a:t>
            </a:r>
          </a:p>
        </p:txBody>
      </p:sp>
      <p:sp>
        <p:nvSpPr>
          <p:cNvPr id="47" name="TextBox 46">
            <a:hlinkClick action="ppaction://hlinksldjump" r:id="rId11"/>
          </p:cNvPr>
          <p:cNvSpPr txBox="1"/>
          <p:nvPr/>
        </p:nvSpPr>
        <p:spPr>
          <a:xfrm>
            <a:off x="9555480" y="5568696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311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1143000" y="6025896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Product Laws of Exponents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MA.7.NSO.1.1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use the product of powers, power of a product, power of a power and identity laws to rewrite and evaluate a numerical expression.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Last unit you took roots apart.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you put powers together — and the base has to match.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0ae0cbe9590d6d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784604"/>
            <a:ext cx="688848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372868"/>
            <a:ext cx="61639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Between which two whole numbers is </a:t>
            </a:r>
          </a:p>
        </p:txBody>
      </p:sp>
      <p:pic>
        <p:nvPicPr>
          <p:cNvPr id="12" name="Picture 11" descr="bab7398c9b21b5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1346" y="2397252"/>
            <a:ext cx="688848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590194" y="2372868"/>
            <a:ext cx="347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985516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5" name="Picture 14" descr="d836f789d798887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3098292"/>
            <a:ext cx="1402080" cy="2316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669792"/>
            <a:ext cx="21904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17" name="Picture 16" descr="ec4478436d606ed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7795" y="3621024"/>
            <a:ext cx="637032" cy="5547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0ae0cbe9590d6d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784604"/>
            <a:ext cx="688848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95453" y="1760220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372868"/>
            <a:ext cx="61639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Between which two whole numbers is </a:t>
            </a:r>
          </a:p>
        </p:txBody>
      </p:sp>
      <p:pic>
        <p:nvPicPr>
          <p:cNvPr id="13" name="Picture 12" descr="bab7398c9b21b5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1346" y="2397252"/>
            <a:ext cx="688848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590194" y="2372868"/>
            <a:ext cx="347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49446" y="2372868"/>
            <a:ext cx="13513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6 and 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985516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7" name="Picture 16" descr="d836f789d798887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3098292"/>
            <a:ext cx="1402080" cy="2316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340088" y="2985516"/>
            <a:ext cx="942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x =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669792"/>
            <a:ext cx="21904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20" name="Picture 19" descr="ec4478436d606ed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7795" y="3621024"/>
            <a:ext cx="637032" cy="554736"/>
          </a:xfrm>
          <a:prstGeom prst="rect">
            <a:avLst/>
          </a:prstGeom>
        </p:spPr>
      </p:pic>
      <p:pic>
        <p:nvPicPr>
          <p:cNvPr id="21" name="Picture 20" descr="3a92952d92bb77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13467" y="3621024"/>
            <a:ext cx="170688" cy="55778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three words.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A power is a shorthand for repeated multiplication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850392" y="2322576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404872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2404872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0B5394"/>
                </a:solidFill>
                <a:latin typeface="Century Schoolbook"/>
              </a:rPr>
              <a:t>base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   —   the number used as a factor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0392" y="3054096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3136391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B.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3136391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0B5394"/>
                </a:solidFill>
                <a:latin typeface="Century Schoolbook"/>
              </a:rPr>
              <a:t>exponent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   —   how many times the base is a factor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" y="3785616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" y="3867912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81912" y="3867912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0B5394"/>
                </a:solidFill>
                <a:latin typeface="Century Schoolbook"/>
              </a:rPr>
              <a:t>power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   —   the whole thing, base and exponent together</a:t>
            </a:r>
          </a:p>
        </p:txBody>
      </p:sp>
      <p:pic>
        <p:nvPicPr>
          <p:cNvPr id="20" name="Picture 19" descr="0ab145e8ca7379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5500" y="4709160"/>
            <a:ext cx="2410968" cy="34442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586468" y="4652772"/>
            <a:ext cx="9885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</a:t>
            </a:r>
          </a:p>
        </p:txBody>
      </p:sp>
      <p:pic>
        <p:nvPicPr>
          <p:cNvPr id="22" name="Picture 21" descr="3b6b0e0ba8659f8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891" y="4535424"/>
            <a:ext cx="2548128" cy="69189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Where the rule comes from.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Product of powers — same base, add the exponents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979221dae3c66b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7536" y="2340864"/>
            <a:ext cx="4346448" cy="411480"/>
          </a:xfrm>
          <a:prstGeom prst="rect">
            <a:avLst/>
          </a:prstGeom>
        </p:spPr>
      </p:pic>
      <p:pic>
        <p:nvPicPr>
          <p:cNvPr id="12" name="Picture 11" descr="3ebe349f0ffa36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2781" y="3028188"/>
            <a:ext cx="3596640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269421" y="3003804"/>
            <a:ext cx="53564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— different bases, no shortcut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3735324"/>
            <a:ext cx="34192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Product of powers:  </a:t>
            </a:r>
          </a:p>
        </p:txBody>
      </p:sp>
      <p:pic>
        <p:nvPicPr>
          <p:cNvPr id="15" name="Picture 14" descr="90652a6387118d5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9655" y="3810000"/>
            <a:ext cx="2313432" cy="3078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402836"/>
            <a:ext cx="30884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Check with values:  </a:t>
            </a:r>
          </a:p>
        </p:txBody>
      </p:sp>
      <p:pic>
        <p:nvPicPr>
          <p:cNvPr id="17" name="Picture 16" descr="381f7ba218ba42d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8837" y="4454652"/>
            <a:ext cx="3934968" cy="35356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Power of a product — the exponent goes to every factor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ba972b1c36f6d1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2411" y="2342388"/>
            <a:ext cx="8616696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049524"/>
            <a:ext cx="35301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Power of a product:  </a:t>
            </a:r>
          </a:p>
        </p:txBody>
      </p:sp>
      <p:pic>
        <p:nvPicPr>
          <p:cNvPr id="12" name="Picture 11" descr="7d1b404025905c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0559" y="3104388"/>
            <a:ext cx="2420112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75818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Works for a product only, never for a sum:</a:t>
            </a:r>
          </a:p>
        </p:txBody>
      </p:sp>
      <p:pic>
        <p:nvPicPr>
          <p:cNvPr id="14" name="Picture 13" descr="6a79f5fbe0b8b3a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4472940"/>
            <a:ext cx="3739896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27448" y="4448555"/>
            <a:ext cx="12086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 but   </a:t>
            </a:r>
          </a:p>
        </p:txBody>
      </p:sp>
      <p:pic>
        <p:nvPicPr>
          <p:cNvPr id="16" name="Picture 15" descr="25abd5cd359cd53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8891" y="4472940"/>
            <a:ext cx="2840736" cy="40843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IV.  Power of a power, and the exponent 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325879" y="2340864"/>
          <a:ext cx="950976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4206240"/>
                <a:gridCol w="23774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Power of a power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Repeated multiplication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Single power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(3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3 · 3 · 3 · 3 · 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87552" y="4128515"/>
            <a:ext cx="32480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Power of a power:  </a:t>
            </a:r>
          </a:p>
        </p:txBody>
      </p:sp>
      <p:pic>
        <p:nvPicPr>
          <p:cNvPr id="12" name="Picture 11" descr="3ba570017fc9cc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8435" y="4183380"/>
            <a:ext cx="1837943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936379" y="4128515"/>
            <a:ext cx="24864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        Identity:  </a:t>
            </a:r>
          </a:p>
        </p:txBody>
      </p:sp>
      <p:pic>
        <p:nvPicPr>
          <p:cNvPr id="14" name="Picture 13" descr="61e89ca5117b4f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5661" y="4186428"/>
            <a:ext cx="975360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Two ways to the same value.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662f7ef757f30a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0512" y="2136648"/>
            <a:ext cx="920495" cy="3444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 both ways.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1638dccdf2248b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87731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63312" y="1865376"/>
            <a:ext cx="622096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product of powers: same base, add</a:t>
            </a:r>
          </a:p>
        </p:txBody>
      </p:sp>
      <p:pic>
        <p:nvPicPr>
          <p:cNvPr id="11" name="Picture 10" descr="4bce5fcbc09ba5a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2032"/>
            <a:ext cx="1335024" cy="3474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21024" y="2487168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evaluate the single power</a:t>
            </a:r>
          </a:p>
        </p:txBody>
      </p:sp>
      <p:pic>
        <p:nvPicPr>
          <p:cNvPr id="13" name="Picture 12" descr="939d17ddf54fca0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163823"/>
            <a:ext cx="1810512" cy="2865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096512" y="3078479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check: evaluate each, then multiply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243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0dfb72a0f6508b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020" y="2194560"/>
            <a:ext cx="1173480" cy="4267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f61491015b87f3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020" y="2194560"/>
            <a:ext cx="1173480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3522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same base, add: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7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negative base and a power of a power.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111bd13923d7f5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2872" y="2103120"/>
            <a:ext cx="1255776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996ff5847669506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187952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73952" y="1897380"/>
            <a:ext cx="491032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power: multiply</a:t>
            </a:r>
          </a:p>
        </p:txBody>
      </p:sp>
      <p:pic>
        <p:nvPicPr>
          <p:cNvPr id="11" name="Picture 10" descr="816ea1a633337a3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6040"/>
            <a:ext cx="1697736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83736" y="2583180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six negative factors — positive</a:t>
            </a:r>
          </a:p>
        </p:txBody>
      </p:sp>
      <p:pic>
        <p:nvPicPr>
          <p:cNvPr id="13" name="Picture 12" descr="ed67bc8f2938c14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91840"/>
            <a:ext cx="1697736" cy="4053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983736" y="3265932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check: (−2)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= −8, then square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bb2905f7bc6949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194560"/>
            <a:ext cx="1554480" cy="51816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44c6670a1f9083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1996" y="2194560"/>
            <a:ext cx="1557528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32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multiply the exponents: (−3)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(−3)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729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7a6e349cb42101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3163" y="2194560"/>
            <a:ext cx="1155192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c64ca1a4dc51bf5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1639" y="2103120"/>
            <a:ext cx="1158240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720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same base, so add the exponents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20995" y="4604003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fb5a5ab64e7e78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1235" y="4663440"/>
            <a:ext cx="399288" cy="42976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24405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rectangle is  </a:t>
            </a:r>
          </a:p>
        </p:txBody>
      </p:sp>
      <p:pic>
        <p:nvPicPr>
          <p:cNvPr id="10" name="Picture 9" descr="d5ca6e2822ee53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7866" y="1941575"/>
            <a:ext cx="268224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806090" y="1851660"/>
            <a:ext cx="36999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centimeters long and  </a:t>
            </a:r>
          </a:p>
        </p:txBody>
      </p:sp>
      <p:pic>
        <p:nvPicPr>
          <p:cNvPr id="12" name="Picture 11" descr="ad43ae3bbc8b22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8898" y="1943100"/>
            <a:ext cx="268224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637122" y="1851660"/>
            <a:ext cx="30237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centimeters wide.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Its perimeter is 40 centimeters.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What is the area of the rectangle, in square centimeters?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24405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rectangle is  </a:t>
            </a:r>
          </a:p>
        </p:txBody>
      </p:sp>
      <p:pic>
        <p:nvPicPr>
          <p:cNvPr id="10" name="Picture 9" descr="5257a77d61b891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7866" y="1943100"/>
            <a:ext cx="274320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812186" y="1851660"/>
            <a:ext cx="36999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centimeters long and  </a:t>
            </a:r>
          </a:p>
        </p:txBody>
      </p:sp>
      <p:pic>
        <p:nvPicPr>
          <p:cNvPr id="12" name="Picture 11" descr="fcc0337caf95aad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4994" y="1943100"/>
            <a:ext cx="271272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646266" y="1851660"/>
            <a:ext cx="30237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centimeters wide.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Its perimeter is 40 centimeters.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What is the area of the rectangle, in square centimeters?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656804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64 square centimeters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0682cf5d6aba1b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3728" y="2194560"/>
            <a:ext cx="127406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b6b82c3fc17cdb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79" y="2103120"/>
            <a:ext cx="1280160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2552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8 · 125, or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1000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d3482028085e50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3748" y="2194560"/>
            <a:ext cx="954023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35097bf00c93665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3748" y="2103120"/>
            <a:ext cx="954023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559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four copies of 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so eight 3s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20995" y="4604003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46595cae23e895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1235" y="4663440"/>
            <a:ext cx="399288" cy="42976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fba9bd10890881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0971" y="2194560"/>
            <a:ext cx="117957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4988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0783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fc3793d359b5c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9448" y="2103120"/>
            <a:ext cx="1182624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5539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217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217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075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075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1335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4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806ea7b0be26cf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3748" y="2194560"/>
            <a:ext cx="954023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413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9927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0fac146190426f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2223" y="2103120"/>
            <a:ext cx="957072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4987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2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0783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80e874aaffdac4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9556" y="2194560"/>
            <a:ext cx="2502408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5b98b742702029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031" y="2103120"/>
            <a:ext cx="2505456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559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(−3)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— three negative factors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−27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f58654af4b9460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3376" y="2194560"/>
            <a:ext cx="2334768" cy="8534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pic>
        <p:nvPicPr>
          <p:cNvPr id="9" name="Picture 8" descr="a9bbd2622d9f15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4900" y="2103120"/>
            <a:ext cx="2331720" cy="8503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27832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(½)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4607" y="4817363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08b8d08dca6c51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4663440"/>
            <a:ext cx="512064" cy="85648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Aiyanna says she can use the power of a product law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97912" y="2746579"/>
            <a:ext cx="21902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to evaluate  </a:t>
            </a:r>
          </a:p>
        </p:txBody>
      </p:sp>
      <p:pic>
        <p:nvPicPr>
          <p:cNvPr id="11" name="Picture 10" descr="c4163b4848547f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1030" y="2769439"/>
            <a:ext cx="1938528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89558" y="2746579"/>
            <a:ext cx="25112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Is she right?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Say what the law needs, and show the value.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Aiyanna says she can use the power of a product law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96388" y="2655139"/>
            <a:ext cx="21902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to evaluate  </a:t>
            </a:r>
          </a:p>
        </p:txBody>
      </p:sp>
      <p:pic>
        <p:nvPicPr>
          <p:cNvPr id="11" name="Picture 10" descr="45831de1d391fe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9506" y="2679523"/>
            <a:ext cx="1941576" cy="4084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91082" y="2655139"/>
            <a:ext cx="25112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Is she right?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4095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parentheses hold a SUM, not a product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No — (10 + (−2))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8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512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powers — SZQ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Multiplication with exponents — 5SK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Power rule — 8DA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5495544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Understanding exponents — BFA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Quotient Laws of Exponents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MA.7.NSO.1.1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use the quotient of powers, power of a quotient and zero exponent laws to rewrite and evaluate a numerical expression.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Yesterday: same base, add the exponents.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Today: same base, subtract — and exponent 0 is not 0.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3698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as one power:  </a:t>
            </a:r>
          </a:p>
        </p:txBody>
      </p:sp>
      <p:pic>
        <p:nvPicPr>
          <p:cNvPr id="10" name="Picture 9" descr="d71efaf91c1d96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5960" y="1848611"/>
            <a:ext cx="746760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372868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2" name="Picture 11" descr="38e9b447bed4ddd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4171" y="2397252"/>
            <a:ext cx="914400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2985516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4" name="Picture 13" descr="73f8d0478760fca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3093720"/>
            <a:ext cx="1405128" cy="24079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677412"/>
            <a:ext cx="20997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Simplify  </a:t>
            </a:r>
          </a:p>
        </p:txBody>
      </p:sp>
      <p:pic>
        <p:nvPicPr>
          <p:cNvPr id="16" name="Picture 15" descr="18ea63a1522c269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37084" y="3621024"/>
            <a:ext cx="880872" cy="569976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3698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as one power:  </a:t>
            </a:r>
          </a:p>
        </p:txBody>
      </p:sp>
      <p:pic>
        <p:nvPicPr>
          <p:cNvPr id="10" name="Picture 9" descr="d71efaf91c1d96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5960" y="1848611"/>
            <a:ext cx="746760" cy="280416"/>
          </a:xfrm>
          <a:prstGeom prst="rect">
            <a:avLst/>
          </a:prstGeom>
        </p:spPr>
      </p:pic>
      <p:pic>
        <p:nvPicPr>
          <p:cNvPr id="11" name="Picture 10" descr="fe5bb28ba59f7a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1360" y="1848611"/>
            <a:ext cx="259080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372868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3" name="Picture 12" descr="38e9b447bed4ddd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4171" y="2397252"/>
            <a:ext cx="914400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927211" y="2372868"/>
            <a:ext cx="5756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−3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985516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6" name="Picture 15" descr="73f8d0478760fca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9368" y="3093720"/>
            <a:ext cx="1405128" cy="24079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343136" y="2985516"/>
            <a:ext cx="942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x &lt;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677412"/>
            <a:ext cx="20997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Simplify  </a:t>
            </a:r>
          </a:p>
        </p:txBody>
      </p:sp>
      <p:pic>
        <p:nvPicPr>
          <p:cNvPr id="19" name="Picture 18" descr="18ea63a1522c269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37084" y="3621024"/>
            <a:ext cx="880872" cy="56997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266596" y="3598164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Where the rule comes from.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Quotient of powers — same base, subtract the exponents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0fc742bc47e6f6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9752" y="2340864"/>
            <a:ext cx="5462016" cy="813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581400"/>
            <a:ext cx="35344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Quotient of powers:  </a:t>
            </a:r>
          </a:p>
        </p:txBody>
      </p:sp>
      <p:pic>
        <p:nvPicPr>
          <p:cNvPr id="13" name="Picture 12" descr="99376a582dd7223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4871" y="3474720"/>
            <a:ext cx="1749552" cy="6705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34423" y="3581400"/>
            <a:ext cx="5973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   (</a:t>
            </a:r>
          </a:p>
        </p:txBody>
      </p:sp>
      <p:pic>
        <p:nvPicPr>
          <p:cNvPr id="15" name="Picture 14" descr="6a9975e145b437d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4607" y="3640836"/>
            <a:ext cx="789432" cy="33832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384039" y="3581400"/>
            <a:ext cx="3307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4579620"/>
            <a:ext cx="30884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Check with values:  </a:t>
            </a:r>
          </a:p>
        </p:txBody>
      </p:sp>
      <p:pic>
        <p:nvPicPr>
          <p:cNvPr id="18" name="Picture 17" descr="74344545705a48f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8837" y="4401312"/>
            <a:ext cx="3621024" cy="813816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Power of a quotient — the exponent goes top and bottom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e72c69fb4c92c9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3220" y="2340864"/>
            <a:ext cx="6355080" cy="8107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584448"/>
            <a:ext cx="36134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Power of a quotient:  </a:t>
            </a:r>
          </a:p>
        </p:txBody>
      </p:sp>
      <p:pic>
        <p:nvPicPr>
          <p:cNvPr id="12" name="Picture 11" descr="669ee74891112a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3855" y="3471672"/>
            <a:ext cx="1691640" cy="6827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55495" y="3584448"/>
            <a:ext cx="5973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   (</a:t>
            </a:r>
          </a:p>
        </p:txBody>
      </p:sp>
      <p:pic>
        <p:nvPicPr>
          <p:cNvPr id="14" name="Picture 13" descr="a22d74845d9bf15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5680" y="3642359"/>
            <a:ext cx="786384" cy="3413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402064" y="3584448"/>
            <a:ext cx="3307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587240"/>
            <a:ext cx="20337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Either way:  </a:t>
            </a:r>
          </a:p>
        </p:txBody>
      </p:sp>
      <p:pic>
        <p:nvPicPr>
          <p:cNvPr id="17" name="Picture 16" descr="efb58e8ff7264b8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4121" y="4410456"/>
            <a:ext cx="3188208" cy="8107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72329" y="4587240"/>
            <a:ext cx="12659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 and   </a:t>
            </a:r>
          </a:p>
        </p:txBody>
      </p:sp>
      <p:pic>
        <p:nvPicPr>
          <p:cNvPr id="19" name="Picture 18" descr="1d8df7a17576def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01091" y="4611624"/>
            <a:ext cx="2231136" cy="408432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The zero exponent — two roads to the same answer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423160" y="2340864"/>
          <a:ext cx="731520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1463040"/>
                <a:gridCol w="1463040"/>
                <a:gridCol w="1463040"/>
                <a:gridCol w="14630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3c353a5052ea24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7885" y="3337560"/>
            <a:ext cx="1630680" cy="7985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48565" y="3508248"/>
            <a:ext cx="1987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and      </a:t>
            </a:r>
          </a:p>
        </p:txBody>
      </p:sp>
      <p:pic>
        <p:nvPicPr>
          <p:cNvPr id="13" name="Picture 12" descr="3484dae0b8b01f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8543" y="3337560"/>
            <a:ext cx="2350008" cy="7985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48551" y="3508248"/>
            <a:ext cx="17147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so      </a:t>
            </a:r>
          </a:p>
        </p:txBody>
      </p:sp>
      <p:pic>
        <p:nvPicPr>
          <p:cNvPr id="15" name="Picture 14" descr="7798067ac752985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186" y="3567683"/>
            <a:ext cx="917448" cy="33832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433315"/>
            <a:ext cx="27874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Zero exponent:  </a:t>
            </a:r>
          </a:p>
        </p:txBody>
      </p:sp>
      <p:pic>
        <p:nvPicPr>
          <p:cNvPr id="17" name="Picture 16" descr="d591c8ddcc96ae9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7835" y="4491228"/>
            <a:ext cx="941832" cy="3413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79667" y="4433315"/>
            <a:ext cx="34064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   for every nonzero </a:t>
            </a:r>
          </a:p>
        </p:txBody>
      </p:sp>
      <p:pic>
        <p:nvPicPr>
          <p:cNvPr id="19" name="Picture 18" descr="c030b8e94fe02ff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8992" y="4570476"/>
            <a:ext cx="188976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negative base.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66659ac1f0ea04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8988" y="2103120"/>
            <a:ext cx="923544" cy="9479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5539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8665e93b2158cdd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986784" cy="944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72784" y="2164080"/>
            <a:ext cx="511149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quotient of powers: subtract</a:t>
            </a:r>
          </a:p>
        </p:txBody>
      </p:sp>
      <p:pic>
        <p:nvPicPr>
          <p:cNvPr id="11" name="Picture 10" descr="a6bb031371915f0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139440"/>
            <a:ext cx="1758696" cy="4084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044696" y="3115056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three negative factors</a:t>
            </a:r>
          </a:p>
        </p:txBody>
      </p:sp>
      <p:pic>
        <p:nvPicPr>
          <p:cNvPr id="13" name="Picture 12" descr="1a7fe49e913d88f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822192"/>
            <a:ext cx="2353056" cy="35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39056" y="3768852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check: evaluate each, then divide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2991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309fc1c6c87d6f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7588" y="2194560"/>
            <a:ext cx="466344" cy="102108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b0a43ae0750e3a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9112" y="2194560"/>
            <a:ext cx="463296" cy="1018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53263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same base, subtract: 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4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81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decimal base inside a quotient.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b43cc8ad2e0ead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2103120"/>
            <a:ext cx="1097280" cy="6888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948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 both ways.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7ab80e4044f303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755136" cy="813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41136" y="2098548"/>
            <a:ext cx="5343144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quotient</a:t>
            </a:r>
          </a:p>
        </p:txBody>
      </p:sp>
      <p:pic>
        <p:nvPicPr>
          <p:cNvPr id="11" name="Picture 10" descr="e1269a6bd04833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008376"/>
            <a:ext cx="3486912" cy="6918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72912" y="3125724"/>
            <a:ext cx="561136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divide by 10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: four places left</a:t>
            </a:r>
          </a:p>
        </p:txBody>
      </p:sp>
      <p:pic>
        <p:nvPicPr>
          <p:cNvPr id="13" name="Picture 12" descr="ac2b58a90d22f61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974592"/>
            <a:ext cx="3447288" cy="4114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733288" y="3951731"/>
            <a:ext cx="5650992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check: divide first, then raise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432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0.00000016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e60d4cb6647bee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7651" y="2194560"/>
            <a:ext cx="966216" cy="85344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74bc3eff5c14b1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4604" y="2194560"/>
            <a:ext cx="972311" cy="8564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710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numerator and denominator both cubed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4607" y="463905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78fdb0141a7d8d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4480560"/>
            <a:ext cx="512064" cy="865632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858f7499cc3aa9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1095" y="2194560"/>
            <a:ext cx="719328" cy="1014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b0b61f7be1f45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2620" y="2103120"/>
            <a:ext cx="716280" cy="1018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39547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same base, subtract the exponents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5172" y="460552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6677a7c75654467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5412" y="4663440"/>
            <a:ext cx="630936" cy="432816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25840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website puts  </a:t>
            </a:r>
          </a:p>
        </p:txBody>
      </p:sp>
      <p:pic>
        <p:nvPicPr>
          <p:cNvPr id="10" name="Picture 9" descr="138fda74184657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1373" y="1938527"/>
            <a:ext cx="259080" cy="283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940453" y="1851660"/>
            <a:ext cx="44951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photos into 8 equal albums.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site is 30 days old.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many photos are in each album?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25840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website puts  </a:t>
            </a:r>
          </a:p>
        </p:txBody>
      </p:sp>
      <p:pic>
        <p:nvPicPr>
          <p:cNvPr id="10" name="Picture 9" descr="7c23c9fd82d9d4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1373" y="1940052"/>
            <a:ext cx="265176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946549" y="1851660"/>
            <a:ext cx="44951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photos into 8 equal albums.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site is 30 days old.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many photos are in each album?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656804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8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÷ 8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8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512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1252d608a87976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4688" y="2194560"/>
            <a:ext cx="1152144" cy="1197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e97669c0d54b74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6212" y="2103120"/>
            <a:ext cx="1149096" cy="1191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56920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(−6)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615f3e719211e4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4771" y="2194560"/>
            <a:ext cx="1331976" cy="871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Apply the power of a quotient law. Do not simplify.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260e9dabd7b640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4771" y="2103120"/>
            <a:ext cx="1331976" cy="871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4916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exponent goes to both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493318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a55647924d7885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808" y="4663440"/>
            <a:ext cx="1152144" cy="1088136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b00c54b2f2476e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3496" y="2194560"/>
            <a:ext cx="414528" cy="435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5902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2534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2534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1114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1114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6983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17e435e9fa7e4f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447" y="2103120"/>
            <a:ext cx="420624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614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1944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ad177fa159bf9ad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7588" y="2194560"/>
            <a:ext cx="466344" cy="10027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2595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40922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40922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7780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7780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a899e53ebcbfa2d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9112" y="2103120"/>
            <a:ext cx="463296" cy="99974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3146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9977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9977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835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835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327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4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7fd8a7336ddfaf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088" y="2194560"/>
            <a:ext cx="847344" cy="1021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73bf2466d9323c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8611" y="2103120"/>
            <a:ext cx="844296" cy="1018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39547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0.125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41e42a07b25976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0491" y="2194560"/>
            <a:ext cx="1240536" cy="859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262fa269296131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0491" y="2103120"/>
            <a:ext cx="1240536" cy="859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3697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any nonzero base to the zero power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6338" y="2366772"/>
            <a:ext cx="30884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Hannah cancels:  </a:t>
            </a:r>
          </a:p>
        </p:txBody>
      </p:sp>
      <p:pic>
        <p:nvPicPr>
          <p:cNvPr id="10" name="Picture 9" descr="62ec99fb62ba29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7624" y="2194560"/>
            <a:ext cx="1627632" cy="8016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25256" y="2366772"/>
            <a:ext cx="40953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 Sebastian subtracts:  </a:t>
            </a:r>
          </a:p>
        </p:txBody>
      </p:sp>
      <p:pic>
        <p:nvPicPr>
          <p:cNvPr id="12" name="Picture 11" descr="814e799b3c3f04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3457" y="2194560"/>
            <a:ext cx="1161288" cy="8016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844745" y="2366772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70503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Who is right?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Say what each one did, and what it tells you about 2</a:t>
            </a:r>
            <a:r>
              <a:rPr sz="1900" b="0" i="1" baseline="30000">
                <a:solidFill>
                  <a:srgbClr val="6B6B6B"/>
                </a:solidFill>
                <a:latin typeface="Century Schoolbook"/>
              </a:rPr>
              <a:t>0</a:t>
            </a:r>
            <a:r>
              <a:rPr sz="1900" b="0" i="1">
                <a:solidFill>
                  <a:srgbClr val="6B6B6B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290" y="2273807"/>
            <a:ext cx="30884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Hannah cancels:  </a:t>
            </a:r>
          </a:p>
        </p:txBody>
      </p:sp>
      <p:pic>
        <p:nvPicPr>
          <p:cNvPr id="10" name="Picture 9" descr="3c353a5052ea24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4576" y="2103120"/>
            <a:ext cx="1630680" cy="7985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25256" y="2273807"/>
            <a:ext cx="40953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 Sebastian subtracts:  </a:t>
            </a:r>
          </a:p>
        </p:txBody>
      </p:sp>
      <p:pic>
        <p:nvPicPr>
          <p:cNvPr id="12" name="Picture 11" descr="1b1a2270832c817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3457" y="2103120"/>
            <a:ext cx="1164336" cy="798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847793" y="2273807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7601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Who is right?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79661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both are right, so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0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must equal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Both —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0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Powers with negative bases — WFW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Division with exponents — XNC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Identify equivalent expressions involving whole-number exponents — KBE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Exponential Expressions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MA.7.NSO.1.1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apply more than one law of exponents to evaluate an expression and to write an equivalent 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Yesterday: seven laws, one at a time.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Today: two or three laws in one expression — and the order is yours.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86712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0d08d420e081e8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783080"/>
            <a:ext cx="469392" cy="664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625852"/>
            <a:ext cx="10822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Is </a:t>
            </a:r>
          </a:p>
        </p:txBody>
      </p:sp>
      <p:pic>
        <p:nvPicPr>
          <p:cNvPr id="12" name="Picture 11" descr="697434924d454a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9599" y="2650236"/>
            <a:ext cx="688848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508447" y="2625852"/>
            <a:ext cx="28798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closer to 7 or to 8?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238500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5" name="Picture 14" descr="7747f117721bd8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3323844"/>
            <a:ext cx="1658112" cy="28651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851148"/>
            <a:ext cx="21904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17" name="Picture 16" descr="2a87b786c67fb6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7795" y="3934968"/>
            <a:ext cx="1112520" cy="28956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86712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0d08d420e081e8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783080"/>
            <a:ext cx="469392" cy="664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14126" y="1760220"/>
            <a:ext cx="743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625852"/>
            <a:ext cx="10822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Is </a:t>
            </a:r>
          </a:p>
        </p:txBody>
      </p:sp>
      <p:pic>
        <p:nvPicPr>
          <p:cNvPr id="13" name="Picture 12" descr="697434924d454a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9599" y="2650236"/>
            <a:ext cx="688848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508447" y="2625852"/>
            <a:ext cx="28798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closer to 7 or to 8?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99764" y="2625852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238500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7" name="Picture 16" descr="7747f117721bd8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3323844"/>
            <a:ext cx="1658112" cy="2865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596120" y="3238500"/>
            <a:ext cx="942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x =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851148"/>
            <a:ext cx="21904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20" name="Picture 19" descr="2a87b786c67fb6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7795" y="3934968"/>
            <a:ext cx="1112520" cy="2895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588955" y="3851148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50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 It is your reference for the rest of the unit.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seven laws, in one place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051560" y="2340864"/>
          <a:ext cx="10058400" cy="3072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3657600"/>
                <a:gridCol w="310896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Law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Rule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Example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Product of powers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·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n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m+n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· 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Quotient of powers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÷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n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m-n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(−3)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7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÷ (−3)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(−3)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Power of a product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(ab)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· b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(−7 · 3)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(−7)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· 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Power of a quotient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(a ÷ b)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÷ b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(13 ÷ 5)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÷ 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Power of a power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n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(6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6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Identity exponent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15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Zero exponent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127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Two students, two orders, one value.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More than one law — make a plan, then follow it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330561" y="2514600"/>
            <a:ext cx="18549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Winston:  </a:t>
            </a:r>
          </a:p>
        </p:txBody>
      </p:sp>
      <p:pic>
        <p:nvPicPr>
          <p:cNvPr id="12" name="Picture 11" descr="2d268109f28c9a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8390" y="2340864"/>
            <a:ext cx="3782568" cy="8046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943041" y="3663696"/>
            <a:ext cx="16211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Yvette:   </a:t>
            </a:r>
          </a:p>
        </p:txBody>
      </p:sp>
      <p:pic>
        <p:nvPicPr>
          <p:cNvPr id="14" name="Picture 13" descr="20e6fc4620e3ea7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7022" y="3419856"/>
            <a:ext cx="4791456" cy="944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70306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Different plans, same value. Any correct sequence of laws gives the same answer.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Order of operations still applies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87552" y="2404872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2404872"/>
            <a:ext cx="9537192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Parentheses first — including a fraction bar, which is a pair of parentheses in disguise.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611879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B.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3611879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Exponents next — the laws of exponents are applied here.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343400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4343400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Then multiply and divide, left to right; then add and subtract.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5074920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912" y="5033771"/>
            <a:ext cx="40781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Never across a + or a −:  </a:t>
            </a:r>
          </a:p>
        </p:txBody>
      </p:sp>
      <p:pic>
        <p:nvPicPr>
          <p:cNvPr id="18" name="Picture 17" descr="b0973f9ba7881b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2864" y="5085587"/>
            <a:ext cx="3118104" cy="35356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640968" y="5033771"/>
            <a:ext cx="10026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, not </a:t>
            </a:r>
          </a:p>
        </p:txBody>
      </p:sp>
      <p:pic>
        <p:nvPicPr>
          <p:cNvPr id="20" name="Picture 19" descr="c3382604741c40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6485" y="5091683"/>
            <a:ext cx="326136" cy="3413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832621" y="5033771"/>
            <a:ext cx="2963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zero exponent inside a product inside a quotient.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9c240cefdf3b14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1555" y="2103120"/>
            <a:ext cx="978408" cy="804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107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Make a plan. Then find the value.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 — Caroline's plan and Jamir's plan.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cfcc880844c57b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026664" cy="804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12664" y="2093976"/>
            <a:ext cx="607161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Caroline: product of powers first</a:t>
            </a:r>
          </a:p>
        </p:txBody>
      </p:sp>
      <p:pic>
        <p:nvPicPr>
          <p:cNvPr id="11" name="Picture 10" descr="4c8aa7fdd39a687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99232"/>
            <a:ext cx="3041904" cy="804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327904" y="3172968"/>
            <a:ext cx="6056376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Jamir: zero exponent first</a:t>
            </a:r>
          </a:p>
        </p:txBody>
      </p:sp>
      <p:pic>
        <p:nvPicPr>
          <p:cNvPr id="13" name="Picture 12" descr="8fb9fcec01a757f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78224"/>
            <a:ext cx="1981199" cy="8046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67199" y="4251960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both: quotient of powers, then 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3400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64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ecdab13571b725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9636" y="2194560"/>
            <a:ext cx="1222248" cy="1018032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d381195bd435c1b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2683" y="2194560"/>
            <a:ext cx="1216152" cy="10119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5265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1 over 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so 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25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Three laws, a decimal and a negative base.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30d1cf39c0294a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79" y="2103120"/>
            <a:ext cx="2194560" cy="8808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869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Make a plan. Then find the value.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8f14d1bdb840e7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404360" cy="8808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90360" y="2132076"/>
            <a:ext cx="46939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zero exponent; power of a quotient, backwards</a:t>
            </a:r>
          </a:p>
        </p:txBody>
      </p:sp>
      <p:pic>
        <p:nvPicPr>
          <p:cNvPr id="11" name="Picture 10" descr="d8954ab13f1548f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075432"/>
            <a:ext cx="2798064" cy="7010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84064" y="3197352"/>
            <a:ext cx="630021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divide inside: −15 ÷ 1.5 = −10</a:t>
            </a:r>
          </a:p>
        </p:txBody>
      </p:sp>
      <p:pic>
        <p:nvPicPr>
          <p:cNvPr id="13" name="Picture 12" descr="c6322a59797434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50791"/>
            <a:ext cx="2508504" cy="4114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94504" y="4027931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four negative factors: positive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9194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10,000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274e6fec14c7e7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4815" y="2194560"/>
            <a:ext cx="2151888" cy="1091184"/>
          </a:xfrm>
          <a:prstGeom prst="rect">
            <a:avLst/>
          </a:prstGeom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e1a3a8f726b8bf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7864" y="2194560"/>
            <a:ext cx="2145792" cy="1091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6057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 · (−12 ÷ 4)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(−3)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−27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3195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warehouse holds  </a:t>
            </a:r>
          </a:p>
        </p:txBody>
      </p:sp>
      <p:pic>
        <p:nvPicPr>
          <p:cNvPr id="10" name="Picture 9" descr="ef1987aeb6be68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2948" y="1938527"/>
            <a:ext cx="268224" cy="283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61172" y="1851660"/>
            <a:ext cx="17698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boxes in  </a:t>
            </a:r>
          </a:p>
        </p:txBody>
      </p:sp>
      <p:pic>
        <p:nvPicPr>
          <p:cNvPr id="12" name="Picture 11" descr="bd667566e598f5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3812" y="1940052"/>
            <a:ext cx="268224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62036" y="1851660"/>
            <a:ext cx="20793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equal rows.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Each box weighs 3 kilograms.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many boxes are in each row?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3195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warehouse holds  </a:t>
            </a:r>
          </a:p>
        </p:txBody>
      </p:sp>
      <p:pic>
        <p:nvPicPr>
          <p:cNvPr id="10" name="Picture 9" descr="08d825ede09be2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2948" y="1940052"/>
            <a:ext cx="271272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64220" y="1851660"/>
            <a:ext cx="17698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boxes in  </a:t>
            </a:r>
          </a:p>
        </p:txBody>
      </p:sp>
      <p:pic>
        <p:nvPicPr>
          <p:cNvPr id="12" name="Picture 11" descr="e32dba3262b932b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6860" y="1940052"/>
            <a:ext cx="268224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65084" y="1851660"/>
            <a:ext cx="20793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equal rows.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Each box weighs 3 kilograms.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many boxes are in each row?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656804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6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so 6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36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eca797d063644f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940" y="2194560"/>
            <a:ext cx="1691640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9" name="Picture 8" descr="3af1907ef808e9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3415" y="2103120"/>
            <a:ext cx="1694688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559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729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32948134bf5e35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4291" y="2194560"/>
            <a:ext cx="1392936" cy="1185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7bfc7057b3b2cf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5816" y="2103120"/>
            <a:ext cx="1389888" cy="1185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563112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÷ 0.5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0.5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0.0625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5b85e638d34eb1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0659" y="2194560"/>
            <a:ext cx="1600200" cy="1014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e041e4b255d1e3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0659" y="2103120"/>
            <a:ext cx="1600200" cy="1018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39547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2.5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— the exponent 1 changes nothing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6.25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85a5d92abe26b9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2194560"/>
            <a:ext cx="2148840" cy="1100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52348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4189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4189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875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875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c78ed1ad0d5ded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9387" y="2103120"/>
            <a:ext cx="2142744" cy="10942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2595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40922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40922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7780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7780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327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4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36dd69d05a8fa1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19" y="2194560"/>
            <a:ext cx="2011680" cy="1005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2900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40953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0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· 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40953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· 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7811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7811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916206a62c8d46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19" y="2103120"/>
            <a:ext cx="2011680" cy="1005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37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4003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0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· 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4003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· 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89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0.1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89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327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0.1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1564dccdbc1be4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0224" y="2194560"/>
            <a:ext cx="2481072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51f9e7dda47d97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8699" y="2103120"/>
            <a:ext cx="2484120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559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0.1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0.1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0.1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0.0001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a2077b17c7711d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3836" y="2194560"/>
            <a:ext cx="2593848" cy="1188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c2f375830fedea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6883" y="2103120"/>
            <a:ext cx="2587752" cy="1185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563112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(−4)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−64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6876" y="2369820"/>
            <a:ext cx="28679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Winston writes  </a:t>
            </a:r>
          </a:p>
        </p:txBody>
      </p:sp>
      <p:pic>
        <p:nvPicPr>
          <p:cNvPr id="10" name="Picture 9" descr="8510a940fc60582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7616" y="2194560"/>
            <a:ext cx="2185416" cy="8077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93032" y="2369820"/>
            <a:ext cx="29259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 Yvette writes  </a:t>
            </a:r>
          </a:p>
        </p:txBody>
      </p:sp>
      <p:pic>
        <p:nvPicPr>
          <p:cNvPr id="12" name="Picture 11" descr="895c1949fc6ae6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1775" y="2194560"/>
            <a:ext cx="1932432" cy="8077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814207" y="236982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765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Do they get the same value? Explain.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Name the law each one used first, and give the value.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8400" y="2276856"/>
            <a:ext cx="28679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Winston writes  </a:t>
            </a:r>
          </a:p>
        </p:txBody>
      </p:sp>
      <p:pic>
        <p:nvPicPr>
          <p:cNvPr id="10" name="Picture 9" descr="7499f9d1d2ab2e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9140" y="2103120"/>
            <a:ext cx="2188464" cy="8046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97604" y="2276856"/>
            <a:ext cx="29259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 Yvette writes  </a:t>
            </a:r>
          </a:p>
        </p:txBody>
      </p:sp>
      <p:pic>
        <p:nvPicPr>
          <p:cNvPr id="12" name="Picture 11" descr="dc00211af1d70f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6347" y="2103120"/>
            <a:ext cx="1926335" cy="8046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812683" y="2276856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8211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Do they get the same value? Explain.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80271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both plans end at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Yes — both give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64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expressions using properties of exponents — ZE9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Negative Exponent Law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rewrite a power with a negative exponent using a positive exponent, and evaluate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the exponents stopped at 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they keep going — and 5</a:t>
            </a:r>
            <a:r>
              <a:rPr sz="1700" b="1" i="0" baseline="30000">
                <a:solidFill>
                  <a:srgbClr val="1A1A1A"/>
                </a:solidFill>
                <a:latin typeface="Century Schoolbook"/>
              </a:rPr>
              <a:t>-2</a:t>
            </a:r>
            <a:r>
              <a:rPr sz="1700" b="1" i="0">
                <a:solidFill>
                  <a:srgbClr val="1A1A1A"/>
                </a:solidFill>
                <a:latin typeface="Century Schoolbook"/>
              </a:rPr>
              <a:t> is not a negative number.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86712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e6b67427858e96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783080"/>
            <a:ext cx="795528" cy="664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625852"/>
            <a:ext cx="32555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Which is greater, </a:t>
            </a:r>
          </a:p>
        </p:txBody>
      </p:sp>
      <p:pic>
        <p:nvPicPr>
          <p:cNvPr id="12" name="Picture 11" descr="9a9a9137b9c717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2923" y="2650236"/>
            <a:ext cx="688848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81771" y="2625852"/>
            <a:ext cx="1242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or 5.5?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238500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5" name="Picture 14" descr="86c14b3a9138d0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3351276"/>
            <a:ext cx="1136904" cy="2316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922776"/>
            <a:ext cx="43089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What is the reciprocal of </a:t>
            </a:r>
          </a:p>
        </p:txBody>
      </p:sp>
      <p:pic>
        <p:nvPicPr>
          <p:cNvPr id="17" name="Picture 16" descr="ef641fad4ba74c7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6325" y="3874008"/>
            <a:ext cx="170688" cy="55473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217013" y="3922776"/>
            <a:ext cx="38803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  What is the opposite of </a:t>
            </a:r>
          </a:p>
        </p:txBody>
      </p:sp>
      <p:pic>
        <p:nvPicPr>
          <p:cNvPr id="19" name="Picture 18" descr="ef641fad4ba74c7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0242" y="3874008"/>
            <a:ext cx="170688" cy="55473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130930" y="3922776"/>
            <a:ext cx="347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86712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e6b67427858e96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783080"/>
            <a:ext cx="795528" cy="664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40262" y="1760220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625852"/>
            <a:ext cx="32555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Which is greater, </a:t>
            </a:r>
          </a:p>
        </p:txBody>
      </p:sp>
      <p:pic>
        <p:nvPicPr>
          <p:cNvPr id="13" name="Picture 12" descr="9a9a9137b9c717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2923" y="2650236"/>
            <a:ext cx="688848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81771" y="2625852"/>
            <a:ext cx="1242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or 5.5?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5878" y="2625852"/>
            <a:ext cx="6518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5.5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238500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7" name="Picture 16" descr="86c14b3a9138d0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3351276"/>
            <a:ext cx="1136904" cy="2316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074912" y="3238500"/>
            <a:ext cx="11302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x = −7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922776"/>
            <a:ext cx="43089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What is the reciprocal of </a:t>
            </a:r>
          </a:p>
        </p:txBody>
      </p:sp>
      <p:pic>
        <p:nvPicPr>
          <p:cNvPr id="20" name="Picture 19" descr="ef641fad4ba74c7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6325" y="3874008"/>
            <a:ext cx="170688" cy="55473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217013" y="3922776"/>
            <a:ext cx="38803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  What is the opposite of </a:t>
            </a:r>
          </a:p>
        </p:txBody>
      </p:sp>
      <p:pic>
        <p:nvPicPr>
          <p:cNvPr id="22" name="Picture 21" descr="ef641fad4ba74c7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0242" y="3874008"/>
            <a:ext cx="170688" cy="55473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130930" y="3922776"/>
            <a:ext cx="347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pic>
        <p:nvPicPr>
          <p:cNvPr id="24" name="Picture 23" descr="c947c2e93b2d33a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06040" y="4474464"/>
            <a:ext cx="170688" cy="55473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776728" y="4523232"/>
            <a:ext cx="11735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  and  </a:t>
            </a:r>
          </a:p>
        </p:txBody>
      </p:sp>
      <p:pic>
        <p:nvPicPr>
          <p:cNvPr id="26" name="Picture 25" descr="a339c6c78254d98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3149" y="4474464"/>
            <a:ext cx="377952" cy="554736"/>
          </a:xfrm>
          <a:prstGeom prst="rect">
            <a:avLst/>
          </a:prstGeom>
        </p:spPr>
      </p:pic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pattern keeps going past zero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" y="2340864"/>
          <a:ext cx="1060704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2" name="Picture 11" descr="81375e471a1972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1960" y="3337560"/>
            <a:ext cx="1316736" cy="734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918696" y="3476244"/>
            <a:ext cx="9885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</a:t>
            </a:r>
          </a:p>
        </p:txBody>
      </p:sp>
      <p:pic>
        <p:nvPicPr>
          <p:cNvPr id="14" name="Picture 13" descr="e662eafaba09aa9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0120" y="3337560"/>
            <a:ext cx="1969008" cy="7345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739128" y="3476244"/>
            <a:ext cx="9885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</a:t>
            </a:r>
          </a:p>
        </p:txBody>
      </p:sp>
      <p:pic>
        <p:nvPicPr>
          <p:cNvPr id="16" name="Picture 15" descr="97a68c5b0d6f071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0551" y="3337560"/>
            <a:ext cx="1969008" cy="734568"/>
          </a:xfrm>
          <a:prstGeom prst="rect">
            <a:avLst/>
          </a:prstGeom>
        </p:spPr>
      </p:pic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The negative exponent law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db26dd1c4f0616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7725" y="2340864"/>
            <a:ext cx="1362456" cy="673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70181" y="2449068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d3322f317e3cda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6173" y="2340864"/>
            <a:ext cx="1395984" cy="673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912157" y="2449068"/>
            <a:ext cx="12996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(</a:t>
            </a:r>
          </a:p>
        </p:txBody>
      </p:sp>
      <p:pic>
        <p:nvPicPr>
          <p:cNvPr id="14" name="Picture 13" descr="6a9975e145b437d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679" y="2508504"/>
            <a:ext cx="789432" cy="3383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864111" y="2449068"/>
            <a:ext cx="3268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pic>
        <p:nvPicPr>
          <p:cNvPr id="16" name="Picture 15" descr="01a1e8399ce2f91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97114" y="3288792"/>
            <a:ext cx="2170176" cy="74066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667290" y="3430524"/>
            <a:ext cx="1922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but      </a:t>
            </a:r>
          </a:p>
        </p:txBody>
      </p:sp>
      <p:pic>
        <p:nvPicPr>
          <p:cNvPr id="18" name="Picture 17" descr="4d0780cba10826c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52483" y="3488436"/>
            <a:ext cx="1682496" cy="34137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134979" y="3430524"/>
            <a:ext cx="1987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and      </a:t>
            </a:r>
          </a:p>
        </p:txBody>
      </p:sp>
      <p:pic>
        <p:nvPicPr>
          <p:cNvPr id="20" name="Picture 19" descr="06d6b57bc03862b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84957" y="3456432"/>
            <a:ext cx="1679448" cy="40538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87552" y="436778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 negative exponent means reciprocal. It never means a negative value.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" y="5256275"/>
            <a:ext cx="44334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The base keeps its own sign:  </a:t>
            </a:r>
          </a:p>
        </p:txBody>
      </p:sp>
      <p:pic>
        <p:nvPicPr>
          <p:cNvPr id="23" name="Picture 22" descr="6487353c74996e1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83880" y="5081015"/>
            <a:ext cx="4267200" cy="807720"/>
          </a:xfrm>
          <a:prstGeom prst="rect">
            <a:avLst/>
          </a:prstGeom>
        </p:spPr>
      </p:pic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The laws still work with negative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f5217f7eb4021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5219" y="2340864"/>
            <a:ext cx="4831080" cy="7528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438293" y="3345180"/>
            <a:ext cx="11244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or      </a:t>
            </a:r>
          </a:p>
        </p:txBody>
      </p:sp>
      <p:pic>
        <p:nvPicPr>
          <p:cNvPr id="12" name="Picture 11" descr="9ad19008f4436a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5546" y="3400044"/>
            <a:ext cx="4297680" cy="347472"/>
          </a:xfrm>
          <a:prstGeom prst="rect">
            <a:avLst/>
          </a:prstGeom>
        </p:spPr>
      </p:pic>
      <p:pic>
        <p:nvPicPr>
          <p:cNvPr id="13" name="Picture 12" descr="986b589c42d2856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9955" y="4053839"/>
            <a:ext cx="3721608" cy="8229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521512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Add, subtract and multiply exponents exactly as before — the exponents are just integers now.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Negative exponents top and bottom.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55e053ce9247b8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5772" y="2103120"/>
            <a:ext cx="569976" cy="816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2290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Rewrite with positive exponents, then find the value.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86e883f301281d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380744" cy="816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66744" y="2100072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each power swaps sides and loses the minus</a:t>
            </a:r>
          </a:p>
        </p:txBody>
      </p:sp>
      <p:pic>
        <p:nvPicPr>
          <p:cNvPr id="11" name="Picture 10" descr="bdb5dbd5190fc4b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011423"/>
            <a:ext cx="2764536" cy="804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50536" y="3185159"/>
            <a:ext cx="6333743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evaluate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81/8 = 10.125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04c00c9d3a9d24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5667" y="2194560"/>
            <a:ext cx="710184" cy="1021080"/>
          </a:xfrm>
          <a:prstGeom prst="rect">
            <a:avLst/>
          </a:prstGeom>
        </p:spPr>
      </p:pic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395fcf61f0d867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8716" y="2194560"/>
            <a:ext cx="704088" cy="1014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5295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swap sides, positive exponents: 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91100" y="464515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f8b652a33b6da2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1340" y="4480560"/>
            <a:ext cx="259080" cy="877824"/>
          </a:xfrm>
          <a:prstGeom prst="rect">
            <a:avLst/>
          </a:prstGeom>
        </p:spPr>
      </p:pic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quotient law crossing zero.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4ffd0e25f89e0e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5772" y="2103120"/>
            <a:ext cx="569976" cy="807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13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 both ways.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8b0ea9280595c6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929128" cy="804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15128" y="2093976"/>
            <a:ext cx="6169151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quotient of powers: 0 − (−4) = 4</a:t>
            </a:r>
          </a:p>
        </p:txBody>
      </p:sp>
      <p:pic>
        <p:nvPicPr>
          <p:cNvPr id="11" name="Picture 10" descr="a0522eb547e4ba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99232"/>
            <a:ext cx="2368296" cy="804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54296" y="3172968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zero exponent, then move 7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-4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up</a:t>
            </a:r>
          </a:p>
        </p:txBody>
      </p:sp>
      <p:pic>
        <p:nvPicPr>
          <p:cNvPr id="13" name="Picture 12" descr="f5e46e308b616f8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78224"/>
            <a:ext cx="1530096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816096" y="4023360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828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2,401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3d867da8578334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2767" y="2194560"/>
            <a:ext cx="1395984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bd647a6f29dfd2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4291" y="2194560"/>
            <a:ext cx="1392936" cy="1185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700271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−4 − (−6) = 2, so (−8)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64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2d36713d8b0595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5292" y="2194560"/>
            <a:ext cx="63093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745cde1f9722bf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2243" y="2103120"/>
            <a:ext cx="637032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416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reciprocal of 8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7468" y="485546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ae3379378f6437b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708" y="4663440"/>
            <a:ext cx="466344" cy="932688"/>
          </a:xfrm>
          <a:prstGeom prst="rect">
            <a:avLst/>
          </a:prstGeom>
        </p:spPr>
      </p:pic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sheet of paper 30 centimeters long is folded in half 7 times.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Each fold makes the top layer half as big.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952716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What fraction of the whole sheet is the top layer after 7 folds?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sheet of paper 30 centimeters long is folded in half 7 times.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Each fold makes the top layer half as big.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952716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What fraction of the whole sheet is the top layer after 7 folds?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401262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halved 7 times: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-7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1 over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8116" y="4899593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4" name="Picture 13" descr="b025bbe2352d11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8356" y="4744145"/>
            <a:ext cx="765048" cy="859536"/>
          </a:xfrm>
          <a:prstGeom prst="rect">
            <a:avLst/>
          </a:prstGeom>
        </p:spPr>
      </p:pic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229e5926a19b9f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9176" y="2194560"/>
            <a:ext cx="963167" cy="9326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exponent, then find the value.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8f039f30161276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0699" y="2103120"/>
            <a:ext cx="960120" cy="9326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31012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power moves up: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100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c242b51e1e2a08a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0867" y="2194560"/>
            <a:ext cx="131978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79a5e9e14577308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7820" y="2103120"/>
            <a:ext cx="1325880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2552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 over (−2)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1 over −8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32603" y="481888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ec4ffcbfe2b298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2844" y="4663440"/>
            <a:ext cx="576072" cy="859536"/>
          </a:xfrm>
          <a:prstGeom prst="rect">
            <a:avLst/>
          </a:prstGeom>
        </p:spPr>
      </p:pic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2f69500044ec6e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1575" y="2194560"/>
            <a:ext cx="658368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5597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222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222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80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80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393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0b09890174e136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0052" y="2103120"/>
            <a:ext cx="661416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614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B.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1/25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1944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 — 1/25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9e50adf1c83696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1244" y="2194560"/>
            <a:ext cx="1399032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529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088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c950f888df2a107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1244" y="2103120"/>
            <a:ext cx="1399032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614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6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1944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6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e37e6585587b73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5148" y="2194560"/>
            <a:ext cx="1411224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3a37a698b11c2b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5148" y="2103120"/>
            <a:ext cx="1411224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416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d5e2dc9bfa32df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5667" y="2194560"/>
            <a:ext cx="710184" cy="10271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 with a positive exponent.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4d44fa8d60938d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8716" y="2103120"/>
            <a:ext cx="704088" cy="10271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40461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9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7468" y="486003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f17cb56101b516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708" y="4663440"/>
            <a:ext cx="466344" cy="941832"/>
          </a:xfrm>
          <a:prstGeom prst="rect">
            <a:avLst/>
          </a:prstGeom>
        </p:spPr>
      </p:pic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1600" y="2171700"/>
            <a:ext cx="40348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Ellen says the value of  </a:t>
            </a:r>
          </a:p>
        </p:txBody>
      </p:sp>
      <p:pic>
        <p:nvPicPr>
          <p:cNvPr id="10" name="Picture 9" descr="b9af177cb680bc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9327" y="2229612"/>
            <a:ext cx="527304" cy="3413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76631" y="2171700"/>
            <a:ext cx="15704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is  −25.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Explain why she is wrong, and show the correct value.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Use the word reciprocal.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0076" y="2080260"/>
            <a:ext cx="40348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Ellen says the value of  </a:t>
            </a:r>
          </a:p>
        </p:txBody>
      </p:sp>
      <p:pic>
        <p:nvPicPr>
          <p:cNvPr id="10" name="Picture 9" descr="04a54a40cd0eb4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7803" y="2138171"/>
            <a:ext cx="530352" cy="3413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78155" y="2080260"/>
            <a:ext cx="15704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is  −25.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Explain why she is wrong, and show the correct value.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4095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reciprocal, not opposite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1/5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1/25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Understanding negative exponents — YBB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powers with negative exponents — WGS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Applying Exponent Laws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rewrite a rational base with a negative exponent using a positive exponent, and apply several laws to generate an equivalent expression.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Yesterday: a negative exponent means reciprocal.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 base is a fraction — so the reciprocal flips it.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1538ef9a323bca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851660"/>
            <a:ext cx="417576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468880"/>
            <a:ext cx="56771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Rewrite with a positive exponent:  </a:t>
            </a:r>
          </a:p>
        </p:txBody>
      </p:sp>
      <p:pic>
        <p:nvPicPr>
          <p:cNvPr id="12" name="Picture 11" descr="82be0161615a5d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4558" y="2395728"/>
            <a:ext cx="463296" cy="60350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177540"/>
            <a:ext cx="30655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Which is larger, </a:t>
            </a:r>
          </a:p>
        </p:txBody>
      </p:sp>
      <p:pic>
        <p:nvPicPr>
          <p:cNvPr id="14" name="Picture 13" descr="5fa67493f2d0b1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930" y="3268980"/>
            <a:ext cx="265176" cy="2743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68106" y="3177540"/>
            <a:ext cx="6747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or </a:t>
            </a:r>
          </a:p>
        </p:txBody>
      </p:sp>
      <p:pic>
        <p:nvPicPr>
          <p:cNvPr id="16" name="Picture 15" descr="cd79bb74d01bc94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05697" y="3264408"/>
            <a:ext cx="265176" cy="28346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870873" y="3177540"/>
            <a:ext cx="347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863340"/>
            <a:ext cx="40841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the reciprocal of  </a:t>
            </a:r>
          </a:p>
        </p:txBody>
      </p:sp>
      <p:pic>
        <p:nvPicPr>
          <p:cNvPr id="19" name="Picture 18" descr="e5446a4e89f9a3a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1467" y="3813048"/>
            <a:ext cx="377952" cy="557784"/>
          </a:xfrm>
          <a:prstGeom prst="rect">
            <a:avLst/>
          </a:prstGeom>
        </p:spPr>
      </p:pic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1538ef9a323bca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851660"/>
            <a:ext cx="417576" cy="274320"/>
          </a:xfrm>
          <a:prstGeom prst="rect">
            <a:avLst/>
          </a:prstGeom>
        </p:spPr>
      </p:pic>
      <p:pic>
        <p:nvPicPr>
          <p:cNvPr id="11" name="Picture 10" descr="0f45754c59884ba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310" y="1783080"/>
            <a:ext cx="170688" cy="5547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468880"/>
            <a:ext cx="56771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Rewrite with a positive exponent:  </a:t>
            </a:r>
          </a:p>
        </p:txBody>
      </p:sp>
      <p:pic>
        <p:nvPicPr>
          <p:cNvPr id="13" name="Picture 12" descr="82be0161615a5d7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4558" y="2395728"/>
            <a:ext cx="463296" cy="603504"/>
          </a:xfrm>
          <a:prstGeom prst="rect">
            <a:avLst/>
          </a:prstGeom>
        </p:spPr>
      </p:pic>
      <p:pic>
        <p:nvPicPr>
          <p:cNvPr id="14" name="Picture 13" descr="b031d4b8beeb841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6494" y="2462784"/>
            <a:ext cx="271272" cy="2773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177540"/>
            <a:ext cx="30655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Which is larger, </a:t>
            </a:r>
          </a:p>
        </p:txBody>
      </p:sp>
      <p:pic>
        <p:nvPicPr>
          <p:cNvPr id="16" name="Picture 15" descr="5fa67493f2d0b1a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2930" y="3268980"/>
            <a:ext cx="265176" cy="2743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68106" y="3177540"/>
            <a:ext cx="6747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or </a:t>
            </a:r>
          </a:p>
        </p:txBody>
      </p:sp>
      <p:pic>
        <p:nvPicPr>
          <p:cNvPr id="18" name="Picture 17" descr="cd79bb74d01bc94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05697" y="3264408"/>
            <a:ext cx="265176" cy="28346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870873" y="3177540"/>
            <a:ext cx="347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pic>
        <p:nvPicPr>
          <p:cNvPr id="20" name="Picture 19" descr="0663332b63521a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30125" y="3264408"/>
            <a:ext cx="265176" cy="28346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895301" y="3177540"/>
            <a:ext cx="16163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 (81 &gt; 64)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863340"/>
            <a:ext cx="40841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the reciprocal of  </a:t>
            </a:r>
          </a:p>
        </p:txBody>
      </p:sp>
      <p:pic>
        <p:nvPicPr>
          <p:cNvPr id="23" name="Picture 22" descr="e5446a4e89f9a3a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21467" y="3813048"/>
            <a:ext cx="377952" cy="557784"/>
          </a:xfrm>
          <a:prstGeom prst="rect">
            <a:avLst/>
          </a:prstGeom>
        </p:spPr>
      </p:pic>
      <p:pic>
        <p:nvPicPr>
          <p:cNvPr id="24" name="Picture 23" descr="84c4e18228051985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48059" y="3813048"/>
            <a:ext cx="377952" cy="557784"/>
          </a:xfrm>
          <a:prstGeom prst="rect">
            <a:avLst/>
          </a:prstGeom>
        </p:spPr>
      </p:pic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pattern with a fraction base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651760" y="2340864"/>
          <a:ext cx="685800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2377440"/>
                <a:gridCol w="23774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Expression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Expanded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Value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2/5 · 2/5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4/25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2/5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2/5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5/2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5/2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5/2 · 5/2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25/4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Flip the base, make the exponent positive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05dd24fbf3910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1785" y="2340864"/>
            <a:ext cx="2133600" cy="691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95385" y="2458212"/>
            <a:ext cx="12996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(</a:t>
            </a:r>
          </a:p>
        </p:txBody>
      </p:sp>
      <p:pic>
        <p:nvPicPr>
          <p:cNvPr id="12" name="Picture 11" descr="2e707716356433b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7907" y="2516124"/>
            <a:ext cx="1152144" cy="3413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10051" y="2458212"/>
            <a:ext cx="3268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pic>
        <p:nvPicPr>
          <p:cNvPr id="14" name="Picture 13" descr="33556cc2e827319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5588" y="3307080"/>
            <a:ext cx="3075432" cy="69799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701020" y="3427476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6" name="Picture 15" descr="7adc35e6f9ec4d0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7011" y="3311652"/>
            <a:ext cx="2788920" cy="6888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87552" y="43434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The sign stays with the fraction. Flip the numbers, not the sign.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5166359"/>
            <a:ext cx="55453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A whole number is a fraction over 1:  </a:t>
            </a:r>
          </a:p>
        </p:txBody>
      </p:sp>
      <p:pic>
        <p:nvPicPr>
          <p:cNvPr id="19" name="Picture 18" descr="dee9fbc307a9f90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5757" y="5056631"/>
            <a:ext cx="3230880" cy="676656"/>
          </a:xfrm>
          <a:prstGeom prst="rect">
            <a:avLst/>
          </a:prstGeom>
        </p:spPr>
      </p:pic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Several laws at once — the plan is still yours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390af24b50c4c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4163" y="2340864"/>
            <a:ext cx="8013192" cy="8168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496055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Any correct order of laws gives the same value. Finish with a positive exponent.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Flip, then evaluate.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9ed1bed15013a3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1347" y="2103120"/>
            <a:ext cx="1258824" cy="6766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826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Rewrite with a positive exponent, then find the value.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8e941bf8846b55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798064" cy="6918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84064" y="2037588"/>
            <a:ext cx="630021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flip the base; the sign stays</a:t>
            </a:r>
          </a:p>
        </p:txBody>
      </p:sp>
      <p:pic>
        <p:nvPicPr>
          <p:cNvPr id="11" name="Picture 10" descr="b75e3c313a78d69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86456"/>
            <a:ext cx="1889760" cy="69799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75760" y="3006852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even power: positive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64/49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a7f1f688f77ec6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8948" y="2194560"/>
            <a:ext cx="1563624" cy="862584"/>
          </a:xfrm>
          <a:prstGeom prst="rect">
            <a:avLst/>
          </a:prstGeom>
        </p:spPr>
      </p:pic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055ea4267017cf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7424" y="2194560"/>
            <a:ext cx="1566672" cy="8625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77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(−2/5)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— odd power, negative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8095" y="464210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cacffea294d431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8335" y="4480560"/>
            <a:ext cx="1085088" cy="871728"/>
          </a:xfrm>
          <a:prstGeom prst="rect">
            <a:avLst/>
          </a:prstGeom>
        </p:spPr>
      </p:pic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Two laws, then a flip.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b8ecac4debf086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6820" y="2103120"/>
            <a:ext cx="2087880" cy="6918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97936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with one base and a positive exponent.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10be869d41e0dd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239512" cy="6949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25512" y="2039112"/>
            <a:ext cx="385876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product of powers</a:t>
            </a:r>
          </a:p>
        </p:txBody>
      </p:sp>
      <p:pic>
        <p:nvPicPr>
          <p:cNvPr id="11" name="Picture 10" descr="268771bcd93959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89504"/>
            <a:ext cx="1621536" cy="6949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07536" y="3008376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already positive: no flip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(5/8)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25/64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a7f97d6945899e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5968" y="2194560"/>
            <a:ext cx="3529584" cy="862584"/>
          </a:xfrm>
          <a:prstGeom prst="rect">
            <a:avLst/>
          </a:prstGeom>
        </p:spPr>
      </p:pic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40cdd198e50607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4444" y="2194560"/>
            <a:ext cx="3532632" cy="8625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77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exponent −10, then flip: (−4/5)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4735" y="463753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3269d301dd5e8af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4976" y="4480560"/>
            <a:ext cx="1511808" cy="862584"/>
          </a:xfrm>
          <a:prstGeom prst="rect">
            <a:avLst/>
          </a:prstGeom>
        </p:spPr>
      </p:pic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921764"/>
            <a:ext cx="53577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copier is set to shrink a page to  </a:t>
            </a:r>
          </a:p>
        </p:txBody>
      </p:sp>
      <p:pic>
        <p:nvPicPr>
          <p:cNvPr id="10" name="Picture 9" descr="e8022fa09c25c0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019" y="1874519"/>
            <a:ext cx="170688" cy="5516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25707" y="1921764"/>
            <a:ext cx="18738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of its size.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627376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page 6 inches wide is copied 4 times in a row, each copy from the last.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595844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What fraction of the original page's size is the last copy?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923287"/>
            <a:ext cx="53577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copier is set to shrink a page to  </a:t>
            </a:r>
          </a:p>
        </p:txBody>
      </p:sp>
      <p:pic>
        <p:nvPicPr>
          <p:cNvPr id="10" name="Picture 9" descr="024e90b41a6caf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019" y="1874519"/>
            <a:ext cx="164592" cy="5547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19611" y="1923287"/>
            <a:ext cx="18738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of its size.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630424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page 6 inches wide is copied 4 times in a row, each copy from the last.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598892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What fraction of the original page's size is the last copy?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22943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(2/3)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64607" y="5120971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6" name="Picture 15" descr="7dd35ac51a0ee4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4960951"/>
            <a:ext cx="512064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23a87bc643d7e5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2852" y="2194560"/>
            <a:ext cx="1575816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9" name="Picture 8" descr="7b4aab4c0a6cc8a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1328" y="2103120"/>
            <a:ext cx="1578864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4612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flip the numbers; the sign stays in the fraction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4651" y="4823459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837676bd53bd7eb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4891" y="4663440"/>
            <a:ext cx="1331976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c08fd56f1b4e34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8280" y="2194560"/>
            <a:ext cx="1584960" cy="871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bc194338a8886e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8280" y="2103120"/>
            <a:ext cx="1584960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4612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(−9/8)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81/64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4607" y="4823459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3148abf2051aaac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4663440"/>
            <a:ext cx="512064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c2285e954aff8d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7715" y="2194560"/>
            <a:ext cx="1466088" cy="8534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bf10b2e2dc356d3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2103120"/>
            <a:ext cx="1463040" cy="8503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27832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flip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09516" y="481584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c2c79711143807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756" y="4663440"/>
            <a:ext cx="1222248" cy="853440"/>
          </a:xfrm>
          <a:prstGeom prst="rect">
            <a:avLst/>
          </a:prstGeom>
        </p:spPr>
      </p:pic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fb95563de51335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1996" y="2194560"/>
            <a:ext cx="1557528" cy="8534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765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942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(7/8)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942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(−8/7)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287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(−7/8)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287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(8/7)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3455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de3072ed6d5fe5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0471" y="2103120"/>
            <a:ext cx="1560576" cy="8534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851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851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(7/8)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851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B.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(−8/7)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5372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(−7/8)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5372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(8/7)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54311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 — (−8/7)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e9242358ed1b2b8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9620" y="2194560"/>
            <a:ext cx="3002280" cy="871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9488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9612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(8/5)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9612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470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470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5284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77243053f2f7c3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9620" y="2103120"/>
            <a:ext cx="3002280" cy="871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0344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8697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(8/5)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8697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5555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(5/8)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5555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56140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(5/8)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983316d8a340e3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2980" y="2194560"/>
            <a:ext cx="2575560" cy="8778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cccf2e6aacb49b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1455" y="2103120"/>
            <a:ext cx="2578608" cy="8778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55263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(5/2)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(5/2)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(5/2)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4607" y="482041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c37c2f03a9ba86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4663440"/>
            <a:ext cx="512064" cy="862584"/>
          </a:xfrm>
          <a:prstGeom prst="rect">
            <a:avLst/>
          </a:prstGeom>
        </p:spPr>
      </p:pic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c18abdc6135bd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6656" y="2194560"/>
            <a:ext cx="3188208" cy="8564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with one base and one positive exponent.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7d2314fb4fc5114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3607" y="2103120"/>
            <a:ext cx="3194304" cy="859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3697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(2/3)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inside, then power of a power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2960" y="481584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2e17728107926c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199" y="4663440"/>
            <a:ext cx="975360" cy="853440"/>
          </a:xfrm>
          <a:prstGeom prst="rect">
            <a:avLst/>
          </a:prstGeom>
        </p:spPr>
      </p:pic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3551" y="2304288"/>
            <a:ext cx="22021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Marco says  </a:t>
            </a:r>
          </a:p>
        </p:txBody>
      </p:sp>
      <p:pic>
        <p:nvPicPr>
          <p:cNvPr id="10" name="Picture 9" descr="bcbcbf803cfe7e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553" y="2194560"/>
            <a:ext cx="1246632" cy="6766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65185" y="2304288"/>
            <a:ext cx="37057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can be rewritten as  </a:t>
            </a:r>
          </a:p>
        </p:txBody>
      </p:sp>
      <p:pic>
        <p:nvPicPr>
          <p:cNvPr id="12" name="Picture 11" descr="9b43b28c9551277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3776" y="2194560"/>
            <a:ext cx="774192" cy="6766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314553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because 'two negatives make a positive.'  Is he right?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Say what the negative exponent does, and what it does not do. Give the correct rewrite.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8979" y="2215896"/>
            <a:ext cx="22021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Marco says  </a:t>
            </a:r>
          </a:p>
        </p:txBody>
      </p:sp>
      <p:pic>
        <p:nvPicPr>
          <p:cNvPr id="10" name="Picture 9" descr="61e0767165f6b1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3981" y="2103120"/>
            <a:ext cx="1252728" cy="6827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66709" y="2215896"/>
            <a:ext cx="37057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can be rewritten as  </a:t>
            </a:r>
          </a:p>
        </p:txBody>
      </p:sp>
      <p:pic>
        <p:nvPicPr>
          <p:cNvPr id="12" name="Picture 11" descr="5c0a9d4ef3b8e5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5300" y="2103120"/>
            <a:ext cx="777240" cy="6827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306019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because 'two negatives make a positive.'  Is he right?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68079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exponent flips the fraction; it never touches the 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No — (−2/3)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(−3/2)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Identify equivalent expressions involving exponents I — VLM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LESSONS 6–7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Evaluating and Equivalent Expressions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evaluate an expression with integer exponents using the laws, and decide whether two expressions with different bases are equivalent.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So far: every law, every kind of base, every kind of exponent.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Today: use all of it at once — and rewrite bases to compare.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31848"/>
            <a:ext cx="78040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Rewrite with a positive exponent, then evaluate:  </a:t>
            </a:r>
          </a:p>
        </p:txBody>
      </p:sp>
      <p:pic>
        <p:nvPicPr>
          <p:cNvPr id="10" name="Picture 9" descr="70fd4f7c195b27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1449" y="1783080"/>
            <a:ext cx="795528" cy="5547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613660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2" name="Picture 11" descr="a4522c3024ca656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538984"/>
            <a:ext cx="463296" cy="6065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451860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4" name="Picture 13" descr="574a5d3a612aa1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3346704"/>
            <a:ext cx="469392" cy="6675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4192524"/>
            <a:ext cx="62436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64 as a power of 2, of 4, and of 8.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31848"/>
            <a:ext cx="78040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Rewrite with a positive exponent, then evaluate:  </a:t>
            </a:r>
          </a:p>
        </p:txBody>
      </p:sp>
      <p:pic>
        <p:nvPicPr>
          <p:cNvPr id="10" name="Picture 9" descr="70fd4f7c195b27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1449" y="1783080"/>
            <a:ext cx="795528" cy="554736"/>
          </a:xfrm>
          <a:prstGeom prst="rect">
            <a:avLst/>
          </a:prstGeom>
        </p:spPr>
      </p:pic>
      <p:pic>
        <p:nvPicPr>
          <p:cNvPr id="11" name="Picture 10" descr="b2f9cb953a93e9c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040" y="2383536"/>
            <a:ext cx="1152144" cy="5577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3217164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3" name="Picture 12" descr="a4522c3024ca656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3142488"/>
            <a:ext cx="463296" cy="6065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814235" y="3119628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4055363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6" name="Picture 15" descr="574a5d3a612aa10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2299" y="3950207"/>
            <a:ext cx="469392" cy="66751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820331" y="3927347"/>
            <a:ext cx="743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4796027"/>
            <a:ext cx="62436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64 as a power of 2, of 4, and of 8.</a:t>
            </a:r>
          </a:p>
        </p:txBody>
      </p:sp>
      <p:pic>
        <p:nvPicPr>
          <p:cNvPr id="19" name="Picture 18" descr="b2c477a7a0fb52e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29654" y="4887467"/>
            <a:ext cx="268224" cy="274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797878" y="4796027"/>
            <a:ext cx="4741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,  </a:t>
            </a:r>
          </a:p>
        </p:txBody>
      </p:sp>
      <p:pic>
        <p:nvPicPr>
          <p:cNvPr id="21" name="Picture 20" descr="555a2ab77fff0fe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34854" y="4887467"/>
            <a:ext cx="265176" cy="2743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400030" y="4796027"/>
            <a:ext cx="4741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,  </a:t>
            </a:r>
          </a:p>
        </p:txBody>
      </p:sp>
      <p:pic>
        <p:nvPicPr>
          <p:cNvPr id="23" name="Picture 22" descr="f2c3dde86c5203a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37005" y="4884419"/>
            <a:ext cx="259080" cy="280416"/>
          </a:xfrm>
          <a:prstGeom prst="rect">
            <a:avLst/>
          </a:prstGeom>
        </p:spPr>
      </p:pic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Two students, two plans, one value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452836" y="2491740"/>
            <a:ext cx="18116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Melanie:  </a:t>
            </a:r>
          </a:p>
        </p:txBody>
      </p:sp>
      <p:pic>
        <p:nvPicPr>
          <p:cNvPr id="11" name="Picture 10" descr="071da3cb12a3a9b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7283" y="2340864"/>
            <a:ext cx="3581400" cy="7589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790638" y="3694176"/>
            <a:ext cx="17125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Adonis:   </a:t>
            </a:r>
          </a:p>
        </p:txBody>
      </p:sp>
      <p:pic>
        <p:nvPicPr>
          <p:cNvPr id="13" name="Picture 12" descr="76734bcd012bfd6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6065" y="3374136"/>
            <a:ext cx="5004816" cy="1097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809744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Apply the laws first, evaluate last. The value is the same; the arithmetic is smaller.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worked line.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Every law, one expression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059ee1a209667e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6328" y="2340864"/>
            <a:ext cx="5388864" cy="8808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56006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Find the step that broke:</a:t>
            </a:r>
          </a:p>
        </p:txBody>
      </p:sp>
      <p:pic>
        <p:nvPicPr>
          <p:cNvPr id="13" name="Picture 12" descr="6c3d06b279be60f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273296"/>
            <a:ext cx="3535680" cy="685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23232" y="4387596"/>
            <a:ext cx="46141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   — wrong: multiplied; should be </a:t>
            </a:r>
          </a:p>
        </p:txBody>
      </p:sp>
      <p:pic>
        <p:nvPicPr>
          <p:cNvPr id="15" name="Picture 14" descr="e9e6240f6a5ac6c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0245" y="4273296"/>
            <a:ext cx="792480" cy="685800"/>
          </a:xfrm>
          <a:prstGeom prst="rect">
            <a:avLst/>
          </a:prstGeom>
        </p:spPr>
      </p:pic>
      <p:pic>
        <p:nvPicPr>
          <p:cNvPr id="16" name="Picture 15" descr="b45588bb7e9f071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5215128"/>
            <a:ext cx="1965960" cy="80467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953512" y="5388864"/>
            <a:ext cx="62704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   — wrong: flipped, kept the minus; should be </a:t>
            </a:r>
          </a:p>
        </p:txBody>
      </p:sp>
      <p:pic>
        <p:nvPicPr>
          <p:cNvPr id="18" name="Picture 17" descr="d631bf12f968ff9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86772" y="5276088"/>
            <a:ext cx="777240" cy="682752"/>
          </a:xfrm>
          <a:prstGeom prst="rect">
            <a:avLst/>
          </a:prstGeom>
        </p:spPr>
      </p:pic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Different bases, same value — rewrite to a common base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377439" y="2340864"/>
          <a:ext cx="740664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2011680"/>
                <a:gridCol w="2011680"/>
                <a:gridCol w="20116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Base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Square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Cube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Fourth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27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81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625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8c34f90c6fc7d47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5896" y="4105656"/>
            <a:ext cx="2423160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19056" y="4082796"/>
            <a:ext cx="9885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</a:t>
            </a:r>
          </a:p>
        </p:txBody>
      </p:sp>
      <p:pic>
        <p:nvPicPr>
          <p:cNvPr id="13" name="Picture 12" descr="9053d689824c5cd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0479" y="4105656"/>
            <a:ext cx="2295144" cy="411480"/>
          </a:xfrm>
          <a:prstGeom prst="rect">
            <a:avLst/>
          </a:prstGeom>
        </p:spPr>
      </p:pic>
      <p:pic>
        <p:nvPicPr>
          <p:cNvPr id="14" name="Picture 13" descr="a561d3e29393bcc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3884" y="4791456"/>
            <a:ext cx="4873752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IV.  Testing equivalence: Xavier's claim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8fba7ecf87f384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0084" y="2340864"/>
            <a:ext cx="4294632" cy="6766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54716" y="2450592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505da5ea0c261b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0707" y="2340864"/>
            <a:ext cx="4300728" cy="6766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355847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Same base, then compare exponents.</a:t>
            </a:r>
          </a:p>
        </p:txBody>
      </p:sp>
      <p:pic>
        <p:nvPicPr>
          <p:cNvPr id="14" name="Picture 13" descr="5954d94571e7ef7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4073651"/>
            <a:ext cx="1487424" cy="4023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474976" y="4046219"/>
            <a:ext cx="34041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— so Xavier is wrong.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Evaluate.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2d16e4daaa9b6d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3623" y="2103120"/>
            <a:ext cx="1414272" cy="6766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826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1ca1397ffa03d4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112008" cy="6888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98008" y="2036064"/>
            <a:ext cx="5986271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negative exponent: flip</a:t>
            </a:r>
          </a:p>
        </p:txBody>
      </p:sp>
      <p:pic>
        <p:nvPicPr>
          <p:cNvPr id="11" name="Picture 10" descr="f25419565ed35d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83408"/>
            <a:ext cx="1697736" cy="69799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83736" y="3003804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quotient, then multiply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16/3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b5586861463d6b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4648" y="2194560"/>
            <a:ext cx="1792224" cy="862584"/>
          </a:xfrm>
          <a:prstGeom prst="rect">
            <a:avLst/>
          </a:prstGeom>
        </p:spPr>
      </p:pic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4ba5d3554b7f430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599" y="2194560"/>
            <a:ext cx="1798320" cy="8625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77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(5/2)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2 = 25/4 ·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4607" y="463753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3a56cc9ab8e3bb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4480560"/>
            <a:ext cx="512064" cy="862584"/>
          </a:xfrm>
          <a:prstGeom prst="rect">
            <a:avLst/>
          </a:prstGeom>
        </p:spPr>
      </p:pic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Equivalent or not?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56109" y="2313432"/>
            <a:ext cx="9880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Are  </a:t>
            </a:r>
          </a:p>
        </p:txBody>
      </p:sp>
      <p:pic>
        <p:nvPicPr>
          <p:cNvPr id="10" name="Picture 9" descr="67df2d652c1a71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6954" y="2369819"/>
            <a:ext cx="920495" cy="344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7450" y="2313432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69969edd9de468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9156" y="2103120"/>
            <a:ext cx="1082040" cy="8778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981196" y="2313432"/>
            <a:ext cx="22613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equivalent?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8386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Rewrite both with the bases 3 and 2, then compare.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9dc7ad07cd91fb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267200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53200" y="1865376"/>
            <a:ext cx="483107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product, product of powers</a:t>
            </a:r>
          </a:p>
        </p:txBody>
      </p:sp>
      <p:pic>
        <p:nvPicPr>
          <p:cNvPr id="11" name="Picture 10" descr="77d3b6258368a7a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2032"/>
            <a:ext cx="3883152" cy="8747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69152" y="2750820"/>
            <a:ext cx="521512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product, quotient of powers</a:t>
            </a:r>
          </a:p>
        </p:txBody>
      </p:sp>
      <p:pic>
        <p:nvPicPr>
          <p:cNvPr id="13" name="Picture 12" descr="4af5e130ae69d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91127"/>
            <a:ext cx="2295144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81144" y="3636263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same bases, same exponents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Yes — both are 3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·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1944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76633" y="2516124"/>
            <a:ext cx="9880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Are  </a:t>
            </a:r>
          </a:p>
        </p:txBody>
      </p:sp>
      <p:pic>
        <p:nvPicPr>
          <p:cNvPr id="10" name="Picture 9" descr="9b999197431493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7478" y="2528315"/>
            <a:ext cx="1411224" cy="4328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38702" y="2516124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e566d1e7830f898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0408" y="2194560"/>
            <a:ext cx="1350264" cy="1100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60672" y="2516124"/>
            <a:ext cx="22613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equivalent?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78157" y="2516124"/>
            <a:ext cx="9880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Are  </a:t>
            </a:r>
          </a:p>
        </p:txBody>
      </p:sp>
      <p:pic>
        <p:nvPicPr>
          <p:cNvPr id="10" name="Picture 9" descr="7788e03876974c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9002" y="2529840"/>
            <a:ext cx="1411224" cy="4297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40226" y="2516124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b7201d2b15f8c86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1932" y="2194560"/>
            <a:ext cx="1347216" cy="1100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59148" y="2516124"/>
            <a:ext cx="22613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equivalent?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61492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both are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Yes —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· 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4000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61e8ec21e00a89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3836" y="2194560"/>
            <a:ext cx="2593848" cy="1188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956b769eca71d9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6883" y="2103120"/>
            <a:ext cx="2587752" cy="1188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56615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(−7)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(−7)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so (−7)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−343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9" name="Picture 8" descr="5a81991eb38a0b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3543" y="2194560"/>
            <a:ext cx="2694432" cy="1865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425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910328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b34bc56ecccd0f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5067" y="2103120"/>
            <a:ext cx="2691384" cy="1871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4248912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−3 − (−2) = −1, so (3/4)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91100" y="513283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6d9a31f1d02f315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1340" y="4980432"/>
            <a:ext cx="259080" cy="853440"/>
          </a:xfrm>
          <a:prstGeom prst="rect">
            <a:avLst/>
          </a:prstGeom>
        </p:spPr>
      </p:pic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2f8b87745f5bc5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6675" y="2194560"/>
            <a:ext cx="2868168" cy="1432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48df33e2a7e48c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9723" y="2103120"/>
            <a:ext cx="2862072" cy="14295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806952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91100" y="481431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2bb7fdb900ba42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1340" y="4663440"/>
            <a:ext cx="259080" cy="850392"/>
          </a:xfrm>
          <a:prstGeom prst="rect">
            <a:avLst/>
          </a:prstGeom>
        </p:spPr>
      </p:pic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35471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One flash drive holds  </a:t>
            </a:r>
          </a:p>
        </p:txBody>
      </p:sp>
      <p:pic>
        <p:nvPicPr>
          <p:cNvPr id="10" name="Picture 9" descr="c5917418503255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4432" y="1943100"/>
            <a:ext cx="377952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2384" y="1851660"/>
            <a:ext cx="20634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megabytes.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64308"/>
            <a:ext cx="24877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Another holds  </a:t>
            </a:r>
          </a:p>
        </p:txBody>
      </p:sp>
      <p:pic>
        <p:nvPicPr>
          <p:cNvPr id="13" name="Picture 12" descr="1d8988fc9968dd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5036" y="2552700"/>
            <a:ext cx="252984" cy="2804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838020" y="2464308"/>
            <a:ext cx="65092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megabytes. The first one costs 45 dollars.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Which holds more — or is it the same? Show why.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35471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One flash drive holds  </a:t>
            </a:r>
          </a:p>
        </p:txBody>
      </p:sp>
      <p:pic>
        <p:nvPicPr>
          <p:cNvPr id="10" name="Picture 9" descr="b4b5a35a336421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4432" y="1943100"/>
            <a:ext cx="381000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5432" y="1851660"/>
            <a:ext cx="20634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megabytes.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64308"/>
            <a:ext cx="24877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Another holds  </a:t>
            </a:r>
          </a:p>
        </p:txBody>
      </p:sp>
      <p:pic>
        <p:nvPicPr>
          <p:cNvPr id="13" name="Picture 12" descr="e7e94afbdd4008a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5036" y="2552700"/>
            <a:ext cx="256032" cy="2804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841068" y="2464308"/>
            <a:ext cx="65092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megabytes. The first one costs 45 dollars.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Which holds more — or is it the same? Show why.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730354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8 =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so 8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(2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The same: 8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(2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15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39fbeb40e62d12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3496" y="2194560"/>
            <a:ext cx="414528" cy="4389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6207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283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283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141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141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2003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2a82b5b2f64aa2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1971" y="2103120"/>
            <a:ext cx="417576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614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3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1944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3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8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78733fd3b94c87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7779" y="2194560"/>
            <a:ext cx="1965960" cy="8534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765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942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942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287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287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3455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4ef405027ff619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7779" y="2103120"/>
            <a:ext cx="1965960" cy="8503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8211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8484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2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-7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8484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5342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5342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54007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-7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11b1cae12f4ad7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1639" y="2194560"/>
            <a:ext cx="1158240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 of 2.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9a83df8a23e939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1639" y="2103120"/>
            <a:ext cx="1158240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798063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(2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14900" y="460248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474833020a9714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5140" y="4663440"/>
            <a:ext cx="411480" cy="426720"/>
          </a:xfrm>
          <a:prstGeom prst="rect">
            <a:avLst/>
          </a:prstGeom>
        </p:spPr>
      </p:pic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cd86dc37fd0c05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9051" y="2194560"/>
            <a:ext cx="142341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 of 2.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pic>
        <p:nvPicPr>
          <p:cNvPr id="9" name="Picture 8" descr="a58ef65a72479a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7527" y="2103120"/>
            <a:ext cx="1426464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111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(2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21935" y="460248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c9101e99983c70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2176" y="4663440"/>
            <a:ext cx="597408" cy="426720"/>
          </a:xfrm>
          <a:prstGeom prst="rect">
            <a:avLst/>
          </a:prstGeom>
        </p:spPr>
      </p:pic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294" y="2304288"/>
            <a:ext cx="2254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Xavier says  </a:t>
            </a:r>
          </a:p>
        </p:txBody>
      </p:sp>
      <p:pic>
        <p:nvPicPr>
          <p:cNvPr id="10" name="Picture 9" descr="928a3b4f052209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4146" y="2194560"/>
            <a:ext cx="1569720" cy="6766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13866" y="2304288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b84e4faf309355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5572" y="2194560"/>
            <a:ext cx="1557528" cy="6766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43100" y="2304288"/>
            <a:ext cx="27282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are equivalent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93296" y="3122675"/>
            <a:ext cx="53638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because both can be written as  </a:t>
            </a:r>
          </a:p>
        </p:txBody>
      </p:sp>
      <p:pic>
        <p:nvPicPr>
          <p:cNvPr id="15" name="Picture 14" descr="c9adefc290aa5b4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9975" y="3185159"/>
            <a:ext cx="521207" cy="3322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41183" y="3122675"/>
            <a:ext cx="27642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Do you agree?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each with base 2, and say what you find.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4246" y="2212848"/>
            <a:ext cx="2254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Xavier says  </a:t>
            </a:r>
          </a:p>
        </p:txBody>
      </p:sp>
      <p:pic>
        <p:nvPicPr>
          <p:cNvPr id="10" name="Picture 9" descr="5cc8e379c9f0fb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1098" y="2103120"/>
            <a:ext cx="1572768" cy="6766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13866" y="2212848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3544f9e4eb8bbbf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5572" y="2103120"/>
            <a:ext cx="1560576" cy="6766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46148" y="2212848"/>
            <a:ext cx="27282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are equivalent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91772" y="3031236"/>
            <a:ext cx="53638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because both can be written as  </a:t>
            </a:r>
          </a:p>
        </p:txBody>
      </p:sp>
      <p:pic>
        <p:nvPicPr>
          <p:cNvPr id="15" name="Picture 14" descr="afdbc5b48ef250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8451" y="3093720"/>
            <a:ext cx="524256" cy="3322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42707" y="3031236"/>
            <a:ext cx="27642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Do you agree?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8561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-7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and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No — the second is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, not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-7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expressions using properties of exponents — 6T7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Identify equivalent expressions involving exponents II — QDM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THREAD A · DAY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Exponent Laws with Variable Bases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MA.8.AR.1.1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multiply and divide monomials, and raise a monomial to a power, by applying the laws of exponents to variable bases.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the bases were all numbers.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 base is a letter. Every law still works.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d93a40084748b6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821180"/>
            <a:ext cx="1267968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499360"/>
            <a:ext cx="3704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as one power:  </a:t>
            </a:r>
          </a:p>
        </p:txBody>
      </p:sp>
      <p:pic>
        <p:nvPicPr>
          <p:cNvPr id="12" name="Picture 11" descr="9d90cf2f49ecc8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2165" y="2395728"/>
            <a:ext cx="304800" cy="6644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238500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</a:t>
            </a:r>
          </a:p>
        </p:txBody>
      </p:sp>
      <p:pic>
        <p:nvPicPr>
          <p:cNvPr id="14" name="Picture 13" descr="697434924d454a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4171" y="3262884"/>
            <a:ext cx="688848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153019" y="3238500"/>
            <a:ext cx="57335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is between which two whole numbers?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851147"/>
            <a:ext cx="4347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with an exponent:  </a:t>
            </a:r>
          </a:p>
        </p:txBody>
      </p:sp>
      <p:pic>
        <p:nvPicPr>
          <p:cNvPr id="17" name="Picture 16" descr="2cd7015fba8991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5028" y="3973068"/>
            <a:ext cx="1499616" cy="213360"/>
          </a:xfrm>
          <a:prstGeom prst="rect">
            <a:avLst/>
          </a:prstGeom>
        </p:spPr>
      </p:pic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d93a40084748b6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821180"/>
            <a:ext cx="1267968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12702" y="1760220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499360"/>
            <a:ext cx="3704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as one power:  </a:t>
            </a:r>
          </a:p>
        </p:txBody>
      </p:sp>
      <p:pic>
        <p:nvPicPr>
          <p:cNvPr id="13" name="Picture 12" descr="9d90cf2f49ecc8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2165" y="2395728"/>
            <a:ext cx="304800" cy="664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295605" y="2372868"/>
            <a:ext cx="12153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6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2300" b="1" i="0">
                <a:solidFill>
                  <a:srgbClr val="9E1B32"/>
                </a:solidFill>
                <a:latin typeface="Century Schoolbook"/>
              </a:rPr>
              <a:t> = 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238500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</a:t>
            </a:r>
          </a:p>
        </p:txBody>
      </p:sp>
      <p:pic>
        <p:nvPicPr>
          <p:cNvPr id="16" name="Picture 15" descr="697434924d454a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4171" y="3262884"/>
            <a:ext cx="688848" cy="4084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153019" y="3238500"/>
            <a:ext cx="57335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is between which two whole numbers?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98069" y="3238500"/>
            <a:ext cx="13513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7 and 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851147"/>
            <a:ext cx="4347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with an exponent:  </a:t>
            </a:r>
          </a:p>
        </p:txBody>
      </p:sp>
      <p:pic>
        <p:nvPicPr>
          <p:cNvPr id="20" name="Picture 19" descr="2cd7015fba8991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5028" y="3973068"/>
            <a:ext cx="1499616" cy="213360"/>
          </a:xfrm>
          <a:prstGeom prst="rect">
            <a:avLst/>
          </a:prstGeom>
        </p:spPr>
      </p:pic>
      <p:pic>
        <p:nvPicPr>
          <p:cNvPr id="21" name="Picture 20" descr="cb1e58e52011854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3284" y="3909059"/>
            <a:ext cx="280416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both lines.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Product of powers — the base is a letter now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7f4dc7bb52f349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4024" y="2340864"/>
            <a:ext cx="4245864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49888" y="231800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3" name="Picture 12" descr="4bb1e456c94b13a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5879" y="2391156"/>
            <a:ext cx="2261616" cy="310896"/>
          </a:xfrm>
          <a:prstGeom prst="rect">
            <a:avLst/>
          </a:prstGeom>
        </p:spPr>
      </p:pic>
      <p:pic>
        <p:nvPicPr>
          <p:cNvPr id="14" name="Picture 13" descr="a285865d99a08fc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0064" y="3026664"/>
            <a:ext cx="5041392" cy="4114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377647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Multiply the coefficients. Add the exponents of like bases.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472940"/>
            <a:ext cx="5144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Different variables stay separate:  </a:t>
            </a:r>
          </a:p>
        </p:txBody>
      </p:sp>
      <p:pic>
        <p:nvPicPr>
          <p:cNvPr id="17" name="Picture 16" descr="2a950411e1004bb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4632" y="4489704"/>
            <a:ext cx="2618232" cy="423672"/>
          </a:xfrm>
          <a:prstGeom prst="rect">
            <a:avLst/>
          </a:prstGeom>
        </p:spPr>
      </p:pic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Power of a power, power of a product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fe72c58bfa2a95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7864" y="2340864"/>
            <a:ext cx="4227576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775440" y="231800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f6f2fe1277a80fa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1431" y="2372868"/>
            <a:ext cx="1792224" cy="347472"/>
          </a:xfrm>
          <a:prstGeom prst="rect">
            <a:avLst/>
          </a:prstGeom>
        </p:spPr>
      </p:pic>
      <p:pic>
        <p:nvPicPr>
          <p:cNvPr id="13" name="Picture 12" descr="783225cb699ff8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9224" y="3026664"/>
            <a:ext cx="3727704" cy="4236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726928" y="3009900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5" name="Picture 14" descr="1389c559d7859c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2919" y="3026664"/>
            <a:ext cx="3389376" cy="4236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3788664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Power of a power: multiply the exponents.  Power of a product: raise every factor.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Quotient of powers — dividing monomials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63942cbc98c315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6152" y="2340864"/>
            <a:ext cx="4270248" cy="8046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36400" y="2514600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90de12726cf0d0d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391" y="2406396"/>
            <a:ext cx="1712976" cy="673608"/>
          </a:xfrm>
          <a:prstGeom prst="rect">
            <a:avLst/>
          </a:prstGeom>
        </p:spPr>
      </p:pic>
      <p:pic>
        <p:nvPicPr>
          <p:cNvPr id="13" name="Picture 12" descr="56477ae8447c460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0700" y="3419856"/>
            <a:ext cx="1801368" cy="8107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942068" y="3596640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5" name="Picture 14" descr="7b39cdb0ef566bc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8059" y="3421379"/>
            <a:ext cx="3032760" cy="8077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56895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Divide the coefficients. Subtract the exponents of like bases.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Multiplying two monomials.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a0894cd9a5ccf6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7843" y="2103120"/>
            <a:ext cx="2465832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297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as a single monomial.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de63dedae86b58c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004560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90560" y="1903476"/>
            <a:ext cx="309371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regroup: coefficients, x's, y's</a:t>
            </a:r>
          </a:p>
        </p:txBody>
      </p:sp>
      <p:pic>
        <p:nvPicPr>
          <p:cNvPr id="11" name="Picture 10" descr="2f53120bf9dfff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18232"/>
            <a:ext cx="3581400" cy="423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867399" y="2601468"/>
            <a:ext cx="551688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multiply coefficients; add exponents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−8x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y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83ae14ddaf39e7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9911" y="2194560"/>
            <a:ext cx="2901696" cy="518160"/>
          </a:xfrm>
          <a:prstGeom prst="rect">
            <a:avLst/>
          </a:prstGeom>
        </p:spPr>
      </p:pic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28700badd3bdf0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9911" y="2194560"/>
            <a:ext cx="2901696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32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5 · 3, a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a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b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b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15a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b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power of a product, then a quotient.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b9dec83acdd340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7820" y="2103120"/>
            <a:ext cx="1325880" cy="8900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9605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as a single monomial.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d5a2c92467f9be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941320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27320" y="1897380"/>
            <a:ext cx="615695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product: raise all three factors</a:t>
            </a:r>
          </a:p>
        </p:txBody>
      </p:sp>
      <p:pic>
        <p:nvPicPr>
          <p:cNvPr id="11" name="Picture 10" descr="8affb1101a179d4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6040"/>
            <a:ext cx="5541264" cy="8168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27263" y="2785872"/>
            <a:ext cx="3557016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divide coefficients; subtract exponents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3m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n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c61e723e73851e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4583" y="2194560"/>
            <a:ext cx="1292352" cy="1216152"/>
          </a:xfrm>
          <a:prstGeom prst="rect">
            <a:avLst/>
          </a:prstGeom>
        </p:spPr>
      </p:pic>
    </p:spTree>
  </p:cSld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192ab9962e6dc8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6107" y="2194560"/>
            <a:ext cx="1289304" cy="12131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727703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16p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8p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2p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d4d3158a21a487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0971" y="2194560"/>
            <a:ext cx="117957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as a single power.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20123ea625216e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0971" y="2103120"/>
            <a:ext cx="117957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416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like bases: add the exponents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17363" y="4604003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ea1790c6884cea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7603" y="4663440"/>
            <a:ext cx="606552" cy="429768"/>
          </a:xfrm>
          <a:prstGeom prst="rect">
            <a:avLst/>
          </a:prstGeom>
        </p:spPr>
      </p:pic>
    </p:spTree>
  </p:cSld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df024cff5e9ce1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4416" y="2194560"/>
            <a:ext cx="932688" cy="5303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as a single power.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9" name="Picture 8" descr="00e7a99be8e12d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2891" y="2103120"/>
            <a:ext cx="935736" cy="5242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90169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power of a power: multiply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12791" y="465429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5d59527968cea4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3032" y="4663440"/>
            <a:ext cx="615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29313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cube has edges  </a:t>
            </a:r>
          </a:p>
        </p:txBody>
      </p:sp>
      <p:pic>
        <p:nvPicPr>
          <p:cNvPr id="10" name="Picture 9" descr="1df02a95485ce3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8651" y="1941575"/>
            <a:ext cx="423672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52323" y="1851660"/>
            <a:ext cx="29578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centimeters long.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64308"/>
            <a:ext cx="30661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Its surface area is  </a:t>
            </a:r>
          </a:p>
        </p:txBody>
      </p:sp>
      <p:pic>
        <p:nvPicPr>
          <p:cNvPr id="13" name="Picture 12" descr="84641c90e2ee915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3429" y="2554224"/>
            <a:ext cx="597408" cy="2773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60837" y="2464308"/>
            <a:ext cx="33317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square centimeters.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What is the volume of the cube, in cubic centimeters?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29313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cube has edges  </a:t>
            </a:r>
          </a:p>
        </p:txBody>
      </p:sp>
      <p:pic>
        <p:nvPicPr>
          <p:cNvPr id="10" name="Picture 9" descr="a28e2ea3731f9d8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8651" y="1941575"/>
            <a:ext cx="423672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52323" y="1851660"/>
            <a:ext cx="29578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centimeters long.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64308"/>
            <a:ext cx="30661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Its surface area is  </a:t>
            </a:r>
          </a:p>
        </p:txBody>
      </p:sp>
      <p:pic>
        <p:nvPicPr>
          <p:cNvPr id="13" name="Picture 12" descr="627f906189b40b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3429" y="2554224"/>
            <a:ext cx="600456" cy="2773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63885" y="2464308"/>
            <a:ext cx="33317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square centimeters.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What is the volume of the cube, in cubic centimeters?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730354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(2x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: raise the 2 as well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7551" y="460552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8" name="Picture 17" descr="b5d97e94079cb0b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7791" y="4663440"/>
            <a:ext cx="646176" cy="432816"/>
          </a:xfrm>
          <a:prstGeom prst="rect">
            <a:avLst/>
          </a:prstGeom>
        </p:spPr>
      </p:pic>
    </p:spTree>
  </p:cSld>
  <p:clrMapOvr>
    <a:masterClrMapping/>
  </p:clrMapOvr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4f0d74218b39c7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9451" y="2194560"/>
            <a:ext cx="2642616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as a single monomial.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20518fcef0388b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7928" y="2103120"/>
            <a:ext cx="2645664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559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 · 4, a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a, b · b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1979" y="460552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53df2d82dfc9424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2219" y="4663440"/>
            <a:ext cx="1417320" cy="432816"/>
          </a:xfrm>
          <a:prstGeom prst="rect">
            <a:avLst/>
          </a:prstGeom>
        </p:spPr>
      </p:pic>
    </p:spTree>
  </p:cSld>
  <p:clrMapOvr>
    <a:masterClrMapping/>
  </p:clrMapOvr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6cf649989ec0d5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8675" y="2194560"/>
            <a:ext cx="1344168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413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10m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9927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b63f3b3a75f7bb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7152" y="2103120"/>
            <a:ext cx="1347216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4987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25m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10m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0783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25m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a9b3bfaec72a6e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6127" y="2194560"/>
            <a:ext cx="969264" cy="10119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3509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410141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410141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78721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9x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78721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57f74e63f18b45c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7651" y="2103120"/>
            <a:ext cx="966216" cy="10119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4365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400997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400997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B.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4x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9577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9x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9577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327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 — 4x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85c3b95db630c6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6692" y="2194560"/>
            <a:ext cx="1088136" cy="1021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as a single monomial.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b4ec42ed5af64d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215" y="2103120"/>
            <a:ext cx="1085088" cy="1014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392424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m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n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0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and n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0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0224" y="460552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c33514adb2311b6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0463" y="4663440"/>
            <a:ext cx="560832" cy="432816"/>
          </a:xfrm>
          <a:prstGeom prst="rect">
            <a:avLst/>
          </a:prstGeom>
        </p:spPr>
      </p:pic>
    </p:spTree>
  </p:cSld>
  <p:clrMapOvr>
    <a:masterClrMapping/>
  </p:clrMapOvr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4343" y="2171700"/>
            <a:ext cx="3047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the value of </a:t>
            </a:r>
          </a:p>
        </p:txBody>
      </p:sp>
      <p:pic>
        <p:nvPicPr>
          <p:cNvPr id="10" name="Picture 9" descr="ce9b607ea85ce7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4716" y="2308860"/>
            <a:ext cx="19202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6740" y="217170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</a:t>
            </a:r>
          </a:p>
        </p:txBody>
      </p:sp>
      <p:pic>
        <p:nvPicPr>
          <p:cNvPr id="12" name="Picture 11" descr="6af21d554c0d03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3312" y="2913888"/>
            <a:ext cx="1834896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Which law applies?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4343" y="2080260"/>
            <a:ext cx="3047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the value of </a:t>
            </a:r>
          </a:p>
        </p:txBody>
      </p:sp>
      <p:pic>
        <p:nvPicPr>
          <p:cNvPr id="10" name="Picture 9" descr="ce9b607ea85ce7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4716" y="2217420"/>
            <a:ext cx="19202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6740" y="208026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</a:t>
            </a:r>
          </a:p>
        </p:txBody>
      </p:sp>
      <p:pic>
        <p:nvPicPr>
          <p:cNvPr id="12" name="Picture 11" descr="9b873771204705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3312" y="2822448"/>
            <a:ext cx="1834896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28800" y="35204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 + n = 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 = 8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7268" y="2176272"/>
            <a:ext cx="26152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Rachel writes  </a:t>
            </a:r>
          </a:p>
        </p:txBody>
      </p:sp>
      <p:pic>
        <p:nvPicPr>
          <p:cNvPr id="10" name="Picture 9" descr="a6080467761327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5333" y="2194560"/>
            <a:ext cx="1335024" cy="4206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10357" y="2176272"/>
            <a:ext cx="956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as  </a:t>
            </a:r>
          </a:p>
        </p:txBody>
      </p:sp>
      <p:pic>
        <p:nvPicPr>
          <p:cNvPr id="12" name="Picture 11" descr="300f952ef0d53b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9335" y="2225040"/>
            <a:ext cx="5364480" cy="3596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993815" y="2176272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0629" y="2872739"/>
            <a:ext cx="35346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Justina writes it as  </a:t>
            </a:r>
          </a:p>
        </p:txBody>
      </p:sp>
      <p:pic>
        <p:nvPicPr>
          <p:cNvPr id="15" name="Picture 14" descr="7c47cd9abe6657c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159" y="2889503"/>
            <a:ext cx="1603248" cy="4236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31407" y="2872739"/>
            <a:ext cx="44366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Who is correct? Explain.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Say what each of them did.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5744" y="2084831"/>
            <a:ext cx="26152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Rachel writes  </a:t>
            </a:r>
          </a:p>
        </p:txBody>
      </p:sp>
      <p:pic>
        <p:nvPicPr>
          <p:cNvPr id="10" name="Picture 9" descr="c182d5e9af3001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3809" y="2103120"/>
            <a:ext cx="1338072" cy="4206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11881" y="2084831"/>
            <a:ext cx="956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as  </a:t>
            </a:r>
          </a:p>
        </p:txBody>
      </p:sp>
      <p:pic>
        <p:nvPicPr>
          <p:cNvPr id="12" name="Picture 11" descr="633192d31288b5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0859" y="2133599"/>
            <a:ext cx="5364480" cy="3596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995339" y="2084831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29105" y="2781299"/>
            <a:ext cx="35346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Justina writes it as  </a:t>
            </a:r>
          </a:p>
        </p:txBody>
      </p:sp>
      <p:pic>
        <p:nvPicPr>
          <p:cNvPr id="15" name="Picture 14" descr="9c1cc680a1f0e7b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6635" y="2798063"/>
            <a:ext cx="1606296" cy="4236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32931" y="2781299"/>
            <a:ext cx="44366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Who is correct? Explain.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54177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both — Justina's is Rachel's product, multiplied out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Both are correct; 15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3,375, x · x · x =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, and six y's make y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Multiply powers: variable bases — TR9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Powers of a power: variable bases — 2CU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Divide monomials with positive exponents — C8L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THREAD A · DAY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Negative Exponents with Variable Bases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MA.8.AR.1.1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rewrite an algebraic expression with negative exponents using only positive exponents, and apply several laws of exponents to a monomial expression.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every exponent on a letter was positive.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x</a:t>
            </a:r>
            <a:r>
              <a:rPr sz="1700" b="1" i="0" baseline="30000">
                <a:solidFill>
                  <a:srgbClr val="1A1A1A"/>
                </a:solidFill>
                <a:latin typeface="Century Schoolbook"/>
              </a:rPr>
              <a:t>-3</a:t>
            </a:r>
            <a:r>
              <a:rPr sz="1700" b="1" i="0">
                <a:solidFill>
                  <a:srgbClr val="1A1A1A"/>
                </a:solidFill>
                <a:latin typeface="Century Schoolbook"/>
              </a:rPr>
              <a:t> arrives — and it is not a negative number.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48746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as a single monomial:  </a:t>
            </a:r>
          </a:p>
        </p:txBody>
      </p:sp>
      <p:pic>
        <p:nvPicPr>
          <p:cNvPr id="10" name="Picture 9" descr="c0ecde76b6542ca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1992" y="1821180"/>
            <a:ext cx="771144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37286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2" name="Picture 11" descr="baf21e0fadb8b9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461260"/>
            <a:ext cx="426720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2985516"/>
            <a:ext cx="33416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Which is greater,  </a:t>
            </a:r>
          </a:p>
        </p:txBody>
      </p:sp>
      <p:pic>
        <p:nvPicPr>
          <p:cNvPr id="14" name="Picture 13" descr="57c771350ef6ea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9006" y="3009900"/>
            <a:ext cx="688848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767854" y="2985516"/>
            <a:ext cx="11565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or  9?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668268"/>
            <a:ext cx="4395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What is the reciprocal of  </a:t>
            </a:r>
          </a:p>
        </p:txBody>
      </p:sp>
      <p:pic>
        <p:nvPicPr>
          <p:cNvPr id="17" name="Picture 16" descr="e8022fa09c25c01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2408" y="3621024"/>
            <a:ext cx="170688" cy="55168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03096" y="3668268"/>
            <a:ext cx="4338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48746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as a single monomial:  </a:t>
            </a:r>
          </a:p>
        </p:txBody>
      </p:sp>
      <p:pic>
        <p:nvPicPr>
          <p:cNvPr id="10" name="Picture 9" descr="c0ecde76b6542ca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1992" y="1821180"/>
            <a:ext cx="771144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931776" y="1760220"/>
            <a:ext cx="8417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27x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37286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3" name="Picture 12" descr="baf21e0fadb8b9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461260"/>
            <a:ext cx="426720" cy="2804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777659" y="2372868"/>
            <a:ext cx="829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1/25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985516"/>
            <a:ext cx="33416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Which is greater,  </a:t>
            </a:r>
          </a:p>
        </p:txBody>
      </p:sp>
      <p:pic>
        <p:nvPicPr>
          <p:cNvPr id="16" name="Picture 15" descr="57c771350ef6ea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9006" y="3009900"/>
            <a:ext cx="688848" cy="4084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767854" y="2985516"/>
            <a:ext cx="11565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or  9?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35878" y="2985516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668268"/>
            <a:ext cx="4395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What is the reciprocal of  </a:t>
            </a:r>
          </a:p>
        </p:txBody>
      </p:sp>
      <p:pic>
        <p:nvPicPr>
          <p:cNvPr id="20" name="Picture 19" descr="e8022fa09c25c01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2408" y="3621024"/>
            <a:ext cx="170688" cy="55168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03096" y="3668268"/>
            <a:ext cx="4338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pic>
        <p:nvPicPr>
          <p:cNvPr id="22" name="Picture 21" descr="0ea9c861f6451dd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8431" y="3621024"/>
            <a:ext cx="170688" cy="551688"/>
          </a:xfrm>
          <a:prstGeom prst="rect">
            <a:avLst/>
          </a:prstGeom>
        </p:spPr>
      </p:pic>
    </p:spTree>
  </p:cSld>
  <p:clrMapOvr>
    <a:masterClrMapping/>
  </p:clrMapOvr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pattern, with a letter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" y="2340864"/>
          <a:ext cx="1060704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x·x·x·x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x·x·x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x·x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1/x</a:t>
                      </a:r>
                      <a:r>
                        <a:rPr sz="18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1/x</a:t>
                      </a:r>
                      <a:r>
                        <a:rPr sz="18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2" name="Picture 11" descr="566883ffdb2567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1253" y="3337560"/>
            <a:ext cx="1335024" cy="6766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476277" y="3447288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4" name="Picture 13" descr="bdac5bab61ffd0e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2269" y="3337560"/>
            <a:ext cx="1362456" cy="6766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84725" y="3447288"/>
            <a:ext cx="12996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(</a:t>
            </a:r>
          </a:p>
        </p:txBody>
      </p:sp>
      <p:pic>
        <p:nvPicPr>
          <p:cNvPr id="16" name="Picture 15" descr="3202774bcb05304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7247" y="3506724"/>
            <a:ext cx="783336" cy="3383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830583" y="3447288"/>
            <a:ext cx="3268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Moving factors across the fraction bar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7f7d04d8cca9730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7184" y="2377440"/>
            <a:ext cx="1508760" cy="7437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775944" y="2520696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4816a7a2bcf2f2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1935" y="2340864"/>
            <a:ext cx="2209800" cy="8168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31736" y="2520696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4" name="Picture 13" descr="0f65a6bfbd89b5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7727" y="2345436"/>
            <a:ext cx="1816608" cy="807720"/>
          </a:xfrm>
          <a:prstGeom prst="rect">
            <a:avLst/>
          </a:prstGeom>
        </p:spPr>
      </p:pic>
      <p:pic>
        <p:nvPicPr>
          <p:cNvPr id="15" name="Picture 14" descr="70bc6e0f1b3ecac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8616" y="3432047"/>
            <a:ext cx="2304288" cy="92049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69087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Only the factor with the negative exponent moves. Its exponent turns positive.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The laws with negative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47aaf26d66cf98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6012" y="2374392"/>
            <a:ext cx="4456176" cy="7406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02188" y="251612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1fc48e462d92b6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8179" y="2340864"/>
            <a:ext cx="3767328" cy="807720"/>
          </a:xfrm>
          <a:prstGeom prst="rect">
            <a:avLst/>
          </a:prstGeom>
        </p:spPr>
      </p:pic>
      <p:pic>
        <p:nvPicPr>
          <p:cNvPr id="13" name="Picture 12" descr="92a6d22e61379c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8159" y="3422904"/>
            <a:ext cx="3505200" cy="8199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58114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Apply the law. Then rewrite so that every exponent is positive.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Multiplying monomials with negative exponents.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284a92747d139e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016" y="2103120"/>
            <a:ext cx="2761488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297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with positive exponents only.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99ce65e5c8ec578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172200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58200" y="1903476"/>
            <a:ext cx="292607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multiply coefficients; add exponents</a:t>
            </a:r>
          </a:p>
        </p:txBody>
      </p:sp>
      <p:pic>
        <p:nvPicPr>
          <p:cNvPr id="11" name="Picture 10" descr="52caabd3337864a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18232"/>
            <a:ext cx="2816352" cy="883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102352" y="2831592"/>
            <a:ext cx="628192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move y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-2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down; the 12 and the x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stay 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12x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/y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26181856cce005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79" y="2194560"/>
            <a:ext cx="3108960" cy="515112"/>
          </a:xfrm>
          <a:prstGeom prst="rect">
            <a:avLst/>
          </a:prstGeom>
        </p:spPr>
      </p:pic>
    </p:spTree>
  </p:cSld>
  <p:clrMapOvr>
    <a:masterClrMapping/>
  </p:clrMapOvr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6f4e119bf12e311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79" y="2194560"/>
            <a:ext cx="3108960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32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 · a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b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47260" y="471220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5fcfdcd223fa61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499" y="4480560"/>
            <a:ext cx="746760" cy="1011936"/>
          </a:xfrm>
          <a:prstGeom prst="rect">
            <a:avLst/>
          </a:prstGeom>
        </p:spPr>
      </p:pic>
    </p:spTree>
  </p:cSld>
  <p:clrMapOvr>
    <a:masterClrMapping/>
  </p:clrMapOvr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Several laws in one expression — the state guide's item.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061639b8c49f6a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2099" y="2103120"/>
            <a:ext cx="1417320" cy="807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13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with positive exponents only.</a:t>
            </a:r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dc62f1bbbc7a81f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965704" cy="816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51704" y="2100072"/>
            <a:ext cx="613257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raise every factor: a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, 4, b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-7</a:t>
            </a:r>
          </a:p>
        </p:txBody>
      </p:sp>
      <p:pic>
        <p:nvPicPr>
          <p:cNvPr id="11" name="Picture 10" descr="d55cada8037b336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011423"/>
            <a:ext cx="1399032" cy="8077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85032" y="3186683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4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5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= 1,024; b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-35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moves up as b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35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15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b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/1,024</a:t>
            </a:r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c42f4571630d50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3792" y="2194560"/>
            <a:ext cx="1773936" cy="1112520"/>
          </a:xfrm>
          <a:prstGeom prst="rect">
            <a:avLst/>
          </a:prstGeom>
        </p:spPr>
      </p:pic>
    </p:spTree>
  </p:cSld>
  <p:clrMapOvr>
    <a:masterClrMapping/>
  </p:clrMapOvr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195018b9c2dda3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267" y="2194560"/>
            <a:ext cx="1776984" cy="1112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627119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x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27y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-6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then move the y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52772" y="472592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3636f909b16359d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3011" y="4480560"/>
            <a:ext cx="935736" cy="1039368"/>
          </a:xfrm>
          <a:prstGeom prst="rect">
            <a:avLst/>
          </a:prstGeom>
        </p:spPr>
      </p:pic>
    </p:spTree>
  </p:cSld>
  <p:clrMapOvr>
    <a:masterClrMapping/>
  </p:clrMapOvr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49cdf5a8f688d8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7859" y="2194560"/>
            <a:ext cx="685800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6299b72688be4f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7859" y="2103120"/>
            <a:ext cx="685800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111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reciprocal of x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1372" y="4853939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f4033d6f9e46bb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1611" y="4663440"/>
            <a:ext cx="478536" cy="929640"/>
          </a:xfrm>
          <a:prstGeom prst="rect">
            <a:avLst/>
          </a:prstGeom>
        </p:spPr>
      </p:pic>
    </p:spTree>
  </p:cSld>
  <p:clrMapOvr>
    <a:masterClrMapping/>
  </p:clrMapOvr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70a7739fb79464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2620" y="2194560"/>
            <a:ext cx="716280" cy="1036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9" name="Picture 8" descr="1b19adcea2f05b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4144" y="2103120"/>
            <a:ext cx="713232" cy="10332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41071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power moves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08804" y="465277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666f79c957ad2d7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9044" y="4663440"/>
            <a:ext cx="423672" cy="527304"/>
          </a:xfrm>
          <a:prstGeom prst="rect">
            <a:avLst/>
          </a:prstGeom>
        </p:spPr>
      </p:pic>
    </p:spTree>
  </p:cSld>
  <p:clrMapOvr>
    <a:masterClrMapping/>
  </p:clrMapOvr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48860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brightness of a lamp from  </a:t>
            </a:r>
          </a:p>
        </p:txBody>
      </p:sp>
      <p:pic>
        <p:nvPicPr>
          <p:cNvPr id="10" name="Picture 9" descr="36ab662f01dc4d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3323" y="2005584"/>
            <a:ext cx="158496" cy="1493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41819" y="1851660"/>
            <a:ext cx="27781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meters away is  </a:t>
            </a:r>
          </a:p>
        </p:txBody>
      </p:sp>
      <p:pic>
        <p:nvPicPr>
          <p:cNvPr id="12" name="Picture 11" descr="47fe29c90fa7b53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2847" y="1940052"/>
            <a:ext cx="585216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368063" y="1851660"/>
            <a:ext cx="12516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units.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lamp is 15 centimeters tall.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bright is the lamp from 2 meters away?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48860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brightness of a lamp from  </a:t>
            </a:r>
          </a:p>
        </p:txBody>
      </p:sp>
      <p:pic>
        <p:nvPicPr>
          <p:cNvPr id="10" name="Picture 9" descr="36ab662f01dc4d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3323" y="2005584"/>
            <a:ext cx="158496" cy="1493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41819" y="1851660"/>
            <a:ext cx="27781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meters away is  </a:t>
            </a:r>
          </a:p>
        </p:txBody>
      </p:sp>
      <p:pic>
        <p:nvPicPr>
          <p:cNvPr id="12" name="Picture 11" descr="69ad6c7cdf468fd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2847" y="1940052"/>
            <a:ext cx="588264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371111" y="1851660"/>
            <a:ext cx="12516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units.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lamp is 15 centimeters tall.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bright is the lamp from 2 meters away?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656804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 ·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3 over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91100" y="481584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8" name="Picture 17" descr="c414c4c741c779c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1340" y="4663440"/>
            <a:ext cx="259080" cy="853440"/>
          </a:xfrm>
          <a:prstGeom prst="rect">
            <a:avLst/>
          </a:prstGeom>
        </p:spPr>
      </p:pic>
    </p:spTree>
  </p:cSld>
  <p:clrMapOvr>
    <a:masterClrMapping/>
  </p:clrMapOvr>
</p:sld>
</file>

<file path=ppt/slides/slide2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42962fa6a8bfc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4103" y="2194560"/>
            <a:ext cx="1353312" cy="5303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positive exponents.</a:t>
            </a:r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c896e7a3b1e79b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2580" y="2103120"/>
            <a:ext cx="1356360" cy="5242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90169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both factors move down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9536" y="490423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f532a74f60c6ce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9776" y="4663440"/>
            <a:ext cx="902208" cy="1030224"/>
          </a:xfrm>
          <a:prstGeom prst="rect">
            <a:avLst/>
          </a:prstGeom>
        </p:spPr>
      </p:pic>
    </p:spTree>
  </p:cSld>
  <p:clrMapOvr>
    <a:masterClrMapping/>
  </p:clrMapOvr>
</p:sld>
</file>

<file path=ppt/slides/slide2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950663683f0a3a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480" y="2194560"/>
            <a:ext cx="1432560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529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088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1b7d9d459c2854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6004" y="2103120"/>
            <a:ext cx="1429512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614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1/x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1944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1/x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cd9c5622a19be9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8383" y="2194560"/>
            <a:ext cx="1444752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413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4/x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1/(4x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9927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1768e3b0aaa3b8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6859" y="2103120"/>
            <a:ext cx="1447800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4987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4/x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1/(4x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4/x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0783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4/x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61aec65184b6be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007" y="2194560"/>
            <a:ext cx="603504" cy="1005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with a positive exponent.</a:t>
            </a:r>
          </a:p>
        </p:txBody>
      </p:sp>
    </p:spTree>
  </p:cSld>
  <p:clrMapOvr>
    <a:masterClrMapping/>
  </p:clrMapOvr>
</p:sld>
</file>

<file path=ppt/slides/slide2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00d9c35b01c5d1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2055" y="2103120"/>
            <a:ext cx="597408" cy="1005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38327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m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— then rewrite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18888" y="485546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a74f00062d590b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9127" y="4663440"/>
            <a:ext cx="603504" cy="932688"/>
          </a:xfrm>
          <a:prstGeom prst="rect">
            <a:avLst/>
          </a:prstGeom>
        </p:spPr>
      </p:pic>
    </p:spTree>
  </p:cSld>
  <p:clrMapOvr>
    <a:masterClrMapping/>
  </p:clrMapOvr>
</p:sld>
</file>

<file path=ppt/slides/slide2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4343" y="2171700"/>
            <a:ext cx="3047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the value of </a:t>
            </a:r>
          </a:p>
        </p:txBody>
      </p:sp>
      <p:pic>
        <p:nvPicPr>
          <p:cNvPr id="10" name="Picture 9" descr="ce9b607ea85ce7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4716" y="2308860"/>
            <a:ext cx="19202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6740" y="217170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</a:t>
            </a:r>
          </a:p>
        </p:txBody>
      </p:sp>
      <p:pic>
        <p:nvPicPr>
          <p:cNvPr id="12" name="Picture 11" descr="768d523c6bd8c0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5212" y="2912364"/>
            <a:ext cx="1911095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Which law applies?</a:t>
            </a:r>
          </a:p>
        </p:txBody>
      </p:sp>
    </p:spTree>
  </p:cSld>
  <p:clrMapOvr>
    <a:masterClrMapping/>
  </p:clrMapOvr>
</p:sld>
</file>

<file path=ppt/slides/slide2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4343" y="2080260"/>
            <a:ext cx="3047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the value of </a:t>
            </a:r>
          </a:p>
        </p:txBody>
      </p:sp>
      <p:pic>
        <p:nvPicPr>
          <p:cNvPr id="10" name="Picture 9" descr="ce9b607ea85ce7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4716" y="2217420"/>
            <a:ext cx="19202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6740" y="208026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</a:t>
            </a:r>
          </a:p>
        </p:txBody>
      </p:sp>
      <p:pic>
        <p:nvPicPr>
          <p:cNvPr id="12" name="Picture 11" descr="06d7fcaebeec005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3687" y="2820924"/>
            <a:ext cx="1914144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28800" y="35204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−5 + n =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 = 7</a:t>
            </a:r>
          </a:p>
        </p:txBody>
      </p:sp>
    </p:spTree>
  </p:cSld>
  <p:clrMapOvr>
    <a:masterClrMapping/>
  </p:clrMapOvr>
</p:sld>
</file>

<file path=ppt/slides/slide2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6774" y="2171700"/>
            <a:ext cx="17572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are  </a:t>
            </a:r>
          </a:p>
        </p:txBody>
      </p:sp>
      <p:pic>
        <p:nvPicPr>
          <p:cNvPr id="10" name="Picture 9" descr="cc078cbc81823c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6899" y="2228088"/>
            <a:ext cx="344424" cy="344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71323" y="2171700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d31e0d14216148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3030" y="2228088"/>
            <a:ext cx="539496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82526" y="2171700"/>
            <a:ext cx="17093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related?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65540" y="2857500"/>
            <a:ext cx="70138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Explain, and give the value of each when  </a:t>
            </a:r>
          </a:p>
        </p:txBody>
      </p:sp>
      <p:pic>
        <p:nvPicPr>
          <p:cNvPr id="15" name="Picture 14" descr="118dd4b796dc85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2208" y="2945892"/>
            <a:ext cx="783336" cy="280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25544" y="285750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Use the word reciprocal.</a:t>
            </a:r>
          </a:p>
        </p:txBody>
      </p:sp>
    </p:spTree>
  </p:cSld>
  <p:clrMapOvr>
    <a:masterClrMapping/>
  </p:clrMapOvr>
</p:sld>
</file>

<file path=ppt/slides/slide2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6774" y="2080260"/>
            <a:ext cx="17572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are  </a:t>
            </a:r>
          </a:p>
        </p:txBody>
      </p:sp>
      <p:pic>
        <p:nvPicPr>
          <p:cNvPr id="10" name="Picture 9" descr="3da309422df21a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6899" y="2136648"/>
            <a:ext cx="344424" cy="344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71323" y="2080260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50a3dff9085ab5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3030" y="2136648"/>
            <a:ext cx="539496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82526" y="2080260"/>
            <a:ext cx="17093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related?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64016" y="2766060"/>
            <a:ext cx="70138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Explain, and give the value of each when  </a:t>
            </a:r>
          </a:p>
        </p:txBody>
      </p:sp>
      <p:pic>
        <p:nvPicPr>
          <p:cNvPr id="15" name="Picture 14" descr="2cebf16dedade3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0684" y="2854452"/>
            <a:ext cx="786384" cy="280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27068" y="276606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5204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reciprocals: 8 and 1/8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is the reciprocal of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. When x = 2: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8 and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1/8.</a:t>
            </a:r>
          </a:p>
        </p:txBody>
      </p:sp>
    </p:spTree>
  </p:cSld>
  <p:clrMapOvr>
    <a:masterClrMapping/>
  </p:clrMapOvr>
</p:sld>
</file>

<file path=ppt/slides/slide2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2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Variables with negative exponents — 2NL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Multiply and divide powers: variable bases — 85P</a:t>
            </a:r>
          </a:p>
        </p:txBody>
      </p:sp>
    </p:spTree>
  </p:cSld>
  <p:clrMapOvr>
    <a:masterClrMapping/>
  </p:clrMapOvr>
</p:sld>
</file>

<file path=ppt/slides/slide2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Writing Large Numbers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write a large number in scientific notation, read one back into standard form, and find how many times larger one number is than another.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the exponent laws finished — numbers and letters.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they go to work on twenty-digit numbers.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5670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Rewrite with a positive exponent:  </a:t>
            </a:r>
          </a:p>
        </p:txBody>
      </p:sp>
      <p:pic>
        <p:nvPicPr>
          <p:cNvPr id="10" name="Picture 9" descr="1f7555b99367de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8353" y="1850136"/>
            <a:ext cx="585216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37286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2" name="Picture 11" descr="1a29715e972685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433828"/>
            <a:ext cx="774192" cy="3352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2985516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4" name="Picture 13" descr="dcb33f053a4bb3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3009900"/>
            <a:ext cx="853440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598164"/>
            <a:ext cx="59976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In 4,500,000, which place is the 4 in?</a:t>
            </a:r>
          </a:p>
        </p:txBody>
      </p:sp>
    </p:spTree>
  </p:cSld>
  <p:clrMapOvr>
    <a:masterClrMapping/>
  </p:clrMapOvr>
</p:sld>
</file>

<file path=ppt/slides/slide2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5670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Rewrite with a positive exponent:  </a:t>
            </a:r>
          </a:p>
        </p:txBody>
      </p:sp>
      <p:pic>
        <p:nvPicPr>
          <p:cNvPr id="10" name="Picture 9" descr="1f7555b99367de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8353" y="1850136"/>
            <a:ext cx="585216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542209" y="1760220"/>
            <a:ext cx="7698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4/x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37286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3" name="Picture 12" descr="1a29715e972685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433828"/>
            <a:ext cx="774192" cy="335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25131" y="2372868"/>
            <a:ext cx="24264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2300" b="1" i="0">
                <a:solidFill>
                  <a:srgbClr val="9E1B32"/>
                </a:solidFill>
                <a:latin typeface="Century Schoolbook"/>
              </a:rPr>
              <a:t> = 1,000,000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985516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6" name="Picture 15" descr="dcb33f053a4bb3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3009900"/>
            <a:ext cx="853440" cy="4084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04379" y="2985516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598164"/>
            <a:ext cx="59976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In 4,500,000, which place is the 4 in?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3604" y="3598164"/>
            <a:ext cx="15117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millions</a:t>
            </a:r>
          </a:p>
        </p:txBody>
      </p:sp>
    </p:spTree>
  </p:cSld>
  <p:clrMapOvr>
    <a:masterClrMapping/>
  </p:clrMapOvr>
</p:sld>
</file>

<file path=ppt/slides/slide2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Powers of ten name the places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142999" y="2340864"/>
          <a:ext cx="987552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100,000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1,000,000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987552" y="340156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The exponent counts the zeros — and names the place of the 1.</a:t>
            </a:r>
          </a:p>
        </p:txBody>
      </p:sp>
    </p:spTree>
  </p:cSld>
  <p:clrMapOvr>
    <a:masterClrMapping/>
  </p:clrMapOvr>
</p:sld>
</file>

<file path=ppt/slides/slide2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Scientific notation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ca362daa5aca82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8840" y="2403348"/>
            <a:ext cx="1124712" cy="2865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73552" y="2318004"/>
            <a:ext cx="15248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with   </a:t>
            </a:r>
          </a:p>
        </p:txBody>
      </p:sp>
      <p:pic>
        <p:nvPicPr>
          <p:cNvPr id="12" name="Picture 11" descr="24588923a2e4111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1247" y="2388108"/>
            <a:ext cx="1551432" cy="316992"/>
          </a:xfrm>
          <a:prstGeom prst="rect">
            <a:avLst/>
          </a:prstGeom>
        </p:spPr>
      </p:pic>
      <p:pic>
        <p:nvPicPr>
          <p:cNvPr id="13" name="Picture 12" descr="8e6cc14ac5e4614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8388" y="3031236"/>
            <a:ext cx="3136392" cy="402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304780" y="300380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5" name="Picture 14" descr="067fcc93f2b9d5f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0771" y="3037332"/>
            <a:ext cx="3642360" cy="3901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377647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The coefficient is at least 1 and less than 10: one nonzero digit before the decimal point.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498348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The exponent is how many places the decimal point moves: 26,000,000. → 2.6, seven places, so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7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2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How many times larger?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8462689543fb1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7320" y="2348484"/>
            <a:ext cx="2103120" cy="8107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70440" y="2525268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23b76398c3e7acd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6431" y="2340864"/>
            <a:ext cx="3477768" cy="826008"/>
          </a:xfrm>
          <a:prstGeom prst="rect">
            <a:avLst/>
          </a:prstGeom>
        </p:spPr>
      </p:pic>
      <p:pic>
        <p:nvPicPr>
          <p:cNvPr id="13" name="Picture 12" descr="a006e1f5dbf8305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2316" y="3441192"/>
            <a:ext cx="4056888" cy="8260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60552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Divide the coefficients. Divide the powers of 10. Multiply the two results.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5337047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On a screen, 8.4E6 means 8.4 ×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6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2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Standard form to scientific notation.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In 2018, funding for education in Florida totaled 30,100,000,000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715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Express this value in scientific notation.</a:t>
            </a:r>
          </a:p>
        </p:txBody>
      </p:sp>
    </p:spTree>
  </p:cSld>
  <p:clrMapOvr>
    <a:masterClrMapping/>
  </p:clrMapOvr>
</p:sld>
</file>

<file path=ppt/slides/slide2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c33cd551852111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703064" cy="3992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89064" y="1891284"/>
            <a:ext cx="439521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 3 is in the ten-billions place</a:t>
            </a:r>
          </a:p>
        </p:txBody>
      </p:sp>
      <p:pic>
        <p:nvPicPr>
          <p:cNvPr id="11" name="Picture 10" descr="826a198efbf96ee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93848"/>
            <a:ext cx="6544056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830056" y="2532887"/>
            <a:ext cx="2554223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3.01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10</a:t>
            </a:r>
          </a:p>
        </p:txBody>
      </p:sp>
    </p:spTree>
  </p:cSld>
  <p:clrMapOvr>
    <a:masterClrMapping/>
  </p:clrMapOvr>
</p:sld>
</file>

<file path=ppt/slides/slide2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painting sold for 110,500,000 dollars.  Write this value in scientific notation.</a:t>
            </a:r>
          </a:p>
        </p:txBody>
      </p:sp>
    </p:spTree>
  </p:cSld>
  <p:clrMapOvr>
    <a:masterClrMapping/>
  </p:clrMapOvr>
</p:sld>
</file>

<file path=ppt/slides/slide2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painting sold for 110,500,000 dollars.  Write this value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6302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1 is in the hundred-millions place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1.105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8</a:t>
            </a:r>
          </a:p>
        </p:txBody>
      </p:sp>
    </p:spTree>
  </p:cSld>
  <p:clrMapOvr>
    <a:masterClrMapping/>
  </p:clrMapOvr>
</p:sld>
</file>

<file path=ppt/slides/slide2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How many times larger?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88167" y="208026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4dc6640317f68a2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9072" y="2133599"/>
            <a:ext cx="1405128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14200" y="208026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a7f651d263392d9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3252" y="2136648"/>
            <a:ext cx="1414272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147524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</p:spTree>
  </p:cSld>
  <p:clrMapOvr>
    <a:masterClrMapping/>
  </p:clrMapOvr>
</p:sld>
</file>

<file path=ppt/slides/slide2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ea7fbd33ef479e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438656" cy="6918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24656" y="2037588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coefficients</a:t>
            </a:r>
          </a:p>
        </p:txBody>
      </p:sp>
      <p:pic>
        <p:nvPicPr>
          <p:cNvPr id="11" name="Picture 10" descr="ecf3b7ddda2003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86456"/>
            <a:ext cx="2386584" cy="8077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72583" y="3061716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powers of 10: subtract the exponents</a:t>
            </a:r>
          </a:p>
        </p:txBody>
      </p:sp>
      <p:pic>
        <p:nvPicPr>
          <p:cNvPr id="13" name="Picture 12" descr="8a1e664f4b4116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968496"/>
            <a:ext cx="2026920" cy="2895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312920" y="3884675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multiply the two results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71525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15 times larger</a:t>
            </a:r>
          </a:p>
        </p:txBody>
      </p:sp>
    </p:spTree>
  </p:cSld>
  <p:clrMapOvr>
    <a:masterClrMapping/>
  </p:clrMapOvr>
</p:sld>
</file>

<file path=ppt/slides/slide2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04952" y="2185415"/>
            <a:ext cx="39239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Everglades alligators:  </a:t>
            </a:r>
          </a:p>
        </p:txBody>
      </p:sp>
      <p:pic>
        <p:nvPicPr>
          <p:cNvPr id="10" name="Picture 9" descr="b3b23388699e71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1775" y="2194560"/>
            <a:ext cx="1764792" cy="43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24165" y="2945892"/>
            <a:ext cx="33160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Florida alligators:  </a:t>
            </a:r>
          </a:p>
        </p:txBody>
      </p:sp>
      <p:pic>
        <p:nvPicPr>
          <p:cNvPr id="12" name="Picture 11" descr="33ace73c84f9ae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42" y="2953512"/>
            <a:ext cx="1734312" cy="441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37155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About how many times larger is the Florida number?</a:t>
            </a:r>
          </a:p>
        </p:txBody>
      </p:sp>
    </p:spTree>
  </p:cSld>
  <p:clrMapOvr>
    <a:masterClrMapping/>
  </p:clrMapOvr>
</p:sld>
</file>

<file path=ppt/slides/slide2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04952" y="2186940"/>
            <a:ext cx="39239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Everglades alligators:  </a:t>
            </a:r>
          </a:p>
        </p:txBody>
      </p:sp>
      <p:pic>
        <p:nvPicPr>
          <p:cNvPr id="10" name="Picture 9" descr="9213e17c268194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1775" y="2194560"/>
            <a:ext cx="1764792" cy="441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24165" y="2948940"/>
            <a:ext cx="33160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Florida alligators:  </a:t>
            </a:r>
          </a:p>
        </p:txBody>
      </p:sp>
      <p:pic>
        <p:nvPicPr>
          <p:cNvPr id="12" name="Picture 11" descr="c0aa154a2b895b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42" y="2956560"/>
            <a:ext cx="1734312" cy="441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3718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About how many times larger is the Florida number?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2576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0.75 × 10 = 7.5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97963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about 7.5 times larger</a:t>
            </a:r>
          </a:p>
        </p:txBody>
      </p:sp>
    </p:spTree>
  </p:cSld>
  <p:clrMapOvr>
    <a:masterClrMapping/>
  </p:clrMapOvr>
</p:sld>
</file>

<file path=ppt/slides/slide2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 4,000,000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Which place is the 4 in?</a:t>
            </a:r>
          </a:p>
        </p:txBody>
      </p:sp>
    </p:spTree>
  </p:cSld>
  <p:clrMapOvr>
    <a:masterClrMapping/>
  </p:clrMapOvr>
</p:sld>
</file>

<file path=ppt/slides/slide2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 4,000,000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7237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 millions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4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30641" y="2171700"/>
            <a:ext cx="13110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10" name="Picture 9" descr="5f1494d210188d7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4522" y="2225040"/>
            <a:ext cx="1429512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34034" y="2171700"/>
            <a:ext cx="32340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 standard form.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Move the point four places.</a:t>
            </a:r>
          </a:p>
        </p:txBody>
      </p:sp>
    </p:spTree>
  </p:cSld>
  <p:clrMapOvr>
    <a:masterClrMapping/>
  </p:clrMapOvr>
</p:sld>
</file>

<file path=ppt/slides/slide2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32165" y="2080260"/>
            <a:ext cx="13110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10" name="Picture 9" descr="52d884c0ec37c95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6046" y="2132076"/>
            <a:ext cx="1426464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32510" y="2080260"/>
            <a:ext cx="32340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 standard form.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7.2 × 10,000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72,000</a:t>
            </a:r>
          </a:p>
        </p:txBody>
      </p:sp>
    </p:spTree>
  </p:cSld>
  <p:clrMapOvr>
    <a:masterClrMapping/>
  </p:clrMapOvr>
</p:sld>
</file>

<file path=ppt/slides/slide2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stadium's renovation used  356,000  bolts.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stadium seats 71,000 people.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Write the number of bolts in scientific notation.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stadium's renovation used  356,000  bolts.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stadium seats 71,000 people.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Write the number of bolts in scientific notation.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58325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3.56 hundred-thousands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3.56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2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496" y="2171700"/>
            <a:ext cx="3166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Which is greater,  </a:t>
            </a:r>
          </a:p>
        </p:txBody>
      </p:sp>
      <p:pic>
        <p:nvPicPr>
          <p:cNvPr id="10" name="Picture 9" descr="1ab45d017fce8a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5398" y="2223516"/>
            <a:ext cx="1411224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46622" y="2171700"/>
            <a:ext cx="9298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or  </a:t>
            </a:r>
          </a:p>
        </p:txBody>
      </p:sp>
      <p:pic>
        <p:nvPicPr>
          <p:cNvPr id="12" name="Picture 11" descr="d99a9851995ad56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9308" y="2223516"/>
            <a:ext cx="1389888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229196" y="217170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Look at the powers first.</a:t>
            </a:r>
          </a:p>
        </p:txBody>
      </p:sp>
    </p:spTree>
  </p:cSld>
  <p:clrMapOvr>
    <a:masterClrMapping/>
  </p:clrMapOvr>
</p:sld>
</file>

<file path=ppt/slides/slide2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496" y="2080260"/>
            <a:ext cx="3166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Which is greater,  </a:t>
            </a:r>
          </a:p>
        </p:txBody>
      </p:sp>
      <p:pic>
        <p:nvPicPr>
          <p:cNvPr id="10" name="Picture 9" descr="78380355eb5e91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5398" y="2132076"/>
            <a:ext cx="1414272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49670" y="2080260"/>
            <a:ext cx="9298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or  </a:t>
            </a:r>
          </a:p>
        </p:txBody>
      </p:sp>
      <p:pic>
        <p:nvPicPr>
          <p:cNvPr id="12" name="Picture 11" descr="7abd88142838d7c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2356" y="2132076"/>
            <a:ext cx="1386840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229196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950,000 versus 1,200,000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 52,000,000 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5.2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5.2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5.2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5525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3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 52,000,000 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5.2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B.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5.2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5.2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 — 5.2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</p:spTree>
  </p:cSld>
  <p:clrMapOvr>
    <a:masterClrMapping/>
  </p:clrMapOvr>
</p:sld>
</file>

<file path=ppt/slides/slide3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89919" y="217170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cb3383a0ac48947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824" y="2225040"/>
            <a:ext cx="1109472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20296" y="217170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136c380adf2acf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9348" y="2223516"/>
            <a:ext cx="1106424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45772" y="217170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1.6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1,000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3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88395" y="208026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f5c1556a2a4007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9300" y="2133599"/>
            <a:ext cx="1109472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18772" y="208026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e6a3bddbc4c7da8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7824" y="2132076"/>
            <a:ext cx="1109472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47296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8803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1.6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8803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5661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1,000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5661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1,000</a:t>
            </a:r>
          </a:p>
        </p:txBody>
      </p:sp>
    </p:spTree>
  </p:cSld>
  <p:clrMapOvr>
    <a:masterClrMapping/>
  </p:clrMapOvr>
</p:sld>
</file>

<file path=ppt/slides/slide3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79023" y="217170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9dfa88f60f7695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928" y="2223516"/>
            <a:ext cx="1411224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11152" y="217170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441501d81b57e0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0204" y="2225040"/>
            <a:ext cx="1426464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156668" y="217170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Coefficients, then powers, then multiply.</a:t>
            </a:r>
          </a:p>
        </p:txBody>
      </p:sp>
    </p:spTree>
  </p:cSld>
  <p:clrMapOvr>
    <a:masterClrMapping/>
  </p:clrMapOvr>
</p:sld>
</file>

<file path=ppt/slides/slide3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82071" y="208026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f4de1fd42bbb25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2976" y="2132076"/>
            <a:ext cx="1408176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11152" y="208026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f8ac844b4918206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0204" y="2132076"/>
            <a:ext cx="1423416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153620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400</a:t>
            </a:r>
          </a:p>
        </p:txBody>
      </p:sp>
    </p:spTree>
  </p:cSld>
  <p:clrMapOvr>
    <a:masterClrMapping/>
  </p:clrMapOvr>
</p:sld>
</file>

<file path=ppt/slides/slide3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computer displays a number as  3.5E9.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number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E is not an error.</a:t>
            </a:r>
          </a:p>
        </p:txBody>
      </p:sp>
    </p:spTree>
  </p:cSld>
  <p:clrMapOvr>
    <a:masterClrMapping/>
  </p:clrMapOvr>
</p:sld>
</file>

<file path=ppt/slides/slide3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computer displays a number as  3.5E9.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number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29859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3.5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3,500,000,000</a:t>
            </a:r>
          </a:p>
        </p:txBody>
      </p:sp>
    </p:spTree>
  </p:cSld>
  <p:clrMapOvr>
    <a:masterClrMapping/>
  </p:clrMapOvr>
</p:sld>
</file>

<file path=ppt/slides/slide3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94026" y="2171700"/>
            <a:ext cx="50295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Marcus writes  2,000,000  as  </a:t>
            </a:r>
          </a:p>
        </p:txBody>
      </p:sp>
      <p:pic>
        <p:nvPicPr>
          <p:cNvPr id="10" name="Picture 9" descr="8eae714437c97e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6417" y="2223516"/>
            <a:ext cx="1310640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97057" y="217170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Is his expression equal to 2,000,000? Is it scientific notation? Explain.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Use the definition.</a:t>
            </a:r>
          </a:p>
        </p:txBody>
      </p:sp>
    </p:spTree>
  </p:cSld>
  <p:clrMapOvr>
    <a:masterClrMapping/>
  </p:clrMapOvr>
</p:sld>
</file>

<file path=ppt/slides/slide3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92502" y="2080260"/>
            <a:ext cx="50295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Marcus writes  2,000,000  as  </a:t>
            </a:r>
          </a:p>
        </p:txBody>
      </p:sp>
      <p:pic>
        <p:nvPicPr>
          <p:cNvPr id="10" name="Picture 9" descr="b1be6639231b1d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4893" y="2132076"/>
            <a:ext cx="1313688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98581" y="208026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889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Is his expression equal to 2,000,000? Is it scientific notation? Explain.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35584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equal, yes — scientific notation, 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Equal, yes. Scientific notation, no: 20 is not less than 10. 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3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Convert between standard and scientific notation: large numbers — 2AL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Compare large numbers — WEZ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Powers of ten — LJQ</a:t>
            </a:r>
          </a:p>
        </p:txBody>
      </p:sp>
    </p:spTree>
  </p:cSld>
  <p:clrMapOvr>
    <a:masterClrMapping/>
  </p:clrMapOvr>
</p:sld>
</file>

<file path=ppt/slides/slide3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Writing Small Numbers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write very small numbers in scientific notation, read them back, and find how many times larger or smaller one number is than another.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the exponents on the 10 were positive.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they are negative — and the numbers get very small.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3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624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 4,300,000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372868"/>
            <a:ext cx="17005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 </a:t>
            </a:r>
          </a:p>
        </p:txBody>
      </p:sp>
      <p:pic>
        <p:nvPicPr>
          <p:cNvPr id="11" name="Picture 10" descr="fc19434018fde6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7904" y="2461260"/>
            <a:ext cx="557784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95688" y="2372868"/>
            <a:ext cx="22390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as a fraction.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985516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</a:t>
            </a:r>
          </a:p>
        </p:txBody>
      </p:sp>
      <p:pic>
        <p:nvPicPr>
          <p:cNvPr id="14" name="Picture 13" descr="c7ed55c1b213895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4171" y="3009900"/>
            <a:ext cx="688848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153019" y="2985516"/>
            <a:ext cx="58196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is between which two whole numbers?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598164"/>
            <a:ext cx="45040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 0.007  as a fraction.</a:t>
            </a:r>
          </a:p>
        </p:txBody>
      </p:sp>
    </p:spTree>
  </p:cSld>
  <p:clrMapOvr>
    <a:masterClrMapping/>
  </p:clrMapOvr>
</p:sld>
</file>

<file path=ppt/slides/slide3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624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 4,300,000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35754" y="1760220"/>
            <a:ext cx="14594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4.3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372868"/>
            <a:ext cx="17005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 </a:t>
            </a:r>
          </a:p>
        </p:txBody>
      </p:sp>
      <p:pic>
        <p:nvPicPr>
          <p:cNvPr id="12" name="Picture 11" descr="fc19434018fde6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7904" y="2461260"/>
            <a:ext cx="557784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995688" y="2372868"/>
            <a:ext cx="22390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as a fraction.</a:t>
            </a:r>
          </a:p>
        </p:txBody>
      </p:sp>
      <p:pic>
        <p:nvPicPr>
          <p:cNvPr id="14" name="Picture 13" descr="357ee64ca77eb3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6246" y="2395728"/>
            <a:ext cx="746760" cy="6004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2985516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</a:t>
            </a:r>
          </a:p>
        </p:txBody>
      </p:sp>
      <p:pic>
        <p:nvPicPr>
          <p:cNvPr id="16" name="Picture 15" descr="c7ed55c1b213895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4171" y="3009900"/>
            <a:ext cx="688848" cy="4084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153019" y="2985516"/>
            <a:ext cx="58196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is between which two whole numbers?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84153" y="2985516"/>
            <a:ext cx="1529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9 and 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598164"/>
            <a:ext cx="45040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 0.007  as a fraction.</a:t>
            </a:r>
          </a:p>
        </p:txBody>
      </p:sp>
      <p:pic>
        <p:nvPicPr>
          <p:cNvPr id="20" name="Picture 19" descr="0d671d8905812bd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0058" y="3621024"/>
            <a:ext cx="746760" cy="597408"/>
          </a:xfrm>
          <a:prstGeom prst="rect">
            <a:avLst/>
          </a:prstGeom>
        </p:spPr>
      </p:pic>
    </p:spTree>
  </p:cSld>
  <p:clrMapOvr>
    <a:masterClrMapping/>
  </p:clrMapOvr>
</p:sld>
</file>

<file path=ppt/slides/slide3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Negative powers of ten name the decimal places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142999" y="2340864"/>
          <a:ext cx="987552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-5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0.0001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0.00001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2" name="Picture 11" descr="87b97c2695b4b3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4020" y="3364991"/>
            <a:ext cx="1691640" cy="67970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25660" y="347624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4" name="Picture 13" descr="9756d439c25d70a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1651" y="3337560"/>
            <a:ext cx="3355848" cy="7345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410456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 negative exponent puts the 1 in that decimal place: 10</a:t>
            </a:r>
            <a:r>
              <a:rPr sz="2300" b="1" i="0" baseline="30000">
                <a:solidFill>
                  <a:srgbClr val="1A1A1A"/>
                </a:solidFill>
                <a:latin typeface="Century Schoolbook"/>
              </a:rPr>
              <a:t>-4</a:t>
            </a:r>
            <a:r>
              <a:rPr sz="2300" b="1" i="0">
                <a:solidFill>
                  <a:srgbClr val="1A1A1A"/>
                </a:solidFill>
                <a:latin typeface="Century Schoolbook"/>
              </a:rPr>
              <a:t> is a 1 in the fourth place.</a:t>
            </a:r>
          </a:p>
        </p:txBody>
      </p:sp>
    </p:spTree>
  </p:cSld>
  <p:clrMapOvr>
    <a:masterClrMapping/>
  </p:clrMapOvr>
</p:sld>
</file>

<file path=ppt/slides/slide3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Small numbers in scientific notation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7b164213b9232e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1792" y="2369820"/>
            <a:ext cx="3233928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05720" y="231800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a5d136b823d619f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1711" y="2369820"/>
            <a:ext cx="3938016" cy="353568"/>
          </a:xfrm>
          <a:prstGeom prst="rect">
            <a:avLst/>
          </a:prstGeom>
        </p:spPr>
      </p:pic>
      <p:pic>
        <p:nvPicPr>
          <p:cNvPr id="13" name="Picture 12" descr="40f6cd0eb0ebc8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8391" y="3058668"/>
            <a:ext cx="4364736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377647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The coefficient is still at least 1 and less than 10. The exponent is negative for a number less than 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98348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The exponent is how many places the point moves: 0.0000672 → 6.72 is five places right, so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-5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3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How many times larger — or smaller?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960a542aafe9c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4276" y="2340864"/>
            <a:ext cx="4556760" cy="822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91036" y="252374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a13ef6adfb19a5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7027" y="2340864"/>
            <a:ext cx="2490216" cy="822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502151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Divide the coefficients. Divide the powers of 10 — subtract the exponents. Multiply the results.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70916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Which is bigger,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-5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 or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-8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? The one with the larger exponent: −5 &gt; −8, so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-5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3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quantity in words, to scientific notation.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The density of oxygen is 1,332 millionths of a gram per cubic centimeter.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715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Write this value as a decimal, then in scientific notation.</a:t>
            </a:r>
          </a:p>
        </p:txBody>
      </p:sp>
    </p:spTree>
  </p:cSld>
  <p:clrMapOvr>
    <a:masterClrMapping/>
  </p:clrMapOvr>
</p:sld>
</file>

<file path=ppt/slides/slide3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3795759730f8e3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590544" cy="792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76544" y="2087880"/>
            <a:ext cx="550773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1,332 millionths, as a decimal</a:t>
            </a:r>
          </a:p>
        </p:txBody>
      </p:sp>
      <p:pic>
        <p:nvPicPr>
          <p:cNvPr id="11" name="Picture 10" descr="e86600eaee99ccc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87040"/>
            <a:ext cx="3938016" cy="35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24016" y="2933700"/>
            <a:ext cx="5160263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 1 is in the thousandths place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0.001332 = 1.332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</a:p>
        </p:txBody>
      </p:sp>
    </p:spTree>
  </p:cSld>
  <p:clrMapOvr>
    <a:masterClrMapping/>
  </p:clrMapOvr>
</p:sld>
</file>

<file path=ppt/slides/slide3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human hair is about 67 hundred-thousandths of an inch thick.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336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Write this value in scientific notation.</a:t>
            </a:r>
          </a:p>
        </p:txBody>
      </p:sp>
    </p:spTree>
  </p:cSld>
  <p:clrMapOvr>
    <a:masterClrMapping/>
  </p:clrMapOvr>
</p:sld>
</file>

<file path=ppt/slides/slide3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human hair is about 67 hundred-thousandths of an inch thick.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336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Write this value in scientific notation.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7275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0.00067 — the 6 is in the ten-thousandths place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6.7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-4</a:t>
            </a:r>
          </a:p>
        </p:txBody>
      </p:sp>
    </p:spTree>
  </p:cSld>
  <p:clrMapOvr>
    <a:masterClrMapping/>
  </p:clrMapOvr>
</p:sld>
</file>

<file path=ppt/slides/slide3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How many times larger?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99191" y="208026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ee4e609945ec82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0096" y="2133599"/>
            <a:ext cx="1621536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1632" y="208026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dee1eef8fb06ad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0684" y="2136648"/>
            <a:ext cx="1575816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336500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</p:spTree>
  </p:cSld>
  <p:clrMapOvr>
    <a:masterClrMapping/>
  </p:clrMapOvr>
</p:sld>
</file>

<file path=ppt/slides/slide3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59c7818cbaac33b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152144" cy="685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38144" y="2034540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coefficients</a:t>
            </a:r>
          </a:p>
        </p:txBody>
      </p:sp>
      <p:pic>
        <p:nvPicPr>
          <p:cNvPr id="11" name="Picture 10" descr="6b497f46afc4e7f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80360"/>
            <a:ext cx="3721608" cy="8107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07608" y="3057144"/>
            <a:ext cx="5376671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powers of 10: −4 − (−7) = 3</a:t>
            </a:r>
          </a:p>
        </p:txBody>
      </p:sp>
      <p:pic>
        <p:nvPicPr>
          <p:cNvPr id="13" name="Picture 12" descr="60571d6036a338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965448"/>
            <a:ext cx="2450592" cy="3992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36592" y="3936492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multiply the two results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193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4,000 times larger</a:t>
            </a:r>
          </a:p>
        </p:txBody>
      </p:sp>
    </p:spTree>
  </p:cSld>
  <p:clrMapOvr>
    <a:masterClrMapping/>
  </p:clrMapOvr>
</p:sld>
</file>

<file path=ppt/slides/slide3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235" y="2185415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496ffc9a205d258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0140" y="2196083"/>
            <a:ext cx="2005584" cy="4358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15724" y="2185415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a82e6bba98260e6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4776" y="2194560"/>
            <a:ext cx="2011680" cy="4389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746456" y="2185415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</p:spTree>
  </p:cSld>
  <p:clrMapOvr>
    <a:masterClrMapping/>
  </p:clrMapOvr>
</p:sld>
</file>

<file path=ppt/slides/slide3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7711" y="2183892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2496b86a473803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8616" y="2194560"/>
            <a:ext cx="2008632" cy="4358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17248" y="2183892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8ceadc81776217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6300" y="2194560"/>
            <a:ext cx="2011680" cy="4358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747980" y="2183892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95046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200,000 times larger</a:t>
            </a:r>
          </a:p>
        </p:txBody>
      </p:sp>
    </p:spTree>
  </p:cSld>
  <p:clrMapOvr>
    <a:masterClrMapping/>
  </p:clrMapOvr>
</p:sld>
</file>

<file path=ppt/slides/slide3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1f36aa11b2dfcf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3371" y="2194560"/>
            <a:ext cx="874776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a decimal.</a:t>
            </a:r>
          </a:p>
        </p:txBody>
      </p:sp>
    </p:spTree>
  </p:cSld>
  <p:clrMapOvr>
    <a:masterClrMapping/>
  </p:clrMapOvr>
</p:sld>
</file>

<file path=ppt/slides/slide3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043ff5c9055650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3371" y="2103120"/>
            <a:ext cx="87477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416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a 1 in the fourth decimal place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0.0001</a:t>
            </a:r>
          </a:p>
        </p:txBody>
      </p:sp>
    </p:spTree>
  </p:cSld>
  <p:clrMapOvr>
    <a:masterClrMapping/>
  </p:clrMapOvr>
</p:sld>
</file>

<file path=ppt/slides/slide3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 0.003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Which place is the 3 in?</a:t>
            </a:r>
          </a:p>
        </p:txBody>
      </p:sp>
    </p:spTree>
  </p:cSld>
  <p:clrMapOvr>
    <a:masterClrMapping/>
  </p:clrMapOvr>
</p:sld>
</file>

<file path=ppt/slides/slide3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 0.003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7237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 thousandths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</a:p>
        </p:txBody>
      </p:sp>
    </p:spTree>
  </p:cSld>
  <p:clrMapOvr>
    <a:masterClrMapping/>
  </p:clrMapOvr>
</p:sld>
</file>

<file path=ppt/slides/slide3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36153" y="2171700"/>
            <a:ext cx="13110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10" name="Picture 9" descr="f7e39139daee10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0034" y="2225040"/>
            <a:ext cx="1618488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28522" y="2171700"/>
            <a:ext cx="32340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 standard form.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Move the point four places left.</a:t>
            </a:r>
          </a:p>
        </p:txBody>
      </p:sp>
    </p:spTree>
  </p:cSld>
  <p:clrMapOvr>
    <a:masterClrMapping/>
  </p:clrMapOvr>
</p:sld>
</file>

<file path=ppt/slides/slide3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36153" y="2080260"/>
            <a:ext cx="13110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10" name="Picture 9" descr="533d0b83fdac28f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0034" y="2132076"/>
            <a:ext cx="1618488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28522" y="2080260"/>
            <a:ext cx="32340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 standard form.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2 lands in the ten-thousandths place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0.00025</a:t>
            </a:r>
          </a:p>
        </p:txBody>
      </p:sp>
    </p:spTree>
  </p:cSld>
  <p:clrMapOvr>
    <a:masterClrMapping/>
  </p:clrMapOvr>
</p:sld>
</file>

<file path=ppt/slides/slide3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machine's cutting tolerance is  0.0000988  inch.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part it cuts is 4 inches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Write the tolerance in scientific notation.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3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machine's cutting tolerance is  0.0000988  inch.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part it cuts is 4 inches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Write the tolerance in scientific notation.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58325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9 is in the hundred-thousandths place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9.88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-5</a:t>
            </a:r>
          </a:p>
        </p:txBody>
      </p:sp>
    </p:spTree>
  </p:cSld>
  <p:clrMapOvr>
    <a:masterClrMapping/>
  </p:clrMapOvr>
</p:sld>
</file>

<file path=ppt/slides/slide3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 0.00081 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5525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3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 0.00081 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8.1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-4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8.1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-4</a:t>
            </a:r>
          </a:p>
        </p:txBody>
      </p:sp>
    </p:spTree>
  </p:cSld>
  <p:clrMapOvr>
    <a:masterClrMapping/>
  </p:clrMapOvr>
</p:sld>
</file>

<file path=ppt/slides/slide3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97895" y="217170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6343b50271775d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8800" y="2225040"/>
            <a:ext cx="1298448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17248" y="217170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c3e8fbaa365da3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6300" y="2223516"/>
            <a:ext cx="1301496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037796" y="217170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3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93323" y="208026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e98b31f32f5b097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4228" y="2133599"/>
            <a:ext cx="1304544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18772" y="208026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ccaef7e81c6839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7824" y="2132076"/>
            <a:ext cx="1304544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042368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8803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300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8803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5661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5661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300</a:t>
            </a:r>
          </a:p>
        </p:txBody>
      </p:sp>
    </p:spTree>
  </p:cSld>
  <p:clrMapOvr>
    <a:masterClrMapping/>
  </p:clrMapOvr>
</p:sld>
</file>

<file path=ppt/slides/slide3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00756" y="2171700"/>
            <a:ext cx="3166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Which is greater,  </a:t>
            </a:r>
          </a:p>
        </p:txBody>
      </p:sp>
      <p:pic>
        <p:nvPicPr>
          <p:cNvPr id="10" name="Picture 9" descr="746391bb3aa389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9658" y="2223516"/>
            <a:ext cx="1600200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29858" y="2171700"/>
            <a:ext cx="9298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or  </a:t>
            </a:r>
          </a:p>
        </p:txBody>
      </p:sp>
      <p:pic>
        <p:nvPicPr>
          <p:cNvPr id="12" name="Picture 11" descr="9027aa45f8c131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2544" y="2225040"/>
            <a:ext cx="1612392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434936" y="217170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Compare the exponents first.</a:t>
            </a:r>
          </a:p>
        </p:txBody>
      </p:sp>
    </p:spTree>
  </p:cSld>
  <p:clrMapOvr>
    <a:masterClrMapping/>
  </p:clrMapOvr>
</p:sld>
</file>

<file path=ppt/slides/slide3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97708" y="2080260"/>
            <a:ext cx="3166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Which is greater,  </a:t>
            </a:r>
          </a:p>
        </p:txBody>
      </p:sp>
      <p:pic>
        <p:nvPicPr>
          <p:cNvPr id="10" name="Picture 9" descr="df917c83e179d4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6610" y="2132076"/>
            <a:ext cx="1606296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32906" y="2080260"/>
            <a:ext cx="9298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or  </a:t>
            </a:r>
          </a:p>
        </p:txBody>
      </p:sp>
      <p:pic>
        <p:nvPicPr>
          <p:cNvPr id="12" name="Picture 11" descr="1a294302f9ade9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5592" y="2133599"/>
            <a:ext cx="1612392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437984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−5 &gt; −8, so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-5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is the larger power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3.9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-5</a:t>
            </a:r>
          </a:p>
        </p:txBody>
      </p:sp>
    </p:spTree>
  </p:cSld>
  <p:clrMapOvr>
    <a:masterClrMapping/>
  </p:clrMapOvr>
</p:sld>
</file>

<file path=ppt/slides/slide3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computer displays a number as  4.2E−6.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number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E−6 means × 10</a:t>
            </a:r>
            <a:r>
              <a:rPr sz="1900" b="0" i="1" baseline="30000">
                <a:solidFill>
                  <a:srgbClr val="6B6B6B"/>
                </a:solidFill>
                <a:latin typeface="Century Schoolbook"/>
              </a:rPr>
              <a:t>-6</a:t>
            </a:r>
            <a:r>
              <a:rPr sz="1900" b="0" i="1">
                <a:solidFill>
                  <a:srgbClr val="6B6B6B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3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computer displays a number as  4.2E−6.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number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29859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4.2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0.0000042</a:t>
            </a:r>
          </a:p>
        </p:txBody>
      </p:sp>
    </p:spTree>
  </p:cSld>
  <p:clrMapOvr>
    <a:masterClrMapping/>
  </p:clrMapOvr>
</p:sld>
</file>

<file path=ppt/slides/slide3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7665" y="2171700"/>
            <a:ext cx="3062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Fishing line A is  </a:t>
            </a:r>
          </a:p>
        </p:txBody>
      </p:sp>
      <p:pic>
        <p:nvPicPr>
          <p:cNvPr id="10" name="Picture 9" descr="24f5c2a7f64db6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3499" y="2226564"/>
            <a:ext cx="1313688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17187" y="2171700"/>
            <a:ext cx="21038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inch thick.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9189" y="2857500"/>
            <a:ext cx="3062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Fishing line B is  </a:t>
            </a:r>
          </a:p>
        </p:txBody>
      </p:sp>
      <p:pic>
        <p:nvPicPr>
          <p:cNvPr id="13" name="Picture 12" descr="66c17032647eb85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5023" y="2912364"/>
            <a:ext cx="1310640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15663" y="2857500"/>
            <a:ext cx="21038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inch thick.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661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Which is thicker, and how many times? Name a thickness between them.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Same power of 10 — compare the coefficients.</a:t>
            </a:r>
          </a:p>
        </p:txBody>
      </p:sp>
    </p:spTree>
  </p:cSld>
  <p:clrMapOvr>
    <a:masterClrMapping/>
  </p:clrMapOvr>
</p:sld>
</file>

<file path=ppt/slides/slide3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6141" y="2080260"/>
            <a:ext cx="3062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Fishing line A is  </a:t>
            </a:r>
          </a:p>
        </p:txBody>
      </p:sp>
      <p:pic>
        <p:nvPicPr>
          <p:cNvPr id="10" name="Picture 9" descr="77a4d57c92c152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1975" y="2135124"/>
            <a:ext cx="1316736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18711" y="2080260"/>
            <a:ext cx="21038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inch thick.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6141" y="2766060"/>
            <a:ext cx="3062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Fishing line B is  </a:t>
            </a:r>
          </a:p>
        </p:txBody>
      </p:sp>
      <p:pic>
        <p:nvPicPr>
          <p:cNvPr id="13" name="Picture 12" descr="ecebfbd77cf00b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1975" y="2820924"/>
            <a:ext cx="1316736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18711" y="2766060"/>
            <a:ext cx="21038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inch thick.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747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Which is thicker, and how many times? Name a thickness between them.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04164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0.02 in and 0.06 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77316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B; 3 times; e.g. 4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in.</a:t>
            </a:r>
          </a:p>
        </p:txBody>
      </p:sp>
    </p:spTree>
  </p:cSld>
  <p:clrMapOvr>
    <a:masterClrMapping/>
  </p:clrMapOvr>
</p:sld>
</file>

<file path=ppt/slides/slide3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Convert between standard and scientific notation: small numbers — 85M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Compare small numbers — KDR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Powers of ten with negative exponents — SKD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