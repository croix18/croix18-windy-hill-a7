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2.xml"/><Relationship Id="rId5" Type="http://schemas.openxmlformats.org/officeDocument/2006/relationships/slide" Target="slide106.xml"/><Relationship Id="rId6" Type="http://schemas.openxmlformats.org/officeDocument/2006/relationships/slide" Target="slide140.xml"/><Relationship Id="rId7" Type="http://schemas.openxmlformats.org/officeDocument/2006/relationships/slide" Target="slide174.xml"/><Relationship Id="rId8" Type="http://schemas.openxmlformats.org/officeDocument/2006/relationships/slide" Target="slide209.xml"/><Relationship Id="rId9" Type="http://schemas.openxmlformats.org/officeDocument/2006/relationships/slide" Target="slide243.xml"/><Relationship Id="rId10" Type="http://schemas.openxmlformats.org/officeDocument/2006/relationships/slide" Target="slide277.xml"/><Relationship Id="rId11" Type="http://schemas.openxmlformats.org/officeDocument/2006/relationships/slide" Target="slide3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7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9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openxmlformats.org/officeDocument/2006/relationships/image" Target="../media/image9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10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5" Type="http://schemas.openxmlformats.org/officeDocument/2006/relationships/image" Target="../media/image11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5" Type="http://schemas.openxmlformats.org/officeDocument/2006/relationships/image" Target="../media/image11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15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18.png"/><Relationship Id="rId4" Type="http://schemas.openxmlformats.org/officeDocument/2006/relationships/image" Target="../media/image11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Relationship Id="rId3" Type="http://schemas.openxmlformats.org/officeDocument/2006/relationships/image" Target="../media/image13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Relationship Id="rId3" Type="http://schemas.openxmlformats.org/officeDocument/2006/relationships/image" Target="../media/image14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Relationship Id="rId3" Type="http://schemas.openxmlformats.org/officeDocument/2006/relationships/image" Target="../media/image151.png"/><Relationship Id="rId4" Type="http://schemas.openxmlformats.org/officeDocument/2006/relationships/image" Target="../media/image152.png"/><Relationship Id="rId5" Type="http://schemas.openxmlformats.org/officeDocument/2006/relationships/image" Target="../media/image15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Relationship Id="rId3" Type="http://schemas.openxmlformats.org/officeDocument/2006/relationships/image" Target="../media/image151.png"/><Relationship Id="rId4" Type="http://schemas.openxmlformats.org/officeDocument/2006/relationships/image" Target="../media/image152.png"/><Relationship Id="rId5" Type="http://schemas.openxmlformats.org/officeDocument/2006/relationships/image" Target="../media/image153.png"/><Relationship Id="rId6" Type="http://schemas.openxmlformats.org/officeDocument/2006/relationships/image" Target="../media/image154.png"/><Relationship Id="rId7" Type="http://schemas.openxmlformats.org/officeDocument/2006/relationships/image" Target="../media/image15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Relationship Id="rId3" Type="http://schemas.openxmlformats.org/officeDocument/2006/relationships/image" Target="../media/image157.png"/><Relationship Id="rId4" Type="http://schemas.openxmlformats.org/officeDocument/2006/relationships/image" Target="../media/image158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Relationship Id="rId3" Type="http://schemas.openxmlformats.org/officeDocument/2006/relationships/image" Target="../media/image160.png"/><Relationship Id="rId4" Type="http://schemas.openxmlformats.org/officeDocument/2006/relationships/image" Target="../media/image60.png"/><Relationship Id="rId5" Type="http://schemas.openxmlformats.org/officeDocument/2006/relationships/image" Target="../media/image161.png"/><Relationship Id="rId6" Type="http://schemas.openxmlformats.org/officeDocument/2006/relationships/image" Target="../media/image162.png"/><Relationship Id="rId7" Type="http://schemas.openxmlformats.org/officeDocument/2006/relationships/image" Target="../media/image163.png"/><Relationship Id="rId8" Type="http://schemas.openxmlformats.org/officeDocument/2006/relationships/image" Target="../media/image164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Relationship Id="rId4" Type="http://schemas.openxmlformats.org/officeDocument/2006/relationships/image" Target="../media/image167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Relationship Id="rId3" Type="http://schemas.openxmlformats.org/officeDocument/2006/relationships/image" Target="../media/image170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7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Relationship Id="rId3" Type="http://schemas.openxmlformats.org/officeDocument/2006/relationships/image" Target="../media/image176.png"/><Relationship Id="rId4" Type="http://schemas.openxmlformats.org/officeDocument/2006/relationships/image" Target="../media/image177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Relationship Id="rId3" Type="http://schemas.openxmlformats.org/officeDocument/2006/relationships/image" Target="../media/image185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Relationship Id="rId3" Type="http://schemas.openxmlformats.org/officeDocument/2006/relationships/image" Target="../media/image19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199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Relationship Id="rId3" Type="http://schemas.openxmlformats.org/officeDocument/2006/relationships/image" Target="../media/image203.png"/><Relationship Id="rId4" Type="http://schemas.openxmlformats.org/officeDocument/2006/relationships/image" Target="../media/image204.png"/><Relationship Id="rId5" Type="http://schemas.openxmlformats.org/officeDocument/2006/relationships/image" Target="../media/image205.png"/><Relationship Id="rId6" Type="http://schemas.openxmlformats.org/officeDocument/2006/relationships/image" Target="../media/image20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Relationship Id="rId3" Type="http://schemas.openxmlformats.org/officeDocument/2006/relationships/image" Target="../media/image207.png"/><Relationship Id="rId4" Type="http://schemas.openxmlformats.org/officeDocument/2006/relationships/image" Target="../media/image203.png"/><Relationship Id="rId5" Type="http://schemas.openxmlformats.org/officeDocument/2006/relationships/image" Target="../media/image208.png"/><Relationship Id="rId6" Type="http://schemas.openxmlformats.org/officeDocument/2006/relationships/image" Target="../media/image204.png"/><Relationship Id="rId7" Type="http://schemas.openxmlformats.org/officeDocument/2006/relationships/image" Target="../media/image205.png"/><Relationship Id="rId8" Type="http://schemas.openxmlformats.org/officeDocument/2006/relationships/image" Target="../media/image209.png"/><Relationship Id="rId9" Type="http://schemas.openxmlformats.org/officeDocument/2006/relationships/image" Target="../media/image206.png"/><Relationship Id="rId10" Type="http://schemas.openxmlformats.org/officeDocument/2006/relationships/image" Target="../media/image210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Relationship Id="rId3" Type="http://schemas.openxmlformats.org/officeDocument/2006/relationships/image" Target="../media/image212.png"/><Relationship Id="rId4" Type="http://schemas.openxmlformats.org/officeDocument/2006/relationships/image" Target="../media/image213.png"/><Relationship Id="rId5" Type="http://schemas.openxmlformats.org/officeDocument/2006/relationships/image" Target="../media/image214.png"/><Relationship Id="rId6" Type="http://schemas.openxmlformats.org/officeDocument/2006/relationships/image" Target="../media/image215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Relationship Id="rId3" Type="http://schemas.openxmlformats.org/officeDocument/2006/relationships/image" Target="../media/image219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Relationship Id="rId3" Type="http://schemas.openxmlformats.org/officeDocument/2006/relationships/image" Target="../media/image222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Relationship Id="rId3" Type="http://schemas.openxmlformats.org/officeDocument/2006/relationships/image" Target="../media/image2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Relationship Id="rId3" Type="http://schemas.openxmlformats.org/officeDocument/2006/relationships/image" Target="../media/image23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Relationship Id="rId3" Type="http://schemas.openxmlformats.org/officeDocument/2006/relationships/image" Target="../media/image234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Relationship Id="rId3" Type="http://schemas.openxmlformats.org/officeDocument/2006/relationships/image" Target="../media/image237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Relationship Id="rId3" Type="http://schemas.openxmlformats.org/officeDocument/2006/relationships/image" Target="../media/image24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247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Relationship Id="rId3" Type="http://schemas.openxmlformats.org/officeDocument/2006/relationships/image" Target="../media/image250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252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Relationship Id="rId3" Type="http://schemas.openxmlformats.org/officeDocument/2006/relationships/image" Target="../media/image254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Relationship Id="rId3" Type="http://schemas.openxmlformats.org/officeDocument/2006/relationships/image" Target="../media/image256.png"/><Relationship Id="rId4" Type="http://schemas.openxmlformats.org/officeDocument/2006/relationships/image" Target="../media/image257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Relationship Id="rId3" Type="http://schemas.openxmlformats.org/officeDocument/2006/relationships/image" Target="../media/image258.png"/><Relationship Id="rId4" Type="http://schemas.openxmlformats.org/officeDocument/2006/relationships/image" Target="../media/image256.png"/><Relationship Id="rId5" Type="http://schemas.openxmlformats.org/officeDocument/2006/relationships/image" Target="../media/image257.png"/><Relationship Id="rId6" Type="http://schemas.openxmlformats.org/officeDocument/2006/relationships/image" Target="../media/image259.png"/><Relationship Id="rId7" Type="http://schemas.openxmlformats.org/officeDocument/2006/relationships/image" Target="../media/image260.png"/><Relationship Id="rId8" Type="http://schemas.openxmlformats.org/officeDocument/2006/relationships/image" Target="../media/image261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Relationship Id="rId3" Type="http://schemas.openxmlformats.org/officeDocument/2006/relationships/image" Target="../media/image263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Relationship Id="rId3" Type="http://schemas.openxmlformats.org/officeDocument/2006/relationships/image" Target="../media/image265.png"/><Relationship Id="rId4" Type="http://schemas.openxmlformats.org/officeDocument/2006/relationships/image" Target="../media/image266.png"/><Relationship Id="rId5" Type="http://schemas.openxmlformats.org/officeDocument/2006/relationships/image" Target="../media/image267.png"/><Relationship Id="rId6" Type="http://schemas.openxmlformats.org/officeDocument/2006/relationships/image" Target="../media/image26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Relationship Id="rId3" Type="http://schemas.openxmlformats.org/officeDocument/2006/relationships/image" Target="../media/image270.png"/><Relationship Id="rId4" Type="http://schemas.openxmlformats.org/officeDocument/2006/relationships/image" Target="../media/image271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Relationship Id="rId3" Type="http://schemas.openxmlformats.org/officeDocument/2006/relationships/image" Target="../media/image273.png"/><Relationship Id="rId4" Type="http://schemas.openxmlformats.org/officeDocument/2006/relationships/image" Target="../media/image274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Relationship Id="rId3" Type="http://schemas.openxmlformats.org/officeDocument/2006/relationships/image" Target="../media/image27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Relationship Id="rId3" Type="http://schemas.openxmlformats.org/officeDocument/2006/relationships/image" Target="../media/image280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Relationship Id="rId3" Type="http://schemas.openxmlformats.org/officeDocument/2006/relationships/image" Target="../media/image282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Relationship Id="rId3" Type="http://schemas.openxmlformats.org/officeDocument/2006/relationships/image" Target="../media/image284.png"/><Relationship Id="rId4" Type="http://schemas.openxmlformats.org/officeDocument/2006/relationships/image" Target="../media/image285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Relationship Id="rId3" Type="http://schemas.openxmlformats.org/officeDocument/2006/relationships/image" Target="../media/image287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Relationship Id="rId3" Type="http://schemas.openxmlformats.org/officeDocument/2006/relationships/image" Target="../media/image289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Relationship Id="rId3" Type="http://schemas.openxmlformats.org/officeDocument/2006/relationships/image" Target="../media/image294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Relationship Id="rId3" Type="http://schemas.openxmlformats.org/officeDocument/2006/relationships/image" Target="../media/image297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Relationship Id="rId3" Type="http://schemas.openxmlformats.org/officeDocument/2006/relationships/image" Target="../media/image300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Relationship Id="rId3" Type="http://schemas.openxmlformats.org/officeDocument/2006/relationships/image" Target="../media/image307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Relationship Id="rId3" Type="http://schemas.openxmlformats.org/officeDocument/2006/relationships/image" Target="../media/image31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Relationship Id="rId3" Type="http://schemas.openxmlformats.org/officeDocument/2006/relationships/image" Target="../media/image312.png"/><Relationship Id="rId4" Type="http://schemas.openxmlformats.org/officeDocument/2006/relationships/image" Target="../media/image18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Relationship Id="rId3" Type="http://schemas.openxmlformats.org/officeDocument/2006/relationships/image" Target="../media/image314.png"/><Relationship Id="rId4" Type="http://schemas.openxmlformats.org/officeDocument/2006/relationships/image" Target="../media/image18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Relationship Id="rId3" Type="http://schemas.openxmlformats.org/officeDocument/2006/relationships/image" Target="../media/image316.png"/><Relationship Id="rId4" Type="http://schemas.openxmlformats.org/officeDocument/2006/relationships/image" Target="../media/image109.png"/><Relationship Id="rId5" Type="http://schemas.openxmlformats.org/officeDocument/2006/relationships/image" Target="../media/image317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Relationship Id="rId3" Type="http://schemas.openxmlformats.org/officeDocument/2006/relationships/image" Target="../media/image316.png"/><Relationship Id="rId4" Type="http://schemas.openxmlformats.org/officeDocument/2006/relationships/image" Target="../media/image109.png"/><Relationship Id="rId5" Type="http://schemas.openxmlformats.org/officeDocument/2006/relationships/image" Target="../media/image317.png"/><Relationship Id="rId6" Type="http://schemas.openxmlformats.org/officeDocument/2006/relationships/image" Target="../media/image318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Relationship Id="rId3" Type="http://schemas.openxmlformats.org/officeDocument/2006/relationships/image" Target="../media/image320.png"/><Relationship Id="rId4" Type="http://schemas.openxmlformats.org/officeDocument/2006/relationships/image" Target="../media/image321.png"/><Relationship Id="rId5" Type="http://schemas.openxmlformats.org/officeDocument/2006/relationships/image" Target="../media/image322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Relationship Id="rId3" Type="http://schemas.openxmlformats.org/officeDocument/2006/relationships/image" Target="../media/image324.png"/><Relationship Id="rId4" Type="http://schemas.openxmlformats.org/officeDocument/2006/relationships/image" Target="../media/image325.png"/><Relationship Id="rId5" Type="http://schemas.openxmlformats.org/officeDocument/2006/relationships/image" Target="../media/image326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Relationship Id="rId3" Type="http://schemas.openxmlformats.org/officeDocument/2006/relationships/image" Target="../media/image333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Relationship Id="rId3" Type="http://schemas.openxmlformats.org/officeDocument/2006/relationships/image" Target="../media/image338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Relationship Id="rId3" Type="http://schemas.openxmlformats.org/officeDocument/2006/relationships/image" Target="../media/image343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Relationship Id="rId3" Type="http://schemas.openxmlformats.org/officeDocument/2006/relationships/image" Target="../media/image346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Relationship Id="rId3" Type="http://schemas.openxmlformats.org/officeDocument/2006/relationships/image" Target="../media/image348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Relationship Id="rId3" Type="http://schemas.openxmlformats.org/officeDocument/2006/relationships/image" Target="../media/image350.png"/><Relationship Id="rId4" Type="http://schemas.openxmlformats.org/officeDocument/2006/relationships/image" Target="../media/image351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Relationship Id="rId3" Type="http://schemas.openxmlformats.org/officeDocument/2006/relationships/image" Target="../media/image354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Relationship Id="rId3" Type="http://schemas.openxmlformats.org/officeDocument/2006/relationships/image" Target="../media/image361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Relationship Id="rId3" Type="http://schemas.openxmlformats.org/officeDocument/2006/relationships/image" Target="../media/image363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Relationship Id="rId3" Type="http://schemas.openxmlformats.org/officeDocument/2006/relationships/image" Target="../media/image364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Relationship Id="rId3" Type="http://schemas.openxmlformats.org/officeDocument/2006/relationships/image" Target="../media/image366.png"/><Relationship Id="rId4" Type="http://schemas.openxmlformats.org/officeDocument/2006/relationships/image" Target="../media/image367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Relationship Id="rId3" Type="http://schemas.openxmlformats.org/officeDocument/2006/relationships/image" Target="../media/image369.png"/><Relationship Id="rId4" Type="http://schemas.openxmlformats.org/officeDocument/2006/relationships/image" Target="../media/image370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1.png"/><Relationship Id="rId3" Type="http://schemas.openxmlformats.org/officeDocument/2006/relationships/image" Target="../media/image372.png"/><Relationship Id="rId4" Type="http://schemas.openxmlformats.org/officeDocument/2006/relationships/image" Target="../media/image373.png"/><Relationship Id="rId5" Type="http://schemas.openxmlformats.org/officeDocument/2006/relationships/image" Target="../media/image37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1.png"/><Relationship Id="rId3" Type="http://schemas.openxmlformats.org/officeDocument/2006/relationships/image" Target="../media/image372.png"/><Relationship Id="rId4" Type="http://schemas.openxmlformats.org/officeDocument/2006/relationships/image" Target="../media/image373.png"/><Relationship Id="rId5" Type="http://schemas.openxmlformats.org/officeDocument/2006/relationships/image" Target="../media/image374.png"/><Relationship Id="rId6" Type="http://schemas.openxmlformats.org/officeDocument/2006/relationships/image" Target="../media/image37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6.png"/><Relationship Id="rId3" Type="http://schemas.openxmlformats.org/officeDocument/2006/relationships/image" Target="../media/image377.png"/><Relationship Id="rId4" Type="http://schemas.openxmlformats.org/officeDocument/2006/relationships/image" Target="../media/image378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Relationship Id="rId3" Type="http://schemas.openxmlformats.org/officeDocument/2006/relationships/image" Target="../media/image380.png"/><Relationship Id="rId4" Type="http://schemas.openxmlformats.org/officeDocument/2006/relationships/image" Target="../media/image381.png"/><Relationship Id="rId5" Type="http://schemas.openxmlformats.org/officeDocument/2006/relationships/image" Target="../media/image382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Relationship Id="rId3" Type="http://schemas.openxmlformats.org/officeDocument/2006/relationships/image" Target="../media/image384.png"/><Relationship Id="rId4" Type="http://schemas.openxmlformats.org/officeDocument/2006/relationships/image" Target="../media/image385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6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7.png"/><Relationship Id="rId3" Type="http://schemas.openxmlformats.org/officeDocument/2006/relationships/image" Target="../media/image388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Relationship Id="rId3" Type="http://schemas.openxmlformats.org/officeDocument/2006/relationships/image" Target="../media/image391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2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Relationship Id="rId3" Type="http://schemas.openxmlformats.org/officeDocument/2006/relationships/image" Target="../media/image394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Relationship Id="rId3" Type="http://schemas.openxmlformats.org/officeDocument/2006/relationships/image" Target="../media/image397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Relationship Id="rId3" Type="http://schemas.openxmlformats.org/officeDocument/2006/relationships/image" Target="../media/image400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Relationship Id="rId3" Type="http://schemas.openxmlformats.org/officeDocument/2006/relationships/image" Target="../media/image403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Relationship Id="rId3" Type="http://schemas.openxmlformats.org/officeDocument/2006/relationships/image" Target="../media/image406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8.png"/><Relationship Id="rId3" Type="http://schemas.openxmlformats.org/officeDocument/2006/relationships/image" Target="../media/image409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Relationship Id="rId3" Type="http://schemas.openxmlformats.org/officeDocument/2006/relationships/image" Target="../media/image416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Relationship Id="rId3" Type="http://schemas.openxmlformats.org/officeDocument/2006/relationships/image" Target="../media/image417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Relationship Id="rId3" Type="http://schemas.openxmlformats.org/officeDocument/2006/relationships/image" Target="../media/image418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Relationship Id="rId3" Type="http://schemas.openxmlformats.org/officeDocument/2006/relationships/image" Target="../media/image420.png"/><Relationship Id="rId4" Type="http://schemas.openxmlformats.org/officeDocument/2006/relationships/image" Target="../media/image421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2.png"/><Relationship Id="rId3" Type="http://schemas.openxmlformats.org/officeDocument/2006/relationships/image" Target="../media/image423.png"/><Relationship Id="rId4" Type="http://schemas.openxmlformats.org/officeDocument/2006/relationships/image" Target="../media/image424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Relationship Id="rId3" Type="http://schemas.openxmlformats.org/officeDocument/2006/relationships/image" Target="../media/image426.png"/><Relationship Id="rId4" Type="http://schemas.openxmlformats.org/officeDocument/2006/relationships/image" Target="../media/image427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Relationship Id="rId3" Type="http://schemas.openxmlformats.org/officeDocument/2006/relationships/image" Target="../media/image426.png"/><Relationship Id="rId4" Type="http://schemas.openxmlformats.org/officeDocument/2006/relationships/image" Target="../media/image427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Relationship Id="rId3" Type="http://schemas.openxmlformats.org/officeDocument/2006/relationships/image" Target="../media/image429.png"/><Relationship Id="rId4" Type="http://schemas.openxmlformats.org/officeDocument/2006/relationships/image" Target="../media/image430.png"/><Relationship Id="rId5" Type="http://schemas.openxmlformats.org/officeDocument/2006/relationships/image" Target="../media/image431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Relationship Id="rId3" Type="http://schemas.openxmlformats.org/officeDocument/2006/relationships/image" Target="../media/image433.png"/><Relationship Id="rId4" Type="http://schemas.openxmlformats.org/officeDocument/2006/relationships/image" Target="../media/image434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Relationship Id="rId3" Type="http://schemas.openxmlformats.org/officeDocument/2006/relationships/image" Target="../media/image436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7.png"/><Relationship Id="rId3" Type="http://schemas.openxmlformats.org/officeDocument/2006/relationships/image" Target="../media/image438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Relationship Id="rId3" Type="http://schemas.openxmlformats.org/officeDocument/2006/relationships/image" Target="../media/image443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4.png"/><Relationship Id="rId3" Type="http://schemas.openxmlformats.org/officeDocument/2006/relationships/image" Target="../media/image445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Relationship Id="rId3" Type="http://schemas.openxmlformats.org/officeDocument/2006/relationships/image" Target="../media/image449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0.png"/><Relationship Id="rId3" Type="http://schemas.openxmlformats.org/officeDocument/2006/relationships/image" Target="../media/image451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Relationship Id="rId3" Type="http://schemas.openxmlformats.org/officeDocument/2006/relationships/image" Target="../media/image453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4.png"/><Relationship Id="rId3" Type="http://schemas.openxmlformats.org/officeDocument/2006/relationships/image" Target="../media/image455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Relationship Id="rId3" Type="http://schemas.openxmlformats.org/officeDocument/2006/relationships/image" Target="../media/image457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8.png"/><Relationship Id="rId3" Type="http://schemas.openxmlformats.org/officeDocument/2006/relationships/image" Target="../media/image459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2.png"/><Relationship Id="rId3" Type="http://schemas.openxmlformats.org/officeDocument/2006/relationships/image" Target="../media/image463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2.png"/><Relationship Id="rId3" Type="http://schemas.openxmlformats.org/officeDocument/2006/relationships/image" Target="../media/image464.png"/><Relationship Id="rId4" Type="http://schemas.openxmlformats.org/officeDocument/2006/relationships/image" Target="../media/image463.png"/><Relationship Id="rId5" Type="http://schemas.openxmlformats.org/officeDocument/2006/relationships/image" Target="../media/image465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6.png"/><Relationship Id="rId3" Type="http://schemas.openxmlformats.org/officeDocument/2006/relationships/image" Target="../media/image467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8.png"/><Relationship Id="rId3" Type="http://schemas.openxmlformats.org/officeDocument/2006/relationships/image" Target="../media/image469.png"/><Relationship Id="rId4" Type="http://schemas.openxmlformats.org/officeDocument/2006/relationships/image" Target="../media/image470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Relationship Id="rId3" Type="http://schemas.openxmlformats.org/officeDocument/2006/relationships/image" Target="../media/image472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3.png"/><Relationship Id="rId3" Type="http://schemas.openxmlformats.org/officeDocument/2006/relationships/image" Target="../media/image474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5.png"/><Relationship Id="rId3" Type="http://schemas.openxmlformats.org/officeDocument/2006/relationships/image" Target="../media/image476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7.png"/><Relationship Id="rId3" Type="http://schemas.openxmlformats.org/officeDocument/2006/relationships/image" Target="../media/image478.png"/><Relationship Id="rId4" Type="http://schemas.openxmlformats.org/officeDocument/2006/relationships/image" Target="../media/image479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0.png"/><Relationship Id="rId3" Type="http://schemas.openxmlformats.org/officeDocument/2006/relationships/image" Target="../media/image481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2.png"/><Relationship Id="rId3" Type="http://schemas.openxmlformats.org/officeDocument/2006/relationships/image" Target="../media/image483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5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6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Relationship Id="rId3" Type="http://schemas.openxmlformats.org/officeDocument/2006/relationships/image" Target="../media/image489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0.png"/><Relationship Id="rId3" Type="http://schemas.openxmlformats.org/officeDocument/2006/relationships/image" Target="../media/image491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2.png"/><Relationship Id="rId3" Type="http://schemas.openxmlformats.org/officeDocument/2006/relationships/image" Target="../media/image493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4.png"/><Relationship Id="rId3" Type="http://schemas.openxmlformats.org/officeDocument/2006/relationships/image" Target="../media/image495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Relationship Id="rId3" Type="http://schemas.openxmlformats.org/officeDocument/2006/relationships/image" Target="../media/image497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Relationship Id="rId3" Type="http://schemas.openxmlformats.org/officeDocument/2006/relationships/image" Target="../media/image499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 i="0">
                <a:solidFill>
                  <a:srgbClr val="1A1A1A"/>
                </a:solidFill>
                <a:latin typeface="Century Schoolbook"/>
              </a:rPr>
              <a:t>Exponents and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Ten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— Exponents and Scientific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Click a lesson to jump to it. Each lesson numbers its slides from 1, as its Teacher Edition does.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— Exponents and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3.01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3.02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sp>
        <p:nvSpPr>
          <p:cNvPr id="15" name="TextBox 14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3.03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sp>
        <p:nvSpPr>
          <p:cNvPr id="19" name="TextBox 18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72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3.04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sp>
        <p:nvSpPr>
          <p:cNvPr id="23" name="TextBox 22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106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3.05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sp>
        <p:nvSpPr>
          <p:cNvPr id="27" name="TextBox 26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140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3.06–07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sp>
        <p:nvSpPr>
          <p:cNvPr id="31" name="TextBox 30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174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hlinkClick action="ppaction://hlinksldjump" r:id="rId8"/>
          </p:cNvPr>
          <p:cNvSpPr txBox="1"/>
          <p:nvPr/>
        </p:nvSpPr>
        <p:spPr>
          <a:xfrm>
            <a:off x="1143000" y="430682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T-A1</a:t>
            </a:r>
          </a:p>
        </p:txBody>
      </p:sp>
      <p:sp>
        <p:nvSpPr>
          <p:cNvPr id="34" name="TextBox 33">
            <a:hlinkClick action="ppaction://hlinksldjump" r:id="rId8"/>
          </p:cNvPr>
          <p:cNvSpPr txBox="1"/>
          <p:nvPr/>
        </p:nvSpPr>
        <p:spPr>
          <a:xfrm>
            <a:off x="2560320" y="430682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sp>
        <p:nvSpPr>
          <p:cNvPr id="35" name="TextBox 34">
            <a:hlinkClick action="ppaction://hlinksldjump" r:id="rId8"/>
          </p:cNvPr>
          <p:cNvSpPr txBox="1"/>
          <p:nvPr/>
        </p:nvSpPr>
        <p:spPr>
          <a:xfrm>
            <a:off x="9555480" y="430682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209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143000" y="476402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hlinkClick action="ppaction://hlinksldjump" r:id="rId9"/>
          </p:cNvPr>
          <p:cNvSpPr txBox="1"/>
          <p:nvPr/>
        </p:nvSpPr>
        <p:spPr>
          <a:xfrm>
            <a:off x="1143000" y="472744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T-A2</a:t>
            </a:r>
          </a:p>
        </p:txBody>
      </p:sp>
      <p:sp>
        <p:nvSpPr>
          <p:cNvPr id="38" name="TextBox 37">
            <a:hlinkClick action="ppaction://hlinksldjump" r:id="rId9"/>
          </p:cNvPr>
          <p:cNvSpPr txBox="1"/>
          <p:nvPr/>
        </p:nvSpPr>
        <p:spPr>
          <a:xfrm>
            <a:off x="2560320" y="472744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sp>
        <p:nvSpPr>
          <p:cNvPr id="39" name="TextBox 38">
            <a:hlinkClick action="ppaction://hlinksldjump" r:id="rId9"/>
          </p:cNvPr>
          <p:cNvSpPr txBox="1"/>
          <p:nvPr/>
        </p:nvSpPr>
        <p:spPr>
          <a:xfrm>
            <a:off x="9555480" y="472744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243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43000" y="518464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hlinkClick action="ppaction://hlinksldjump" r:id="rId10"/>
          </p:cNvPr>
          <p:cNvSpPr txBox="1"/>
          <p:nvPr/>
        </p:nvSpPr>
        <p:spPr>
          <a:xfrm>
            <a:off x="1143000" y="514807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3.08</a:t>
            </a:r>
          </a:p>
        </p:txBody>
      </p:sp>
      <p:sp>
        <p:nvSpPr>
          <p:cNvPr id="42" name="TextBox 41">
            <a:hlinkClick action="ppaction://hlinksldjump" r:id="rId10"/>
          </p:cNvPr>
          <p:cNvSpPr txBox="1"/>
          <p:nvPr/>
        </p:nvSpPr>
        <p:spPr>
          <a:xfrm>
            <a:off x="2560320" y="514807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sp>
        <p:nvSpPr>
          <p:cNvPr id="43" name="TextBox 42">
            <a:hlinkClick action="ppaction://hlinksldjump" r:id="rId10"/>
          </p:cNvPr>
          <p:cNvSpPr txBox="1"/>
          <p:nvPr/>
        </p:nvSpPr>
        <p:spPr>
          <a:xfrm>
            <a:off x="9555480" y="514807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277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143000" y="560527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hlinkClick action="ppaction://hlinksldjump" r:id="rId11"/>
          </p:cNvPr>
          <p:cNvSpPr txBox="1"/>
          <p:nvPr/>
        </p:nvSpPr>
        <p:spPr>
          <a:xfrm>
            <a:off x="1143000" y="556869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3.09</a:t>
            </a:r>
          </a:p>
        </p:txBody>
      </p:sp>
      <p:sp>
        <p:nvSpPr>
          <p:cNvPr id="46" name="TextBox 45">
            <a:hlinkClick action="ppaction://hlinksldjump" r:id="rId11"/>
          </p:cNvPr>
          <p:cNvSpPr txBox="1"/>
          <p:nvPr/>
        </p:nvSpPr>
        <p:spPr>
          <a:xfrm>
            <a:off x="2560320" y="556869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sp>
        <p:nvSpPr>
          <p:cNvPr id="47" name="TextBox 46">
            <a:hlinkClick action="ppaction://hlinksldjump" r:id="rId11"/>
          </p:cNvPr>
          <p:cNvSpPr txBox="1"/>
          <p:nvPr/>
        </p:nvSpPr>
        <p:spPr>
          <a:xfrm>
            <a:off x="9555480" y="556869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311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143000" y="602589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product of powers, power of a product, power of a power and identity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took roots apart.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put powers together — and the base has to match.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2" name="Picture 11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95453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3" name="Picture 12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9446" y="2372868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and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40088" y="298551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  <p:pic>
        <p:nvPicPr>
          <p:cNvPr id="21" name="Picture 20" descr="3a92952d92bb77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3467" y="3621024"/>
            <a:ext cx="170688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three words.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is a shorthand for repeated multiplication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0392" y="232257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0487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base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number used as a factor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05409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13639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136391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exponent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how many times the base is a factor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378561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86791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86791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power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whole thing, base and exponent together</a:t>
            </a:r>
          </a:p>
        </p:txBody>
      </p:sp>
      <p:pic>
        <p:nvPicPr>
          <p:cNvPr id="20" name="Picture 19" descr="05f36d568d134a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928" y="4707636"/>
            <a:ext cx="2410968" cy="3444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1896" y="4651248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22" name="Picture 21" descr="94daac294903ad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3319" y="4535424"/>
            <a:ext cx="2557272" cy="6888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Product of powers — same base, add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7ac50a12202cf5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59" y="2340864"/>
            <a:ext cx="4343400" cy="411480"/>
          </a:xfrm>
          <a:prstGeom prst="rect">
            <a:avLst/>
          </a:prstGeom>
        </p:spPr>
      </p:pic>
      <p:pic>
        <p:nvPicPr>
          <p:cNvPr id="12" name="Picture 11" descr="70277ad35df7b5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305" y="3026664"/>
            <a:ext cx="3593592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7897" y="3003804"/>
            <a:ext cx="5356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— different bases, no shortcut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735324"/>
            <a:ext cx="34192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Product of powers:  </a:t>
            </a:r>
          </a:p>
        </p:txBody>
      </p:sp>
      <p:pic>
        <p:nvPicPr>
          <p:cNvPr id="15" name="Picture 14" descr="24a77d98975998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9655" y="3810000"/>
            <a:ext cx="2310384" cy="3078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02836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7" name="Picture 16" descr="442d6b470fc718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454652"/>
            <a:ext cx="3931920" cy="3535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97ff79ed1aedf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460" y="2340864"/>
            <a:ext cx="861060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49524"/>
            <a:ext cx="3530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product:  </a:t>
            </a:r>
          </a:p>
        </p:txBody>
      </p:sp>
      <p:pic>
        <p:nvPicPr>
          <p:cNvPr id="12" name="Picture 11" descr="945c6ee9939237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0559" y="3102864"/>
            <a:ext cx="242011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581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Works for a product only, never for a sum:</a:t>
            </a:r>
          </a:p>
        </p:txBody>
      </p:sp>
      <p:pic>
        <p:nvPicPr>
          <p:cNvPr id="14" name="Picture 13" descr="084422fcc8d0c2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471416"/>
            <a:ext cx="3736848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24400" y="4448555"/>
            <a:ext cx="12086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but   </a:t>
            </a:r>
          </a:p>
        </p:txBody>
      </p:sp>
      <p:pic>
        <p:nvPicPr>
          <p:cNvPr id="16" name="Picture 15" descr="36d129603f5ad60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43" y="4471416"/>
            <a:ext cx="2840736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2340864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128515"/>
            <a:ext cx="3248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 </a:t>
            </a:r>
          </a:p>
        </p:txBody>
      </p:sp>
      <p:pic>
        <p:nvPicPr>
          <p:cNvPr id="12" name="Picture 11" descr="1dab80afbf1775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435" y="4183380"/>
            <a:ext cx="1837943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36379" y="4128515"/>
            <a:ext cx="2486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     Identity:  </a:t>
            </a:r>
          </a:p>
        </p:txBody>
      </p:sp>
      <p:pic>
        <p:nvPicPr>
          <p:cNvPr id="14" name="Picture 13" descr="672d0a52c53d68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5661" y="4186428"/>
            <a:ext cx="972311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ways to the same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62f7ef757f30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512" y="2136648"/>
            <a:ext cx="920495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e30ee0ae8764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7426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264" y="1865376"/>
            <a:ext cx="62240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powers: same base, add</a:t>
            </a:r>
          </a:p>
        </p:txBody>
      </p:sp>
      <p:pic>
        <p:nvPicPr>
          <p:cNvPr id="11" name="Picture 10" descr="bf8e4f9dbe4a99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1331976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17976" y="24871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 the single power</a:t>
            </a:r>
          </a:p>
        </p:txBody>
      </p:sp>
      <p:pic>
        <p:nvPicPr>
          <p:cNvPr id="13" name="Picture 12" descr="87121b7311d54a8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3"/>
            <a:ext cx="1813560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99560" y="307847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multiply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f0808adb26014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352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add: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 and a power of a power.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11bd13923d7f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03120"/>
            <a:ext cx="125577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086f65450dee5a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187952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3952" y="1898904"/>
            <a:ext cx="49103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pic>
        <p:nvPicPr>
          <p:cNvPr id="11" name="Picture 10" descr="0598f1911893c2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1694688" cy="414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0688" y="258775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six negative factors — positive</a:t>
            </a:r>
          </a:p>
        </p:txBody>
      </p:sp>
      <p:pic>
        <p:nvPicPr>
          <p:cNvPr id="13" name="Picture 12" descr="ed595f21e3460e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7935"/>
            <a:ext cx="169468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80688" y="327355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(−2)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−8, then square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11529ecb1a26ec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multiply the exponents: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(−3)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729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9456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d83e838f1c2bb6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7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so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b5a5ab64e7e78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5753" y="2171700"/>
            <a:ext cx="582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tile pattern grows by a factor of  </a:t>
            </a:r>
          </a:p>
        </p:txBody>
      </p:sp>
      <p:pic>
        <p:nvPicPr>
          <p:cNvPr id="10" name="Picture 9" descr="c0129e6e5f8235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978" y="2231136"/>
            <a:ext cx="33528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70258" y="2171700"/>
            <a:ext cx="198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one week,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0520" y="2857500"/>
            <a:ext cx="148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by  </a:t>
            </a:r>
          </a:p>
        </p:txBody>
      </p:sp>
      <p:pic>
        <p:nvPicPr>
          <p:cNvPr id="13" name="Picture 12" descr="1f70e4cbe52b37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8776" y="2918460"/>
            <a:ext cx="3352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94056" y="2857500"/>
            <a:ext cx="6394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the next week. It started with 9 tiles.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Write the two-week growth factor as one power, then find its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5753" y="2080260"/>
            <a:ext cx="582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tile pattern grows by a factor of  </a:t>
            </a:r>
          </a:p>
        </p:txBody>
      </p:sp>
      <p:pic>
        <p:nvPicPr>
          <p:cNvPr id="10" name="Picture 9" descr="8a62f6a035ac09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978" y="2139696"/>
            <a:ext cx="33528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70258" y="2080260"/>
            <a:ext cx="198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one week,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8996" y="2766060"/>
            <a:ext cx="148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by  </a:t>
            </a:r>
          </a:p>
        </p:txBody>
      </p:sp>
      <p:pic>
        <p:nvPicPr>
          <p:cNvPr id="13" name="Picture 12" descr="ef7f1368723bd8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7252" y="2827019"/>
            <a:ext cx="338328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95580" y="2766060"/>
            <a:ext cx="6394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the next week. It started with 9 tiles.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Write the two-week growth factor as one power, then find its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6041188335e6f7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79" y="2103120"/>
            <a:ext cx="1280160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8950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 · 125, or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d04038ca86675c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223" y="2103120"/>
            <a:ext cx="957072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four copies of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eight 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595cae23e895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594624abcde51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9448" y="2103120"/>
            <a:ext cx="11826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5539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33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09b459f0d29bb4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223" y="2103120"/>
            <a:ext cx="957072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683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31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31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98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98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47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9456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5629cbc54327d7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507" y="2103120"/>
            <a:ext cx="2508504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three negative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f58654af4b9460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376" y="2194560"/>
            <a:ext cx="233476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c01490de0bb548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376" y="2103120"/>
            <a:ext cx="2334768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2783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(½)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1736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8b8d08dca6c51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5648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7912" y="274657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030" y="276943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89558" y="274657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law needs, and show the value.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7912" y="265513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a1cd0a7df962e7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030" y="267799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89558" y="265513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parentheses hold a SUM, not a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(10 + (−2))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512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— SZQ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Multiplication with exponents — 5SK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 rule — 8DA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exponents — BFA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quotient of powers, power of a quotient and zero exponent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same base, add the exponents.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same base, subtract — and exponent 0 is not 0.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848611"/>
            <a:ext cx="74676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38e9b447bed4dd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397252"/>
            <a:ext cx="91440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73f8d0478760fc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3720"/>
            <a:ext cx="1405128" cy="240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67741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6" name="Picture 15" descr="18ea63a1522c26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7084" y="3621024"/>
            <a:ext cx="880872" cy="56997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848611"/>
            <a:ext cx="746760" cy="280416"/>
          </a:xfrm>
          <a:prstGeom prst="rect">
            <a:avLst/>
          </a:prstGeom>
        </p:spPr>
      </p:pic>
      <p:pic>
        <p:nvPicPr>
          <p:cNvPr id="11" name="Picture 10" descr="fe5bb28ba59f7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360" y="1848611"/>
            <a:ext cx="25908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38e9b447bed4dd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397252"/>
            <a:ext cx="91440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27211" y="2372868"/>
            <a:ext cx="575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−3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73f8d0478760fc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9368" y="3093720"/>
            <a:ext cx="1405128" cy="240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3136" y="298551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&lt;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7741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9" name="Picture 18" descr="18ea63a1522c269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7084" y="3621024"/>
            <a:ext cx="880872" cy="5699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66596" y="359816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Quotient of powers — same base, subtract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9415792fd44314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3" y="2340864"/>
            <a:ext cx="5468112" cy="8168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584447"/>
            <a:ext cx="35344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Quotient of powers:  </a:t>
            </a:r>
          </a:p>
        </p:txBody>
      </p:sp>
      <p:pic>
        <p:nvPicPr>
          <p:cNvPr id="13" name="Picture 12" descr="caa5aae58594f0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871" y="3477767"/>
            <a:ext cx="1758696" cy="67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43567" y="3584447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5" name="Picture 14" descr="e9238f2ad6182a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751" y="3643883"/>
            <a:ext cx="786384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90135" y="3584447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584191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8" name="Picture 17" descr="b00c7f4311e4c71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404360"/>
            <a:ext cx="3630168" cy="81686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a3e08171df6b5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648" y="2340864"/>
            <a:ext cx="6364224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585972"/>
            <a:ext cx="36134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quotient:  </a:t>
            </a:r>
          </a:p>
        </p:txBody>
      </p:sp>
      <p:pic>
        <p:nvPicPr>
          <p:cNvPr id="12" name="Picture 11" descr="5fe28a02304572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855" y="3471672"/>
            <a:ext cx="1700784" cy="685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64639" y="3585972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9747b1c84bea2b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824" y="3643884"/>
            <a:ext cx="786384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11208" y="3585972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90288"/>
            <a:ext cx="2033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Either way:  </a:t>
            </a:r>
          </a:p>
        </p:txBody>
      </p:sp>
      <p:pic>
        <p:nvPicPr>
          <p:cNvPr id="17" name="Picture 16" descr="bf6d891ffc7ec2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4121" y="4413504"/>
            <a:ext cx="3197352" cy="8107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81473" y="4590288"/>
            <a:ext cx="1265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9" name="Picture 18" descr="0e96d85d3f75c27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0235" y="4613148"/>
            <a:ext cx="2228088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2340864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6af6beffc833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741" y="3337560"/>
            <a:ext cx="1639824" cy="7985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48565" y="3508248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13" name="Picture 12" descr="048259f86d8f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543" y="3337560"/>
            <a:ext cx="2359152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57695" y="3508248"/>
            <a:ext cx="171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so      </a:t>
            </a:r>
          </a:p>
        </p:txBody>
      </p:sp>
      <p:pic>
        <p:nvPicPr>
          <p:cNvPr id="15" name="Picture 14" descr="61848e244d08c5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5330" y="3567683"/>
            <a:ext cx="917448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33315"/>
            <a:ext cx="2787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Zero exponent:  </a:t>
            </a:r>
          </a:p>
        </p:txBody>
      </p:sp>
      <p:pic>
        <p:nvPicPr>
          <p:cNvPr id="17" name="Picture 16" descr="62b15dcf7a50534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835" y="4491228"/>
            <a:ext cx="941832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9667" y="4433315"/>
            <a:ext cx="3406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for every nonzero </a:t>
            </a:r>
          </a:p>
        </p:txBody>
      </p:sp>
      <p:pic>
        <p:nvPicPr>
          <p:cNvPr id="19" name="Picture 18" descr="1e04812740d92fa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992" y="4570476"/>
            <a:ext cx="188976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66659ac1f0ea04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8988" y="2103120"/>
            <a:ext cx="923544" cy="947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53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b017d83f1787b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995928" cy="947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81928" y="2165604"/>
            <a:ext cx="510235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subtract</a:t>
            </a:r>
          </a:p>
        </p:txBody>
      </p:sp>
      <p:pic>
        <p:nvPicPr>
          <p:cNvPr id="11" name="Picture 10" descr="bd5827372e3534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42488"/>
            <a:ext cx="175564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41648" y="311962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three negative factors</a:t>
            </a:r>
          </a:p>
        </p:txBody>
      </p:sp>
      <p:pic>
        <p:nvPicPr>
          <p:cNvPr id="13" name="Picture 12" descr="90139498d34b0b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28288"/>
            <a:ext cx="2350008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36008" y="3774947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divide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360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309fc1c6c87d6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2108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12c4018d49220c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9967" y="2194560"/>
            <a:ext cx="481583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326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subtract: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decimal base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43cc8ad2e0ead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103120"/>
            <a:ext cx="1097280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7fb29aeb756b1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64279" cy="813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50280" y="2098548"/>
            <a:ext cx="5334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</a:t>
            </a:r>
          </a:p>
        </p:txBody>
      </p:sp>
      <p:pic>
        <p:nvPicPr>
          <p:cNvPr id="11" name="Picture 10" descr="29d5e070652e76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8376"/>
            <a:ext cx="3496056" cy="694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82056" y="3127248"/>
            <a:ext cx="560222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by 10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: four places left</a:t>
            </a:r>
          </a:p>
        </p:txBody>
      </p:sp>
      <p:pic>
        <p:nvPicPr>
          <p:cNvPr id="13" name="Picture 12" descr="2c170b8a20c6ab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77639"/>
            <a:ext cx="3444240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30240" y="3954779"/>
            <a:ext cx="565403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divide first, then raise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0.00000016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e60d4cb6647bee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94560"/>
            <a:ext cx="966216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fadd35982984b8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4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numerator and denominator both cubed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6390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78fdb0141a7d8d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563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858f7499cc3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095" y="2194560"/>
            <a:ext cx="71932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19204332be55fa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3476" y="2103120"/>
            <a:ext cx="73456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242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5172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77a7c7565446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412" y="4663440"/>
            <a:ext cx="63093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0736" y="2171700"/>
            <a:ext cx="28268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server stores  </a:t>
            </a:r>
          </a:p>
        </p:txBody>
      </p:sp>
      <p:pic>
        <p:nvPicPr>
          <p:cNvPr id="10" name="Picture 9" descr="6211579d9db5cb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459" y="2228088"/>
            <a:ext cx="323088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47" y="2171700"/>
            <a:ext cx="1682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files in  </a:t>
            </a:r>
          </a:p>
        </p:txBody>
      </p:sp>
      <p:pic>
        <p:nvPicPr>
          <p:cNvPr id="12" name="Picture 11" descr="849ea0a036ce86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474" y="2228088"/>
            <a:ext cx="298704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87178" y="2171700"/>
            <a:ext cx="27807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folders, evenly.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has been running for 30 days.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files are in each folder?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0736" y="2080260"/>
            <a:ext cx="28268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server stores  </a:t>
            </a:r>
          </a:p>
        </p:txBody>
      </p:sp>
      <p:pic>
        <p:nvPicPr>
          <p:cNvPr id="10" name="Picture 9" descr="58f046902f2dbd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459" y="2135124"/>
            <a:ext cx="3230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47" y="2080260"/>
            <a:ext cx="1682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files in  </a:t>
            </a:r>
          </a:p>
        </p:txBody>
      </p:sp>
      <p:pic>
        <p:nvPicPr>
          <p:cNvPr id="12" name="Picture 11" descr="35dbe0b6d97f96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474" y="2136648"/>
            <a:ext cx="298704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87178" y="2080260"/>
            <a:ext cx="27807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folders, evenly.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has been running for 30 days.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files are in each folder?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512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1252d608a87976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1197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6c228046c0fb44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7067" y="2103120"/>
            <a:ext cx="1167384" cy="1194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72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(−6)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615f3e719211e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94560"/>
            <a:ext cx="1331976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Apply the power of a quotient law. Do not simplify.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ea064d235ef414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03120"/>
            <a:ext cx="1331976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916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goes to both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49331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55647924d788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4663440"/>
            <a:ext cx="1152144" cy="108813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90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698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eea3c0844d5cda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7" y="2103120"/>
            <a:ext cx="4206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4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30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30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66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66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249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ad177fa159bf9a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02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68a50808a2a5ff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9967" y="2103120"/>
            <a:ext cx="481583" cy="9997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314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7fd8a7336ddfa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088" y="2194560"/>
            <a:ext cx="847344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9e83a171821809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9467" y="2103120"/>
            <a:ext cx="862584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242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0.125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41e42a07b25976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94560"/>
            <a:ext cx="1240536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1683127c150174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8968" y="2103120"/>
            <a:ext cx="1243584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002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any nonzero base to the zero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338" y="2366772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62ec99fb62ba29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624" y="2194560"/>
            <a:ext cx="1627632" cy="801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25256" y="2366772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814e799b3c3f0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94560"/>
            <a:ext cx="1161288" cy="801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44745" y="23667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050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one did, and what it tells you about 2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4146" y="2273807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86af6beffc833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5432" y="2103120"/>
            <a:ext cx="1639824" cy="79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25256" y="2273807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3c79892a0ac73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03120"/>
            <a:ext cx="1173480" cy="798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56937" y="2273807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7601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96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right, so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must equal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0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with negative bases — WFW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Division with exponents — XNC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apply more than one law of exponents to evaluate an expression and to write an equivalent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seven laws,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two or three laws in one expression — and the order is yours.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46939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2585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2" name="Picture 11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65023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8447" y="262585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23844"/>
            <a:ext cx="1658112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85114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934968"/>
            <a:ext cx="1112520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46939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4126" y="1760220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2585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3" name="Picture 12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650236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8447" y="262585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9764" y="2625852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23844"/>
            <a:ext cx="1658112" cy="2865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6120" y="3238500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934968"/>
            <a:ext cx="1112520" cy="289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8955" y="385114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 It is your reference for the rest of the unit.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seven laws, in one place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2340864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7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(−7 · 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(−7)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 ÷ 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(13 ÷ 5)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127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students, two orders, one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More than one law — make a plan, then follow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32085" y="2514600"/>
            <a:ext cx="1854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Winston:  </a:t>
            </a:r>
          </a:p>
        </p:txBody>
      </p:sp>
      <p:pic>
        <p:nvPicPr>
          <p:cNvPr id="12" name="Picture 11" descr="e5535b5cffe514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9914" y="2340864"/>
            <a:ext cx="3779520" cy="804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44565" y="3665219"/>
            <a:ext cx="1621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Yvette:   </a:t>
            </a:r>
          </a:p>
        </p:txBody>
      </p:sp>
      <p:pic>
        <p:nvPicPr>
          <p:cNvPr id="14" name="Picture 13" descr="7055adc9101d43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546" y="3419856"/>
            <a:ext cx="4788408" cy="947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7061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404872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61187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61187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43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4343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074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5033771"/>
            <a:ext cx="40781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Never across a + or a −:  </a:t>
            </a:r>
          </a:p>
        </p:txBody>
      </p:sp>
      <p:pic>
        <p:nvPicPr>
          <p:cNvPr id="18" name="Picture 17" descr="f1f6a9f3d40cc3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864" y="5085587"/>
            <a:ext cx="3118104" cy="3535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40968" y="5033771"/>
            <a:ext cx="1002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, not </a:t>
            </a:r>
          </a:p>
        </p:txBody>
      </p:sp>
      <p:pic>
        <p:nvPicPr>
          <p:cNvPr id="20" name="Picture 19" descr="ae5b0572c4324d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485" y="5091683"/>
            <a:ext cx="326136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32621" y="5033771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zero exponent inside a product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c240cefdf3b14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0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— Caroline's plan and Jamir's plan.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593c79a22248f7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44952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30952" y="2093976"/>
            <a:ext cx="60533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Caroline: product of powers first</a:t>
            </a:r>
          </a:p>
        </p:txBody>
      </p:sp>
      <p:pic>
        <p:nvPicPr>
          <p:cNvPr id="11" name="Picture 10" descr="fdbf4bf677431c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3060192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46192" y="3172968"/>
            <a:ext cx="60380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Jamir: zero exponent first</a:t>
            </a:r>
          </a:p>
        </p:txBody>
      </p:sp>
      <p:pic>
        <p:nvPicPr>
          <p:cNvPr id="13" name="Picture 12" descr="3d9d3a4be89fd9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993392" cy="804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9392" y="42519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both: quotient of powers, then 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400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ecdab13571b725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36" y="2194560"/>
            <a:ext cx="1222248" cy="101803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258db9196d70eb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2194560"/>
            <a:ext cx="1234440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65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Three laws, a decimal and 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30d1cf39c0294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2103120"/>
            <a:ext cx="2194560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86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b37afdd110bf4c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04360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90360" y="2132076"/>
            <a:ext cx="4693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exponent; power of a quotient, backwards</a:t>
            </a:r>
          </a:p>
        </p:txBody>
      </p:sp>
      <p:pic>
        <p:nvPicPr>
          <p:cNvPr id="11" name="Picture 10" descr="2cffd552d2c829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75432"/>
            <a:ext cx="2795016" cy="701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81016" y="3197352"/>
            <a:ext cx="63032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inside: −15 ÷ 1.5 = −10</a:t>
            </a:r>
          </a:p>
        </p:txBody>
      </p:sp>
      <p:pic>
        <p:nvPicPr>
          <p:cNvPr id="13" name="Picture 12" descr="ff562aba6b37e15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2505456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91456" y="402793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four negative factors: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194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10,000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274e6fec14c7e7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815" y="2194560"/>
            <a:ext cx="2151888" cy="1091184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9c8c9afa26dfe5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291" y="2194560"/>
            <a:ext cx="2154936" cy="1088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027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· (−12 ÷ 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43419" y="2171700"/>
            <a:ext cx="3658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spreadsheet holds  </a:t>
            </a:r>
          </a:p>
        </p:txBody>
      </p:sp>
      <p:pic>
        <p:nvPicPr>
          <p:cNvPr id="10" name="Picture 9" descr="a9a688dcb35987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631" y="2228088"/>
            <a:ext cx="93573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00367" y="2171700"/>
            <a:ext cx="17338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cells in  </a:t>
            </a:r>
          </a:p>
        </p:txBody>
      </p:sp>
      <p:pic>
        <p:nvPicPr>
          <p:cNvPr id="12" name="Picture 11" descr="2b46a8bae93fb0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091" y="2229612"/>
            <a:ext cx="332232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29323" y="2171700"/>
            <a:ext cx="2825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equal columns.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file is 3 megabytes.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cells are in each column?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41895" y="2080260"/>
            <a:ext cx="3658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spreadsheet holds  </a:t>
            </a:r>
          </a:p>
        </p:txBody>
      </p:sp>
      <p:pic>
        <p:nvPicPr>
          <p:cNvPr id="10" name="Picture 9" descr="f7a71b8e0c2f4d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107" y="2135124"/>
            <a:ext cx="9357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98843" y="2080260"/>
            <a:ext cx="17338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cells in  </a:t>
            </a:r>
          </a:p>
        </p:txBody>
      </p:sp>
      <p:pic>
        <p:nvPicPr>
          <p:cNvPr id="12" name="Picture 11" descr="06a2c5e4e203d4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567" y="2138171"/>
            <a:ext cx="3352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30847" y="2080260"/>
            <a:ext cx="2825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equal columns.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file is 3 megabytes.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cells are in each column?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9456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0ce70980e9b553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891" y="2103120"/>
            <a:ext cx="169773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32948134bf5e35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24bc4e0a06070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2103120"/>
            <a:ext cx="1408176" cy="1182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00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0.0625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5b85e638d34eb1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a8fa097f61cf2d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03120"/>
            <a:ext cx="1600200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8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 exponent 1 changes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6.25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85a5d92abe26b9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194560"/>
            <a:ext cx="2148840" cy="1100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3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639a6b0d53b432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719" y="2103120"/>
            <a:ext cx="2164080" cy="1094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36dd69d05a8fa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94560"/>
            <a:ext cx="201168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90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fb0746628bca84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824" y="2103120"/>
            <a:ext cx="2023872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37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0.1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0.1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9456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2a624714308fb2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699" y="2103120"/>
            <a:ext cx="248412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a2077b17c7711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adbcd6f49d73f4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6215" y="2103120"/>
            <a:ext cx="2609088" cy="1182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00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−64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6876" y="2369820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8510a940fc605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616" y="2194560"/>
            <a:ext cx="2185416" cy="80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3032" y="2369820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895c1949fc6ae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775" y="2194560"/>
            <a:ext cx="1932432" cy="807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4207" y="23698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Name the law each one used first, and give the value.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6876" y="2276856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7eecc4c6e0dafa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616" y="2103120"/>
            <a:ext cx="2185416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3032" y="2276856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d5013e6d72f4d5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775" y="2103120"/>
            <a:ext cx="1932432" cy="804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4207" y="2276856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821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802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plans end at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give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power with a negative exponent using a positive exponent, and evaluate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stopped at 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keep going — and 5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-2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795528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2585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2" name="Picture 11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65023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1771" y="262585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51276"/>
            <a:ext cx="1136904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92277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17" name="Picture 16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874008"/>
            <a:ext cx="170688" cy="5547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013" y="392277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19" name="Picture 18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874008"/>
            <a:ext cx="170688" cy="5547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130930" y="392277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795528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0262" y="1760220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2585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3" name="Picture 12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650236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1771" y="262585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5878" y="2625852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51276"/>
            <a:ext cx="1136904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4912" y="3238500"/>
            <a:ext cx="11302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−7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92277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20" name="Picture 19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874008"/>
            <a:ext cx="170688" cy="5547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013" y="392277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22" name="Picture 21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874008"/>
            <a:ext cx="170688" cy="5547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130930" y="392277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4" name="Picture 23" descr="c947c2e93b2d33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474464"/>
            <a:ext cx="170688" cy="5547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76728" y="4523232"/>
            <a:ext cx="1173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 and  </a:t>
            </a:r>
          </a:p>
        </p:txBody>
      </p:sp>
      <p:pic>
        <p:nvPicPr>
          <p:cNvPr id="26" name="Picture 25" descr="a339c6c78254d98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3149" y="4474464"/>
            <a:ext cx="37795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keeps going past zero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76752f6b90e3ae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6720" y="3337560"/>
            <a:ext cx="1328928" cy="73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15648" y="347624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4" name="Picture 13" descr="f4a0184cab2e1f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072" y="3337560"/>
            <a:ext cx="1978152" cy="734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45224" y="347624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6" name="Picture 15" descr="0d236d65c9794b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6647" y="3337560"/>
            <a:ext cx="1978152" cy="734568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1929059091f4e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0105" y="2340864"/>
            <a:ext cx="1368552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68657" y="24490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8af686798a26cf5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649" y="2340864"/>
            <a:ext cx="1408176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22825" y="244906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4" name="Picture 13" descr="e9238f2ad6182a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5347" y="2508504"/>
            <a:ext cx="786384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71731" y="244906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6" name="Picture 15" descr="0076c46e61cf33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5590" y="3288792"/>
            <a:ext cx="2179320" cy="7406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74910" y="3430524"/>
            <a:ext cx="1922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but      </a:t>
            </a:r>
          </a:p>
        </p:txBody>
      </p:sp>
      <p:pic>
        <p:nvPicPr>
          <p:cNvPr id="18" name="Picture 17" descr="2402c94260d4dc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0103" y="3488436"/>
            <a:ext cx="1679448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39551" y="3430524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20" name="Picture 19" descr="99e40f005d3ae5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9529" y="3454908"/>
            <a:ext cx="1676400" cy="4084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3677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5257799"/>
            <a:ext cx="44334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base keeps its own sign:  </a:t>
            </a:r>
          </a:p>
        </p:txBody>
      </p:sp>
      <p:pic>
        <p:nvPicPr>
          <p:cNvPr id="23" name="Picture 22" descr="09c601891c6fc45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3880" y="5081015"/>
            <a:ext cx="4273296" cy="810768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89c2c846a3e03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340864"/>
            <a:ext cx="4828032" cy="752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39817" y="3345180"/>
            <a:ext cx="11244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or      </a:t>
            </a:r>
          </a:p>
        </p:txBody>
      </p:sp>
      <p:pic>
        <p:nvPicPr>
          <p:cNvPr id="12" name="Picture 11" descr="6542358f7cf095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070" y="3400044"/>
            <a:ext cx="4294632" cy="347472"/>
          </a:xfrm>
          <a:prstGeom prst="rect">
            <a:avLst/>
          </a:prstGeom>
        </p:spPr>
      </p:pic>
      <p:pic>
        <p:nvPicPr>
          <p:cNvPr id="13" name="Picture 12" descr="937601ac64579b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0812" y="4053839"/>
            <a:ext cx="3739896" cy="8260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218175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Negative exponents top and bottom.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55e053ce9247b8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29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8c8ff7225ddeea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99032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5032" y="210159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each power swaps sides and loses the minus</a:t>
            </a:r>
          </a:p>
        </p:txBody>
      </p:sp>
      <p:pic>
        <p:nvPicPr>
          <p:cNvPr id="11" name="Picture 10" descr="0ebc6add04d32a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4472"/>
            <a:ext cx="2773680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59680" y="3188207"/>
            <a:ext cx="632459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81/8 = 10.125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04c00c9d3a9d2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1080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62c59c684174d8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048" y="2194560"/>
            <a:ext cx="725424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95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swap sides, positive exponents: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64515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8b652a33b6da2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480560"/>
            <a:ext cx="259080" cy="877824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quotient law crossing zero.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ffd0e25f89e0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e363ea742e8fa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38272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24272" y="2093976"/>
            <a:ext cx="616000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0 − (−4) = 4</a:t>
            </a:r>
          </a:p>
        </p:txBody>
      </p:sp>
      <p:pic>
        <p:nvPicPr>
          <p:cNvPr id="11" name="Picture 10" descr="1ac09e500b958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2380488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66488" y="31729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exponent, then move 7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up</a:t>
            </a:r>
          </a:p>
        </p:txBody>
      </p:sp>
      <p:pic>
        <p:nvPicPr>
          <p:cNvPr id="13" name="Picture 12" descr="c29b4c4413d87c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53009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6096" y="40233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828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2,401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3d867da8578334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94560"/>
            <a:ext cx="139598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550df0579f9a7f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0027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−4 − (−6) = 2, so (−8)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b184a5178b8742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767" y="2103120"/>
            <a:ext cx="633984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e3379378f6437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6116" y="2171700"/>
            <a:ext cx="4236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pollen grain's mass is  </a:t>
            </a:r>
          </a:p>
        </p:txBody>
      </p:sp>
      <p:pic>
        <p:nvPicPr>
          <p:cNvPr id="10" name="Picture 9" descr="c9adefc290aa5b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5879" y="2234184"/>
            <a:ext cx="521207" cy="332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27087" y="2171700"/>
            <a:ext cx="22654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microgram.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Its width is 25 micrometers.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03866" y="3432379"/>
            <a:ext cx="36439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 </a:t>
            </a:r>
          </a:p>
        </p:txBody>
      </p:sp>
      <p:pic>
        <p:nvPicPr>
          <p:cNvPr id="14" name="Picture 13" descr="c9adefc290aa5b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617" y="3494863"/>
            <a:ext cx="521207" cy="332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31825" y="3432379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4592" y="2080260"/>
            <a:ext cx="4236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pollen grain's mass is  </a:t>
            </a:r>
          </a:p>
        </p:txBody>
      </p:sp>
      <p:pic>
        <p:nvPicPr>
          <p:cNvPr id="10" name="Picture 9" descr="8f4fc9fafaaefa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355" y="2144268"/>
            <a:ext cx="52425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28611" y="2080260"/>
            <a:ext cx="22654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microgram.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Its width is 25 micrometers.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02342" y="3340939"/>
            <a:ext cx="36439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 </a:t>
            </a:r>
          </a:p>
        </p:txBody>
      </p:sp>
      <p:pic>
        <p:nvPicPr>
          <p:cNvPr id="14" name="Picture 13" descr="8f4fc9fafaaefa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093" y="3404947"/>
            <a:ext cx="524256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33349" y="3340939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8116" y="498228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b025bbe2352d11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356" y="4826839"/>
            <a:ext cx="765048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229e5926a19b9f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176" y="2194560"/>
            <a:ext cx="963167" cy="932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99931859c15140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932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101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up: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100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02fd06d9d06458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8950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 over −8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2603" y="4818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c4ffcbfe2b298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844" y="4663440"/>
            <a:ext cx="576072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94560"/>
            <a:ext cx="658368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39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51555c3ab4f821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8528" y="2103120"/>
            <a:ext cx="664464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1/25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9456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bc8fbfd36b278f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0312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6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df6239309438ca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03120"/>
            <a:ext cx="1411224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d5e2dc9bfa32d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7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with a positive exponent.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b67ccf22692bcf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048" y="2103120"/>
            <a:ext cx="725424" cy="1024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0156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48600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17cb56101b516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41832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1600" y="217170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27" y="2229612"/>
            <a:ext cx="52730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6631" y="217170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8552" y="208026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418bbff52ec969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6279" y="2138171"/>
            <a:ext cx="533400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9679" y="208026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reciprocal, not opposite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1/25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negative exponents — YBB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rational base with a negative exponent using a positive exponent, and apply several laws to generate an equivalent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a negative exponent means reciprocal.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fraction — so the reciprocal flips it.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51660"/>
            <a:ext cx="417576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6888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2" name="Picture 11" descr="82be0161615a5d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558" y="2395728"/>
            <a:ext cx="463296" cy="603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17754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4" name="Picture 13" descr="5fa67493f2d0b1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930" y="3268980"/>
            <a:ext cx="265176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68106" y="317754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6" name="Picture 15" descr="cd79bb74d01bc9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5697" y="3264408"/>
            <a:ext cx="265176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0873" y="317754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86334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19" name="Picture 18" descr="e5446a4e89f9a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1467" y="381304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51660"/>
            <a:ext cx="417576" cy="274320"/>
          </a:xfrm>
          <a:prstGeom prst="rect">
            <a:avLst/>
          </a:prstGeom>
        </p:spPr>
      </p:pic>
      <p:pic>
        <p:nvPicPr>
          <p:cNvPr id="11" name="Picture 10" descr="0f45754c5988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310" y="1783080"/>
            <a:ext cx="170688" cy="5547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46888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3" name="Picture 12" descr="82be0161615a5d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4558" y="2395728"/>
            <a:ext cx="463296" cy="603504"/>
          </a:xfrm>
          <a:prstGeom prst="rect">
            <a:avLst/>
          </a:prstGeom>
        </p:spPr>
      </p:pic>
      <p:pic>
        <p:nvPicPr>
          <p:cNvPr id="14" name="Picture 13" descr="b031d4b8beeb84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6494" y="2462784"/>
            <a:ext cx="27127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17754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6" name="Picture 15" descr="5fa67493f2d0b1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930" y="3268980"/>
            <a:ext cx="265176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68106" y="317754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8" name="Picture 17" descr="cd79bb74d01bc9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5697" y="3264408"/>
            <a:ext cx="265176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70873" y="317754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0" name="Picture 19" descr="0663332b63521a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0125" y="3264408"/>
            <a:ext cx="265176" cy="2834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95301" y="3177540"/>
            <a:ext cx="16163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(81 &gt; 64)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86334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23" name="Picture 22" descr="e5446a4e89f9a3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1467" y="3813048"/>
            <a:ext cx="377952" cy="557784"/>
          </a:xfrm>
          <a:prstGeom prst="rect">
            <a:avLst/>
          </a:prstGeom>
        </p:spPr>
      </p:pic>
      <p:pic>
        <p:nvPicPr>
          <p:cNvPr id="24" name="Picture 23" descr="84c4e182280519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48059" y="381304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with a fraction base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651760" y="2340864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b0f3e7d8c2c69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309" y="2340864"/>
            <a:ext cx="2133600" cy="694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6909" y="2459736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2" name="Picture 11" descr="0526fdf803528f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431" y="2517648"/>
            <a:ext cx="1149096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08527" y="2459736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4" name="Picture 13" descr="0760a5d348419d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9492" y="3310128"/>
            <a:ext cx="3084576" cy="6949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04068" y="34290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6" name="Picture 15" descr="8aa2b2ce219d38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059" y="3313176"/>
            <a:ext cx="2791968" cy="6888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43434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5167884"/>
            <a:ext cx="55453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whole number is a fraction over 1:  </a:t>
            </a:r>
          </a:p>
        </p:txBody>
      </p:sp>
      <p:pic>
        <p:nvPicPr>
          <p:cNvPr id="19" name="Picture 18" descr="f1d121a4d71cf0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5757" y="5056631"/>
            <a:ext cx="3230880" cy="679704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8b6d01a45108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6" y="2340864"/>
            <a:ext cx="8019288" cy="816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9605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Flip, then 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ed1bed15013a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bc4c574f50fed7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8064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84064" y="2036064"/>
            <a:ext cx="6300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flip the base; the sign stays</a:t>
            </a:r>
          </a:p>
        </p:txBody>
      </p:sp>
      <p:pic>
        <p:nvPicPr>
          <p:cNvPr id="11" name="Picture 10" descr="2145b6f87f912d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3408"/>
            <a:ext cx="1898904" cy="701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4903" y="300532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even power: positive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64/49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a7f1f688f77ec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948" y="2194560"/>
            <a:ext cx="15636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9b72eb366786e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424" y="2194560"/>
            <a:ext cx="1566672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(−2/5)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odd power, negative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5" y="464210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acffea294d431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335" y="4480560"/>
            <a:ext cx="1085088" cy="871728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laws, then a flip.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8ecac4debf086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6820" y="2103120"/>
            <a:ext cx="2087880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79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4608ef90342adf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245608" cy="6949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31608" y="2039112"/>
            <a:ext cx="38526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</a:t>
            </a:r>
          </a:p>
        </p:txBody>
      </p:sp>
      <p:pic>
        <p:nvPicPr>
          <p:cNvPr id="11" name="Picture 10" descr="0d1a35c0d260c7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9504"/>
            <a:ext cx="1630680" cy="6979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16680" y="300990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already positive: no flip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25/64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a7f97d6945899e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2194560"/>
            <a:ext cx="352958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30e4c8bd3032b3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94560"/>
            <a:ext cx="3532632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exponent −10, then flip: (−4/5)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4735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269d301dd5e8a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976" y="4480560"/>
            <a:ext cx="1511808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8003" y="2304288"/>
            <a:ext cx="53707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recipe is scaled by a factor of  </a:t>
            </a:r>
          </a:p>
        </p:txBody>
      </p:sp>
      <p:pic>
        <p:nvPicPr>
          <p:cNvPr id="10" name="Picture 9" descr="b43afb9c608d06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1624" y="2194560"/>
            <a:ext cx="981455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03080" y="230428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45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original recipe serves 6 people.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2041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with a positive exponent.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245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17086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6479" y="2217420"/>
            <a:ext cx="53707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recipe is scaled by a factor of  </a:t>
            </a:r>
          </a:p>
        </p:txBody>
      </p:sp>
      <p:pic>
        <p:nvPicPr>
          <p:cNvPr id="10" name="Picture 9" descr="db3fdb8511f37e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0100" y="2103120"/>
            <a:ext cx="984504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04604" y="22174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63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original recipe serves 6 people.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3811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with a positive exponent.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25871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912" y="514263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319963a3efbf85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152" y="4990238"/>
            <a:ext cx="981455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23a87bc643d7e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852" y="2194560"/>
            <a:ext cx="1575816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388782ac10a652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328" y="2103120"/>
            <a:ext cx="1578864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2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numbers; the sign stays in the fraction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4651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837676bd53bd7e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891" y="4663440"/>
            <a:ext cx="1331976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c08fd56f1b4e3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94560"/>
            <a:ext cx="158496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47a2897b65a37c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03120"/>
            <a:ext cx="158496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2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(−9/8)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81/64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148abf2051aaa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285e954aff8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94560"/>
            <a:ext cx="146608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54c64471c94cdd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03120"/>
            <a:ext cx="1466088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2783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9516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2c7971114380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4663440"/>
            <a:ext cx="1222248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fb95563de51335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ba4f61953915b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948" y="2103120"/>
            <a:ext cx="1563624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5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(−8/7)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31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(−8/7)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e9242358ed1b2b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94560"/>
            <a:ext cx="300228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48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528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9eac5073baeb7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03120"/>
            <a:ext cx="300228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34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(5/8)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614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983316d8a340e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94560"/>
            <a:ext cx="2575560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c30d2bd25c2ac2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03120"/>
            <a:ext cx="2575560" cy="8747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522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2041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7c2f03a9ba86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18abdc6135b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656" y="2194560"/>
            <a:ext cx="3188208" cy="856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with one base and one positive exponent.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31a45253de33cc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607" y="2103120"/>
            <a:ext cx="3194304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002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(2/3)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inside, then power of a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296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e17728107926c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199" y="4663440"/>
            <a:ext cx="97536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3551" y="2304288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bcbcbf803cfe7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553" y="2194560"/>
            <a:ext cx="1246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5185" y="2304288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9b43b28c955127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776" y="2194560"/>
            <a:ext cx="774192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145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negative exponent does, and what it does not do. Give the correct rewrite.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7455" y="2217420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88b5d7d638f029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457" y="2103120"/>
            <a:ext cx="1252728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5185" y="2217420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3daedfdf5ed4c4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776" y="2103120"/>
            <a:ext cx="780288" cy="685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063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838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flips the fraction; it never touches the 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(−2/3)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(−3/2)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with integer exponents using the laws, and decide whether two expressions with different bases are equivalent.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So far: every law, every kind of base, every kind of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use all of it at once — and rewrite bases to compare.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136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a4522c3024ca65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538984"/>
            <a:ext cx="463296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518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574a5d3a612aa1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346704"/>
            <a:ext cx="469392" cy="6675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4192524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pic>
        <p:nvPicPr>
          <p:cNvPr id="11" name="Picture 10" descr="b2f9cb953a93e9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383536"/>
            <a:ext cx="1152144" cy="5577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1716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a4522c3024ca65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142488"/>
            <a:ext cx="463296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14235" y="311962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55363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574a5d3a612aa1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2299" y="3950207"/>
            <a:ext cx="469392" cy="6675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20331" y="3927347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796027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  <p:pic>
        <p:nvPicPr>
          <p:cNvPr id="19" name="Picture 18" descr="b2c477a7a0fb52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9654" y="4887467"/>
            <a:ext cx="26822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97878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1" name="Picture 20" descr="555a2ab77fff0f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4" y="4887467"/>
            <a:ext cx="265176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400030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3" name="Picture 22" descr="f2c3dde86c5203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7005" y="4884419"/>
            <a:ext cx="259080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48264" y="2491740"/>
            <a:ext cx="18116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Melanie:  </a:t>
            </a:r>
          </a:p>
        </p:txBody>
      </p:sp>
      <p:pic>
        <p:nvPicPr>
          <p:cNvPr id="11" name="Picture 10" descr="3891eb1a336690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2711" y="2340864"/>
            <a:ext cx="3590544" cy="7589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86066" y="3695700"/>
            <a:ext cx="17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Adonis:   </a:t>
            </a:r>
          </a:p>
        </p:txBody>
      </p:sp>
      <p:pic>
        <p:nvPicPr>
          <p:cNvPr id="13" name="Picture 12" descr="4c0501578695aa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493" y="3374136"/>
            <a:ext cx="5013960" cy="1100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1279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worked line.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Every law, one expression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7b8991725e0c7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84" y="2340864"/>
            <a:ext cx="5407152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560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Find the step that broke:</a:t>
            </a:r>
          </a:p>
        </p:txBody>
      </p:sp>
      <p:pic>
        <p:nvPicPr>
          <p:cNvPr id="13" name="Picture 12" descr="c58e91a86a3bfa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273296"/>
            <a:ext cx="3538728" cy="6888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26280" y="4389120"/>
            <a:ext cx="4614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multiplied; should be </a:t>
            </a:r>
          </a:p>
        </p:txBody>
      </p:sp>
      <p:pic>
        <p:nvPicPr>
          <p:cNvPr id="15" name="Picture 14" descr="3f2abb4590435e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3293" y="4273296"/>
            <a:ext cx="795528" cy="688848"/>
          </a:xfrm>
          <a:prstGeom prst="rect">
            <a:avLst/>
          </a:prstGeom>
        </p:spPr>
      </p:pic>
      <p:pic>
        <p:nvPicPr>
          <p:cNvPr id="16" name="Picture 15" descr="4e506f1fd08736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5218175"/>
            <a:ext cx="1978152" cy="8046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65704" y="5391912"/>
            <a:ext cx="6270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flipped, kept the minus; should be </a:t>
            </a:r>
          </a:p>
        </p:txBody>
      </p:sp>
      <p:pic>
        <p:nvPicPr>
          <p:cNvPr id="18" name="Picture 17" descr="87009eafc84fbf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8964" y="5277612"/>
            <a:ext cx="780288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2340864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b8889051fdc71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896" y="4105656"/>
            <a:ext cx="242316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056" y="4082796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3" name="Picture 12" descr="a8908f3619c71b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79" y="4105656"/>
            <a:ext cx="2295144" cy="411480"/>
          </a:xfrm>
          <a:prstGeom prst="rect">
            <a:avLst/>
          </a:prstGeom>
        </p:spPr>
      </p:pic>
      <p:pic>
        <p:nvPicPr>
          <p:cNvPr id="14" name="Picture 13" descr="4049ac29e8d0e89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884" y="4791456"/>
            <a:ext cx="4873752" cy="414528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f588710a599e4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84" y="2340864"/>
            <a:ext cx="4294632" cy="67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4716" y="245211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6d96812b24000e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707" y="2340864"/>
            <a:ext cx="4300728" cy="6797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35889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Same base, then compare exponents.</a:t>
            </a:r>
          </a:p>
        </p:txBody>
      </p:sp>
      <p:pic>
        <p:nvPicPr>
          <p:cNvPr id="14" name="Picture 13" descr="e7a72fc9722f22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075175"/>
            <a:ext cx="1487424" cy="4053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74976" y="4049267"/>
            <a:ext cx="34041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— so Xavier is wrong.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2d16e4daaa9b6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ace94c96bda407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5056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01056" y="2036064"/>
            <a:ext cx="598322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negative exponent: flip</a:t>
            </a:r>
          </a:p>
        </p:txBody>
      </p:sp>
      <p:pic>
        <p:nvPicPr>
          <p:cNvPr id="11" name="Picture 10" descr="c2271698628ebe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3408"/>
            <a:ext cx="1716024" cy="701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02024" y="300532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quotient, then multiply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16/3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5586861463d6b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2194560"/>
            <a:ext cx="17922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c91e3e2a0926f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124" y="2194560"/>
            <a:ext cx="1795272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 = 25/4 ·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a56cc9ab8e3bb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Equivalent or not?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6109" y="2313432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67df2d652c1a7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954" y="2369819"/>
            <a:ext cx="920495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7450" y="2313432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69969edd9de468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9156" y="2103120"/>
            <a:ext cx="1082040" cy="8778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81196" y="2313432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838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313653eca9fb1e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6415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50152" y="1865376"/>
            <a:ext cx="483412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product of powers</a:t>
            </a:r>
          </a:p>
        </p:txBody>
      </p:sp>
      <p:pic>
        <p:nvPicPr>
          <p:cNvPr id="11" name="Picture 10" descr="72b47a90434b13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3892296" cy="8747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78296" y="2750820"/>
            <a:ext cx="520598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quotient of powers</a:t>
            </a:r>
          </a:p>
        </p:txBody>
      </p:sp>
      <p:pic>
        <p:nvPicPr>
          <p:cNvPr id="13" name="Picture 12" descr="4ce2189c51a32d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91127"/>
            <a:ext cx="229209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8096" y="363626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bases, same exponents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are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1944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6633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478" y="2528315"/>
            <a:ext cx="1411224" cy="432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8702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e566d1e7830f89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408" y="2194560"/>
            <a:ext cx="1350264" cy="1100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60672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489" y="2514600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036a62ebcdd5b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334" y="2528315"/>
            <a:ext cx="1414272" cy="429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2606" y="251460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6cbd77409f62d1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4312" y="2194560"/>
            <a:ext cx="1365504" cy="1097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69816" y="2514600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1187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4000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61e8ec21e00a89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e9c3d2e1bc23af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6215" y="2103120"/>
            <a:ext cx="2609088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31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−343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5a81991eb38a0b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43" y="2194560"/>
            <a:ext cx="2694432" cy="1865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425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10328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29d8d4f07fac38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399" y="2103120"/>
            <a:ext cx="2712720" cy="1868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424586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−3 − (−2) = −1, so (3/4)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512978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d9a31f1d02f31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977384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2f8b87745f5bc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675" y="2194560"/>
            <a:ext cx="2868168" cy="1432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5e01597dd0b687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79" y="2103120"/>
            <a:ext cx="2880360" cy="1429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8069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81431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bb7fdb900ba4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663440"/>
            <a:ext cx="25908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85934" y="2171700"/>
            <a:ext cx="2535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drive holds  </a:t>
            </a:r>
          </a:p>
        </p:txBody>
      </p:sp>
      <p:pic>
        <p:nvPicPr>
          <p:cNvPr id="10" name="Picture 9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911" y="2226564"/>
            <a:ext cx="310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94807" y="2171700"/>
            <a:ext cx="221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costs 45 dollars.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878" y="3432379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4" name="Picture 13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6759" y="3487243"/>
            <a:ext cx="310896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47655" y="3432379"/>
            <a:ext cx="28881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a power of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power of 2.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84410" y="2080260"/>
            <a:ext cx="2535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drive holds  </a:t>
            </a:r>
          </a:p>
        </p:txBody>
      </p:sp>
      <p:pic>
        <p:nvPicPr>
          <p:cNvPr id="10" name="Picture 9" descr="bf9b1dd85a8573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2387" y="2135124"/>
            <a:ext cx="313944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96331" y="2080260"/>
            <a:ext cx="221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costs 45 dollars.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1354" y="3340939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4" name="Picture 13" descr="bf9b1dd85a8573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235" y="3395803"/>
            <a:ext cx="313944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49179" y="3340939"/>
            <a:ext cx="28881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a power of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9556" y="476435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6103e54678c6e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9795" y="4826839"/>
            <a:ext cx="5821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62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20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de0a72d7d8775c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7" y="2103120"/>
            <a:ext cx="4206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4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30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30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66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66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249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78733fd3b94c87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94560"/>
            <a:ext cx="1965960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273aa6b172e513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03120"/>
            <a:ext cx="196596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21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007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9456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50afff642b200f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7980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74833020a9714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4663440"/>
            <a:ext cx="411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94560"/>
            <a:ext cx="1423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39aee9e245f008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7" y="2103120"/>
            <a:ext cx="142646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11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935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9101e99983c70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176" y="4663440"/>
            <a:ext cx="597408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294" y="230428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928a3b4f052209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46" y="2194560"/>
            <a:ext cx="1569720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30428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84e4faf309355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94560"/>
            <a:ext cx="15575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3100" y="230428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3296" y="3122675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975" y="3185159"/>
            <a:ext cx="521207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1183" y="3122675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each with base 2, and say what you find.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4246" y="2214372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aa544492b6a6fb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098" y="2103120"/>
            <a:ext cx="1572768" cy="67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214372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7a59a1b29e4c5b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03120"/>
            <a:ext cx="1560576" cy="6797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6148" y="2214372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1772" y="3034283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8f4fc9fafaaefa3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451" y="3098291"/>
            <a:ext cx="52425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2707" y="3034283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886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and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the second is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not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6T7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monomials, and raise a monomial to a power, by applying the laws of exponents to variable bases.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bases were all numbers.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letter. Every law still works.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7" name="Picture 16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12702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95605" y="2372868"/>
            <a:ext cx="121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8069" y="3238500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 and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20" name="Picture 19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  <p:pic>
        <p:nvPicPr>
          <p:cNvPr id="21" name="Picture 20" descr="cb1e58e5201185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3284" y="3909059"/>
            <a:ext cx="28041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Product of powers — the base is a letter now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857a6ff2cfd8f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548" y="2340864"/>
            <a:ext cx="4242816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48364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3" name="Picture 12" descr="60da0631a38069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4355" y="2391156"/>
            <a:ext cx="2261616" cy="310896"/>
          </a:xfrm>
          <a:prstGeom prst="rect">
            <a:avLst/>
          </a:prstGeom>
        </p:spPr>
      </p:pic>
      <p:pic>
        <p:nvPicPr>
          <p:cNvPr id="14" name="Picture 13" descr="4b863a17877190f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1588" y="3026664"/>
            <a:ext cx="5038344" cy="4145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7952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of like bases.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475988"/>
            <a:ext cx="5144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variables stay separate:  </a:t>
            </a:r>
          </a:p>
        </p:txBody>
      </p:sp>
      <p:pic>
        <p:nvPicPr>
          <p:cNvPr id="17" name="Picture 16" descr="ec6e02736f5aa1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632" y="4492752"/>
            <a:ext cx="2615184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2321aacc5af3d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0912" y="2340864"/>
            <a:ext cx="422452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5440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867b291b8947b8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1431" y="2372868"/>
            <a:ext cx="1789176" cy="347472"/>
          </a:xfrm>
          <a:prstGeom prst="rect">
            <a:avLst/>
          </a:prstGeom>
        </p:spPr>
      </p:pic>
      <p:pic>
        <p:nvPicPr>
          <p:cNvPr id="13" name="Picture 12" descr="bf16b88015f459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748" y="3026664"/>
            <a:ext cx="3727704" cy="423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8452" y="30099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034c65761c567d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4443" y="3026664"/>
            <a:ext cx="338632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886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9d46370b5095c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676" y="2340864"/>
            <a:ext cx="4267200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34876" y="25146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3491f7c608f410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0867" y="2406396"/>
            <a:ext cx="1712976" cy="673608"/>
          </a:xfrm>
          <a:prstGeom prst="rect">
            <a:avLst/>
          </a:prstGeom>
        </p:spPr>
      </p:pic>
      <p:pic>
        <p:nvPicPr>
          <p:cNvPr id="13" name="Picture 12" descr="47105fda582f1c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1556" y="3419856"/>
            <a:ext cx="1810512" cy="810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42068" y="359664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a171748372531ac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059" y="3419856"/>
            <a:ext cx="3041904" cy="8107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568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two monomials.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a0894cd9a5ccf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843" y="2103120"/>
            <a:ext cx="246583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7cdcb68f6e6dc2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00151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87511" y="1903476"/>
            <a:ext cx="309676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regroup: coefficients, x's, y's</a:t>
            </a:r>
          </a:p>
        </p:txBody>
      </p:sp>
      <p:pic>
        <p:nvPicPr>
          <p:cNvPr id="11" name="Picture 10" descr="96f6e768b7d39e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3581400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67399" y="2601468"/>
            <a:ext cx="5516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6d1502d738698f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387" y="2194560"/>
            <a:ext cx="2904744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· 3,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of a product, then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9dec83acdd34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8900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960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f4723f2aadc8f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38272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24272" y="1898904"/>
            <a:ext cx="616000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product: raise all three factors</a:t>
            </a:r>
          </a:p>
        </p:txBody>
      </p:sp>
      <p:pic>
        <p:nvPicPr>
          <p:cNvPr id="11" name="Picture 10" descr="4747b1c9061c5e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5550408" cy="819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36408" y="2790443"/>
            <a:ext cx="35478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coefficients; subtract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n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61e723e73851e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1216152"/>
          </a:xfrm>
          <a:prstGeom prst="rect">
            <a:avLst/>
          </a:prstGeom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f9e02ef50b5c51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964" y="2194560"/>
            <a:ext cx="1307592" cy="121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2770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16p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2p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a84fc34933096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like bases: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7363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a1790c6884cea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603" y="4663440"/>
            <a:ext cx="606552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94560"/>
            <a:ext cx="93268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9934c5774a372f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367" y="2103120"/>
            <a:ext cx="938784" cy="527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474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79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d59527968cea4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032" y="4663440"/>
            <a:ext cx="615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56587" y="2171700"/>
            <a:ext cx="2996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cube has edge  </a:t>
            </a:r>
          </a:p>
        </p:txBody>
      </p:sp>
      <p:pic>
        <p:nvPicPr>
          <p:cNvPr id="10" name="Picture 9" descr="7234be0b0114c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479" y="2228088"/>
            <a:ext cx="52425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39735" y="2171700"/>
            <a:ext cx="24023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2791" y="2857500"/>
            <a:ext cx="33039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cf9ea632c43208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9627" y="2912364"/>
            <a:ext cx="73456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04195" y="2857500"/>
            <a:ext cx="3591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cube's volume as a single monomial.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56587" y="2080260"/>
            <a:ext cx="2996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cube has edge  </a:t>
            </a:r>
          </a:p>
        </p:txBody>
      </p:sp>
      <p:pic>
        <p:nvPicPr>
          <p:cNvPr id="10" name="Picture 9" descr="d5b036b87b982f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479" y="2136648"/>
            <a:ext cx="52425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39735" y="2080260"/>
            <a:ext cx="24023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2791" y="2766060"/>
            <a:ext cx="33039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3d798f50b853a79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9627" y="2820924"/>
            <a:ext cx="73456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04195" y="2766060"/>
            <a:ext cx="3591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cube's volume as a single monomial.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: raise the 2 as well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7551" y="476892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b5d97e94079cb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826839"/>
            <a:ext cx="64617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94560"/>
            <a:ext cx="264261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b248a5ef36392b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928" y="2103120"/>
            <a:ext cx="2645664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4,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a, b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1979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3df2d82dfc94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19" y="4663440"/>
            <a:ext cx="1417320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94560"/>
            <a:ext cx="134416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5f877ce397a50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683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31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25m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31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98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98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47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25m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a9b3bfaec72a6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94560"/>
            <a:ext cx="969264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3509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3799839d08455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508" y="2103120"/>
            <a:ext cx="984504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436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5c3b95db630c6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692" y="2194560"/>
            <a:ext cx="1088136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59b8fc61a2c5e1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71" y="2103120"/>
            <a:ext cx="1103376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242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and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0224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3514adb2311b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463" y="4663440"/>
            <a:ext cx="560832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91388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40cfb839fb05e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4835" y="2822448"/>
            <a:ext cx="1831848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+ n =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8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7268" y="2176272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333" y="2194560"/>
            <a:ext cx="13350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0357" y="2176272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35" y="2225040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3815" y="21762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0629" y="287273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159" y="2889503"/>
            <a:ext cx="160324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1407" y="287273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of them did.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5744" y="2084831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c94481d89f14e9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9" y="2103120"/>
            <a:ext cx="1338072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1881" y="2084831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4b5d1eb2e4e078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859" y="2133599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5339" y="2084831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0629" y="278129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0a18efbc23f658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159" y="2798063"/>
            <a:ext cx="160324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1407" y="278129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417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— Justina's is Rachel's product, multiplied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are correct; 15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3,375, x · x · x =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and six y's make 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powers: variable bases — TR9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a power: variable bases — 2CU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exponent on a letter was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x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-3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arrives — and it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4" name="Picture 13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17" name="Picture 16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31776" y="1760220"/>
            <a:ext cx="8417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27x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77659" y="237286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6" name="Picture 15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5878" y="298551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20" name="Picture 19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pic>
        <p:nvPicPr>
          <p:cNvPr id="22" name="Picture 21" descr="0ea9c861f6451dd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8431" y="3621024"/>
            <a:ext cx="170688" cy="551688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pattern, with a letter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87675c2f746772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9729" y="3337560"/>
            <a:ext cx="1341120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80849" y="344728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2adecdac76fbb7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841" y="3337560"/>
            <a:ext cx="1359408" cy="6766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86249" y="344728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6" name="Picture 15" descr="69a124f957c6b4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771" y="3506724"/>
            <a:ext cx="783336" cy="338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32107" y="344728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b69ecc143d70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1944" y="2377440"/>
            <a:ext cx="1517904" cy="7437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9848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60630814804bfc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839" y="2340864"/>
            <a:ext cx="2221992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7831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68ed09bab003c53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23" y="2345436"/>
            <a:ext cx="1825752" cy="807720"/>
          </a:xfrm>
          <a:prstGeom prst="rect">
            <a:avLst/>
          </a:prstGeom>
        </p:spPr>
      </p:pic>
      <p:pic>
        <p:nvPicPr>
          <p:cNvPr id="15" name="Picture 14" descr="69e3ce7992a6978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1" y="3432047"/>
            <a:ext cx="2322576" cy="9204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6908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513b8e8cb2d27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820" y="2374392"/>
            <a:ext cx="4462272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6092" y="25161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003efac2bd7b70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2083" y="2340864"/>
            <a:ext cx="3785615" cy="807720"/>
          </a:xfrm>
          <a:prstGeom prst="rect">
            <a:avLst/>
          </a:prstGeom>
        </p:spPr>
      </p:pic>
      <p:pic>
        <p:nvPicPr>
          <p:cNvPr id="13" name="Picture 12" descr="e889baf54ca49a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5112" y="3422904"/>
            <a:ext cx="3511296" cy="819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581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monomials with negative exponents.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284a92747d139e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16" y="2103120"/>
            <a:ext cx="2761488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cb6908d478c4c4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16915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5152" y="1903476"/>
            <a:ext cx="292912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pic>
        <p:nvPicPr>
          <p:cNvPr id="11" name="Picture 10" descr="3b9efb26957974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2828544" cy="883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14544" y="2831592"/>
            <a:ext cx="626973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move y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down; the 12 and the x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stay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450d7a0354299e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4755" y="2194560"/>
            <a:ext cx="3112008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7260" y="47122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fcfdcd223fa61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499" y="4480560"/>
            <a:ext cx="746760" cy="1011936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Several laws in one expression — the state guide's item.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061639b8c49f6a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03120"/>
            <a:ext cx="1417320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e48218bf3a7b1c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74848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60848" y="2100072"/>
            <a:ext cx="612343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raise every factor: a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, 4,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-7</a:t>
            </a:r>
          </a:p>
        </p:txBody>
      </p:sp>
      <p:pic>
        <p:nvPicPr>
          <p:cNvPr id="11" name="Picture 10" descr="732a8b0591bf3c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1408176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94176" y="318668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1,024;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-35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moves up as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/1,024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42f4571630d5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2194560"/>
            <a:ext cx="1773936" cy="1112520"/>
          </a:xfrm>
          <a:prstGeom prst="rect">
            <a:avLst/>
          </a:prstGeom>
        </p:spPr>
      </p:pic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af1ad5233a94de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0743" y="2194560"/>
            <a:ext cx="1780032" cy="1112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2711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27y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move the y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2772" y="47259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636f909b16359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3011" y="4480560"/>
            <a:ext cx="935736" cy="1039368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94560"/>
            <a:ext cx="68580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e1a9b92e4dabf4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11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1372" y="48539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4033d6f9e46bb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611" y="4663440"/>
            <a:ext cx="478536" cy="929640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70a7739fb79464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94560"/>
            <a:ext cx="716280" cy="103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559e61ec96faa8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571" y="2103120"/>
            <a:ext cx="722376" cy="10332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10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8804" y="465277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6f79c957ad2d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527304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5481" y="2171700"/>
            <a:ext cx="4251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model's scale factor is  </a:t>
            </a:r>
          </a:p>
        </p:txBody>
      </p:sp>
      <p:pic>
        <p:nvPicPr>
          <p:cNvPr id="10" name="Picture 9" descr="270dca7efd9a29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0178" y="2229612"/>
            <a:ext cx="7254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15602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model is 12 centimeters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using only positive exponents.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5481" y="2080260"/>
            <a:ext cx="4251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model's scale factor is  </a:t>
            </a:r>
          </a:p>
        </p:txBody>
      </p:sp>
      <p:pic>
        <p:nvPicPr>
          <p:cNvPr id="10" name="Picture 9" descr="279e9e7a584d29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0178" y="2138171"/>
            <a:ext cx="7254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15602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model is 12 centimeters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using only positive exponents.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only the x moves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1372" y="490794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71f960ddecd24b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611" y="4715918"/>
            <a:ext cx="478536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positive exponents.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f20596ac66be7a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580" y="2103120"/>
            <a:ext cx="1356360" cy="527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474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factors move 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9536" y="49042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532a74f60c6ce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776" y="4663440"/>
            <a:ext cx="902208" cy="1030224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475c3eb32f30ab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004" y="2103120"/>
            <a:ext cx="142951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94560"/>
            <a:ext cx="144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f75ba70705ade9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2103120"/>
            <a:ext cx="1450848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683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31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31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98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98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47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61aec65184b6be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7" y="2194560"/>
            <a:ext cx="603504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with a positive exponent.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206225517bbdc3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1388" y="2103120"/>
            <a:ext cx="618744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832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then rewrite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888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74f00062d590b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7" y="4663440"/>
            <a:ext cx="60350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91236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60742bc89c11a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82092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+ n =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7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17170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22808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17170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22808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17170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5540" y="285750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208" y="294589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5544" y="28575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08026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899d3ea6912bf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13664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08026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ab89a53f283b55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13664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08026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5540" y="276606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dbda9c11c9673f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208" y="285445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5544" y="27660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reciprocals: 8 and 1/8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is the reciprocal of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 When x = 2: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 and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1/8.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Variables with negative exponents — 2NL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a large number in scientific notation, read one back into standard form, and find how many times larger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 laws finished — numbers and letters.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go to work on twenty-digit numbers.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33828"/>
            <a:ext cx="774192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9816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42209" y="1760220"/>
            <a:ext cx="769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33828"/>
            <a:ext cx="774192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5131" y="2372868"/>
            <a:ext cx="2426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1,000,000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4379" y="298551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9816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3604" y="3598164"/>
            <a:ext cx="15117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millions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Powers of ten name the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87552" y="34015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e691909141812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840" y="2403348"/>
            <a:ext cx="1124712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3552" y="2318004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e63b4a648511fa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247" y="2388108"/>
            <a:ext cx="1551432" cy="316992"/>
          </a:xfrm>
          <a:prstGeom prst="rect">
            <a:avLst/>
          </a:prstGeom>
        </p:spPr>
      </p:pic>
      <p:pic>
        <p:nvPicPr>
          <p:cNvPr id="13" name="Picture 12" descr="91d69a76bf0558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6864" y="3031236"/>
            <a:ext cx="3139440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06304" y="30038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82060c708b59ee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295" y="3035808"/>
            <a:ext cx="3642360" cy="3931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decimal point moves: 26,000,000. → 2.6, seven places,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7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36142d2660e68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176" y="2348484"/>
            <a:ext cx="2112264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0440" y="25252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cfffa4b9d3623a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431" y="2340864"/>
            <a:ext cx="3486912" cy="826008"/>
          </a:xfrm>
          <a:prstGeom prst="rect">
            <a:avLst/>
          </a:prstGeom>
        </p:spPr>
      </p:pic>
      <p:pic>
        <p:nvPicPr>
          <p:cNvPr id="13" name="Picture 12" descr="7237c8de855865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7744" y="3441192"/>
            <a:ext cx="4066031" cy="8260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6055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5337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On a screen, 8.4E6 means 8.4 ×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Standard form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 2018, funding for education in Florida totaled 30,100,000,000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4fc8bb6e1458af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00016" cy="3992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86016" y="1891284"/>
            <a:ext cx="439826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3 is in the ten-billions place</a:t>
            </a:r>
          </a:p>
        </p:txBody>
      </p:sp>
      <p:pic>
        <p:nvPicPr>
          <p:cNvPr id="11" name="Picture 10" descr="e6290a823a8494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3848"/>
            <a:ext cx="654100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27008" y="2532887"/>
            <a:ext cx="255727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630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1 is in the hundred-millions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1.105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8167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dc6640317f68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072" y="2133599"/>
            <a:ext cx="140512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4200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7f651d263392d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252" y="2136648"/>
            <a:ext cx="1414272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752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442927616471d1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50848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36848" y="203758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0ffc80c57552c6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2395728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81728" y="30617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subtract the exponents</a:t>
            </a:r>
          </a:p>
        </p:txBody>
      </p:sp>
      <p:pic>
        <p:nvPicPr>
          <p:cNvPr id="13" name="Picture 12" descr="c1efb007aba271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8496"/>
            <a:ext cx="2026920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2920" y="388620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183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4952" y="2185415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24165" y="2945892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3512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4952" y="2185415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4a122d0a8ad789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24165" y="2945892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1751163183b002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3512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5461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0.75 × 10 = 7.5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7658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4 in?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0641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522" y="2225040"/>
            <a:ext cx="142951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4034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2165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cf8cb07a78986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6046" y="2132076"/>
            <a:ext cx="142646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2510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7.2 × 10,000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72,000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431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Every nonzero digit stays in the coefficient.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5287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7347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3.56 hundred-thousands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49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6622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9308" y="2223516"/>
            <a:ext cx="138988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291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powers first.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496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497497aa864fba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132076"/>
            <a:ext cx="1414272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9670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86019fcf1f04e7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2356" y="2130551"/>
            <a:ext cx="1386840" cy="3566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291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950,000 versus 1,200,000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5.2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5.2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9919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824" y="2225040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20296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9348" y="2223516"/>
            <a:ext cx="110642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45772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1443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f0145cdff15a98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2348" y="2133599"/>
            <a:ext cx="1106424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8a4ddfeda2c3aab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10642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44248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1,000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9023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928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1152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225040"/>
            <a:ext cx="142646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56668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Coefficients, then powers, then multiply.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07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6acdf7e54fb071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976" y="2130551"/>
            <a:ext cx="1408176" cy="3566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115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8adc052eab579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132076"/>
            <a:ext cx="142341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5362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400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 is not an error.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3,500,000,000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26" y="217170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6417" y="2223516"/>
            <a:ext cx="131064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7057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definition.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2502" y="208026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6407d8dfbcc3b6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4893" y="2132076"/>
            <a:ext cx="131368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581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6732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equal, yes — scientific notation,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Equal, yes. Scientific notation, no: 20 is not less than 10.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large numbers — 2AL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large numbers — WEZ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— LJQ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very small numbers in scientific notation, read them back, and find how many times larger or smaller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on the 10 were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are negative — and the numbers get very small.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1" name="Picture 10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461260"/>
            <a:ext cx="55778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5688" y="237286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8551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c7ed55c1b21389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298551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9816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5754" y="176022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4.3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2" name="Picture 11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461260"/>
            <a:ext cx="55778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95688" y="237286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pic>
        <p:nvPicPr>
          <p:cNvPr id="14" name="Picture 13" descr="357ee64ca77eb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246" y="2395728"/>
            <a:ext cx="746760" cy="6004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298551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c7ed55c1b21389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298551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4153" y="2985516"/>
            <a:ext cx="1529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 and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59816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  <p:pic>
        <p:nvPicPr>
          <p:cNvPr id="20" name="Picture 19" descr="0d671d8905812b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058" y="3621024"/>
            <a:ext cx="746760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Negative powers of ten name the decimal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d6ecddef6320c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448" y="3363468"/>
            <a:ext cx="1700784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30232" y="347624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96b31b16b9344b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23" y="3337560"/>
            <a:ext cx="3355848" cy="734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104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puts the 1 in that decimal place: 10</a:t>
            </a:r>
            <a:r>
              <a:rPr sz="2300" b="1" i="0" baseline="30000">
                <a:solidFill>
                  <a:srgbClr val="1A1A1A"/>
                </a:solidFill>
                <a:latin typeface="Century Schoolbook"/>
              </a:rPr>
              <a:t>-4</a:t>
            </a:r>
            <a:r>
              <a:rPr sz="2300" b="1" i="0">
                <a:solidFill>
                  <a:srgbClr val="1A1A1A"/>
                </a:solidFill>
                <a:latin typeface="Century Schoolbook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3fded137bde5d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840" y="2368296"/>
            <a:ext cx="3230880" cy="3566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05720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70fccb69fb9794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711" y="2369820"/>
            <a:ext cx="3934968" cy="353568"/>
          </a:xfrm>
          <a:prstGeom prst="rect">
            <a:avLst/>
          </a:prstGeom>
        </p:spPr>
      </p:pic>
      <p:pic>
        <p:nvPicPr>
          <p:cNvPr id="13" name="Picture 12" descr="3d3d81b8cf9d78c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9915" y="3058668"/>
            <a:ext cx="436168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point moves: 0.0000672 → 6.72 is five places right,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0fa18e698f1b9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132" y="2340864"/>
            <a:ext cx="4565904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91036" y="252374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302afd80ef14e6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27" y="2340864"/>
            <a:ext cx="2499360" cy="822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502151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091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Which is bigger,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or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-8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? The one with the larger exponent: −5 &gt; −8,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quantity in words,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The density of oxygen is 1,332 millionths of a gram per cubic centimeter.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f75d1e7d211726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99688" cy="792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85688" y="2087880"/>
            <a:ext cx="549859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1,332 millionths, as a decimal</a:t>
            </a:r>
          </a:p>
        </p:txBody>
      </p:sp>
      <p:pic>
        <p:nvPicPr>
          <p:cNvPr id="11" name="Picture 10" descr="0cf3cd97d6d483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93496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20968" y="2933700"/>
            <a:ext cx="516331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1 is in the 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0.001332 = 1.332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0.00067 — the 6 is in the ten-thousandths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19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ee4e609945ec82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096" y="2133599"/>
            <a:ext cx="162153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163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dee1eef8fb06ad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0684" y="2136648"/>
            <a:ext cx="157581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3650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b7530658f265bf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61288" cy="685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47288" y="20345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eccf3b9fe29a56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0360"/>
            <a:ext cx="3730752" cy="810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16752" y="3057144"/>
            <a:ext cx="53675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−4 − (−7) = 3</a:t>
            </a:r>
          </a:p>
        </p:txBody>
      </p:sp>
      <p:pic>
        <p:nvPicPr>
          <p:cNvPr id="13" name="Picture 12" descr="b9ef527417c277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5448"/>
            <a:ext cx="2450592" cy="3992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6592" y="393649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19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235" y="2185415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140" y="2196083"/>
            <a:ext cx="2005584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5724" y="2185415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776" y="2194560"/>
            <a:ext cx="2011680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46456" y="2185415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7711" y="2183892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ff84bfaa36d96a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616" y="2194560"/>
            <a:ext cx="2008632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183892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33867c58a31fde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194560"/>
            <a:ext cx="2011680" cy="435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47980" y="2183892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04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94560"/>
            <a:ext cx="87477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decimal.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1ae3f706710593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03120"/>
            <a:ext cx="8747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1 in the fourth decimal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3 in?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thousandths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153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225040"/>
            <a:ext cx="161848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522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 left.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153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60482b8afbb0c2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132076"/>
            <a:ext cx="161848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522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2 lands in the ten-thousandths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0.00025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431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Every nonzero digit stays in the coefficient.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5287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7347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9 is in the hundred-thousandths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9.88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8.1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8.1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7895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800" y="2225040"/>
            <a:ext cx="129844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223516"/>
            <a:ext cx="130149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377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4847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b2cf78744edd12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5752" y="2133599"/>
            <a:ext cx="130149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3fbccf964ceba4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132076"/>
            <a:ext cx="13045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4084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300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0075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658" y="2223516"/>
            <a:ext cx="160020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29858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2544" y="2225040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493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Compare the exponents first.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9232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62873e535fa7f6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8134" y="2132076"/>
            <a:ext cx="160324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31382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e51f94f16afd5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4068" y="2133599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646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&gt; −8, so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the larger 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3.9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E−6 means × 10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4.2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0.0000042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665" y="21717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499" y="2226564"/>
            <a:ext cx="13136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7187" y="21717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9189" y="28575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023" y="2912364"/>
            <a:ext cx="1310640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5663" y="28575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 of 10 — compare the coefficients.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6141" y="20802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8b4c071bf2cc2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975" y="2135124"/>
            <a:ext cx="13167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8711" y="20802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7665" y="27660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5966f77beb213b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3499" y="2820924"/>
            <a:ext cx="131368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7187" y="27660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0.02 in and 0.06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B; 3 times; e.g.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in.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small numbers — 85M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small numbers — KDR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