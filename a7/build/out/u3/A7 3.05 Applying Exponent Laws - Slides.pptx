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9" Type="http://schemas.openxmlformats.org/officeDocument/2006/relationships/image" Target="../media/image5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Applying Exponent Laws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rewrite a rational base with a negative exponent using a positive exponent, and apply several laws to generate an equivalent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dfd26d8ad0c54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34668"/>
            <a:ext cx="396240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42744"/>
            <a:ext cx="55845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Rewrite with a positive exponent:  </a:t>
            </a:r>
          </a:p>
        </p:txBody>
      </p:sp>
      <p:pic>
        <p:nvPicPr>
          <p:cNvPr id="11" name="Picture 10" descr="592658f9055527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907" y="2075688"/>
            <a:ext cx="432816" cy="591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45308"/>
            <a:ext cx="2942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Which is larger, </a:t>
            </a:r>
          </a:p>
        </p:txBody>
      </p:sp>
      <p:pic>
        <p:nvPicPr>
          <p:cNvPr id="13" name="Picture 12" descr="6e3fb6dc69f29d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00" y="2939796"/>
            <a:ext cx="295656" cy="268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75956" y="2845308"/>
            <a:ext cx="674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or </a:t>
            </a:r>
          </a:p>
        </p:txBody>
      </p:sp>
      <p:pic>
        <p:nvPicPr>
          <p:cNvPr id="15" name="Picture 14" descr="f5c888b6c84690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305" y="2938272"/>
            <a:ext cx="289560" cy="2712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02865" y="284530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21964"/>
            <a:ext cx="40653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the reciprocal of  </a:t>
            </a:r>
          </a:p>
        </p:txBody>
      </p:sp>
      <p:pic>
        <p:nvPicPr>
          <p:cNvPr id="18" name="Picture 17" descr="1a683e70796a000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726" y="3480816"/>
            <a:ext cx="35052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dfd26d8ad0c54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34668"/>
            <a:ext cx="396240" cy="268224"/>
          </a:xfrm>
          <a:prstGeom prst="rect">
            <a:avLst/>
          </a:prstGeom>
        </p:spPr>
      </p:pic>
      <p:pic>
        <p:nvPicPr>
          <p:cNvPr id="10" name="Picture 9" descr="9353f77b4d8885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048" y="1463040"/>
            <a:ext cx="185928" cy="5394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142744"/>
            <a:ext cx="55845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Rewrite with a positive exponent:  </a:t>
            </a:r>
          </a:p>
        </p:txBody>
      </p:sp>
      <p:pic>
        <p:nvPicPr>
          <p:cNvPr id="12" name="Picture 11" descr="592658f9055527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907" y="2075688"/>
            <a:ext cx="432816" cy="591312"/>
          </a:xfrm>
          <a:prstGeom prst="rect">
            <a:avLst/>
          </a:prstGeom>
        </p:spPr>
      </p:pic>
      <p:pic>
        <p:nvPicPr>
          <p:cNvPr id="13" name="Picture 12" descr="54c7ca2f4972dc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363" y="2144268"/>
            <a:ext cx="268224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2845308"/>
            <a:ext cx="2942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Which is larger, </a:t>
            </a:r>
          </a:p>
        </p:txBody>
      </p:sp>
      <p:pic>
        <p:nvPicPr>
          <p:cNvPr id="15" name="Picture 14" descr="6e3fb6dc69f29d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300" y="2939796"/>
            <a:ext cx="295656" cy="268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75956" y="2845308"/>
            <a:ext cx="674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or </a:t>
            </a:r>
          </a:p>
        </p:txBody>
      </p:sp>
      <p:pic>
        <p:nvPicPr>
          <p:cNvPr id="17" name="Picture 16" descr="f5c888b6c84690f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305" y="2938272"/>
            <a:ext cx="289560" cy="2712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02865" y="284530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9" name="Picture 18" descr="3cd5a7bd49e1112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976" y="2938272"/>
            <a:ext cx="289560" cy="2712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64536" y="2845308"/>
            <a:ext cx="15830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 (81 &gt; 64)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521964"/>
            <a:ext cx="40653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the reciprocal of  </a:t>
            </a:r>
          </a:p>
        </p:txBody>
      </p:sp>
      <p:pic>
        <p:nvPicPr>
          <p:cNvPr id="22" name="Picture 21" descr="1a683e70796a000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2726" y="3480816"/>
            <a:ext cx="350520" cy="539496"/>
          </a:xfrm>
          <a:prstGeom prst="rect">
            <a:avLst/>
          </a:prstGeom>
        </p:spPr>
      </p:pic>
      <p:pic>
        <p:nvPicPr>
          <p:cNvPr id="23" name="Picture 22" descr="bf8821cf3198a9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1886" y="3480816"/>
            <a:ext cx="35052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pattern with a fraction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651760" y="1993392"/>
          <a:ext cx="6858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Expanded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2/5 · 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4/25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5/2 · 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25/4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Flip the base, make the exponent positive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38dc06abe520b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437" y="1993392"/>
            <a:ext cx="2185416" cy="704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8853" y="2116836"/>
            <a:ext cx="1263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(</a:t>
            </a:r>
          </a:p>
        </p:txBody>
      </p:sp>
      <p:pic>
        <p:nvPicPr>
          <p:cNvPr id="12" name="Picture 11" descr="e8ca827cacc61b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91" y="2165604"/>
            <a:ext cx="1228344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53235" y="2116836"/>
            <a:ext cx="3320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pic>
        <p:nvPicPr>
          <p:cNvPr id="14" name="Picture 13" descr="9169d867eb22c6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524" y="2971800"/>
            <a:ext cx="2983992" cy="6766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4516" y="3081528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6" name="Picture 15" descr="f0e84f7b8a0e3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859" y="2973324"/>
            <a:ext cx="2612136" cy="673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39867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sign stays with the fraction. Flip the numbers, not the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806695"/>
            <a:ext cx="54684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whole number is a fraction over 1:  </a:t>
            </a:r>
          </a:p>
        </p:txBody>
      </p:sp>
      <p:pic>
        <p:nvPicPr>
          <p:cNvPr id="19" name="Picture 18" descr="b03f09abb77756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840" y="4700016"/>
            <a:ext cx="3151632" cy="67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Several laws at once — the plan is still yours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c7035540ba8a0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948" y="1993392"/>
            <a:ext cx="7659624" cy="792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242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Any correct order of laws gives the same value. Finish with a positive exponent.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388277379d8e20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03120"/>
            <a:ext cx="1173480" cy="661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74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545e90417d70b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627376" cy="664464"/>
          </a:xfrm>
          <a:prstGeom prst="rect">
            <a:avLst/>
          </a:prstGeom>
        </p:spPr>
      </p:pic>
      <p:pic>
        <p:nvPicPr>
          <p:cNvPr id="9" name="Picture 8" descr="8945cb43fcf3af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59024"/>
            <a:ext cx="1853184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64/49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4e69c1d91f1a3f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1600200"/>
            <a:ext cx="1459992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8d211e9c6d2b33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1600200"/>
            <a:ext cx="1459992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a positive exponent,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326" y="3629770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1" name="Picture 10" descr="196afe9826da4a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945" y="3550522"/>
            <a:ext cx="2368296" cy="615696"/>
          </a:xfrm>
          <a:prstGeom prst="rect">
            <a:avLst/>
          </a:prstGeom>
        </p:spPr>
      </p:pic>
      <p:pic>
        <p:nvPicPr>
          <p:cNvPr id="12" name="Picture 11" descr="31d33b28236bfb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190" y="4294234"/>
            <a:ext cx="2029968" cy="6156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9431" y="519187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4" name="Picture 13" descr="314171b6a1b287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1" y="5047090"/>
            <a:ext cx="104241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17b9fb3163beeb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963" y="2103120"/>
            <a:ext cx="2069591" cy="664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0504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15161a3488c78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11496" cy="667512"/>
          </a:xfrm>
          <a:prstGeom prst="rect">
            <a:avLst/>
          </a:prstGeom>
        </p:spPr>
      </p:pic>
      <p:pic>
        <p:nvPicPr>
          <p:cNvPr id="9" name="Picture 8" descr="0b481a76517fb3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1630680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(5/8)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25/64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726f578657118a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883" y="1600200"/>
            <a:ext cx="3349752" cy="832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5224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0084f7f2bc8d1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1600200"/>
            <a:ext cx="335584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one base and a positive exponent.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6900" y="3957032"/>
            <a:ext cx="7564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Add the exponents, then flip the fraction:</a:t>
            </a:r>
          </a:p>
        </p:txBody>
      </p:sp>
      <p:pic>
        <p:nvPicPr>
          <p:cNvPr id="11" name="Picture 10" descr="42824fa219a1c3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764" y="4519388"/>
            <a:ext cx="4834128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1499" y="54048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364254372aca3e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739" y="5263100"/>
            <a:ext cx="1478280" cy="8321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192"/>
            <a:ext cx="5364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copier is set to shrink a page to  </a:t>
            </a:r>
          </a:p>
        </p:txBody>
      </p:sp>
      <p:pic>
        <p:nvPicPr>
          <p:cNvPr id="9" name="Picture 8" descr="6fa687cf291616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418" y="1874519"/>
            <a:ext cx="176784" cy="54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38202" y="1917192"/>
            <a:ext cx="18413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of its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8232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page 6 inches wide is copied 4 times in a row, each copy from the last.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86700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fraction of the original page's size is the last copy?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192"/>
            <a:ext cx="5364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copier is set to shrink a page to  </a:t>
            </a:r>
          </a:p>
        </p:txBody>
      </p:sp>
      <p:pic>
        <p:nvPicPr>
          <p:cNvPr id="9" name="Picture 8" descr="82207df6c9253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418" y="1874519"/>
            <a:ext cx="170688" cy="54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32106" y="1917192"/>
            <a:ext cx="18413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of its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8232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page 6 inches wide is copied 4 times in a row, each copy from the last.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86700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fraction of the original page's size is the last copy?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5755" y="4372687"/>
            <a:ext cx="25848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Four copies:  </a:t>
            </a:r>
          </a:p>
        </p:txBody>
      </p:sp>
      <p:pic>
        <p:nvPicPr>
          <p:cNvPr id="14" name="Picture 13" descr="d5a448eea45117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396" y="4244671"/>
            <a:ext cx="2176272" cy="713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58511" y="523984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6" name="Picture 15" descr="62bc59a32308df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751" y="5095063"/>
            <a:ext cx="524256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60a7160d7e15e9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191" y="2194560"/>
            <a:ext cx="1469136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ccbe016419b287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191" y="2103120"/>
            <a:ext cx="1469136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82754" y="3319272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0" name="Picture 9" descr="8696ad001dd2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373" y="3240023"/>
            <a:ext cx="2377440" cy="6156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83608" y="4806695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c0f8e1841d70d1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848" y="4663440"/>
            <a:ext cx="1274064" cy="8351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202d2f9edf4ff6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144" y="2194560"/>
            <a:ext cx="1475232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434b7f64e448db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144" y="2103120"/>
            <a:ext cx="1475232" cy="838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78182" y="3319272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0" name="Picture 9" descr="0c11b020145ca0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01" y="3243072"/>
            <a:ext cx="2383536" cy="609600"/>
          </a:xfrm>
          <a:prstGeom prst="rect">
            <a:avLst/>
          </a:prstGeom>
        </p:spPr>
      </p:pic>
      <p:pic>
        <p:nvPicPr>
          <p:cNvPr id="11" name="Picture 10" descr="7480f7bb643801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046" y="3980688"/>
            <a:ext cx="1679448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4128" y="48722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8b23c582eb8d13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368" y="4727448"/>
            <a:ext cx="573024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aad42ec8f13de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94560"/>
            <a:ext cx="1417320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8a3193cda974bd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576" y="2103120"/>
            <a:ext cx="142036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7806" y="3314699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0" name="Picture 9" descr="f8fd36b400e406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425" y="3240023"/>
            <a:ext cx="2304288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9516" y="4806695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d8c9697ca23389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756" y="4663440"/>
            <a:ext cx="1222248" cy="8351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933a5614c61405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2194560"/>
            <a:ext cx="1722120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440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30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(7/10)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30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(−10/7)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6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(−7/10)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6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(10/7)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2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c8cc7f17e57404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2103120"/>
            <a:ext cx="1722120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4459" y="3903295"/>
            <a:ext cx="6086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fraction. The sign stays:  </a:t>
            </a:r>
          </a:p>
        </p:txBody>
      </p:sp>
      <p:pic>
        <p:nvPicPr>
          <p:cNvPr id="11" name="Picture 10" descr="30f8381f78b3ba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860" y="3820999"/>
            <a:ext cx="2746248" cy="6217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(−10/7)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be0e3dab7c06cf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194560"/>
            <a:ext cx="290779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440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30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(9/2)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30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(2/9)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6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(2/9)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6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(2/9)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2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c2209fde782f6b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103120"/>
            <a:ext cx="290779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8c530bb460efa1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112" y="3820999"/>
            <a:ext cx="5154168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(2/9)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6f7df90f5a7cc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839" y="2194560"/>
            <a:ext cx="2529840" cy="838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71606c5cb17b31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839" y="2103120"/>
            <a:ext cx="2529840" cy="841248"/>
          </a:xfrm>
          <a:prstGeom prst="rect">
            <a:avLst/>
          </a:prstGeom>
        </p:spPr>
      </p:pic>
      <p:pic>
        <p:nvPicPr>
          <p:cNvPr id="9" name="Picture 8" descr="b66b632c66dd8f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020" y="3246120"/>
            <a:ext cx="1947672" cy="609600"/>
          </a:xfrm>
          <a:prstGeom prst="rect">
            <a:avLst/>
          </a:prstGeom>
        </p:spPr>
      </p:pic>
      <p:pic>
        <p:nvPicPr>
          <p:cNvPr id="10" name="Picture 9" descr="7f6a024804d011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020" y="3983736"/>
            <a:ext cx="3563112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4128" y="487832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7511c6a209ecd3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368" y="4733544"/>
            <a:ext cx="573024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bf74f091e96668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516" y="2194560"/>
            <a:ext cx="3142488" cy="844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0c942442683f51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516" y="2103120"/>
            <a:ext cx="314248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64155" y="3323844"/>
            <a:ext cx="1633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Inside:  </a:t>
            </a:r>
          </a:p>
        </p:txBody>
      </p:sp>
      <p:pic>
        <p:nvPicPr>
          <p:cNvPr id="10" name="Picture 9" descr="91fa5aa22598ea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772" y="3246120"/>
            <a:ext cx="4745736" cy="612648"/>
          </a:xfrm>
          <a:prstGeom prst="rect">
            <a:avLst/>
          </a:prstGeom>
        </p:spPr>
      </p:pic>
      <p:pic>
        <p:nvPicPr>
          <p:cNvPr id="11" name="Picture 10" descr="339da7c30fdc7d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019" y="3986783"/>
            <a:ext cx="3724656" cy="612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6864" y="48828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72cf4eeb1d6aaf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4736592"/>
            <a:ext cx="987552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8057" y="2298192"/>
            <a:ext cx="2211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Marco says  </a:t>
            </a:r>
          </a:p>
        </p:txBody>
      </p:sp>
      <p:pic>
        <p:nvPicPr>
          <p:cNvPr id="9" name="Picture 8" descr="91c18cfbfd314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223" y="2194560"/>
            <a:ext cx="1335024" cy="66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7247" y="2298192"/>
            <a:ext cx="3679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can be rewritten as  </a:t>
            </a:r>
          </a:p>
        </p:txBody>
      </p:sp>
      <p:pic>
        <p:nvPicPr>
          <p:cNvPr id="11" name="Picture 10" descr="4ea189ef1afd1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438" y="2194560"/>
            <a:ext cx="954023" cy="664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13334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'two negatives make a positive.'  Is 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5009" y="2208276"/>
            <a:ext cx="2211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Marco says  </a:t>
            </a:r>
          </a:p>
        </p:txBody>
      </p:sp>
      <p:pic>
        <p:nvPicPr>
          <p:cNvPr id="9" name="Picture 8" descr="a601e11597070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175" y="2103120"/>
            <a:ext cx="1338072" cy="66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7247" y="2208276"/>
            <a:ext cx="3679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can be rewritten as  </a:t>
            </a:r>
          </a:p>
        </p:txBody>
      </p:sp>
      <p:pic>
        <p:nvPicPr>
          <p:cNvPr id="11" name="Picture 10" descr="84af40a7a998b6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438" y="2103120"/>
            <a:ext cx="957072" cy="667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04495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'two negatives make a positive.'  Is 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9625" y="3670123"/>
            <a:ext cx="86594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negative exponent flips the fraction. The sign stays.</a:t>
            </a:r>
          </a:p>
        </p:txBody>
      </p:sp>
      <p:pic>
        <p:nvPicPr>
          <p:cNvPr id="14" name="Picture 13" descr="6134488e046327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489" y="4195903"/>
            <a:ext cx="2258568" cy="518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8512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(−4/11)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-7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(−11/4)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5905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59051"/>
            <a:ext cx="5109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with a positive exponent.  </a:t>
            </a:r>
          </a:p>
        </p:txBody>
      </p:sp>
      <p:pic>
        <p:nvPicPr>
          <p:cNvPr id="10" name="Picture 9" descr="8957ceb1115470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480" y="1517904"/>
            <a:ext cx="786384" cy="5394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28142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8142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6e6b6af109cf88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240280"/>
            <a:ext cx="768096" cy="5394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00380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03804"/>
            <a:ext cx="5109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with a positive exponent.  </a:t>
            </a:r>
          </a:p>
        </p:txBody>
      </p:sp>
      <p:pic>
        <p:nvPicPr>
          <p:cNvPr id="16" name="Picture 15" descr="6754f41029653f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480" y="2962656"/>
            <a:ext cx="944880" cy="5394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72770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27704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9" name="Picture 18" descr="5d72cdcfdc8659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878" y="3685032"/>
            <a:ext cx="777240" cy="5425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45312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5312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987c9144230c55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878" y="4410456"/>
            <a:ext cx="1633728" cy="5425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517550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75504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5320284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5175504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2b417829a513b4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5135880"/>
            <a:ext cx="1664208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equivalent expressions involving exponents I — VLM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