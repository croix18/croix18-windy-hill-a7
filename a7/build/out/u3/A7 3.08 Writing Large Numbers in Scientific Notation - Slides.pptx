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Writing Large Numbers in Scientific Notation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write a large number in scientific notation, read one back into standard form, and find how many times larger one number is than another.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the exponent laws finished — numbers and letters.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they go to work on twenty-digit numbers.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5670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Rewrite with a positive exponent:  </a:t>
            </a:r>
          </a:p>
        </p:txBody>
      </p:sp>
      <p:pic>
        <p:nvPicPr>
          <p:cNvPr id="10" name="Picture 9" descr="1f7555b99367de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353" y="1850136"/>
            <a:ext cx="585216" cy="277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37286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2" name="Picture 11" descr="1a29715e972685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2433828"/>
            <a:ext cx="774192" cy="335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2985516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4" name="Picture 13" descr="dcb33f053a4bb3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009900"/>
            <a:ext cx="853440" cy="4084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598164"/>
            <a:ext cx="59976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In 4,500,000, which place is the 4 in?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5670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Rewrite with a positive exponent:  </a:t>
            </a:r>
          </a:p>
        </p:txBody>
      </p:sp>
      <p:pic>
        <p:nvPicPr>
          <p:cNvPr id="10" name="Picture 9" descr="1f7555b99367de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353" y="1850136"/>
            <a:ext cx="585216" cy="277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42209" y="1760220"/>
            <a:ext cx="7698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4/x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37286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3" name="Picture 12" descr="1a29715e972685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2433828"/>
            <a:ext cx="774192" cy="335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25131" y="2372868"/>
            <a:ext cx="24264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2300" b="1" i="0">
                <a:solidFill>
                  <a:srgbClr val="9E1B32"/>
                </a:solidFill>
                <a:latin typeface="Century Schoolbook"/>
              </a:rPr>
              <a:t> = 1,000,000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985516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6" name="Picture 15" descr="dcb33f053a4bb3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009900"/>
            <a:ext cx="853440" cy="4084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04379" y="2985516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598164"/>
            <a:ext cx="59976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In 4,500,000, which place is the 4 in?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3604" y="3598164"/>
            <a:ext cx="15117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millions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Powers of ten name the places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142999" y="2340864"/>
          <a:ext cx="987552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10,000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100,000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1,000,000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87552" y="340156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The exponent counts the zeros — and names the place of the 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Scientific notation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ca362daa5aca82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840" y="2403348"/>
            <a:ext cx="1124712" cy="2865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73552" y="2318004"/>
            <a:ext cx="15248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with   </a:t>
            </a:r>
          </a:p>
        </p:txBody>
      </p:sp>
      <p:pic>
        <p:nvPicPr>
          <p:cNvPr id="12" name="Picture 11" descr="24588923a2e411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247" y="2388108"/>
            <a:ext cx="1551432" cy="316992"/>
          </a:xfrm>
          <a:prstGeom prst="rect">
            <a:avLst/>
          </a:prstGeom>
        </p:spPr>
      </p:pic>
      <p:pic>
        <p:nvPicPr>
          <p:cNvPr id="13" name="Picture 12" descr="8e6cc14ac5e461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8388" y="3031236"/>
            <a:ext cx="3136392" cy="402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04780" y="300380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5" name="Picture 14" descr="067fcc93f2b9d5f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771" y="3037332"/>
            <a:ext cx="3642360" cy="3901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377647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The coefficient is at least 1 and less than 10: one nonzero digit before the decimal point.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98348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The exponent is how many places the decimal point moves: 26,000,000. → 2.6, seven places, so 10</a:t>
            </a:r>
            <a:r>
              <a:rPr sz="2300" b="0" i="0" baseline="30000">
                <a:solidFill>
                  <a:srgbClr val="1A1A1A"/>
                </a:solidFill>
                <a:latin typeface="Century Schoolbook"/>
              </a:rPr>
              <a:t>7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How many times larger?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8462689543fb1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320" y="2348484"/>
            <a:ext cx="2103120" cy="8107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70440" y="2525268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23b76398c3e7ac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431" y="2340864"/>
            <a:ext cx="3477768" cy="826008"/>
          </a:xfrm>
          <a:prstGeom prst="rect">
            <a:avLst/>
          </a:prstGeom>
        </p:spPr>
      </p:pic>
      <p:pic>
        <p:nvPicPr>
          <p:cNvPr id="13" name="Picture 12" descr="a006e1f5dbf8305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2316" y="3441192"/>
            <a:ext cx="4056888" cy="8260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60552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Divide the coefficients. Divide the powers of 10. Multiply the two results.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5337047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On a screen, 8.4E6 means 8.4 × 10</a:t>
            </a:r>
            <a:r>
              <a:rPr sz="2300" b="0" i="0" baseline="30000">
                <a:solidFill>
                  <a:srgbClr val="1A1A1A"/>
                </a:solidFill>
                <a:latin typeface="Century Schoolbook"/>
              </a:rPr>
              <a:t>6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Standard form to scientific notation.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In 2018, funding for education in Florida totaled 30,100,000,000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7158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Express this value in scientific notation.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c33cd551852111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703064" cy="3992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89064" y="1891284"/>
            <a:ext cx="439521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3 is in the ten-billions place</a:t>
            </a:r>
          </a:p>
        </p:txBody>
      </p:sp>
      <p:pic>
        <p:nvPicPr>
          <p:cNvPr id="11" name="Picture 10" descr="826a198efbf96e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93848"/>
            <a:ext cx="6544056" cy="335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830056" y="2532887"/>
            <a:ext cx="2554223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3.01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painting sold for 110,500,000 dollars.  Write this value in scientific notation.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painting sold for 110,500,000 dollars.  Write this value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6302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1 is in the hundred-millions 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1.105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How many times larger?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8167" y="208026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4dc6640317f68a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072" y="2133599"/>
            <a:ext cx="1405128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4200" y="208026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a7f651d263392d9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3252" y="2136648"/>
            <a:ext cx="1414272" cy="344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147524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ea7fbd33ef479e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438656" cy="691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24656" y="2037588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coefficients</a:t>
            </a:r>
          </a:p>
        </p:txBody>
      </p:sp>
      <p:pic>
        <p:nvPicPr>
          <p:cNvPr id="11" name="Picture 10" descr="ecf3b7ddda2003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86456"/>
            <a:ext cx="2386584" cy="807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72583" y="3061716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powers of 10: subtract the exponents</a:t>
            </a:r>
          </a:p>
        </p:txBody>
      </p:sp>
      <p:pic>
        <p:nvPicPr>
          <p:cNvPr id="13" name="Picture 12" descr="8a1e664f4b4116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968496"/>
            <a:ext cx="2026920" cy="289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12920" y="3884675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multiply the two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1525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15 times larger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04952" y="2185415"/>
            <a:ext cx="39239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Everglades alligators:  </a:t>
            </a:r>
          </a:p>
        </p:txBody>
      </p:sp>
      <p:pic>
        <p:nvPicPr>
          <p:cNvPr id="10" name="Picture 9" descr="b3b23388699e71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775" y="2194560"/>
            <a:ext cx="1764792" cy="4389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24165" y="2945892"/>
            <a:ext cx="33160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Florida alligators:  </a:t>
            </a:r>
          </a:p>
        </p:txBody>
      </p:sp>
      <p:pic>
        <p:nvPicPr>
          <p:cNvPr id="12" name="Picture 11" descr="33ace73c84f9ae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42" y="2953512"/>
            <a:ext cx="1734312" cy="441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7155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About how many times larger is the Florida number?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04952" y="2186940"/>
            <a:ext cx="39239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Everglades alligators:  </a:t>
            </a:r>
          </a:p>
        </p:txBody>
      </p:sp>
      <p:pic>
        <p:nvPicPr>
          <p:cNvPr id="10" name="Picture 9" descr="9213e17c268194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775" y="2194560"/>
            <a:ext cx="1764792" cy="441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24165" y="2948940"/>
            <a:ext cx="33160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Florida alligators:  </a:t>
            </a:r>
          </a:p>
        </p:txBody>
      </p:sp>
      <p:pic>
        <p:nvPicPr>
          <p:cNvPr id="12" name="Picture 11" descr="c0aa154a2b895b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42" y="2956560"/>
            <a:ext cx="1734312" cy="441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7185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About how many times larger is the Florida number?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576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0.75 × 10 = 7.5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7963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about 7.5 times larger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 4,000,000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Which place is the 4 in?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 4,000,000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237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 millions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4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0641" y="2171700"/>
            <a:ext cx="13110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Write  </a:t>
            </a:r>
          </a:p>
        </p:txBody>
      </p:sp>
      <p:pic>
        <p:nvPicPr>
          <p:cNvPr id="10" name="Picture 9" descr="5f1494d210188d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522" y="2225040"/>
            <a:ext cx="1429512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34034" y="2171700"/>
            <a:ext cx="32340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 standard 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Move the point four places.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2165" y="2080260"/>
            <a:ext cx="13110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Write  </a:t>
            </a:r>
          </a:p>
        </p:txBody>
      </p:sp>
      <p:pic>
        <p:nvPicPr>
          <p:cNvPr id="10" name="Picture 9" descr="52d884c0ec37c9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046" y="2132076"/>
            <a:ext cx="1426464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32510" y="2080260"/>
            <a:ext cx="32340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 standard 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7.2 × 10,000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72,000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stadium's renovation used  356,000  bolts.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The stadium seats 71,000 people.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Write the number of bolts in scientific notation.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stadium's renovation used  356,000  bolts.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The stadium seats 71,000 people.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Write the number of bolts in scientific notation.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58325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3.56 hundred-thousands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3.56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496" y="2171700"/>
            <a:ext cx="3166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Which is greater,  </a:t>
            </a:r>
          </a:p>
        </p:txBody>
      </p:sp>
      <p:pic>
        <p:nvPicPr>
          <p:cNvPr id="10" name="Picture 9" descr="1ab45d017fce8a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398" y="2223516"/>
            <a:ext cx="1411224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46622" y="2171700"/>
            <a:ext cx="9298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or  </a:t>
            </a:r>
          </a:p>
        </p:txBody>
      </p:sp>
      <p:pic>
        <p:nvPicPr>
          <p:cNvPr id="12" name="Picture 11" descr="d99a9851995ad5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9308" y="2223516"/>
            <a:ext cx="1389888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29196" y="217170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Look at the powers first.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496" y="2080260"/>
            <a:ext cx="3166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Which is greater,  </a:t>
            </a:r>
          </a:p>
        </p:txBody>
      </p:sp>
      <p:pic>
        <p:nvPicPr>
          <p:cNvPr id="10" name="Picture 9" descr="78380355eb5e91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398" y="2132076"/>
            <a:ext cx="1414272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49670" y="2080260"/>
            <a:ext cx="9298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or  </a:t>
            </a:r>
          </a:p>
        </p:txBody>
      </p:sp>
      <p:pic>
        <p:nvPicPr>
          <p:cNvPr id="12" name="Picture 11" descr="7abd88142838d7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2356" y="2132076"/>
            <a:ext cx="1386840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29196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950,000 versus 1,200,000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 52,000,000  written in scientific notation?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525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 52,000,000  written in scientific notation?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769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69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B.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5.2 × 10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 — 5.2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9919" y="217170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cb3383a0ac4894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824" y="2225040"/>
            <a:ext cx="1109472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20296" y="217170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136c380adf2acf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9348" y="2223516"/>
            <a:ext cx="1106424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45772" y="217170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9718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1.6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9718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6576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6576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8395" y="208026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f5c1556a2a4007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300" y="2133599"/>
            <a:ext cx="1109472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8772" y="208026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e6a3bddbc4c7da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824" y="2132076"/>
            <a:ext cx="1109472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47296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8803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1.6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8803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5661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C.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5661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C — 1,000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9023" y="217170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9dfa88f60f7695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928" y="2223516"/>
            <a:ext cx="1411224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1152" y="217170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441501d81b57e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0204" y="2225040"/>
            <a:ext cx="1426464" cy="350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156668" y="217170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Coefficients, then powers, then multiply.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2071" y="208026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f4de1fd42bbb25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976" y="2132076"/>
            <a:ext cx="1408176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1152" y="208026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f8ac844b491820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0204" y="2132076"/>
            <a:ext cx="1423416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153620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400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computer displays a number as  3.5E9.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694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number in standard 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E is not an error.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computer displays a number as  3.5E9.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79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number in standard 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9859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3.5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3,500,000,000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4026" y="2171700"/>
            <a:ext cx="50295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Marcus writes  2,000,000  as  </a:t>
            </a:r>
          </a:p>
        </p:txBody>
      </p:sp>
      <p:pic>
        <p:nvPicPr>
          <p:cNvPr id="10" name="Picture 9" descr="8eae714437c97e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6417" y="2223516"/>
            <a:ext cx="1310640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97057" y="217170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Is his expression equal to 2,000,000? Is it scientific notation? Explain.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Use the definition.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2502" y="2080260"/>
            <a:ext cx="50295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Marcus writes  2,000,000  as  </a:t>
            </a:r>
          </a:p>
        </p:txBody>
      </p:sp>
      <p:pic>
        <p:nvPicPr>
          <p:cNvPr id="10" name="Picture 9" descr="b1be6639231b1d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4893" y="2132076"/>
            <a:ext cx="1313688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98581" y="20802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Is his expression equal to 2,000,000? Is it scientific notation? Explain.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35584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equal, yes — scientific notation, 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Equal, yes. Scientific notation, no: 20 is not less than 10. 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Convert between standard and scientific notation: large numbers — 2AL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Compare large numbers — WEZ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Powers of ten — LJQ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