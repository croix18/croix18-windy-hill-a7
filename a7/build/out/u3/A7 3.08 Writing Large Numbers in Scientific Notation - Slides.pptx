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a large number in scientific notation, read one back into standard form, and find how many times larger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66009" y="1440180"/>
            <a:ext cx="861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4/x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9666" y="2052828"/>
            <a:ext cx="258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2180" b="1" i="0">
                <a:solidFill>
                  <a:srgbClr val="9E1B32"/>
                </a:solidFill>
                <a:latin typeface="Lexend"/>
              </a:rPr>
              <a:t> = 1,000,000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42359" y="2665476"/>
            <a:ext cx="540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2133" y="3278124"/>
            <a:ext cx="13806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millions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Powers of ten name the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0540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5d2b93ef624f7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3252" y="2054352"/>
            <a:ext cx="1133856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7108" y="197053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f3e5877ddc95e3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931" y="2060448"/>
            <a:ext cx="1545336" cy="277368"/>
          </a:xfrm>
          <a:prstGeom prst="rect">
            <a:avLst/>
          </a:prstGeom>
        </p:spPr>
      </p:pic>
      <p:pic>
        <p:nvPicPr>
          <p:cNvPr id="13" name="Picture 12" descr="e18c35a42d2be4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1384" y="2679192"/>
            <a:ext cx="3282696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24080" y="26563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fa83316ec23a8f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8423" y="2683764"/>
            <a:ext cx="3791712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decimal point moves: from 26,000,000. to 2.6 is seven places,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7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2171bb0cafdb8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432" y="1994916"/>
            <a:ext cx="2069591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6024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4ecd045e0e8155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0367" y="1993392"/>
            <a:ext cx="3474720" cy="795528"/>
          </a:xfrm>
          <a:prstGeom prst="rect">
            <a:avLst/>
          </a:prstGeom>
        </p:spPr>
      </p:pic>
      <p:pic>
        <p:nvPicPr>
          <p:cNvPr id="13" name="Picture 12" descr="d1693eaff94ed7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027" y="3063240"/>
            <a:ext cx="4093464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316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a screen, 8.4E6 means 8.4 ×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6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2018, funding for education in Florida totaled 30,100,000,000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602c4ddc3236a1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937760" cy="408432"/>
          </a:xfrm>
          <a:prstGeom prst="rect">
            <a:avLst/>
          </a:prstGeom>
        </p:spPr>
      </p:pic>
      <p:pic>
        <p:nvPicPr>
          <p:cNvPr id="9" name="Picture 8" descr="d1d3ba89cea32f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705002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3649" y="2618960"/>
            <a:ext cx="63513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8 places left:  1.105</a:t>
            </a:r>
          </a:p>
        </p:txBody>
      </p:sp>
      <p:pic>
        <p:nvPicPr>
          <p:cNvPr id="10" name="Picture 9" descr="036eb30c5b345b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8513" y="3204176"/>
            <a:ext cx="397154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1.105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9206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6569deac08d6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345" y="2139696"/>
            <a:ext cx="138684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7718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16dd2cfada87c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627" y="2139696"/>
            <a:ext cx="142951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86139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fc71f71d11df7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73608"/>
          </a:xfrm>
          <a:prstGeom prst="rect">
            <a:avLst/>
          </a:prstGeom>
        </p:spPr>
      </p:pic>
      <p:pic>
        <p:nvPicPr>
          <p:cNvPr id="9" name="Picture 8" descr="8ba743c5890011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359152" cy="795528"/>
          </a:xfrm>
          <a:prstGeom prst="rect">
            <a:avLst/>
          </a:prstGeom>
        </p:spPr>
      </p:pic>
      <p:pic>
        <p:nvPicPr>
          <p:cNvPr id="10" name="Picture 9" descr="9c7006607715b9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38016"/>
            <a:ext cx="197510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725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4324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3084bf1d1a28c6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403" y="1600200"/>
            <a:ext cx="1764792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3926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8f2aa491890c8b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4617" y="2340864"/>
            <a:ext cx="1712976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2800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cdc1cc7791403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879" y="1600200"/>
            <a:ext cx="17678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5450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97a43bfe3668a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141" y="2340864"/>
            <a:ext cx="1709928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8343" y="367701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065d4ec2ea76ad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464" y="3798934"/>
            <a:ext cx="1892807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98343" y="417993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88fcdaa08f344d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4615" y="4277470"/>
            <a:ext cx="1871472" cy="262128"/>
          </a:xfrm>
          <a:prstGeom prst="rect">
            <a:avLst/>
          </a:prstGeom>
        </p:spPr>
      </p:pic>
      <p:pic>
        <p:nvPicPr>
          <p:cNvPr id="17" name="Picture 16" descr="6133d72459d952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3207" y="4780390"/>
            <a:ext cx="1911095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43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0795" y="2728291"/>
            <a:ext cx="55264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4 is in the millions place:  </a:t>
            </a:r>
          </a:p>
        </p:txBody>
      </p:sp>
      <p:pic>
        <p:nvPicPr>
          <p:cNvPr id="10" name="Picture 9" descr="2fbe08c1a41f36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132" y="2772487"/>
            <a:ext cx="2450592" cy="368808"/>
          </a:xfrm>
          <a:prstGeom prst="rect">
            <a:avLst/>
          </a:prstGeom>
        </p:spPr>
      </p:pic>
      <p:pic>
        <p:nvPicPr>
          <p:cNvPr id="11" name="Picture 10" descr="05b1e2b22daef4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659" y="3311983"/>
            <a:ext cx="3032760" cy="3688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23296af58026d0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e49d7c02aeaf0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139696"/>
            <a:ext cx="14051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f2fdf0be925309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799" y="2884932"/>
            <a:ext cx="1950720" cy="365760"/>
          </a:xfrm>
          <a:prstGeom prst="rect">
            <a:avLst/>
          </a:prstGeom>
        </p:spPr>
      </p:pic>
      <p:pic>
        <p:nvPicPr>
          <p:cNvPr id="12" name="Picture 11" descr="134110467fe4e6f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799" y="3450335"/>
            <a:ext cx="3279648" cy="3139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72,000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288" y="3587827"/>
            <a:ext cx="6154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left:  3.56</a:t>
            </a:r>
          </a:p>
        </p:txBody>
      </p:sp>
      <p:pic>
        <p:nvPicPr>
          <p:cNvPr id="12" name="Picture 11" descr="ab46d03e7278a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152" y="4173043"/>
            <a:ext cx="3112008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43cb3ae958f53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92daabb7e870f7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231136"/>
            <a:ext cx="135940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1feacfcb0f3ecc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141219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73bd38815e7d3f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138171"/>
            <a:ext cx="135940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172e9537a453d6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091" y="2884932"/>
            <a:ext cx="2944368" cy="365760"/>
          </a:xfrm>
          <a:prstGeom prst="rect">
            <a:avLst/>
          </a:prstGeom>
        </p:spPr>
      </p:pic>
      <p:pic>
        <p:nvPicPr>
          <p:cNvPr id="14" name="Picture 13" descr="5bf6050deecf9a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6091" y="3422904"/>
            <a:ext cx="3179064" cy="3688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6872" y="2728291"/>
            <a:ext cx="59449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7 places left:  5.2</a:t>
            </a:r>
          </a:p>
        </p:txBody>
      </p:sp>
      <p:pic>
        <p:nvPicPr>
          <p:cNvPr id="10" name="Picture 9" descr="faf48c280b171a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1736" y="3313507"/>
            <a:ext cx="345338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0102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3f7fb3f9c4eb8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241" y="2231136"/>
            <a:ext cx="11003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1569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4010bd5a04baa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1011" y="2232660"/>
            <a:ext cx="10942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5243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5530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55ab61039019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669" y="2139696"/>
            <a:ext cx="110642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3093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8b21e1c13d68e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2535" y="2141219"/>
            <a:ext cx="10972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9815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eb9f83f40dace9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4091" y="2941320"/>
            <a:ext cx="1197864" cy="252984"/>
          </a:xfrm>
          <a:prstGeom prst="rect">
            <a:avLst/>
          </a:prstGeom>
        </p:spPr>
      </p:pic>
      <p:pic>
        <p:nvPicPr>
          <p:cNvPr id="14" name="Picture 13" descr="b4e216bfcb8fd2e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4091" y="3424427"/>
            <a:ext cx="4700016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1,000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6158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a21c12e381007a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297" y="2231136"/>
            <a:ext cx="143256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9857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aaaf2b9082714b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299" y="2232660"/>
            <a:ext cx="138988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89187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3110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6927284ac777f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249" y="2138171"/>
            <a:ext cx="14325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6809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0e66f4ec969ea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251" y="2139696"/>
            <a:ext cx="1395984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92235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220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024eebcb36c872b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340" y="2961132"/>
            <a:ext cx="152095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11220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b4e1be01d60942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491" y="3439667"/>
            <a:ext cx="1895856" cy="262128"/>
          </a:xfrm>
          <a:prstGeom prst="rect">
            <a:avLst/>
          </a:prstGeom>
        </p:spPr>
      </p:pic>
      <p:pic>
        <p:nvPicPr>
          <p:cNvPr id="17" name="Picture 16" descr="41bbac836a9b25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6084" y="3942588"/>
            <a:ext cx="1685544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9560" y="3303170"/>
            <a:ext cx="26373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3.5E9 means  </a:t>
            </a:r>
          </a:p>
        </p:txBody>
      </p:sp>
      <p:pic>
        <p:nvPicPr>
          <p:cNvPr id="11" name="Picture 10" descr="b45fb8c7dbcd1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755" y="3376322"/>
            <a:ext cx="1274064" cy="310896"/>
          </a:xfrm>
          <a:prstGeom prst="rect">
            <a:avLst/>
          </a:prstGeom>
        </p:spPr>
      </p:pic>
      <p:pic>
        <p:nvPicPr>
          <p:cNvPr id="12" name="Picture 11" descr="5ff869fd9c2b81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4423" y="3885338"/>
            <a:ext cx="3965448" cy="3718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3,500,000,000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4476" y="2171700"/>
            <a:ext cx="4937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2,000,000  as  </a:t>
            </a:r>
          </a:p>
        </p:txBody>
      </p:sp>
      <p:pic>
        <p:nvPicPr>
          <p:cNvPr id="9" name="Picture 8" descr="1e6b101793739f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225" y="2232660"/>
            <a:ext cx="132283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8057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2,000,000? Is it scientific notation? Explain.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2952" y="2080260"/>
            <a:ext cx="4937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2,000,000  as  </a:t>
            </a:r>
          </a:p>
        </p:txBody>
      </p:sp>
      <p:pic>
        <p:nvPicPr>
          <p:cNvPr id="9" name="Picture 8" descr="24bd3819b8f5ce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3701" y="2141219"/>
            <a:ext cx="13258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9581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2,000,000? Is it scientific notation? Explain.</a:t>
            </a:r>
          </a:p>
        </p:txBody>
      </p:sp>
      <p:pic>
        <p:nvPicPr>
          <p:cNvPr id="12" name="Picture 11" descr="304621095a2a00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864" y="3433572"/>
            <a:ext cx="2697480" cy="3108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40344" y="3360420"/>
            <a:ext cx="25266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it is equal.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8000" y="3863339"/>
            <a:ext cx="9522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first number must be at least 1 and less than 10. 20 is not.</a:t>
            </a:r>
          </a:p>
        </p:txBody>
      </p:sp>
      <p:pic>
        <p:nvPicPr>
          <p:cNvPr id="15" name="Picture 14" descr="5e939c5ec66d9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2864" y="4436364"/>
            <a:ext cx="251460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3776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Equal, yes. Scientific notation, no: 20 is not less than 10.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666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8,200,000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3e7ab53ed67d41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15824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26855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9901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915,000,000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f3e3f368d404e0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71087"/>
            <a:ext cx="1155192" cy="2712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8905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bee7f03ef7d076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1011" y="3369563"/>
            <a:ext cx="1133856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7486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17885e04efb304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5447"/>
            <a:ext cx="893064" cy="2712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05211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5fbd47d0e64f50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7013" y="3965447"/>
            <a:ext cx="902208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59221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667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2.6E7.  Write it in standard form.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large numbers — 2AL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large numbers — WEZ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— LJQ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