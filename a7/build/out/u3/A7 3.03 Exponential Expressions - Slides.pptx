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Exponential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apply more than one law of exponents to evaluate an expression and to write an equivalent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6004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eabcc1a7697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487680" cy="643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284476"/>
            <a:ext cx="1049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Is </a:t>
            </a:r>
          </a:p>
        </p:txBody>
      </p:sp>
      <p:pic>
        <p:nvPicPr>
          <p:cNvPr id="11" name="Picture 10" descr="bcdd9774053692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893" y="2318004"/>
            <a:ext cx="71018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97077" y="2284476"/>
            <a:ext cx="2909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closer to 7 or to 8?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97124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4" name="Picture 13" descr="c4840976746a8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983992"/>
            <a:ext cx="1673352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509772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6" name="Picture 15" descr="3d00c0b948695d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599688"/>
            <a:ext cx="1127760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56004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7eeabcc1a7697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463040"/>
            <a:ext cx="487680" cy="643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95488" y="1440180"/>
            <a:ext cx="7723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284476"/>
            <a:ext cx="1049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Is </a:t>
            </a:r>
          </a:p>
        </p:txBody>
      </p:sp>
      <p:pic>
        <p:nvPicPr>
          <p:cNvPr id="12" name="Picture 11" descr="bcdd9774053692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893" y="2318004"/>
            <a:ext cx="71018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97077" y="2284476"/>
            <a:ext cx="2909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closer to 7 or to 8?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8326" y="2284476"/>
            <a:ext cx="3729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97124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6" name="Picture 15" descr="c4840976746a8c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983992"/>
            <a:ext cx="1673352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71647" y="2897124"/>
            <a:ext cx="9353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509772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9" name="Picture 18" descr="3d00c0b948695d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599688"/>
            <a:ext cx="1127760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32315" y="3509772"/>
            <a:ext cx="584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seven laws, in one place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51560" y="1993392"/>
          <a:ext cx="100584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6576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Law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Product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m+n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2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Quotient of powers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7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(−3)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product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(ab)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b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(−7 · 3)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(−7)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· 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quotient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 ÷ b)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b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(13 ÷ 5)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13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÷ 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n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mn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(6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6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Identity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15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Zero exponent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a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127</a:t>
                      </a:r>
                      <a:r>
                        <a:rPr sz="1520" b="0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More than one law — make a plan, then follow 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05456" y="2159508"/>
            <a:ext cx="17813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Winston:  </a:t>
            </a:r>
          </a:p>
        </p:txBody>
      </p:sp>
      <p:pic>
        <p:nvPicPr>
          <p:cNvPr id="11" name="Picture 10" descr="26de40715e21e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695" y="1993392"/>
            <a:ext cx="3706368" cy="789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81866" y="3297936"/>
            <a:ext cx="16105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Yvette:   </a:t>
            </a:r>
          </a:p>
        </p:txBody>
      </p:sp>
      <p:pic>
        <p:nvPicPr>
          <p:cNvPr id="13" name="Picture 12" descr="354e7e69552fdc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253" y="3057144"/>
            <a:ext cx="4724400" cy="9387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342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Different plans, same value. Any correct sequence of laws gives the same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Order of operations still applies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057400"/>
            <a:ext cx="9537192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Parentheses first — including a fraction bar, which is a pair of parentheses in disguise.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6440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26440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Exponents next — the laws of exponents are applied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99592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995928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Then multiply and divide, left to right; then add and subtract.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686299"/>
            <a:ext cx="39428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Never across a + or a −:  </a:t>
            </a:r>
          </a:p>
        </p:txBody>
      </p:sp>
      <p:pic>
        <p:nvPicPr>
          <p:cNvPr id="18" name="Picture 17" descr="b054382c410b71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624" y="4745736"/>
            <a:ext cx="3041904" cy="338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29528" y="4686299"/>
            <a:ext cx="9753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, not </a:t>
            </a:r>
          </a:p>
        </p:txBody>
      </p:sp>
      <p:pic>
        <p:nvPicPr>
          <p:cNvPr id="20" name="Picture 19" descr="b8a8a24b141b26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716" y="4748783"/>
            <a:ext cx="335280" cy="3322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02996" y="4686299"/>
            <a:ext cx="2858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871450e41cfad6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883" y="2103120"/>
            <a:ext cx="1063752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98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5359036a1f698d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5056" cy="792480"/>
          </a:xfrm>
          <a:prstGeom prst="rect">
            <a:avLst/>
          </a:prstGeom>
        </p:spPr>
      </p:pic>
      <p:pic>
        <p:nvPicPr>
          <p:cNvPr id="9" name="Picture 8" descr="a9f26448e74da4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121152" cy="792480"/>
          </a:xfrm>
          <a:prstGeom prst="rect">
            <a:avLst/>
          </a:prstGeom>
        </p:spPr>
      </p:pic>
      <p:pic>
        <p:nvPicPr>
          <p:cNvPr id="10" name="Picture 9" descr="55388f3dbeaaa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3839"/>
            <a:ext cx="2014727" cy="786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2974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7c1c49302d0312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1600200"/>
            <a:ext cx="1298448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98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64d9077d4a04b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1600200"/>
            <a:ext cx="1292352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6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  <p:pic>
        <p:nvPicPr>
          <p:cNvPr id="10" name="Picture 9" descr="7d5966605e1b5a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17" y="3762358"/>
            <a:ext cx="832104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9321" y="3686158"/>
            <a:ext cx="3113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the top is   </a:t>
            </a:r>
          </a:p>
        </p:txBody>
      </p:sp>
      <p:pic>
        <p:nvPicPr>
          <p:cNvPr id="12" name="Picture 11" descr="cfeba237a81f83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854" y="3762358"/>
            <a:ext cx="1414272" cy="304800"/>
          </a:xfrm>
          <a:prstGeom prst="rect">
            <a:avLst/>
          </a:prstGeom>
        </p:spPr>
      </p:pic>
      <p:pic>
        <p:nvPicPr>
          <p:cNvPr id="13" name="Picture 12" descr="c9da1d73bbb72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217" y="4248514"/>
            <a:ext cx="2834640" cy="719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0500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2eb7f507fb1bdd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147" y="2103120"/>
            <a:ext cx="2173224" cy="862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6862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66ad9eb1c6c0f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91584" cy="862584"/>
          </a:xfrm>
          <a:prstGeom prst="rect">
            <a:avLst/>
          </a:prstGeom>
        </p:spPr>
      </p:pic>
      <p:pic>
        <p:nvPicPr>
          <p:cNvPr id="9" name="Picture 8" descr="805526f61b3f74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57144"/>
            <a:ext cx="2709672" cy="676656"/>
          </a:xfrm>
          <a:prstGeom prst="rect">
            <a:avLst/>
          </a:prstGeom>
        </p:spPr>
      </p:pic>
      <p:pic>
        <p:nvPicPr>
          <p:cNvPr id="10" name="Picture 9" descr="e03466c326967c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08119"/>
            <a:ext cx="257860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7375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31005eb0e2b932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295" y="1600200"/>
            <a:ext cx="2090928" cy="1069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3c51ce23219019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600200"/>
            <a:ext cx="2084831" cy="1069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29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Make a plan. Then find the value.</a:t>
            </a:r>
          </a:p>
        </p:txBody>
      </p:sp>
      <p:pic>
        <p:nvPicPr>
          <p:cNvPr id="10" name="Picture 9" descr="861380fef57da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723" y="3837034"/>
            <a:ext cx="813816" cy="307848"/>
          </a:xfrm>
          <a:prstGeom prst="rect">
            <a:avLst/>
          </a:prstGeom>
        </p:spPr>
      </p:pic>
      <p:pic>
        <p:nvPicPr>
          <p:cNvPr id="11" name="Picture 10" descr="6ae16a65768a73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723" y="4324714"/>
            <a:ext cx="4498848" cy="7741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2360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71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warehouse holds  </a:t>
            </a:r>
          </a:p>
        </p:txBody>
      </p:sp>
      <p:pic>
        <p:nvPicPr>
          <p:cNvPr id="9" name="Picture 8" descr="0ad9a9f5739e6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171" y="1946147"/>
            <a:ext cx="292608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1779" y="1851660"/>
            <a:ext cx="1774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boxes in  </a:t>
            </a:r>
          </a:p>
        </p:txBody>
      </p:sp>
      <p:pic>
        <p:nvPicPr>
          <p:cNvPr id="11" name="Picture 10" descr="90ca6f61d8d9d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24" y="1943100"/>
            <a:ext cx="280416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9140" y="1851660"/>
            <a:ext cx="20589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boxes are in each row?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718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warehouse holds  </a:t>
            </a:r>
          </a:p>
        </p:txBody>
      </p:sp>
      <p:pic>
        <p:nvPicPr>
          <p:cNvPr id="9" name="Picture 8" descr="39f35dfe45d062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171" y="1944623"/>
            <a:ext cx="292608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1779" y="1851660"/>
            <a:ext cx="1774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boxes in  </a:t>
            </a:r>
          </a:p>
        </p:txBody>
      </p:sp>
      <p:pic>
        <p:nvPicPr>
          <p:cNvPr id="11" name="Picture 10" descr="83256b733f6eea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24" y="1943100"/>
            <a:ext cx="28346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2188" y="1851660"/>
            <a:ext cx="20589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equal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Each box weighs 3 kilograms.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boxes are in each row?</a:t>
            </a:r>
          </a:p>
        </p:txBody>
      </p:sp>
      <p:pic>
        <p:nvPicPr>
          <p:cNvPr id="15" name="Picture 14" descr="7a08f76444d3db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119" y="3739100"/>
            <a:ext cx="2727960" cy="301752"/>
          </a:xfrm>
          <a:prstGeom prst="rect">
            <a:avLst/>
          </a:prstGeom>
        </p:spPr>
      </p:pic>
      <p:pic>
        <p:nvPicPr>
          <p:cNvPr id="16" name="Picture 15" descr="8cf4bb25f9be76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119" y="4277072"/>
            <a:ext cx="1024128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d7dfc0540bf78c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194560"/>
            <a:ext cx="170078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1728c2e18e9d3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103120"/>
            <a:ext cx="170078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36576" y="2891028"/>
            <a:ext cx="245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Inside first:  </a:t>
            </a:r>
          </a:p>
        </p:txBody>
      </p:sp>
      <p:pic>
        <p:nvPicPr>
          <p:cNvPr id="10" name="Picture 9" descr="a8f80e542aac10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479" y="2967228"/>
            <a:ext cx="2569464" cy="304800"/>
          </a:xfrm>
          <a:prstGeom prst="rect">
            <a:avLst/>
          </a:prstGeom>
        </p:spPr>
      </p:pic>
      <p:pic>
        <p:nvPicPr>
          <p:cNvPr id="11" name="Picture 10" descr="562836d64a2498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440" y="3473195"/>
            <a:ext cx="3206496" cy="371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853f704f39adc6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20" y="2194560"/>
            <a:ext cx="1402080" cy="1161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8cfe86bd927791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03120"/>
            <a:ext cx="1395984" cy="1158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3151" y="3540252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c8aacd963cc0ab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295" y="3582923"/>
            <a:ext cx="3212592" cy="371856"/>
          </a:xfrm>
          <a:prstGeom prst="rect">
            <a:avLst/>
          </a:prstGeom>
        </p:spPr>
      </p:pic>
      <p:pic>
        <p:nvPicPr>
          <p:cNvPr id="11" name="Picture 10" descr="024670428e914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015" y="4102607"/>
            <a:ext cx="4395216" cy="722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9621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0.0625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c1a85d6466844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194560"/>
            <a:ext cx="1600200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01b523e87142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135" y="2103120"/>
            <a:ext cx="1603248" cy="990599"/>
          </a:xfrm>
          <a:prstGeom prst="rect">
            <a:avLst/>
          </a:prstGeom>
        </p:spPr>
      </p:pic>
      <p:pic>
        <p:nvPicPr>
          <p:cNvPr id="9" name="Picture 8" descr="559f26ed92ee9a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03" y="3395471"/>
            <a:ext cx="2904744" cy="716280"/>
          </a:xfrm>
          <a:prstGeom prst="rect">
            <a:avLst/>
          </a:prstGeom>
        </p:spPr>
      </p:pic>
      <p:pic>
        <p:nvPicPr>
          <p:cNvPr id="10" name="Picture 9" descr="24d3fe5a98bd3a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4259580"/>
            <a:ext cx="2910840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884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bc2795e448a34e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64" y="2194560"/>
            <a:ext cx="2145792" cy="10789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0215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1684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684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854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8542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0dc5a9a7ac0e3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87" y="2103120"/>
            <a:ext cx="2142744" cy="1072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46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0d09560877107f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945" y="4105987"/>
            <a:ext cx="109728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2225" y="4029787"/>
            <a:ext cx="31136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the top is   </a:t>
            </a:r>
          </a:p>
        </p:txBody>
      </p:sp>
      <p:pic>
        <p:nvPicPr>
          <p:cNvPr id="12" name="Picture 11" descr="2fb277e921b4c8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758" y="4072459"/>
            <a:ext cx="2450592" cy="371856"/>
          </a:xfrm>
          <a:prstGeom prst="rect">
            <a:avLst/>
          </a:prstGeom>
        </p:spPr>
      </p:pic>
      <p:pic>
        <p:nvPicPr>
          <p:cNvPr id="13" name="Picture 12" descr="06fcc5f13e1131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4945" y="4592143"/>
            <a:ext cx="3008376" cy="716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44558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4f0d140d692f52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0" y="2194560"/>
            <a:ext cx="2042160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76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0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· 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3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· 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d5144192dfe29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1" y="2103120"/>
            <a:ext cx="2048256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162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94a1e1b1de4bfc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19" y="3964255"/>
            <a:ext cx="2980944" cy="713232"/>
          </a:xfrm>
          <a:prstGeom prst="rect">
            <a:avLst/>
          </a:prstGeom>
        </p:spPr>
      </p:pic>
      <p:pic>
        <p:nvPicPr>
          <p:cNvPr id="11" name="Picture 10" descr="f5db90305a3cc1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19" y="4858843"/>
            <a:ext cx="3648456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35414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0.1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1f6a545d117e0f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939" y="2194560"/>
            <a:ext cx="2453640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4a52109175a88e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416" y="2103120"/>
            <a:ext cx="2456688" cy="509016"/>
          </a:xfrm>
          <a:prstGeom prst="rect">
            <a:avLst/>
          </a:prstGeom>
        </p:spPr>
      </p:pic>
      <p:pic>
        <p:nvPicPr>
          <p:cNvPr id="9" name="Picture 8" descr="9994c4103bc079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2933699"/>
            <a:ext cx="3127248" cy="371856"/>
          </a:xfrm>
          <a:prstGeom prst="rect">
            <a:avLst/>
          </a:prstGeom>
        </p:spPr>
      </p:pic>
      <p:pic>
        <p:nvPicPr>
          <p:cNvPr id="10" name="Picture 9" descr="a3962f919eaa2e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506724"/>
            <a:ext cx="510844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c207f4faf046fa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648" y="2194560"/>
            <a:ext cx="2554224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b21b3b0815960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695" y="2103120"/>
            <a:ext cx="2548128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62714" y="3552444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7cb6b0e3712490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333" y="3624072"/>
            <a:ext cx="3776472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62714" y="4055363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2" name="Picture 11" descr="7fc1a3bd4f31f4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824" y="4126992"/>
            <a:ext cx="1103376" cy="313944"/>
          </a:xfrm>
          <a:prstGeom prst="rect">
            <a:avLst/>
          </a:prstGeom>
        </p:spPr>
      </p:pic>
      <p:pic>
        <p:nvPicPr>
          <p:cNvPr id="13" name="Picture 12" descr="9f85f887b8d2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578" y="4632960"/>
            <a:ext cx="1469136" cy="3078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2978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2037" y="2362199"/>
            <a:ext cx="2771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 writes  </a:t>
            </a:r>
          </a:p>
        </p:txBody>
      </p:sp>
      <p:pic>
        <p:nvPicPr>
          <p:cNvPr id="9" name="Picture 8" descr="c980b6f8e4155c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116" y="2196083"/>
            <a:ext cx="2170176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292" y="2362199"/>
            <a:ext cx="2862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Yvette writes  </a:t>
            </a:r>
          </a:p>
        </p:txBody>
      </p:sp>
      <p:pic>
        <p:nvPicPr>
          <p:cNvPr id="11" name="Picture 10" descr="149a6d7e3b789f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592" y="2194560"/>
            <a:ext cx="1898904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20496" y="2362199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61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0513" y="2270760"/>
            <a:ext cx="2771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Winston writes  </a:t>
            </a:r>
          </a:p>
        </p:txBody>
      </p:sp>
      <p:pic>
        <p:nvPicPr>
          <p:cNvPr id="9" name="Picture 8" descr="e64c2044df877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592" y="2104644"/>
            <a:ext cx="2176272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00864" y="2270760"/>
            <a:ext cx="28624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Yvette writes  </a:t>
            </a:r>
          </a:p>
        </p:txBody>
      </p:sp>
      <p:pic>
        <p:nvPicPr>
          <p:cNvPr id="11" name="Picture 10" descr="cee0462912012d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164" y="2103120"/>
            <a:ext cx="1895856" cy="792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22020" y="227076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6991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Do they get the same value?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4019" y="3795091"/>
            <a:ext cx="1690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Winston:  </a:t>
            </a:r>
          </a:p>
        </p:txBody>
      </p:sp>
      <p:pic>
        <p:nvPicPr>
          <p:cNvPr id="15" name="Picture 14" descr="39098cfa8576ec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7636" y="3866719"/>
            <a:ext cx="1962911" cy="3139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24019" y="4395547"/>
            <a:ext cx="14419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Yvette:  </a:t>
            </a:r>
          </a:p>
        </p:txBody>
      </p:sp>
      <p:pic>
        <p:nvPicPr>
          <p:cNvPr id="17" name="Picture 16" descr="c0e6871a3ee6bd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802" y="4320871"/>
            <a:ext cx="2069591" cy="606552"/>
          </a:xfrm>
          <a:prstGeom prst="rect">
            <a:avLst/>
          </a:prstGeom>
        </p:spPr>
      </p:pic>
      <p:pic>
        <p:nvPicPr>
          <p:cNvPr id="18" name="Picture 17" descr="8539984585d0f2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883" y="5095063"/>
            <a:ext cx="890016" cy="259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6750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both give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1086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1086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0" name="Picture 9" descr="c7e89364d519cf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78" y="1517904"/>
            <a:ext cx="862584" cy="643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321052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21052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4708afb69f8d23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383536"/>
            <a:ext cx="1121664" cy="332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03276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32760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6" name="Picture 15" descr="9089217fb5b948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63" y="2938272"/>
            <a:ext cx="819912" cy="646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744468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44468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271b6d25ef87d1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806952"/>
            <a:ext cx="1624584" cy="332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51561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15611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4cda08a3e11dfd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4361688"/>
            <a:ext cx="1621536" cy="765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540410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04104"/>
            <a:ext cx="18133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Show that  </a:t>
            </a:r>
          </a:p>
        </p:txBody>
      </p:sp>
      <p:pic>
        <p:nvPicPr>
          <p:cNvPr id="25" name="Picture 24" descr="ae2b35341e662e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690" y="5309616"/>
            <a:ext cx="996696" cy="6461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27386" y="5404104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27" name="Picture 26" descr="b168ae64df955b7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7727" y="5311140"/>
            <a:ext cx="499871" cy="6431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77599" y="5404104"/>
            <a:ext cx="338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have the same value.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3 — Exponential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expressions using properties of exponents — ZE9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