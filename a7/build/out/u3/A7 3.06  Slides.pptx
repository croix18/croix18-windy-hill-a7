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LESSONS 6–7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Evaluating and Equivalent Expressions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evaluate an expression with integer exponents using the laws, and decide whether two expressions with different bases are equivalent.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So far: every law, every kind of base, every kind of exponent.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Today: use all of it at once — and rewrite bases to compare.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31848"/>
            <a:ext cx="78040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exponent, then evaluate:  </a:t>
            </a:r>
          </a:p>
        </p:txBody>
      </p:sp>
      <p:pic>
        <p:nvPicPr>
          <p:cNvPr id="10" name="Picture 9" descr="70fd4f7c195b27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449" y="1783080"/>
            <a:ext cx="795528" cy="554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613660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2" name="Picture 11" descr="a4522c3024ca65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299" y="2538984"/>
            <a:ext cx="463296" cy="6065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451860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4" name="Picture 13" descr="574a5d3a612aa1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346704"/>
            <a:ext cx="469392" cy="6675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4192524"/>
            <a:ext cx="62436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64 as a power of 2, of 4, and of 8.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831848"/>
            <a:ext cx="78040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Rewrite with a positive exponent, then evaluate:  </a:t>
            </a:r>
          </a:p>
        </p:txBody>
      </p:sp>
      <p:pic>
        <p:nvPicPr>
          <p:cNvPr id="10" name="Picture 9" descr="70fd4f7c195b27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449" y="1783080"/>
            <a:ext cx="795528" cy="554736"/>
          </a:xfrm>
          <a:prstGeom prst="rect">
            <a:avLst/>
          </a:prstGeom>
        </p:spPr>
      </p:pic>
      <p:pic>
        <p:nvPicPr>
          <p:cNvPr id="11" name="Picture 10" descr="b2f9cb953a93e9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2383536"/>
            <a:ext cx="1152144" cy="5577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3217164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Find the value:  </a:t>
            </a:r>
          </a:p>
        </p:txBody>
      </p:sp>
      <p:pic>
        <p:nvPicPr>
          <p:cNvPr id="13" name="Picture 12" descr="a4522c3024ca65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299" y="3142488"/>
            <a:ext cx="463296" cy="60655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814235" y="3119628"/>
            <a:ext cx="5657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055363"/>
            <a:ext cx="30649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574a5d3a612aa1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299" y="3950207"/>
            <a:ext cx="469392" cy="66751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20331" y="3927347"/>
            <a:ext cx="74353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4796027"/>
            <a:ext cx="62436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64 as a power of 2, of 4, and of 8.</a:t>
            </a:r>
          </a:p>
        </p:txBody>
      </p:sp>
      <p:pic>
        <p:nvPicPr>
          <p:cNvPr id="19" name="Picture 18" descr="b2c477a7a0fb52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9654" y="4887467"/>
            <a:ext cx="268224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97878" y="4796027"/>
            <a:ext cx="4741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,  </a:t>
            </a:r>
          </a:p>
        </p:txBody>
      </p:sp>
      <p:pic>
        <p:nvPicPr>
          <p:cNvPr id="21" name="Picture 20" descr="555a2ab77fff0fe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4854" y="4887467"/>
            <a:ext cx="265176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00030" y="4796027"/>
            <a:ext cx="4741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,  </a:t>
            </a:r>
          </a:p>
        </p:txBody>
      </p:sp>
      <p:pic>
        <p:nvPicPr>
          <p:cNvPr id="23" name="Picture 22" descr="f2c3dde86c5203a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7005" y="4884419"/>
            <a:ext cx="259080" cy="2804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Two students, two plans, one value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52836" y="2491740"/>
            <a:ext cx="18116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Melanie:  </a:t>
            </a:r>
          </a:p>
        </p:txBody>
      </p:sp>
      <p:pic>
        <p:nvPicPr>
          <p:cNvPr id="11" name="Picture 10" descr="071da3cb12a3a9b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7283" y="2340864"/>
            <a:ext cx="3581400" cy="7589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90638" y="3694176"/>
            <a:ext cx="17125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Adonis:   </a:t>
            </a:r>
          </a:p>
        </p:txBody>
      </p:sp>
      <p:pic>
        <p:nvPicPr>
          <p:cNvPr id="13" name="Picture 12" descr="76734bcd012bfd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065" y="3374136"/>
            <a:ext cx="5004816" cy="1097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4809744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Apply the laws first, evaluate last. The value is the same; the arithmetic is smaller.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worked line.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Every law, one expression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059ee1a209667e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328" y="2340864"/>
            <a:ext cx="5388864" cy="8808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56006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Find the step that broke:</a:t>
            </a:r>
          </a:p>
        </p:txBody>
      </p:sp>
      <p:pic>
        <p:nvPicPr>
          <p:cNvPr id="13" name="Picture 12" descr="6c3d06b279be60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273296"/>
            <a:ext cx="3535680" cy="685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23232" y="4387596"/>
            <a:ext cx="46141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   — wrong: multiplied; should be </a:t>
            </a:r>
          </a:p>
        </p:txBody>
      </p:sp>
      <p:pic>
        <p:nvPicPr>
          <p:cNvPr id="15" name="Picture 14" descr="e9e6240f6a5ac6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245" y="4273296"/>
            <a:ext cx="792480" cy="685800"/>
          </a:xfrm>
          <a:prstGeom prst="rect">
            <a:avLst/>
          </a:prstGeom>
        </p:spPr>
      </p:pic>
      <p:pic>
        <p:nvPicPr>
          <p:cNvPr id="16" name="Picture 15" descr="b45588bb7e9f07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215128"/>
            <a:ext cx="1965960" cy="80467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53512" y="5388864"/>
            <a:ext cx="62704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   — wrong: flipped, kept the minus; should be </a:t>
            </a:r>
          </a:p>
        </p:txBody>
      </p:sp>
      <p:pic>
        <p:nvPicPr>
          <p:cNvPr id="18" name="Picture 17" descr="d631bf12f968ff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6772" y="5276088"/>
            <a:ext cx="777240" cy="6827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Different bases, same value — rewrite to a common base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377439" y="2340864"/>
          <a:ext cx="740664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011680"/>
                <a:gridCol w="201168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Base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Square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Cube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1A1A1A"/>
                          </a:solidFill>
                          <a:latin typeface="Century Schoolbook"/>
                        </a:rPr>
                        <a:t>Fourth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27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3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125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5</a:t>
                      </a:r>
                      <a:r>
                        <a:rPr sz="16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  <a:r>
                        <a:rPr sz="1600" b="0">
                          <a:solidFill>
                            <a:srgbClr val="1A1A1A"/>
                          </a:solidFill>
                          <a:latin typeface="Century Schoolbook"/>
                        </a:rPr>
                        <a:t> = 625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1" name="Picture 10" descr="8c34f90c6fc7d47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896" y="4105656"/>
            <a:ext cx="242316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9056" y="4082796"/>
            <a:ext cx="9885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</a:t>
            </a:r>
          </a:p>
        </p:txBody>
      </p:sp>
      <p:pic>
        <p:nvPicPr>
          <p:cNvPr id="13" name="Picture 12" descr="9053d689824c5c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479" y="4105656"/>
            <a:ext cx="2295144" cy="411480"/>
          </a:xfrm>
          <a:prstGeom prst="rect">
            <a:avLst/>
          </a:prstGeom>
        </p:spPr>
      </p:pic>
      <p:pic>
        <p:nvPicPr>
          <p:cNvPr id="14" name="Picture 13" descr="a561d3e29393bcc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884" y="4791456"/>
            <a:ext cx="487375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IV.  Testing equivalence: Xavier's claim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8fba7ecf87f384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84" y="2340864"/>
            <a:ext cx="4294632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54716" y="2450592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2" name="Picture 11" descr="505da5ea0c261b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707" y="2340864"/>
            <a:ext cx="4300728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35584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Same base, then compare exponents.</a:t>
            </a:r>
          </a:p>
        </p:txBody>
      </p:sp>
      <p:pic>
        <p:nvPicPr>
          <p:cNvPr id="14" name="Picture 13" descr="5954d94571e7ef7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073651"/>
            <a:ext cx="1487424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74976" y="4046219"/>
            <a:ext cx="34041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— so Xavier is wrong.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Evaluate.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2d16e4daaa9b6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623" y="2103120"/>
            <a:ext cx="1414272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826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1ca1397ffa03d4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3112008" cy="6888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98008" y="2036064"/>
            <a:ext cx="598627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negative exponent: flip</a:t>
            </a:r>
          </a:p>
        </p:txBody>
      </p:sp>
      <p:pic>
        <p:nvPicPr>
          <p:cNvPr id="11" name="Picture 10" descr="f25419565ed35dc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3408"/>
            <a:ext cx="1697736" cy="6979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83736" y="3003804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quotient, then multiply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16/3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b5586861463d6b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648" y="2194560"/>
            <a:ext cx="179222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4ba5d3554b7f43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99" y="2194560"/>
            <a:ext cx="1798320" cy="862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7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2 = 25/4 ·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6375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a56cc9ab8e3bb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480560"/>
            <a:ext cx="51206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Equivalent or not?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6109" y="2313432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10" name="Picture 9" descr="67df2d652c1a7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954" y="2369819"/>
            <a:ext cx="920495" cy="34442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27450" y="2313432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69969edd9de4688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156" y="2103120"/>
            <a:ext cx="1082040" cy="8778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81196" y="2313432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48386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both with the bases 3 and 2, then compare.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9dc7ad07cd91fb8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267200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53200" y="1865376"/>
            <a:ext cx="483107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product, product of powers</a:t>
            </a:r>
          </a:p>
        </p:txBody>
      </p:sp>
      <p:pic>
        <p:nvPicPr>
          <p:cNvPr id="11" name="Picture 10" descr="77d3b6258368a7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42032"/>
            <a:ext cx="3883152" cy="8747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69152" y="2750820"/>
            <a:ext cx="521512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power of a product, quotient of powers</a:t>
            </a:r>
          </a:p>
        </p:txBody>
      </p:sp>
      <p:pic>
        <p:nvPicPr>
          <p:cNvPr id="13" name="Picture 12" descr="4af5e130ae69d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691127"/>
            <a:ext cx="2295144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81144" y="3636263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same bases, same exponents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Yes — both are 3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·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1944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6633" y="2516124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10" name="Picture 9" descr="9b999197431493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478" y="2528315"/>
            <a:ext cx="1411224" cy="4328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38702" y="2516124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e566d1e7830f89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408" y="2194560"/>
            <a:ext cx="1350264" cy="1100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60672" y="2516124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8157" y="2516124"/>
            <a:ext cx="9880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Are  </a:t>
            </a:r>
          </a:p>
        </p:txBody>
      </p:sp>
      <p:pic>
        <p:nvPicPr>
          <p:cNvPr id="10" name="Picture 9" descr="7788e03876974cc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002" y="2529840"/>
            <a:ext cx="1411224" cy="429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940226" y="2516124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b7201d2b15f8c8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932" y="2194560"/>
            <a:ext cx="1347216" cy="11003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59148" y="2516124"/>
            <a:ext cx="22613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equivalent?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1492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both are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5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Yes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· 5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4000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61e8ec21e00a89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836" y="2194560"/>
            <a:ext cx="2593848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956b769eca71d99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883" y="2103120"/>
            <a:ext cx="2587752" cy="1188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56615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(−7)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(−7)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(−7)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−343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5a81991eb38a0b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543" y="2194560"/>
            <a:ext cx="2694432" cy="18653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425696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10328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b34bc56ecccd0f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067" y="2103120"/>
            <a:ext cx="2691384" cy="1871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424891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−3 − (−2) = −1, so (3/4)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1100" y="51328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6d9a31f1d02f31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980432"/>
            <a:ext cx="25908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2f8b87745f5bc5a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675" y="2194560"/>
            <a:ext cx="2868168" cy="1432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48df33e2a7e48c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723" y="2103120"/>
            <a:ext cx="2862072" cy="14295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80695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91100" y="481431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2bb7fdb900ba42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1340" y="4663440"/>
            <a:ext cx="25908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35471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One flash drive holds  </a:t>
            </a:r>
          </a:p>
        </p:txBody>
      </p:sp>
      <p:pic>
        <p:nvPicPr>
          <p:cNvPr id="10" name="Picture 9" descr="c5917418503255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432" y="1943100"/>
            <a:ext cx="377952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2384" y="1851660"/>
            <a:ext cx="2063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megabytes.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4308"/>
            <a:ext cx="24877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Another holds  </a:t>
            </a:r>
          </a:p>
        </p:txBody>
      </p:sp>
      <p:pic>
        <p:nvPicPr>
          <p:cNvPr id="13" name="Picture 12" descr="1d8988fc9968dd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036" y="2552700"/>
            <a:ext cx="252984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38020" y="2464308"/>
            <a:ext cx="65092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megabytes. The first one costs 45 dollars.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Which holds more — or is it the same? Show why.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354715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One flash drive holds  </a:t>
            </a:r>
          </a:p>
        </p:txBody>
      </p:sp>
      <p:pic>
        <p:nvPicPr>
          <p:cNvPr id="10" name="Picture 9" descr="b4b5a35a336421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432" y="1943100"/>
            <a:ext cx="38100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5432" y="1851660"/>
            <a:ext cx="20634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megabytes.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64308"/>
            <a:ext cx="248775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Another holds  </a:t>
            </a:r>
          </a:p>
        </p:txBody>
      </p:sp>
      <p:pic>
        <p:nvPicPr>
          <p:cNvPr id="13" name="Picture 12" descr="e7e94afbdd4008a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036" y="2552700"/>
            <a:ext cx="256032" cy="28041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41068" y="2464308"/>
            <a:ext cx="65092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megabytes. The first one costs 45 dollars.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9981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Which holds more — or is it the same? Show why.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3035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 =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so 8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The same: 8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(2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39fbeb40e62d12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496" y="2194560"/>
            <a:ext cx="414528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6207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283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283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141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1419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20031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2a82b5b2f64aa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971" y="2103120"/>
            <a:ext cx="417576" cy="4297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278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3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136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1944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3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78733fd3b94c87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79" y="2194560"/>
            <a:ext cx="1965960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765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45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4ef405027ff619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79" y="2103120"/>
            <a:ext cx="1965960" cy="850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82112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48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484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342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34231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4007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11b1cae12f4ad7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94560"/>
            <a:ext cx="115824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 of 2.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9a83df8a23e939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39" y="2103120"/>
            <a:ext cx="1158240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798063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460248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474833020a9714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140" y="4663440"/>
            <a:ext cx="411480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cd86dc37fd0c05f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051" y="2194560"/>
            <a:ext cx="142341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as one power of 2.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pic>
        <p:nvPicPr>
          <p:cNvPr id="9" name="Picture 8" descr="a58ef65a72479a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7" y="2103120"/>
            <a:ext cx="1426464" cy="423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0111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1935" y="460248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9101e99983c70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176" y="4663440"/>
            <a:ext cx="597408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294" y="2304288"/>
            <a:ext cx="2254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Xavier says  </a:t>
            </a:r>
          </a:p>
        </p:txBody>
      </p:sp>
      <p:pic>
        <p:nvPicPr>
          <p:cNvPr id="10" name="Picture 9" descr="928a3b4f052209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4146" y="2194560"/>
            <a:ext cx="1569720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13866" y="2304288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b84e4faf309355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72" y="2194560"/>
            <a:ext cx="1557528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43100" y="2304288"/>
            <a:ext cx="27282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are equivalent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3296" y="3122675"/>
            <a:ext cx="53638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because both can be written as  </a:t>
            </a:r>
          </a:p>
        </p:txBody>
      </p:sp>
      <p:pic>
        <p:nvPicPr>
          <p:cNvPr id="15" name="Picture 14" descr="c9adefc290aa5b4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975" y="3185159"/>
            <a:ext cx="521207" cy="3322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41183" y="3122675"/>
            <a:ext cx="27642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Do you agree?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each with base 2, and say what you find.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4246" y="2212848"/>
            <a:ext cx="22540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Xavier says  </a:t>
            </a:r>
          </a:p>
        </p:txBody>
      </p:sp>
      <p:pic>
        <p:nvPicPr>
          <p:cNvPr id="10" name="Picture 9" descr="5cc8e379c9f0fb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1098" y="2103120"/>
            <a:ext cx="1572768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13866" y="2212848"/>
            <a:ext cx="12088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and  </a:t>
            </a:r>
          </a:p>
        </p:txBody>
      </p:sp>
      <p:pic>
        <p:nvPicPr>
          <p:cNvPr id="12" name="Picture 11" descr="3544f9e4eb8bbbf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72" y="2103120"/>
            <a:ext cx="1560576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946148" y="2212848"/>
            <a:ext cx="27282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are equivalent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1772" y="3031236"/>
            <a:ext cx="53638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because both can be written as  </a:t>
            </a:r>
          </a:p>
        </p:txBody>
      </p:sp>
      <p:pic>
        <p:nvPicPr>
          <p:cNvPr id="15" name="Picture 14" descr="afdbc5b48ef250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451" y="3093720"/>
            <a:ext cx="524256" cy="3322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42707" y="3031236"/>
            <a:ext cx="276420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  Do you agree?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8561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-7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and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the second is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-6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, not 2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Lessons 6–7 — Evaluating and Equivalent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Evaluate expressions using properties of exponents — 6T7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Identify equivalent expressions involving exponents II — QDM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