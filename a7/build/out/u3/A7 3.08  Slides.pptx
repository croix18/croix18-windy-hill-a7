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6916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6B6B6B"/>
                </a:solidFill>
                <a:latin typeface="Century Schoolbook"/>
              </a:rPr>
              <a:t>GRADE 7 ACCELERATED  ·  UNIT 3  ·  LESSON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400" b="1" i="0">
                <a:solidFill>
                  <a:srgbClr val="1A1A1A"/>
                </a:solidFill>
                <a:latin typeface="Century Schoolbook"/>
              </a:rPr>
              <a:t>Writing Large Numbers in Scientific Notation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2552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3375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5021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entury Schoolbook"/>
              </a:rPr>
              <a:t>MA.8.NSO.1.4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1A1A1A"/>
                </a:solidFill>
                <a:latin typeface="Century Schoolbook"/>
              </a:rPr>
              <a:t>I can write a large number in scientific notation, read one back into standard form, and find how many times larger one number is than another.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4736592"/>
            <a:ext cx="7406640" cy="1051560"/>
          </a:xfrm>
          <a:prstGeom prst="rect">
            <a:avLst/>
          </a:prstGeom>
          <a:solidFill>
            <a:srgbClr val="F2F2F0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4892040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0" i="1">
                <a:solidFill>
                  <a:srgbClr val="6B6B6B"/>
                </a:solidFill>
                <a:latin typeface="Century Schoolbook"/>
              </a:rPr>
              <a:t>Yesterday the exponent laws finished — numbers and letters.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5276088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1A1A1A"/>
                </a:solidFill>
                <a:latin typeface="Century Schoolbook"/>
              </a:rPr>
              <a:t>Today they go to work on twenty-digit numbers.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On your own. Four minutes. No notes.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760220"/>
            <a:ext cx="567099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Rewrite with a positive exponent:  </a:t>
            </a:r>
          </a:p>
        </p:txBody>
      </p:sp>
      <p:pic>
        <p:nvPicPr>
          <p:cNvPr id="10" name="Picture 9" descr="1f7555b99367de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8353" y="1850136"/>
            <a:ext cx="585216" cy="2773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74519" y="2372868"/>
            <a:ext cx="30649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Find the value:  </a:t>
            </a:r>
          </a:p>
        </p:txBody>
      </p:sp>
      <p:pic>
        <p:nvPicPr>
          <p:cNvPr id="12" name="Picture 11" descr="1a29715e9726854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2299" y="2433828"/>
            <a:ext cx="774192" cy="3352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74519" y="2985516"/>
            <a:ext cx="30649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Find the value:  </a:t>
            </a:r>
          </a:p>
        </p:txBody>
      </p:sp>
      <p:pic>
        <p:nvPicPr>
          <p:cNvPr id="14" name="Picture 13" descr="dcb33f053a4bb3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2299" y="3009900"/>
            <a:ext cx="853440" cy="4084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874519" y="3598164"/>
            <a:ext cx="599760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In 4,500,000, which place is the 4 in?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760220"/>
            <a:ext cx="567099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Rewrite with a positive exponent:  </a:t>
            </a:r>
          </a:p>
        </p:txBody>
      </p:sp>
      <p:pic>
        <p:nvPicPr>
          <p:cNvPr id="10" name="Picture 9" descr="1f7555b99367de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8353" y="1850136"/>
            <a:ext cx="585216" cy="2773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542209" y="1760220"/>
            <a:ext cx="7698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4/x</a:t>
            </a:r>
            <a:r>
              <a:rPr sz="2300" b="1" i="0" baseline="30000">
                <a:solidFill>
                  <a:srgbClr val="9E1B32"/>
                </a:solidFill>
                <a:latin typeface="Century Schoolbook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372868"/>
            <a:ext cx="30649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Find the value:  </a:t>
            </a:r>
          </a:p>
        </p:txBody>
      </p:sp>
      <p:pic>
        <p:nvPicPr>
          <p:cNvPr id="13" name="Picture 12" descr="1a29715e9726854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2299" y="2433828"/>
            <a:ext cx="774192" cy="3352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25131" y="2372868"/>
            <a:ext cx="242649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10</a:t>
            </a:r>
            <a:r>
              <a:rPr sz="2300" b="1" i="0" baseline="30000">
                <a:solidFill>
                  <a:srgbClr val="9E1B32"/>
                </a:solidFill>
                <a:latin typeface="Century Schoolbook"/>
              </a:rPr>
              <a:t>6</a:t>
            </a:r>
            <a:r>
              <a:rPr sz="2300" b="1" i="0">
                <a:solidFill>
                  <a:srgbClr val="9E1B32"/>
                </a:solidFill>
                <a:latin typeface="Century Schoolbook"/>
              </a:rPr>
              <a:t> = 1,000,000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2985516"/>
            <a:ext cx="30649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Find the value:  </a:t>
            </a:r>
          </a:p>
        </p:txBody>
      </p:sp>
      <p:pic>
        <p:nvPicPr>
          <p:cNvPr id="16" name="Picture 15" descr="dcb33f053a4bb3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2299" y="3009900"/>
            <a:ext cx="853440" cy="40843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204379" y="2985516"/>
            <a:ext cx="56579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3598164"/>
            <a:ext cx="599760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In 4,500,000, which place is the 4 in?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3604" y="3598164"/>
            <a:ext cx="151176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millions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Copy the table.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I.  Powers of ten name the places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142999" y="2340864"/>
          <a:ext cx="9875520" cy="7680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  <a:gridCol w="164592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10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10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10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10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10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10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1,000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10,000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100,000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1,000,000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987552" y="3401568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The exponent counts the zeros — and names the place of the 1.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II.  Scientific notation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ae691909141812d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840" y="2403348"/>
            <a:ext cx="1124712" cy="28651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173552" y="2318004"/>
            <a:ext cx="152485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with   </a:t>
            </a:r>
          </a:p>
        </p:txBody>
      </p:sp>
      <p:pic>
        <p:nvPicPr>
          <p:cNvPr id="12" name="Picture 11" descr="e63b4a648511fa4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1247" y="2388108"/>
            <a:ext cx="1551432" cy="316992"/>
          </a:xfrm>
          <a:prstGeom prst="rect">
            <a:avLst/>
          </a:prstGeom>
        </p:spPr>
      </p:pic>
      <p:pic>
        <p:nvPicPr>
          <p:cNvPr id="13" name="Picture 12" descr="91d69a76bf05582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6864" y="3031236"/>
            <a:ext cx="3139440" cy="40233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306304" y="3003804"/>
            <a:ext cx="1183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</a:t>
            </a:r>
          </a:p>
        </p:txBody>
      </p:sp>
      <p:pic>
        <p:nvPicPr>
          <p:cNvPr id="15" name="Picture 14" descr="82060c708b59eed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2295" y="3035808"/>
            <a:ext cx="3642360" cy="39319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87552" y="3776472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The coefficient is at least 1 and less than 10: one nonzero digit before the decimal point.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4983480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The exponent is how many places the decimal point moves: 26,000,000. → 2.6, seven places, so 10</a:t>
            </a:r>
            <a:r>
              <a:rPr sz="2300" b="0" i="0" baseline="30000">
                <a:solidFill>
                  <a:srgbClr val="1A1A1A"/>
                </a:solidFill>
                <a:latin typeface="Century Schoolbook"/>
              </a:rPr>
              <a:t>7</a:t>
            </a:r>
            <a:r>
              <a:rPr sz="23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III.  How many times larger?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736142d2660e680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8176" y="2348484"/>
            <a:ext cx="2112264" cy="8107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70440" y="2525268"/>
            <a:ext cx="1183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</a:t>
            </a:r>
          </a:p>
        </p:txBody>
      </p:sp>
      <p:pic>
        <p:nvPicPr>
          <p:cNvPr id="12" name="Picture 11" descr="cfffa4b9d3623af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6431" y="2340864"/>
            <a:ext cx="3486912" cy="826008"/>
          </a:xfrm>
          <a:prstGeom prst="rect">
            <a:avLst/>
          </a:prstGeom>
        </p:spPr>
      </p:pic>
      <p:pic>
        <p:nvPicPr>
          <p:cNvPr id="13" name="Picture 12" descr="7237c8de8558652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7744" y="3441192"/>
            <a:ext cx="4066031" cy="82600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87552" y="4605528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Divide the coefficients. Divide the powers of 10. Multiply the two results.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5337047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On a screen, 8.4E6 means 8.4 × 10</a:t>
            </a:r>
            <a:r>
              <a:rPr sz="2300" b="0" i="0" baseline="30000">
                <a:solidFill>
                  <a:srgbClr val="1A1A1A"/>
                </a:solidFill>
                <a:latin typeface="Century Schoolbook"/>
              </a:rPr>
              <a:t>6</a:t>
            </a:r>
            <a:r>
              <a:rPr sz="23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Standard form to scientific notation.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1060704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In 2018, funding for education in Florida totaled 30,100,000,000 dollars.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7158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Express this value in scientific notation.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8</a:t>
            </a:r>
          </a:p>
        </p:txBody>
      </p:sp>
      <p:pic>
        <p:nvPicPr>
          <p:cNvPr id="9" name="Picture 8" descr="4fc8bb6e1458af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4700016" cy="3992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986016" y="1891284"/>
            <a:ext cx="4398264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the 3 is in the ten-billions place</a:t>
            </a:r>
          </a:p>
        </p:txBody>
      </p:sp>
      <p:pic>
        <p:nvPicPr>
          <p:cNvPr id="11" name="Picture 10" descr="e6290a823a8494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593848"/>
            <a:ext cx="6541008" cy="3352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827008" y="2532887"/>
            <a:ext cx="2557272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3.01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1060704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A painting sold for 110,500,000 dollars.  Write this value in scientific notation.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1060704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A painting sold for 110,500,000 dollars.  Write this value in scientific notation.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6302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the 1 is in the hundred-millions place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1.105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How many times larger?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88167" y="2080260"/>
            <a:ext cx="455806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How many times larger is  </a:t>
            </a:r>
          </a:p>
        </p:txBody>
      </p:sp>
      <p:pic>
        <p:nvPicPr>
          <p:cNvPr id="10" name="Picture 9" descr="4dc6640317f68a2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9072" y="2133599"/>
            <a:ext cx="1405128" cy="35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14200" y="2080260"/>
            <a:ext cx="135621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than  </a:t>
            </a:r>
          </a:p>
        </p:txBody>
      </p:sp>
      <p:pic>
        <p:nvPicPr>
          <p:cNvPr id="12" name="Picture 11" descr="a7f651d263392d9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3252" y="2136648"/>
            <a:ext cx="1414272" cy="34442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147524" y="2080260"/>
            <a:ext cx="462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12</a:t>
            </a:r>
          </a:p>
        </p:txBody>
      </p:sp>
      <p:pic>
        <p:nvPicPr>
          <p:cNvPr id="9" name="Picture 8" descr="442927616471d18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1450848" cy="69189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736848" y="2037588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coefficients</a:t>
            </a:r>
          </a:p>
        </p:txBody>
      </p:sp>
      <p:pic>
        <p:nvPicPr>
          <p:cNvPr id="11" name="Picture 10" descr="0ffc80c57552c6a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886456"/>
            <a:ext cx="2395728" cy="8077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681728" y="3061716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powers of 10: subtract the exponents</a:t>
            </a:r>
          </a:p>
        </p:txBody>
      </p:sp>
      <p:pic>
        <p:nvPicPr>
          <p:cNvPr id="13" name="Picture 12" descr="c1efb007aba2712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968496"/>
            <a:ext cx="2026920" cy="29260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312920" y="3886200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multiply the two results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718304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15 times larger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04952" y="2185415"/>
            <a:ext cx="39239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Everglades alligators:  </a:t>
            </a:r>
          </a:p>
        </p:txBody>
      </p:sp>
      <p:pic>
        <p:nvPicPr>
          <p:cNvPr id="10" name="Picture 9" descr="b3b23388699e71f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1775" y="2194560"/>
            <a:ext cx="1764792" cy="43891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24165" y="2945892"/>
            <a:ext cx="33160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Florida alligators:  </a:t>
            </a:r>
          </a:p>
        </p:txBody>
      </p:sp>
      <p:pic>
        <p:nvPicPr>
          <p:cNvPr id="12" name="Picture 11" descr="33ace73c84f9ae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042" y="2953512"/>
            <a:ext cx="1734312" cy="4419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3715512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About how many times larger is the Florida number?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04952" y="2185415"/>
            <a:ext cx="39239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Everglades alligators:  </a:t>
            </a:r>
          </a:p>
        </p:txBody>
      </p:sp>
      <p:pic>
        <p:nvPicPr>
          <p:cNvPr id="10" name="Picture 9" descr="4a122d0a8ad789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1775" y="2194560"/>
            <a:ext cx="1764792" cy="43891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24165" y="2945892"/>
            <a:ext cx="33160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Florida alligators:  </a:t>
            </a:r>
          </a:p>
        </p:txBody>
      </p:sp>
      <p:pic>
        <p:nvPicPr>
          <p:cNvPr id="12" name="Picture 11" descr="1751163183b0020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042" y="2953512"/>
            <a:ext cx="1734312" cy="4419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3715512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About how many times larger is the Florida number?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25461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0.75 × 10 = 7.5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976588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about 7.5 times larger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Write  4,000,000  in scientific notation.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Which place is the 4 in?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Write  4,000,000  in scientific notation.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72371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4 millions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4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30641" y="2171700"/>
            <a:ext cx="13110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Write  </a:t>
            </a:r>
          </a:p>
        </p:txBody>
      </p:sp>
      <p:pic>
        <p:nvPicPr>
          <p:cNvPr id="10" name="Picture 9" descr="5f1494d210188d7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4522" y="2225040"/>
            <a:ext cx="1429512" cy="35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34034" y="2171700"/>
            <a:ext cx="32340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in standard form.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Move the point four places.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32165" y="2080260"/>
            <a:ext cx="13110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Write  </a:t>
            </a:r>
          </a:p>
        </p:txBody>
      </p:sp>
      <p:pic>
        <p:nvPicPr>
          <p:cNvPr id="10" name="Picture 9" descr="5cf8cb07a78986c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6046" y="2132076"/>
            <a:ext cx="1426464" cy="3535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32510" y="2080260"/>
            <a:ext cx="32340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in standard form.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83463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7.2 × 10,000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72,000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A stadium's renovation used  356,000  bolts.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6943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The stadium seats 71,000 people.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44318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Write the number of bolts in scientific notation.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Every nonzero digit stays in the coefficient.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A stadium's renovation used  356,000  bolts.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7799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The stadium seats 71,000 people.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52878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Write the number of bolts in scientific notation.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873477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3.56 hundred-thousands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3.56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496" y="2171700"/>
            <a:ext cx="31660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Which is greater,  </a:t>
            </a:r>
          </a:p>
        </p:txBody>
      </p:sp>
      <p:pic>
        <p:nvPicPr>
          <p:cNvPr id="10" name="Picture 9" descr="1ab45d017fce8a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5398" y="2223516"/>
            <a:ext cx="1411224" cy="3535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046622" y="2171700"/>
            <a:ext cx="92984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or  </a:t>
            </a:r>
          </a:p>
        </p:txBody>
      </p:sp>
      <p:pic>
        <p:nvPicPr>
          <p:cNvPr id="12" name="Picture 11" descr="d99a9851995ad5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9308" y="2223516"/>
            <a:ext cx="1389888" cy="3535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229196" y="2171700"/>
            <a:ext cx="462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Look at the powers first.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496" y="2080260"/>
            <a:ext cx="31660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Which is greater,  </a:t>
            </a:r>
          </a:p>
        </p:txBody>
      </p:sp>
      <p:pic>
        <p:nvPicPr>
          <p:cNvPr id="10" name="Picture 9" descr="497497aa864fbaa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5398" y="2132076"/>
            <a:ext cx="1414272" cy="3535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049670" y="2080260"/>
            <a:ext cx="92984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or  </a:t>
            </a:r>
          </a:p>
        </p:txBody>
      </p:sp>
      <p:pic>
        <p:nvPicPr>
          <p:cNvPr id="12" name="Picture 11" descr="86019fcf1f04e7b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2356" y="2130551"/>
            <a:ext cx="1386840" cy="3566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229196" y="2080260"/>
            <a:ext cx="462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83463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950,000 versus 1,200,000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1.2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 52,000,000  written in scientific notation?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8608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5.2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8608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52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5.2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5.2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552519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 52,000,000  written in scientific notation?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7694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A.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5.2 × 10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7694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52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4552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5.2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4552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5.2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A — 5.2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89919" y="2171700"/>
            <a:ext cx="455806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How many times larger is  </a:t>
            </a:r>
          </a:p>
        </p:txBody>
      </p:sp>
      <p:pic>
        <p:nvPicPr>
          <p:cNvPr id="10" name="Picture 9" descr="cb3383a0ac48947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0824" y="2225040"/>
            <a:ext cx="1109472" cy="35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20296" y="2171700"/>
            <a:ext cx="135621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than  </a:t>
            </a:r>
          </a:p>
        </p:txBody>
      </p:sp>
      <p:pic>
        <p:nvPicPr>
          <p:cNvPr id="12" name="Picture 11" descr="136c380adf2acf3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9348" y="2223516"/>
            <a:ext cx="1106424" cy="3535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845772" y="2171700"/>
            <a:ext cx="462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97180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97180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365760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65760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1.6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66344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91443" y="2080260"/>
            <a:ext cx="455806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How many times larger is  </a:t>
            </a:r>
          </a:p>
        </p:txBody>
      </p:sp>
      <p:pic>
        <p:nvPicPr>
          <p:cNvPr id="10" name="Picture 9" descr="f0145cdff15a98d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2348" y="2133599"/>
            <a:ext cx="1106424" cy="35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18772" y="2080260"/>
            <a:ext cx="135621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than  </a:t>
            </a:r>
          </a:p>
        </p:txBody>
      </p:sp>
      <p:pic>
        <p:nvPicPr>
          <p:cNvPr id="12" name="Picture 11" descr="8a4ddfeda2c3aab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7824" y="2132076"/>
            <a:ext cx="1106424" cy="3535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844248" y="2080260"/>
            <a:ext cx="462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88036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A.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1,000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88036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356616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56616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1.6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A — 1,000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79023" y="2171700"/>
            <a:ext cx="455806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How many times larger is  </a:t>
            </a:r>
          </a:p>
        </p:txBody>
      </p:sp>
      <p:pic>
        <p:nvPicPr>
          <p:cNvPr id="10" name="Picture 9" descr="9dfa88f60f7695f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928" y="2223516"/>
            <a:ext cx="1411224" cy="3535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11152" y="2171700"/>
            <a:ext cx="135621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than  </a:t>
            </a:r>
          </a:p>
        </p:txBody>
      </p:sp>
      <p:pic>
        <p:nvPicPr>
          <p:cNvPr id="12" name="Picture 11" descr="441501d81b57e0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0204" y="2225040"/>
            <a:ext cx="1426464" cy="3505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156668" y="2171700"/>
            <a:ext cx="462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Coefficients, then powers, then multiply.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82071" y="2080260"/>
            <a:ext cx="455806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How many times larger is  </a:t>
            </a:r>
          </a:p>
        </p:txBody>
      </p:sp>
      <p:pic>
        <p:nvPicPr>
          <p:cNvPr id="10" name="Picture 9" descr="6acdf7e54fb071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2976" y="2130551"/>
            <a:ext cx="1408176" cy="3566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11152" y="2080260"/>
            <a:ext cx="135621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than  </a:t>
            </a:r>
          </a:p>
        </p:txBody>
      </p:sp>
      <p:pic>
        <p:nvPicPr>
          <p:cNvPr id="12" name="Picture 11" descr="a8adc052eab579b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0204" y="2132076"/>
            <a:ext cx="1423416" cy="3535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153620" y="2080260"/>
            <a:ext cx="462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83463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4 × 10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400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A computer displays a number as  3.5E9.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6943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Write the number in standard form.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E is not an error.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A computer displays a number as  3.5E9.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7799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Write the number in standard form.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298598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3.5 × 10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3,500,000,000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Take your time. Boards up when you have written it.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94026" y="2171700"/>
            <a:ext cx="502955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Marcus writes  2,000,000  as  </a:t>
            </a:r>
          </a:p>
        </p:txBody>
      </p:sp>
      <p:pic>
        <p:nvPicPr>
          <p:cNvPr id="10" name="Picture 9" descr="8eae714437c97ee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6417" y="2223516"/>
            <a:ext cx="1310640" cy="3535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97057" y="2171700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80360"/>
            <a:ext cx="1060704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300" b="0" i="0">
                <a:solidFill>
                  <a:srgbClr val="1A1A1A"/>
                </a:solidFill>
                <a:latin typeface="Century Schoolbook"/>
              </a:rPr>
              <a:t>Is his expression equal to 2,000,000? Is it scientific notation? Explain.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Write your answer in sentences.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Use the definition.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92502" y="2080260"/>
            <a:ext cx="502955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Marcus writes  2,000,000  as  </a:t>
            </a:r>
          </a:p>
        </p:txBody>
      </p:sp>
      <p:pic>
        <p:nvPicPr>
          <p:cNvPr id="10" name="Picture 9" descr="6407d8dfbcc3b6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4893" y="2132076"/>
            <a:ext cx="1313688" cy="3535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98581" y="2080260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788920"/>
            <a:ext cx="1060704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300" b="0" i="0">
                <a:solidFill>
                  <a:srgbClr val="1A1A1A"/>
                </a:solidFill>
                <a:latin typeface="Century Schoolbook"/>
              </a:rPr>
              <a:t>Is his expression equal to 2,000,000? Is it scientific notation? Explain.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767328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equal, yes — scientific notation, 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Equal, yes. Scientific notation, no: 20 is not less than 10. 2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6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Six questions. On your own, in silence.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01168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Six questions. Work down the page.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55117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51176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Show the step that does the work, not just the answer.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90672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090672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Silence until the six minutes are up.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Last five minutes.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Open IXL and start today's skills.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Work on paper where the question needs work. The answer box does not show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Every skill listed is required, to a SmartScore of 67. Due at the start of the next class.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1A1A1A"/>
                </a:solidFill>
                <a:latin typeface="Century Schoolbook"/>
              </a:rPr>
              <a:t>Today's skills — all required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Convert between standard and scientific notation: large numbers — 2AL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837176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Compare large numbers — WEZ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5166360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Powers of ten — LJQ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