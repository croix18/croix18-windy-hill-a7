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Product Laws of Exponents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MA.7.NSO.1.1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use the product of powers, power of a product, power of a power and identity laws to rewrite and evaluate a numerical expression.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Last unit you took roots apart.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you put powers together — and the base has to match.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969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10" name="Picture 9" descr="0ae0cbe9590d6d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7132" y="1784604"/>
            <a:ext cx="688848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372868"/>
            <a:ext cx="62859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Between which two whole numbers is </a:t>
            </a:r>
          </a:p>
        </p:txBody>
      </p:sp>
      <p:pic>
        <p:nvPicPr>
          <p:cNvPr id="12" name="Picture 11" descr="bab7398c9b21b5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3352" y="2397252"/>
            <a:ext cx="688848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712200" y="2372868"/>
            <a:ext cx="3622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985516"/>
            <a:ext cx="20330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5" name="Picture 14" descr="d836f789d798887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0375" y="3098292"/>
            <a:ext cx="1402080" cy="2316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602736"/>
            <a:ext cx="24886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17" name="Picture 16" descr="dbe118de2b0ec1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6051" y="3621024"/>
            <a:ext cx="542544" cy="42062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969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10" name="Picture 9" descr="0ae0cbe9590d6d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7132" y="1784604"/>
            <a:ext cx="688848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944619" y="1760220"/>
            <a:ext cx="3797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372868"/>
            <a:ext cx="62859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Between which two whole numbers is </a:t>
            </a:r>
          </a:p>
        </p:txBody>
      </p:sp>
      <p:pic>
        <p:nvPicPr>
          <p:cNvPr id="13" name="Picture 12" descr="bab7398c9b21b5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3352" y="2397252"/>
            <a:ext cx="688848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712200" y="2372868"/>
            <a:ext cx="3622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85884" y="2372868"/>
            <a:ext cx="13962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6 and 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985516"/>
            <a:ext cx="20330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7" name="Picture 16" descr="d836f789d798887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0375" y="3098292"/>
            <a:ext cx="1402080" cy="2316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21095" y="2985516"/>
            <a:ext cx="10574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x =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602736"/>
            <a:ext cx="24886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20" name="Picture 19" descr="dbe118de2b0ec1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6051" y="3621024"/>
            <a:ext cx="542544" cy="420624"/>
          </a:xfrm>
          <a:prstGeom prst="rect">
            <a:avLst/>
          </a:prstGeom>
        </p:spPr>
      </p:pic>
      <p:pic>
        <p:nvPicPr>
          <p:cNvPr id="21" name="Picture 20" descr="ee89cf951fa0a95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17236" y="3621024"/>
            <a:ext cx="118872" cy="4267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three words.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A power is a shorthand for repeated multiplication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850392" y="2322576"/>
            <a:ext cx="10405872" cy="585216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404872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2404872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0B5394"/>
                </a:solidFill>
                <a:latin typeface="Century Schoolbook"/>
              </a:rPr>
              <a:t>base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   —   the number used as a factor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0392" y="3054096"/>
            <a:ext cx="10405872" cy="585216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3136391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B.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3136391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0B5394"/>
                </a:solidFill>
                <a:latin typeface="Century Schoolbook"/>
              </a:rPr>
              <a:t>exponent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   —   how many times the base is a factor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" y="3785616"/>
            <a:ext cx="10405872" cy="585216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" y="3867912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81912" y="3867912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0B5394"/>
                </a:solidFill>
                <a:latin typeface="Century Schoolbook"/>
              </a:rPr>
              <a:t>power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   —   the whole thing, base and exponent together</a:t>
            </a:r>
          </a:p>
        </p:txBody>
      </p:sp>
      <p:pic>
        <p:nvPicPr>
          <p:cNvPr id="20" name="Picture 19" descr="6b135f4ce2bc7d6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7171" y="4623816"/>
            <a:ext cx="2410968" cy="34442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438140" y="4567428"/>
            <a:ext cx="1583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</a:t>
            </a:r>
          </a:p>
        </p:txBody>
      </p:sp>
      <p:pic>
        <p:nvPicPr>
          <p:cNvPr id="22" name="Picture 21" descr="58959464df7d592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4924" y="4535424"/>
            <a:ext cx="2249424" cy="52120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Where the rule comes from.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Product of powers — same base, add the exponents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41c22134e9781a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0583" y="2340864"/>
            <a:ext cx="4340352" cy="414528"/>
          </a:xfrm>
          <a:prstGeom prst="rect">
            <a:avLst/>
          </a:prstGeom>
        </p:spPr>
      </p:pic>
      <p:pic>
        <p:nvPicPr>
          <p:cNvPr id="12" name="Picture 11" descr="662e16c748d778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5796" y="3029711"/>
            <a:ext cx="3590544" cy="4114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06340" y="3006852"/>
            <a:ext cx="58765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— different bases, no shortcut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3738371"/>
            <a:ext cx="35986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Product of powers:  </a:t>
            </a:r>
          </a:p>
        </p:txBody>
      </p:sp>
      <p:pic>
        <p:nvPicPr>
          <p:cNvPr id="15" name="Picture 14" descr="fcadf241f78a28e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9064" y="3814572"/>
            <a:ext cx="2313432" cy="304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405883"/>
            <a:ext cx="32481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Check with values:  </a:t>
            </a:r>
          </a:p>
        </p:txBody>
      </p:sp>
      <p:pic>
        <p:nvPicPr>
          <p:cNvPr id="17" name="Picture 16" descr="0cd0ba214ccb8e6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8544" y="4457699"/>
            <a:ext cx="3931920" cy="35356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Power of a product — the exponent goes to every factor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2e33d645aeaa11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5460" y="2340864"/>
            <a:ext cx="8610600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049524"/>
            <a:ext cx="37680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Power of a product:  </a:t>
            </a:r>
          </a:p>
        </p:txBody>
      </p:sp>
      <p:pic>
        <p:nvPicPr>
          <p:cNvPr id="12" name="Picture 11" descr="69332e223f5c09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8482" y="3102864"/>
            <a:ext cx="2420112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75818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Works for a product only, never for a sum:</a:t>
            </a:r>
          </a:p>
        </p:txBody>
      </p:sp>
      <p:pic>
        <p:nvPicPr>
          <p:cNvPr id="14" name="Picture 13" descr="5ee46b5f1c8eb3d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4471416"/>
            <a:ext cx="3736848" cy="4114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24400" y="4448555"/>
            <a:ext cx="15773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 but   </a:t>
            </a:r>
          </a:p>
        </p:txBody>
      </p:sp>
      <p:pic>
        <p:nvPicPr>
          <p:cNvPr id="16" name="Picture 15" descr="b95845733ef6f18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64580" y="4471416"/>
            <a:ext cx="2840736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IV.  Power of a power, and the exponent 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325879" y="2340864"/>
          <a:ext cx="950976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4206240"/>
                <a:gridCol w="23774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Power of a power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Repeated multiplication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Single power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(3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3 · 3 · 3 · 3 · 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87552" y="4128515"/>
            <a:ext cx="34292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Power of a power:  </a:t>
            </a:r>
          </a:p>
        </p:txBody>
      </p:sp>
      <p:pic>
        <p:nvPicPr>
          <p:cNvPr id="12" name="Picture 11" descr="376929772ce314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9646" y="4183380"/>
            <a:ext cx="1837943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17590" y="4128515"/>
            <a:ext cx="34292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        Identity:  </a:t>
            </a:r>
          </a:p>
        </p:txBody>
      </p:sp>
      <p:pic>
        <p:nvPicPr>
          <p:cNvPr id="14" name="Picture 13" descr="0a7a0f6911d992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9684" y="4186428"/>
            <a:ext cx="972311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Two ways to the same value.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662f7ef757f30a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0512" y="2136648"/>
            <a:ext cx="920495" cy="3444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 both ways.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6051f4233fc212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871216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57216" y="1865376"/>
            <a:ext cx="6227063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product of powers: same base, add</a:t>
            </a:r>
          </a:p>
        </p:txBody>
      </p:sp>
      <p:pic>
        <p:nvPicPr>
          <p:cNvPr id="11" name="Picture 10" descr="9f1f021abe10f4c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2032"/>
            <a:ext cx="1331976" cy="3474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17976" y="2487168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evaluate the single power</a:t>
            </a:r>
          </a:p>
        </p:txBody>
      </p:sp>
      <p:pic>
        <p:nvPicPr>
          <p:cNvPr id="13" name="Picture 12" descr="4be523c728a53ad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163823"/>
            <a:ext cx="1807464" cy="2865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093464" y="3078479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check: evaluate each, then multiply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243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0dfb72a0f6508b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020" y="2194560"/>
            <a:ext cx="1173480" cy="4267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0dfb72a0f6508b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020" y="2194560"/>
            <a:ext cx="1173480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413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same base, add: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7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negative base and a power of a power.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111bd13923d7f5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2872" y="2103120"/>
            <a:ext cx="1255776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9a1c068e6363fa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187952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73952" y="1898904"/>
            <a:ext cx="491032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power: multiply</a:t>
            </a:r>
          </a:p>
        </p:txBody>
      </p:sp>
      <p:pic>
        <p:nvPicPr>
          <p:cNvPr id="11" name="Picture 10" descr="4b91bfa4365cce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9087"/>
            <a:ext cx="1694688" cy="4145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80688" y="2587751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six negative factors — positive</a:t>
            </a:r>
          </a:p>
        </p:txBody>
      </p:sp>
      <p:pic>
        <p:nvPicPr>
          <p:cNvPr id="13" name="Picture 12" descr="5c4898213c4ab0f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97935"/>
            <a:ext cx="1694688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980688" y="3273551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check: (−2)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= −8, then square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bb2905f7bc6949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194560"/>
            <a:ext cx="1554480" cy="518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bb2905f7bc6949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194560"/>
            <a:ext cx="1554480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327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multiply the exponents: (−3)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(−3)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729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7a6e349cb42101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3163" y="2194560"/>
            <a:ext cx="1155192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7a6e349cb42101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3163" y="2103120"/>
            <a:ext cx="1155192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1025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same base, so add the exponents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20995" y="4604003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fb5a5ab64e7e78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1235" y="4663440"/>
            <a:ext cx="399288" cy="42976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19072" y="2171700"/>
            <a:ext cx="65633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tile pattern grows by a factor of  </a:t>
            </a:r>
          </a:p>
        </p:txBody>
      </p:sp>
      <p:pic>
        <p:nvPicPr>
          <p:cNvPr id="10" name="Picture 9" descr="c0129e6e5f8235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5272" y="2231136"/>
            <a:ext cx="335280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480552" y="2171700"/>
            <a:ext cx="20990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one week,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33219" y="2857500"/>
            <a:ext cx="1583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and by  </a:t>
            </a:r>
          </a:p>
        </p:txBody>
      </p:sp>
      <p:pic>
        <p:nvPicPr>
          <p:cNvPr id="13" name="Picture 12" descr="1f70e4cbe52b37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0004" y="2918460"/>
            <a:ext cx="335280" cy="335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15284" y="2857500"/>
            <a:ext cx="72501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the next week. It started with 9 tiles.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661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Write the two-week growth factor as one power, then find its value.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19072" y="2080260"/>
            <a:ext cx="65633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tile pattern grows by a factor of  </a:t>
            </a:r>
          </a:p>
        </p:txBody>
      </p:sp>
      <p:pic>
        <p:nvPicPr>
          <p:cNvPr id="10" name="Picture 9" descr="c0129e6e5f8235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5272" y="2139696"/>
            <a:ext cx="335280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480552" y="2080260"/>
            <a:ext cx="20990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one week,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33219" y="2766060"/>
            <a:ext cx="1583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and by  </a:t>
            </a:r>
          </a:p>
        </p:txBody>
      </p:sp>
      <p:pic>
        <p:nvPicPr>
          <p:cNvPr id="13" name="Picture 12" descr="1f70e4cbe52b37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0004" y="2827019"/>
            <a:ext cx="335280" cy="335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15284" y="2766060"/>
            <a:ext cx="72501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the next week. It started with 9 tiles.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747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Write the two-week growth factor as one power, then find its value.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04164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77316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64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0682cf5d6aba1b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3728" y="2194560"/>
            <a:ext cx="127406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0682cf5d6aba1b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3728" y="2103120"/>
            <a:ext cx="127406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89503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8 · 125, or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1000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d3482028085e50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3748" y="2194560"/>
            <a:ext cx="954023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d3482028085e50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3748" y="2103120"/>
            <a:ext cx="954023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559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four copies of 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so eight 3s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20995" y="4604003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46595cae23e895d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1235" y="4663440"/>
            <a:ext cx="399288" cy="42976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fba9bd10890881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0971" y="2194560"/>
            <a:ext cx="117957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4988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0783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fba9bd10890881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0971" y="2103120"/>
            <a:ext cx="117957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5844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2475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2475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1055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1055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1639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4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806ea7b0be26cf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3748" y="2194560"/>
            <a:ext cx="954023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413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9927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806ea7b0be26cf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3748" y="2103120"/>
            <a:ext cx="954023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4987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2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0783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80e874aaffdac4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9556" y="2194560"/>
            <a:ext cx="2502408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80e874aaffdac4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9556" y="2103120"/>
            <a:ext cx="2502408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559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(−3)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— three negative factors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−27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5874b5ef202c32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9680" y="2194560"/>
            <a:ext cx="2042160" cy="6431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pic>
        <p:nvPicPr>
          <p:cNvPr id="9" name="Picture 8" descr="5874b5ef202c32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9680" y="2103120"/>
            <a:ext cx="2042160" cy="6431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02056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(½)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40808" y="4713731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b7afcb67ef17a4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1048" y="4663440"/>
            <a:ext cx="359664" cy="649224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Aiyanna says she can use the power of a product law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48635" y="2746579"/>
            <a:ext cx="24424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to evaluate  </a:t>
            </a:r>
          </a:p>
        </p:txBody>
      </p:sp>
      <p:pic>
        <p:nvPicPr>
          <p:cNvPr id="11" name="Picture 10" descr="c4163b4848547f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3939" y="2769439"/>
            <a:ext cx="1938528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92467" y="2746579"/>
            <a:ext cx="29575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Is she right?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Say what the law needs, and show the value.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Aiyanna says she can use the power of a product law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48635" y="2655139"/>
            <a:ext cx="24424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to evaluate  </a:t>
            </a:r>
          </a:p>
        </p:txBody>
      </p:sp>
      <p:pic>
        <p:nvPicPr>
          <p:cNvPr id="11" name="Picture 10" descr="c4163b4848547f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3939" y="2677999"/>
            <a:ext cx="1938528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92467" y="2655139"/>
            <a:ext cx="29575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Is she right?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4095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parentheses hold a SUM, not a product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No — (10 + (−2))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8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512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powers — SZQ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Multiplication with exponents — 5SK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Power rule — 8DA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5495544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Understanding exponents — BFA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