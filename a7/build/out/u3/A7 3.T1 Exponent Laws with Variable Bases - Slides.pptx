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24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Relationship Id="rId7" Type="http://schemas.openxmlformats.org/officeDocument/2006/relationships/image" Target="../media/image85.png"/><Relationship Id="rId8" Type="http://schemas.openxmlformats.org/officeDocument/2006/relationships/image" Target="../media/image8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3  ·  THREAD A · DAY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Exponent Laws with Variable Bases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MA.8.AR.1.1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multiply and divide monomials, and raise a monomial to a power, by applying the laws of exponents to variable bases.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29218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Find the value:  </a:t>
            </a:r>
          </a:p>
        </p:txBody>
      </p:sp>
      <p:pic>
        <p:nvPicPr>
          <p:cNvPr id="9" name="Picture 8" descr="84532672c5136f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168" y="1501140"/>
            <a:ext cx="1267968" cy="335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164080"/>
            <a:ext cx="36785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Write as one power:  </a:t>
            </a:r>
          </a:p>
        </p:txBody>
      </p:sp>
      <p:pic>
        <p:nvPicPr>
          <p:cNvPr id="11" name="Picture 10" descr="dea7bce85a1354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911" y="2075688"/>
            <a:ext cx="313944" cy="633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887980"/>
            <a:ext cx="6801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</a:t>
            </a:r>
          </a:p>
        </p:txBody>
      </p:sp>
      <p:pic>
        <p:nvPicPr>
          <p:cNvPr id="13" name="Picture 12" descr="bcdd97740536927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7464" y="2921508"/>
            <a:ext cx="710184" cy="3901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27648" y="2887980"/>
            <a:ext cx="57232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is between which two whole numbers?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500628"/>
            <a:ext cx="42667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Write with an exponent:  </a:t>
            </a:r>
          </a:p>
        </p:txBody>
      </p:sp>
      <p:pic>
        <p:nvPicPr>
          <p:cNvPr id="16" name="Picture 15" descr="10f3e19ce6b1934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4151" y="3610356"/>
            <a:ext cx="1679448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29218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Find the value:  </a:t>
            </a:r>
          </a:p>
        </p:txBody>
      </p:sp>
      <p:pic>
        <p:nvPicPr>
          <p:cNvPr id="9" name="Picture 8" descr="84532672c5136f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168" y="1501140"/>
            <a:ext cx="1267968" cy="335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75776" y="1440180"/>
            <a:ext cx="4050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164080"/>
            <a:ext cx="36785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Write as one power:  </a:t>
            </a:r>
          </a:p>
        </p:txBody>
      </p:sp>
      <p:pic>
        <p:nvPicPr>
          <p:cNvPr id="12" name="Picture 11" descr="dea7bce85a1354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911" y="2075688"/>
            <a:ext cx="313944" cy="6339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78495" y="2052828"/>
            <a:ext cx="12033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6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2180" b="1" i="0">
                <a:solidFill>
                  <a:srgbClr val="9E1B32"/>
                </a:solidFill>
                <a:latin typeface="Lexend"/>
              </a:rPr>
              <a:t> = 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887980"/>
            <a:ext cx="6801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</a:t>
            </a:r>
          </a:p>
        </p:txBody>
      </p:sp>
      <p:pic>
        <p:nvPicPr>
          <p:cNvPr id="15" name="Picture 14" descr="bcdd97740536927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7464" y="2921508"/>
            <a:ext cx="710184" cy="3901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127648" y="2887980"/>
            <a:ext cx="57232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is between which two whole numbers?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62405" y="2887980"/>
            <a:ext cx="13104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7 and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500628"/>
            <a:ext cx="42667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Write with an exponent:  </a:t>
            </a:r>
          </a:p>
        </p:txBody>
      </p:sp>
      <p:pic>
        <p:nvPicPr>
          <p:cNvPr id="19" name="Picture 18" descr="10f3e19ce6b1934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4151" y="3610356"/>
            <a:ext cx="1679448" cy="237744"/>
          </a:xfrm>
          <a:prstGeom prst="rect">
            <a:avLst/>
          </a:prstGeom>
        </p:spPr>
      </p:pic>
      <p:pic>
        <p:nvPicPr>
          <p:cNvPr id="20" name="Picture 19" descr="6318b2f43b5ea3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2239" y="3558540"/>
            <a:ext cx="307848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Product of powers — the base is a letter now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6d4fe73c289b0e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780" y="1993392"/>
            <a:ext cx="4459224" cy="411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21004" y="1970532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2" name="Picture 11" descr="531b3ca0b6947c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5347" y="2055876"/>
            <a:ext cx="2374392" cy="286512"/>
          </a:xfrm>
          <a:prstGeom prst="rect">
            <a:avLst/>
          </a:prstGeom>
        </p:spPr>
      </p:pic>
      <p:pic>
        <p:nvPicPr>
          <p:cNvPr id="13" name="Picture 12" descr="3a24062b248a79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4052" y="2679192"/>
            <a:ext cx="5233416" cy="4145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3432047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Multiply the coefficients. Add the exponents of like bases.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130040"/>
            <a:ext cx="51403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Different variables stay separate:  </a:t>
            </a:r>
          </a:p>
        </p:txBody>
      </p:sp>
      <p:pic>
        <p:nvPicPr>
          <p:cNvPr id="16" name="Picture 15" descr="cb5cb67ed0c2e13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0725" y="4145280"/>
            <a:ext cx="2788920" cy="426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Power of a power, power of a product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d6bfdf3d19b6c6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36" y="1993392"/>
            <a:ext cx="4322064" cy="411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79500" y="1970532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2" name="Picture 11" descr="fccf0a74e9f8b1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843" y="2017776"/>
            <a:ext cx="1920240" cy="362712"/>
          </a:xfrm>
          <a:prstGeom prst="rect">
            <a:avLst/>
          </a:prstGeom>
        </p:spPr>
      </p:pic>
      <p:pic>
        <p:nvPicPr>
          <p:cNvPr id="13" name="Picture 12" descr="ae79d4a9e407b4a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3368" y="2679192"/>
            <a:ext cx="3806952" cy="426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20320" y="2663952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5" name="Picture 14" descr="4c84c2e4af97e3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663" y="2679192"/>
            <a:ext cx="3523488" cy="4267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3444240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Power of a power: multiply the exponents.  Power of a product: raise every factor.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Quotient of powers — dividing monomials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5992b07e12d929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480" y="1993392"/>
            <a:ext cx="4517136" cy="7863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45616" y="2157984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2" name="Picture 11" descr="e5743ba7bca77d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9959" y="2037588"/>
            <a:ext cx="1783080" cy="697992"/>
          </a:xfrm>
          <a:prstGeom prst="rect">
            <a:avLst/>
          </a:prstGeom>
        </p:spPr>
      </p:pic>
      <p:pic>
        <p:nvPicPr>
          <p:cNvPr id="13" name="Picture 12" descr="bff3d968f5264f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2652" y="3054096"/>
            <a:ext cx="1840991" cy="7955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83644" y="3223260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5" name="Picture 14" descr="babaa48f738357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7987" y="3055619"/>
            <a:ext cx="3230880" cy="7924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418795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Divide the coefficients. Subtract the exponents of like bases.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pic>
        <p:nvPicPr>
          <p:cNvPr id="8" name="Picture 7" descr="f82502c420b1e8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644" y="2103120"/>
            <a:ext cx="2618232" cy="426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0327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Write an equivalent expression as a single monomial.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d34a71302951cd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6248400" cy="426720"/>
          </a:xfrm>
          <a:prstGeom prst="rect">
            <a:avLst/>
          </a:prstGeom>
        </p:spPr>
      </p:pic>
      <p:pic>
        <p:nvPicPr>
          <p:cNvPr id="9" name="Picture 8" descr="9880f38cb80c40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21280"/>
            <a:ext cx="3578352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−8x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y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cebc1086f5007b0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136" y="1600200"/>
            <a:ext cx="3127248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1213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Write an equivalent expression as a single monomial.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44018e03469d2a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611" y="1600200"/>
            <a:ext cx="3130296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1213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Write an equivalent expression as a single monomial.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17719" y="3201526"/>
            <a:ext cx="18411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Numbers:  </a:t>
            </a:r>
          </a:p>
        </p:txBody>
      </p:sp>
      <p:pic>
        <p:nvPicPr>
          <p:cNvPr id="11" name="Picture 10" descr="1f9f47243b423b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1756" y="3323446"/>
            <a:ext cx="1072896" cy="213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17719" y="3704446"/>
            <a:ext cx="15080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a's:  </a:t>
            </a:r>
          </a:p>
        </p:txBody>
      </p:sp>
      <p:pic>
        <p:nvPicPr>
          <p:cNvPr id="13" name="Picture 12" descr="5f3fb78ccfb86d8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645" y="3801982"/>
            <a:ext cx="2282952" cy="2621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719" y="4207366"/>
            <a:ext cx="15071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b's:  </a:t>
            </a:r>
          </a:p>
        </p:txBody>
      </p:sp>
      <p:pic>
        <p:nvPicPr>
          <p:cNvPr id="15" name="Picture 14" descr="795cd8a8804113a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7696" y="4304902"/>
            <a:ext cx="2362200" cy="2621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77886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15a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3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b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b9b17b427698fa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1" y="2103120"/>
            <a:ext cx="1408176" cy="8656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7167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Write an equivalent expression as a single monomial.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pic>
        <p:nvPicPr>
          <p:cNvPr id="8" name="Picture 7" descr="c921a6ad516c95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087624" cy="414528"/>
          </a:xfrm>
          <a:prstGeom prst="rect">
            <a:avLst/>
          </a:prstGeom>
        </p:spPr>
      </p:pic>
      <p:pic>
        <p:nvPicPr>
          <p:cNvPr id="9" name="Picture 8" descr="69e7633d2c21fbf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9087"/>
            <a:ext cx="5672328" cy="789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n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8188cd9592de45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007" y="1600200"/>
            <a:ext cx="1365504" cy="1191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9488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Write an equivalent expression as a single monomial.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pic>
        <p:nvPicPr>
          <p:cNvPr id="8" name="Picture 7" descr="3fd6aa4af28a39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531" y="1600200"/>
            <a:ext cx="1362456" cy="1191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9488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Write an equivalent expression as a single monomial.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6286" y="3884278"/>
            <a:ext cx="16914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Top first:  </a:t>
            </a:r>
          </a:p>
        </p:txBody>
      </p:sp>
      <p:pic>
        <p:nvPicPr>
          <p:cNvPr id="11" name="Picture 10" descr="0a070322ca6b9f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553" y="3951334"/>
            <a:ext cx="3151632" cy="3230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26286" y="4387198"/>
            <a:ext cx="18411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Numbers:  </a:t>
            </a:r>
          </a:p>
        </p:txBody>
      </p:sp>
      <p:pic>
        <p:nvPicPr>
          <p:cNvPr id="13" name="Picture 12" descr="6dd81528b6eb10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0323" y="4510642"/>
            <a:ext cx="1176528" cy="2103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726286" y="4890118"/>
            <a:ext cx="15074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p's:  </a:t>
            </a:r>
          </a:p>
        </p:txBody>
      </p:sp>
      <p:pic>
        <p:nvPicPr>
          <p:cNvPr id="15" name="Picture 14" descr="234d1df8f51eff7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6612" y="4957174"/>
            <a:ext cx="2609088" cy="3230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546161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2p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pic>
        <p:nvPicPr>
          <p:cNvPr id="8" name="Picture 7" descr="c22a98d40a0fe3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872" y="2194560"/>
            <a:ext cx="1255776" cy="4175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pic>
        <p:nvPicPr>
          <p:cNvPr id="8" name="Picture 7" descr="7057d29314ff53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3" y="2103120"/>
            <a:ext cx="1261872" cy="417576"/>
          </a:xfrm>
          <a:prstGeom prst="rect">
            <a:avLst/>
          </a:prstGeom>
        </p:spPr>
      </p:pic>
      <p:pic>
        <p:nvPicPr>
          <p:cNvPr id="9" name="Picture 8" descr="5c18f5c8d80754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5" y="2877312"/>
            <a:ext cx="2779776" cy="3017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09744" y="4599431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1" name="Picture 10" descr="f1aeccb44d2ab9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83" y="4663440"/>
            <a:ext cx="621792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pic>
        <p:nvPicPr>
          <p:cNvPr id="8" name="Picture 7" descr="d27a1b65e2e808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647" y="2194560"/>
            <a:ext cx="1030224" cy="5242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pic>
        <p:nvPicPr>
          <p:cNvPr id="8" name="Picture 7" descr="b08eef5dde2a50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647" y="2103120"/>
            <a:ext cx="1030224" cy="524256"/>
          </a:xfrm>
          <a:prstGeom prst="rect">
            <a:avLst/>
          </a:prstGeom>
        </p:spPr>
      </p:pic>
      <p:pic>
        <p:nvPicPr>
          <p:cNvPr id="9" name="Picture 8" descr="4ee0afac3f8991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083" y="2942844"/>
            <a:ext cx="2542032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97551" y="4654296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1" name="Picture 10" descr="aa93a227db193ed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7791" y="4663440"/>
            <a:ext cx="64617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0023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cube has edges  </a:t>
            </a:r>
          </a:p>
        </p:txBody>
      </p:sp>
      <p:pic>
        <p:nvPicPr>
          <p:cNvPr id="9" name="Picture 8" descr="b2218f1b6cc7bf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9618" y="1946147"/>
            <a:ext cx="454152" cy="2682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53770" y="1851660"/>
            <a:ext cx="29419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centimeters long.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308461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surface area is  </a:t>
            </a:r>
          </a:p>
        </p:txBody>
      </p:sp>
      <p:pic>
        <p:nvPicPr>
          <p:cNvPr id="12" name="Picture 11" descr="c9ee10aba47627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1897" y="2557272"/>
            <a:ext cx="655320" cy="2712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837217" y="2464308"/>
            <a:ext cx="331451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square centimeters.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volume of the cube, in cubic centimeters?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0023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cube has edges  </a:t>
            </a:r>
          </a:p>
        </p:txBody>
      </p:sp>
      <p:pic>
        <p:nvPicPr>
          <p:cNvPr id="9" name="Picture 8" descr="47e41d1215f68b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9618" y="1946147"/>
            <a:ext cx="457200" cy="2682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56818" y="1851660"/>
            <a:ext cx="29419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centimeters long.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308461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surface area is  </a:t>
            </a:r>
          </a:p>
        </p:txBody>
      </p:sp>
      <p:pic>
        <p:nvPicPr>
          <p:cNvPr id="12" name="Picture 11" descr="e168afa666552c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1897" y="2555748"/>
            <a:ext cx="658368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840265" y="2464308"/>
            <a:ext cx="331451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square centimeters.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volume of the cube, in cubic centimeters?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9370" y="3734926"/>
            <a:ext cx="57716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Volume = edge × edge × edge:  </a:t>
            </a:r>
          </a:p>
        </p:txBody>
      </p:sp>
      <p:pic>
        <p:nvPicPr>
          <p:cNvPr id="16" name="Picture 15" descr="f2db44398d05b71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3845" y="3779122"/>
            <a:ext cx="908304" cy="368808"/>
          </a:xfrm>
          <a:prstGeom prst="rect">
            <a:avLst/>
          </a:prstGeom>
        </p:spPr>
      </p:pic>
      <p:pic>
        <p:nvPicPr>
          <p:cNvPr id="17" name="Picture 16" descr="83e03eeb2170371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4234" y="4315570"/>
            <a:ext cx="3297936" cy="3749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759451" y="478039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9" name="Picture 18" descr="930c42f7a917cf6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9692" y="4845922"/>
            <a:ext cx="722376" cy="41757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pic>
        <p:nvPicPr>
          <p:cNvPr id="8" name="Picture 7" descr="94ae5c6bf68c5f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911" y="2194560"/>
            <a:ext cx="2901696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c5f8cdff3a58f6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387" y="2103120"/>
            <a:ext cx="2904744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37531" y="2891028"/>
            <a:ext cx="18411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Numbers:  </a:t>
            </a:r>
          </a:p>
        </p:txBody>
      </p:sp>
      <p:pic>
        <p:nvPicPr>
          <p:cNvPr id="10" name="Picture 9" descr="10283f176991c3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1568" y="3012948"/>
            <a:ext cx="1091184" cy="213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37531" y="3393948"/>
            <a:ext cx="15080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a's:  </a:t>
            </a:r>
          </a:p>
        </p:txBody>
      </p:sp>
      <p:pic>
        <p:nvPicPr>
          <p:cNvPr id="12" name="Picture 11" descr="5f3fb78ccfb86d8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8457" y="3491483"/>
            <a:ext cx="2282952" cy="2621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37531" y="3896867"/>
            <a:ext cx="15071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b's:  </a:t>
            </a:r>
          </a:p>
        </p:txBody>
      </p:sp>
      <p:pic>
        <p:nvPicPr>
          <p:cNvPr id="14" name="Picture 13" descr="32bbfbda57c94e6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7508" y="3994404"/>
            <a:ext cx="2319528" cy="2621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370831" y="460248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6" name="Picture 15" descr="36d05054388e0f5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1" y="4663440"/>
            <a:ext cx="1499616" cy="4267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54d7a3db40dafe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859" y="2194560"/>
            <a:ext cx="1447800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32176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984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25m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984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10m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842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25m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842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5m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90135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pic>
        <p:nvPicPr>
          <p:cNvPr id="8" name="Picture 7" descr="71344e364b98fd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336" y="2103120"/>
            <a:ext cx="1450848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40736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pic>
        <p:nvPicPr>
          <p:cNvPr id="10" name="Picture 9" descr="6dcc307e4b4bb3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951" y="3508579"/>
            <a:ext cx="3892296" cy="3718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25m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pic>
        <p:nvPicPr>
          <p:cNvPr id="8" name="Picture 7" descr="a573a675710e22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4791" y="2194560"/>
            <a:ext cx="1011936" cy="9905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137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0800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4x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0800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4x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765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9x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765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4x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662958141cc876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103120"/>
            <a:ext cx="1005840" cy="9936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32536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90227" y="3950539"/>
            <a:ext cx="21407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Numbers:  </a:t>
            </a:r>
          </a:p>
        </p:txBody>
      </p:sp>
      <p:pic>
        <p:nvPicPr>
          <p:cNvPr id="11" name="Picture 10" descr="2908f8b1131494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3854" y="4052647"/>
            <a:ext cx="1389888" cy="252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83742" y="3950539"/>
            <a:ext cx="255103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       The x's:  </a:t>
            </a:r>
          </a:p>
        </p:txBody>
      </p:sp>
      <p:pic>
        <p:nvPicPr>
          <p:cNvPr id="13" name="Picture 12" descr="3aeb7558cdc9ff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7612" y="4026739"/>
            <a:ext cx="2770632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4x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15eaf6bc755cbb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0304" y="2194560"/>
            <a:ext cx="1200912" cy="9905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pic>
        <p:nvPicPr>
          <p:cNvPr id="8" name="Picture 7" descr="1f89042524950c8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827" y="2103120"/>
            <a:ext cx="1197864" cy="9875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591992" y="3369564"/>
            <a:ext cx="18533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The m's:  </a:t>
            </a:r>
          </a:p>
        </p:txBody>
      </p:sp>
      <p:pic>
        <p:nvPicPr>
          <p:cNvPr id="10" name="Picture 9" descr="f17cd6c71b560f6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8167" y="3445764"/>
            <a:ext cx="326136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591992" y="3909059"/>
            <a:ext cx="173239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The n's:  </a:t>
            </a:r>
          </a:p>
        </p:txBody>
      </p:sp>
      <p:pic>
        <p:nvPicPr>
          <p:cNvPr id="12" name="Picture 11" descr="928f349ecf76cfb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7222" y="3986783"/>
            <a:ext cx="3371088" cy="3017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808220" y="4596384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4" name="Picture 13" descr="9f07b18d81f5938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8459" y="4663440"/>
            <a:ext cx="624840" cy="41452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3087" y="2171700"/>
            <a:ext cx="3006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Find the value of </a:t>
            </a:r>
          </a:p>
        </p:txBody>
      </p:sp>
      <p:pic>
        <p:nvPicPr>
          <p:cNvPr id="9" name="Picture 8" descr="f14fce7cf077cd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662" y="2296668"/>
            <a:ext cx="176784" cy="2072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29446" y="217170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:</a:t>
            </a:r>
          </a:p>
        </p:txBody>
      </p:sp>
      <p:pic>
        <p:nvPicPr>
          <p:cNvPr id="11" name="Picture 10" descr="a981bea298d1f2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5023" y="2916936"/>
            <a:ext cx="1871472" cy="338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3087" y="2080260"/>
            <a:ext cx="3006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Find the value of </a:t>
            </a:r>
          </a:p>
        </p:txBody>
      </p:sp>
      <p:pic>
        <p:nvPicPr>
          <p:cNvPr id="9" name="Picture 8" descr="f14fce7cf077cd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662" y="2205228"/>
            <a:ext cx="176784" cy="2072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29446" y="208026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:</a:t>
            </a:r>
          </a:p>
        </p:txBody>
      </p:sp>
      <p:pic>
        <p:nvPicPr>
          <p:cNvPr id="11" name="Picture 10" descr="8d2620ce0f386f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5023" y="2825496"/>
            <a:ext cx="1871472" cy="338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173772" y="3525012"/>
            <a:ext cx="65734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Same base, so the exponents add:  </a:t>
            </a:r>
          </a:p>
        </p:txBody>
      </p:sp>
      <p:pic>
        <p:nvPicPr>
          <p:cNvPr id="13" name="Picture 12" descr="b4a56cf80f1421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051" y="3627120"/>
            <a:ext cx="1383792" cy="252984"/>
          </a:xfrm>
          <a:prstGeom prst="rect">
            <a:avLst/>
          </a:prstGeom>
        </p:spPr>
      </p:pic>
      <p:pic>
        <p:nvPicPr>
          <p:cNvPr id="14" name="Picture 13" descr="faf016cfea52a86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8636" y="4166616"/>
            <a:ext cx="1889760" cy="2529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 = 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6649" y="2179320"/>
            <a:ext cx="25511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Rachel writes  </a:t>
            </a:r>
          </a:p>
        </p:txBody>
      </p:sp>
      <p:pic>
        <p:nvPicPr>
          <p:cNvPr id="9" name="Picture 8" descr="cfeea6bcd2283e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670" y="2194560"/>
            <a:ext cx="1432560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23230" y="2179320"/>
            <a:ext cx="95251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as  </a:t>
            </a:r>
          </a:p>
        </p:txBody>
      </p:sp>
      <p:pic>
        <p:nvPicPr>
          <p:cNvPr id="11" name="Picture 10" descr="bb618bfdbdefcd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8587" y="2226564"/>
            <a:ext cx="5797296" cy="3627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235883" y="217932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0114" y="2878835"/>
            <a:ext cx="342397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Justina writes it as  </a:t>
            </a:r>
          </a:p>
        </p:txBody>
      </p:sp>
      <p:pic>
        <p:nvPicPr>
          <p:cNvPr id="14" name="Picture 13" descr="1693b7be1771319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927" y="2895600"/>
            <a:ext cx="1703832" cy="4236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90759" y="2878835"/>
            <a:ext cx="43078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  Who is correct? Explain.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5125" y="2087880"/>
            <a:ext cx="25511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Rachel writes  </a:t>
            </a:r>
          </a:p>
        </p:txBody>
      </p:sp>
      <p:pic>
        <p:nvPicPr>
          <p:cNvPr id="9" name="Picture 8" descr="2e7c8f87b9f4d0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146" y="2103120"/>
            <a:ext cx="1435608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24754" y="2087880"/>
            <a:ext cx="95251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as  </a:t>
            </a:r>
          </a:p>
        </p:txBody>
      </p:sp>
      <p:pic>
        <p:nvPicPr>
          <p:cNvPr id="11" name="Picture 10" descr="010d92783b6e24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111" y="2135124"/>
            <a:ext cx="5797296" cy="3627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237407" y="208788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8590" y="2788920"/>
            <a:ext cx="342397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Justina writes it as  </a:t>
            </a:r>
          </a:p>
        </p:txBody>
      </p:sp>
      <p:pic>
        <p:nvPicPr>
          <p:cNvPr id="14" name="Picture 13" descr="95db59124d1ea5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5403" y="2804160"/>
            <a:ext cx="1706880" cy="4267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92283" y="2788920"/>
            <a:ext cx="43078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  Who is correct? Explain.</a:t>
            </a:r>
          </a:p>
        </p:txBody>
      </p:sp>
      <p:pic>
        <p:nvPicPr>
          <p:cNvPr id="16" name="Picture 15" descr="cb983d4a48c3fca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2895" y="3649979"/>
            <a:ext cx="2267712" cy="268224"/>
          </a:xfrm>
          <a:prstGeom prst="rect">
            <a:avLst/>
          </a:prstGeom>
        </p:spPr>
      </p:pic>
      <p:pic>
        <p:nvPicPr>
          <p:cNvPr id="17" name="Picture 16" descr="7d1d579d9371e63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895" y="4160520"/>
            <a:ext cx="1417320" cy="252984"/>
          </a:xfrm>
          <a:prstGeom prst="rect">
            <a:avLst/>
          </a:prstGeom>
        </p:spPr>
      </p:pic>
      <p:pic>
        <p:nvPicPr>
          <p:cNvPr id="18" name="Picture 17" descr="f6926bf22434ff2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2895" y="4626864"/>
            <a:ext cx="2508504" cy="3261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5132832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Both are correct; 15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3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3,375, x · x · x = x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3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, and six y's make y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6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5044"/>
            <a:ext cx="31696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Write as one power.  </a:t>
            </a:r>
          </a:p>
        </p:txBody>
      </p:sp>
      <p:pic>
        <p:nvPicPr>
          <p:cNvPr id="10" name="Picture 9" descr="2eaabd0e034350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963" y="1588008"/>
            <a:ext cx="813816" cy="2712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208940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89403"/>
            <a:ext cx="43133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Write as a single monomial.  </a:t>
            </a:r>
          </a:p>
        </p:txBody>
      </p:sp>
      <p:pic>
        <p:nvPicPr>
          <p:cNvPr id="13" name="Picture 12" descr="759d173ab3ce1a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620" y="2154936"/>
            <a:ext cx="670560" cy="3261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268376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683763"/>
            <a:ext cx="43133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Write as a single monomial.  </a:t>
            </a:r>
          </a:p>
        </p:txBody>
      </p:sp>
      <p:pic>
        <p:nvPicPr>
          <p:cNvPr id="16" name="Picture 15" descr="21810693e2eaa1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0620" y="2738627"/>
            <a:ext cx="826008" cy="34747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0120" y="327812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278123"/>
            <a:ext cx="43133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Write as a single monomial.  </a:t>
            </a:r>
          </a:p>
        </p:txBody>
      </p:sp>
      <p:pic>
        <p:nvPicPr>
          <p:cNvPr id="19" name="Picture 18" descr="b4d4ab21b5b301a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0620" y="3343655"/>
            <a:ext cx="1615440" cy="32613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60120" y="3988307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988307"/>
            <a:ext cx="43133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Write as a single monomial.  </a:t>
            </a:r>
          </a:p>
        </p:txBody>
      </p:sp>
      <p:pic>
        <p:nvPicPr>
          <p:cNvPr id="22" name="Picture 21" descr="8715ef2ef01682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0620" y="3895344"/>
            <a:ext cx="685800" cy="64312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0120" y="4698491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698491"/>
            <a:ext cx="26841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value of </a:t>
            </a:r>
          </a:p>
        </p:txBody>
      </p:sp>
      <p:pic>
        <p:nvPicPr>
          <p:cNvPr id="25" name="Picture 24" descr="6d78c2be12150bf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1434" y="4843272"/>
            <a:ext cx="146304" cy="1676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247738" y="4698491"/>
            <a:ext cx="4421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 </a:t>
            </a:r>
          </a:p>
        </p:txBody>
      </p:sp>
      <p:pic>
        <p:nvPicPr>
          <p:cNvPr id="27" name="Picture 26" descr="7739f2fcdf71af3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2689" y="4753356"/>
            <a:ext cx="1588008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Multiply powers: variable bases — TR9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Powers of a power: variable bases — 2CU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Divide monomials with positive exponents — C8L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