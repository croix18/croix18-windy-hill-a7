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Relationship Id="rId3" Type="http://schemas.openxmlformats.org/officeDocument/2006/relationships/image" Target="../media/image5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5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Relationship Id="rId3" Type="http://schemas.openxmlformats.org/officeDocument/2006/relationships/image" Target="../media/image55.png"/><Relationship Id="rId4" Type="http://schemas.openxmlformats.org/officeDocument/2006/relationships/image" Target="../media/image56.png"/><Relationship Id="rId5" Type="http://schemas.openxmlformats.org/officeDocument/2006/relationships/image" Target="../media/image57.png"/><Relationship Id="rId6" Type="http://schemas.openxmlformats.org/officeDocument/2006/relationships/image" Target="../media/image58.png"/><Relationship Id="rId7" Type="http://schemas.openxmlformats.org/officeDocument/2006/relationships/image" Target="../media/image59.png"/><Relationship Id="rId8" Type="http://schemas.openxmlformats.org/officeDocument/2006/relationships/image" Target="../media/image60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LESSON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Quotient Laws of Exponents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MA.7.NSO.1.1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use the quotient of powers, power of a quotient and zero exponent laws to rewrite and evaluate a numerical expression.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36986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Write as one power:  </a:t>
            </a:r>
          </a:p>
        </p:txBody>
      </p:sp>
      <p:pic>
        <p:nvPicPr>
          <p:cNvPr id="9" name="Picture 8" descr="d71efaf91c1d965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5960" y="1528572"/>
            <a:ext cx="746760" cy="2804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052828"/>
            <a:ext cx="7268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</a:t>
            </a:r>
          </a:p>
        </p:txBody>
      </p:sp>
      <p:pic>
        <p:nvPicPr>
          <p:cNvPr id="11" name="Picture 10" descr="38e9b447bed4ddd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4171" y="2077212"/>
            <a:ext cx="914400" cy="4084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665476"/>
            <a:ext cx="16520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Solve  </a:t>
            </a:r>
          </a:p>
        </p:txBody>
      </p:sp>
      <p:pic>
        <p:nvPicPr>
          <p:cNvPr id="13" name="Picture 12" descr="73f8d0478760fca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9368" y="2773680"/>
            <a:ext cx="1405128" cy="24079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874519" y="3357372"/>
            <a:ext cx="20997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Simplify  </a:t>
            </a:r>
          </a:p>
        </p:txBody>
      </p:sp>
      <p:pic>
        <p:nvPicPr>
          <p:cNvPr id="15" name="Picture 14" descr="18ea63a1522c269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37084" y="3300984"/>
            <a:ext cx="880872" cy="56997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36986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Write as one power:  </a:t>
            </a:r>
          </a:p>
        </p:txBody>
      </p:sp>
      <p:pic>
        <p:nvPicPr>
          <p:cNvPr id="9" name="Picture 8" descr="d71efaf91c1d965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5960" y="1528572"/>
            <a:ext cx="746760" cy="280416"/>
          </a:xfrm>
          <a:prstGeom prst="rect">
            <a:avLst/>
          </a:prstGeom>
        </p:spPr>
      </p:pic>
      <p:pic>
        <p:nvPicPr>
          <p:cNvPr id="10" name="Picture 9" descr="fe5bb28ba59f7af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1360" y="1528572"/>
            <a:ext cx="259080" cy="2804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052828"/>
            <a:ext cx="7268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</a:t>
            </a:r>
          </a:p>
        </p:txBody>
      </p:sp>
      <p:pic>
        <p:nvPicPr>
          <p:cNvPr id="12" name="Picture 11" descr="38e9b447bed4ddd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4171" y="2077212"/>
            <a:ext cx="914400" cy="4084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927211" y="2052828"/>
            <a:ext cx="5756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−3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665476"/>
            <a:ext cx="16520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Solve  </a:t>
            </a:r>
          </a:p>
        </p:txBody>
      </p:sp>
      <p:pic>
        <p:nvPicPr>
          <p:cNvPr id="15" name="Picture 14" descr="73f8d0478760fca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89368" y="2773680"/>
            <a:ext cx="1405128" cy="24079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343136" y="2665476"/>
            <a:ext cx="9426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x &lt; 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357372"/>
            <a:ext cx="20997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Simplify  </a:t>
            </a:r>
          </a:p>
        </p:txBody>
      </p:sp>
      <p:pic>
        <p:nvPicPr>
          <p:cNvPr id="18" name="Picture 17" descr="18ea63a1522c269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37084" y="3300984"/>
            <a:ext cx="880872" cy="56997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266596" y="3278124"/>
            <a:ext cx="388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Quotient of powers — same base, subtract the exponents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0fc742bc47e6f6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9752" y="1993392"/>
            <a:ext cx="5462016" cy="8138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3233928"/>
            <a:ext cx="35344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Quotient of powers:  </a:t>
            </a:r>
          </a:p>
        </p:txBody>
      </p:sp>
      <p:pic>
        <p:nvPicPr>
          <p:cNvPr id="12" name="Picture 11" descr="99376a582dd7223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4871" y="3127248"/>
            <a:ext cx="1749552" cy="6705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134423" y="3233928"/>
            <a:ext cx="5973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   (</a:t>
            </a:r>
          </a:p>
        </p:txBody>
      </p:sp>
      <p:pic>
        <p:nvPicPr>
          <p:cNvPr id="14" name="Picture 13" descr="6a9975e145b437d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4607" y="3293364"/>
            <a:ext cx="789432" cy="3383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384039" y="3233928"/>
            <a:ext cx="3307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4232148"/>
            <a:ext cx="30884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Check with values:  </a:t>
            </a:r>
          </a:p>
        </p:txBody>
      </p:sp>
      <p:pic>
        <p:nvPicPr>
          <p:cNvPr id="17" name="Picture 16" descr="74344545705a48f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8837" y="4053840"/>
            <a:ext cx="3621024" cy="8138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Power of a quotient — the exponent goes top and bottom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e72c69fb4c92c91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3220" y="1993392"/>
            <a:ext cx="6355080" cy="8107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3236976"/>
            <a:ext cx="361346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Power of a quotient:  </a:t>
            </a:r>
          </a:p>
        </p:txBody>
      </p:sp>
      <p:pic>
        <p:nvPicPr>
          <p:cNvPr id="12" name="Picture 11" descr="669ee74891112a8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3855" y="3124200"/>
            <a:ext cx="1691640" cy="68275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155495" y="3236976"/>
            <a:ext cx="5973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   (</a:t>
            </a:r>
          </a:p>
        </p:txBody>
      </p:sp>
      <p:pic>
        <p:nvPicPr>
          <p:cNvPr id="14" name="Picture 13" descr="a22d74845d9bf15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5680" y="3294887"/>
            <a:ext cx="786384" cy="34137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402064" y="3236976"/>
            <a:ext cx="3307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4239768"/>
            <a:ext cx="20337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Either way:  </a:t>
            </a:r>
          </a:p>
        </p:txBody>
      </p:sp>
      <p:pic>
        <p:nvPicPr>
          <p:cNvPr id="17" name="Picture 16" descr="efb58e8ff7264b8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84121" y="4062984"/>
            <a:ext cx="3188208" cy="81076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72329" y="4239768"/>
            <a:ext cx="12659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 and   </a:t>
            </a:r>
          </a:p>
        </p:txBody>
      </p:sp>
      <p:pic>
        <p:nvPicPr>
          <p:cNvPr id="19" name="Picture 18" descr="1d8df7a17576def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01091" y="4264152"/>
            <a:ext cx="2231136" cy="40843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The zero exponent — two roads to the same answer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423160" y="1993392"/>
          <a:ext cx="7315200" cy="768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63040"/>
                <a:gridCol w="1463040"/>
                <a:gridCol w="1463040"/>
                <a:gridCol w="1463040"/>
                <a:gridCol w="146304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pic>
        <p:nvPicPr>
          <p:cNvPr id="11" name="Picture 10" descr="3c353a5052ea24b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7885" y="2990088"/>
            <a:ext cx="1630680" cy="7985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548565" y="3160776"/>
            <a:ext cx="19871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and      </a:t>
            </a:r>
          </a:p>
        </p:txBody>
      </p:sp>
      <p:pic>
        <p:nvPicPr>
          <p:cNvPr id="13" name="Picture 12" descr="3484dae0b8b01f2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8543" y="2990088"/>
            <a:ext cx="2350008" cy="7985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48551" y="3160776"/>
            <a:ext cx="17147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so      </a:t>
            </a:r>
          </a:p>
        </p:txBody>
      </p:sp>
      <p:pic>
        <p:nvPicPr>
          <p:cNvPr id="15" name="Picture 14" descr="7798067ac752985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186" y="3220212"/>
            <a:ext cx="917448" cy="33832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4085843"/>
            <a:ext cx="27874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Zero exponent:  </a:t>
            </a:r>
          </a:p>
        </p:txBody>
      </p:sp>
      <p:pic>
        <p:nvPicPr>
          <p:cNvPr id="17" name="Picture 16" descr="d591c8ddcc96ae9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37835" y="4143755"/>
            <a:ext cx="941832" cy="34137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79667" y="4085843"/>
            <a:ext cx="34064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   for every nonzero </a:t>
            </a:r>
          </a:p>
        </p:txBody>
      </p:sp>
      <p:pic>
        <p:nvPicPr>
          <p:cNvPr id="19" name="Picture 18" descr="c030b8e94fe02ff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48992" y="4223004"/>
            <a:ext cx="188976" cy="1828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pic>
        <p:nvPicPr>
          <p:cNvPr id="8" name="Picture 7" descr="66659ac1f0ea04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8988" y="2103120"/>
            <a:ext cx="923544" cy="9479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5539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Which law? Then find the value.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8" name="Picture 7" descr="8665e93b2158cdd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986784" cy="944880"/>
          </a:xfrm>
          <a:prstGeom prst="rect">
            <a:avLst/>
          </a:prstGeom>
        </p:spPr>
      </p:pic>
      <p:pic>
        <p:nvPicPr>
          <p:cNvPr id="9" name="Picture 8" descr="a6bb031371915f0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3139440"/>
            <a:ext cx="1758696" cy="408432"/>
          </a:xfrm>
          <a:prstGeom prst="rect">
            <a:avLst/>
          </a:prstGeom>
        </p:spPr>
      </p:pic>
      <p:pic>
        <p:nvPicPr>
          <p:cNvPr id="10" name="Picture 9" descr="1a7fe49e913d88f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822192"/>
            <a:ext cx="2353056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2991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8" name="Picture 7" descr="309fc1c6c87d6f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7588" y="2194560"/>
            <a:ext cx="466344" cy="10210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7185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Which law? Then find the value.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8" name="Picture 7" descr="b0a43ae0750e3ab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9112" y="2194560"/>
            <a:ext cx="463296" cy="10180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7155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Which law? Then find the value.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4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81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8" name="Picture 7" descr="b43cc8ad2e0ead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2103120"/>
            <a:ext cx="1097280" cy="6888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9488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8" name="Picture 7" descr="7ab80e4044f303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755136" cy="813816"/>
          </a:xfrm>
          <a:prstGeom prst="rect">
            <a:avLst/>
          </a:prstGeom>
        </p:spPr>
      </p:pic>
      <p:pic>
        <p:nvPicPr>
          <p:cNvPr id="9" name="Picture 8" descr="e1269a6bd048335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3008376"/>
            <a:ext cx="3486912" cy="691896"/>
          </a:xfrm>
          <a:prstGeom prst="rect">
            <a:avLst/>
          </a:prstGeom>
        </p:spPr>
      </p:pic>
      <p:pic>
        <p:nvPicPr>
          <p:cNvPr id="10" name="Picture 9" descr="ac2b58a90d22f61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974592"/>
            <a:ext cx="3447288" cy="411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84327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0.00000016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8" name="Picture 7" descr="e60d4cb6647bee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7651" y="2194560"/>
            <a:ext cx="966216" cy="8534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5509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pic>
        <p:nvPicPr>
          <p:cNvPr id="8" name="Picture 7" descr="74bc3eff5c14b1e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4604" y="2194560"/>
            <a:ext cx="972311" cy="8564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5539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Find the value.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64607" y="4639056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1" name="Picture 10" descr="78fdb0141a7d8d2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4848" y="4480560"/>
            <a:ext cx="512064" cy="865632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pic>
        <p:nvPicPr>
          <p:cNvPr id="8" name="Picture 7" descr="858f7499cc3aa9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1095" y="2194560"/>
            <a:ext cx="719328" cy="10149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8" name="Picture 7" descr="b0b61f7be1f45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2620" y="2103120"/>
            <a:ext cx="716280" cy="10180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05172" y="4605528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0" name="Picture 9" descr="6677a7c75654467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5412" y="4663440"/>
            <a:ext cx="630936" cy="43281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5840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website puts  </a:t>
            </a:r>
          </a:p>
        </p:txBody>
      </p:sp>
      <p:pic>
        <p:nvPicPr>
          <p:cNvPr id="9" name="Picture 8" descr="138fda741846578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1373" y="1938527"/>
            <a:ext cx="259080" cy="2834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940453" y="1851660"/>
            <a:ext cx="44951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photos into 8 equal albums.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The site is 30 days old.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How many photos are in each album?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5840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website puts  </a:t>
            </a:r>
          </a:p>
        </p:txBody>
      </p:sp>
      <p:pic>
        <p:nvPicPr>
          <p:cNvPr id="9" name="Picture 8" descr="7c23c9fd82d9d4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1373" y="1940052"/>
            <a:ext cx="265176" cy="2804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946549" y="1851660"/>
            <a:ext cx="44951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photos into 8 equal albums.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The site is 30 days old.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How many photos are in each album?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512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pic>
        <p:nvPicPr>
          <p:cNvPr id="8" name="Picture 7" descr="1252d608a87976a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4688" y="2194560"/>
            <a:ext cx="1152144" cy="11978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pic>
        <p:nvPicPr>
          <p:cNvPr id="8" name="Picture 7" descr="e97669c0d54b74f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6212" y="2103120"/>
            <a:ext cx="1149096" cy="11917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8" name="Picture 7" descr="615f3e719211e48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4771" y="2194560"/>
            <a:ext cx="1331976" cy="8717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8" name="Picture 7" descr="260e9dabd7b640f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4771" y="2103120"/>
            <a:ext cx="1331976" cy="8717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44568" y="4933188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0" name="Picture 9" descr="a55647924d78856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4808" y="4663440"/>
            <a:ext cx="1152144" cy="1088136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pic>
        <p:nvPicPr>
          <p:cNvPr id="8" name="Picture 7" descr="b00c54b2f2476e9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3496" y="2194560"/>
            <a:ext cx="414528" cy="4358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59024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2534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2534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1114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1114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16983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8" name="Picture 7" descr="17e435e9fa7e4f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447" y="2103120"/>
            <a:ext cx="420624" cy="4297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6148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427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427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113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113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119447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8" name="Picture 7" descr="ad177fa159bf9ad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7588" y="2194560"/>
            <a:ext cx="466344" cy="100279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425952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40922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40922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7780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7780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687568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8" name="Picture 7" descr="a899e53ebcbfa2d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9112" y="2103120"/>
            <a:ext cx="463296" cy="99974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331464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9977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9977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6835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C.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4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6835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63270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C — 4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8" name="Picture 7" descr="7fd8a7336ddfafc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7088" y="2194560"/>
            <a:ext cx="847344" cy="10210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8" name="Picture 7" descr="73bf2466d9323c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8611" y="2103120"/>
            <a:ext cx="844296" cy="10180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0.125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pic>
        <p:nvPicPr>
          <p:cNvPr id="8" name="Picture 7" descr="41e42a07b25976e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0491" y="2194560"/>
            <a:ext cx="1240536" cy="8595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pic>
        <p:nvPicPr>
          <p:cNvPr id="8" name="Picture 7" descr="262fa2692961318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0491" y="2103120"/>
            <a:ext cx="1240536" cy="8595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6338" y="2366772"/>
            <a:ext cx="30884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Hannah cancels:  </a:t>
            </a:r>
          </a:p>
        </p:txBody>
      </p:sp>
      <p:pic>
        <p:nvPicPr>
          <p:cNvPr id="9" name="Picture 8" descr="62ec99fb62ba29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7624" y="2194560"/>
            <a:ext cx="1627632" cy="8016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725256" y="2366772"/>
            <a:ext cx="40953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 Sebastian subtracts:  </a:t>
            </a:r>
          </a:p>
        </p:txBody>
      </p:sp>
      <p:pic>
        <p:nvPicPr>
          <p:cNvPr id="11" name="Picture 10" descr="814e799b3c3f04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83457" y="2194560"/>
            <a:ext cx="1161288" cy="80162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844745" y="2366772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270503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Who is right?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290" y="2273807"/>
            <a:ext cx="30884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Hannah cancels:  </a:t>
            </a:r>
          </a:p>
        </p:txBody>
      </p:sp>
      <p:pic>
        <p:nvPicPr>
          <p:cNvPr id="9" name="Picture 8" descr="3c353a5052ea24b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4576" y="2103120"/>
            <a:ext cx="1630680" cy="7985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725256" y="2273807"/>
            <a:ext cx="40953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 Sebastian subtracts:  </a:t>
            </a:r>
          </a:p>
        </p:txBody>
      </p:sp>
      <p:pic>
        <p:nvPicPr>
          <p:cNvPr id="11" name="Picture 10" descr="1b1a2270832c817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83457" y="2103120"/>
            <a:ext cx="1164336" cy="7985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847793" y="2273807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17601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Who is right?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Both —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0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600995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600995"/>
            <a:ext cx="2653665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Write as one power.  </a:t>
            </a:r>
          </a:p>
        </p:txBody>
      </p:sp>
      <p:pic>
        <p:nvPicPr>
          <p:cNvPr id="10" name="Picture 9" descr="902eda9aed980d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0985" y="1517904"/>
            <a:ext cx="251791" cy="54386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0120" y="2276657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276657"/>
            <a:ext cx="2141635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Find the value.  </a:t>
            </a:r>
          </a:p>
        </p:txBody>
      </p:sp>
      <p:pic>
        <p:nvPicPr>
          <p:cNvPr id="13" name="Picture 12" descr="50981f95c1e468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8955" y="2189789"/>
            <a:ext cx="251791" cy="55142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3000159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000159"/>
            <a:ext cx="2141635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Find the value.  </a:t>
            </a:r>
          </a:p>
        </p:txBody>
      </p:sp>
      <p:pic>
        <p:nvPicPr>
          <p:cNvPr id="16" name="Picture 15" descr="406d0c52d10417b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58955" y="2869228"/>
            <a:ext cx="621924" cy="63954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60120" y="3677080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00" b="1" i="0">
                <a:solidFill>
                  <a:srgbClr val="0B5394"/>
                </a:solidFill>
                <a:latin typeface="Century Schoolbook"/>
              </a:rPr>
              <a:t>4.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3677080"/>
            <a:ext cx="8572632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Rewrite so the exponent is on the numerator and on the denominator.  </a:t>
            </a:r>
          </a:p>
        </p:txBody>
      </p:sp>
      <p:pic>
        <p:nvPicPr>
          <p:cNvPr id="19" name="Picture 18" descr="7680a96943fc656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89952" y="3636794"/>
            <a:ext cx="526243" cy="4582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60120" y="4265874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00" b="1" i="0">
                <a:solidFill>
                  <a:srgbClr val="0B5394"/>
                </a:solidFill>
                <a:latin typeface="Century Schoolbook"/>
              </a:rPr>
              <a:t>5.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265874"/>
            <a:ext cx="2141635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Find the value.  </a:t>
            </a:r>
          </a:p>
        </p:txBody>
      </p:sp>
      <p:pic>
        <p:nvPicPr>
          <p:cNvPr id="22" name="Picture 21" descr="bb269878437e8ee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58955" y="4223070"/>
            <a:ext cx="669764" cy="463295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60120" y="4874812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00" b="1" i="0">
                <a:solidFill>
                  <a:srgbClr val="0B5394"/>
                </a:solidFill>
                <a:latin typeface="Century Schoolbook"/>
              </a:rPr>
              <a:t>6.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4874812"/>
            <a:ext cx="2283617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Find the value of </a:t>
            </a:r>
          </a:p>
        </p:txBody>
      </p:sp>
      <p:pic>
        <p:nvPicPr>
          <p:cNvPr id="25" name="Picture 24" descr="0afe177f69dd5e0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00937" y="5001966"/>
            <a:ext cx="128413" cy="123377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3829351" y="4874812"/>
            <a:ext cx="423600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.  </a:t>
            </a:r>
          </a:p>
        </p:txBody>
      </p:sp>
      <p:pic>
        <p:nvPicPr>
          <p:cNvPr id="27" name="Picture 26" descr="e9a852f8219a3abf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15791" y="4814382"/>
            <a:ext cx="778035" cy="498546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Powers with negative bases — WFW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Division with exponents — XNC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Identify equivalent expressions involving whole-number exponents — KBE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