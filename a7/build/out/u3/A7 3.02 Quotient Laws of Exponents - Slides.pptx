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the quotient of powers, power of a quotient and zero exponent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644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one power:  </a:t>
            </a:r>
          </a:p>
        </p:txBody>
      </p:sp>
      <p:pic>
        <p:nvPicPr>
          <p:cNvPr id="9" name="Picture 8" descr="0edb9b2424baf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74" y="1530096"/>
            <a:ext cx="7589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8c968e8bf18d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86258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3" name="Picture 12" descr="ff0aa95dcc4008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74648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40608"/>
            <a:ext cx="20355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Simplify  </a:t>
            </a:r>
          </a:p>
        </p:txBody>
      </p:sp>
      <p:pic>
        <p:nvPicPr>
          <p:cNvPr id="15" name="Picture 14" descr="f6a28b8ae12f37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2937" y="3300984"/>
            <a:ext cx="923544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644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one power:  </a:t>
            </a:r>
          </a:p>
        </p:txBody>
      </p:sp>
      <p:pic>
        <p:nvPicPr>
          <p:cNvPr id="9" name="Picture 8" descr="0edb9b2424baf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74" y="1530096"/>
            <a:ext cx="758952" cy="277368"/>
          </a:xfrm>
          <a:prstGeom prst="rect">
            <a:avLst/>
          </a:prstGeom>
        </p:spPr>
      </p:pic>
      <p:pic>
        <p:nvPicPr>
          <p:cNvPr id="10" name="Picture 9" descr="228b900b807e9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366" y="1533144"/>
            <a:ext cx="274320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58c968e8bf18d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059" y="2086356"/>
            <a:ext cx="86258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34283" y="2052828"/>
            <a:ext cx="5547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5" name="Picture 14" descr="ff0aa95dcc4008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55" y="2781300"/>
            <a:ext cx="1374648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72943" y="2665476"/>
            <a:ext cx="925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&lt;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40608"/>
            <a:ext cx="20355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Simplify  </a:t>
            </a:r>
          </a:p>
        </p:txBody>
      </p:sp>
      <p:pic>
        <p:nvPicPr>
          <p:cNvPr id="18" name="Picture 17" descr="f6a28b8ae12f37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937" y="3300984"/>
            <a:ext cx="923544" cy="5364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45121" y="3278124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Quotient of powers — same base, subtract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75c22fc6b7d8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1993392"/>
            <a:ext cx="5547360" cy="795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2404"/>
            <a:ext cx="333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Quotient of powers:  </a:t>
            </a:r>
          </a:p>
        </p:txBody>
      </p:sp>
      <p:pic>
        <p:nvPicPr>
          <p:cNvPr id="12" name="Picture 11" descr="2719c53adc764b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493" y="3108960"/>
            <a:ext cx="1840991" cy="704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4485" y="3232404"/>
            <a:ext cx="607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(</a:t>
            </a:r>
          </a:p>
        </p:txBody>
      </p:sp>
      <p:pic>
        <p:nvPicPr>
          <p:cNvPr id="14" name="Picture 13" descr="47b5f205461fb9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692" y="3322320"/>
            <a:ext cx="810768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05460" y="3232404"/>
            <a:ext cx="325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8244"/>
            <a:ext cx="2997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 with values:  </a:t>
            </a:r>
          </a:p>
        </p:txBody>
      </p:sp>
      <p:pic>
        <p:nvPicPr>
          <p:cNvPr id="17" name="Picture 16" descr="d483ca18e1ed7f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85" y="4069080"/>
            <a:ext cx="3602736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c7f0c386a86fa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980" y="1993392"/>
            <a:ext cx="6385560" cy="792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0880"/>
            <a:ext cx="3428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quotient:  </a:t>
            </a:r>
          </a:p>
        </p:txBody>
      </p:sp>
      <p:pic>
        <p:nvPicPr>
          <p:cNvPr id="12" name="Picture 11" descr="e37a072013928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61" y="3105912"/>
            <a:ext cx="1804416" cy="7071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2877" y="3230880"/>
            <a:ext cx="607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(</a:t>
            </a:r>
          </a:p>
        </p:txBody>
      </p:sp>
      <p:pic>
        <p:nvPicPr>
          <p:cNvPr id="14" name="Picture 13" descr="cc4966101ceb7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84" y="3314700"/>
            <a:ext cx="798576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51660" y="3230880"/>
            <a:ext cx="325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6720"/>
            <a:ext cx="1950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Either way:  </a:t>
            </a:r>
          </a:p>
        </p:txBody>
      </p:sp>
      <p:pic>
        <p:nvPicPr>
          <p:cNvPr id="17" name="Picture 16" descr="39a07b3eaa91d2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543" y="4069080"/>
            <a:ext cx="3233928" cy="792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4471" y="4236720"/>
            <a:ext cx="12522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9" name="Picture 18" descr="5df7a26ae56fb2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569" y="4262628"/>
            <a:ext cx="2240280" cy="405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1993392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6cadf9b5edf76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66" y="2990088"/>
            <a:ext cx="1581912" cy="786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00178" y="3154680"/>
            <a:ext cx="1946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and      </a:t>
            </a:r>
          </a:p>
        </p:txBody>
      </p:sp>
      <p:pic>
        <p:nvPicPr>
          <p:cNvPr id="13" name="Picture 12" descr="3f4324b961ec0a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873" y="2990088"/>
            <a:ext cx="2273808" cy="786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3681" y="3154680"/>
            <a:ext cx="16914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so      </a:t>
            </a:r>
          </a:p>
        </p:txBody>
      </p:sp>
      <p:pic>
        <p:nvPicPr>
          <p:cNvPr id="15" name="Picture 14" descr="30376742585bb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997" y="3214116"/>
            <a:ext cx="905256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073651"/>
            <a:ext cx="265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Zero exponent:  </a:t>
            </a:r>
          </a:p>
        </p:txBody>
      </p:sp>
      <p:pic>
        <p:nvPicPr>
          <p:cNvPr id="17" name="Picture 16" descr="6d55b3ee728095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385" y="4131563"/>
            <a:ext cx="954023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55409" y="4073651"/>
            <a:ext cx="3247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for every nonzero </a:t>
            </a:r>
          </a:p>
        </p:txBody>
      </p:sp>
      <p:pic>
        <p:nvPicPr>
          <p:cNvPr id="19" name="Picture 18" descr="7feb388dbf36f7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025" y="4197096"/>
            <a:ext cx="204216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6370c244a2f01b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5" y="2103120"/>
            <a:ext cx="886968" cy="935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417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0c94eb2ca76e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91712" cy="938784"/>
          </a:xfrm>
          <a:prstGeom prst="rect">
            <a:avLst/>
          </a:prstGeom>
        </p:spPr>
      </p:pic>
      <p:pic>
        <p:nvPicPr>
          <p:cNvPr id="9" name="Picture 8" descr="a554635d943785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3344"/>
            <a:ext cx="1648968" cy="408432"/>
          </a:xfrm>
          <a:prstGeom prst="rect">
            <a:avLst/>
          </a:prstGeom>
        </p:spPr>
      </p:pic>
      <p:pic>
        <p:nvPicPr>
          <p:cNvPr id="10" name="Picture 9" descr="5c1f83d7f33d27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233172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686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c1d7f761d4b7d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1600200"/>
            <a:ext cx="466344" cy="100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9a555cc0fb30ff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635" y="1600200"/>
            <a:ext cx="460247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98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a96092e33ee729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99" y="3712066"/>
            <a:ext cx="2063496" cy="722376"/>
          </a:xfrm>
          <a:prstGeom prst="rect">
            <a:avLst/>
          </a:prstGeom>
        </p:spPr>
      </p:pic>
      <p:pic>
        <p:nvPicPr>
          <p:cNvPr id="11" name="Picture 10" descr="2d0acfb864622b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399" y="4615798"/>
            <a:ext cx="1030224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1110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02fe0df1b08bc8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356" y="2103120"/>
            <a:ext cx="1130808" cy="673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9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d097b929243b7c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34384" cy="795528"/>
          </a:xfrm>
          <a:prstGeom prst="rect">
            <a:avLst/>
          </a:prstGeom>
        </p:spPr>
      </p:pic>
      <p:pic>
        <p:nvPicPr>
          <p:cNvPr id="9" name="Picture 8" descr="798f0955cfae5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0088"/>
            <a:ext cx="3733799" cy="682752"/>
          </a:xfrm>
          <a:prstGeom prst="rect">
            <a:avLst/>
          </a:prstGeom>
        </p:spPr>
      </p:pic>
      <p:pic>
        <p:nvPicPr>
          <p:cNvPr id="10" name="Picture 9" descr="66e59263d2af3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47160"/>
            <a:ext cx="370332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1279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0.00000016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44e7eea339e5c1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1600200"/>
            <a:ext cx="100888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be6f9f06f86603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1600200"/>
            <a:ext cx="10119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  <p:pic>
        <p:nvPicPr>
          <p:cNvPr id="10" name="Picture 9" descr="02ea3d3dd2c1ff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7" y="3550522"/>
            <a:ext cx="2215896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4128" y="46253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b8c676244c610a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368" y="4480560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3e9756fa540e4c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380" y="2194560"/>
            <a:ext cx="746760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ca365731157fa0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04" y="2103120"/>
            <a:ext cx="743712" cy="990599"/>
          </a:xfrm>
          <a:prstGeom prst="rect">
            <a:avLst/>
          </a:prstGeom>
        </p:spPr>
      </p:pic>
      <p:pic>
        <p:nvPicPr>
          <p:cNvPr id="9" name="Picture 8" descr="f1d501cf95f357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19" y="3395471"/>
            <a:ext cx="2654808" cy="71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3836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20daecf28d212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076" y="4663440"/>
            <a:ext cx="67360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61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website puts  </a:t>
            </a:r>
          </a:p>
        </p:txBody>
      </p:sp>
      <p:pic>
        <p:nvPicPr>
          <p:cNvPr id="9" name="Picture 8" descr="15b8f32e295ee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00" y="1946147"/>
            <a:ext cx="280416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9616" y="1851660"/>
            <a:ext cx="44628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photos into 7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photos are in each album?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61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website puts  </a:t>
            </a:r>
          </a:p>
        </p:txBody>
      </p:sp>
      <p:pic>
        <p:nvPicPr>
          <p:cNvPr id="9" name="Picture 8" descr="dc729c1ffc747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00" y="1944623"/>
            <a:ext cx="283464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2664" y="1851660"/>
            <a:ext cx="44628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photos into 7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photos are in each album?</a:t>
            </a:r>
          </a:p>
        </p:txBody>
      </p:sp>
      <p:pic>
        <p:nvPicPr>
          <p:cNvPr id="13" name="Picture 12" descr="95b43b6c839910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075" y="3736052"/>
            <a:ext cx="2673096" cy="307848"/>
          </a:xfrm>
          <a:prstGeom prst="rect">
            <a:avLst/>
          </a:prstGeom>
        </p:spPr>
      </p:pic>
      <p:pic>
        <p:nvPicPr>
          <p:cNvPr id="14" name="Picture 13" descr="64ee76928545b3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075" y="4277072"/>
            <a:ext cx="1213104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65357565e2967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5" y="2194560"/>
            <a:ext cx="1115568" cy="1167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a2d988691ed7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99" y="2103120"/>
            <a:ext cx="1112520" cy="1167384"/>
          </a:xfrm>
          <a:prstGeom prst="rect">
            <a:avLst/>
          </a:prstGeom>
        </p:spPr>
      </p:pic>
      <p:pic>
        <p:nvPicPr>
          <p:cNvPr id="9" name="Picture 8" descr="9ede1db7650679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43" y="3572255"/>
            <a:ext cx="4178808" cy="847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dda27b062e079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e21e0d759d6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03120"/>
            <a:ext cx="1274064" cy="841248"/>
          </a:xfrm>
          <a:prstGeom prst="rect">
            <a:avLst/>
          </a:prstGeom>
        </p:spPr>
      </p:pic>
      <p:pic>
        <p:nvPicPr>
          <p:cNvPr id="9" name="Picture 8" descr="3578dff92cd33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03" y="3246120"/>
            <a:ext cx="2069591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4380" y="492709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4ab832f314e81a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620" y="4663440"/>
            <a:ext cx="1112520" cy="10759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24ad149a2162bc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1" y="2194560"/>
            <a:ext cx="448056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378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174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1629cabbb0de35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1" y="2103120"/>
            <a:ext cx="448056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234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450" y="3377515"/>
            <a:ext cx="73917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Any nonzero number to the power 0 is 1.</a:t>
            </a:r>
          </a:p>
        </p:txBody>
      </p:sp>
      <p:pic>
        <p:nvPicPr>
          <p:cNvPr id="11" name="Picture 10" descr="c09f26f770b7cb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14" y="3994735"/>
            <a:ext cx="826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c64457c91756da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04" y="2194560"/>
            <a:ext cx="515112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76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492b406a8f5b14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2103120"/>
            <a:ext cx="512064" cy="987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192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131314ea478871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79" y="3967303"/>
            <a:ext cx="2154936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0538c15f498df9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28" y="2194560"/>
            <a:ext cx="893064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0ae3b03db9ce2a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752" y="2103120"/>
            <a:ext cx="890016" cy="993648"/>
          </a:xfrm>
          <a:prstGeom prst="rect">
            <a:avLst/>
          </a:prstGeom>
        </p:spPr>
      </p:pic>
      <p:pic>
        <p:nvPicPr>
          <p:cNvPr id="9" name="Picture 8" descr="f1adc35cb08825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3" y="3398520"/>
            <a:ext cx="2974848" cy="716280"/>
          </a:xfrm>
          <a:prstGeom prst="rect">
            <a:avLst/>
          </a:prstGeom>
        </p:spPr>
      </p:pic>
      <p:pic>
        <p:nvPicPr>
          <p:cNvPr id="10" name="Picture 9" descr="0431727820ff0b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3" y="4296156"/>
            <a:ext cx="178308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914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0.125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6b12155fed1886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9336c4e0de941d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03120"/>
            <a:ext cx="1274064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53450" y="3226308"/>
            <a:ext cx="73917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Any nonzero number to the power 0 is 1.</a:t>
            </a:r>
          </a:p>
        </p:txBody>
      </p:sp>
      <p:pic>
        <p:nvPicPr>
          <p:cNvPr id="10" name="Picture 9" descr="57a6de2c0fe6ec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14" y="3788664"/>
            <a:ext cx="1426464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565" y="1813560"/>
            <a:ext cx="30346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Hannah cancels:  </a:t>
            </a:r>
          </a:p>
        </p:txBody>
      </p:sp>
      <p:pic>
        <p:nvPicPr>
          <p:cNvPr id="9" name="Picture 8" descr="6487e9973aa3b8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015" y="1645920"/>
            <a:ext cx="1783080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9095" y="1813560"/>
            <a:ext cx="40368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Sebastian subtracts:  </a:t>
            </a:r>
          </a:p>
        </p:txBody>
      </p:sp>
      <p:pic>
        <p:nvPicPr>
          <p:cNvPr id="11" name="Picture 10" descr="b9bb78b1e21bea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776" y="1645920"/>
            <a:ext cx="1155192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73968" y="18135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12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517" y="1813560"/>
            <a:ext cx="30346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Hannah cancels:  </a:t>
            </a:r>
          </a:p>
        </p:txBody>
      </p:sp>
      <p:pic>
        <p:nvPicPr>
          <p:cNvPr id="9" name="Picture 8" descr="11d10f7878f2ff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967" y="1645920"/>
            <a:ext cx="1786128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9095" y="1813560"/>
            <a:ext cx="40368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Sebastian subtracts:  </a:t>
            </a:r>
          </a:p>
        </p:txBody>
      </p:sp>
      <p:pic>
        <p:nvPicPr>
          <p:cNvPr id="11" name="Picture 10" descr="dbd80c8d396a3c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776" y="1645920"/>
            <a:ext cx="1158240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77016" y="18135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12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5969" y="3435427"/>
            <a:ext cx="16516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Hannah:  </a:t>
            </a:r>
          </a:p>
        </p:txBody>
      </p:sp>
      <p:pic>
        <p:nvPicPr>
          <p:cNvPr id="15" name="Picture 14" descr="466255709ad017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420" y="3360751"/>
            <a:ext cx="1368552" cy="606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5969" y="4133419"/>
            <a:ext cx="1974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Sebastian:  </a:t>
            </a:r>
          </a:p>
        </p:txBody>
      </p:sp>
      <p:pic>
        <p:nvPicPr>
          <p:cNvPr id="17" name="Picture 16" descr="44267a0bd970c1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090" y="4058743"/>
            <a:ext cx="1761744" cy="606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75969" y="4733875"/>
            <a:ext cx="30487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Same fraction, so  </a:t>
            </a:r>
          </a:p>
        </p:txBody>
      </p:sp>
      <p:pic>
        <p:nvPicPr>
          <p:cNvPr id="19" name="Picture 18" descr="7c74b884d49f45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558" y="4832935"/>
            <a:ext cx="697992" cy="25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0537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Both —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0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9218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92182"/>
            <a:ext cx="265499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a20fd9ba3a575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310" y="1517904"/>
            <a:ext cx="254309" cy="5262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2502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50219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88fae2052833ae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518" y="2172163"/>
            <a:ext cx="271934" cy="533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95861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8614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6" name="Picture 15" descr="086531e7053a3b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518" y="2833977"/>
            <a:ext cx="616888" cy="626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62294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22945"/>
            <a:ext cx="85208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Rewrite so the exponent is on the numerator and on the denominator.  </a:t>
            </a:r>
          </a:p>
        </p:txBody>
      </p:sp>
      <p:pic>
        <p:nvPicPr>
          <p:cNvPr id="19" name="Picture 18" descr="eb63da779674ef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8218" y="3588953"/>
            <a:ext cx="533797" cy="4456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199150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99150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5724de55833e2d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518" y="4162640"/>
            <a:ext cx="667246" cy="4507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80179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1792"/>
            <a:ext cx="225388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208" y="4921393"/>
            <a:ext cx="120859" cy="138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92068" y="4801792"/>
            <a:ext cx="40179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70948e8ce7156c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703" y="4741362"/>
            <a:ext cx="783070" cy="49854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with negative bases — WFW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Division with exponents — XNC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