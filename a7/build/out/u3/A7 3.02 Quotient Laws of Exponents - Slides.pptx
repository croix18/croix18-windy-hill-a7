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Relationship Id="rId4" Type="http://schemas.openxmlformats.org/officeDocument/2006/relationships/image" Target="../media/image4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image" Target="../media/image49.png"/><Relationship Id="rId4" Type="http://schemas.openxmlformats.org/officeDocument/2006/relationships/image" Target="../media/image5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image" Target="../media/image5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image" Target="../media/image59.png"/><Relationship Id="rId4" Type="http://schemas.openxmlformats.org/officeDocument/2006/relationships/image" Target="../media/image6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Relationship Id="rId3" Type="http://schemas.openxmlformats.org/officeDocument/2006/relationships/image" Target="../media/image6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image" Target="../media/image6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66.png"/><Relationship Id="rId4" Type="http://schemas.openxmlformats.org/officeDocument/2006/relationships/image" Target="../media/image67.png"/><Relationship Id="rId5" Type="http://schemas.openxmlformats.org/officeDocument/2006/relationships/image" Target="../media/image68.png"/><Relationship Id="rId6" Type="http://schemas.openxmlformats.org/officeDocument/2006/relationships/image" Target="../media/image6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Relationship Id="rId3" Type="http://schemas.openxmlformats.org/officeDocument/2006/relationships/image" Target="../media/image71.png"/><Relationship Id="rId4" Type="http://schemas.openxmlformats.org/officeDocument/2006/relationships/image" Target="../media/image72.png"/><Relationship Id="rId5" Type="http://schemas.openxmlformats.org/officeDocument/2006/relationships/image" Target="../media/image73.png"/><Relationship Id="rId6" Type="http://schemas.openxmlformats.org/officeDocument/2006/relationships/image" Target="../media/image74.png"/><Relationship Id="rId7" Type="http://schemas.openxmlformats.org/officeDocument/2006/relationships/image" Target="../media/image75.png"/><Relationship Id="rId8" Type="http://schemas.openxmlformats.org/officeDocument/2006/relationships/image" Target="../media/image7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3  ·  LESSON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Quotient Laws of Exponents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MA.7.NSO.1.1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use the quotient of powers, power of a quotient and zero exponent laws to rewrite and evaluate a numerical expression.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36644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Write as one power:  </a:t>
            </a:r>
          </a:p>
        </p:txBody>
      </p:sp>
      <p:pic>
        <p:nvPicPr>
          <p:cNvPr id="9" name="Picture 8" descr="0edb9b2424bafe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1774" y="1530096"/>
            <a:ext cx="758952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6856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</a:t>
            </a:r>
          </a:p>
        </p:txBody>
      </p:sp>
      <p:pic>
        <p:nvPicPr>
          <p:cNvPr id="11" name="Picture 10" descr="58c968e8bf18d1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059" y="2086356"/>
            <a:ext cx="862584" cy="3901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665476"/>
            <a:ext cx="1612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Solve  </a:t>
            </a:r>
          </a:p>
        </p:txBody>
      </p:sp>
      <p:pic>
        <p:nvPicPr>
          <p:cNvPr id="13" name="Picture 12" descr="ff0aa95dcc4008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9655" y="2781300"/>
            <a:ext cx="1374648" cy="2255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3340608"/>
            <a:ext cx="20355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Simplify  </a:t>
            </a:r>
          </a:p>
        </p:txBody>
      </p:sp>
      <p:pic>
        <p:nvPicPr>
          <p:cNvPr id="15" name="Picture 14" descr="f6a28b8ae12f374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72937" y="3300984"/>
            <a:ext cx="923544" cy="5364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36644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Write as one power:  </a:t>
            </a:r>
          </a:p>
        </p:txBody>
      </p:sp>
      <p:pic>
        <p:nvPicPr>
          <p:cNvPr id="9" name="Picture 8" descr="0edb9b2424bafe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1774" y="1530096"/>
            <a:ext cx="758952" cy="277368"/>
          </a:xfrm>
          <a:prstGeom prst="rect">
            <a:avLst/>
          </a:prstGeom>
        </p:spPr>
      </p:pic>
      <p:pic>
        <p:nvPicPr>
          <p:cNvPr id="10" name="Picture 9" descr="228b900b807e904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9366" y="1533144"/>
            <a:ext cx="274320" cy="2712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052828"/>
            <a:ext cx="6856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</a:t>
            </a:r>
          </a:p>
        </p:txBody>
      </p:sp>
      <p:pic>
        <p:nvPicPr>
          <p:cNvPr id="12" name="Picture 11" descr="58c968e8bf18d1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3059" y="2086356"/>
            <a:ext cx="862584" cy="3901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834283" y="2052828"/>
            <a:ext cx="5547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−3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1612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Solve  </a:t>
            </a:r>
          </a:p>
        </p:txBody>
      </p:sp>
      <p:pic>
        <p:nvPicPr>
          <p:cNvPr id="15" name="Picture 14" descr="ff0aa95dcc40081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49655" y="2781300"/>
            <a:ext cx="1374648" cy="22555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272943" y="2665476"/>
            <a:ext cx="9259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x &lt;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340608"/>
            <a:ext cx="20355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Simplify  </a:t>
            </a:r>
          </a:p>
        </p:txBody>
      </p:sp>
      <p:pic>
        <p:nvPicPr>
          <p:cNvPr id="18" name="Picture 17" descr="f6a28b8ae12f374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72937" y="3300984"/>
            <a:ext cx="923544" cy="53644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245121" y="3278124"/>
            <a:ext cx="3856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Quotient of powers — same base, subtract the exponents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375c22fc6b7d89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7080" y="1993392"/>
            <a:ext cx="5547360" cy="7955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232404"/>
            <a:ext cx="33331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Quotient of powers:  </a:t>
            </a:r>
          </a:p>
        </p:txBody>
      </p:sp>
      <p:pic>
        <p:nvPicPr>
          <p:cNvPr id="12" name="Picture 11" descr="2719c53adc764b5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3493" y="3108960"/>
            <a:ext cx="1840991" cy="7040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24485" y="3232404"/>
            <a:ext cx="6073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   (</a:t>
            </a:r>
          </a:p>
        </p:txBody>
      </p:sp>
      <p:pic>
        <p:nvPicPr>
          <p:cNvPr id="14" name="Picture 13" descr="47b5f205461fb9c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4692" y="3322320"/>
            <a:ext cx="810768" cy="2773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305460" y="3232404"/>
            <a:ext cx="3250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238244"/>
            <a:ext cx="29972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Check with values:  </a:t>
            </a:r>
          </a:p>
        </p:txBody>
      </p:sp>
      <p:pic>
        <p:nvPicPr>
          <p:cNvPr id="17" name="Picture 16" descr="d483ca18e1ed7f4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7685" y="4069080"/>
            <a:ext cx="3602736" cy="7955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Power of a quotient — the exponent goes top and bottom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9c7f0c386a86fa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7980" y="1993392"/>
            <a:ext cx="6385560" cy="792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230880"/>
            <a:ext cx="342806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Power of a quotient:  </a:t>
            </a:r>
          </a:p>
        </p:txBody>
      </p:sp>
      <p:pic>
        <p:nvPicPr>
          <p:cNvPr id="12" name="Picture 11" descr="e37a07201392836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8461" y="3105912"/>
            <a:ext cx="1804416" cy="7071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82877" y="3230880"/>
            <a:ext cx="6073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   (</a:t>
            </a:r>
          </a:p>
        </p:txBody>
      </p:sp>
      <p:pic>
        <p:nvPicPr>
          <p:cNvPr id="14" name="Picture 13" descr="cc4966101ceb7e7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3084" y="3314700"/>
            <a:ext cx="798576" cy="289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351660" y="3230880"/>
            <a:ext cx="3250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236720"/>
            <a:ext cx="1950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Either way:  </a:t>
            </a:r>
          </a:p>
        </p:txBody>
      </p:sp>
      <p:pic>
        <p:nvPicPr>
          <p:cNvPr id="17" name="Picture 16" descr="39a07b3eaa91d2f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00543" y="4069080"/>
            <a:ext cx="3233928" cy="7924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4471" y="4236720"/>
            <a:ext cx="12522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9" name="Picture 18" descr="5df7a26ae56fb2a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9569" y="4262628"/>
            <a:ext cx="2240280" cy="40538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The zero exponent — two roads to the same answer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423160" y="1993392"/>
          <a:ext cx="731520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3040"/>
                <a:gridCol w="1463040"/>
                <a:gridCol w="1463040"/>
                <a:gridCol w="1463040"/>
                <a:gridCol w="146304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1" name="Picture 10" descr="36cadf9b5edf76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8266" y="2990088"/>
            <a:ext cx="1581912" cy="7863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00178" y="3154680"/>
            <a:ext cx="19468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and      </a:t>
            </a:r>
          </a:p>
        </p:txBody>
      </p:sp>
      <p:pic>
        <p:nvPicPr>
          <p:cNvPr id="13" name="Picture 12" descr="3f4324b961ec0a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9873" y="2990088"/>
            <a:ext cx="2273808" cy="7863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683681" y="3154680"/>
            <a:ext cx="16914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so      </a:t>
            </a:r>
          </a:p>
        </p:txBody>
      </p:sp>
      <p:pic>
        <p:nvPicPr>
          <p:cNvPr id="15" name="Picture 14" descr="30376742585bb8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7997" y="3214116"/>
            <a:ext cx="905256" cy="33832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4073651"/>
            <a:ext cx="2650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Zero exponent:  </a:t>
            </a:r>
          </a:p>
        </p:txBody>
      </p:sp>
      <p:pic>
        <p:nvPicPr>
          <p:cNvPr id="17" name="Picture 16" descr="6d55b3ee728095c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01385" y="4131563"/>
            <a:ext cx="954023" cy="34137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455409" y="4073651"/>
            <a:ext cx="32477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   for every nonzero </a:t>
            </a:r>
          </a:p>
        </p:txBody>
      </p:sp>
      <p:pic>
        <p:nvPicPr>
          <p:cNvPr id="19" name="Picture 18" descr="7feb388dbf36f76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66025" y="4197096"/>
            <a:ext cx="204216" cy="21031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pic>
        <p:nvPicPr>
          <p:cNvPr id="8" name="Picture 7" descr="6370c244a2f01b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5" y="2103120"/>
            <a:ext cx="886968" cy="9357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54177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b0c94eb2ca76e9c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791712" cy="938784"/>
          </a:xfrm>
          <a:prstGeom prst="rect">
            <a:avLst/>
          </a:prstGeom>
        </p:spPr>
      </p:pic>
      <p:pic>
        <p:nvPicPr>
          <p:cNvPr id="9" name="Picture 8" descr="a554635d943785b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133344"/>
            <a:ext cx="1648968" cy="408432"/>
          </a:xfrm>
          <a:prstGeom prst="rect">
            <a:avLst/>
          </a:prstGeom>
        </p:spPr>
      </p:pic>
      <p:pic>
        <p:nvPicPr>
          <p:cNvPr id="10" name="Picture 9" descr="5c1f83d7f33d27e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816096"/>
            <a:ext cx="2331720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2686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bc1d7f761d4b7d5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7588" y="1600200"/>
            <a:ext cx="466344" cy="10027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059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9a555cc0fb30ff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0635" y="1600200"/>
            <a:ext cx="460247" cy="9966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9981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Which law? Then find the value.</a:t>
            </a:r>
          </a:p>
        </p:txBody>
      </p:sp>
      <p:pic>
        <p:nvPicPr>
          <p:cNvPr id="10" name="Picture 9" descr="a96092e33ee7290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5399" y="3712066"/>
            <a:ext cx="2063496" cy="722376"/>
          </a:xfrm>
          <a:prstGeom prst="rect">
            <a:avLst/>
          </a:prstGeom>
        </p:spPr>
      </p:pic>
      <p:pic>
        <p:nvPicPr>
          <p:cNvPr id="11" name="Picture 10" descr="2d0acfb864622b9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05399" y="4615798"/>
            <a:ext cx="1030224" cy="304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511109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4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81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02fe0df1b08bc8c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5356" y="2103120"/>
            <a:ext cx="1130808" cy="673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796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value.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d097b929243b7c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834384" cy="795528"/>
          </a:xfrm>
          <a:prstGeom prst="rect">
            <a:avLst/>
          </a:prstGeom>
        </p:spPr>
      </p:pic>
      <p:pic>
        <p:nvPicPr>
          <p:cNvPr id="9" name="Picture 8" descr="798f0955cfae57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990088"/>
            <a:ext cx="3733799" cy="682752"/>
          </a:xfrm>
          <a:prstGeom prst="rect">
            <a:avLst/>
          </a:prstGeom>
        </p:spPr>
      </p:pic>
      <p:pic>
        <p:nvPicPr>
          <p:cNvPr id="10" name="Picture 9" descr="66e59263d2af30b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947160"/>
            <a:ext cx="3703320" cy="408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81279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0.00000016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44e7eea339e5c1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6315" y="1600200"/>
            <a:ext cx="1008888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3827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value.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be6f9f06f866032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4791" y="1600200"/>
            <a:ext cx="1011936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3827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value.</a:t>
            </a:r>
          </a:p>
        </p:txBody>
      </p:sp>
      <p:pic>
        <p:nvPicPr>
          <p:cNvPr id="10" name="Picture 9" descr="02ea3d3dd2c1ff1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4627" y="3550522"/>
            <a:ext cx="2215896" cy="7132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34128" y="462534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2" name="Picture 11" descr="b8c676244c610a8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4368" y="4480560"/>
            <a:ext cx="573024" cy="8382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3e9756fa540e4cb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7380" y="2194560"/>
            <a:ext cx="746760" cy="99059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ca365731157fa0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904" y="2103120"/>
            <a:ext cx="743712" cy="990599"/>
          </a:xfrm>
          <a:prstGeom prst="rect">
            <a:avLst/>
          </a:prstGeom>
        </p:spPr>
      </p:pic>
      <p:pic>
        <p:nvPicPr>
          <p:cNvPr id="9" name="Picture 8" descr="f1d501cf95f3572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8219" y="3395471"/>
            <a:ext cx="2654808" cy="716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783836" y="460095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1" name="Picture 10" descr="20daecf28d21284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4076" y="4663440"/>
            <a:ext cx="673608" cy="423672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5619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website puts  </a:t>
            </a:r>
          </a:p>
        </p:txBody>
      </p:sp>
      <p:pic>
        <p:nvPicPr>
          <p:cNvPr id="9" name="Picture 8" descr="d7dee7bac0eb5ce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9200" y="1946147"/>
            <a:ext cx="295656" cy="268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954856" y="1851660"/>
            <a:ext cx="44741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photos into 8 equal albums.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site is 30 days old.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photos are in each album?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5619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website puts  </a:t>
            </a:r>
          </a:p>
        </p:txBody>
      </p:sp>
      <p:pic>
        <p:nvPicPr>
          <p:cNvPr id="9" name="Picture 8" descr="249c39e6033768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9200" y="1944623"/>
            <a:ext cx="295656" cy="2712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954856" y="1851660"/>
            <a:ext cx="44741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photos into 8 equal albums.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site is 30 days old.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photos are in each album?</a:t>
            </a:r>
          </a:p>
        </p:txBody>
      </p:sp>
      <p:pic>
        <p:nvPicPr>
          <p:cNvPr id="13" name="Picture 12" descr="6c1f346a6254f1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3167" y="3739100"/>
            <a:ext cx="2727960" cy="301752"/>
          </a:xfrm>
          <a:prstGeom prst="rect">
            <a:avLst/>
          </a:prstGeom>
        </p:spPr>
      </p:pic>
      <p:pic>
        <p:nvPicPr>
          <p:cNvPr id="14" name="Picture 13" descr="7e3b81dbc2bff30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3167" y="4277072"/>
            <a:ext cx="1213104" cy="3048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77237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512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pic>
        <p:nvPicPr>
          <p:cNvPr id="8" name="Picture 7" descr="65357565e2967fb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2975" y="2194560"/>
            <a:ext cx="1115568" cy="11673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7a2d988691ed78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4499" y="2103120"/>
            <a:ext cx="1112520" cy="1167384"/>
          </a:xfrm>
          <a:prstGeom prst="rect">
            <a:avLst/>
          </a:prstGeom>
        </p:spPr>
      </p:pic>
      <p:pic>
        <p:nvPicPr>
          <p:cNvPr id="9" name="Picture 8" descr="9ede1db76506798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7743" y="3572255"/>
            <a:ext cx="4178808" cy="8473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dda27b062e079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3728" y="2194560"/>
            <a:ext cx="1274064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2be21e0d759d6fd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3728" y="2103120"/>
            <a:ext cx="1274064" cy="841248"/>
          </a:xfrm>
          <a:prstGeom prst="rect">
            <a:avLst/>
          </a:prstGeom>
        </p:spPr>
      </p:pic>
      <p:pic>
        <p:nvPicPr>
          <p:cNvPr id="9" name="Picture 8" descr="3578dff92cd3365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9303" y="3246120"/>
            <a:ext cx="2069591" cy="777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64380" y="4927091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1" name="Picture 10" descr="4ab832f314e81a0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4620" y="4663440"/>
            <a:ext cx="1112520" cy="1075944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24ad149a2162bcd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6731" y="2194560"/>
            <a:ext cx="448056" cy="420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4378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101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101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1959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1/9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1959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01743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1629cabbb0de35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6731" y="2103120"/>
            <a:ext cx="448056" cy="420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5234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53450" y="3377515"/>
            <a:ext cx="739177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Any nonzero number to the power 0 is 1.</a:t>
            </a:r>
          </a:p>
        </p:txBody>
      </p:sp>
      <p:pic>
        <p:nvPicPr>
          <p:cNvPr id="11" name="Picture 10" descr="c09f26f770b7cba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8314" y="3994735"/>
            <a:ext cx="826008" cy="3017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c64457c91756da6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3204" y="2194560"/>
            <a:ext cx="515112" cy="98450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0766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40739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40739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7597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7597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8756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492b406a8f5b14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4727" y="2103120"/>
            <a:ext cx="512064" cy="9875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31927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pic>
        <p:nvPicPr>
          <p:cNvPr id="10" name="Picture 9" descr="131314ea478871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679" y="3967303"/>
            <a:ext cx="2154936" cy="7132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817695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4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0538c15f498df93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4228" y="2194560"/>
            <a:ext cx="893064" cy="9936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0ae3b03db9ce2a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5752" y="2103120"/>
            <a:ext cx="890016" cy="993648"/>
          </a:xfrm>
          <a:prstGeom prst="rect">
            <a:avLst/>
          </a:prstGeom>
        </p:spPr>
      </p:pic>
      <p:pic>
        <p:nvPicPr>
          <p:cNvPr id="9" name="Picture 8" descr="f1adc35cb08825a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9723" y="3398520"/>
            <a:ext cx="2974848" cy="716280"/>
          </a:xfrm>
          <a:prstGeom prst="rect">
            <a:avLst/>
          </a:prstGeom>
        </p:spPr>
      </p:pic>
      <p:pic>
        <p:nvPicPr>
          <p:cNvPr id="10" name="Picture 9" descr="0431727820ff0bd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9723" y="4296156"/>
            <a:ext cx="1783080" cy="30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79145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0.125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6b12155fed1886c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3728" y="2194560"/>
            <a:ext cx="1274064" cy="8442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9336c4e0de941d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3728" y="2103120"/>
            <a:ext cx="1274064" cy="8442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53450" y="3226308"/>
            <a:ext cx="739177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Any nonzero number to the power 0 is 1.</a:t>
            </a:r>
          </a:p>
        </p:txBody>
      </p:sp>
      <p:pic>
        <p:nvPicPr>
          <p:cNvPr id="10" name="Picture 9" descr="57a6de2c0fe6ec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8314" y="3788664"/>
            <a:ext cx="1426464" cy="6126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46769" y="1812036"/>
            <a:ext cx="30346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Hannah cancels:  </a:t>
            </a:r>
          </a:p>
        </p:txBody>
      </p:sp>
      <p:pic>
        <p:nvPicPr>
          <p:cNvPr id="9" name="Picture 8" descr="f187a11a89af76b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4219" y="1645920"/>
            <a:ext cx="1578864" cy="789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723083" y="1812036"/>
            <a:ext cx="40368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   Sebastian subtracts:  </a:t>
            </a:r>
          </a:p>
        </p:txBody>
      </p:sp>
      <p:pic>
        <p:nvPicPr>
          <p:cNvPr id="11" name="Picture 10" descr="f7fea7d63fe294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22764" y="1645920"/>
            <a:ext cx="1143000" cy="7894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765764" y="1812036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0967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Who is right?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43721" y="1810512"/>
            <a:ext cx="30346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Hannah cancels:  </a:t>
            </a:r>
          </a:p>
        </p:txBody>
      </p:sp>
      <p:pic>
        <p:nvPicPr>
          <p:cNvPr id="9" name="Picture 8" descr="36cadf9b5edf76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1171" y="1645920"/>
            <a:ext cx="1581912" cy="7863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723083" y="1810512"/>
            <a:ext cx="40368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   Sebastian subtracts:  </a:t>
            </a:r>
          </a:p>
        </p:txBody>
      </p:sp>
      <p:pic>
        <p:nvPicPr>
          <p:cNvPr id="11" name="Picture 10" descr="481073d0dfc4344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22764" y="1645920"/>
            <a:ext cx="1146048" cy="7863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768812" y="1810512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0662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Who is right?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79017" y="3426283"/>
            <a:ext cx="16516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Hannah:  </a:t>
            </a:r>
          </a:p>
        </p:txBody>
      </p:sp>
      <p:pic>
        <p:nvPicPr>
          <p:cNvPr id="15" name="Picture 14" descr="cccc3c74ba494fe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3468" y="3354655"/>
            <a:ext cx="1213104" cy="60045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279017" y="4118179"/>
            <a:ext cx="19742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Sebastian:  </a:t>
            </a:r>
          </a:p>
        </p:txBody>
      </p:sp>
      <p:pic>
        <p:nvPicPr>
          <p:cNvPr id="17" name="Picture 16" descr="c39e2f4fb056822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6138" y="4046551"/>
            <a:ext cx="1743456" cy="60045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279017" y="4715587"/>
            <a:ext cx="30487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Same fraction, so  </a:t>
            </a:r>
          </a:p>
        </p:txBody>
      </p:sp>
      <p:pic>
        <p:nvPicPr>
          <p:cNvPr id="19" name="Picture 18" descr="c474a6f40cf4113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90606" y="4814647"/>
            <a:ext cx="691896" cy="2590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528708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Both — 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0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592182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592182"/>
            <a:ext cx="2654990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Write as one power.  </a:t>
            </a:r>
          </a:p>
        </p:txBody>
      </p:sp>
      <p:pic>
        <p:nvPicPr>
          <p:cNvPr id="10" name="Picture 9" descr="a20fd9ba3a575f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2310" y="1517904"/>
            <a:ext cx="254309" cy="52624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2250219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250219"/>
            <a:ext cx="2069198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3" name="Picture 12" descr="88fae2052833ae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6518" y="2172163"/>
            <a:ext cx="271934" cy="53379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2958614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958614"/>
            <a:ext cx="2069198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6" name="Picture 15" descr="086531e7053a3b9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6518" y="2833977"/>
            <a:ext cx="616888" cy="6269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60120" y="3622945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622945"/>
            <a:ext cx="8520898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Rewrite so the exponent is on the numerator and on the denominator.  </a:t>
            </a:r>
          </a:p>
        </p:txBody>
      </p:sp>
      <p:pic>
        <p:nvPicPr>
          <p:cNvPr id="19" name="Picture 18" descr="eb63da779674ef3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38218" y="3588953"/>
            <a:ext cx="533797" cy="44567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60120" y="4199150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199150"/>
            <a:ext cx="2069198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22" name="Picture 21" descr="5724de55833e2de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86518" y="4162640"/>
            <a:ext cx="667246" cy="45070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60120" y="4801792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801792"/>
            <a:ext cx="2253888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Find the value of </a:t>
            </a:r>
          </a:p>
        </p:txBody>
      </p:sp>
      <p:pic>
        <p:nvPicPr>
          <p:cNvPr id="25" name="Picture 24" descr="6d78c2be12150bf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71208" y="4921393"/>
            <a:ext cx="120859" cy="138485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792068" y="4801792"/>
            <a:ext cx="401795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  </a:t>
            </a:r>
          </a:p>
        </p:txBody>
      </p:sp>
      <p:pic>
        <p:nvPicPr>
          <p:cNvPr id="27" name="Picture 26" descr="70948e8ce7156c1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56703" y="4741362"/>
            <a:ext cx="783070" cy="498546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Powers with negative bases — WFW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Division with exponents — XNC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Identify equivalent expressions involving whole-number exponents — KBE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