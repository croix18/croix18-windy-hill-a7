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56.png"/><Relationship Id="rId4" Type="http://schemas.openxmlformats.org/officeDocument/2006/relationships/image" Target="../media/image12.png"/><Relationship Id="rId5" Type="http://schemas.openxmlformats.org/officeDocument/2006/relationships/image" Target="../media/image5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a scale such as ¼ in : 1 ft to find real lengths and areas from a drawing, and drawing lengths from real ones.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of area </a:t>
            </a:r>
          </a:p>
        </p:txBody>
      </p:sp>
      <p:pic>
        <p:nvPicPr>
          <p:cNvPr id="9" name="Picture 8" descr="edb32a36259546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998" y="1507045"/>
            <a:ext cx="786384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26382" y="1440180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365db93adf7efc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6157" y="1546669"/>
            <a:ext cx="612648" cy="231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28805" y="1440180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0528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5" name="Picture 14" descr="7ec5cb8616fd94f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661" y="2784157"/>
            <a:ext cx="1072896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of area </a:t>
            </a:r>
          </a:p>
        </p:txBody>
      </p:sp>
      <p:pic>
        <p:nvPicPr>
          <p:cNvPr id="9" name="Picture 8" descr="edb32a36259546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998" y="1507045"/>
            <a:ext cx="786384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26382" y="1440180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365db93adf7efc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6157" y="1546669"/>
            <a:ext cx="612648" cy="231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28805" y="1440180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897380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36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5100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67228"/>
            <a:ext cx="121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798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7" name="Picture 16" descr="7ec5cb8616fd94f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661" y="3698557"/>
            <a:ext cx="1072896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4197" y="3579876"/>
            <a:ext cx="6300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1925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649724"/>
            <a:ext cx="2841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miles per hour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floor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20848"/>
            <a:ext cx="10241280" cy="32202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scale drawing of a room or building seen from above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8062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scale (two units)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2061"/>
            <a:ext cx="1906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ratio such as </a:t>
            </a:r>
          </a:p>
        </p:txBody>
      </p:sp>
      <p:pic>
        <p:nvPicPr>
          <p:cNvPr id="12" name="Picture 11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679" y="2738429"/>
            <a:ext cx="1456944" cy="664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69623" y="2842061"/>
            <a:ext cx="60054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a drawing length and the real length it stands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04061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unit rate of a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065501"/>
            <a:ext cx="426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the scale written per 1 drawing unit: </a:t>
            </a:r>
          </a:p>
        </p:txBody>
      </p:sp>
      <p:pic>
        <p:nvPicPr>
          <p:cNvPr id="16" name="Picture 15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7036" y="3961869"/>
            <a:ext cx="1456944" cy="664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23980" y="4065501"/>
            <a:ext cx="513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8" name="Picture 17" descr="2e89f08f98793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0268" y="4084170"/>
            <a:ext cx="1374648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827501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scale with one unit</a:t>
            </a:r>
          </a:p>
        </p:txBody>
      </p:sp>
      <p:pic>
        <p:nvPicPr>
          <p:cNvPr id="20" name="Picture 19" descr="978f6528d2268a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5205503"/>
            <a:ext cx="826008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969008" y="5162450"/>
            <a:ext cx="48876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no units: 1 cm of model is 50 cm of car. </a:t>
            </a:r>
          </a:p>
        </p:txBody>
      </p:sp>
      <p:pic>
        <p:nvPicPr>
          <p:cNvPr id="22" name="Picture 21" descr="2e89f08f98793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450" y="5185310"/>
            <a:ext cx="1374648" cy="30175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094098" y="5162450"/>
            <a:ext cx="513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24" name="Picture 23" descr="f0627971b55979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0387" y="5205503"/>
            <a:ext cx="832104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302491" y="5162450"/>
            <a:ext cx="12576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this way,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647082"/>
            <a:ext cx="30174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and 48 is the scale factor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is a rate: write it per 1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73d9c50cbaa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539" y="1993392"/>
            <a:ext cx="428244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99923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Drawing × rate = real.  Real ÷ rate = drawing.  With one unit, 1 in : 4 ft is 1 : 48.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go to the real dimensions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256debf18477e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4965" y="1993392"/>
            <a:ext cx="3951589" cy="3566159"/>
          </a:xfrm>
          <a:prstGeom prst="rect">
            <a:avLst/>
          </a:prstGeom>
        </p:spPr>
      </p:pic>
      <p:pic>
        <p:nvPicPr>
          <p:cNvPr id="11" name="Picture 10" descr="da18b1e3915be7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5705855"/>
            <a:ext cx="314553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Real to drawing is a division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5c94e184342c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663" y="2027301"/>
            <a:ext cx="229819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No scale printed? One pair gives it: 2 in </a:t>
            </a:r>
            <a:r>
              <a:rPr sz="2180" b="1" i="0">
                <a:solidFill>
                  <a:srgbClr val="1A1A1A"/>
                </a:solidFill>
                <a:latin typeface="Arial"/>
              </a:rPr>
              <a:t>↔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 9 ft is 4.5 ft per inch.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016" y="1778507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ca189c78b28ba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6689" y="1737360"/>
            <a:ext cx="1185672" cy="5394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361" y="1778507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5117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2.5 in by 3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7315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dcd2a03b5af577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32048" cy="667512"/>
          </a:xfrm>
          <a:prstGeom prst="rect">
            <a:avLst/>
          </a:prstGeom>
        </p:spPr>
      </p:pic>
      <p:pic>
        <p:nvPicPr>
          <p:cNvPr id="9" name="Picture 8" descr="915548aa4259a5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4096512" cy="277368"/>
          </a:xfrm>
          <a:prstGeom prst="rect">
            <a:avLst/>
          </a:prstGeom>
        </p:spPr>
      </p:pic>
      <p:pic>
        <p:nvPicPr>
          <p:cNvPr id="10" name="Picture 9" descr="ed3c81b185a5a2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13759"/>
            <a:ext cx="211226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ft by 12 ft; 120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016" y="164134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ca189c78b28ba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6689" y="1600200"/>
            <a:ext cx="1185672" cy="5394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361" y="164134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401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1.5 in by 4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5311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4492" y="164134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141fd4a1e45fc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165" y="1600200"/>
            <a:ext cx="1188720" cy="5394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3885" y="164134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401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1.5 in by 4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5311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  <p:pic>
        <p:nvPicPr>
          <p:cNvPr id="13" name="Picture 12" descr="2ca6e5298287d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403" y="3659281"/>
            <a:ext cx="3523488" cy="256032"/>
          </a:xfrm>
          <a:prstGeom prst="rect">
            <a:avLst/>
          </a:prstGeom>
        </p:spPr>
      </p:pic>
      <p:pic>
        <p:nvPicPr>
          <p:cNvPr id="14" name="Picture 13" descr="5fd038657ddc92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403" y="4195729"/>
            <a:ext cx="1551432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535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ft by 16 ft;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4 in long; the real wall is 18 ft. Another wall is 6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261f8592fb08f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59480" cy="384048"/>
          </a:xfrm>
          <a:prstGeom prst="rect">
            <a:avLst/>
          </a:prstGeom>
        </p:spPr>
      </p:pic>
      <p:pic>
        <p:nvPicPr>
          <p:cNvPr id="9" name="Picture 8" descr="022db8f1da267d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78608"/>
            <a:ext cx="1847088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27 ft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  <p:pic>
        <p:nvPicPr>
          <p:cNvPr id="10" name="Picture 9" descr="bbb8c08ba0d816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4874" y="3274835"/>
            <a:ext cx="164287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57746" y="3158059"/>
            <a:ext cx="17357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 per in</a:t>
            </a:r>
          </a:p>
        </p:txBody>
      </p:sp>
      <p:pic>
        <p:nvPicPr>
          <p:cNvPr id="12" name="Picture 11" descr="563feef954113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4874" y="3814331"/>
            <a:ext cx="1923288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32.5 ft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e7b684faf8832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61288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34579" y="1917192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232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wall is 4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733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73bf4039381e9a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67384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40675" y="1917192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232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wall is 4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733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pic>
        <p:nvPicPr>
          <p:cNvPr id="13" name="Picture 12" descr="c8c92f87f3d6ee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528" y="3815300"/>
            <a:ext cx="3060192" cy="606552"/>
          </a:xfrm>
          <a:prstGeom prst="rect">
            <a:avLst/>
          </a:prstGeom>
        </p:spPr>
      </p:pic>
      <p:pic>
        <p:nvPicPr>
          <p:cNvPr id="14" name="Picture 13" descr="4c79ce6c59743c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5528" y="4646833"/>
            <a:ext cx="1210056" cy="2499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0985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ft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d7e1b174636e67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6815"/>
            <a:ext cx="1094232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752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2.5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bc94ef922c26df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6815"/>
            <a:ext cx="1094232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752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2.5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pic>
        <p:nvPicPr>
          <p:cNvPr id="13" name="Picture 12" descr="7f47ff26618b2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135" y="3781201"/>
            <a:ext cx="1712976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7.5 ft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d7e1b174636e67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6815"/>
            <a:ext cx="1094232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752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21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bc94ef922c26df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6815"/>
            <a:ext cx="1094232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752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21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3" name="Picture 12" descr="42d22dbd0f417c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775" y="3781201"/>
            <a:ext cx="1380744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87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</a:t>
            </a:r>
          </a:p>
        </p:txBody>
      </p:sp>
      <p:pic>
        <p:nvPicPr>
          <p:cNvPr id="9" name="Picture 8" descr="bea53fde14d6fb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94" y="1975103"/>
            <a:ext cx="673608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9602" y="1851660"/>
            <a:ext cx="2782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is 8 cm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3" name="Picture 12" descr="e6be1afe100034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212194"/>
            <a:ext cx="667512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5" name="Picture 14" descr="d1c869ae9d4258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209146"/>
            <a:ext cx="1155192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7" name="Picture 16" descr="f9480b526a91ac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24842"/>
            <a:ext cx="113690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9" name="Picture 18" descr="f6b889ed3e969be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7890"/>
            <a:ext cx="107594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87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</a:t>
            </a:r>
          </a:p>
        </p:txBody>
      </p:sp>
      <p:pic>
        <p:nvPicPr>
          <p:cNvPr id="9" name="Picture 8" descr="bea53fde14d6fb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94" y="1975103"/>
            <a:ext cx="673608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9602" y="1851660"/>
            <a:ext cx="2782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is 8 cm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pic>
        <p:nvPicPr>
          <p:cNvPr id="12" name="Picture 11" descr="4fc1d381e1a99b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280" y="3242102"/>
            <a:ext cx="184708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3368" y="3122278"/>
            <a:ext cx="8542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cm</a:t>
            </a:r>
          </a:p>
        </p:txBody>
      </p:sp>
      <p:pic>
        <p:nvPicPr>
          <p:cNvPr id="14" name="Picture 13" descr="19d037a982db9c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280" y="3781598"/>
            <a:ext cx="210312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29400" y="3661774"/>
            <a:ext cx="65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 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5667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9ca189c78b28ba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85672" cy="5394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8963" y="1915667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518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15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282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5667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9141fd4a1e45fc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88720" cy="5394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62011" y="1915667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518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15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282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3" name="Picture 12" descr="e9e37835812246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095" y="3887881"/>
            <a:ext cx="387705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3.75 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69da27b14c874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6815"/>
            <a:ext cx="1121664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495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 in by 3 in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cec3ecd6d985b8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702524"/>
            <a:ext cx="981455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48cdba4a3e3447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702524"/>
            <a:ext cx="969264" cy="3413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437003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096426823913f6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4315172"/>
            <a:ext cx="1014984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437003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ac80d7fa9b4da39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4315172"/>
            <a:ext cx="978408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0466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0108e640f9a5d2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6815"/>
            <a:ext cx="1121664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495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 in by 3 in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pic>
        <p:nvPicPr>
          <p:cNvPr id="13" name="Picture 12" descr="a2754109ea50ef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39" y="3781201"/>
            <a:ext cx="3249168" cy="252984"/>
          </a:xfrm>
          <a:prstGeom prst="rect">
            <a:avLst/>
          </a:prstGeom>
        </p:spPr>
      </p:pic>
      <p:pic>
        <p:nvPicPr>
          <p:cNvPr id="14" name="Picture 13" descr="cb9cc937a98fdc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039" y="4317649"/>
            <a:ext cx="155448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4046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model of it is built at </a:t>
            </a:r>
          </a:p>
        </p:txBody>
      </p:sp>
      <p:pic>
        <p:nvPicPr>
          <p:cNvPr id="10" name="Picture 9" descr="556f5c83e30f33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862" y="2514202"/>
            <a:ext cx="679704" cy="225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23566" y="2390758"/>
            <a:ext cx="203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another at </a:t>
            </a:r>
          </a:p>
        </p:txBody>
      </p:sp>
      <p:pic>
        <p:nvPicPr>
          <p:cNvPr id="12" name="Picture 11" descr="3e9707db2572cb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287" y="2514202"/>
            <a:ext cx="652272" cy="225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70559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4046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model of it is built at </a:t>
            </a:r>
          </a:p>
        </p:txBody>
      </p:sp>
      <p:pic>
        <p:nvPicPr>
          <p:cNvPr id="10" name="Picture 9" descr="556f5c83e30f33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862" y="2514202"/>
            <a:ext cx="679704" cy="225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23566" y="2390758"/>
            <a:ext cx="203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another at </a:t>
            </a:r>
          </a:p>
        </p:txBody>
      </p:sp>
      <p:pic>
        <p:nvPicPr>
          <p:cNvPr id="12" name="Picture 11" descr="3e9707db2572cb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287" y="2514202"/>
            <a:ext cx="652272" cy="225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70559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pic>
        <p:nvPicPr>
          <p:cNvPr id="15" name="Picture 14" descr="5542fd061f65cd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3067" y="3778153"/>
            <a:ext cx="1953768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26835" y="3661376"/>
            <a:ext cx="637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in</a:t>
            </a:r>
          </a:p>
        </p:txBody>
      </p:sp>
      <p:pic>
        <p:nvPicPr>
          <p:cNvPr id="17" name="Picture 16" descr="5f9988afdad05b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3067" y="4317649"/>
            <a:ext cx="4328160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772372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1 : 48 model, by 3 in (9 in against 6 in)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3151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mural's scale is </a:t>
            </a:r>
          </a:p>
        </p:txBody>
      </p:sp>
      <p:pic>
        <p:nvPicPr>
          <p:cNvPr id="10" name="Picture 9" descr="799b2639d3e366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889" y="2495914"/>
            <a:ext cx="1097280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6169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3151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mural's scale is </a:t>
            </a:r>
          </a:p>
        </p:txBody>
      </p:sp>
      <p:pic>
        <p:nvPicPr>
          <p:cNvPr id="10" name="Picture 9" descr="4cffcd08a805c9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889" y="2495914"/>
            <a:ext cx="110032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9217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pic>
        <p:nvPicPr>
          <p:cNvPr id="13" name="Picture 12" descr="12be65d33c7344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780" y="3781201"/>
            <a:ext cx="3599688" cy="2499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ft by 24 ft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pic>
        <p:nvPicPr>
          <p:cNvPr id="10" name="Picture 9" descr="ba794c9b63733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712" y="3994337"/>
            <a:ext cx="6208776" cy="347472"/>
          </a:xfrm>
          <a:prstGeom prst="rect">
            <a:avLst/>
          </a:prstGeom>
        </p:spPr>
      </p:pic>
      <p:pic>
        <p:nvPicPr>
          <p:cNvPr id="11" name="Picture 10" descr="b9e87113330b48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712" y="4563742"/>
            <a:ext cx="2703576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30 ft high; 787.5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The scale (7.5 ft per in) is the step from 4 in to 30 ft.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5315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5315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0" name="Picture 9" descr="e7b684faf8832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231" y="1517904"/>
            <a:ext cx="959324" cy="448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76556" y="1553154"/>
            <a:ext cx="540974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wall is 6 in long on it. Find the real length.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7522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7522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4" name="Picture 13" descr="42aab0cb6b1598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31" y="2163351"/>
            <a:ext cx="914002" cy="20143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1233" y="2075224"/>
            <a:ext cx="574016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room is 3.2 in long on it. Find the real length.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54315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543158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8" name="Picture 17" descr="42aab0cb6b1598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31" y="2631285"/>
            <a:ext cx="914002" cy="20143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31233" y="2543158"/>
            <a:ext cx="621769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real wall is 22 ft long. Find its length on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6396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063968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22" name="Picture 21" descr="9ca189c78b28ba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7231" y="3029977"/>
            <a:ext cx="979468" cy="44567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796699" y="3063968"/>
            <a:ext cx="660376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room is 2 in by 3.5 in on it. Find the real dimensions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484195"/>
            <a:ext cx="132879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and area.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95212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952129"/>
            <a:ext cx="302122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model boat is built at </a:t>
            </a:r>
          </a:p>
        </p:txBody>
      </p:sp>
      <p:pic>
        <p:nvPicPr>
          <p:cNvPr id="27" name="Picture 26" descr="701ad704adc58a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8542" y="4047810"/>
            <a:ext cx="569048" cy="18632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07590" y="3952129"/>
            <a:ext cx="5853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is 15 cm long. Find the real boat's length in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319479"/>
            <a:ext cx="10807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meters.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78741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4787414"/>
            <a:ext cx="980063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drawing a wall is 3 in long; the real wall is 16.5 ft. Another wall is 5 in long on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154764"/>
            <a:ext cx="416887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drawing. How long is it really?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word problems — 84H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scale factor word problems — KCM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