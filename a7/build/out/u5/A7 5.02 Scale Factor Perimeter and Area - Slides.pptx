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</p:sldIdLst>
  <p:sldSz cx="12191969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Relationship Id="rId40" Type="http://schemas.openxmlformats.org/officeDocument/2006/relationships/slide" Target="slides/slide34.xml"/><Relationship Id="rId41" Type="http://schemas.openxmlformats.org/officeDocument/2006/relationships/slide" Target="slides/slide3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image" Target="../media/image5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Relationship Id="rId3" Type="http://schemas.openxmlformats.org/officeDocument/2006/relationships/image" Target="../media/image7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Relationship Id="rId3" Type="http://schemas.openxmlformats.org/officeDocument/2006/relationships/image" Target="../media/image9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png"/><Relationship Id="rId3" Type="http://schemas.openxmlformats.org/officeDocument/2006/relationships/image" Target="../media/image13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5.png"/><Relationship Id="rId3" Type="http://schemas.openxmlformats.org/officeDocument/2006/relationships/image" Target="../media/image16.png"/><Relationship Id="rId4" Type="http://schemas.openxmlformats.org/officeDocument/2006/relationships/image" Target="../media/image17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8.png"/><Relationship Id="rId3" Type="http://schemas.openxmlformats.org/officeDocument/2006/relationships/image" Target="../media/image19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0.png"/><Relationship Id="rId3" Type="http://schemas.openxmlformats.org/officeDocument/2006/relationships/image" Target="../media/image21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2.png"/><Relationship Id="rId3" Type="http://schemas.openxmlformats.org/officeDocument/2006/relationships/image" Target="../media/image23.png"/><Relationship Id="rId4" Type="http://schemas.openxmlformats.org/officeDocument/2006/relationships/image" Target="../media/image5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4.png"/><Relationship Id="rId3" Type="http://schemas.openxmlformats.org/officeDocument/2006/relationships/image" Target="../media/image25.png"/><Relationship Id="rId4" Type="http://schemas.openxmlformats.org/officeDocument/2006/relationships/image" Target="../media/image5.png"/><Relationship Id="rId5" Type="http://schemas.openxmlformats.org/officeDocument/2006/relationships/image" Target="../media/image26.png"/><Relationship Id="rId6" Type="http://schemas.openxmlformats.org/officeDocument/2006/relationships/image" Target="../media/image27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8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9.png"/><Relationship Id="rId3" Type="http://schemas.openxmlformats.org/officeDocument/2006/relationships/image" Target="../media/image30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2.png"/><Relationship Id="rId3" Type="http://schemas.openxmlformats.org/officeDocument/2006/relationships/image" Target="../media/image28.pn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4.png"/><Relationship Id="rId3" Type="http://schemas.openxmlformats.org/officeDocument/2006/relationships/image" Target="../media/image29.png"/><Relationship Id="rId4" Type="http://schemas.openxmlformats.org/officeDocument/2006/relationships/image" Target="../media/image31.pn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2.png"/><Relationship Id="rId3" Type="http://schemas.openxmlformats.org/officeDocument/2006/relationships/image" Target="../media/image33.png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4.png"/><Relationship Id="rId3" Type="http://schemas.openxmlformats.org/officeDocument/2006/relationships/image" Target="../media/image35.png"/><Relationship Id="rId4" Type="http://schemas.openxmlformats.org/officeDocument/2006/relationships/image" Target="../media/image36.png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7.png"/><Relationship Id="rId3" Type="http://schemas.openxmlformats.org/officeDocument/2006/relationships/image" Target="../media/image11.png"/><Relationship Id="rId4" Type="http://schemas.openxmlformats.org/officeDocument/2006/relationships/image" Target="../media/image38.png"/><Relationship Id="rId5" Type="http://schemas.openxmlformats.org/officeDocument/2006/relationships/image" Target="../media/image39.png"/><Relationship Id="rId6" Type="http://schemas.openxmlformats.org/officeDocument/2006/relationships/image" Target="../media/image40.png"/><Relationship Id="rId7" Type="http://schemas.openxmlformats.org/officeDocument/2006/relationships/image" Target="../media/image41.png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2.png"/><Relationship Id="rId3" Type="http://schemas.openxmlformats.org/officeDocument/2006/relationships/image" Target="../media/image43.png"/><Relationship Id="rId4" Type="http://schemas.openxmlformats.org/officeDocument/2006/relationships/image" Target="../media/image44.png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5.png"/><Relationship Id="rId3" Type="http://schemas.openxmlformats.org/officeDocument/2006/relationships/image" Target="../media/image46.png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7.png"/><Relationship Id="rId3" Type="http://schemas.openxmlformats.org/officeDocument/2006/relationships/image" Target="../media/image48.png"/><Relationship Id="rId4" Type="http://schemas.openxmlformats.org/officeDocument/2006/relationships/image" Target="../media/image49.png"/><Relationship Id="rId5" Type="http://schemas.openxmlformats.org/officeDocument/2006/relationships/image" Target="../media/image50.png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1.png"/><Relationship Id="rId3" Type="http://schemas.openxmlformats.org/officeDocument/2006/relationships/image" Target="../media/image52.png"/><Relationship Id="rId4" Type="http://schemas.openxmlformats.org/officeDocument/2006/relationships/image" Target="../media/image53.png"/><Relationship Id="rId5" Type="http://schemas.openxmlformats.org/officeDocument/2006/relationships/image" Target="../media/image54.png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5.png"/><Relationship Id="rId3" Type="http://schemas.openxmlformats.org/officeDocument/2006/relationships/image" Target="../media/image56.png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3.png"/><Relationship Id="rId3" Type="http://schemas.openxmlformats.org/officeDocument/2006/relationships/image" Target="../media/image57.png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5.png"/><Relationship Id="rId3" Type="http://schemas.openxmlformats.org/officeDocument/2006/relationships/image" Target="../media/image58.png"/><Relationship Id="rId4" Type="http://schemas.openxmlformats.org/officeDocument/2006/relationships/image" Target="../media/image59.png"/><Relationship Id="rId5" Type="http://schemas.openxmlformats.org/officeDocument/2006/relationships/image" Target="../media/image60.png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1.png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2.png"/><Relationship Id="rId3" Type="http://schemas.openxmlformats.org/officeDocument/2006/relationships/image" Target="../media/image63.png"/><Relationship Id="rId4" Type="http://schemas.openxmlformats.org/officeDocument/2006/relationships/image" Target="../media/image64.png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5.png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6.png"/><Relationship Id="rId3" Type="http://schemas.openxmlformats.org/officeDocument/2006/relationships/image" Target="../media/image67.png"/><Relationship Id="rId4" Type="http://schemas.openxmlformats.org/officeDocument/2006/relationships/image" Target="../media/image68.png"/><Relationship Id="rId5" Type="http://schemas.openxmlformats.org/officeDocument/2006/relationships/image" Target="../media/image69.png"/><Relationship Id="rId6" Type="http://schemas.openxmlformats.org/officeDocument/2006/relationships/image" Target="../media/image70.png"/><Relationship Id="rId7" Type="http://schemas.openxmlformats.org/officeDocument/2006/relationships/image" Target="../media/image71.png"/><Relationship Id="rId8" Type="http://schemas.openxmlformats.org/officeDocument/2006/relationships/image" Target="../media/image72.png"/><Relationship Id="rId9" Type="http://schemas.openxmlformats.org/officeDocument/2006/relationships/image" Target="../media/image73.png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2148840"/>
            <a:ext cx="10607040" cy="347472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1420" b="0" i="0">
                <a:solidFill>
                  <a:srgbClr val="6B6B6B"/>
                </a:solidFill>
                <a:latin typeface="Lexend"/>
              </a:rPr>
              <a:t>GRADE 7 ACCELERATED  ·  UNIT 5  ·  LESSONS 2–3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2505456"/>
            <a:ext cx="10607040" cy="100584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/>
            <a:r>
              <a:rPr sz="3229" b="1" i="0">
                <a:solidFill>
                  <a:srgbClr val="1A1A1A"/>
                </a:solidFill>
                <a:latin typeface="Lexend"/>
              </a:rPr>
              <a:t>Scale Factor: Perimeter and Area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3291840" y="3712464"/>
            <a:ext cx="55778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3291840" y="3794760"/>
            <a:ext cx="55778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77240" y="3959352"/>
            <a:ext cx="10607040" cy="31089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1520" b="1" i="0">
                <a:solidFill>
                  <a:srgbClr val="1A1A1A"/>
                </a:solidFill>
                <a:latin typeface="Lexend"/>
              </a:rPr>
              <a:t>MA.7.GR.1.5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4297680"/>
            <a:ext cx="10607040" cy="7315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1810" b="0" i="0">
                <a:solidFill>
                  <a:srgbClr val="1A1A1A"/>
                </a:solidFill>
                <a:latin typeface="Lexend"/>
              </a:rPr>
              <a:t>I can find the perimeter and the area of a scale copy from the original and k, and find k from two areas.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40" b="0" i="0">
                <a:solidFill>
                  <a:srgbClr val="6B6B6B"/>
                </a:solidFill>
                <a:latin typeface="Lexend"/>
              </a:rPr>
              <a:t>Grade 7 Accelerated · Unit 5 · Lessons 2–3 — Scale Factor: Perimeter and Area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40" b="0" i="0">
                <a:solidFill>
                  <a:srgbClr val="6B6B6B"/>
                </a:solidFill>
                <a:latin typeface="Lexend"/>
              </a:rPr>
              <a:t>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420" b="1" i="0">
                <a:solidFill>
                  <a:srgbClr val="1A1A1A"/>
                </a:solidFill>
                <a:latin typeface="Lexend"/>
              </a:rPr>
              <a:t>Warm-Up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40" b="0" i="0">
                <a:solidFill>
                  <a:srgbClr val="6B6B6B"/>
                </a:solidFill>
                <a:latin typeface="Lexend"/>
              </a:rPr>
              <a:t>Grade 7 Accelerated · Unit 5 · Lessons 2–3 — Scale Factor: Perimeter and Area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40" b="0" i="0">
                <a:solidFill>
                  <a:srgbClr val="6B6B6B"/>
                </a:solidFill>
                <a:latin typeface="Lexend"/>
              </a:rPr>
              <a:t>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874519" y="1440180"/>
            <a:ext cx="9343784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180" b="0" i="0">
                <a:solidFill>
                  <a:srgbClr val="1A1A1A"/>
                </a:solidFill>
                <a:latin typeface="Lexend"/>
              </a:rPr>
              <a:t>1.   A 20 cm side becomes 8 cm in the copy. Find the scale factor.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874519" y="2052828"/>
            <a:ext cx="2935946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180" b="0" i="0">
                <a:solidFill>
                  <a:srgbClr val="1A1A1A"/>
                </a:solidFill>
                <a:latin typeface="Lexend"/>
              </a:rPr>
              <a:t>2.   Find the value:  </a:t>
            </a:r>
          </a:p>
        </p:txBody>
      </p:sp>
      <p:pic>
        <p:nvPicPr>
          <p:cNvPr id="10" name="Picture 9" descr="c5ba369a2497f72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73306" y="2096674"/>
            <a:ext cx="847272" cy="37261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1874519" y="2665476"/>
            <a:ext cx="3071228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180" b="0" i="0">
                <a:solidFill>
                  <a:srgbClr val="1A1A1A"/>
                </a:solidFill>
                <a:latin typeface="Lexend"/>
              </a:rPr>
              <a:t>3.   Find the values:  </a:t>
            </a:r>
          </a:p>
        </p:txBody>
      </p:sp>
      <p:pic>
        <p:nvPicPr>
          <p:cNvPr id="12" name="Picture 11" descr="33d30e37238e3f17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08588" y="2742549"/>
            <a:ext cx="265811" cy="265811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5074399" y="2665476"/>
            <a:ext cx="1087500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180" b="0" i="0">
                <a:solidFill>
                  <a:srgbClr val="1A1A1A"/>
                </a:solidFill>
                <a:latin typeface="Lexend"/>
              </a:rPr>
              <a:t>  and  </a:t>
            </a:r>
          </a:p>
        </p:txBody>
      </p:sp>
      <p:pic>
        <p:nvPicPr>
          <p:cNvPr id="14" name="Picture 13" descr="20ade1fcd202f366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24740" y="2744922"/>
            <a:ext cx="261064" cy="263437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1874519" y="3278124"/>
            <a:ext cx="9349080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180" b="0" i="0">
                <a:solidFill>
                  <a:srgbClr val="1A1A1A"/>
                </a:solidFill>
                <a:latin typeface="Lexend"/>
              </a:rPr>
              <a:t>4.   Find the perimeter and the area of a 3 cm by 5 cm rectangle.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420" b="1" i="0">
                <a:solidFill>
                  <a:srgbClr val="1A1A1A"/>
                </a:solidFill>
                <a:latin typeface="Lexend"/>
              </a:rPr>
              <a:t>Warm-Up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40" b="0" i="0">
                <a:solidFill>
                  <a:srgbClr val="6B6B6B"/>
                </a:solidFill>
                <a:latin typeface="Lexend"/>
              </a:rPr>
              <a:t>Grade 7 Accelerated · Unit 5 · Lessons 2–3 — Scale Factor: Perimeter and Area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40" b="0" i="0">
                <a:solidFill>
                  <a:srgbClr val="6B6B6B"/>
                </a:solidFill>
                <a:latin typeface="Lexend"/>
              </a:rPr>
              <a:t>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874519" y="1440180"/>
            <a:ext cx="9343784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180" b="0" i="0">
                <a:solidFill>
                  <a:srgbClr val="1A1A1A"/>
                </a:solidFill>
                <a:latin typeface="Lexend"/>
              </a:rPr>
              <a:t>1.   A 20 cm side becomes 8 cm in the copy. Find the scale factor.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606040" y="1897380"/>
            <a:ext cx="1227429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180" b="1" i="0">
                <a:solidFill>
                  <a:srgbClr val="9E1B32"/>
                </a:solidFill>
                <a:latin typeface="Lexend"/>
              </a:rPr>
              <a:t>k = 0.4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874519" y="2510028"/>
            <a:ext cx="2935946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180" b="0" i="0">
                <a:solidFill>
                  <a:srgbClr val="1A1A1A"/>
                </a:solidFill>
                <a:latin typeface="Lexend"/>
              </a:rPr>
              <a:t>2.   Find the value:  </a:t>
            </a:r>
          </a:p>
        </p:txBody>
      </p:sp>
      <p:pic>
        <p:nvPicPr>
          <p:cNvPr id="11" name="Picture 10" descr="c5ba369a2497f72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73306" y="2553874"/>
            <a:ext cx="847272" cy="372610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6069218" y="2510028"/>
            <a:ext cx="536528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180" b="1" i="0">
                <a:solidFill>
                  <a:srgbClr val="9E1B32"/>
                </a:solidFill>
                <a:latin typeface="Lexend"/>
              </a:rPr>
              <a:t>12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874519" y="3122676"/>
            <a:ext cx="3071228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180" b="0" i="0">
                <a:solidFill>
                  <a:srgbClr val="1A1A1A"/>
                </a:solidFill>
                <a:latin typeface="Lexend"/>
              </a:rPr>
              <a:t>3.   Find the values:  </a:t>
            </a:r>
          </a:p>
        </p:txBody>
      </p:sp>
      <p:pic>
        <p:nvPicPr>
          <p:cNvPr id="14" name="Picture 13" descr="33d30e37238e3f17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08588" y="3199749"/>
            <a:ext cx="265811" cy="265811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5074399" y="3122676"/>
            <a:ext cx="1087500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180" b="0" i="0">
                <a:solidFill>
                  <a:srgbClr val="1A1A1A"/>
                </a:solidFill>
                <a:latin typeface="Lexend"/>
              </a:rPr>
              <a:t>  and  </a:t>
            </a:r>
          </a:p>
        </p:txBody>
      </p:sp>
      <p:pic>
        <p:nvPicPr>
          <p:cNvPr id="16" name="Picture 15" descr="20ade1fcd202f366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24740" y="3202122"/>
            <a:ext cx="261064" cy="263437"/>
          </a:xfrm>
          <a:prstGeom prst="rect">
            <a:avLst/>
          </a:prstGeom>
        </p:spPr>
      </p:pic>
      <p:sp>
        <p:nvSpPr>
          <p:cNvPr id="17" name="TextBox 16"/>
          <p:cNvSpPr txBox="1"/>
          <p:nvPr/>
        </p:nvSpPr>
        <p:spPr>
          <a:xfrm>
            <a:off x="6834444" y="3122676"/>
            <a:ext cx="1465122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180" b="1" i="0">
                <a:solidFill>
                  <a:srgbClr val="9E1B32"/>
                </a:solidFill>
                <a:latin typeface="Lexend"/>
              </a:rPr>
              <a:t>9 and 27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874519" y="3735324"/>
            <a:ext cx="9349080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180" b="0" i="0">
                <a:solidFill>
                  <a:srgbClr val="1A1A1A"/>
                </a:solidFill>
                <a:latin typeface="Lexend"/>
              </a:rPr>
              <a:t>4.   Find the perimeter and the area of a 3 cm by 5 cm rectangle.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606040" y="4192524"/>
            <a:ext cx="3388103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180" b="1" i="0">
                <a:solidFill>
                  <a:srgbClr val="9E1B32"/>
                </a:solidFill>
                <a:latin typeface="Lexend"/>
              </a:rPr>
              <a:t>P = 16 cm, A = 15 cm</a:t>
            </a:r>
            <a:r>
              <a:rPr sz="2180" b="1" i="0" baseline="30000">
                <a:solidFill>
                  <a:srgbClr val="9E1B32"/>
                </a:solidFill>
                <a:latin typeface="Lexend"/>
              </a:rPr>
              <a:t>2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420" b="1" i="0">
                <a:solidFill>
                  <a:srgbClr val="1A1A1A"/>
                </a:solidFill>
                <a:latin typeface="Lexend"/>
              </a:rPr>
              <a:t>Vocabulary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40" b="0" i="0">
                <a:solidFill>
                  <a:srgbClr val="6B6B6B"/>
                </a:solidFill>
                <a:latin typeface="Lexend"/>
              </a:rPr>
              <a:t>Grade 7 Accelerated · Unit 5 · Lessons 2–3 — Scale Factor: Perimeter and Area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40" b="0" i="0">
                <a:solidFill>
                  <a:srgbClr val="6B6B6B"/>
                </a:solidFill>
                <a:latin typeface="Lexend"/>
              </a:rPr>
              <a:t>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1463040"/>
            <a:ext cx="10607040" cy="42937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280" b="1" i="0">
                <a:solidFill>
                  <a:srgbClr val="0B5394"/>
                </a:solidFill>
                <a:latin typeface="Lexend"/>
              </a:rPr>
              <a:t>k squared</a:t>
            </a:r>
          </a:p>
        </p:txBody>
      </p:sp>
      <p:pic>
        <p:nvPicPr>
          <p:cNvPr id="9" name="Picture 8" descr="f5d0f69f4213cc0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43000" y="1950941"/>
            <a:ext cx="267874" cy="251983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1410874" y="1869550"/>
            <a:ext cx="9984578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090" b="0" i="0">
                <a:solidFill>
                  <a:srgbClr val="1A1A1A"/>
                </a:solidFill>
                <a:latin typeface="Lexend"/>
              </a:rPr>
              <a:t>, k times k: what an area is multiplied by when every length is multiplied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43000" y="2354182"/>
            <a:ext cx="624152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090" b="0" i="0">
                <a:solidFill>
                  <a:srgbClr val="1A1A1A"/>
                </a:solidFill>
                <a:latin typeface="Lexend"/>
              </a:rPr>
              <a:t>by </a:t>
            </a:r>
          </a:p>
        </p:txBody>
      </p:sp>
      <p:pic>
        <p:nvPicPr>
          <p:cNvPr id="12" name="Picture 11" descr="5ad8b479ac3620e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29992" y="2474165"/>
            <a:ext cx="140747" cy="213391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777240" y="2989690"/>
            <a:ext cx="10607040" cy="42937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280" b="1" i="0">
                <a:solidFill>
                  <a:srgbClr val="0B5394"/>
                </a:solidFill>
                <a:latin typeface="Lexend"/>
              </a:rPr>
              <a:t>perimeter ratio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43000" y="3396200"/>
            <a:ext cx="7106276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090" b="0" i="0">
                <a:solidFill>
                  <a:srgbClr val="1A1A1A"/>
                </a:solidFill>
                <a:latin typeface="Lexend"/>
              </a:rPr>
              <a:t>copy's perimeter ÷ original's perimeter — it equals </a:t>
            </a:r>
          </a:p>
        </p:txBody>
      </p:sp>
      <p:pic>
        <p:nvPicPr>
          <p:cNvPr id="15" name="Picture 14" descr="5ad8b479ac3620e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12116" y="3516184"/>
            <a:ext cx="140747" cy="213391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777240" y="4031708"/>
            <a:ext cx="10607040" cy="42937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280" b="1" i="0">
                <a:solidFill>
                  <a:srgbClr val="0B5394"/>
                </a:solidFill>
                <a:latin typeface="Lexend"/>
              </a:rPr>
              <a:t>area ratio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43000" y="4438219"/>
            <a:ext cx="5676917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090" b="0" i="0">
                <a:solidFill>
                  <a:srgbClr val="1A1A1A"/>
                </a:solidFill>
                <a:latin typeface="Lexend"/>
              </a:rPr>
              <a:t>copy's area ÷ original's area — it equals </a:t>
            </a:r>
          </a:p>
        </p:txBody>
      </p:sp>
      <p:pic>
        <p:nvPicPr>
          <p:cNvPr id="18" name="Picture 17" descr="f5d0f69f4213cc0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82757" y="4519610"/>
            <a:ext cx="267874" cy="251983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420" b="1" i="0">
                <a:solidFill>
                  <a:srgbClr val="1A1A1A"/>
                </a:solidFill>
                <a:latin typeface="Lexend"/>
              </a:rPr>
              <a:t>Notes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40" b="0" i="0">
                <a:solidFill>
                  <a:srgbClr val="6B6B6B"/>
                </a:solidFill>
                <a:latin typeface="Lexend"/>
              </a:rPr>
              <a:t>Grade 7 Accelerated · Unit 5 · Lessons 2–3 — Scale Factor: Perimeter and Area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40" b="0" i="0">
                <a:solidFill>
                  <a:srgbClr val="6B6B6B"/>
                </a:solidFill>
                <a:latin typeface="Lexend"/>
              </a:rPr>
              <a:t>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1389888"/>
            <a:ext cx="10607040" cy="40233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380" b="1" i="0">
                <a:solidFill>
                  <a:srgbClr val="1A1A1A"/>
                </a:solidFill>
                <a:latin typeface="Lexend"/>
              </a:rPr>
              <a:t>I.  Every side × k, so the perimeter × k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777240" y="1828800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10" name="Picture 9" descr="g75b63e5073dba849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37560" y="1993392"/>
            <a:ext cx="5486400" cy="2387065"/>
          </a:xfrm>
          <a:prstGeom prst="rect">
            <a:avLst/>
          </a:prstGeom>
        </p:spPr>
      </p:pic>
      <p:pic>
        <p:nvPicPr>
          <p:cNvPr id="11" name="Picture 10" descr="6b863e3a4ccebf87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71315" y="4572862"/>
            <a:ext cx="4818888" cy="28956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420" b="1" i="0">
                <a:solidFill>
                  <a:srgbClr val="1A1A1A"/>
                </a:solidFill>
                <a:latin typeface="Lexend"/>
              </a:rPr>
              <a:t>Notes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40" b="0" i="0">
                <a:solidFill>
                  <a:srgbClr val="6B6B6B"/>
                </a:solidFill>
                <a:latin typeface="Lexend"/>
              </a:rPr>
              <a:t>Grade 7 Accelerated · Unit 5 · Lessons 2–3 — Scale Factor: Perimeter and Area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40" b="0" i="0">
                <a:solidFill>
                  <a:srgbClr val="6B6B6B"/>
                </a:solidFill>
                <a:latin typeface="Lexend"/>
              </a:rPr>
              <a:t>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1389888"/>
            <a:ext cx="10607040" cy="40233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380" b="1" i="0">
                <a:solidFill>
                  <a:srgbClr val="1A1A1A"/>
                </a:solidFill>
                <a:latin typeface="Lexend"/>
              </a:rPr>
              <a:t>II.  Area is two lengths, so the area × k × k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777240" y="1828800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10" name="Picture 9" descr="g6f6e25f38207935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60520" y="1993392"/>
            <a:ext cx="3840480" cy="2708030"/>
          </a:xfrm>
          <a:prstGeom prst="rect">
            <a:avLst/>
          </a:prstGeom>
        </p:spPr>
      </p:pic>
      <p:pic>
        <p:nvPicPr>
          <p:cNvPr id="11" name="Picture 10" descr="3072c2893096e23b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506724" y="4847726"/>
            <a:ext cx="5148072" cy="341376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420" b="1" i="0">
                <a:solidFill>
                  <a:srgbClr val="1A1A1A"/>
                </a:solidFill>
                <a:latin typeface="Lexend"/>
              </a:rPr>
              <a:t>Notes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40" b="0" i="0">
                <a:solidFill>
                  <a:srgbClr val="6B6B6B"/>
                </a:solidFill>
                <a:latin typeface="Lexend"/>
              </a:rPr>
              <a:t>Grade 7 Accelerated · Unit 5 · Lessons 2–3 — Scale Factor: Perimeter and Area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40" b="0" i="0">
                <a:solidFill>
                  <a:srgbClr val="6B6B6B"/>
                </a:solidFill>
                <a:latin typeface="Lexend"/>
              </a:rPr>
              <a:t>7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1389888"/>
            <a:ext cx="10607040" cy="40233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380" b="1" i="0">
                <a:solidFill>
                  <a:srgbClr val="1A1A1A"/>
                </a:solidFill>
                <a:latin typeface="Lexend"/>
              </a:rPr>
              <a:t>III.  From two areas back to k: a square root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777240" y="1828800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10" name="Picture 9" descr="8fb9d177b623a6cc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16251" y="1993391"/>
            <a:ext cx="8129016" cy="676656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987552" y="3008375"/>
            <a:ext cx="10131551" cy="475488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180" b="1" i="0">
                <a:solidFill>
                  <a:srgbClr val="1A1A1A"/>
                </a:solidFill>
                <a:latin typeface="Lexend"/>
              </a:rPr>
              <a:t>Area ratio = k</a:t>
            </a:r>
            <a:r>
              <a:rPr sz="2180" b="1" i="0" baseline="30000">
                <a:solidFill>
                  <a:srgbClr val="1A1A1A"/>
                </a:solidFill>
                <a:latin typeface="Lexend"/>
              </a:rPr>
              <a:t>2</a:t>
            </a:r>
            <a:r>
              <a:rPr sz="2180" b="1" i="0">
                <a:solidFill>
                  <a:srgbClr val="1A1A1A"/>
                </a:solidFill>
                <a:latin typeface="Lexend"/>
              </a:rPr>
              <a:t>. k = the square root of the area ratio.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420" b="1" i="0">
                <a:solidFill>
                  <a:srgbClr val="1A1A1A"/>
                </a:solidFill>
                <a:latin typeface="Lexend"/>
              </a:rPr>
              <a:t>Example 1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40" b="0" i="0">
                <a:solidFill>
                  <a:srgbClr val="6B6B6B"/>
                </a:solidFill>
                <a:latin typeface="Lexend"/>
              </a:rPr>
              <a:t>Grade 7 Accelerated · Unit 5 · Lessons 2–3 — Scale Factor: Perimeter and Area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40" b="0" i="0">
                <a:solidFill>
                  <a:srgbClr val="6B6B6B"/>
                </a:solidFill>
                <a:latin typeface="Lexend"/>
              </a:rPr>
              <a:t>8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844932" y="2080260"/>
            <a:ext cx="5861407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280" b="0" i="0">
                <a:solidFill>
                  <a:srgbClr val="1A1A1A"/>
                </a:solidFill>
                <a:latin typeface="Lexend"/>
              </a:rPr>
              <a:t>A 2 cm by 4 cm rectangle is scaled by </a:t>
            </a:r>
          </a:p>
        </p:txBody>
      </p:sp>
      <p:pic>
        <p:nvPicPr>
          <p:cNvPr id="9" name="Picture 8" descr="8058f93241672fd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569179" y="2192845"/>
            <a:ext cx="604266" cy="235267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9173445" y="2080260"/>
            <a:ext cx="280301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280" b="0" i="0">
                <a:solidFill>
                  <a:srgbClr val="1A1A1A"/>
                </a:solidFill>
                <a:latin typeface="Lexend"/>
              </a:rPr>
              <a:t>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2971800"/>
            <a:ext cx="10607040" cy="42937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280" b="1" i="0">
                <a:solidFill>
                  <a:srgbClr val="1A1A1A"/>
                </a:solidFill>
                <a:latin typeface="Lexend"/>
              </a:rPr>
              <a:t>Find the copy's perimeter and area.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420" b="1" i="0">
                <a:solidFill>
                  <a:srgbClr val="1A1A1A"/>
                </a:solidFill>
                <a:latin typeface="Lexend"/>
              </a:rPr>
              <a:t>Example 1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40" b="0" i="0">
                <a:solidFill>
                  <a:srgbClr val="6B6B6B"/>
                </a:solidFill>
                <a:latin typeface="Lexend"/>
              </a:rPr>
              <a:t>Grade 7 Accelerated · Unit 5 · Lessons 2–3 — Scale Factor: Perimeter and Area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40" b="0" i="0">
                <a:solidFill>
                  <a:srgbClr val="6B6B6B"/>
                </a:solidFill>
                <a:latin typeface="Lexend"/>
              </a:rPr>
              <a:t>9</a:t>
            </a:r>
          </a:p>
        </p:txBody>
      </p:sp>
      <p:pic>
        <p:nvPicPr>
          <p:cNvPr id="8" name="Picture 7" descr="13da73618c3a5c8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8800" y="1920240"/>
            <a:ext cx="5065776" cy="353568"/>
          </a:xfrm>
          <a:prstGeom prst="rect">
            <a:avLst/>
          </a:prstGeom>
        </p:spPr>
      </p:pic>
      <p:pic>
        <p:nvPicPr>
          <p:cNvPr id="9" name="Picture 8" descr="da9b199f35923b38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28800" y="2548128"/>
            <a:ext cx="4386072" cy="341376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777240" y="4572000"/>
            <a:ext cx="1060704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3040" b="1" i="0">
                <a:solidFill>
                  <a:srgbClr val="9E1B32"/>
                </a:solidFill>
                <a:latin typeface="Lexend"/>
              </a:rPr>
              <a:t>Answer:   P = 36 cm, A = 72 cm</a:t>
            </a:r>
            <a:r>
              <a:rPr sz="3040" b="1" i="0" baseline="30000">
                <a:solidFill>
                  <a:srgbClr val="9E1B32"/>
                </a:solidFill>
                <a:latin typeface="Lexend"/>
              </a:rPr>
              <a:t>2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420" b="1" i="0">
                <a:solidFill>
                  <a:srgbClr val="1A1A1A"/>
                </a:solidFill>
                <a:latin typeface="Lexend"/>
              </a:rPr>
              <a:t>Your Turn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40" b="0" i="0">
                <a:solidFill>
                  <a:srgbClr val="6B6B6B"/>
                </a:solidFill>
                <a:latin typeface="Lexend"/>
              </a:rPr>
              <a:t>Grade 7 Accelerated · Unit 5 · Lessons 2–3 — Scale Factor: Perimeter and Area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40" b="0" i="0">
                <a:solidFill>
                  <a:srgbClr val="6B6B6B"/>
                </a:solidFill>
                <a:latin typeface="Lexend"/>
              </a:rPr>
              <a:t>10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843901" y="1577340"/>
            <a:ext cx="5836229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280" b="0" i="0">
                <a:solidFill>
                  <a:srgbClr val="1A1A1A"/>
                </a:solidFill>
                <a:latin typeface="Lexend"/>
              </a:rPr>
              <a:t>A 3 cm by 6 cm rectangle is scaled by </a:t>
            </a:r>
          </a:p>
        </p:txBody>
      </p:sp>
      <p:pic>
        <p:nvPicPr>
          <p:cNvPr id="9" name="Picture 8" descr="6c1f342e4d84335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542970" y="1687449"/>
            <a:ext cx="631507" cy="232791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9174477" y="1577340"/>
            <a:ext cx="280301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280" b="0" i="0">
                <a:solidFill>
                  <a:srgbClr val="1A1A1A"/>
                </a:solidFill>
                <a:latin typeface="Lexend"/>
              </a:rPr>
              <a:t>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2286000"/>
            <a:ext cx="10607040" cy="42937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280" b="0" i="0">
                <a:solidFill>
                  <a:srgbClr val="1A1A1A"/>
                </a:solidFill>
                <a:latin typeface="Lexend"/>
              </a:rPr>
              <a:t>Find the copy's perimeter and area.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420" b="1" i="0">
                <a:solidFill>
                  <a:srgbClr val="1A1A1A"/>
                </a:solidFill>
                <a:latin typeface="Lexend"/>
              </a:rPr>
              <a:t>Your Turn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40" b="0" i="0">
                <a:solidFill>
                  <a:srgbClr val="6B6B6B"/>
                </a:solidFill>
                <a:latin typeface="Lexend"/>
              </a:rPr>
              <a:t>Grade 7 Accelerated · Unit 5 · Lessons 2–3 — Scale Factor: Perimeter and Area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40" b="0" i="0">
                <a:solidFill>
                  <a:srgbClr val="6B6B6B"/>
                </a:solidFill>
                <a:latin typeface="Lexend"/>
              </a:rPr>
              <a:t>11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842662" y="1577340"/>
            <a:ext cx="5836229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280" b="0" i="0">
                <a:solidFill>
                  <a:srgbClr val="1A1A1A"/>
                </a:solidFill>
                <a:latin typeface="Lexend"/>
              </a:rPr>
              <a:t>A 3 cm by 6 cm rectangle is scaled by </a:t>
            </a:r>
          </a:p>
        </p:txBody>
      </p:sp>
      <p:pic>
        <p:nvPicPr>
          <p:cNvPr id="9" name="Picture 8" descr="8818f8b25079015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541731" y="1687449"/>
            <a:ext cx="633984" cy="232791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9175715" y="1577340"/>
            <a:ext cx="280301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280" b="0" i="0">
                <a:solidFill>
                  <a:srgbClr val="1A1A1A"/>
                </a:solidFill>
                <a:latin typeface="Lexend"/>
              </a:rPr>
              <a:t>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2286000"/>
            <a:ext cx="10607040" cy="42937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280" b="0" i="0">
                <a:solidFill>
                  <a:srgbClr val="1A1A1A"/>
                </a:solidFill>
                <a:latin typeface="Lexend"/>
              </a:rPr>
              <a:t>Find the copy's perimeter and area.</a:t>
            </a:r>
          </a:p>
        </p:txBody>
      </p:sp>
      <p:pic>
        <p:nvPicPr>
          <p:cNvPr id="12" name="Picture 11" descr="a391ba38776033d7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94047" y="2992166"/>
            <a:ext cx="2109216" cy="252984"/>
          </a:xfrm>
          <a:prstGeom prst="rect">
            <a:avLst/>
          </a:prstGeom>
        </p:spPr>
      </p:pic>
      <p:pic>
        <p:nvPicPr>
          <p:cNvPr id="13" name="Picture 12" descr="30e6b9ad4e67f136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194047" y="3482894"/>
            <a:ext cx="3880104" cy="301752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777240" y="4572000"/>
            <a:ext cx="1060704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3040" b="1" i="0">
                <a:solidFill>
                  <a:srgbClr val="9E1B32"/>
                </a:solidFill>
                <a:latin typeface="Lexend"/>
              </a:rPr>
              <a:t>Answer:   P = 72 cm, A = 288 cm</a:t>
            </a:r>
            <a:r>
              <a:rPr sz="3040" b="1" i="0" baseline="30000">
                <a:solidFill>
                  <a:srgbClr val="9E1B32"/>
                </a:solidFill>
                <a:latin typeface="Lexend"/>
              </a:rPr>
              <a:t>2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420" b="1" i="0">
                <a:solidFill>
                  <a:srgbClr val="1A1A1A"/>
                </a:solidFill>
                <a:latin typeface="Lexend"/>
              </a:rPr>
              <a:t>Example 2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40" b="0" i="0">
                <a:solidFill>
                  <a:srgbClr val="6B6B6B"/>
                </a:solidFill>
                <a:latin typeface="Lexend"/>
              </a:rPr>
              <a:t>Grade 7 Accelerated · Unit 5 · Lessons 2–3 — Scale Factor: Perimeter and Area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40" b="0" i="0">
                <a:solidFill>
                  <a:srgbClr val="6B6B6B"/>
                </a:solidFill>
                <a:latin typeface="Lexend"/>
              </a:rPr>
              <a:t>12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181745" y="1714500"/>
            <a:ext cx="2863359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280" b="0" i="0">
                <a:solidFill>
                  <a:srgbClr val="1A1A1A"/>
                </a:solidFill>
                <a:latin typeface="Lexend"/>
              </a:rPr>
              <a:t>A figure has area </a:t>
            </a:r>
          </a:p>
        </p:txBody>
      </p:sp>
      <p:pic>
        <p:nvPicPr>
          <p:cNvPr id="9" name="Picture 8" descr="bd8ae361e3ef131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07945" y="1784985"/>
            <a:ext cx="928687" cy="277368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7836632" y="1714500"/>
            <a:ext cx="280301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280" b="0" i="0">
                <a:solidFill>
                  <a:srgbClr val="1A1A1A"/>
                </a:solidFill>
                <a:latin typeface="Lexend"/>
              </a:rPr>
              <a:t>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24433" y="2400300"/>
            <a:ext cx="3745193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280" b="0" i="0">
                <a:solidFill>
                  <a:srgbClr val="1A1A1A"/>
                </a:solidFill>
                <a:latin typeface="Lexend"/>
              </a:rPr>
              <a:t>Its scale copy has area </a:t>
            </a:r>
          </a:p>
        </p:txBody>
      </p:sp>
      <p:pic>
        <p:nvPicPr>
          <p:cNvPr id="12" name="Picture 11" descr="310dff147270a8e7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32467" y="2470785"/>
            <a:ext cx="1161478" cy="277368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8393945" y="2400300"/>
            <a:ext cx="280301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280" b="0" i="0">
                <a:solidFill>
                  <a:srgbClr val="1A1A1A"/>
                </a:solidFill>
                <a:latin typeface="Lexend"/>
              </a:rPr>
              <a:t>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77240" y="3108960"/>
            <a:ext cx="10607040" cy="42937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280" b="0" i="0">
                <a:solidFill>
                  <a:srgbClr val="1A1A1A"/>
                </a:solidFill>
                <a:latin typeface="Lexend"/>
              </a:rPr>
              <a:t>A side of the original is 3 cm.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77240" y="3830938"/>
            <a:ext cx="10607040" cy="42937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280" b="1" i="0">
                <a:solidFill>
                  <a:srgbClr val="1A1A1A"/>
                </a:solidFill>
                <a:latin typeface="Lexend"/>
              </a:rPr>
              <a:t>Find k, then the matching side of the copy.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420" b="1" i="0">
                <a:solidFill>
                  <a:srgbClr val="1A1A1A"/>
                </a:solidFill>
                <a:latin typeface="Lexend"/>
              </a:rPr>
              <a:t>Example 2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40" b="0" i="0">
                <a:solidFill>
                  <a:srgbClr val="6B6B6B"/>
                </a:solidFill>
                <a:latin typeface="Lexend"/>
              </a:rPr>
              <a:t>Grade 7 Accelerated · Unit 5 · Lessons 2–3 — Scale Factor: Perimeter and Area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40" b="0" i="0">
                <a:solidFill>
                  <a:srgbClr val="6B6B6B"/>
                </a:solidFill>
                <a:latin typeface="Lexend"/>
              </a:rPr>
              <a:t>13</a:t>
            </a:r>
          </a:p>
        </p:txBody>
      </p:sp>
      <p:pic>
        <p:nvPicPr>
          <p:cNvPr id="8" name="Picture 7" descr="c237a4a459a457b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8800" y="1920240"/>
            <a:ext cx="2252472" cy="676656"/>
          </a:xfrm>
          <a:prstGeom prst="rect">
            <a:avLst/>
          </a:prstGeom>
        </p:spPr>
      </p:pic>
      <p:pic>
        <p:nvPicPr>
          <p:cNvPr id="9" name="Picture 8" descr="c1463e20ee37a92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28800" y="2871215"/>
            <a:ext cx="4255008" cy="478536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777240" y="4572000"/>
            <a:ext cx="1060704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3040" b="1" i="0">
                <a:solidFill>
                  <a:srgbClr val="9E1B32"/>
                </a:solidFill>
                <a:latin typeface="Lexend"/>
              </a:rPr>
              <a:t>Answer:   k = 4; the side is 12 cm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420" b="1" i="0">
                <a:solidFill>
                  <a:srgbClr val="1A1A1A"/>
                </a:solidFill>
                <a:latin typeface="Lexend"/>
              </a:rPr>
              <a:t>Your Turn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40" b="0" i="0">
                <a:solidFill>
                  <a:srgbClr val="6B6B6B"/>
                </a:solidFill>
                <a:latin typeface="Lexend"/>
              </a:rPr>
              <a:t>Grade 7 Accelerated · Unit 5 · Lessons 2–3 — Scale Factor: Perimeter and Area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40" b="0" i="0">
                <a:solidFill>
                  <a:srgbClr val="6B6B6B"/>
                </a:solidFill>
                <a:latin typeface="Lexend"/>
              </a:rPr>
              <a:t>14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185460" y="1577340"/>
            <a:ext cx="2863359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280" b="0" i="0">
                <a:solidFill>
                  <a:srgbClr val="1A1A1A"/>
                </a:solidFill>
                <a:latin typeface="Lexend"/>
              </a:rPr>
              <a:t>A figure has area </a:t>
            </a:r>
          </a:p>
        </p:txBody>
      </p:sp>
      <p:pic>
        <p:nvPicPr>
          <p:cNvPr id="9" name="Picture 8" descr="e2be393dbf6293b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11660" y="1647825"/>
            <a:ext cx="921258" cy="277368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7832918" y="1577340"/>
            <a:ext cx="280301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280" b="0" i="0">
                <a:solidFill>
                  <a:srgbClr val="1A1A1A"/>
                </a:solidFill>
                <a:latin typeface="Lexend"/>
              </a:rPr>
              <a:t>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24433" y="2263140"/>
            <a:ext cx="3745193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280" b="0" i="0">
                <a:solidFill>
                  <a:srgbClr val="1A1A1A"/>
                </a:solidFill>
                <a:latin typeface="Lexend"/>
              </a:rPr>
              <a:t>Its scale copy has area </a:t>
            </a:r>
          </a:p>
        </p:txBody>
      </p:sp>
      <p:pic>
        <p:nvPicPr>
          <p:cNvPr id="12" name="Picture 11" descr="cecd9b8e3fec7cab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32467" y="2333625"/>
            <a:ext cx="1161478" cy="277368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8393945" y="2263140"/>
            <a:ext cx="280301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280" b="0" i="0">
                <a:solidFill>
                  <a:srgbClr val="1A1A1A"/>
                </a:solidFill>
                <a:latin typeface="Lexend"/>
              </a:rPr>
              <a:t>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77240" y="2971800"/>
            <a:ext cx="10607040" cy="42937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280" b="0" i="0">
                <a:solidFill>
                  <a:srgbClr val="1A1A1A"/>
                </a:solidFill>
                <a:latin typeface="Lexend"/>
              </a:rPr>
              <a:t>A side of the original is 2 cm.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863723" y="3488038"/>
            <a:ext cx="943575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280" b="0" i="0">
                <a:solidFill>
                  <a:srgbClr val="1A1A1A"/>
                </a:solidFill>
                <a:latin typeface="Lexend"/>
              </a:rPr>
              <a:t>Find </a:t>
            </a:r>
          </a:p>
        </p:txBody>
      </p:sp>
      <p:pic>
        <p:nvPicPr>
          <p:cNvPr id="16" name="Picture 15" descr="5ad8b479ac3620e2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670139" y="3598147"/>
            <a:ext cx="153543" cy="232791"/>
          </a:xfrm>
          <a:prstGeom prst="rect">
            <a:avLst/>
          </a:prstGeom>
        </p:spPr>
      </p:pic>
      <p:sp>
        <p:nvSpPr>
          <p:cNvPr id="17" name="TextBox 16"/>
          <p:cNvSpPr txBox="1"/>
          <p:nvPr/>
        </p:nvSpPr>
        <p:spPr>
          <a:xfrm>
            <a:off x="3823682" y="3488038"/>
            <a:ext cx="5611274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280" b="0" i="0">
                <a:solidFill>
                  <a:srgbClr val="1A1A1A"/>
                </a:solidFill>
                <a:latin typeface="Lexend"/>
              </a:rPr>
              <a:t>, then the matching side of the copy.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420" b="1" i="0">
                <a:solidFill>
                  <a:srgbClr val="1A1A1A"/>
                </a:solidFill>
                <a:latin typeface="Lexend"/>
              </a:rPr>
              <a:t>Your Turn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40" b="0" i="0">
                <a:solidFill>
                  <a:srgbClr val="6B6B6B"/>
                </a:solidFill>
                <a:latin typeface="Lexend"/>
              </a:rPr>
              <a:t>Grade 7 Accelerated · Unit 5 · Lessons 2–3 — Scale Factor: Perimeter and Area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40" b="0" i="0">
                <a:solidFill>
                  <a:srgbClr val="6B6B6B"/>
                </a:solidFill>
                <a:latin typeface="Lexend"/>
              </a:rPr>
              <a:t>15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185460" y="1577340"/>
            <a:ext cx="2863359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280" b="0" i="0">
                <a:solidFill>
                  <a:srgbClr val="1A1A1A"/>
                </a:solidFill>
                <a:latin typeface="Lexend"/>
              </a:rPr>
              <a:t>A figure has area </a:t>
            </a:r>
          </a:p>
        </p:txBody>
      </p:sp>
      <p:pic>
        <p:nvPicPr>
          <p:cNvPr id="9" name="Picture 8" descr="55ca388921d9bd6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11660" y="1647825"/>
            <a:ext cx="921258" cy="277368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7832918" y="1577340"/>
            <a:ext cx="280301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280" b="0" i="0">
                <a:solidFill>
                  <a:srgbClr val="1A1A1A"/>
                </a:solidFill>
                <a:latin typeface="Lexend"/>
              </a:rPr>
              <a:t>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23194" y="2263140"/>
            <a:ext cx="3745193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280" b="0" i="0">
                <a:solidFill>
                  <a:srgbClr val="1A1A1A"/>
                </a:solidFill>
                <a:latin typeface="Lexend"/>
              </a:rPr>
              <a:t>Its scale copy has area </a:t>
            </a:r>
          </a:p>
        </p:txBody>
      </p:sp>
      <p:pic>
        <p:nvPicPr>
          <p:cNvPr id="12" name="Picture 11" descr="8fab6492a088d5c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31228" y="2333625"/>
            <a:ext cx="1163955" cy="277368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8395183" y="2263140"/>
            <a:ext cx="280301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280" b="0" i="0">
                <a:solidFill>
                  <a:srgbClr val="1A1A1A"/>
                </a:solidFill>
                <a:latin typeface="Lexend"/>
              </a:rPr>
              <a:t>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77240" y="2971800"/>
            <a:ext cx="10607040" cy="42937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280" b="0" i="0">
                <a:solidFill>
                  <a:srgbClr val="1A1A1A"/>
                </a:solidFill>
                <a:latin typeface="Lexend"/>
              </a:rPr>
              <a:t>A side of the original is 2 cm.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863723" y="3488038"/>
            <a:ext cx="943575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280" b="0" i="0">
                <a:solidFill>
                  <a:srgbClr val="1A1A1A"/>
                </a:solidFill>
                <a:latin typeface="Lexend"/>
              </a:rPr>
              <a:t>Find </a:t>
            </a:r>
          </a:p>
        </p:txBody>
      </p:sp>
      <p:pic>
        <p:nvPicPr>
          <p:cNvPr id="16" name="Picture 15" descr="5ad8b479ac3620e2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670139" y="3598147"/>
            <a:ext cx="153543" cy="232791"/>
          </a:xfrm>
          <a:prstGeom prst="rect">
            <a:avLst/>
          </a:prstGeom>
        </p:spPr>
      </p:pic>
      <p:sp>
        <p:nvSpPr>
          <p:cNvPr id="17" name="TextBox 16"/>
          <p:cNvSpPr txBox="1"/>
          <p:nvPr/>
        </p:nvSpPr>
        <p:spPr>
          <a:xfrm>
            <a:off x="3823682" y="3488038"/>
            <a:ext cx="5611274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280" b="0" i="0">
                <a:solidFill>
                  <a:srgbClr val="1A1A1A"/>
                </a:solidFill>
                <a:latin typeface="Lexend"/>
              </a:rPr>
              <a:t>, then the matching side of the copy.</a:t>
            </a:r>
          </a:p>
        </p:txBody>
      </p:sp>
      <p:pic>
        <p:nvPicPr>
          <p:cNvPr id="18" name="Picture 17" descr="a02b1beb298b5d94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206240" y="4269850"/>
            <a:ext cx="2048256" cy="609600"/>
          </a:xfrm>
          <a:prstGeom prst="rect">
            <a:avLst/>
          </a:prstGeom>
        </p:spPr>
      </p:pic>
      <p:pic>
        <p:nvPicPr>
          <p:cNvPr id="19" name="Picture 18" descr="c6b6368f1cca46d2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206240" y="5007466"/>
            <a:ext cx="3861816" cy="432816"/>
          </a:xfrm>
          <a:prstGeom prst="rect">
            <a:avLst/>
          </a:prstGeom>
        </p:spPr>
      </p:pic>
      <p:sp>
        <p:nvSpPr>
          <p:cNvPr id="20" name="TextBox 19"/>
          <p:cNvSpPr txBox="1"/>
          <p:nvPr/>
        </p:nvSpPr>
        <p:spPr>
          <a:xfrm>
            <a:off x="777240" y="5577442"/>
            <a:ext cx="1060704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3040" b="1" i="0">
                <a:solidFill>
                  <a:srgbClr val="9E1B32"/>
                </a:solidFill>
                <a:latin typeface="Lexend"/>
              </a:rPr>
              <a:t>Answer:   k = 5; the side is 10 cm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229" b="1" i="0">
                <a:solidFill>
                  <a:srgbClr val="1A1A1A"/>
                </a:solidFill>
                <a:latin typeface="Lexend"/>
              </a:rPr>
              <a:t>Whiteboards   ·   Question 1 of 9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40" b="0" i="0">
                <a:solidFill>
                  <a:srgbClr val="6B6B6B"/>
                </a:solidFill>
                <a:latin typeface="Lexend"/>
              </a:rPr>
              <a:t>Grade 7 Accelerated · Unit 5 · Lessons 2–3 — Scale Factor: Perimeter and Area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40" b="0" i="0">
                <a:solidFill>
                  <a:srgbClr val="6B6B6B"/>
                </a:solidFill>
                <a:latin typeface="Lexend"/>
              </a:rPr>
              <a:t>16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234440" y="1851660"/>
            <a:ext cx="6522483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280" b="0" i="0">
                <a:solidFill>
                  <a:srgbClr val="1A1A1A"/>
                </a:solidFill>
                <a:latin typeface="Lexend"/>
              </a:rPr>
              <a:t>A figure with perimeter 14 cm is scaled by </a:t>
            </a:r>
          </a:p>
        </p:txBody>
      </p:sp>
      <p:pic>
        <p:nvPicPr>
          <p:cNvPr id="9" name="Picture 8" descr="df787c7f4ce7736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19763" y="1961769"/>
            <a:ext cx="611695" cy="232791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8231458" y="1851660"/>
            <a:ext cx="280301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280" b="0" i="0">
                <a:solidFill>
                  <a:srgbClr val="1A1A1A"/>
                </a:solidFill>
                <a:latin typeface="Lexend"/>
              </a:rPr>
              <a:t>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234440" y="2487168"/>
            <a:ext cx="10058400" cy="42937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280" b="1" i="0">
                <a:solidFill>
                  <a:srgbClr val="1A1A1A"/>
                </a:solidFill>
                <a:latin typeface="Lexend"/>
              </a:rPr>
              <a:t>What is the copy's perimeter?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7240" y="4343400"/>
            <a:ext cx="1060704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470" b="1" i="0">
                <a:solidFill>
                  <a:srgbClr val="1A1A1A"/>
                </a:solidFill>
                <a:latin typeface="Lexend"/>
              </a:rPr>
              <a:t>Answer it.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229" b="1" i="0">
                <a:solidFill>
                  <a:srgbClr val="1A1A1A"/>
                </a:solidFill>
                <a:latin typeface="Lexend"/>
              </a:rPr>
              <a:t>Whiteboards   ·   Question 1 of 9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40" b="0" i="0">
                <a:solidFill>
                  <a:srgbClr val="6B6B6B"/>
                </a:solidFill>
                <a:latin typeface="Lexend"/>
              </a:rPr>
              <a:t>Grade 7 Accelerated · Unit 5 · Lessons 2–3 — Scale Factor: Perimeter and Area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40" b="0" i="0">
                <a:solidFill>
                  <a:srgbClr val="6B6B6B"/>
                </a:solidFill>
                <a:latin typeface="Lexend"/>
              </a:rPr>
              <a:t>17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234440" y="1851660"/>
            <a:ext cx="6522483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280" b="0" i="0">
                <a:solidFill>
                  <a:srgbClr val="1A1A1A"/>
                </a:solidFill>
                <a:latin typeface="Lexend"/>
              </a:rPr>
              <a:t>A figure with perimeter 14 cm is scaled by </a:t>
            </a:r>
          </a:p>
        </p:txBody>
      </p:sp>
      <p:pic>
        <p:nvPicPr>
          <p:cNvPr id="9" name="Picture 8" descr="bcf4e6c09f084e3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19763" y="1961769"/>
            <a:ext cx="614172" cy="232791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8233935" y="1851660"/>
            <a:ext cx="280301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280" b="0" i="0">
                <a:solidFill>
                  <a:srgbClr val="1A1A1A"/>
                </a:solidFill>
                <a:latin typeface="Lexend"/>
              </a:rPr>
              <a:t>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234440" y="2487168"/>
            <a:ext cx="10058400" cy="42937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280" b="1" i="0">
                <a:solidFill>
                  <a:srgbClr val="1A1A1A"/>
                </a:solidFill>
                <a:latin typeface="Lexend"/>
              </a:rPr>
              <a:t>What is the copy's perimeter?</a:t>
            </a:r>
          </a:p>
        </p:txBody>
      </p:sp>
      <p:pic>
        <p:nvPicPr>
          <p:cNvPr id="12" name="Picture 11" descr="d860927724a30923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56859" y="3242102"/>
            <a:ext cx="1554480" cy="249935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777240" y="4663440"/>
            <a:ext cx="1060704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3040" b="1" i="0">
                <a:solidFill>
                  <a:srgbClr val="9E1B32"/>
                </a:solidFill>
                <a:latin typeface="Lexend"/>
              </a:rPr>
              <a:t>Answer:   28 cm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229" b="1" i="0">
                <a:solidFill>
                  <a:srgbClr val="1A1A1A"/>
                </a:solidFill>
                <a:latin typeface="Lexend"/>
              </a:rPr>
              <a:t>Whiteboards   ·   Question 2 of 9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40" b="0" i="0">
                <a:solidFill>
                  <a:srgbClr val="6B6B6B"/>
                </a:solidFill>
                <a:latin typeface="Lexend"/>
              </a:rPr>
              <a:t>Grade 7 Accelerated · Unit 5 · Lessons 2–3 — Scale Factor: Perimeter and Area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40" b="0" i="0">
                <a:solidFill>
                  <a:srgbClr val="6B6B6B"/>
                </a:solidFill>
                <a:latin typeface="Lexend"/>
              </a:rPr>
              <a:t>18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234440" y="1851660"/>
            <a:ext cx="2970766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280" b="0" i="0">
                <a:solidFill>
                  <a:srgbClr val="1A1A1A"/>
                </a:solidFill>
                <a:latin typeface="Lexend"/>
              </a:rPr>
              <a:t>A figure with area </a:t>
            </a:r>
          </a:p>
        </p:txBody>
      </p:sp>
      <p:pic>
        <p:nvPicPr>
          <p:cNvPr id="9" name="Picture 8" descr="e2be393dbf6293b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68046" y="1922145"/>
            <a:ext cx="921258" cy="277368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4989304" y="1851660"/>
            <a:ext cx="2105866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280" b="0" i="0">
                <a:solidFill>
                  <a:srgbClr val="1A1A1A"/>
                </a:solidFill>
                <a:latin typeface="Lexend"/>
              </a:rPr>
              <a:t> is scaled by </a:t>
            </a:r>
          </a:p>
        </p:txBody>
      </p:sp>
      <p:pic>
        <p:nvPicPr>
          <p:cNvPr id="11" name="Picture 10" descr="df787c7f4ce7736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58010" y="1961769"/>
            <a:ext cx="611695" cy="232791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7569706" y="1851660"/>
            <a:ext cx="280301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280" b="0" i="0">
                <a:solidFill>
                  <a:srgbClr val="1A1A1A"/>
                </a:solidFill>
                <a:latin typeface="Lexend"/>
              </a:rPr>
              <a:t>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234440" y="2487168"/>
            <a:ext cx="10058400" cy="42937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280" b="1" i="0">
                <a:solidFill>
                  <a:srgbClr val="1A1A1A"/>
                </a:solidFill>
                <a:latin typeface="Lexend"/>
              </a:rPr>
              <a:t>What is the copy's area?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77240" y="4343400"/>
            <a:ext cx="1060704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470" b="1" i="0">
                <a:solidFill>
                  <a:srgbClr val="1A1A1A"/>
                </a:solidFill>
                <a:latin typeface="Lexend"/>
              </a:rPr>
              <a:t>Answer it.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229" b="1" i="0">
                <a:solidFill>
                  <a:srgbClr val="1A1A1A"/>
                </a:solidFill>
                <a:latin typeface="Lexend"/>
              </a:rPr>
              <a:t>Whiteboards   ·   Question 2 of 9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40" b="0" i="0">
                <a:solidFill>
                  <a:srgbClr val="6B6B6B"/>
                </a:solidFill>
                <a:latin typeface="Lexend"/>
              </a:rPr>
              <a:t>Grade 7 Accelerated · Unit 5 · Lessons 2–3 — Scale Factor: Perimeter and Area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40" b="0" i="0">
                <a:solidFill>
                  <a:srgbClr val="6B6B6B"/>
                </a:solidFill>
                <a:latin typeface="Lexend"/>
              </a:rPr>
              <a:t>19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234440" y="1851660"/>
            <a:ext cx="2970766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280" b="0" i="0">
                <a:solidFill>
                  <a:srgbClr val="1A1A1A"/>
                </a:solidFill>
                <a:latin typeface="Lexend"/>
              </a:rPr>
              <a:t>A figure with area </a:t>
            </a:r>
          </a:p>
        </p:txBody>
      </p:sp>
      <p:pic>
        <p:nvPicPr>
          <p:cNvPr id="9" name="Picture 8" descr="55ca388921d9bd6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68046" y="1922145"/>
            <a:ext cx="921258" cy="277368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4989304" y="1851660"/>
            <a:ext cx="2105866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280" b="0" i="0">
                <a:solidFill>
                  <a:srgbClr val="1A1A1A"/>
                </a:solidFill>
                <a:latin typeface="Lexend"/>
              </a:rPr>
              <a:t> is scaled by </a:t>
            </a:r>
          </a:p>
        </p:txBody>
      </p:sp>
      <p:pic>
        <p:nvPicPr>
          <p:cNvPr id="11" name="Picture 10" descr="bcf4e6c09f084e30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58010" y="1961769"/>
            <a:ext cx="614172" cy="232791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7572182" y="1851660"/>
            <a:ext cx="280301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280" b="0" i="0">
                <a:solidFill>
                  <a:srgbClr val="1A1A1A"/>
                </a:solidFill>
                <a:latin typeface="Lexend"/>
              </a:rPr>
              <a:t>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234440" y="2487168"/>
            <a:ext cx="10058400" cy="42937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280" b="1" i="0">
                <a:solidFill>
                  <a:srgbClr val="1A1A1A"/>
                </a:solidFill>
                <a:latin typeface="Lexend"/>
              </a:rPr>
              <a:t>What is the copy's area?</a:t>
            </a:r>
          </a:p>
        </p:txBody>
      </p:sp>
      <p:pic>
        <p:nvPicPr>
          <p:cNvPr id="14" name="Picture 13" descr="427887251510c88c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80203" y="3190286"/>
            <a:ext cx="2910840" cy="301752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777240" y="4663440"/>
            <a:ext cx="1060704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3040" b="1" i="0">
                <a:solidFill>
                  <a:srgbClr val="9E1B32"/>
                </a:solidFill>
                <a:latin typeface="Lexend"/>
              </a:rPr>
              <a:t>Answer:   48 cm</a:t>
            </a:r>
            <a:r>
              <a:rPr sz="3040" b="1" i="0" baseline="30000">
                <a:solidFill>
                  <a:srgbClr val="9E1B32"/>
                </a:solidFill>
                <a:latin typeface="Lexend"/>
              </a:rPr>
              <a:t>2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229" b="1" i="0">
                <a:solidFill>
                  <a:srgbClr val="1A1A1A"/>
                </a:solidFill>
                <a:latin typeface="Lexend"/>
              </a:rPr>
              <a:t>Whiteboards   ·   Question 3 of 9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40" b="0" i="0">
                <a:solidFill>
                  <a:srgbClr val="6B6B6B"/>
                </a:solidFill>
                <a:latin typeface="Lexend"/>
              </a:rPr>
              <a:t>Grade 7 Accelerated · Unit 5 · Lessons 2–3 — Scale Factor: Perimeter and Area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40" b="0" i="0">
                <a:solidFill>
                  <a:srgbClr val="6B6B6B"/>
                </a:solidFill>
                <a:latin typeface="Lexend"/>
              </a:rPr>
              <a:t>20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234440" y="1917096"/>
            <a:ext cx="2970766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280" b="0" i="0">
                <a:solidFill>
                  <a:srgbClr val="1A1A1A"/>
                </a:solidFill>
                <a:latin typeface="Lexend"/>
              </a:rPr>
              <a:t>A figure with area </a:t>
            </a:r>
          </a:p>
        </p:txBody>
      </p:sp>
      <p:pic>
        <p:nvPicPr>
          <p:cNvPr id="9" name="Picture 8" descr="b19c87c68c43583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68046" y="1987581"/>
            <a:ext cx="988123" cy="277368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5056169" y="1917096"/>
            <a:ext cx="2105866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280" b="0" i="0">
                <a:solidFill>
                  <a:srgbClr val="1A1A1A"/>
                </a:solidFill>
                <a:latin typeface="Lexend"/>
              </a:rPr>
              <a:t> is scaled by </a:t>
            </a:r>
          </a:p>
        </p:txBody>
      </p:sp>
      <p:pic>
        <p:nvPicPr>
          <p:cNvPr id="11" name="Picture 10" descr="025ad037a3e872cb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24876" y="1874519"/>
            <a:ext cx="624078" cy="542353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7648954" y="1917096"/>
            <a:ext cx="280301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280" b="0" i="0">
                <a:solidFill>
                  <a:srgbClr val="1A1A1A"/>
                </a:solidFill>
                <a:latin typeface="Lexend"/>
              </a:rPr>
              <a:t>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234440" y="2618041"/>
            <a:ext cx="10058400" cy="42937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280" b="1" i="0">
                <a:solidFill>
                  <a:srgbClr val="1A1A1A"/>
                </a:solidFill>
                <a:latin typeface="Lexend"/>
              </a:rPr>
              <a:t>What is the copy's area?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77240" y="4343400"/>
            <a:ext cx="1060704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470" b="1" i="0">
                <a:solidFill>
                  <a:srgbClr val="1A1A1A"/>
                </a:solidFill>
                <a:latin typeface="Lexend"/>
              </a:rPr>
              <a:t>Answer it.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229" b="1" i="0">
                <a:solidFill>
                  <a:srgbClr val="1A1A1A"/>
                </a:solidFill>
                <a:latin typeface="Lexend"/>
              </a:rPr>
              <a:t>Whiteboards   ·   Question 3 of 9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40" b="0" i="0">
                <a:solidFill>
                  <a:srgbClr val="6B6B6B"/>
                </a:solidFill>
                <a:latin typeface="Lexend"/>
              </a:rPr>
              <a:t>Grade 7 Accelerated · Unit 5 · Lessons 2–3 — Scale Factor: Perimeter and Area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40" b="0" i="0">
                <a:solidFill>
                  <a:srgbClr val="6B6B6B"/>
                </a:solidFill>
                <a:latin typeface="Lexend"/>
              </a:rPr>
              <a:t>21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234440" y="1918334"/>
            <a:ext cx="2970766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280" b="0" i="0">
                <a:solidFill>
                  <a:srgbClr val="1A1A1A"/>
                </a:solidFill>
                <a:latin typeface="Lexend"/>
              </a:rPr>
              <a:t>A figure with area </a:t>
            </a:r>
          </a:p>
        </p:txBody>
      </p:sp>
      <p:pic>
        <p:nvPicPr>
          <p:cNvPr id="9" name="Picture 8" descr="7a8fa05a0e6e099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68046" y="1988819"/>
            <a:ext cx="988123" cy="277368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5056169" y="1918334"/>
            <a:ext cx="2105866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280" b="0" i="0">
                <a:solidFill>
                  <a:srgbClr val="1A1A1A"/>
                </a:solidFill>
                <a:latin typeface="Lexend"/>
              </a:rPr>
              <a:t> is scaled by </a:t>
            </a:r>
          </a:p>
        </p:txBody>
      </p:sp>
      <p:pic>
        <p:nvPicPr>
          <p:cNvPr id="11" name="Picture 10" descr="343adb895dd9d070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24876" y="1874519"/>
            <a:ext cx="621601" cy="544830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7646477" y="1918334"/>
            <a:ext cx="280301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280" b="0" i="0">
                <a:solidFill>
                  <a:srgbClr val="1A1A1A"/>
                </a:solidFill>
                <a:latin typeface="Lexend"/>
              </a:rPr>
              <a:t>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234440" y="2620518"/>
            <a:ext cx="10058400" cy="42937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280" b="1" i="0">
                <a:solidFill>
                  <a:srgbClr val="1A1A1A"/>
                </a:solidFill>
                <a:latin typeface="Lexend"/>
              </a:rPr>
              <a:t>What is the copy's area?</a:t>
            </a:r>
          </a:p>
        </p:txBody>
      </p:sp>
      <p:pic>
        <p:nvPicPr>
          <p:cNvPr id="14" name="Picture 13" descr="ba1e3c512174bce1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401311" y="3278488"/>
            <a:ext cx="3474720" cy="612648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777240" y="4663440"/>
            <a:ext cx="1060704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3040" b="1" i="0">
                <a:solidFill>
                  <a:srgbClr val="9E1B32"/>
                </a:solidFill>
                <a:latin typeface="Lexend"/>
              </a:rPr>
              <a:t>Answer:   12 cm</a:t>
            </a:r>
            <a:r>
              <a:rPr sz="3040" b="1" i="0" baseline="30000">
                <a:solidFill>
                  <a:srgbClr val="9E1B32"/>
                </a:solidFill>
                <a:latin typeface="Lexend"/>
              </a:rPr>
              <a:t>2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229" b="1" i="0">
                <a:solidFill>
                  <a:srgbClr val="1A1A1A"/>
                </a:solidFill>
                <a:latin typeface="Lexend"/>
              </a:rPr>
              <a:t>Whiteboards   ·   Question 4 of 9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40" b="0" i="0">
                <a:solidFill>
                  <a:srgbClr val="6B6B6B"/>
                </a:solidFill>
                <a:latin typeface="Lexend"/>
              </a:rPr>
              <a:t>Grade 7 Accelerated · Unit 5 · Lessons 2–3 — Scale Factor: Perimeter and Area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40" b="0" i="0">
                <a:solidFill>
                  <a:srgbClr val="6B6B6B"/>
                </a:solidFill>
                <a:latin typeface="Lexend"/>
              </a:rPr>
              <a:t>22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234440" y="1851660"/>
            <a:ext cx="2970766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280" b="0" i="0">
                <a:solidFill>
                  <a:srgbClr val="1A1A1A"/>
                </a:solidFill>
                <a:latin typeface="Lexend"/>
              </a:rPr>
              <a:t>A figure with area </a:t>
            </a:r>
          </a:p>
        </p:txBody>
      </p:sp>
      <p:pic>
        <p:nvPicPr>
          <p:cNvPr id="9" name="Picture 8" descr="53750b0735fbfcbb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68046" y="1922145"/>
            <a:ext cx="941069" cy="277368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5009116" y="1851660"/>
            <a:ext cx="2105866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280" b="0" i="0">
                <a:solidFill>
                  <a:srgbClr val="1A1A1A"/>
                </a:solidFill>
                <a:latin typeface="Lexend"/>
              </a:rPr>
              <a:t> is scaled by </a:t>
            </a:r>
          </a:p>
        </p:txBody>
      </p:sp>
      <p:pic>
        <p:nvPicPr>
          <p:cNvPr id="11" name="Picture 10" descr="8058f93241672fda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77822" y="1964245"/>
            <a:ext cx="604266" cy="235267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7582088" y="1851660"/>
            <a:ext cx="280301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280" b="0" i="0">
                <a:solidFill>
                  <a:srgbClr val="1A1A1A"/>
                </a:solidFill>
                <a:latin typeface="Lexend"/>
              </a:rPr>
              <a:t>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234440" y="2487168"/>
            <a:ext cx="10058400" cy="42937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280" b="1" i="0">
                <a:solidFill>
                  <a:srgbClr val="1A1A1A"/>
                </a:solidFill>
                <a:latin typeface="Lexend"/>
              </a:rPr>
              <a:t>What is the copy's area?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691640" y="3218290"/>
            <a:ext cx="59436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280" b="1" i="0">
                <a:solidFill>
                  <a:srgbClr val="1A1A1A"/>
                </a:solidFill>
                <a:latin typeface="Lexend"/>
              </a:rPr>
              <a:t>A.</a:t>
            </a:r>
          </a:p>
        </p:txBody>
      </p:sp>
      <p:pic>
        <p:nvPicPr>
          <p:cNvPr id="15" name="Picture 14" descr="78f7267bd6258a9f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258568" y="3209146"/>
            <a:ext cx="420624" cy="280416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6537959" y="3218290"/>
            <a:ext cx="59436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280" b="1" i="0">
                <a:solidFill>
                  <a:srgbClr val="1A1A1A"/>
                </a:solidFill>
                <a:latin typeface="Lexend"/>
              </a:rPr>
              <a:t>B.</a:t>
            </a:r>
          </a:p>
        </p:txBody>
      </p:sp>
      <p:pic>
        <p:nvPicPr>
          <p:cNvPr id="17" name="Picture 16" descr="b6b586116b6ce2a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104888" y="3209146"/>
            <a:ext cx="417576" cy="280416"/>
          </a:xfrm>
          <a:prstGeom prst="rect">
            <a:avLst/>
          </a:prstGeom>
        </p:spPr>
      </p:pic>
      <p:sp>
        <p:nvSpPr>
          <p:cNvPr id="18" name="TextBox 17"/>
          <p:cNvSpPr txBox="1"/>
          <p:nvPr/>
        </p:nvSpPr>
        <p:spPr>
          <a:xfrm>
            <a:off x="1691640" y="3830938"/>
            <a:ext cx="59436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280" b="1" i="0">
                <a:solidFill>
                  <a:srgbClr val="1A1A1A"/>
                </a:solidFill>
                <a:latin typeface="Lexend"/>
              </a:rPr>
              <a:t>C.</a:t>
            </a:r>
          </a:p>
        </p:txBody>
      </p:sp>
      <p:pic>
        <p:nvPicPr>
          <p:cNvPr id="19" name="Picture 18" descr="da98a1872183d6f8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258568" y="3824842"/>
            <a:ext cx="414528" cy="277368"/>
          </a:xfrm>
          <a:prstGeom prst="rect">
            <a:avLst/>
          </a:prstGeom>
        </p:spPr>
      </p:pic>
      <p:sp>
        <p:nvSpPr>
          <p:cNvPr id="20" name="TextBox 19"/>
          <p:cNvSpPr txBox="1"/>
          <p:nvPr/>
        </p:nvSpPr>
        <p:spPr>
          <a:xfrm>
            <a:off x="6537959" y="3830938"/>
            <a:ext cx="59436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280" b="1" i="0">
                <a:solidFill>
                  <a:srgbClr val="1A1A1A"/>
                </a:solidFill>
                <a:latin typeface="Lexend"/>
              </a:rPr>
              <a:t>D.</a:t>
            </a:r>
          </a:p>
        </p:txBody>
      </p:sp>
      <p:pic>
        <p:nvPicPr>
          <p:cNvPr id="21" name="Picture 20" descr="65ff48fc3d12dc08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104888" y="3824842"/>
            <a:ext cx="350520" cy="277368"/>
          </a:xfrm>
          <a:prstGeom prst="rect">
            <a:avLst/>
          </a:prstGeom>
        </p:spPr>
      </p:pic>
      <p:sp>
        <p:nvSpPr>
          <p:cNvPr id="22" name="TextBox 21"/>
          <p:cNvSpPr txBox="1"/>
          <p:nvPr/>
        </p:nvSpPr>
        <p:spPr>
          <a:xfrm>
            <a:off x="777240" y="4507594"/>
            <a:ext cx="1060704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470" b="1" i="0">
                <a:solidFill>
                  <a:srgbClr val="1A1A1A"/>
                </a:solidFill>
                <a:latin typeface="Lexend"/>
              </a:rPr>
              <a:t>Answer it.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229" b="1" i="0">
                <a:solidFill>
                  <a:srgbClr val="1A1A1A"/>
                </a:solidFill>
                <a:latin typeface="Lexend"/>
              </a:rPr>
              <a:t>Whiteboards   ·   Question 4 of 9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40" b="0" i="0">
                <a:solidFill>
                  <a:srgbClr val="6B6B6B"/>
                </a:solidFill>
                <a:latin typeface="Lexend"/>
              </a:rPr>
              <a:t>Grade 7 Accelerated · Unit 5 · Lessons 2–3 — Scale Factor: Perimeter and Area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40" b="0" i="0">
                <a:solidFill>
                  <a:srgbClr val="6B6B6B"/>
                </a:solidFill>
                <a:latin typeface="Lexend"/>
              </a:rPr>
              <a:t>23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234440" y="1851660"/>
            <a:ext cx="2970766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280" b="0" i="0">
                <a:solidFill>
                  <a:srgbClr val="1A1A1A"/>
                </a:solidFill>
                <a:latin typeface="Lexend"/>
              </a:rPr>
              <a:t>A figure with area </a:t>
            </a:r>
          </a:p>
        </p:txBody>
      </p:sp>
      <p:pic>
        <p:nvPicPr>
          <p:cNvPr id="9" name="Picture 8" descr="b2d2e2a1dc91141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68046" y="1922145"/>
            <a:ext cx="941069" cy="277368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5009116" y="1851660"/>
            <a:ext cx="2105866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280" b="0" i="0">
                <a:solidFill>
                  <a:srgbClr val="1A1A1A"/>
                </a:solidFill>
                <a:latin typeface="Lexend"/>
              </a:rPr>
              <a:t> is scaled by </a:t>
            </a:r>
          </a:p>
        </p:txBody>
      </p:sp>
      <p:pic>
        <p:nvPicPr>
          <p:cNvPr id="11" name="Picture 10" descr="217c156fbd4cb6e4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77822" y="1964245"/>
            <a:ext cx="606742" cy="235267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7584565" y="1851660"/>
            <a:ext cx="280301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280" b="0" i="0">
                <a:solidFill>
                  <a:srgbClr val="1A1A1A"/>
                </a:solidFill>
                <a:latin typeface="Lexend"/>
              </a:rPr>
              <a:t>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234440" y="2487168"/>
            <a:ext cx="10058400" cy="42937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280" b="1" i="0">
                <a:solidFill>
                  <a:srgbClr val="1A1A1A"/>
                </a:solidFill>
                <a:latin typeface="Lexend"/>
              </a:rPr>
              <a:t>What is the copy's area?</a:t>
            </a:r>
          </a:p>
        </p:txBody>
      </p:sp>
      <p:pic>
        <p:nvPicPr>
          <p:cNvPr id="14" name="Picture 13" descr="8413de0e199e541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80203" y="3190286"/>
            <a:ext cx="2910840" cy="304800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777240" y="4663440"/>
            <a:ext cx="1060704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3040" b="1" i="0">
                <a:solidFill>
                  <a:srgbClr val="9E1B32"/>
                </a:solidFill>
                <a:latin typeface="Lexend"/>
              </a:rPr>
              <a:t>Answer:   A — 90 cm</a:t>
            </a:r>
            <a:r>
              <a:rPr sz="3040" b="1" i="0" baseline="30000">
                <a:solidFill>
                  <a:srgbClr val="9E1B32"/>
                </a:solidFill>
                <a:latin typeface="Lexend"/>
              </a:rPr>
              <a:t>2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229" b="1" i="0">
                <a:solidFill>
                  <a:srgbClr val="1A1A1A"/>
                </a:solidFill>
                <a:latin typeface="Lexend"/>
              </a:rPr>
              <a:t>Whiteboards   ·   Question 5 of 9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40" b="0" i="0">
                <a:solidFill>
                  <a:srgbClr val="6B6B6B"/>
                </a:solidFill>
                <a:latin typeface="Lexend"/>
              </a:rPr>
              <a:t>Grade 7 Accelerated · Unit 5 · Lessons 2–3 — Scale Factor: Perimeter and Area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40" b="0" i="0">
                <a:solidFill>
                  <a:srgbClr val="6B6B6B"/>
                </a:solidFill>
                <a:latin typeface="Lexend"/>
              </a:rPr>
              <a:t>24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234440" y="1851660"/>
            <a:ext cx="2970766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280" b="0" i="0">
                <a:solidFill>
                  <a:srgbClr val="1A1A1A"/>
                </a:solidFill>
                <a:latin typeface="Lexend"/>
              </a:rPr>
              <a:t>A figure with area </a:t>
            </a:r>
          </a:p>
        </p:txBody>
      </p:sp>
      <p:pic>
        <p:nvPicPr>
          <p:cNvPr id="9" name="Picture 8" descr="987bd4d974e8c549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68046" y="1922145"/>
            <a:ext cx="787527" cy="277368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4855573" y="1851660"/>
            <a:ext cx="2105866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280" b="0" i="0">
                <a:solidFill>
                  <a:srgbClr val="1A1A1A"/>
                </a:solidFill>
                <a:latin typeface="Lexend"/>
              </a:rPr>
              <a:t> is scaled by </a:t>
            </a:r>
          </a:p>
        </p:txBody>
      </p:sp>
      <p:pic>
        <p:nvPicPr>
          <p:cNvPr id="11" name="Picture 10" descr="a3bca5590aab4c8c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24279" y="1964245"/>
            <a:ext cx="837057" cy="235267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7661336" y="1851660"/>
            <a:ext cx="280301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280" b="0" i="0">
                <a:solidFill>
                  <a:srgbClr val="1A1A1A"/>
                </a:solidFill>
                <a:latin typeface="Lexend"/>
              </a:rPr>
              <a:t>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234440" y="2487168"/>
            <a:ext cx="10058400" cy="42937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280" b="1" i="0">
                <a:solidFill>
                  <a:srgbClr val="1A1A1A"/>
                </a:solidFill>
                <a:latin typeface="Lexend"/>
              </a:rPr>
              <a:t>What is the copy's area?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77240" y="4343400"/>
            <a:ext cx="1060704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470" b="1" i="0">
                <a:solidFill>
                  <a:srgbClr val="1A1A1A"/>
                </a:solidFill>
                <a:latin typeface="Lexend"/>
              </a:rPr>
              <a:t>Answer it.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229" b="1" i="0">
                <a:solidFill>
                  <a:srgbClr val="1A1A1A"/>
                </a:solidFill>
                <a:latin typeface="Lexend"/>
              </a:rPr>
              <a:t>Whiteboards   ·   Question 5 of 9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40" b="0" i="0">
                <a:solidFill>
                  <a:srgbClr val="6B6B6B"/>
                </a:solidFill>
                <a:latin typeface="Lexend"/>
              </a:rPr>
              <a:t>Grade 7 Accelerated · Unit 5 · Lessons 2–3 — Scale Factor: Perimeter and Area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40" b="0" i="0">
                <a:solidFill>
                  <a:srgbClr val="6B6B6B"/>
                </a:solidFill>
                <a:latin typeface="Lexend"/>
              </a:rPr>
              <a:t>25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234440" y="1851660"/>
            <a:ext cx="2970766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280" b="0" i="0">
                <a:solidFill>
                  <a:srgbClr val="1A1A1A"/>
                </a:solidFill>
                <a:latin typeface="Lexend"/>
              </a:rPr>
              <a:t>A figure with area </a:t>
            </a:r>
          </a:p>
        </p:txBody>
      </p:sp>
      <p:pic>
        <p:nvPicPr>
          <p:cNvPr id="9" name="Picture 8" descr="f4873bb202c1b73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68046" y="1922145"/>
            <a:ext cx="787527" cy="277368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4855573" y="1851660"/>
            <a:ext cx="2105866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280" b="0" i="0">
                <a:solidFill>
                  <a:srgbClr val="1A1A1A"/>
                </a:solidFill>
                <a:latin typeface="Lexend"/>
              </a:rPr>
              <a:t> is scaled by </a:t>
            </a:r>
          </a:p>
        </p:txBody>
      </p:sp>
      <p:pic>
        <p:nvPicPr>
          <p:cNvPr id="11" name="Picture 10" descr="c0265cf83ecf017f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24279" y="1964245"/>
            <a:ext cx="839533" cy="235267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7663813" y="1851660"/>
            <a:ext cx="280301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280" b="0" i="0">
                <a:solidFill>
                  <a:srgbClr val="1A1A1A"/>
                </a:solidFill>
                <a:latin typeface="Lexend"/>
              </a:rPr>
              <a:t>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234440" y="2487168"/>
            <a:ext cx="10058400" cy="42937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280" b="1" i="0">
                <a:solidFill>
                  <a:srgbClr val="1A1A1A"/>
                </a:solidFill>
                <a:latin typeface="Lexend"/>
              </a:rPr>
              <a:t>What is the copy's area?</a:t>
            </a:r>
          </a:p>
        </p:txBody>
      </p:sp>
      <p:pic>
        <p:nvPicPr>
          <p:cNvPr id="14" name="Picture 13" descr="3c70ee3fe6f12619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221223" y="3190286"/>
            <a:ext cx="1539240" cy="304800"/>
          </a:xfrm>
          <a:prstGeom prst="rect">
            <a:avLst/>
          </a:prstGeom>
        </p:spPr>
      </p:pic>
      <p:pic>
        <p:nvPicPr>
          <p:cNvPr id="15" name="Picture 14" descr="2e3c5fba163c0dbb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221223" y="3781598"/>
            <a:ext cx="1831848" cy="252984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777240" y="4663440"/>
            <a:ext cx="1060704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3040" b="1" i="0">
                <a:solidFill>
                  <a:srgbClr val="9E1B32"/>
                </a:solidFill>
                <a:latin typeface="Lexend"/>
              </a:rPr>
              <a:t>Answer:   18 cm</a:t>
            </a:r>
            <a:r>
              <a:rPr sz="3040" b="1" i="0" baseline="30000">
                <a:solidFill>
                  <a:srgbClr val="9E1B32"/>
                </a:solidFill>
                <a:latin typeface="Lexend"/>
              </a:rPr>
              <a:t>2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229" b="1" i="0">
                <a:solidFill>
                  <a:srgbClr val="1A1A1A"/>
                </a:solidFill>
                <a:latin typeface="Lexend"/>
              </a:rPr>
              <a:t>Whiteboards   ·   Question 6 of 9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40" b="0" i="0">
                <a:solidFill>
                  <a:srgbClr val="6B6B6B"/>
                </a:solidFill>
                <a:latin typeface="Lexend"/>
              </a:rPr>
              <a:t>Grade 7 Accelerated · Unit 5 · Lessons 2–3 — Scale Factor: Perimeter and Area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40" b="0" i="0">
                <a:solidFill>
                  <a:srgbClr val="6B6B6B"/>
                </a:solidFill>
                <a:latin typeface="Lexend"/>
              </a:rPr>
              <a:t>26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234440" y="1874519"/>
            <a:ext cx="10058400" cy="42937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280" b="0" i="0">
                <a:solidFill>
                  <a:srgbClr val="1A1A1A"/>
                </a:solidFill>
                <a:latin typeface="Lexend"/>
              </a:rPr>
              <a:t>A figure's perimeter is 20 cm; its copy's perimeter is 60 cm.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234440" y="2413618"/>
            <a:ext cx="10058400" cy="42937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280" b="1" i="0">
                <a:solidFill>
                  <a:srgbClr val="1A1A1A"/>
                </a:solidFill>
                <a:latin typeface="Lexend"/>
              </a:rPr>
              <a:t>What is the area ratio, copy to original?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691640" y="3144740"/>
            <a:ext cx="59436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280" b="1" i="0">
                <a:solidFill>
                  <a:srgbClr val="1A1A1A"/>
                </a:solidFill>
                <a:latin typeface="Lexend"/>
              </a:rPr>
              <a:t>A.</a:t>
            </a:r>
          </a:p>
        </p:txBody>
      </p:sp>
      <p:pic>
        <p:nvPicPr>
          <p:cNvPr id="11" name="Picture 10" descr="c003d31adc9c104f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58568" y="3132548"/>
            <a:ext cx="188976" cy="277368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6537959" y="3144740"/>
            <a:ext cx="59436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280" b="1" i="0">
                <a:solidFill>
                  <a:srgbClr val="1A1A1A"/>
                </a:solidFill>
                <a:latin typeface="Lexend"/>
              </a:rPr>
              <a:t>B.</a:t>
            </a:r>
          </a:p>
        </p:txBody>
      </p:sp>
      <p:pic>
        <p:nvPicPr>
          <p:cNvPr id="13" name="Picture 12" descr="899d09e1fb7976c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04888" y="3141692"/>
            <a:ext cx="185928" cy="274320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1691640" y="3757388"/>
            <a:ext cx="59436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280" b="1" i="0">
                <a:solidFill>
                  <a:srgbClr val="1A1A1A"/>
                </a:solidFill>
                <a:latin typeface="Lexend"/>
              </a:rPr>
              <a:t>C.</a:t>
            </a:r>
          </a:p>
        </p:txBody>
      </p:sp>
      <p:pic>
        <p:nvPicPr>
          <p:cNvPr id="15" name="Picture 14" descr="e3fffa01a271e38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258568" y="3751292"/>
            <a:ext cx="448056" cy="277368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6537959" y="3757388"/>
            <a:ext cx="59436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280" b="1" i="0">
                <a:solidFill>
                  <a:srgbClr val="1A1A1A"/>
                </a:solidFill>
                <a:latin typeface="Lexend"/>
              </a:rPr>
              <a:t>D.</a:t>
            </a:r>
          </a:p>
        </p:txBody>
      </p:sp>
      <p:pic>
        <p:nvPicPr>
          <p:cNvPr id="17" name="Picture 16" descr="5a99f83968c3ddd1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104888" y="3745196"/>
            <a:ext cx="192024" cy="277368"/>
          </a:xfrm>
          <a:prstGeom prst="rect">
            <a:avLst/>
          </a:prstGeom>
        </p:spPr>
      </p:pic>
      <p:sp>
        <p:nvSpPr>
          <p:cNvPr id="18" name="TextBox 17"/>
          <p:cNvSpPr txBox="1"/>
          <p:nvPr/>
        </p:nvSpPr>
        <p:spPr>
          <a:xfrm>
            <a:off x="777240" y="4434044"/>
            <a:ext cx="1060704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470" b="1" i="0">
                <a:solidFill>
                  <a:srgbClr val="1A1A1A"/>
                </a:solidFill>
                <a:latin typeface="Lexend"/>
              </a:rPr>
              <a:t>Answer it.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229" b="1" i="0">
                <a:solidFill>
                  <a:srgbClr val="1A1A1A"/>
                </a:solidFill>
                <a:latin typeface="Lexend"/>
              </a:rPr>
              <a:t>Whiteboards   ·   Question 6 of 9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40" b="0" i="0">
                <a:solidFill>
                  <a:srgbClr val="6B6B6B"/>
                </a:solidFill>
                <a:latin typeface="Lexend"/>
              </a:rPr>
              <a:t>Grade 7 Accelerated · Unit 5 · Lessons 2–3 — Scale Factor: Perimeter and Area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40" b="0" i="0">
                <a:solidFill>
                  <a:srgbClr val="6B6B6B"/>
                </a:solidFill>
                <a:latin typeface="Lexend"/>
              </a:rPr>
              <a:t>27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234440" y="1874519"/>
            <a:ext cx="10058400" cy="42937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280" b="0" i="0">
                <a:solidFill>
                  <a:srgbClr val="1A1A1A"/>
                </a:solidFill>
                <a:latin typeface="Lexend"/>
              </a:rPr>
              <a:t>A figure's perimeter is 20 cm; its copy's perimeter is 60 cm.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234440" y="2413618"/>
            <a:ext cx="10058400" cy="42937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280" b="1" i="0">
                <a:solidFill>
                  <a:srgbClr val="1A1A1A"/>
                </a:solidFill>
                <a:latin typeface="Lexend"/>
              </a:rPr>
              <a:t>What is the area ratio, copy to original?</a:t>
            </a:r>
          </a:p>
        </p:txBody>
      </p:sp>
      <p:pic>
        <p:nvPicPr>
          <p:cNvPr id="10" name="Picture 9" descr="9771a717e91a6ef7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26146" y="3071588"/>
            <a:ext cx="1452943" cy="615981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4679090" y="3150979"/>
            <a:ext cx="4505933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750" b="0" i="0">
                <a:solidFill>
                  <a:srgbClr val="1A1A1A"/>
                </a:solidFill>
                <a:latin typeface="Lexend"/>
              </a:rPr>
              <a:t>: the perimeter ratio is k</a:t>
            </a:r>
          </a:p>
        </p:txBody>
      </p:sp>
      <p:pic>
        <p:nvPicPr>
          <p:cNvPr id="12" name="Picture 11" descr="16227b3b3d8b10ab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26146" y="3852829"/>
            <a:ext cx="853535" cy="306609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4079681" y="3792726"/>
            <a:ext cx="2864708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750" b="0" i="0">
                <a:solidFill>
                  <a:srgbClr val="1A1A1A"/>
                </a:solidFill>
                <a:latin typeface="Lexend"/>
              </a:rPr>
              <a:t>: the area ratio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77240" y="4663440"/>
            <a:ext cx="1060704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3040" b="1" i="0">
                <a:solidFill>
                  <a:srgbClr val="9E1B32"/>
                </a:solidFill>
                <a:latin typeface="Lexend"/>
              </a:rPr>
              <a:t>Answer:   D — 9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229" b="1" i="0">
                <a:solidFill>
                  <a:srgbClr val="1A1A1A"/>
                </a:solidFill>
                <a:latin typeface="Lexend"/>
              </a:rPr>
              <a:t>Whiteboards   ·   Question 7 of 9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40" b="0" i="0">
                <a:solidFill>
                  <a:srgbClr val="6B6B6B"/>
                </a:solidFill>
                <a:latin typeface="Lexend"/>
              </a:rPr>
              <a:t>Grade 7 Accelerated · Unit 5 · Lessons 2–3 — Scale Factor: Perimeter and Area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40" b="0" i="0">
                <a:solidFill>
                  <a:srgbClr val="6B6B6B"/>
                </a:solidFill>
                <a:latin typeface="Lexend"/>
              </a:rPr>
              <a:t>28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234440" y="1917096"/>
            <a:ext cx="7338824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280" b="0" i="0">
                <a:solidFill>
                  <a:srgbClr val="1A1A1A"/>
                </a:solidFill>
                <a:latin typeface="Lexend"/>
              </a:rPr>
              <a:t>A triangle with sides 6, 8 and 10 cm is scaled by </a:t>
            </a:r>
          </a:p>
        </p:txBody>
      </p:sp>
      <p:pic>
        <p:nvPicPr>
          <p:cNvPr id="9" name="Picture 8" descr="025ad037a3e872cb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436104" y="1874519"/>
            <a:ext cx="624078" cy="542353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9060182" y="1917096"/>
            <a:ext cx="280301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280" b="0" i="0">
                <a:solidFill>
                  <a:srgbClr val="1A1A1A"/>
                </a:solidFill>
                <a:latin typeface="Lexend"/>
              </a:rPr>
              <a:t>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234440" y="2595181"/>
            <a:ext cx="1803529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280" b="0" i="0">
                <a:solidFill>
                  <a:srgbClr val="1A1A1A"/>
                </a:solidFill>
                <a:latin typeface="Lexend"/>
              </a:rPr>
              <a:t>Its area is </a:t>
            </a:r>
          </a:p>
        </p:txBody>
      </p:sp>
      <p:pic>
        <p:nvPicPr>
          <p:cNvPr id="12" name="Picture 11" descr="215415fd0592ff66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00809" y="2665666"/>
            <a:ext cx="970787" cy="277368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3871597" y="2595181"/>
            <a:ext cx="280301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280" b="0" i="0">
                <a:solidFill>
                  <a:srgbClr val="1A1A1A"/>
                </a:solidFill>
                <a:latin typeface="Lexend"/>
              </a:rPr>
              <a:t>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234440" y="3230689"/>
            <a:ext cx="10058400" cy="42937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280" b="1" i="0">
                <a:solidFill>
                  <a:srgbClr val="1A1A1A"/>
                </a:solidFill>
                <a:latin typeface="Lexend"/>
              </a:rPr>
              <a:t>Find the copy's perimeter and area.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77240" y="4343400"/>
            <a:ext cx="1060704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470" b="1" i="0">
                <a:solidFill>
                  <a:srgbClr val="1A1A1A"/>
                </a:solidFill>
                <a:latin typeface="Lexend"/>
              </a:rPr>
              <a:t>Answer it.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229" b="1" i="0">
                <a:solidFill>
                  <a:srgbClr val="1A1A1A"/>
                </a:solidFill>
                <a:latin typeface="Lexend"/>
              </a:rPr>
              <a:t>Whiteboards   ·   Question 7 of 9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40" b="0" i="0">
                <a:solidFill>
                  <a:srgbClr val="6B6B6B"/>
                </a:solidFill>
                <a:latin typeface="Lexend"/>
              </a:rPr>
              <a:t>Grade 7 Accelerated · Unit 5 · Lessons 2–3 — Scale Factor: Perimeter and Area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40" b="0" i="0">
                <a:solidFill>
                  <a:srgbClr val="6B6B6B"/>
                </a:solidFill>
                <a:latin typeface="Lexend"/>
              </a:rPr>
              <a:t>29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234440" y="1918334"/>
            <a:ext cx="7338824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280" b="0" i="0">
                <a:solidFill>
                  <a:srgbClr val="1A1A1A"/>
                </a:solidFill>
                <a:latin typeface="Lexend"/>
              </a:rPr>
              <a:t>A triangle with sides 6, 8 and 10 cm is scaled by </a:t>
            </a:r>
          </a:p>
        </p:txBody>
      </p:sp>
      <p:pic>
        <p:nvPicPr>
          <p:cNvPr id="9" name="Picture 8" descr="343adb895dd9d07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436104" y="1874519"/>
            <a:ext cx="621601" cy="54483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9057706" y="1918334"/>
            <a:ext cx="280301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280" b="0" i="0">
                <a:solidFill>
                  <a:srgbClr val="1A1A1A"/>
                </a:solidFill>
                <a:latin typeface="Lexend"/>
              </a:rPr>
              <a:t>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234440" y="2597658"/>
            <a:ext cx="1803529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280" b="0" i="0">
                <a:solidFill>
                  <a:srgbClr val="1A1A1A"/>
                </a:solidFill>
                <a:latin typeface="Lexend"/>
              </a:rPr>
              <a:t>Its area is </a:t>
            </a:r>
          </a:p>
        </p:txBody>
      </p:sp>
      <p:pic>
        <p:nvPicPr>
          <p:cNvPr id="12" name="Picture 11" descr="2662ac61bc7a43ea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00809" y="2668143"/>
            <a:ext cx="973264" cy="277368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3874073" y="2597658"/>
            <a:ext cx="280301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280" b="0" i="0">
                <a:solidFill>
                  <a:srgbClr val="1A1A1A"/>
                </a:solidFill>
                <a:latin typeface="Lexend"/>
              </a:rPr>
              <a:t>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234440" y="3233166"/>
            <a:ext cx="10058400" cy="42937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280" b="1" i="0">
                <a:solidFill>
                  <a:srgbClr val="1A1A1A"/>
                </a:solidFill>
                <a:latin typeface="Lexend"/>
              </a:rPr>
              <a:t>Find the copy's perimeter and area.</a:t>
            </a:r>
          </a:p>
        </p:txBody>
      </p:sp>
      <p:pic>
        <p:nvPicPr>
          <p:cNvPr id="15" name="Picture 14" descr="288a399f2ce56119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65775" y="3891136"/>
            <a:ext cx="2145792" cy="606552"/>
          </a:xfrm>
          <a:prstGeom prst="rect">
            <a:avLst/>
          </a:prstGeom>
        </p:spPr>
      </p:pic>
      <p:pic>
        <p:nvPicPr>
          <p:cNvPr id="16" name="Picture 15" descr="392447636256ad17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065775" y="4625704"/>
            <a:ext cx="2042160" cy="603504"/>
          </a:xfrm>
          <a:prstGeom prst="rect">
            <a:avLst/>
          </a:prstGeom>
        </p:spPr>
      </p:pic>
      <p:sp>
        <p:nvSpPr>
          <p:cNvPr id="17" name="TextBox 16"/>
          <p:cNvSpPr txBox="1"/>
          <p:nvPr/>
        </p:nvSpPr>
        <p:spPr>
          <a:xfrm>
            <a:off x="777240" y="5366368"/>
            <a:ext cx="1060704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3040" b="1" i="0">
                <a:solidFill>
                  <a:srgbClr val="9E1B32"/>
                </a:solidFill>
                <a:latin typeface="Lexend"/>
              </a:rPr>
              <a:t>Answer:   P = 12 cm, A = 6 cm</a:t>
            </a:r>
            <a:r>
              <a:rPr sz="3040" b="1" i="0" baseline="30000">
                <a:solidFill>
                  <a:srgbClr val="9E1B32"/>
                </a:solidFill>
                <a:latin typeface="Lexend"/>
              </a:rPr>
              <a:t>2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229" b="1" i="0">
                <a:solidFill>
                  <a:srgbClr val="1A1A1A"/>
                </a:solidFill>
                <a:latin typeface="Lexend"/>
              </a:rPr>
              <a:t>Whiteboards   ·   Question 8 of 9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40" b="0" i="0">
                <a:solidFill>
                  <a:srgbClr val="6B6B6B"/>
                </a:solidFill>
                <a:latin typeface="Lexend"/>
              </a:rPr>
              <a:t>Grade 7 Accelerated · Unit 5 · Lessons 2–3 — Scale Factor: Perimeter and Area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40" b="0" i="0">
                <a:solidFill>
                  <a:srgbClr val="6B6B6B"/>
                </a:solidFill>
                <a:latin typeface="Lexend"/>
              </a:rPr>
              <a:t>30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234440" y="1851660"/>
            <a:ext cx="8198278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280" b="0" i="0">
                <a:solidFill>
                  <a:srgbClr val="1A1A1A"/>
                </a:solidFill>
                <a:latin typeface="Lexend"/>
              </a:rPr>
              <a:t>A 4 in by 6 in photo, taken 3 years ago, is enlarged at </a:t>
            </a:r>
          </a:p>
        </p:txBody>
      </p:sp>
      <p:pic>
        <p:nvPicPr>
          <p:cNvPr id="9" name="Picture 8" descr="6f3278420c63264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295558" y="1964245"/>
            <a:ext cx="851916" cy="235267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10147474" y="1851660"/>
            <a:ext cx="280301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280" b="0" i="0">
                <a:solidFill>
                  <a:srgbClr val="1A1A1A"/>
                </a:solidFill>
                <a:latin typeface="Lexend"/>
              </a:rPr>
              <a:t>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234440" y="2487168"/>
            <a:ext cx="10058400" cy="42937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280" b="1" i="0">
                <a:solidFill>
                  <a:srgbClr val="1A1A1A"/>
                </a:solidFill>
                <a:latin typeface="Lexend"/>
              </a:rPr>
              <a:t>What is the enlargement's area?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7240" y="4343400"/>
            <a:ext cx="1060704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470" b="1" i="0">
                <a:solidFill>
                  <a:srgbClr val="1A1A1A"/>
                </a:solidFill>
                <a:latin typeface="Lexend"/>
              </a:rPr>
              <a:t>Answer it.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229" b="1" i="0">
                <a:solidFill>
                  <a:srgbClr val="1A1A1A"/>
                </a:solidFill>
                <a:latin typeface="Lexend"/>
              </a:rPr>
              <a:t>Whiteboards   ·   Question 8 of 9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40" b="0" i="0">
                <a:solidFill>
                  <a:srgbClr val="6B6B6B"/>
                </a:solidFill>
                <a:latin typeface="Lexend"/>
              </a:rPr>
              <a:t>Grade 7 Accelerated · Unit 5 · Lessons 2–3 — Scale Factor: Perimeter and Area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40" b="0" i="0">
                <a:solidFill>
                  <a:srgbClr val="6B6B6B"/>
                </a:solidFill>
                <a:latin typeface="Lexend"/>
              </a:rPr>
              <a:t>31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234440" y="1851660"/>
            <a:ext cx="8198278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280" b="0" i="0">
                <a:solidFill>
                  <a:srgbClr val="1A1A1A"/>
                </a:solidFill>
                <a:latin typeface="Lexend"/>
              </a:rPr>
              <a:t>A 4 in by 6 in photo, taken 3 years ago, is enlarged at </a:t>
            </a:r>
          </a:p>
        </p:txBody>
      </p:sp>
      <p:pic>
        <p:nvPicPr>
          <p:cNvPr id="9" name="Picture 8" descr="0faca9856b4fca4c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295558" y="1964245"/>
            <a:ext cx="854392" cy="235267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10149951" y="1851660"/>
            <a:ext cx="280301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280" b="0" i="0">
                <a:solidFill>
                  <a:srgbClr val="1A1A1A"/>
                </a:solidFill>
                <a:latin typeface="Lexend"/>
              </a:rPr>
              <a:t>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234440" y="2487168"/>
            <a:ext cx="10058400" cy="42937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280" b="1" i="0">
                <a:solidFill>
                  <a:srgbClr val="1A1A1A"/>
                </a:solidFill>
                <a:latin typeface="Lexend"/>
              </a:rPr>
              <a:t>What is the enlargement's area?</a:t>
            </a:r>
          </a:p>
        </p:txBody>
      </p:sp>
      <p:pic>
        <p:nvPicPr>
          <p:cNvPr id="12" name="Picture 11" descr="2a69d4576013abfc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83379" y="3236006"/>
            <a:ext cx="1996439" cy="252984"/>
          </a:xfrm>
          <a:prstGeom prst="rect">
            <a:avLst/>
          </a:prstGeom>
        </p:spPr>
      </p:pic>
      <p:pic>
        <p:nvPicPr>
          <p:cNvPr id="13" name="Picture 12" descr="f562745388bd6474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183379" y="3729782"/>
            <a:ext cx="3901440" cy="304800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777240" y="4663440"/>
            <a:ext cx="1060704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3040" b="1" i="0">
                <a:solidFill>
                  <a:srgbClr val="9E1B32"/>
                </a:solidFill>
                <a:latin typeface="Lexend"/>
              </a:rPr>
              <a:t>Answer:   150 in</a:t>
            </a:r>
            <a:r>
              <a:rPr sz="3040" b="1" i="0" baseline="30000">
                <a:solidFill>
                  <a:srgbClr val="9E1B32"/>
                </a:solidFill>
                <a:latin typeface="Lexend"/>
              </a:rPr>
              <a:t>2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229" b="1" i="0">
                <a:solidFill>
                  <a:srgbClr val="1A1A1A"/>
                </a:solidFill>
                <a:latin typeface="Lexend"/>
              </a:rPr>
              <a:t>Whiteboards   ·   Question 9 of 9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40" b="0" i="0">
                <a:solidFill>
                  <a:srgbClr val="6B6B6B"/>
                </a:solidFill>
                <a:latin typeface="Lexend"/>
              </a:rPr>
              <a:t>Grade 7 Accelerated · Unit 5 · Lessons 2–3 — Scale Factor: Perimeter and Area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40" b="0" i="0">
                <a:solidFill>
                  <a:srgbClr val="6B6B6B"/>
                </a:solidFill>
                <a:latin typeface="Lexend"/>
              </a:rPr>
              <a:t>32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234440" y="1874519"/>
            <a:ext cx="10058400" cy="42937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280" b="0" i="0">
                <a:solidFill>
                  <a:srgbClr val="1A1A1A"/>
                </a:solidFill>
                <a:latin typeface="Lexend"/>
              </a:rPr>
              <a:t>Jo says that doubling every side of a rectangle doubles its area.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234440" y="2413618"/>
            <a:ext cx="10058400" cy="42937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280" b="1" i="0">
                <a:solidFill>
                  <a:srgbClr val="1A1A1A"/>
                </a:solidFill>
                <a:latin typeface="Lexend"/>
              </a:rPr>
              <a:t>Explain why not, with a counterexample.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4343400"/>
            <a:ext cx="1060704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470" b="1" i="0">
                <a:solidFill>
                  <a:srgbClr val="1A1A1A"/>
                </a:solidFill>
                <a:latin typeface="Lexend"/>
              </a:rPr>
              <a:t>Write your answer in sentences.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229" b="1" i="0">
                <a:solidFill>
                  <a:srgbClr val="1A1A1A"/>
                </a:solidFill>
                <a:latin typeface="Lexend"/>
              </a:rPr>
              <a:t>Whiteboards   ·   Question 9 of 9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40" b="0" i="0">
                <a:solidFill>
                  <a:srgbClr val="6B6B6B"/>
                </a:solidFill>
                <a:latin typeface="Lexend"/>
              </a:rPr>
              <a:t>Grade 7 Accelerated · Unit 5 · Lessons 2–3 — Scale Factor: Perimeter and Area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40" b="0" i="0">
                <a:solidFill>
                  <a:srgbClr val="6B6B6B"/>
                </a:solidFill>
                <a:latin typeface="Lexend"/>
              </a:rPr>
              <a:t>33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234440" y="1874519"/>
            <a:ext cx="10058400" cy="42937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280" b="0" i="0">
                <a:solidFill>
                  <a:srgbClr val="1A1A1A"/>
                </a:solidFill>
                <a:latin typeface="Lexend"/>
              </a:rPr>
              <a:t>Jo says that doubling every side of a rectangle doubles its area.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234440" y="2413618"/>
            <a:ext cx="10058400" cy="42937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280" b="1" i="0">
                <a:solidFill>
                  <a:srgbClr val="1A1A1A"/>
                </a:solidFill>
                <a:latin typeface="Lexend"/>
              </a:rPr>
              <a:t>Explain why not, with a counterexample.</a:t>
            </a:r>
          </a:p>
        </p:txBody>
      </p:sp>
      <p:pic>
        <p:nvPicPr>
          <p:cNvPr id="10" name="Picture 9" descr="3b4f9ec07889518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82340" y="3162457"/>
            <a:ext cx="5306568" cy="256032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777240" y="4663440"/>
            <a:ext cx="10607040" cy="107289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3040" b="1" i="0">
                <a:solidFill>
                  <a:srgbClr val="9E1B32"/>
                </a:solidFill>
                <a:latin typeface="Lexend"/>
              </a:rPr>
              <a:t>Answer:   No: 2 by 7 doubled is 4 by 14, area 14 </a:t>
            </a:r>
            <a:r>
              <a:rPr sz="3040" b="1" i="0">
                <a:solidFill>
                  <a:srgbClr val="9E1B32"/>
                </a:solidFill>
                <a:latin typeface="Arial"/>
              </a:rPr>
              <a:t>→</a:t>
            </a:r>
            <a:r>
              <a:rPr sz="3040" b="1" i="0">
                <a:solidFill>
                  <a:srgbClr val="9E1B32"/>
                </a:solidFill>
                <a:latin typeface="Lexend"/>
              </a:rPr>
              <a:t> 56 — × 4, as both lengths doubled.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420" b="1" i="0">
                <a:solidFill>
                  <a:srgbClr val="1A1A1A"/>
                </a:solidFill>
                <a:latin typeface="Lexend"/>
              </a:rPr>
              <a:t>Independent Set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40" b="0" i="0">
                <a:solidFill>
                  <a:srgbClr val="6B6B6B"/>
                </a:solidFill>
                <a:latin typeface="Lexend"/>
              </a:rPr>
              <a:t>Grade 7 Accelerated · Unit 5 · Lessons 2–3 — Scale Factor: Perimeter and Area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40" b="0" i="0">
                <a:solidFill>
                  <a:srgbClr val="6B6B6B"/>
                </a:solidFill>
                <a:latin typeface="Lexend"/>
              </a:rPr>
              <a:t>34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60120" y="1497031"/>
            <a:ext cx="548640" cy="417443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1989" b="1" i="0">
                <a:solidFill>
                  <a:srgbClr val="0B5394"/>
                </a:solidFill>
                <a:latin typeface="Lexend"/>
              </a:rPr>
              <a:t>1.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554480" y="1497031"/>
            <a:ext cx="5722377" cy="417443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1989" b="0" i="0">
                <a:solidFill>
                  <a:srgbClr val="1A1A1A"/>
                </a:solidFill>
                <a:latin typeface="Lexend"/>
              </a:rPr>
              <a:t>A figure with perimeter 18 cm is scaled by </a:t>
            </a:r>
          </a:p>
        </p:txBody>
      </p:sp>
      <p:pic>
        <p:nvPicPr>
          <p:cNvPr id="10" name="Picture 9" descr="0937735c0d6e3897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39697" y="1598609"/>
            <a:ext cx="551025" cy="214287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7690723" y="1497031"/>
            <a:ext cx="3684047" cy="417443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1989" b="0" i="0">
                <a:solidFill>
                  <a:srgbClr val="1A1A1A"/>
                </a:solidFill>
                <a:latin typeface="Lexend"/>
              </a:rPr>
              <a:t>. Find the copy's perimeter.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60120" y="2028178"/>
            <a:ext cx="548640" cy="417443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1989" b="1" i="0">
                <a:solidFill>
                  <a:srgbClr val="0B5394"/>
                </a:solidFill>
                <a:latin typeface="Lexend"/>
              </a:rPr>
              <a:t>2.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554480" y="2028178"/>
            <a:ext cx="2625765" cy="417443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1989" b="0" i="0">
                <a:solidFill>
                  <a:srgbClr val="1A1A1A"/>
                </a:solidFill>
                <a:latin typeface="Lexend"/>
              </a:rPr>
              <a:t>A figure with area </a:t>
            </a:r>
          </a:p>
        </p:txBody>
      </p:sp>
      <p:pic>
        <p:nvPicPr>
          <p:cNvPr id="14" name="Picture 13" descr="15179f9c1b681126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43085" y="2110276"/>
            <a:ext cx="706870" cy="253249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4749956" y="2028178"/>
            <a:ext cx="1868822" cy="417443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1989" b="0" i="0">
                <a:solidFill>
                  <a:srgbClr val="1A1A1A"/>
                </a:solidFill>
                <a:latin typeface="Lexend"/>
              </a:rPr>
              <a:t> is scaled by </a:t>
            </a:r>
          </a:p>
        </p:txBody>
      </p:sp>
      <p:pic>
        <p:nvPicPr>
          <p:cNvPr id="16" name="Picture 15" descr="0937735c0d6e3897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81618" y="2129756"/>
            <a:ext cx="551025" cy="214287"/>
          </a:xfrm>
          <a:prstGeom prst="rect">
            <a:avLst/>
          </a:prstGeom>
        </p:spPr>
      </p:pic>
      <p:sp>
        <p:nvSpPr>
          <p:cNvPr id="17" name="TextBox 16"/>
          <p:cNvSpPr txBox="1"/>
          <p:nvPr/>
        </p:nvSpPr>
        <p:spPr>
          <a:xfrm>
            <a:off x="7032644" y="2028178"/>
            <a:ext cx="3032562" cy="417443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1989" b="0" i="0">
                <a:solidFill>
                  <a:srgbClr val="1A1A1A"/>
                </a:solidFill>
                <a:latin typeface="Lexend"/>
              </a:rPr>
              <a:t>. Find the copy's area.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60120" y="2619159"/>
            <a:ext cx="548640" cy="417443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1989" b="1" i="0">
                <a:solidFill>
                  <a:srgbClr val="0B5394"/>
                </a:solidFill>
                <a:latin typeface="Lexend"/>
              </a:rPr>
              <a:t>3.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554480" y="2619159"/>
            <a:ext cx="2625765" cy="417443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1989" b="0" i="0">
                <a:solidFill>
                  <a:srgbClr val="1A1A1A"/>
                </a:solidFill>
                <a:latin typeface="Lexend"/>
              </a:rPr>
              <a:t>A figure with area </a:t>
            </a:r>
          </a:p>
        </p:txBody>
      </p:sp>
      <p:pic>
        <p:nvPicPr>
          <p:cNvPr id="20" name="Picture 19" descr="f4387bd3ec8815b6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043085" y="2701256"/>
            <a:ext cx="910026" cy="253249"/>
          </a:xfrm>
          <a:prstGeom prst="rect">
            <a:avLst/>
          </a:prstGeom>
        </p:spPr>
      </p:pic>
      <p:sp>
        <p:nvSpPr>
          <p:cNvPr id="21" name="TextBox 20"/>
          <p:cNvSpPr txBox="1"/>
          <p:nvPr/>
        </p:nvSpPr>
        <p:spPr>
          <a:xfrm>
            <a:off x="4953112" y="2619159"/>
            <a:ext cx="1868822" cy="417443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1989" b="0" i="0">
                <a:solidFill>
                  <a:srgbClr val="1A1A1A"/>
                </a:solidFill>
                <a:latin typeface="Lexend"/>
              </a:rPr>
              <a:t> is scaled by </a:t>
            </a:r>
          </a:p>
        </p:txBody>
      </p:sp>
      <p:pic>
        <p:nvPicPr>
          <p:cNvPr id="22" name="Picture 21" descr="3bcf9a6d74a2c992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684774" y="2580198"/>
            <a:ext cx="570506" cy="495366"/>
          </a:xfrm>
          <a:prstGeom prst="rect">
            <a:avLst/>
          </a:prstGeom>
        </p:spPr>
      </p:pic>
      <p:sp>
        <p:nvSpPr>
          <p:cNvPr id="23" name="TextBox 22"/>
          <p:cNvSpPr txBox="1"/>
          <p:nvPr/>
        </p:nvSpPr>
        <p:spPr>
          <a:xfrm>
            <a:off x="7255280" y="2619159"/>
            <a:ext cx="3032562" cy="417443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1989" b="0" i="0">
                <a:solidFill>
                  <a:srgbClr val="1A1A1A"/>
                </a:solidFill>
                <a:latin typeface="Lexend"/>
              </a:rPr>
              <a:t>. Find the copy's area.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60120" y="3210140"/>
            <a:ext cx="548640" cy="417443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1989" b="1" i="0">
                <a:solidFill>
                  <a:srgbClr val="0B5394"/>
                </a:solidFill>
                <a:latin typeface="Lexend"/>
              </a:rPr>
              <a:t>4.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554480" y="3210140"/>
            <a:ext cx="5140832" cy="417443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1989" b="0" i="0">
                <a:solidFill>
                  <a:srgbClr val="1A1A1A"/>
                </a:solidFill>
                <a:latin typeface="Lexend"/>
              </a:rPr>
              <a:t>A 2 cm by 5 cm rectangle is scaled by </a:t>
            </a:r>
          </a:p>
        </p:txBody>
      </p:sp>
      <p:pic>
        <p:nvPicPr>
          <p:cNvPr id="26" name="Picture 25" descr="fc22e08664d80881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558152" y="3311718"/>
            <a:ext cx="779227" cy="214287"/>
          </a:xfrm>
          <a:prstGeom prst="rect">
            <a:avLst/>
          </a:prstGeom>
        </p:spPr>
      </p:pic>
      <p:sp>
        <p:nvSpPr>
          <p:cNvPr id="27" name="TextBox 26"/>
          <p:cNvSpPr txBox="1"/>
          <p:nvPr/>
        </p:nvSpPr>
        <p:spPr>
          <a:xfrm>
            <a:off x="7337380" y="3210140"/>
            <a:ext cx="3728608" cy="417443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1989" b="0" i="0">
                <a:solidFill>
                  <a:srgbClr val="1A1A1A"/>
                </a:solidFill>
                <a:latin typeface="Lexend"/>
              </a:rPr>
              <a:t>. Find the copy's perimeter 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554480" y="3613271"/>
            <a:ext cx="1446539" cy="417443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1989" b="0" i="0">
                <a:solidFill>
                  <a:srgbClr val="1A1A1A"/>
                </a:solidFill>
                <a:latin typeface="Lexend"/>
              </a:rPr>
              <a:t>and area.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60120" y="4144418"/>
            <a:ext cx="548640" cy="417443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1989" b="1" i="0">
                <a:solidFill>
                  <a:srgbClr val="0B5394"/>
                </a:solidFill>
                <a:latin typeface="Lexend"/>
              </a:rPr>
              <a:t>5.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554480" y="4144418"/>
            <a:ext cx="2531747" cy="417443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1989" b="0" i="0">
                <a:solidFill>
                  <a:srgbClr val="1A1A1A"/>
                </a:solidFill>
                <a:latin typeface="Lexend"/>
              </a:rPr>
              <a:t>A figure has area </a:t>
            </a:r>
          </a:p>
        </p:txBody>
      </p:sp>
      <p:pic>
        <p:nvPicPr>
          <p:cNvPr id="31" name="Picture 30" descr="edb32a36259546d5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949067" y="4226515"/>
            <a:ext cx="718002" cy="253249"/>
          </a:xfrm>
          <a:prstGeom prst="rect">
            <a:avLst/>
          </a:prstGeom>
        </p:spPr>
      </p:pic>
      <p:sp>
        <p:nvSpPr>
          <p:cNvPr id="32" name="TextBox 31"/>
          <p:cNvSpPr txBox="1"/>
          <p:nvPr/>
        </p:nvSpPr>
        <p:spPr>
          <a:xfrm>
            <a:off x="4667069" y="4144418"/>
            <a:ext cx="3899959" cy="417443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1989" b="0" i="0">
                <a:solidFill>
                  <a:srgbClr val="1A1A1A"/>
                </a:solidFill>
                <a:latin typeface="Lexend"/>
              </a:rPr>
              <a:t> and its scale copy has area </a:t>
            </a:r>
          </a:p>
        </p:txBody>
      </p:sp>
      <p:pic>
        <p:nvPicPr>
          <p:cNvPr id="33" name="Picture 32" descr="0db939c0bc0baa3c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429869" y="4226515"/>
            <a:ext cx="1043608" cy="253249"/>
          </a:xfrm>
          <a:prstGeom prst="rect">
            <a:avLst/>
          </a:prstGeom>
        </p:spPr>
      </p:pic>
      <p:sp>
        <p:nvSpPr>
          <p:cNvPr id="34" name="TextBox 33"/>
          <p:cNvSpPr txBox="1"/>
          <p:nvPr/>
        </p:nvSpPr>
        <p:spPr>
          <a:xfrm>
            <a:off x="9473478" y="4144418"/>
            <a:ext cx="988336" cy="417443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1989" b="0" i="0">
                <a:solidFill>
                  <a:srgbClr val="1A1A1A"/>
                </a:solidFill>
                <a:latin typeface="Lexend"/>
              </a:rPr>
              <a:t>. Find </a:t>
            </a:r>
          </a:p>
        </p:txBody>
      </p:sp>
      <p:pic>
        <p:nvPicPr>
          <p:cNvPr id="35" name="Picture 34" descr="15aa4a684a6a761c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0324654" y="4247388"/>
            <a:ext cx="141930" cy="211504"/>
          </a:xfrm>
          <a:prstGeom prst="rect">
            <a:avLst/>
          </a:prstGeom>
        </p:spPr>
      </p:pic>
      <p:sp>
        <p:nvSpPr>
          <p:cNvPr id="36" name="TextBox 35"/>
          <p:cNvSpPr txBox="1"/>
          <p:nvPr/>
        </p:nvSpPr>
        <p:spPr>
          <a:xfrm>
            <a:off x="10466585" y="4144418"/>
            <a:ext cx="271558" cy="417443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1989" b="0" i="0">
                <a:solidFill>
                  <a:srgbClr val="1A1A1A"/>
                </a:solidFill>
                <a:latin typeface="Lexend"/>
              </a:rPr>
              <a:t>.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960120" y="4675565"/>
            <a:ext cx="548640" cy="417443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1989" b="1" i="0">
                <a:solidFill>
                  <a:srgbClr val="0B5394"/>
                </a:solidFill>
                <a:latin typeface="Lexend"/>
              </a:rPr>
              <a:t>6.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554480" y="4675565"/>
            <a:ext cx="9925080" cy="417443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1989" b="0" i="0">
                <a:solidFill>
                  <a:srgbClr val="1A1A1A"/>
                </a:solidFill>
                <a:latin typeface="Lexend"/>
              </a:rPr>
              <a:t>A figure's perimeter is 12 cm and its copy's perimeter is 48 cm. What is the 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554480" y="5078696"/>
            <a:ext cx="3825124" cy="417443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1989" b="0" i="0">
                <a:solidFill>
                  <a:srgbClr val="1A1A1A"/>
                </a:solidFill>
                <a:latin typeface="Lexend"/>
              </a:rPr>
              <a:t>area ratio, copy to original?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420" b="1" i="0">
                <a:solidFill>
                  <a:srgbClr val="1A1A1A"/>
                </a:solidFill>
                <a:latin typeface="Lexend"/>
              </a:rPr>
              <a:t>IXL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40" b="0" i="0">
                <a:solidFill>
                  <a:srgbClr val="6B6B6B"/>
                </a:solidFill>
                <a:latin typeface="Lexend"/>
              </a:rPr>
              <a:t>Grade 7 Accelerated · Unit 5 · Lessons 2–3 — Scale Factor: Perimeter and Area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40" b="0" i="0">
                <a:solidFill>
                  <a:srgbClr val="6B6B6B"/>
                </a:solidFill>
                <a:latin typeface="Lexend"/>
              </a:rPr>
              <a:t>35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60120" y="1828800"/>
            <a:ext cx="548640" cy="35661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989" b="1" i="0">
                <a:solidFill>
                  <a:srgbClr val="0B5394"/>
                </a:solidFill>
                <a:latin typeface="Lexend"/>
              </a:rPr>
              <a:t>1.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554480" y="1828800"/>
            <a:ext cx="9829800" cy="4114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989" b="0" i="0">
                <a:solidFill>
                  <a:srgbClr val="1A1A1A"/>
                </a:solidFill>
                <a:latin typeface="Lexend"/>
              </a:rPr>
              <a:t>Open IXL and start today's skills.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60120" y="2331720"/>
            <a:ext cx="548640" cy="35661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989" b="1" i="0">
                <a:solidFill>
                  <a:srgbClr val="0B5394"/>
                </a:solidFill>
                <a:latin typeface="Lexend"/>
              </a:rPr>
              <a:t>2.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554480" y="2331720"/>
            <a:ext cx="9829800" cy="76809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989" b="0" i="0">
                <a:solidFill>
                  <a:srgbClr val="1A1A1A"/>
                </a:solidFill>
                <a:latin typeface="Lexend"/>
              </a:rPr>
              <a:t>Work on paper where the question needs work. The answer box does not show it.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60120" y="3191256"/>
            <a:ext cx="548640" cy="35661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989" b="1" i="0">
                <a:solidFill>
                  <a:srgbClr val="0B5394"/>
                </a:solidFill>
                <a:latin typeface="Lexend"/>
              </a:rPr>
              <a:t>3.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554480" y="3191256"/>
            <a:ext cx="9829800" cy="76809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989" b="0" i="0">
                <a:solidFill>
                  <a:srgbClr val="1A1A1A"/>
                </a:solidFill>
                <a:latin typeface="Lexend"/>
              </a:rPr>
              <a:t>Every skill listed is required, to a SmartScore of 67. Due at the start of the next class.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60120" y="4096511"/>
            <a:ext cx="1024128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989" b="1" i="0">
                <a:solidFill>
                  <a:srgbClr val="1A1A1A"/>
                </a:solidFill>
                <a:latin typeface="Lexend"/>
              </a:rPr>
              <a:t>Today's skills — all required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25880" y="4507992"/>
            <a:ext cx="9692640" cy="329184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810" b="0" i="0">
                <a:solidFill>
                  <a:srgbClr val="1A1A1A"/>
                </a:solidFill>
                <a:latin typeface="Lexend"/>
              </a:rPr>
              <a:t>Perimeter and area: changes in scale — ZC6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325880" y="4837176"/>
            <a:ext cx="9692640" cy="329184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810" b="0" i="0">
                <a:solidFill>
                  <a:srgbClr val="1A1A1A"/>
                </a:solidFill>
                <a:latin typeface="Lexend"/>
              </a:rPr>
              <a:t>Scale drawings: find the scale factor or missing side — XHM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