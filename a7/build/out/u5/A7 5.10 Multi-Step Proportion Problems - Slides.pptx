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10–11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problem that takes two or more proportional steps, including a unit conversion, and compare two rates given in different units.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57599"/>
            <a:ext cx="1882036" cy="291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0958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2" name="Picture 11" descr="90f92a5da9ad45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70247"/>
            <a:ext cx="1613852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36714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260e68e7601118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92388"/>
            <a:ext cx="1473827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57599"/>
            <a:ext cx="1882036" cy="291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0958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3971" y="1440180"/>
            <a:ext cx="1350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8.816 lb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3" name="Picture 12" descr="90f92a5da9ad45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70247"/>
            <a:ext cx="1613852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36714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19014" y="2052828"/>
            <a:ext cx="1310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150 km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260e68e7601118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92388"/>
            <a:ext cx="1473827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90178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735324"/>
            <a:ext cx="2840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60 miles per 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how much of one quantity per 1 of the other — 23 miles per 1 gallon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proportional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quantities whose ratio stays the same: double one, the other doubles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for each 1 — the word that marks a unit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One unit rate,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779836f7ad35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76" y="2221992"/>
            <a:ext cx="1010716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Compare rates in one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1182504396a8a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044" y="2225421"/>
            <a:ext cx="688543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unit first. Then compare.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Scale a recipe, then check the pantry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50a1b78c883b6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392" y="2194560"/>
            <a:ext cx="6650736" cy="673608"/>
          </a:xfrm>
          <a:prstGeom prst="rect">
            <a:avLst/>
          </a:prstGeom>
        </p:spPr>
      </p:pic>
      <p:pic>
        <p:nvPicPr>
          <p:cNvPr id="11" name="Picture 10" descr="f2b684c3a3f3c2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939" y="3276600"/>
            <a:ext cx="10073640" cy="3870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834" y="1771269"/>
            <a:ext cx="2340864" cy="3017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76698" y="1714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5 mi in 40 min; runner B does 9 km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785da30ee960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9696" cy="670560"/>
          </a:xfrm>
          <a:prstGeom prst="rect">
            <a:avLst/>
          </a:prstGeom>
        </p:spPr>
      </p:pic>
      <p:pic>
        <p:nvPicPr>
          <p:cNvPr id="9" name="Picture 8" descr="4fc8bab69cb80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874264" cy="670560"/>
          </a:xfrm>
          <a:prstGeom prst="rect">
            <a:avLst/>
          </a:prstGeom>
        </p:spPr>
      </p:pic>
      <p:pic>
        <p:nvPicPr>
          <p:cNvPr id="10" name="Picture 9" descr="3c725b51699ea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1615440" cy="667512"/>
          </a:xfrm>
          <a:prstGeom prst="rect">
            <a:avLst/>
          </a:prstGeom>
        </p:spPr>
      </p:pic>
      <p:pic>
        <p:nvPicPr>
          <p:cNvPr id="11" name="Picture 10" descr="8081506ef4a1aba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4751832"/>
            <a:ext cx="18592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≈ 12.08 km/h, B = 12 km/h: 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55c3fc7a368775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702" y="1600200"/>
            <a:ext cx="2929128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830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f6c1428a8fe5f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3226" y="1600200"/>
            <a:ext cx="2926080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69306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  <p:pic>
        <p:nvPicPr>
          <p:cNvPr id="12" name="Picture 11" descr="7b8f562dd79bcb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772" y="3483068"/>
            <a:ext cx="5251704" cy="606552"/>
          </a:xfrm>
          <a:prstGeom prst="rect">
            <a:avLst/>
          </a:prstGeom>
        </p:spPr>
      </p:pic>
      <p:pic>
        <p:nvPicPr>
          <p:cNvPr id="13" name="Picture 12" descr="fb86ceff55f1ba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9772" y="4217636"/>
            <a:ext cx="1603248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583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12.88 km/h, B = 12 km/h: 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0604" y="2145696"/>
            <a:ext cx="43777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8 servings uses </a:t>
            </a:r>
          </a:p>
        </p:txBody>
      </p:sp>
      <p:pic>
        <p:nvPicPr>
          <p:cNvPr id="9" name="Picture 8" descr="cfbc1da7a07fba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189" y="2103120"/>
            <a:ext cx="331851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93040" y="2145696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02673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rice for 20 servings? With 5 cups on hand, how many servings can be made?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2907b0d85da38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0120" cy="673608"/>
          </a:xfrm>
          <a:prstGeom prst="rect">
            <a:avLst/>
          </a:prstGeom>
        </p:spPr>
      </p:pic>
      <p:pic>
        <p:nvPicPr>
          <p:cNvPr id="9" name="Picture 8" descr="1b4354005a94a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8526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6¼ cups; 16 servings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7597" y="1642776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b8f565bf2384f7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438" y="1600200"/>
            <a:ext cx="304609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6047" y="1642776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2773" y="2998548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d0dda701f68944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350" y="2955971"/>
            <a:ext cx="361569" cy="54235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4919" y="2998548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0073" y="1644015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a256e78171c673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914" y="1600200"/>
            <a:ext cx="299656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3571" y="1644015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934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5249" y="3002263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e79d51c9125476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826" y="2958448"/>
            <a:ext cx="356616" cy="544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2442" y="3002263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  <p:pic>
        <p:nvPicPr>
          <p:cNvPr id="15" name="Picture 14" descr="9d4724fac4a280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3850750"/>
            <a:ext cx="3474720" cy="606552"/>
          </a:xfrm>
          <a:prstGeom prst="rect">
            <a:avLst/>
          </a:prstGeom>
        </p:spPr>
      </p:pic>
      <p:pic>
        <p:nvPicPr>
          <p:cNvPr id="16" name="Picture 15" descr="13f1547c75366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4585318"/>
            <a:ext cx="3712463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2903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cups; 18 servings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pic>
        <p:nvPicPr>
          <p:cNvPr id="10" name="Picture 9" descr="198d9d3f25b719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23" y="3168553"/>
            <a:ext cx="1981199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420 mi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pic>
        <p:nvPicPr>
          <p:cNvPr id="10" name="Picture 9" descr="a8e292b8cde33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667" y="3165505"/>
            <a:ext cx="234391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 min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pic>
        <p:nvPicPr>
          <p:cNvPr id="10" name="Picture 9" descr="7c445bb00f162a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435" y="3594875"/>
            <a:ext cx="4532376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$435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2df7627a7a480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994337"/>
            <a:ext cx="18288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3a373b7e630c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997385"/>
            <a:ext cx="384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b6172e6484e944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606985"/>
            <a:ext cx="39014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613081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9278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pic>
        <p:nvPicPr>
          <p:cNvPr id="10" name="Picture 9" descr="065daa35c97d27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39" y="3994337"/>
            <a:ext cx="4014215" cy="347472"/>
          </a:xfrm>
          <a:prstGeom prst="rect">
            <a:avLst/>
          </a:prstGeom>
        </p:spPr>
      </p:pic>
      <p:pic>
        <p:nvPicPr>
          <p:cNvPr id="11" name="Picture 10" descr="e083f958e2482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39" y="4554598"/>
            <a:ext cx="3986784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 tanks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pic>
        <p:nvPicPr>
          <p:cNvPr id="10" name="Picture 9" descr="89d5d50ac7447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3165505"/>
            <a:ext cx="5114544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120 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Tie: 12 and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12 &gt;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B: 15.0 &gt; 14.4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14.4 &gt; 11.27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16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pic>
        <p:nvPicPr>
          <p:cNvPr id="12" name="Picture 11" descr="506f303710cd3d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011" y="3684236"/>
            <a:ext cx="6062472" cy="606552"/>
          </a:xfrm>
          <a:prstGeom prst="rect">
            <a:avLst/>
          </a:prstGeom>
        </p:spPr>
      </p:pic>
      <p:pic>
        <p:nvPicPr>
          <p:cNvPr id="13" name="Picture 12" descr="c13e1045802678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11" y="4418804"/>
            <a:ext cx="7510272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594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cyclist 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51d1cdc51197b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4151"/>
            <a:ext cx="884110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381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4d1f2e7bdd7bf8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4151"/>
            <a:ext cx="889063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876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pic>
        <p:nvPicPr>
          <p:cNvPr id="13" name="Picture 12" descr="d59191ca87bf00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67" y="3684236"/>
            <a:ext cx="4861560" cy="609600"/>
          </a:xfrm>
          <a:prstGeom prst="rect">
            <a:avLst/>
          </a:prstGeom>
        </p:spPr>
      </p:pic>
      <p:pic>
        <p:nvPicPr>
          <p:cNvPr id="14" name="Picture 13" descr="60ebe7948d8a20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367" y="4515769"/>
            <a:ext cx="1581912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704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gal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9700df5a23d6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6c66710128e6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pic>
        <p:nvPicPr>
          <p:cNvPr id="14" name="Picture 13" descr="edc42479e43efb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527" y="3839510"/>
            <a:ext cx="4294632" cy="268224"/>
          </a:xfrm>
          <a:prstGeom prst="rect">
            <a:avLst/>
          </a:prstGeom>
        </p:spPr>
      </p:pic>
      <p:pic>
        <p:nvPicPr>
          <p:cNvPr id="15" name="Picture 14" descr="8d1545a1affce0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7527" y="4394246"/>
            <a:ext cx="91622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7.44 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pic>
        <p:nvPicPr>
          <p:cNvPr id="13" name="Picture 12" descr="6fd1d65a65982d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172" y="4079507"/>
            <a:ext cx="3340608" cy="307848"/>
          </a:xfrm>
          <a:prstGeom prst="rect">
            <a:avLst/>
          </a:prstGeom>
        </p:spPr>
      </p:pic>
      <p:pic>
        <p:nvPicPr>
          <p:cNvPr id="14" name="Picture 13" descr="6a117b4420daa3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1172" y="4615955"/>
            <a:ext cx="5711952" cy="2682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082871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Car A: 80.5 km/h against 75, so about 3.73 h against 4 h — about 16 minutes sooner.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955719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gets 32 miles per gallon and its tank holds 14 gal. How far does it go on a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66369"/>
            <a:ext cx="86304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430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4304"/>
            <a:ext cx="942196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That car makes a 1,000-mi trip. How many tanks of gas does it use? (Part of a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701654"/>
            <a:ext cx="365082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 counts as a whole tank.)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22246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22464"/>
            <a:ext cx="351953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recipe for 4 servings uses </a:t>
            </a:r>
          </a:p>
        </p:txBody>
      </p:sp>
      <p:pic>
        <p:nvPicPr>
          <p:cNvPr id="16" name="Picture 15" descr="8ef7b8baa0410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859" y="3188473"/>
            <a:ext cx="274452" cy="44567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11312" y="3222464"/>
            <a:ext cx="543282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cups of rice. How much rice for 10 servings?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4327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9" name="Picture 18" descr="d2f86d8905c910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831402"/>
            <a:ext cx="1611464" cy="2014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39096" y="3743275"/>
            <a:ext cx="808168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train does 120 km/h; a bus does 70 mi/h. Which is faster? Show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0625"/>
            <a:ext cx="28440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speeds in one unit.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57855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78559"/>
            <a:ext cx="49495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Juice is mixed orange : mango : water = </a:t>
            </a:r>
          </a:p>
        </p:txBody>
      </p:sp>
      <p:pic>
        <p:nvPicPr>
          <p:cNvPr id="24" name="Picture 23" descr="3e12847d3b5309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918" y="4674240"/>
            <a:ext cx="715087" cy="1863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2005" y="4578559"/>
            <a:ext cx="399247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batch uses 9 cups of orange.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45910"/>
            <a:ext cx="44026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cups is the whole batch?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1384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41384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9" name="Picture 28" descr="bf04384952a140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231" y="5501971"/>
            <a:ext cx="908966" cy="201433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26198" y="5413844"/>
            <a:ext cx="664842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; a room is 2 in by 3.5 in on it. Find the room's real area.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rates: word problems — VVS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Multi-step problems with customary or metric unit conversions — 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