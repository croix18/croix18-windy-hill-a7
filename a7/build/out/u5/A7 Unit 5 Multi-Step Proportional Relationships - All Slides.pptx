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45.png"/><Relationship Id="rId4" Type="http://schemas.openxmlformats.org/officeDocument/2006/relationships/image" Target="../media/image4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Relationship Id="rId3" Type="http://schemas.openxmlformats.org/officeDocument/2006/relationships/image" Target="../media/image4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Relationship Id="rId3" Type="http://schemas.openxmlformats.org/officeDocument/2006/relationships/image" Target="../media/image58.png"/><Relationship Id="rId4" Type="http://schemas.openxmlformats.org/officeDocument/2006/relationships/image" Target="../media/image5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65.png"/><Relationship Id="rId4" Type="http://schemas.openxmlformats.org/officeDocument/2006/relationships/image" Target="../media/image4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4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Relationship Id="rId3" Type="http://schemas.openxmlformats.org/officeDocument/2006/relationships/image" Target="../media/image70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1.png"/><Relationship Id="rId4" Type="http://schemas.openxmlformats.org/officeDocument/2006/relationships/image" Target="../media/image7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75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53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Relationship Id="rId3" Type="http://schemas.openxmlformats.org/officeDocument/2006/relationships/image" Target="../media/image89.png"/><Relationship Id="rId4" Type="http://schemas.openxmlformats.org/officeDocument/2006/relationships/image" Target="../media/image90.png"/><Relationship Id="rId5" Type="http://schemas.openxmlformats.org/officeDocument/2006/relationships/image" Target="../media/image9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Relationship Id="rId3" Type="http://schemas.openxmlformats.org/officeDocument/2006/relationships/image" Target="../media/image28.png"/><Relationship Id="rId4" Type="http://schemas.openxmlformats.org/officeDocument/2006/relationships/image" Target="../media/image93.png"/><Relationship Id="rId5" Type="http://schemas.openxmlformats.org/officeDocument/2006/relationships/image" Target="../media/image94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Relationship Id="rId3" Type="http://schemas.openxmlformats.org/officeDocument/2006/relationships/image" Target="../media/image96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97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101.png"/><Relationship Id="rId4" Type="http://schemas.openxmlformats.org/officeDocument/2006/relationships/image" Target="../media/image10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Relationship Id="rId3" Type="http://schemas.openxmlformats.org/officeDocument/2006/relationships/image" Target="../media/image105.png"/><Relationship Id="rId4" Type="http://schemas.openxmlformats.org/officeDocument/2006/relationships/image" Target="../media/image106.png"/><Relationship Id="rId5" Type="http://schemas.openxmlformats.org/officeDocument/2006/relationships/image" Target="../media/image107.png"/><Relationship Id="rId6" Type="http://schemas.openxmlformats.org/officeDocument/2006/relationships/image" Target="../media/image108.png"/><Relationship Id="rId7" Type="http://schemas.openxmlformats.org/officeDocument/2006/relationships/image" Target="../media/image109.png"/><Relationship Id="rId8" Type="http://schemas.openxmlformats.org/officeDocument/2006/relationships/image" Target="../media/image110.png"/><Relationship Id="rId9" Type="http://schemas.openxmlformats.org/officeDocument/2006/relationships/image" Target="../media/image11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70.png"/><Relationship Id="rId4" Type="http://schemas.openxmlformats.org/officeDocument/2006/relationships/image" Target="../media/image113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70.png"/><Relationship Id="rId4" Type="http://schemas.openxmlformats.org/officeDocument/2006/relationships/image" Target="../media/image113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15.png"/><Relationship Id="rId4" Type="http://schemas.openxmlformats.org/officeDocument/2006/relationships/image" Target="../media/image116.png"/><Relationship Id="rId5" Type="http://schemas.openxmlformats.org/officeDocument/2006/relationships/image" Target="../media/image117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Relationship Id="rId3" Type="http://schemas.openxmlformats.org/officeDocument/2006/relationships/image" Target="../media/image123.png"/><Relationship Id="rId4" Type="http://schemas.openxmlformats.org/officeDocument/2006/relationships/image" Target="../media/image12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Relationship Id="rId3" Type="http://schemas.openxmlformats.org/officeDocument/2006/relationships/image" Target="../media/image129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Relationship Id="rId3" Type="http://schemas.openxmlformats.org/officeDocument/2006/relationships/image" Target="../media/image13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Relationship Id="rId3" Type="http://schemas.openxmlformats.org/officeDocument/2006/relationships/image" Target="../media/image134.png"/><Relationship Id="rId4" Type="http://schemas.openxmlformats.org/officeDocument/2006/relationships/image" Target="../media/image135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8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Relationship Id="rId3" Type="http://schemas.openxmlformats.org/officeDocument/2006/relationships/image" Target="../media/image139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Relationship Id="rId3" Type="http://schemas.openxmlformats.org/officeDocument/2006/relationships/image" Target="../media/image140.png"/><Relationship Id="rId4" Type="http://schemas.openxmlformats.org/officeDocument/2006/relationships/image" Target="../media/image141.png"/><Relationship Id="rId5" Type="http://schemas.openxmlformats.org/officeDocument/2006/relationships/image" Target="../media/image142.png"/><Relationship Id="rId6" Type="http://schemas.openxmlformats.org/officeDocument/2006/relationships/image" Target="../media/image14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Relationship Id="rId3" Type="http://schemas.openxmlformats.org/officeDocument/2006/relationships/image" Target="../media/image145.png"/><Relationship Id="rId4" Type="http://schemas.openxmlformats.org/officeDocument/2006/relationships/image" Target="../media/image146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47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153.png"/><Relationship Id="rId4" Type="http://schemas.openxmlformats.org/officeDocument/2006/relationships/image" Target="../media/image154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Relationship Id="rId3" Type="http://schemas.openxmlformats.org/officeDocument/2006/relationships/image" Target="../media/image155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155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Relationship Id="rId3" Type="http://schemas.openxmlformats.org/officeDocument/2006/relationships/image" Target="../media/image16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Relationship Id="rId3" Type="http://schemas.openxmlformats.org/officeDocument/2006/relationships/image" Target="../media/image165.png"/><Relationship Id="rId4" Type="http://schemas.openxmlformats.org/officeDocument/2006/relationships/image" Target="../media/image166.png"/><Relationship Id="rId5" Type="http://schemas.openxmlformats.org/officeDocument/2006/relationships/image" Target="../media/image167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Relationship Id="rId3" Type="http://schemas.openxmlformats.org/officeDocument/2006/relationships/image" Target="../media/image168.png"/><Relationship Id="rId4" Type="http://schemas.openxmlformats.org/officeDocument/2006/relationships/image" Target="../media/image169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Relationship Id="rId3" Type="http://schemas.openxmlformats.org/officeDocument/2006/relationships/image" Target="../media/image17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77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Relationship Id="rId3" Type="http://schemas.openxmlformats.org/officeDocument/2006/relationships/image" Target="../media/image183.png"/><Relationship Id="rId4" Type="http://schemas.openxmlformats.org/officeDocument/2006/relationships/image" Target="../media/image184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Relationship Id="rId3" Type="http://schemas.openxmlformats.org/officeDocument/2006/relationships/image" Target="../media/image18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Relationship Id="rId3" Type="http://schemas.openxmlformats.org/officeDocument/2006/relationships/image" Target="../media/image190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Relationship Id="rId3" Type="http://schemas.openxmlformats.org/officeDocument/2006/relationships/image" Target="../media/image192.png"/><Relationship Id="rId4" Type="http://schemas.openxmlformats.org/officeDocument/2006/relationships/image" Target="../media/image193.png"/><Relationship Id="rId5" Type="http://schemas.openxmlformats.org/officeDocument/2006/relationships/image" Target="../media/image194.png"/><Relationship Id="rId6" Type="http://schemas.openxmlformats.org/officeDocument/2006/relationships/image" Target="../media/image195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70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176.png"/><Relationship Id="rId4" Type="http://schemas.openxmlformats.org/officeDocument/2006/relationships/image" Target="../media/image199.png"/><Relationship Id="rId5" Type="http://schemas.openxmlformats.org/officeDocument/2006/relationships/image" Target="../media/image200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Relationship Id="rId3" Type="http://schemas.openxmlformats.org/officeDocument/2006/relationships/image" Target="../media/image205.png"/><Relationship Id="rId4" Type="http://schemas.openxmlformats.org/officeDocument/2006/relationships/image" Target="../media/image206.png"/><Relationship Id="rId5" Type="http://schemas.openxmlformats.org/officeDocument/2006/relationships/image" Target="../media/image20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Relationship Id="rId3" Type="http://schemas.openxmlformats.org/officeDocument/2006/relationships/image" Target="../media/image209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Relationship Id="rId3" Type="http://schemas.openxmlformats.org/officeDocument/2006/relationships/image" Target="../media/image211.png"/><Relationship Id="rId4" Type="http://schemas.openxmlformats.org/officeDocument/2006/relationships/image" Target="../media/image212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16.png"/><Relationship Id="rId4" Type="http://schemas.openxmlformats.org/officeDocument/2006/relationships/image" Target="../media/image217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Relationship Id="rId5" Type="http://schemas.openxmlformats.org/officeDocument/2006/relationships/image" Target="../media/image220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Relationship Id="rId3" Type="http://schemas.openxmlformats.org/officeDocument/2006/relationships/image" Target="../media/image216.png"/><Relationship Id="rId4" Type="http://schemas.openxmlformats.org/officeDocument/2006/relationships/image" Target="../media/image221.png"/><Relationship Id="rId5" Type="http://schemas.openxmlformats.org/officeDocument/2006/relationships/image" Target="../media/image213.png"/><Relationship Id="rId6" Type="http://schemas.openxmlformats.org/officeDocument/2006/relationships/image" Target="../media/image201.png"/><Relationship Id="rId7" Type="http://schemas.openxmlformats.org/officeDocument/2006/relationships/image" Target="../media/image202.png"/><Relationship Id="rId8" Type="http://schemas.openxmlformats.org/officeDocument/2006/relationships/image" Target="../media/image222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223.png"/><Relationship Id="rId4" Type="http://schemas.openxmlformats.org/officeDocument/2006/relationships/image" Target="../media/image53.png"/><Relationship Id="rId5" Type="http://schemas.openxmlformats.org/officeDocument/2006/relationships/image" Target="../media/image224.png"/><Relationship Id="rId6" Type="http://schemas.openxmlformats.org/officeDocument/2006/relationships/image" Target="../media/image198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Relationship Id="rId3" Type="http://schemas.openxmlformats.org/officeDocument/2006/relationships/image" Target="../media/image223.png"/><Relationship Id="rId4" Type="http://schemas.openxmlformats.org/officeDocument/2006/relationships/image" Target="../media/image53.png"/><Relationship Id="rId5" Type="http://schemas.openxmlformats.org/officeDocument/2006/relationships/image" Target="../media/image224.png"/><Relationship Id="rId6" Type="http://schemas.openxmlformats.org/officeDocument/2006/relationships/image" Target="../media/image198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Relationship Id="rId3" Type="http://schemas.openxmlformats.org/officeDocument/2006/relationships/image" Target="../media/image226.png"/><Relationship Id="rId4" Type="http://schemas.openxmlformats.org/officeDocument/2006/relationships/image" Target="../media/image227.png"/><Relationship Id="rId5" Type="http://schemas.openxmlformats.org/officeDocument/2006/relationships/image" Target="../media/image228.png"/><Relationship Id="rId6" Type="http://schemas.openxmlformats.org/officeDocument/2006/relationships/image" Target="../media/image229.png"/><Relationship Id="rId7" Type="http://schemas.openxmlformats.org/officeDocument/2006/relationships/image" Target="../media/image230.png"/><Relationship Id="rId8" Type="http://schemas.openxmlformats.org/officeDocument/2006/relationships/image" Target="../media/image231.png"/><Relationship Id="rId9" Type="http://schemas.openxmlformats.org/officeDocument/2006/relationships/image" Target="../media/image232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Relationship Id="rId3" Type="http://schemas.openxmlformats.org/officeDocument/2006/relationships/image" Target="../media/image235.png"/><Relationship Id="rId4" Type="http://schemas.openxmlformats.org/officeDocument/2006/relationships/image" Target="../media/image236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Relationship Id="rId3" Type="http://schemas.openxmlformats.org/officeDocument/2006/relationships/image" Target="../media/image24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Relationship Id="rId3" Type="http://schemas.openxmlformats.org/officeDocument/2006/relationships/image" Target="../media/image24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Relationship Id="rId3" Type="http://schemas.openxmlformats.org/officeDocument/2006/relationships/image" Target="../media/image24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Relationship Id="rId3" Type="http://schemas.openxmlformats.org/officeDocument/2006/relationships/image" Target="../media/image24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Relationship Id="rId3" Type="http://schemas.openxmlformats.org/officeDocument/2006/relationships/image" Target="../media/image248.png"/><Relationship Id="rId4" Type="http://schemas.openxmlformats.org/officeDocument/2006/relationships/image" Target="../media/image249.png"/><Relationship Id="rId5" Type="http://schemas.openxmlformats.org/officeDocument/2006/relationships/image" Target="../media/image25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Relationship Id="rId3" Type="http://schemas.openxmlformats.org/officeDocument/2006/relationships/image" Target="../media/image253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Relationship Id="rId3" Type="http://schemas.openxmlformats.org/officeDocument/2006/relationships/image" Target="../media/image256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Relationship Id="rId3" Type="http://schemas.openxmlformats.org/officeDocument/2006/relationships/image" Target="../media/image259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60.png"/><Relationship Id="rId4" Type="http://schemas.openxmlformats.org/officeDocument/2006/relationships/image" Target="../media/image261.png"/><Relationship Id="rId5" Type="http://schemas.openxmlformats.org/officeDocument/2006/relationships/image" Target="../media/image262.png"/><Relationship Id="rId6" Type="http://schemas.openxmlformats.org/officeDocument/2006/relationships/image" Target="../media/image263.png"/><Relationship Id="rId7" Type="http://schemas.openxmlformats.org/officeDocument/2006/relationships/image" Target="../media/image264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Relationship Id="rId3" Type="http://schemas.openxmlformats.org/officeDocument/2006/relationships/image" Target="../media/image265.png"/><Relationship Id="rId4" Type="http://schemas.openxmlformats.org/officeDocument/2006/relationships/image" Target="../media/image249.png"/><Relationship Id="rId5" Type="http://schemas.openxmlformats.org/officeDocument/2006/relationships/image" Target="../media/image26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Relationship Id="rId3" Type="http://schemas.openxmlformats.org/officeDocument/2006/relationships/image" Target="../media/image26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Relationship Id="rId3" Type="http://schemas.openxmlformats.org/officeDocument/2006/relationships/image" Target="../media/image269.png"/><Relationship Id="rId4" Type="http://schemas.openxmlformats.org/officeDocument/2006/relationships/image" Target="../media/image270.png"/><Relationship Id="rId5" Type="http://schemas.openxmlformats.org/officeDocument/2006/relationships/image" Target="../media/image27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Relationship Id="rId3" Type="http://schemas.openxmlformats.org/officeDocument/2006/relationships/image" Target="../media/image273.png"/><Relationship Id="rId4" Type="http://schemas.openxmlformats.org/officeDocument/2006/relationships/image" Target="../media/image274.png"/><Relationship Id="rId5" Type="http://schemas.openxmlformats.org/officeDocument/2006/relationships/image" Target="../media/image275.png"/><Relationship Id="rId6" Type="http://schemas.openxmlformats.org/officeDocument/2006/relationships/image" Target="../media/image276.png"/><Relationship Id="rId7" Type="http://schemas.openxmlformats.org/officeDocument/2006/relationships/image" Target="../media/image277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image" Target="../media/image280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Relationship Id="rId3" Type="http://schemas.openxmlformats.org/officeDocument/2006/relationships/image" Target="../media/image283.png"/><Relationship Id="rId4" Type="http://schemas.openxmlformats.org/officeDocument/2006/relationships/image" Target="../media/image284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Relationship Id="rId3" Type="http://schemas.openxmlformats.org/officeDocument/2006/relationships/image" Target="../media/image288.png"/><Relationship Id="rId4" Type="http://schemas.openxmlformats.org/officeDocument/2006/relationships/image" Target="../media/image289.png"/><Relationship Id="rId5" Type="http://schemas.openxmlformats.org/officeDocument/2006/relationships/image" Target="../media/image29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91.png"/><Relationship Id="rId4" Type="http://schemas.openxmlformats.org/officeDocument/2006/relationships/image" Target="../media/image292.png"/><Relationship Id="rId5" Type="http://schemas.openxmlformats.org/officeDocument/2006/relationships/image" Target="../media/image293.png"/><Relationship Id="rId6" Type="http://schemas.openxmlformats.org/officeDocument/2006/relationships/image" Target="../media/image294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Relationship Id="rId3" Type="http://schemas.openxmlformats.org/officeDocument/2006/relationships/image" Target="../media/image281.png"/><Relationship Id="rId4" Type="http://schemas.openxmlformats.org/officeDocument/2006/relationships/image" Target="../media/image285.png"/><Relationship Id="rId5" Type="http://schemas.openxmlformats.org/officeDocument/2006/relationships/image" Target="../media/image202.png"/><Relationship Id="rId6" Type="http://schemas.openxmlformats.org/officeDocument/2006/relationships/image" Target="../media/image296.png"/><Relationship Id="rId7" Type="http://schemas.openxmlformats.org/officeDocument/2006/relationships/image" Target="../media/image297.png"/><Relationship Id="rId8" Type="http://schemas.openxmlformats.org/officeDocument/2006/relationships/image" Target="../media/image298.png"/><Relationship Id="rId9" Type="http://schemas.openxmlformats.org/officeDocument/2006/relationships/image" Target="../media/image299.png"/><Relationship Id="rId10" Type="http://schemas.openxmlformats.org/officeDocument/2006/relationships/image" Target="../media/image300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Relationship Id="rId3" Type="http://schemas.openxmlformats.org/officeDocument/2006/relationships/image" Target="../media/image301.png"/><Relationship Id="rId4" Type="http://schemas.openxmlformats.org/officeDocument/2006/relationships/image" Target="../media/image302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Relationship Id="rId3" Type="http://schemas.openxmlformats.org/officeDocument/2006/relationships/image" Target="../media/image308.png"/><Relationship Id="rId4" Type="http://schemas.openxmlformats.org/officeDocument/2006/relationships/image" Target="../media/image309.png"/><Relationship Id="rId5" Type="http://schemas.openxmlformats.org/officeDocument/2006/relationships/image" Target="../media/image310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Relationship Id="rId3" Type="http://schemas.openxmlformats.org/officeDocument/2006/relationships/image" Target="../media/image313.png"/><Relationship Id="rId4" Type="http://schemas.openxmlformats.org/officeDocument/2006/relationships/image" Target="../media/image314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Relationship Id="rId3" Type="http://schemas.openxmlformats.org/officeDocument/2006/relationships/image" Target="../media/image317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Relationship Id="rId3" Type="http://schemas.openxmlformats.org/officeDocument/2006/relationships/image" Target="../media/image321.png"/><Relationship Id="rId4" Type="http://schemas.openxmlformats.org/officeDocument/2006/relationships/image" Target="../media/image322.png"/><Relationship Id="rId5" Type="http://schemas.openxmlformats.org/officeDocument/2006/relationships/image" Target="../media/image32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28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Relationship Id="rId3" Type="http://schemas.openxmlformats.org/officeDocument/2006/relationships/image" Target="../media/image33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34.png"/><Relationship Id="rId4" Type="http://schemas.openxmlformats.org/officeDocument/2006/relationships/image" Target="../media/image335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Relationship Id="rId3" Type="http://schemas.openxmlformats.org/officeDocument/2006/relationships/image" Target="../media/image338.png"/><Relationship Id="rId4" Type="http://schemas.openxmlformats.org/officeDocument/2006/relationships/image" Target="../media/image339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Relationship Id="rId3" Type="http://schemas.openxmlformats.org/officeDocument/2006/relationships/image" Target="../media/image299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Relationship Id="rId3" Type="http://schemas.openxmlformats.org/officeDocument/2006/relationships/image" Target="../media/image340.png"/><Relationship Id="rId4" Type="http://schemas.openxmlformats.org/officeDocument/2006/relationships/image" Target="../media/image341.png"/><Relationship Id="rId5" Type="http://schemas.openxmlformats.org/officeDocument/2006/relationships/image" Target="../media/image342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Relationship Id="rId3" Type="http://schemas.openxmlformats.org/officeDocument/2006/relationships/image" Target="../media/image343.png"/><Relationship Id="rId4" Type="http://schemas.openxmlformats.org/officeDocument/2006/relationships/image" Target="../media/image344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Relationship Id="rId3" Type="http://schemas.openxmlformats.org/officeDocument/2006/relationships/image" Target="../media/image213.png"/><Relationship Id="rId4" Type="http://schemas.openxmlformats.org/officeDocument/2006/relationships/image" Target="../media/image346.png"/><Relationship Id="rId5" Type="http://schemas.openxmlformats.org/officeDocument/2006/relationships/image" Target="../media/image347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Multi-Step Proportional Relationships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— Multi-Step Proportional 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5.06–07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5.08–09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5.10–11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scale factor between two figures, and use a scale to find a real length from a drawing or a drawing length from the real one.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3" name="Picture 12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2921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Find the value:  </a:t>
            </a:r>
          </a:p>
        </p:txBody>
      </p:sp>
      <p:pic>
        <p:nvPicPr>
          <p:cNvPr id="9" name="Picture 8" descr="c053a830935dbd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9168" y="1564719"/>
            <a:ext cx="1433480" cy="2705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41289" y="1440180"/>
            <a:ext cx="5562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2" name="Picture 11" descr="f504cbed100f80e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306" y="2096674"/>
            <a:ext cx="647914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69860" y="2052828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16210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</a:t>
            </a:r>
          </a:p>
        </p:txBody>
      </p:sp>
      <p:pic>
        <p:nvPicPr>
          <p:cNvPr id="15" name="Picture 14" descr="3826b61b6c6b81a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8447" y="2744922"/>
            <a:ext cx="1084603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3051" y="266547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as a number.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1178" y="2665476"/>
            <a:ext cx="10283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278124"/>
            <a:ext cx="93024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On a map, 3 cm stands for 12 km. What does 1 cm stand for?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35324"/>
            <a:ext cx="9662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 km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drawing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drawing of a real thing with every length multiplied by the same number: a map, a floor plan, a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factor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80720"/>
            <a:ext cx="62862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number every length is multiplied by, written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128" y="3310578"/>
            <a:ext cx="127952" cy="1939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20080" y="3180720"/>
            <a:ext cx="27293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: from 4 cm to 6 cm, </a:t>
            </a:r>
          </a:p>
        </p:txBody>
      </p:sp>
      <p:pic>
        <p:nvPicPr>
          <p:cNvPr id="14" name="Picture 13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2246" y="3312641"/>
            <a:ext cx="697547" cy="19605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816228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corresponding sides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209818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side of the copy that matches a side of the original: the 6 cm side matches the 4 cm side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63179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533909"/>
            <a:ext cx="392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factor with units on it: </a:t>
            </a:r>
          </a:p>
        </p:txBody>
      </p:sp>
      <p:pic>
        <p:nvPicPr>
          <p:cNvPr id="19" name="Picture 18" descr="33a234fb1dc3f5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0727" y="5657575"/>
            <a:ext cx="1170146" cy="20431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00874" y="5533909"/>
            <a:ext cx="52793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means every inch on the map is 20 miles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copy: every side times the same number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a37466dfaa1878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11879" y="1993392"/>
            <a:ext cx="4937760" cy="2238451"/>
          </a:xfrm>
          <a:prstGeom prst="rect">
            <a:avLst/>
          </a:prstGeom>
        </p:spPr>
      </p:pic>
      <p:pic>
        <p:nvPicPr>
          <p:cNvPr id="11" name="Picture 10" descr="5db795a1dcbd5a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0304" y="4378147"/>
            <a:ext cx="8820912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5521147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angle is still 90°: k multiplies lengths, not angles.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Find k: copy divided by original — and k can be less than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c3fa4e7c9580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424" y="1993392"/>
            <a:ext cx="6900672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228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k = copy ÷ original. Less than 1 shrinks, more than 1 enlarges, 1 is the same size.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Use k both ways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f2961e2a00986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784" y="2017776"/>
            <a:ext cx="7235952" cy="387096"/>
          </a:xfrm>
          <a:prstGeom prst="rect">
            <a:avLst/>
          </a:prstGeom>
        </p:spPr>
      </p:pic>
      <p:pic>
        <p:nvPicPr>
          <p:cNvPr id="11" name="Picture 10" descr="8380a0d28443e47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7255" y="2713101"/>
            <a:ext cx="8827008" cy="3017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4290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To the copy, multiply by k. Back to the original, divide by 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6 cm by 4 cm rectangle is copied at 15 cm by 10 cm.</a:t>
            </a:r>
          </a:p>
        </p:txBody>
      </p:sp>
      <p:pic>
        <p:nvPicPr>
          <p:cNvPr id="9" name="Picture 8" descr="gd5b862b59eaad3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2276458"/>
            <a:ext cx="5486400" cy="274512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53507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00adc5213f3de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874519" cy="673608"/>
          </a:xfrm>
          <a:prstGeom prst="rect">
            <a:avLst/>
          </a:prstGeom>
        </p:spPr>
      </p:pic>
      <p:pic>
        <p:nvPicPr>
          <p:cNvPr id="9" name="Picture 8" descr="3dbcdeb48f5a06c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1335024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2.5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An 8 cm by 10 cm rectangle is copied at 12 cm by 15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scale factor.</a:t>
            </a:r>
          </a:p>
        </p:txBody>
      </p:sp>
      <p:pic>
        <p:nvPicPr>
          <p:cNvPr id="10" name="Picture 9" descr="fe7cf77f09050b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4312" y="2751548"/>
            <a:ext cx="1673352" cy="603504"/>
          </a:xfrm>
          <a:prstGeom prst="rect">
            <a:avLst/>
          </a:prstGeom>
        </p:spPr>
      </p:pic>
      <p:pic>
        <p:nvPicPr>
          <p:cNvPr id="11" name="Picture 10" descr="c01a75d5d6aaea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4312" y="3483068"/>
            <a:ext cx="1292733" cy="6643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97045" y="3586629"/>
            <a:ext cx="2710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— the same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1.5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1271" y="171450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46801c56b80b5c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313" y="1817179"/>
            <a:ext cx="139179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7106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2.6 in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31880d7c5f206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033015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65 mi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e81d11d57c22f06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255" y="1577340"/>
            <a:ext cx="2641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9" name="Picture 8" descr="9dc5c0b3d418a1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5297" y="1689925"/>
            <a:ext cx="1651825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7123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Two towns are 4.2 cm apart on the map.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250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far apart are the towns?</a:t>
            </a:r>
          </a:p>
        </p:txBody>
      </p:sp>
      <p:pic>
        <p:nvPicPr>
          <p:cNvPr id="13" name="Picture 12" descr="874fbb5c36f5222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3603" y="3531265"/>
            <a:ext cx="1847088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 km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side becomes 6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d90d78eb18b743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879" y="3071588"/>
            <a:ext cx="1240536" cy="609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 8 cm side becomes 4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88f6a9aaf9cd8a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19" y="3071588"/>
            <a:ext cx="128016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½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12 cm side becomes 9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3a3e9bb1d3245f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628" y="3071588"/>
            <a:ext cx="1453896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998c49ee2893d4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8644"/>
            <a:ext cx="47853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3cb114a9a26f9e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38644"/>
            <a:ext cx="530352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33209a3099e77b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48244"/>
            <a:ext cx="137160" cy="2743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54340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side of 5 cm becomes 2 cm in the copy.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scale factor?</a:t>
            </a:r>
          </a:p>
        </p:txBody>
      </p:sp>
      <p:pic>
        <p:nvPicPr>
          <p:cNvPr id="10" name="Picture 9" descr="41cad21ae3786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3812" y="3071588"/>
            <a:ext cx="1566672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0.4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scale factor is 3.5. A side of the original is 6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that side in the copy?</a:t>
            </a:r>
          </a:p>
        </p:txBody>
      </p:sp>
      <p:pic>
        <p:nvPicPr>
          <p:cNvPr id="10" name="Picture 9" descr="330bf951670aa9c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7903" y="3165505"/>
            <a:ext cx="161848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21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154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931d3a876917ba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00456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f041d7103b8797d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12194"/>
            <a:ext cx="886968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0b9eb51d2c267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18746"/>
            <a:ext cx="51206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dea168322aa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4842"/>
            <a:ext cx="76504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9212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drawing has a 40° angle. The real figure is a scale copy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62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16402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angle in the real figure?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68098" y="3122278"/>
            <a:ext cx="796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Lengths are multiplied by k. Angles are not.</a:t>
            </a:r>
          </a:p>
        </p:txBody>
      </p:sp>
      <p:pic>
        <p:nvPicPr>
          <p:cNvPr id="13" name="Picture 12" descr="3cc36cf75937c8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22962" y="3781598"/>
            <a:ext cx="5455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40°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has sides 6, 8 and 10. Another has sides 9, 12 and 15; a third has sides 9, 12 and 14.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one is a scale copy of the first?</a:t>
            </a:r>
          </a:p>
        </p:txBody>
      </p:sp>
      <p:pic>
        <p:nvPicPr>
          <p:cNvPr id="10" name="Picture 9" descr="3af538f0ea090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5106" y="3500959"/>
            <a:ext cx="2705163" cy="6643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30269" y="3604519"/>
            <a:ext cx="40560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second is a copy</a:t>
            </a:r>
          </a:p>
        </p:txBody>
      </p:sp>
      <p:pic>
        <p:nvPicPr>
          <p:cNvPr id="12" name="Picture 11" descr="102070a7c64f056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5106" y="4293296"/>
            <a:ext cx="2163532" cy="661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88638" y="4395360"/>
            <a:ext cx="30053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third is not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09178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9-12-15 triangle (k = 1.5); the 9-12-14 one is not a copy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Dev, who is 13, draws a 15-ft wall as 3 in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a 20-ft wall on his drawing?</a:t>
            </a:r>
          </a:p>
        </p:txBody>
      </p:sp>
      <p:pic>
        <p:nvPicPr>
          <p:cNvPr id="10" name="Picture 9" descr="4238e147115002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781" y="3149114"/>
            <a:ext cx="1487241" cy="2723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79023" y="3048728"/>
            <a:ext cx="3340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every inch is 5 ft</a:t>
            </a:r>
          </a:p>
        </p:txBody>
      </p:sp>
      <p:pic>
        <p:nvPicPr>
          <p:cNvPr id="12" name="Picture 11" descr="503b886175e4a4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91781" y="3708049"/>
            <a:ext cx="1453896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 in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the scale factor from a 6 cm side to its 3 cm copy is 2.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Is she right? Explain.</a:t>
            </a:r>
          </a:p>
        </p:txBody>
      </p:sp>
      <p:pic>
        <p:nvPicPr>
          <p:cNvPr id="10" name="Picture 9" descr="50c40483c37e06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413" y="3071588"/>
            <a:ext cx="1150282" cy="5561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93695" y="3121079"/>
            <a:ext cx="6166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. No: the copy is smaller, so k is under 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No. k = 3 ÷ 6 = ½: the copy is smaller, so k is under 1.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810171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5 cm side becomes 15 cm in the copy. Find the scale factor.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028178"/>
            <a:ext cx="80987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15 cm side becomes 6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559326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559326"/>
            <a:ext cx="938379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3 cm by 5 cm rectangle is copied at 7.5 cm by 12.5 cm. Find the scale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62457"/>
            <a:ext cx="102995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493604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93604"/>
            <a:ext cx="961464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The scale factor is 1.5 and a side of the original is 8 cm. How long is that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896735"/>
            <a:ext cx="23877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side in the copy?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427882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27882"/>
            <a:ext cx="233721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map's scale is </a:t>
            </a:r>
          </a:p>
        </p:txBody>
      </p:sp>
      <p:pic>
        <p:nvPicPr>
          <p:cNvPr id="20" name="Picture 19" descr="d7f44fc30d54f3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4535" y="4525286"/>
            <a:ext cx="1271811" cy="2226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6347" y="4427882"/>
            <a:ext cx="647292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Two cities are 2.8 in apart on the map. How far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831013"/>
            <a:ext cx="2227461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apart are they?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536216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5362160"/>
            <a:ext cx="893673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On the same map, a road is 150 mi long. How long is it on the map?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1 —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factor, missing side, or missing angle — WEA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Scale Factor: Perimeter and Area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find the perimeter and the area of a scale copy from the original and k, and find k from two areas.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0" name="Picture 9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096674"/>
            <a:ext cx="847272" cy="3726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2" name="Picture 11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2742549"/>
            <a:ext cx="265811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074399" y="26654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4" name="Picture 13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2744922"/>
            <a:ext cx="261064" cy="26343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2781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93437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20 cm side becomes 8 cm in the copy. Find the scale factor.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897380"/>
            <a:ext cx="12274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510028"/>
            <a:ext cx="2935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Find the value:  </a:t>
            </a:r>
          </a:p>
        </p:txBody>
      </p:sp>
      <p:pic>
        <p:nvPicPr>
          <p:cNvPr id="11" name="Picture 10" descr="c5ba369a2497f72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306" y="2553874"/>
            <a:ext cx="847272" cy="3726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9218" y="2510028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122676"/>
            <a:ext cx="30712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values:  </a:t>
            </a:r>
          </a:p>
        </p:txBody>
      </p:sp>
      <p:pic>
        <p:nvPicPr>
          <p:cNvPr id="14" name="Picture 13" descr="33d30e37238e3f1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8588" y="3199749"/>
            <a:ext cx="265811" cy="2658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74399" y="312267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6" name="Picture 15" descr="20ade1fcd202f3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4740" y="3202122"/>
            <a:ext cx="261064" cy="26343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834444" y="3122676"/>
            <a:ext cx="14651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 and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735324"/>
            <a:ext cx="93490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perimeter and the area of a 3 cm by 5 cm rectangle.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4192524"/>
            <a:ext cx="33881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P = 16 cm, A = 15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k squared</a:t>
            </a:r>
          </a:p>
        </p:txBody>
      </p:sp>
      <p:pic>
        <p:nvPicPr>
          <p:cNvPr id="9" name="Picture 8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50941"/>
            <a:ext cx="267874" cy="25198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0874" y="1869550"/>
            <a:ext cx="99845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 k times k: what an area is multiplied by when every length is multiplied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624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by </a:t>
            </a:r>
          </a:p>
        </p:txBody>
      </p:sp>
      <p:pic>
        <p:nvPicPr>
          <p:cNvPr id="12" name="Picture 11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9992" y="2474165"/>
            <a:ext cx="140747" cy="2133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perimeter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96200"/>
            <a:ext cx="71062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perimeter ÷ original's perimeter — it equals </a:t>
            </a:r>
          </a:p>
        </p:txBody>
      </p:sp>
      <p:pic>
        <p:nvPicPr>
          <p:cNvPr id="15" name="Picture 14" descr="5ad8b479ac3620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2116" y="3516184"/>
            <a:ext cx="140747" cy="21339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area ratio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438219"/>
            <a:ext cx="56769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copy's area ÷ original's area — it equals </a:t>
            </a:r>
          </a:p>
        </p:txBody>
      </p:sp>
      <p:pic>
        <p:nvPicPr>
          <p:cNvPr id="18" name="Picture 17" descr="f5d0f69f4213cc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2757" y="4519610"/>
            <a:ext cx="267874" cy="251983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Every side × k, so the perimeter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75b63e5073dba8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993392"/>
            <a:ext cx="5486400" cy="2387065"/>
          </a:xfrm>
          <a:prstGeom prst="rect">
            <a:avLst/>
          </a:prstGeom>
        </p:spPr>
      </p:pic>
      <p:pic>
        <p:nvPicPr>
          <p:cNvPr id="11" name="Picture 10" descr="6b863e3a4cceb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1315" y="4572862"/>
            <a:ext cx="4818888" cy="28956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 is two lengths, so the area × k × k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6f6e25f3820793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0520" y="1993392"/>
            <a:ext cx="3840480" cy="2708030"/>
          </a:xfrm>
          <a:prstGeom prst="rect">
            <a:avLst/>
          </a:prstGeom>
        </p:spPr>
      </p:pic>
      <p:pic>
        <p:nvPicPr>
          <p:cNvPr id="11" name="Picture 10" descr="3072c2893096e2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724" y="4847726"/>
            <a:ext cx="5148072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From two areas back to k: a square root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8fb9d177b623a6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6251" y="1993391"/>
            <a:ext cx="8129016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0837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Area ratio = k</a:t>
            </a:r>
            <a:r>
              <a:rPr sz="2180" b="1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. k = the square root of the area ratio.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4932" y="2080260"/>
            <a:ext cx="58614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 cm by 4 cm rectangle is scaled by </a:t>
            </a:r>
          </a:p>
        </p:txBody>
      </p:sp>
      <p:pic>
        <p:nvPicPr>
          <p:cNvPr id="9" name="Picture 8" descr="8058f93241672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179" y="2192845"/>
            <a:ext cx="60426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3445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13da73618c3a5c8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065776" cy="353568"/>
          </a:xfrm>
          <a:prstGeom prst="rect">
            <a:avLst/>
          </a:prstGeom>
        </p:spPr>
      </p:pic>
      <p:pic>
        <p:nvPicPr>
          <p:cNvPr id="9" name="Picture 8" descr="da9b199f35923b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4386072" cy="3413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36 cm, A = 72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901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6c1f342e4d8433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970" y="1687449"/>
            <a:ext cx="631507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4477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2662" y="1577340"/>
            <a:ext cx="58362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 cm by 6 cm rectangle is scaled by </a:t>
            </a:r>
          </a:p>
        </p:txBody>
      </p:sp>
      <p:pic>
        <p:nvPicPr>
          <p:cNvPr id="9" name="Picture 8" descr="8818f8b2507901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1731" y="1687449"/>
            <a:ext cx="633984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75715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2" name="Picture 11" descr="a391ba38776033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4047" y="2992166"/>
            <a:ext cx="2109216" cy="252984"/>
          </a:xfrm>
          <a:prstGeom prst="rect">
            <a:avLst/>
          </a:prstGeom>
        </p:spPr>
      </p:pic>
      <p:pic>
        <p:nvPicPr>
          <p:cNvPr id="13" name="Picture 12" descr="30e6b9ad4e67f1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047" y="3482894"/>
            <a:ext cx="3880104" cy="30175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72 cm, A = 288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1745" y="171450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bd8ae361e3ef131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7945" y="1784985"/>
            <a:ext cx="92868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6632" y="17145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40030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310dff147270a8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47078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4003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08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3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309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k, then the matching side of the copy.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c237a4a459a457b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52472" cy="676656"/>
          </a:xfrm>
          <a:prstGeom prst="rect">
            <a:avLst/>
          </a:prstGeom>
        </p:spPr>
      </p:pic>
      <p:pic>
        <p:nvPicPr>
          <p:cNvPr id="9" name="Picture 8" descr="c1463e20ee37a92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71215"/>
            <a:ext cx="4255008" cy="47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4; the side is 12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4433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cecd9b8e3fec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2467" y="2333625"/>
            <a:ext cx="1161478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3945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85460" y="1577340"/>
            <a:ext cx="2863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1660" y="164782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832918" y="15773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23194" y="2263140"/>
            <a:ext cx="37451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scale copy has area </a:t>
            </a:r>
          </a:p>
        </p:txBody>
      </p:sp>
      <p:pic>
        <p:nvPicPr>
          <p:cNvPr id="12" name="Picture 11" descr="8fab6492a088d5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31228" y="2333625"/>
            <a:ext cx="1163955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95183" y="226314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side of the original is 2 cm.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63723" y="3488038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6" name="Picture 15" descr="5ad8b479ac3620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139" y="3598147"/>
            <a:ext cx="153543" cy="23279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823682" y="3488038"/>
            <a:ext cx="56112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then the matching side of the copy.</a:t>
            </a:r>
          </a:p>
        </p:txBody>
      </p:sp>
      <p:pic>
        <p:nvPicPr>
          <p:cNvPr id="18" name="Picture 17" descr="a02b1beb298b5d9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4269850"/>
            <a:ext cx="2048256" cy="609600"/>
          </a:xfrm>
          <a:prstGeom prst="rect">
            <a:avLst/>
          </a:prstGeom>
        </p:spPr>
      </p:pic>
      <p:pic>
        <p:nvPicPr>
          <p:cNvPr id="19" name="Picture 18" descr="c6b6368f1cca46d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06240" y="5007466"/>
            <a:ext cx="3861816" cy="43281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7744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k = 5; the side is 10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df787c7f4ce773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1695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145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652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perimeter 14 cm is scaled by </a:t>
            </a:r>
          </a:p>
        </p:txBody>
      </p:sp>
      <p:pic>
        <p:nvPicPr>
          <p:cNvPr id="9" name="Picture 8" descr="bcf4e6c09f084e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763" y="1961769"/>
            <a:ext cx="614172" cy="2327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393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perimeter?</a:t>
            </a:r>
          </a:p>
        </p:txBody>
      </p:sp>
      <p:pic>
        <p:nvPicPr>
          <p:cNvPr id="12" name="Picture 11" descr="d860927724a3092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6859" y="3242102"/>
            <a:ext cx="1554480" cy="24993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e2be393dbf6293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1695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6970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5ca388921d9b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21258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89304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bcf4e6c09f084e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58010" y="1961769"/>
            <a:ext cx="614172" cy="2327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7218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427887251510c88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19c87c68c4358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7581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7096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025ad037a3e872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4078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8954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7a8fa05a0e6e09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88819"/>
            <a:ext cx="988123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56169" y="1918334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343adb895dd9d0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876" y="1874519"/>
            <a:ext cx="621601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46477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ba1e3c512174bce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1311" y="3278488"/>
            <a:ext cx="3474720" cy="61264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53750b0735fbfc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8058f93241672f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4266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208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78f7267bd6258a9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09146"/>
            <a:ext cx="420624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b6b586116b6ce2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09146"/>
            <a:ext cx="417576" cy="28041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da98a1872183d6f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24842"/>
            <a:ext cx="414528" cy="27736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65ff48fc3d12dc0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24842"/>
            <a:ext cx="350520" cy="2773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b2d2e2a1dc9114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94106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09116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217c156fbd4cb6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7822" y="1964245"/>
            <a:ext cx="606742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8456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8413de0e199e541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0203" y="3190286"/>
            <a:ext cx="2910840" cy="3048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90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987bd4d974e8c54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a3bca5590aab4c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7057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133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07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9" name="Picture 8" descr="f4873bb202c1b7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8046" y="1922145"/>
            <a:ext cx="78752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5573" y="1851660"/>
            <a:ext cx="21058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c0265cf83ecf01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4279" y="1964245"/>
            <a:ext cx="839533" cy="2352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381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copy's area?</a:t>
            </a:r>
          </a:p>
        </p:txBody>
      </p:sp>
      <p:pic>
        <p:nvPicPr>
          <p:cNvPr id="14" name="Picture 13" descr="3c70ee3fe6f12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21223" y="3190286"/>
            <a:ext cx="1539240" cy="304800"/>
          </a:xfrm>
          <a:prstGeom prst="rect">
            <a:avLst/>
          </a:prstGeom>
        </p:spPr>
      </p:pic>
      <p:pic>
        <p:nvPicPr>
          <p:cNvPr id="15" name="Picture 14" descr="2e3c5fba163c0db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223" y="3781598"/>
            <a:ext cx="183184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c003d31adc9c10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132548"/>
            <a:ext cx="188976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31447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899d09e1fb7976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141692"/>
            <a:ext cx="18592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e3fffa01a271e3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51292"/>
            <a:ext cx="448056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5a99f83968c3dd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45196"/>
            <a:ext cx="19202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4340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figure's perimeter is 20 cm; its copy's perimeter is 60 cm.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area ratio, copy to original?</a:t>
            </a:r>
          </a:p>
        </p:txBody>
      </p:sp>
      <p:pic>
        <p:nvPicPr>
          <p:cNvPr id="10" name="Picture 9" descr="9771a717e91a6e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5722" y="3071588"/>
            <a:ext cx="1574022" cy="66731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39744" y="3176645"/>
            <a:ext cx="45059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perimeter ratio is k</a:t>
            </a:r>
          </a:p>
        </p:txBody>
      </p:sp>
      <p:pic>
        <p:nvPicPr>
          <p:cNvPr id="12" name="Picture 11" descr="16227b3b3d8b10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5722" y="3878610"/>
            <a:ext cx="924663" cy="3321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90385" y="3844058"/>
            <a:ext cx="28647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the area ratio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025ad037a3e872c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40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60182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5181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15415fd0592ff6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5666"/>
            <a:ext cx="97078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1597" y="2595181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068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73388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triangle with sides 6, 8 and 10 cm is scaled by </a:t>
            </a:r>
          </a:p>
        </p:txBody>
      </p:sp>
      <p:pic>
        <p:nvPicPr>
          <p:cNvPr id="9" name="Picture 8" descr="343adb895dd9d0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6104" y="1874519"/>
            <a:ext cx="621601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5770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97658"/>
            <a:ext cx="18035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area is </a:t>
            </a:r>
          </a:p>
        </p:txBody>
      </p:sp>
      <p:pic>
        <p:nvPicPr>
          <p:cNvPr id="12" name="Picture 11" descr="2662ac61bc7a43e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0809" y="2668143"/>
            <a:ext cx="97326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874073" y="25976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2331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copy's perimeter and area.</a:t>
            </a:r>
          </a:p>
        </p:txBody>
      </p:sp>
      <p:pic>
        <p:nvPicPr>
          <p:cNvPr id="15" name="Picture 14" descr="288a399f2ce561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5775" y="3891136"/>
            <a:ext cx="2145792" cy="606552"/>
          </a:xfrm>
          <a:prstGeom prst="rect">
            <a:avLst/>
          </a:prstGeom>
        </p:spPr>
      </p:pic>
      <p:pic>
        <p:nvPicPr>
          <p:cNvPr id="16" name="Picture 15" descr="392447636256ad1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5" y="4625704"/>
            <a:ext cx="2042160" cy="6035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663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P = 12 cm, A = 6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6f3278420c6326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1916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747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81982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4 in by 6 in photo, taken 3 years ago, is enlarged at </a:t>
            </a:r>
          </a:p>
        </p:txBody>
      </p:sp>
      <p:pic>
        <p:nvPicPr>
          <p:cNvPr id="9" name="Picture 8" descr="0faca9856b4fca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5558" y="1964245"/>
            <a:ext cx="854392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149951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enlargement's area?</a:t>
            </a:r>
          </a:p>
        </p:txBody>
      </p:sp>
      <p:pic>
        <p:nvPicPr>
          <p:cNvPr id="12" name="Picture 11" descr="2a69d4576013ab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3379" y="3236006"/>
            <a:ext cx="1996439" cy="252984"/>
          </a:xfrm>
          <a:prstGeom prst="rect">
            <a:avLst/>
          </a:prstGeom>
        </p:spPr>
      </p:pic>
      <p:pic>
        <p:nvPicPr>
          <p:cNvPr id="13" name="Picture 12" descr="f562745388bd64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3379" y="3729782"/>
            <a:ext cx="3901440" cy="3048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says that doubling every side of a rectangle doubles its area.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Explain why not, with a counterexample.</a:t>
            </a:r>
          </a:p>
        </p:txBody>
      </p:sp>
      <p:pic>
        <p:nvPicPr>
          <p:cNvPr id="10" name="Picture 9" descr="3b4f9ec0788951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2340" y="3162457"/>
            <a:ext cx="5306568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No: 2 by 7 doubled is 4 by 14, area 14 </a:t>
            </a:r>
            <a:r>
              <a:rPr sz="3040" b="1" i="0">
                <a:solidFill>
                  <a:srgbClr val="9E1B32"/>
                </a:solidFill>
                <a:latin typeface="Arial"/>
              </a:rPr>
              <a:t>→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56 — × 4, as both lengths doubled.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7031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7031"/>
            <a:ext cx="572237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perimeter 18 cm is scaled by </a:t>
            </a:r>
          </a:p>
        </p:txBody>
      </p:sp>
      <p:pic>
        <p:nvPicPr>
          <p:cNvPr id="10" name="Picture 9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9697" y="1598609"/>
            <a:ext cx="551025" cy="2142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0723" y="1497031"/>
            <a:ext cx="36840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2817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28178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14" name="Picture 13" descr="15179f9c1b6811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3085" y="2110276"/>
            <a:ext cx="706870" cy="25324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49956" y="2028178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6" name="Picture 15" descr="0937735c0d6e3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618" y="2129756"/>
            <a:ext cx="551025" cy="21428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032644" y="2028178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619159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19159"/>
            <a:ext cx="2625765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with area </a:t>
            </a:r>
          </a:p>
        </p:txBody>
      </p:sp>
      <p:pic>
        <p:nvPicPr>
          <p:cNvPr id="20" name="Picture 19" descr="f4387bd3ec8815b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3085" y="2701256"/>
            <a:ext cx="910026" cy="253249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953112" y="2619159"/>
            <a:ext cx="186882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22" name="Picture 21" descr="3bcf9a6d74a2c9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774" y="2580198"/>
            <a:ext cx="570506" cy="4953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255280" y="2619159"/>
            <a:ext cx="303256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area.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210140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210140"/>
            <a:ext cx="5140832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2 cm by 5 cm rectangle is scaled by </a:t>
            </a:r>
          </a:p>
        </p:txBody>
      </p:sp>
      <p:pic>
        <p:nvPicPr>
          <p:cNvPr id="26" name="Picture 25" descr="fc22e08664d8088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58152" y="3311718"/>
            <a:ext cx="779227" cy="21428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337380" y="3210140"/>
            <a:ext cx="372860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the copy's perimeter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613271"/>
            <a:ext cx="144653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44418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144418"/>
            <a:ext cx="2531747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 has area </a:t>
            </a:r>
          </a:p>
        </p:txBody>
      </p:sp>
      <p:pic>
        <p:nvPicPr>
          <p:cNvPr id="31" name="Picture 30" descr="edb32a36259546d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9067" y="4226515"/>
            <a:ext cx="718002" cy="253249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67069" y="4144418"/>
            <a:ext cx="3899959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 and its scale copy has area </a:t>
            </a:r>
          </a:p>
        </p:txBody>
      </p:sp>
      <p:pic>
        <p:nvPicPr>
          <p:cNvPr id="33" name="Picture 32" descr="0db939c0bc0baa3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9869" y="4226515"/>
            <a:ext cx="1043608" cy="25324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9473478" y="4144418"/>
            <a:ext cx="988336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 Find </a:t>
            </a:r>
          </a:p>
        </p:txBody>
      </p:sp>
      <p:pic>
        <p:nvPicPr>
          <p:cNvPr id="35" name="Picture 34" descr="15aa4a684a6a761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24654" y="4247388"/>
            <a:ext cx="141930" cy="2115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66585" y="4144418"/>
            <a:ext cx="271558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675565"/>
            <a:ext cx="548640" cy="417443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4675565"/>
            <a:ext cx="9925080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 figure's perimeter is 12 cm and its copy's perimeter is 48 cm. What is the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54480" y="5078696"/>
            <a:ext cx="3825124" cy="417443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area ratio, copy to original?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2–3 — Scale Factor: Perimeter and Area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Perimeter and area: changes in scale — ZC6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find the scale factor or missing side — XHM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Scale Drawings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MA.7.GR.1.5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use a scale such as ¼ in : 1 ft to find real lengths and areas from a drawing, and drawing lengths from real ones.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0528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5" name="Picture 14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2792388"/>
            <a:ext cx="1027644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3002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 figure of area </a:t>
            </a:r>
          </a:p>
        </p:txBody>
      </p:sp>
      <p:pic>
        <p:nvPicPr>
          <p:cNvPr id="9" name="Picture 8" descr="146e78fc0ae7d0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998" y="1517253"/>
            <a:ext cx="752340" cy="26581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92338" y="1440180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1" name="Picture 10" descr="df787c7f4ce773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82113" y="1555226"/>
            <a:ext cx="586208" cy="2230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68321" y="1440180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1897380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36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10028"/>
            <a:ext cx="91705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5 cm side becomes 3 cm in the copy. Find the scale factor.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67228"/>
            <a:ext cx="121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0.6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5798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5daa986ee9f3de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661" y="3706788"/>
            <a:ext cx="1027644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88946" y="3579876"/>
            <a:ext cx="6300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192524"/>
            <a:ext cx="91438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90 miles in 2 hours. How far does it go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4649724"/>
            <a:ext cx="284192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45 miles per hour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floor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scale drawing of a room or building seen from above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(two units)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2120"/>
            <a:ext cx="2095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ratio such as </a:t>
            </a:r>
          </a:p>
        </p:txBody>
      </p:sp>
      <p:pic>
        <p:nvPicPr>
          <p:cNvPr id="12" name="Picture 11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1215" y="2845771"/>
            <a:ext cx="986472" cy="44989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087688" y="2842120"/>
            <a:ext cx="66493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a drawing length and the real length it stands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96837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unit rate of a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886775"/>
            <a:ext cx="4711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scale written per 1 drawing unit: </a:t>
            </a:r>
          </a:p>
        </p:txBody>
      </p:sp>
      <p:pic>
        <p:nvPicPr>
          <p:cNvPr id="16" name="Picture 15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7145" y="3890426"/>
            <a:ext cx="986472" cy="44989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703617" y="3886775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8" name="Picture 17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13627" y="4010441"/>
            <a:ext cx="930751" cy="20431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4149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scale with one unit</a:t>
            </a:r>
          </a:p>
        </p:txBody>
      </p:sp>
      <p:pic>
        <p:nvPicPr>
          <p:cNvPr id="20" name="Picture 19" descr="978f6528d2268a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" y="5052398"/>
            <a:ext cx="559276" cy="18780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02276" y="4912221"/>
            <a:ext cx="54076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— no units: 1 cm of model is 50 cm of car. </a:t>
            </a:r>
          </a:p>
        </p:txBody>
      </p:sp>
      <p:pic>
        <p:nvPicPr>
          <p:cNvPr id="22" name="Picture 21" descr="2e89f08f987938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72717" y="5035888"/>
            <a:ext cx="930751" cy="204311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903468" y="4912221"/>
            <a:ext cx="5471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24" name="Picture 23" descr="f0627971b55979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13478" y="5052398"/>
            <a:ext cx="563403" cy="18780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876881" y="4912221"/>
            <a:ext cx="1374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 this way,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396853"/>
            <a:ext cx="33294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and 48 is the scale factor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scale is a rate: write it per 1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773d9c50cbaab7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9539" y="1993392"/>
            <a:ext cx="428244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9992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Drawing × rate = real.  Real ÷ rate = drawing.  With one unit, 1 in : 4 ft is 1 : 48.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go to the real dimensions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c256debf18477e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4965" y="1993392"/>
            <a:ext cx="3951589" cy="3566159"/>
          </a:xfrm>
          <a:prstGeom prst="rect">
            <a:avLst/>
          </a:prstGeom>
        </p:spPr>
      </p:pic>
      <p:pic>
        <p:nvPicPr>
          <p:cNvPr id="11" name="Picture 10" descr="da18b1e3915be7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5705855"/>
            <a:ext cx="3145536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Real to drawing is a division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5c94e184342c6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1663" y="2027301"/>
            <a:ext cx="2298192" cy="3017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No scale printed? One pair gives it: 2 in </a:t>
            </a:r>
            <a:r>
              <a:rPr sz="2180" b="1" i="0">
                <a:solidFill>
                  <a:srgbClr val="1A1A1A"/>
                </a:solidFill>
                <a:latin typeface="Arial"/>
              </a:rPr>
              <a:t>↔</a:t>
            </a:r>
            <a:r>
              <a:rPr sz="2180" b="1" i="0">
                <a:solidFill>
                  <a:srgbClr val="1A1A1A"/>
                </a:solidFill>
                <a:latin typeface="Lexend"/>
              </a:rPr>
              <a:t> 9 ft is 4.5 ft per inch.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77869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73736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77869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55155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2.5 in by 3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7353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cd2a03b5af577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32048" cy="667512"/>
          </a:xfrm>
          <a:prstGeom prst="rect">
            <a:avLst/>
          </a:prstGeom>
        </p:spPr>
      </p:pic>
      <p:pic>
        <p:nvPicPr>
          <p:cNvPr id="9" name="Picture 8" descr="915548aa4259a54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2072"/>
            <a:ext cx="4096512" cy="277368"/>
          </a:xfrm>
          <a:prstGeom prst="rect">
            <a:avLst/>
          </a:prstGeom>
        </p:spPr>
      </p:pic>
      <p:pic>
        <p:nvPicPr>
          <p:cNvPr id="10" name="Picture 9" descr="ed3c81b185a5a2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13759"/>
            <a:ext cx="2112264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10 ft by 12 ft; 120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6969" y="1641538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7642" y="1600200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1409" y="164153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439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3495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5731" y="164277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floor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6404" y="1600200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647" y="164277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room is 1.5 in by 4 in on the plan.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559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room's real dimensions and area.</a:t>
            </a:r>
          </a:p>
        </p:txBody>
      </p:sp>
      <p:pic>
        <p:nvPicPr>
          <p:cNvPr id="13" name="Picture 12" descr="2ca6e5298287d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403" y="3662138"/>
            <a:ext cx="3523488" cy="256032"/>
          </a:xfrm>
          <a:prstGeom prst="rect">
            <a:avLst/>
          </a:prstGeom>
        </p:spPr>
      </p:pic>
      <p:pic>
        <p:nvPicPr>
          <p:cNvPr id="14" name="Picture 13" descr="5fd038657ddc92f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5403" y="4198586"/>
            <a:ext cx="1551432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5635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 ft by 16 ft;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4 in long; the real wall is 18 ft. Another wall is 6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544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261f8592fb08f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59480" cy="384048"/>
          </a:xfrm>
          <a:prstGeom prst="rect">
            <a:avLst/>
          </a:prstGeom>
        </p:spPr>
      </p:pic>
      <p:pic>
        <p:nvPicPr>
          <p:cNvPr id="9" name="Picture 8" descr="022db8f1da267d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78608"/>
            <a:ext cx="1847088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27 ft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On a drawing a wall is 2 in long; the real wall is 13 ft. Another wall is 5 in long on the drawing.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5686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long is the second wall really?</a:t>
            </a:r>
          </a:p>
        </p:txBody>
      </p:sp>
      <p:pic>
        <p:nvPicPr>
          <p:cNvPr id="10" name="Picture 9" descr="b264694ef97daf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9052" y="3255452"/>
            <a:ext cx="1777507" cy="2753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26560" y="3158059"/>
            <a:ext cx="17357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 per in</a:t>
            </a:r>
          </a:p>
        </p:txBody>
      </p:sp>
      <p:pic>
        <p:nvPicPr>
          <p:cNvPr id="12" name="Picture 11" descr="563feef954113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9052" y="3814331"/>
            <a:ext cx="1923288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32.5 ft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22f3f49cdf11e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1478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4770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8334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ad7010ee96b3fed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63955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37246" y="191833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205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wall is 4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96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wall?</a:t>
            </a:r>
          </a:p>
        </p:txBody>
      </p:sp>
      <p:pic>
        <p:nvPicPr>
          <p:cNvPr id="13" name="Picture 12" descr="c8c92f87f3d6ee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5528" y="3817586"/>
            <a:ext cx="3060192" cy="606552"/>
          </a:xfrm>
          <a:prstGeom prst="rect">
            <a:avLst/>
          </a:prstGeom>
        </p:spPr>
      </p:pic>
      <p:pic>
        <p:nvPicPr>
          <p:cNvPr id="14" name="Picture 13" descr="4c79ce6c59743c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05528" y="4649119"/>
            <a:ext cx="1210056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0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ft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2.5 in long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room?</a:t>
            </a:r>
          </a:p>
        </p:txBody>
      </p:sp>
      <p:pic>
        <p:nvPicPr>
          <p:cNvPr id="13" name="Picture 12" descr="7f47ff26618b217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9135" y="3781201"/>
            <a:ext cx="171297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7.5 ft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84427c8d2ac69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36f237721cbc4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087183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6047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21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42d22dbd0f417c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775" y="3781201"/>
            <a:ext cx="1380744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in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978f6528d2268a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1131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7125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3" name="Picture 12" descr="e6be1afe1000347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212194"/>
            <a:ext cx="667512" cy="2712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5" name="Picture 14" descr="d1c869ae9d4258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209146"/>
            <a:ext cx="1155192" cy="28041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7" name="Picture 16" descr="f9480b526a91aca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24842"/>
            <a:ext cx="1136904" cy="27736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9" name="Picture 18" descr="f6b889ed3e969be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27890"/>
            <a:ext cx="1075944" cy="274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87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model car is built at </a:t>
            </a:r>
          </a:p>
        </p:txBody>
      </p:sp>
      <p:pic>
        <p:nvPicPr>
          <p:cNvPr id="9" name="Picture 8" descr="f950ae6c97c70c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994" y="1974151"/>
            <a:ext cx="673607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9602" y="1851660"/>
            <a:ext cx="27829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is 8 cm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real car?</a:t>
            </a:r>
          </a:p>
        </p:txBody>
      </p:sp>
      <p:pic>
        <p:nvPicPr>
          <p:cNvPr id="12" name="Picture 11" descr="f87205a9484c63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132" y="3222663"/>
            <a:ext cx="2004933" cy="2723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781065" y="3122278"/>
            <a:ext cx="8542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cm</a:t>
            </a:r>
          </a:p>
        </p:txBody>
      </p:sp>
      <p:pic>
        <p:nvPicPr>
          <p:cNvPr id="14" name="Picture 13" descr="19d037a982db9ca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6132" y="3781598"/>
            <a:ext cx="210312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79252" y="3661774"/>
            <a:ext cx="65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5858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3766" cy="5398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7058" y="19158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556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63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917096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ea6ef832dff2cc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874519"/>
            <a:ext cx="1186243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9535" y="191709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618041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real wall is 15 ft long.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713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it on the plan?</a:t>
            </a:r>
          </a:p>
        </p:txBody>
      </p:sp>
      <p:pic>
        <p:nvPicPr>
          <p:cNvPr id="13" name="Picture 12" descr="e9e378358122466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7095" y="3890738"/>
            <a:ext cx="3877056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3.75 in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cec3ecd6d985b83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702524"/>
            <a:ext cx="981455" cy="3413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7573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48cdba4a3e3447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702524"/>
            <a:ext cx="969264" cy="34137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096426823913f6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4315172"/>
            <a:ext cx="1014984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437003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ac80d7fa9b4da3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4315172"/>
            <a:ext cx="978408" cy="3413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0466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room is 2 in by 3 in on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room's real area?</a:t>
            </a:r>
          </a:p>
        </p:txBody>
      </p:sp>
      <p:pic>
        <p:nvPicPr>
          <p:cNvPr id="13" name="Picture 12" descr="a2754109ea50ef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039" y="3781201"/>
            <a:ext cx="3249168" cy="252984"/>
          </a:xfrm>
          <a:prstGeom prst="rect">
            <a:avLst/>
          </a:prstGeom>
        </p:spPr>
      </p:pic>
      <p:pic>
        <p:nvPicPr>
          <p:cNvPr id="14" name="Picture 13" descr="cb9cc937a98fdc8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11039" y="4317649"/>
            <a:ext cx="1554480" cy="2529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96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f0627971b55979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plane is 36 ft long.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40465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One model of it is built at </a:t>
            </a:r>
          </a:p>
        </p:txBody>
      </p:sp>
      <p:pic>
        <p:nvPicPr>
          <p:cNvPr id="10" name="Picture 9" descr="ea7aeef4c43044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862" y="2513249"/>
            <a:ext cx="676084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19946" y="2390758"/>
            <a:ext cx="2031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another at </a:t>
            </a:r>
          </a:p>
        </p:txBody>
      </p:sp>
      <p:pic>
        <p:nvPicPr>
          <p:cNvPr id="12" name="Picture 11" descr="ae14a7ed505182d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667" y="2513249"/>
            <a:ext cx="648843" cy="22536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63510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model is longer, and by how much?</a:t>
            </a:r>
          </a:p>
        </p:txBody>
      </p:sp>
      <p:pic>
        <p:nvPicPr>
          <p:cNvPr id="15" name="Picture 14" descr="a89ced5ccc91c1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73067" y="3758769"/>
            <a:ext cx="2112660" cy="27530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85728" y="3661376"/>
            <a:ext cx="637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in</a:t>
            </a:r>
          </a:p>
        </p:txBody>
      </p:sp>
      <p:pic>
        <p:nvPicPr>
          <p:cNvPr id="17" name="Picture 16" descr="5f9988afdad05b2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73067" y="4317649"/>
            <a:ext cx="4328160" cy="2560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72372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1 : 48 model, by 3 in (9 in against 6 in)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a99ea26457b731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Mia, who is 13, enlarges her 9 in by 12 in poster into a mural.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390758"/>
            <a:ext cx="3151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mural's scale is </a:t>
            </a:r>
          </a:p>
        </p:txBody>
      </p:sp>
      <p:pic>
        <p:nvPicPr>
          <p:cNvPr id="10" name="Picture 9" descr="815ebff852359b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8889" y="2493437"/>
            <a:ext cx="1094613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343502" y="239075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are the mural's dimensions?</a:t>
            </a:r>
          </a:p>
        </p:txBody>
      </p:sp>
      <p:pic>
        <p:nvPicPr>
          <p:cNvPr id="13" name="Picture 12" descr="12be65d33c7344c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780" y="3781201"/>
            <a:ext cx="3599688" cy="2499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 ft by 24 ft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On Andrew's drawing a wall is 3.5 in wide and 4 in tall; the real wall is 26.25 ft wide.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real height and the real area. Which step uses the scale?</a:t>
            </a:r>
          </a:p>
        </p:txBody>
      </p:sp>
      <p:pic>
        <p:nvPicPr>
          <p:cNvPr id="10" name="Picture 9" descr="ba794c9b63733e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9712" y="3994337"/>
            <a:ext cx="6208776" cy="347472"/>
          </a:xfrm>
          <a:prstGeom prst="rect">
            <a:avLst/>
          </a:prstGeom>
        </p:spPr>
      </p:pic>
      <p:pic>
        <p:nvPicPr>
          <p:cNvPr id="11" name="Picture 10" descr="b9e87113330b484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9712" y="4563742"/>
            <a:ext cx="2703576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30 ft high; 787.5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 The scale (7.5 ft per in) is the step from 4 in to 30 ft.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55315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55315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0" name="Picture 9" descr="e7b684faf8832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7231" y="1517904"/>
            <a:ext cx="959324" cy="448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776556" y="1553154"/>
            <a:ext cx="540974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wall is 6 in long on it. Find the real length.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07522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07522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4" name="Picture 13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163351"/>
            <a:ext cx="914002" cy="20143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31233" y="2075224"/>
            <a:ext cx="57401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3.2 in long on it. Find the real length.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54315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54315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18" name="Picture 17" descr="42aab0cb6b1598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7231" y="2631285"/>
            <a:ext cx="914002" cy="20143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731233" y="2543158"/>
            <a:ext cx="6217697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real wall is 22 ft long. Find its length on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06396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063968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2" name="Picture 21" descr="9ca189c78b28ba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7231" y="3029977"/>
            <a:ext cx="979468" cy="44567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96699" y="3063968"/>
            <a:ext cx="660376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room is 2 in by 3.5 in on it. Find the real dimensions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484195"/>
            <a:ext cx="132879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and area.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95212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52129"/>
            <a:ext cx="3021222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model boat is built at </a:t>
            </a:r>
          </a:p>
        </p:txBody>
      </p:sp>
      <p:pic>
        <p:nvPicPr>
          <p:cNvPr id="27" name="Picture 26" descr="701ad704adc58a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542" y="4047810"/>
            <a:ext cx="569048" cy="186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07590" y="3952129"/>
            <a:ext cx="585371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and is 15 cm long. Find the real boat's length in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319479"/>
            <a:ext cx="10807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meters.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478741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87414"/>
            <a:ext cx="980063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On a drawing a wall is 3 in long; the real wall is 16.5 ft. Another wall is 5 in long on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154764"/>
            <a:ext cx="416887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drawing. How long is it really?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 4 — Real-World Scale Drawings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word problems — 84H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Scale drawings: scale factor word problems — KCM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6–7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Length Across Systems; Currency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a length between the customary and metric systems with a ratio from the reference sheet, and convert money with a given rate.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7713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3" name="Picture 12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2895917"/>
            <a:ext cx="1115456" cy="2183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5" name="Picture 14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487205"/>
            <a:ext cx="1300575" cy="2349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744816" y="33840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93131"/>
            <a:ext cx="10713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At </a:t>
            </a:r>
          </a:p>
        </p:txBody>
      </p:sp>
      <p:pic>
        <p:nvPicPr>
          <p:cNvPr id="9" name="Picture 8" descr="992378efc32c8a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8724" y="1463039"/>
            <a:ext cx="1134443" cy="51738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43168" y="1493131"/>
            <a:ext cx="54619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how long is a 10-ft wall on the plan?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16601" y="1440180"/>
            <a:ext cx="9971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158730"/>
            <a:ext cx="93367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14 cm side becomes 7 cm in the copy. Find the scale factor.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615930"/>
            <a:ext cx="1009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k = 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28578"/>
            <a:ext cx="33564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quotient:  </a:t>
            </a:r>
          </a:p>
        </p:txBody>
      </p:sp>
      <p:pic>
        <p:nvPicPr>
          <p:cNvPr id="15" name="Picture 14" descr="39e03d93cf5508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841" y="3353117"/>
            <a:ext cx="1115456" cy="2183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57938" y="3228578"/>
            <a:ext cx="3856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841226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8" name="Picture 17" descr="f2cd49c9de613dc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4241" y="3944405"/>
            <a:ext cx="1300575" cy="23495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744816" y="3841226"/>
            <a:ext cx="37385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feet is 30 in?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4895" y="3841226"/>
            <a:ext cx="9500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2.5 ft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customary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inch–foot–mile–pound–gallon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218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metric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845771"/>
            <a:ext cx="1024128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centimeter–meter–kilometer–kilogram–liter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41324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conversion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812054"/>
            <a:ext cx="44291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pair of equal measures, such as </a:t>
            </a:r>
          </a:p>
        </p:txBody>
      </p:sp>
      <p:pic>
        <p:nvPicPr>
          <p:cNvPr id="14" name="Picture 13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990" y="3935720"/>
            <a:ext cx="1537493" cy="20431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72484" y="3812054"/>
            <a:ext cx="4530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, written as a fraction that equals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47562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exchange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4115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how much of one currency one unit of another buys — a rate someone sets, printed on the problem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conversion ratio is a form of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7d6f4ebec763b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5532" y="1993392"/>
            <a:ext cx="4410456" cy="697992"/>
          </a:xfrm>
          <a:prstGeom prst="rect">
            <a:avLst/>
          </a:prstGeom>
        </p:spPr>
      </p:pic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Which ratio? Estimate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d1300cfc060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8975" y="1993392"/>
            <a:ext cx="4163568" cy="7010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32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Pick the ratio whose 1 is the unit you have. Estimate: which is the bigger unit?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Money is a rate someone sets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be123ca6a6e2b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1583" y="2039493"/>
            <a:ext cx="3578352" cy="289560"/>
          </a:xfrm>
          <a:prstGeom prst="rect">
            <a:avLst/>
          </a:prstGeom>
        </p:spPr>
      </p:pic>
      <p:pic>
        <p:nvPicPr>
          <p:cNvPr id="11" name="Picture 10" descr="ff2899a6a3a58a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42032" y="2734437"/>
            <a:ext cx="7077456" cy="280416"/>
          </a:xfrm>
          <a:prstGeom prst="rect">
            <a:avLst/>
          </a:prstGeom>
        </p:spPr>
      </p:pic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7254" y="21829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672246" y="2080260"/>
            <a:ext cx="4799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tablet screen is 15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c726513f1e9cc6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1155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38.1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804" y="168001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46796" y="1577340"/>
            <a:ext cx="40500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monitor is 25 in across.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338bfed52120ec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811" y="2992166"/>
            <a:ext cx="232562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63.5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20937" y="208026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47c497fa41547b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1690" y="2192845"/>
            <a:ext cx="3345751" cy="23526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69744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euros is $80? And how many dollars is 46 euros?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3223ac4dec205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10256" cy="280416"/>
          </a:xfrm>
          <a:prstGeom prst="rect">
            <a:avLst/>
          </a:prstGeom>
        </p:spPr>
      </p:pic>
      <p:pic>
        <p:nvPicPr>
          <p:cNvPr id="9" name="Picture 8" descr="d55869bdcabf04f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2362200" cy="2804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73.60 euros; $50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cdcc197a46a9d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93098" y="1577340"/>
            <a:ext cx="21679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9" name="Picture 8" descr="5497a985b9854d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851" y="1680019"/>
            <a:ext cx="5047107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70958" y="1577340"/>
            <a:ext cx="1234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(CAD).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$120 in CAD? And 81 CAD in US dollars?</a:t>
            </a:r>
          </a:p>
        </p:txBody>
      </p:sp>
      <p:pic>
        <p:nvPicPr>
          <p:cNvPr id="12" name="Picture 11" descr="b61c547caeac9d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9" y="2992166"/>
            <a:ext cx="2368296" cy="256032"/>
          </a:xfrm>
          <a:prstGeom prst="rect">
            <a:avLst/>
          </a:prstGeom>
        </p:spPr>
      </p:pic>
      <p:pic>
        <p:nvPicPr>
          <p:cNvPr id="13" name="Picture 12" descr="8124e5dae99de1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52999" y="3531662"/>
            <a:ext cx="2054352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162 CAD; $60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3fcb734e6361b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4499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9432" y="1851660"/>
            <a:ext cx="3267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ruler is 20 in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1" name="Picture 10" descr="563291572bb5ac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428" y="3242102"/>
            <a:ext cx="2374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50.8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519897831d37690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827657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62097" y="1851660"/>
            <a:ext cx="36866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phone is 20 cm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inches is that?</a:t>
            </a:r>
          </a:p>
        </p:txBody>
      </p:sp>
      <p:pic>
        <p:nvPicPr>
          <p:cNvPr id="11" name="Picture 10" descr="a6122b463c812d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7299" y="3242102"/>
            <a:ext cx="213664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7.8 in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b3ee9e039b8f1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0195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31553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race is 5 mi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kilometers is that?</a:t>
            </a:r>
          </a:p>
        </p:txBody>
      </p:sp>
      <p:pic>
        <p:nvPicPr>
          <p:cNvPr id="11" name="Picture 10" descr="ed0994c23a4938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015" y="3239054"/>
            <a:ext cx="211226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8.05 km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bf2c9433a2aba0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2" name="Picture 11" descr="d576d2edbb6fc5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8568" y="3187810"/>
            <a:ext cx="1264920" cy="3017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37959" y="321829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4" name="Picture 13" descr="1bea68e0811b195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888" y="3187810"/>
            <a:ext cx="1249680" cy="301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6" name="Picture 15" descr="711be185f145e86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58568" y="3800458"/>
            <a:ext cx="1292352" cy="3017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8" name="Picture 17" descr="147918762884eff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04888" y="3800458"/>
            <a:ext cx="1024128" cy="3017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50759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6a54cea2649eb4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4339"/>
            <a:ext cx="1949005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3445" y="1851660"/>
            <a:ext cx="31804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trail is 5 km long.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miles is that?</a:t>
            </a:r>
          </a:p>
        </p:txBody>
      </p:sp>
      <p:pic>
        <p:nvPicPr>
          <p:cNvPr id="11" name="Picture 10" descr="7848a55870dbf02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599" y="3239054"/>
            <a:ext cx="1914144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3.1 mi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23c46f257f02bc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493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76703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3fcb734e6361b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3209" y="1954339"/>
            <a:ext cx="1844992" cy="2451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20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door is 6 ft tall.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centimeters is that?</a:t>
            </a:r>
          </a:p>
        </p:txBody>
      </p:sp>
      <p:pic>
        <p:nvPicPr>
          <p:cNvPr id="14" name="Picture 13" descr="cce88695c46a5f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0787" y="3753769"/>
            <a:ext cx="1935480" cy="274320"/>
          </a:xfrm>
          <a:prstGeom prst="rect">
            <a:avLst/>
          </a:prstGeom>
        </p:spPr>
      </p:pic>
      <p:pic>
        <p:nvPicPr>
          <p:cNvPr id="15" name="Picture 14" descr="23919ae52bfa69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787" y="4320697"/>
            <a:ext cx="2709672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182.88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a7e24ba549ecbc3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79990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27206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88d2b26b87c7a8c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68212" y="1956815"/>
            <a:ext cx="184708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0" name="Picture 9" descr="f2542c0ca55f85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3038" y="1953768"/>
            <a:ext cx="1347216" cy="2407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30254" y="1851660"/>
            <a:ext cx="3781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2" name="Picture 11" descr="e3914b43cbb52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1260" y="1956815"/>
            <a:ext cx="1844040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153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table is 3 yd long.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About how many centimeters is that? Estimate, then compute.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94988" y="3661376"/>
            <a:ext cx="77087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Estimate: 3 yd is a bit under 3 m, so about 270 cm</a:t>
            </a:r>
          </a:p>
        </p:txBody>
      </p:sp>
      <p:pic>
        <p:nvPicPr>
          <p:cNvPr id="17" name="Picture 16" descr="d185211e555287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49852" y="4284026"/>
            <a:ext cx="5269992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7357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270; exactly 274.32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14cf36aaa71634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6999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58984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e54799be410571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4328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876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608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464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Rate on Nov 2: </a:t>
            </a:r>
          </a:p>
        </p:txBody>
      </p:sp>
      <p:pic>
        <p:nvPicPr>
          <p:cNvPr id="9" name="Picture 8" descr="fa316f6c8e8ec3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1985" y="1949386"/>
            <a:ext cx="1899475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6146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1" name="Picture 10" descr="5f4792e490fd8dd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84704"/>
            <a:ext cx="2621280" cy="29260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85572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 changes $200 to CAD, then to pesos.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63891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pesos does he get?</a:t>
            </a:r>
          </a:p>
        </p:txBody>
      </p:sp>
      <p:pic>
        <p:nvPicPr>
          <p:cNvPr id="15" name="Picture 14" descr="773c04bbf5cec4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5704" y="4387753"/>
            <a:ext cx="63398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52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4,276.80 pesos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2f86d8905c9108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6e18d58589ed8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5072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8516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Theo, who weighs 110 lb, rides a 12 km trail.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the trail in miles?</a:t>
            </a:r>
          </a:p>
        </p:txBody>
      </p:sp>
      <p:pic>
        <p:nvPicPr>
          <p:cNvPr id="12" name="Picture 11" descr="5134a9b99644116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9764" y="3778153"/>
            <a:ext cx="2331720" cy="256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7.44 mi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7088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1528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fd521c93e65714f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4587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08159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4344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3914b43cbb522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844040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78480" y="1851660"/>
            <a:ext cx="2907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</a:t>
            </a:r>
          </a:p>
        </p:txBody>
      </p:sp>
      <p:pic>
        <p:nvPicPr>
          <p:cNvPr id="10" name="Picture 9" descr="6c8af11a611881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69464"/>
            <a:ext cx="1831848" cy="2438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66288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76956"/>
            <a:ext cx="44962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Jo converts 30 cm to inches: </a:t>
            </a:r>
          </a:p>
        </p:txBody>
      </p:sp>
      <p:pic>
        <p:nvPicPr>
          <p:cNvPr id="13" name="Picture 12" descr="4ece4610ab63a2b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3572" y="3179635"/>
            <a:ext cx="2417064" cy="24517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10636" y="307695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7124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6" name="Picture 15" descr="609db8417a3b428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051" y="4467398"/>
            <a:ext cx="2298192" cy="25298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19074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inches ratio on centimeters. Inches are bigger, so fewer: 11.7 in.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01723"/>
            <a:ext cx="1847088" cy="2438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74720" y="1495044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8f784bf30c7681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96083"/>
            <a:ext cx="1831848" cy="243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59480" y="2089403"/>
            <a:ext cx="427188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inches is 40 cm?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673c0080fbe231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90443"/>
            <a:ext cx="1901952" cy="243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29584" y="2683763"/>
            <a:ext cx="47457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kilometers is 10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d2f86d8905c9108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4803"/>
            <a:ext cx="1950720" cy="24384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78352" y="3278123"/>
            <a:ext cx="3925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miles is 8 km?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1" name="Picture 20" descr="85d78c8d2e33f8b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48684"/>
            <a:ext cx="1304544" cy="304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932176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3" name="Picture 22" descr="a7e24ba549ecbc3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66238" y="3980688"/>
            <a:ext cx="1347216" cy="24079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513454" y="3872483"/>
            <a:ext cx="3712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5" name="Picture 24" descr="88d2b26b87c7a8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7516" y="3979164"/>
            <a:ext cx="1847088" cy="2438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594604" y="3872483"/>
            <a:ext cx="48643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2 yd?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311396"/>
            <a:ext cx="21866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Estimate first.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0575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4905755"/>
            <a:ext cx="2086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Today's rate: </a:t>
            </a:r>
          </a:p>
        </p:txBody>
      </p:sp>
      <p:pic>
        <p:nvPicPr>
          <p:cNvPr id="30" name="Picture 29" descr="9090d8e8f0989a7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03603" y="5017008"/>
            <a:ext cx="3346704" cy="2346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850307" y="4905755"/>
            <a:ext cx="4610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euros is $50? How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5344667"/>
            <a:ext cx="37730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many dollars is 23 euros?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6–7 — Converting Length Across Systems; Currency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8–9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Converting Mass, Area and Volume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MA.7.AR.3.3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convert mass, volume and area between systems, and square the length ratio for area.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2" name="Picture 11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4" name="Picture 13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7" name="Picture 16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2792388"/>
            <a:ext cx="99441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874519" y="32781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19" name="Picture 18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381303"/>
            <a:ext cx="1286335" cy="234957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730576" y="32781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23c46f257f02b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48106"/>
            <a:ext cx="1768117" cy="23495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77039" y="1440180"/>
            <a:ext cx="4831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centimeters is 12 in?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9870" y="1440180"/>
            <a:ext cx="15592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30.48 cm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3016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 figure of area </a:t>
            </a:r>
          </a:p>
        </p:txBody>
      </p:sp>
      <p:pic>
        <p:nvPicPr>
          <p:cNvPr id="13" name="Picture 12" descr="4f88773a302254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136" y="2129901"/>
            <a:ext cx="740473" cy="26581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94609" y="2052828"/>
            <a:ext cx="2026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is scaled by </a:t>
            </a:r>
          </a:p>
        </p:txBody>
      </p:sp>
      <p:pic>
        <p:nvPicPr>
          <p:cNvPr id="15" name="Picture 14" descr="8058f93241672f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4384" y="2170247"/>
            <a:ext cx="579088" cy="225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963473" y="2052828"/>
            <a:ext cx="27383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The copy's area?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10028"/>
            <a:ext cx="11989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63 cm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122676"/>
            <a:ext cx="3275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product:  </a:t>
            </a:r>
          </a:p>
        </p:txBody>
      </p:sp>
      <p:pic>
        <p:nvPicPr>
          <p:cNvPr id="19" name="Picture 18" descr="c261042202a19b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2661" y="3249588"/>
            <a:ext cx="994417" cy="21597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55719" y="3122676"/>
            <a:ext cx="744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−10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74519" y="3735324"/>
            <a:ext cx="7068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</a:t>
            </a:r>
          </a:p>
        </p:txBody>
      </p:sp>
      <p:pic>
        <p:nvPicPr>
          <p:cNvPr id="22" name="Picture 21" descr="419008846420ef4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44241" y="3838503"/>
            <a:ext cx="1286335" cy="23495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730576" y="3735324"/>
            <a:ext cx="6844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A 1-ft square has what area in square inches?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192524"/>
            <a:ext cx="12465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144 in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mass and weight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20848"/>
            <a:ext cx="10241280" cy="32202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pounds and kilograms — one word on this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8062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ounce (oz)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715569"/>
            <a:ext cx="12917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weight: </a:t>
            </a:r>
          </a:p>
        </p:txBody>
      </p:sp>
      <p:pic>
        <p:nvPicPr>
          <p:cNvPr id="12" name="Picture 11" descr="74807a5fc79ce2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7613" y="2857158"/>
            <a:ext cx="1092136" cy="176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89749" y="271556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14" name="Picture 13" descr="f9a4b27b199226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792" y="2864587"/>
            <a:ext cx="1361455" cy="22102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3351077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fluid ounce (fl oz)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686025"/>
            <a:ext cx="13502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a volume: </a:t>
            </a:r>
          </a:p>
        </p:txBody>
      </p:sp>
      <p:pic>
        <p:nvPicPr>
          <p:cNvPr id="17" name="Picture 16" descr="ae0de4c5e07765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56112" y="3827615"/>
            <a:ext cx="1116282" cy="17645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72394" y="3686025"/>
            <a:ext cx="39764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not the same unit as the ounce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321533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square units</a:t>
            </a:r>
          </a:p>
        </p:txBody>
      </p:sp>
      <p:pic>
        <p:nvPicPr>
          <p:cNvPr id="20" name="Picture 19" descr="6bd260b1d893cf5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4785070"/>
            <a:ext cx="243316" cy="1857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386316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2" name="Picture 21" descr="b894db2784ec4b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358" y="4788784"/>
            <a:ext cx="403050" cy="18573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988409" y="4656482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4" name="Picture 23" descr="9bb1e36bc0b83fd9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87451" y="4786927"/>
            <a:ext cx="271176" cy="183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458628" y="4656482"/>
            <a:ext cx="47360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an area; the length ratio is used twice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291990"/>
            <a:ext cx="10607040" cy="3578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1" i="0">
                <a:solidFill>
                  <a:srgbClr val="0B5394"/>
                </a:solidFill>
                <a:latin typeface="Lexend"/>
              </a:rPr>
              <a:t>cubic units</a:t>
            </a:r>
          </a:p>
        </p:txBody>
      </p:sp>
      <p:pic>
        <p:nvPicPr>
          <p:cNvPr id="27" name="Picture 26" descr="e179aa5248dda237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3000" y="5757384"/>
            <a:ext cx="243316" cy="18388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386316" y="5626939"/>
            <a:ext cx="3362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, </a:t>
            </a:r>
          </a:p>
        </p:txBody>
      </p:sp>
      <p:pic>
        <p:nvPicPr>
          <p:cNvPr id="29" name="Picture 28" descr="7280d534979a852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85358" y="5759241"/>
            <a:ext cx="260032" cy="18202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845391" y="5626939"/>
            <a:ext cx="5560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710" b="0" i="0">
                <a:solidFill>
                  <a:srgbClr val="1A1A1A"/>
                </a:solidFill>
                <a:latin typeface="Lexend"/>
              </a:rPr>
              <a:t> — a volume; the length ratio is used three times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Mass and volume convert like length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3faf06fd849e2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7" y="2029968"/>
            <a:ext cx="8193024" cy="374904"/>
          </a:xfrm>
          <a:prstGeom prst="rect">
            <a:avLst/>
          </a:prstGeom>
        </p:spPr>
      </p:pic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Area: the length ratio is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g8b3f50c43905f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79" y="1993392"/>
            <a:ext cx="2194560" cy="2298185"/>
          </a:xfrm>
          <a:prstGeom prst="rect">
            <a:avLst/>
          </a:prstGeom>
        </p:spPr>
      </p:pic>
      <p:pic>
        <p:nvPicPr>
          <p:cNvPr id="11" name="Picture 10" descr="2bbb456a3f9066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2992" y="4437881"/>
            <a:ext cx="6955536" cy="341376"/>
          </a:xfrm>
          <a:prstGeom prst="rect">
            <a:avLst/>
          </a:prstGeom>
        </p:spPr>
      </p:pic>
      <p:pic>
        <p:nvPicPr>
          <p:cNvPr id="12" name="Picture 11" descr="e1f2231684ab9c0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23160" y="5123681"/>
            <a:ext cx="7315200" cy="408432"/>
          </a:xfrm>
          <a:prstGeom prst="rect">
            <a:avLst/>
          </a:prstGeom>
        </p:spPr>
      </p:pic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Fluid ounces go through cups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68b725b0adf21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528" y="2039493"/>
            <a:ext cx="6760464" cy="289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Length: the ratio once. Area: twice. Volume: three times.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1260" y="219284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204936" y="2080260"/>
            <a:ext cx="38724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suitcase weighs 70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3192ce45c55d31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029712" cy="2773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31.78 kg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889ac44668791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c5f90b4ff337bc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941" y="1689925"/>
            <a:ext cx="198367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27618" y="1577340"/>
            <a:ext cx="34271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crate weighs 90 lb.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kilograms is that?</a:t>
            </a:r>
          </a:p>
        </p:txBody>
      </p:sp>
      <p:pic>
        <p:nvPicPr>
          <p:cNvPr id="11" name="Picture 10" descr="ac569d9db41729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779" y="2992166"/>
            <a:ext cx="283768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40.86 kg (about 40.9)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419008846420ef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2668" y="2177986"/>
            <a:ext cx="1342262" cy="24517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134931" y="2080260"/>
            <a:ext cx="152821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tile is </a:t>
            </a:r>
          </a:p>
        </p:txBody>
      </p:sp>
      <p:pic>
        <p:nvPicPr>
          <p:cNvPr id="10" name="Picture 9" descr="040327706b658f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989" y="2148268"/>
            <a:ext cx="574548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100537" y="208026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many square inches is that?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d6d56c7d6c8476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76600" cy="341376"/>
          </a:xfrm>
          <a:prstGeom prst="rect">
            <a:avLst/>
          </a:prstGeom>
        </p:spPr>
      </p:pic>
      <p:pic>
        <p:nvPicPr>
          <p:cNvPr id="9" name="Picture 8" descr="0454483ebb13af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220675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720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f721e6687ccce4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f6484183bcbd0a9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155f3c6fd32ecb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678" y="1689925"/>
            <a:ext cx="1302639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84317" y="1577340"/>
            <a:ext cx="185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patio is </a:t>
            </a:r>
          </a:p>
        </p:txBody>
      </p:sp>
      <p:pic>
        <p:nvPicPr>
          <p:cNvPr id="10" name="Picture 9" descr="3c99dfaaa214ad6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295" y="1647825"/>
            <a:ext cx="713232" cy="3467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311527" y="1577340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3" name="Picture 12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429" y="2912934"/>
            <a:ext cx="906708" cy="3351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80138" y="2875390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5" name="Picture 14" descr="33061e30c29e67c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429" y="3531662"/>
            <a:ext cx="140208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45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fd933339219d3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3864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98304" y="1851660"/>
            <a:ext cx="35493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bag of rice is 10 kg.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pounds is that?</a:t>
            </a:r>
          </a:p>
        </p:txBody>
      </p:sp>
      <p:pic>
        <p:nvPicPr>
          <p:cNvPr id="11" name="Picture 10" descr="6312203239575ae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927" y="3242102"/>
            <a:ext cx="2755392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22.04 lb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pic>
        <p:nvPicPr>
          <p:cNvPr id="8" name="Picture 7" descr="3b403895e0674b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10760bc6c5882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34146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8586" y="1851660"/>
            <a:ext cx="336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cooler holds 4 gal.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1" name="Picture 10" descr="94f8980594becd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799" y="3242102"/>
            <a:ext cx="2520696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15.14 L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d26edaed8467e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590217cf62aa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966341" cy="3046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781" y="1851660"/>
            <a:ext cx="2972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 A tank holds 10 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that?</a:t>
            </a:r>
          </a:p>
        </p:txBody>
      </p:sp>
      <p:pic>
        <p:nvPicPr>
          <p:cNvPr id="11" name="Picture 10" descr="ba6a3ea2bb8d7c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1559" y="3239054"/>
            <a:ext cx="2548128" cy="256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2.64 gal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85d78c8d2e33f8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4544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38984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a387a3e299107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0849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4275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5" name="Picture 14" descr="1faa871627427bb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776074"/>
            <a:ext cx="920495" cy="3413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383093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7" name="Picture 16" descr="fa7c6ba97e7789d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776074"/>
            <a:ext cx="932688" cy="3413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91640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9" name="Picture 18" descr="9327eaee863255b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4388722"/>
            <a:ext cx="752856" cy="34137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59" y="4443586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1" name="Picture 20" descr="e03f104e5972ce9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4388722"/>
            <a:ext cx="749808" cy="341376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77240" y="512024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b837b0c989315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307592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4203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293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patch of lawn is </a:t>
            </a:r>
          </a:p>
        </p:txBody>
      </p:sp>
      <p:pic>
        <p:nvPicPr>
          <p:cNvPr id="11" name="Picture 10" descr="6287286a7d407b5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3426" y="2534793"/>
            <a:ext cx="703326" cy="34671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736752" y="2464308"/>
            <a:ext cx="14054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area.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feet is that?</a:t>
            </a:r>
          </a:p>
        </p:txBody>
      </p:sp>
      <p:pic>
        <p:nvPicPr>
          <p:cNvPr id="14" name="Picture 13" descr="6a1d74e97a46e5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3429" y="3772470"/>
            <a:ext cx="906708" cy="33515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80138" y="3734926"/>
            <a:ext cx="3757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ft</a:t>
            </a:r>
            <a:r>
              <a:rPr sz="275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750" b="0" i="0">
                <a:solidFill>
                  <a:srgbClr val="1A1A1A"/>
                </a:solidFill>
                <a:latin typeface="Lexend"/>
              </a:rPr>
              <a:t> in a square yard</a:t>
            </a:r>
          </a:p>
        </p:txBody>
      </p:sp>
      <p:pic>
        <p:nvPicPr>
          <p:cNvPr id="16" name="Picture 15" descr="33de29ff29e259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3429" y="4394246"/>
            <a:ext cx="1353312" cy="24993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18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ae0de4c5e07765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ed1791ada6c756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747b584da7b830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4245"/>
            <a:ext cx="1488376" cy="2352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22816" y="1851660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10" name="Picture 9" descr="97621f8b70045f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9323" y="1974151"/>
            <a:ext cx="1480947" cy="2253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027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bottle holds 16 fl oz.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is that?</a:t>
            </a:r>
          </a:p>
        </p:txBody>
      </p:sp>
      <p:pic>
        <p:nvPicPr>
          <p:cNvPr id="14" name="Picture 13" descr="83c4edb2bd6b77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8343" y="3778153"/>
            <a:ext cx="1676400" cy="256032"/>
          </a:xfrm>
          <a:prstGeom prst="rect">
            <a:avLst/>
          </a:prstGeom>
        </p:spPr>
      </p:pic>
      <p:pic>
        <p:nvPicPr>
          <p:cNvPr id="15" name="Picture 14" descr="f589dab710055d0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8343" y="4320697"/>
            <a:ext cx="21945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0.48 L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fb110fe836d86e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ff228dc4c8df40a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4" name="Picture 13" descr="14ef69fc1ef0ed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3282696"/>
            <a:ext cx="947928" cy="3444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537959" y="3291840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6" name="Picture 15" descr="6c5a704f658703b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3285744"/>
            <a:ext cx="646176" cy="27736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91640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8" name="Picture 17" descr="e79298326e3b3d5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8568" y="3895344"/>
            <a:ext cx="1182624" cy="34442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537959" y="3904488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20" name="Picture 19" descr="b951781f6010573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04888" y="3898392"/>
            <a:ext cx="612648" cy="27736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458114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b9580ee1a813cb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75103"/>
            <a:ext cx="1783080" cy="2255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175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54132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square centimeters is </a:t>
            </a:r>
          </a:p>
        </p:txBody>
      </p:sp>
      <p:pic>
        <p:nvPicPr>
          <p:cNvPr id="11" name="Picture 10" descr="dc0942f76508db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526" y="2532316"/>
            <a:ext cx="581977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92503" y="2464308"/>
            <a:ext cx="374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pic>
        <p:nvPicPr>
          <p:cNvPr id="13" name="Picture 12" descr="90afc689567248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6299" y="3312604"/>
            <a:ext cx="2898648" cy="3139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10,000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d7de33d50f52ca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707e309a93366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6596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040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5-lb bag of flour and a 2.5-kg bag of sugar.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is heavier, and by how much?</a:t>
            </a:r>
          </a:p>
        </p:txBody>
      </p:sp>
      <p:pic>
        <p:nvPicPr>
          <p:cNvPr id="12" name="Picture 11" descr="1da7a0dd2289da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8387" y="3769009"/>
            <a:ext cx="3014472" cy="265176"/>
          </a:xfrm>
          <a:prstGeom prst="rect">
            <a:avLst/>
          </a:prstGeom>
        </p:spPr>
      </p:pic>
      <p:pic>
        <p:nvPicPr>
          <p:cNvPr id="13" name="Picture 12" descr="d2ea0731c01267c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8387" y="4320697"/>
            <a:ext cx="214579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7237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The sugar, by 0.51 lb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0d647df019511e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118ca277248594b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62911"/>
            <a:ext cx="1935480" cy="304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69920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74332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20-gal fish tank, bought for $45, is being filled.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liters does it hold?</a:t>
            </a:r>
          </a:p>
        </p:txBody>
      </p:sp>
      <p:pic>
        <p:nvPicPr>
          <p:cNvPr id="12" name="Picture 11" descr="fd66d022f8b749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8323" y="3854750"/>
            <a:ext cx="2517648" cy="25298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75.7 L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a7e24ba549ecbc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8f2e55c8bb5bdd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59689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2237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b5b0e70f63b0e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9589" y="2534793"/>
            <a:ext cx="785050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4639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941bdd639930e1f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2794" y="2584323"/>
            <a:ext cx="1399222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02016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f2542c0ca55f85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3768"/>
            <a:ext cx="1347216" cy="24079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581656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64308"/>
            <a:ext cx="1815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Priya says </a:t>
            </a:r>
          </a:p>
        </p:txBody>
      </p:sp>
      <p:pic>
        <p:nvPicPr>
          <p:cNvPr id="11" name="Picture 10" descr="7b97a516d29415e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2548" y="2532316"/>
            <a:ext cx="562165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474714" y="2464308"/>
            <a:ext cx="614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is </a:t>
            </a:r>
          </a:p>
        </p:txBody>
      </p:sp>
      <p:pic>
        <p:nvPicPr>
          <p:cNvPr id="13" name="Picture 12" descr="f7559e20e57a5d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2065" y="2534793"/>
            <a:ext cx="787527" cy="27241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739592" y="2464308"/>
            <a:ext cx="17053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because </a:t>
            </a:r>
          </a:p>
        </p:txBody>
      </p:sp>
      <p:pic>
        <p:nvPicPr>
          <p:cNvPr id="15" name="Picture 14" descr="cf3a2a0005dd518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47" y="2584323"/>
            <a:ext cx="140417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11922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Name the error and fix it.</a:t>
            </a:r>
          </a:p>
        </p:txBody>
      </p:sp>
      <p:pic>
        <p:nvPicPr>
          <p:cNvPr id="18" name="Picture 17" descr="a3ccc6ff8a3d380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0939" y="3799886"/>
            <a:ext cx="4849368" cy="36576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4663440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She used the ratio once. A cubic foot is 12 × 12 × 12 = 1,728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, so 2 ft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= 3,456 in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6539a90126a09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71244"/>
            <a:ext cx="1987296" cy="304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14928" y="1495044"/>
            <a:ext cx="45751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kilograms is 30 lb?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2" name="Picture 11" descr="d7de33d50f52caf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65604"/>
            <a:ext cx="1965960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93592" y="2089403"/>
            <a:ext cx="43074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25 kg?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5" name="Picture 14" descr="0d647df019511e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59963"/>
            <a:ext cx="1935480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563112" y="2683763"/>
            <a:ext cx="3893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6 gal?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8" name="Picture 17" descr="a7e24ba549ecbc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86327"/>
            <a:ext cx="1347216" cy="24079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974848" y="3278123"/>
            <a:ext cx="43070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inches is </a:t>
            </a:r>
          </a:p>
        </p:txBody>
      </p:sp>
      <p:pic>
        <p:nvPicPr>
          <p:cNvPr id="20" name="Picture 19" descr="fd3f0498ea874b6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4744" y="3369563"/>
            <a:ext cx="573024" cy="274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17768" y="3278123"/>
            <a:ext cx="36063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23" name="Picture 22" descr="53fb1d19ce3600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3983736"/>
            <a:ext cx="1493520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121152" y="3872483"/>
            <a:ext cx="9227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and </a:t>
            </a:r>
          </a:p>
        </p:txBody>
      </p:sp>
      <p:pic>
        <p:nvPicPr>
          <p:cNvPr id="25" name="Picture 24" descr="aae6846e2fca6d9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06735" y="3988307"/>
            <a:ext cx="1484376" cy="22555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391111" y="3872483"/>
            <a:ext cx="42090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liters is 24 fl oz?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8" name="Picture 27" descr="c79700df5a23d6d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27632" y="4578096"/>
            <a:ext cx="1828800" cy="23469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456432" y="4466844"/>
            <a:ext cx="4391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square meters is </a:t>
            </a:r>
          </a:p>
        </p:txBody>
      </p:sp>
      <p:pic>
        <p:nvPicPr>
          <p:cNvPr id="30" name="Picture 29" descr="aa3a1dcc642825f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10505" y="4556760"/>
            <a:ext cx="758952" cy="2773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469457" y="4466844"/>
            <a:ext cx="25337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? (Round to two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905756"/>
            <a:ext cx="12982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places.)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8–9 — Converting Mass, Area and Volume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Convert between customary and metric systems — E8Z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customary units — 4B8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and convert metric units — HW2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5  ·  LESSONS 10–11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Multi-Step Proportion Problems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MA.7.AR.4.5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problem that takes two or more proportional steps, including a unit conversion, and compare two rates given in different units.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2" name="Picture 11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b20e69a494d39ec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57599"/>
            <a:ext cx="1882036" cy="29191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0958" y="1440180"/>
            <a:ext cx="41615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How many pounds is 4 kg?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3971" y="1440180"/>
            <a:ext cx="13506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8.816 lb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052828"/>
            <a:ext cx="10855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At </a:t>
            </a:r>
          </a:p>
        </p:txBody>
      </p:sp>
      <p:pic>
        <p:nvPicPr>
          <p:cNvPr id="13" name="Picture 12" descr="90f92a5da9ad45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22862" y="2170247"/>
            <a:ext cx="1613852" cy="225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36714" y="2052828"/>
            <a:ext cx="527081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3 cm on the map is how many km?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19014" y="2052828"/>
            <a:ext cx="1310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150 km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260e68e7601118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92388"/>
            <a:ext cx="1473827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690178" y="2665476"/>
            <a:ext cx="3800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91669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A car goes 180 miles in 3 hours. Its speed in miles per hour?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735324"/>
            <a:ext cx="28407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60 miles per hour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how much of one quantity per 1 of the other — 23 miles per 1 gallon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2374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proportional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95311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two quantities whose ratio stays the same: double one, the other doubles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013818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for each 1 — the word that marks a unit rate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One unit rate, used twice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84e611f102833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5483" y="2020824"/>
            <a:ext cx="975055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Compare rates in one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21ff173496ec7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024253"/>
            <a:ext cx="6528816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27432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Same unit first. Then compare.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Scale a recipe, then check the pantry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9d35a45236af3a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176" y="1993392"/>
            <a:ext cx="6297168" cy="673608"/>
          </a:xfrm>
          <a:prstGeom prst="rect">
            <a:avLst/>
          </a:prstGeom>
        </p:spPr>
      </p:pic>
      <p:pic>
        <p:nvPicPr>
          <p:cNvPr id="11" name="Picture 10" descr="f2b684c3a3f3c2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939" y="2965704"/>
            <a:ext cx="10073640" cy="387096"/>
          </a:xfrm>
          <a:prstGeom prst="rect">
            <a:avLst/>
          </a:prstGeom>
        </p:spPr>
      </p:pic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17a8a85b0b9a11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5834" y="1771269"/>
            <a:ext cx="2340864" cy="3017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76698" y="171450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688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5 mi in 40 min; runner B does 9 km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9085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785da30ee9605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949696" cy="670560"/>
          </a:xfrm>
          <a:prstGeom prst="rect">
            <a:avLst/>
          </a:prstGeom>
        </p:spPr>
      </p:pic>
      <p:pic>
        <p:nvPicPr>
          <p:cNvPr id="9" name="Picture 8" descr="4fc8bab69cb80b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874264" cy="670560"/>
          </a:xfrm>
          <a:prstGeom prst="rect">
            <a:avLst/>
          </a:prstGeom>
        </p:spPr>
      </p:pic>
      <p:pic>
        <p:nvPicPr>
          <p:cNvPr id="10" name="Picture 9" descr="3c725b51699ea0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1615440" cy="667512"/>
          </a:xfrm>
          <a:prstGeom prst="rect">
            <a:avLst/>
          </a:prstGeom>
        </p:spPr>
      </p:pic>
      <p:pic>
        <p:nvPicPr>
          <p:cNvPr id="11" name="Picture 10" descr="8081506ef4a1aba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4751832"/>
            <a:ext cx="1859280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486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≈ 12.08 km/h, B = 12 km/h: A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55c3fc7a368775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702" y="1600200"/>
            <a:ext cx="2929128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70830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f6c1428a8fe5fa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3226" y="1600200"/>
            <a:ext cx="2926080" cy="37795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69306" y="1577340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331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Runner A does 4 mi in 30 min; runner B does 7 km in 35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7081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each speed in km/h. Who is faster?</a:t>
            </a:r>
          </a:p>
        </p:txBody>
      </p:sp>
      <p:pic>
        <p:nvPicPr>
          <p:cNvPr id="12" name="Picture 11" descr="7b8f562dd79bcb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772" y="3483068"/>
            <a:ext cx="5251704" cy="606552"/>
          </a:xfrm>
          <a:prstGeom prst="rect">
            <a:avLst/>
          </a:prstGeom>
        </p:spPr>
      </p:pic>
      <p:pic>
        <p:nvPicPr>
          <p:cNvPr id="13" name="Picture 12" descr="fb86ceff55f1ba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9772" y="4217636"/>
            <a:ext cx="1603248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583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= 12.88 km/h, B = 12 km/h: A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20604" y="2145696"/>
            <a:ext cx="43777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8 servings uses </a:t>
            </a:r>
          </a:p>
        </p:txBody>
      </p:sp>
      <p:pic>
        <p:nvPicPr>
          <p:cNvPr id="9" name="Picture 8" descr="cfbc1da7a07fba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189" y="2103120"/>
            <a:ext cx="331851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93040" y="214569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02673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rice for 20 servings? With 5 cups on hand, how many servings can be made?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2907b0d85da38e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770120" cy="673608"/>
          </a:xfrm>
          <a:prstGeom prst="rect">
            <a:avLst/>
          </a:prstGeom>
        </p:spPr>
      </p:pic>
      <p:pic>
        <p:nvPicPr>
          <p:cNvPr id="9" name="Picture 8" descr="1b4354005a94a6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852671" cy="67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6¼ cups; 16 servings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7597" y="1642776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b8f565bf2384f7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1438" y="1600200"/>
            <a:ext cx="304609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6047" y="1642776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687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2773" y="2998548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d0dda701f68944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350" y="2955971"/>
            <a:ext cx="361569" cy="54235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4919" y="2998548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0073" y="1644015"/>
            <a:ext cx="43710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recipe for 6 servings uses </a:t>
            </a:r>
          </a:p>
        </p:txBody>
      </p:sp>
      <p:pic>
        <p:nvPicPr>
          <p:cNvPr id="9" name="Picture 8" descr="a256e78171c673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914" y="1600200"/>
            <a:ext cx="299656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73571" y="1644015"/>
            <a:ext cx="20850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of 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419349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rice for 12 servings?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05249" y="3002263"/>
            <a:ext cx="9877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With </a:t>
            </a:r>
          </a:p>
        </p:txBody>
      </p:sp>
      <p:pic>
        <p:nvPicPr>
          <p:cNvPr id="13" name="Picture 12" descr="e79d51c9125476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5826" y="2958448"/>
            <a:ext cx="356616" cy="54483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12442" y="3002263"/>
            <a:ext cx="5480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cups on hand, how many servings?</a:t>
            </a:r>
          </a:p>
        </p:txBody>
      </p:sp>
      <p:pic>
        <p:nvPicPr>
          <p:cNvPr id="15" name="Picture 14" descr="9d4724fac4a2806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3850750"/>
            <a:ext cx="3474720" cy="606552"/>
          </a:xfrm>
          <a:prstGeom prst="rect">
            <a:avLst/>
          </a:prstGeom>
        </p:spPr>
      </p:pic>
      <p:pic>
        <p:nvPicPr>
          <p:cNvPr id="16" name="Picture 15" descr="13f1547c75366d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79392" y="4585318"/>
            <a:ext cx="3712463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3290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cups; 18 servings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28 miles per gallon. Its tank holds 15 gal.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far does it go on a full tank?</a:t>
            </a:r>
          </a:p>
        </p:txBody>
      </p:sp>
      <p:pic>
        <p:nvPicPr>
          <p:cNvPr id="10" name="Picture 9" descr="198d9d3f25b719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5023" y="3168553"/>
            <a:ext cx="1981199" cy="252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420 mi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prints 35 pages per minute. A job is 1,400 pages.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does the job take?</a:t>
            </a:r>
          </a:p>
        </p:txBody>
      </p:sp>
      <p:pic>
        <p:nvPicPr>
          <p:cNvPr id="10" name="Picture 9" descr="a8e292b8cde330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3667" y="3165505"/>
            <a:ext cx="2343912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40 min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Mia earns $14.50 per hour at a shop 2 mi from home, 6 h a day for 5 days.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much does she earn?</a:t>
            </a:r>
          </a:p>
        </p:txBody>
      </p:sp>
      <p:pic>
        <p:nvPicPr>
          <p:cNvPr id="10" name="Picture 9" descr="7c445bb00f162a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9435" y="3594875"/>
            <a:ext cx="4532376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$435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</a:t>
            </a:r>
          </a:p>
        </p:txBody>
      </p:sp>
      <p:pic>
        <p:nvPicPr>
          <p:cNvPr id="11" name="Picture 10" descr="72df7627a7a480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568" y="3994337"/>
            <a:ext cx="18288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37959" y="4003481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</a:t>
            </a:r>
          </a:p>
        </p:txBody>
      </p:sp>
      <p:pic>
        <p:nvPicPr>
          <p:cNvPr id="13" name="Picture 12" descr="63a373b7e630cf2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4888" y="3997385"/>
            <a:ext cx="384048" cy="274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</a:t>
            </a:r>
          </a:p>
        </p:txBody>
      </p:sp>
      <p:pic>
        <p:nvPicPr>
          <p:cNvPr id="15" name="Picture 14" descr="b6172e6484e9447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58568" y="4606985"/>
            <a:ext cx="390144" cy="277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537959" y="4616129"/>
            <a:ext cx="5943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</a:t>
            </a:r>
          </a:p>
        </p:txBody>
      </p:sp>
      <p:pic>
        <p:nvPicPr>
          <p:cNvPr id="17" name="Picture 16" descr="899d09e1fb7976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04888" y="4613081"/>
            <a:ext cx="185928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29278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gets 30 miles per gallon with a 12-gal tank. It makes a 900-mi trip.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tanks of gas does the trip use? (Part of a tank counts as a whole tank.)</a:t>
            </a:r>
          </a:p>
        </p:txBody>
      </p:sp>
      <p:pic>
        <p:nvPicPr>
          <p:cNvPr id="10" name="Picture 9" descr="065daa35c97d27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30039" y="3994337"/>
            <a:ext cx="4014215" cy="347472"/>
          </a:xfrm>
          <a:prstGeom prst="rect">
            <a:avLst/>
          </a:prstGeom>
        </p:spPr>
      </p:pic>
      <p:pic>
        <p:nvPicPr>
          <p:cNvPr id="11" name="Picture 10" descr="e083f958e2482f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0039" y="4554598"/>
            <a:ext cx="3986784" cy="265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5018465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3 tanks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cereal has 12 g of protein per 100 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grams of protein in 1 kg?</a:t>
            </a:r>
          </a:p>
        </p:txBody>
      </p:sp>
      <p:pic>
        <p:nvPicPr>
          <p:cNvPr id="10" name="Picture 9" descr="89d5d50ac7447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8352" y="3165505"/>
            <a:ext cx="5114544" cy="313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120 g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Tie: 12 and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7025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12 &gt;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B: 15.0 &gt; 14.4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4388324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A: 14.4 &gt; 11.27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16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56815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Cyclist A rides 12 km in 50 min; cyclist B rides 7 mi in 45 min.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Who is faster?</a:t>
            </a:r>
          </a:p>
        </p:txBody>
      </p:sp>
      <p:pic>
        <p:nvPicPr>
          <p:cNvPr id="12" name="Picture 11" descr="506f303710cd3d3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82011" y="3684236"/>
            <a:ext cx="6062472" cy="606552"/>
          </a:xfrm>
          <a:prstGeom prst="rect">
            <a:avLst/>
          </a:prstGeom>
        </p:spPr>
      </p:pic>
      <p:pic>
        <p:nvPicPr>
          <p:cNvPr id="13" name="Picture 12" descr="c13e10458026784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82011" y="4418804"/>
            <a:ext cx="7510272" cy="60350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51594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cyclist B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51d1cdc51197b0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4110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3815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53224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Paint is mixed white : blue : grey = </a:t>
            </a:r>
          </a:p>
        </p:txBody>
      </p:sp>
      <p:pic>
        <p:nvPicPr>
          <p:cNvPr id="9" name="Picture 8" descr="4d1f2e7bdd7bf8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704" y="1974151"/>
            <a:ext cx="889063" cy="2253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08768" y="18516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batch uses 8 gal of white.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gallons is the whole batch?</a:t>
            </a:r>
          </a:p>
        </p:txBody>
      </p:sp>
      <p:pic>
        <p:nvPicPr>
          <p:cNvPr id="13" name="Picture 12" descr="d59191ca87bf00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6367" y="3684236"/>
            <a:ext cx="4861560" cy="609600"/>
          </a:xfrm>
          <a:prstGeom prst="rect">
            <a:avLst/>
          </a:prstGeom>
        </p:spPr>
      </p:pic>
      <p:pic>
        <p:nvPicPr>
          <p:cNvPr id="14" name="Picture 13" descr="60ebe7948d8a203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367" y="4515769"/>
            <a:ext cx="1581912" cy="24993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7049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gal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2e89f08f987938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9700df5a23d6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9760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9" name="Picture 8" descr="123cd4c222dc2b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3291" y="1954339"/>
            <a:ext cx="1116901" cy="24517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0193" y="1851660"/>
            <a:ext cx="448070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; a room is 2 in by 2.5 in on it.</a:t>
            </a:r>
          </a:p>
        </p:txBody>
      </p:sp>
      <p:pic>
        <p:nvPicPr>
          <p:cNvPr id="11" name="Picture 10" descr="c76c66710128e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2578608"/>
            <a:ext cx="1828800" cy="2346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063240" y="24643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room's area in square meters.</a:t>
            </a:r>
          </a:p>
        </p:txBody>
      </p:sp>
      <p:pic>
        <p:nvPicPr>
          <p:cNvPr id="14" name="Picture 13" descr="edc42479e43efb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7527" y="3839510"/>
            <a:ext cx="4294632" cy="268224"/>
          </a:xfrm>
          <a:prstGeom prst="rect">
            <a:avLst/>
          </a:prstGeom>
        </p:spPr>
      </p:pic>
      <p:pic>
        <p:nvPicPr>
          <p:cNvPr id="15" name="Picture 14" descr="8d1545a1affce0b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7527" y="4394246"/>
            <a:ext cx="9162288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About 7.44 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pic>
        <p:nvPicPr>
          <p:cNvPr id="8" name="Picture 7" descr="673c0080fbe2317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pic>
        <p:nvPicPr>
          <p:cNvPr id="8" name="Picture 7" descr="e62e96f3d6ecb8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728216"/>
            <a:ext cx="1901952" cy="243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36392" y="16230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2585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300-km drive.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976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Car A averages 50 mi/h; car B averages 75 km/h.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336764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Which car gets there first, and by how long? Explain.</a:t>
            </a:r>
          </a:p>
        </p:txBody>
      </p:sp>
      <p:pic>
        <p:nvPicPr>
          <p:cNvPr id="13" name="Picture 12" descr="6fd1d65a65982d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1172" y="4079507"/>
            <a:ext cx="3340608" cy="307848"/>
          </a:xfrm>
          <a:prstGeom prst="rect">
            <a:avLst/>
          </a:prstGeom>
        </p:spPr>
      </p:pic>
      <p:pic>
        <p:nvPicPr>
          <p:cNvPr id="14" name="Picture 13" descr="6a117b4420daa3f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1172" y="4615955"/>
            <a:ext cx="5711952" cy="2682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082871"/>
            <a:ext cx="10607040" cy="1072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Car A: 80.5 km/h against 75, so about 3.73 h against 4 h — about 16 minutes sooner.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955719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gets 32 miles per gallon and its tank holds 14 gal. How far does it go on a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66369"/>
            <a:ext cx="86304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430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4304"/>
            <a:ext cx="942196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That car makes a 1,000-mi trip. How many tanks of gas does it use? (Part of a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701654"/>
            <a:ext cx="365082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tank counts as a whole tank.)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22246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22464"/>
            <a:ext cx="351953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recipe for 4 servings uses </a:t>
            </a:r>
          </a:p>
        </p:txBody>
      </p:sp>
      <p:pic>
        <p:nvPicPr>
          <p:cNvPr id="16" name="Picture 15" descr="8ef7b8baa04105b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6859" y="3188473"/>
            <a:ext cx="274452" cy="44567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11312" y="3222464"/>
            <a:ext cx="543282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cups of rice. How much rice for 10 servings?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743275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9" name="Picture 18" descr="d2f86d8905c9108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3831402"/>
            <a:ext cx="1611464" cy="201433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239096" y="3743275"/>
            <a:ext cx="808168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train does 120 km/h; a bus does 70 mi/h. Which is faster? Show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110625"/>
            <a:ext cx="28440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the speeds in one unit.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57855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78559"/>
            <a:ext cx="494959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Juice is mixed orange : mango : water = </a:t>
            </a:r>
          </a:p>
        </p:txBody>
      </p:sp>
      <p:pic>
        <p:nvPicPr>
          <p:cNvPr id="24" name="Picture 23" descr="3e12847d3b5309c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6918" y="4674240"/>
            <a:ext cx="715087" cy="18632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2005" y="4578559"/>
            <a:ext cx="399247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. A batch uses 9 cups of orange.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45910"/>
            <a:ext cx="4402623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cups is the whole batch?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13844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413844"/>
            <a:ext cx="239991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plan is drawn at </a:t>
            </a:r>
          </a:p>
        </p:txBody>
      </p:sp>
      <p:pic>
        <p:nvPicPr>
          <p:cNvPr id="29" name="Picture 28" descr="bf04384952a140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231" y="5501971"/>
            <a:ext cx="908966" cy="201433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726198" y="5413844"/>
            <a:ext cx="6648424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; a room is 2 in by 3.5 in on it. Find the room's real area.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5 · Lessons 10–11 — Multi-Step Proportion Problems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Compare rates: word problems — VVS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Multi-step problems with customary or metric unit conversions — UCT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