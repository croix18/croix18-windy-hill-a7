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38.xml"/><Relationship Id="rId4" Type="http://schemas.openxmlformats.org/officeDocument/2006/relationships/slide" Target="slide73.xml"/><Relationship Id="rId5" Type="http://schemas.openxmlformats.org/officeDocument/2006/relationships/slide" Target="slide108.xml"/><Relationship Id="rId6" Type="http://schemas.openxmlformats.org/officeDocument/2006/relationships/slide" Target="slide143.xml"/><Relationship Id="rId7" Type="http://schemas.openxmlformats.org/officeDocument/2006/relationships/slide" Target="slide17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Relationship Id="rId4" Type="http://schemas.openxmlformats.org/officeDocument/2006/relationships/image" Target="../media/image5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image" Target="../media/image60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image" Target="../media/image6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image" Target="../media/image64.png"/><Relationship Id="rId4" Type="http://schemas.openxmlformats.org/officeDocument/2006/relationships/image" Target="../media/image6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Relationship Id="rId4" Type="http://schemas.openxmlformats.org/officeDocument/2006/relationships/image" Target="../media/image65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image" Target="../media/image7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image" Target="../media/image70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71.png"/><Relationship Id="rId4" Type="http://schemas.openxmlformats.org/officeDocument/2006/relationships/image" Target="../media/image7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75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Relationship Id="rId3" Type="http://schemas.openxmlformats.org/officeDocument/2006/relationships/image" Target="../media/image77.png"/><Relationship Id="rId4" Type="http://schemas.openxmlformats.org/officeDocument/2006/relationships/image" Target="../media/image7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Relationship Id="rId3" Type="http://schemas.openxmlformats.org/officeDocument/2006/relationships/image" Target="../media/image52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85.png"/><Relationship Id="rId4" Type="http://schemas.openxmlformats.org/officeDocument/2006/relationships/image" Target="../media/image86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Relationship Id="rId3" Type="http://schemas.openxmlformats.org/officeDocument/2006/relationships/image" Target="../media/image88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Relationship Id="rId3" Type="http://schemas.openxmlformats.org/officeDocument/2006/relationships/image" Target="../media/image90.png"/><Relationship Id="rId4" Type="http://schemas.openxmlformats.org/officeDocument/2006/relationships/image" Target="../media/image91.png"/><Relationship Id="rId5" Type="http://schemas.openxmlformats.org/officeDocument/2006/relationships/image" Target="../media/image9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Relationship Id="rId3" Type="http://schemas.openxmlformats.org/officeDocument/2006/relationships/image" Target="../media/image28.png"/><Relationship Id="rId4" Type="http://schemas.openxmlformats.org/officeDocument/2006/relationships/image" Target="../media/image94.png"/><Relationship Id="rId5" Type="http://schemas.openxmlformats.org/officeDocument/2006/relationships/image" Target="../media/image95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Relationship Id="rId3" Type="http://schemas.openxmlformats.org/officeDocument/2006/relationships/image" Target="../media/image9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Relationship Id="rId3" Type="http://schemas.openxmlformats.org/officeDocument/2006/relationships/image" Target="../media/image9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image" Target="../media/image99.png"/><Relationship Id="rId4" Type="http://schemas.openxmlformats.org/officeDocument/2006/relationships/image" Target="../media/image100.png"/><Relationship Id="rId5" Type="http://schemas.openxmlformats.org/officeDocument/2006/relationships/image" Target="../media/image10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102.png"/><Relationship Id="rId4" Type="http://schemas.openxmlformats.org/officeDocument/2006/relationships/image" Target="../media/image103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105.png"/><Relationship Id="rId4" Type="http://schemas.openxmlformats.org/officeDocument/2006/relationships/image" Target="../media/image106.png"/><Relationship Id="rId5" Type="http://schemas.openxmlformats.org/officeDocument/2006/relationships/image" Target="../media/image75.png"/><Relationship Id="rId6" Type="http://schemas.openxmlformats.org/officeDocument/2006/relationships/image" Target="../media/image31.png"/><Relationship Id="rId7" Type="http://schemas.openxmlformats.org/officeDocument/2006/relationships/image" Target="../media/image107.png"/><Relationship Id="rId8" Type="http://schemas.openxmlformats.org/officeDocument/2006/relationships/image" Target="../media/image108.png"/><Relationship Id="rId9" Type="http://schemas.openxmlformats.org/officeDocument/2006/relationships/image" Target="../media/image65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png"/><Relationship Id="rId3" Type="http://schemas.openxmlformats.org/officeDocument/2006/relationships/image" Target="../media/image70.png"/><Relationship Id="rId4" Type="http://schemas.openxmlformats.org/officeDocument/2006/relationships/image" Target="../media/image109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png"/><Relationship Id="rId3" Type="http://schemas.openxmlformats.org/officeDocument/2006/relationships/image" Target="../media/image70.png"/><Relationship Id="rId4" Type="http://schemas.openxmlformats.org/officeDocument/2006/relationships/image" Target="../media/image109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Relationship Id="rId3" Type="http://schemas.openxmlformats.org/officeDocument/2006/relationships/image" Target="../media/image111.png"/><Relationship Id="rId4" Type="http://schemas.openxmlformats.org/officeDocument/2006/relationships/image" Target="../media/image112.png"/><Relationship Id="rId5" Type="http://schemas.openxmlformats.org/officeDocument/2006/relationships/image" Target="../media/image113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Relationship Id="rId3" Type="http://schemas.openxmlformats.org/officeDocument/2006/relationships/image" Target="../media/image116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7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Relationship Id="rId3" Type="http://schemas.openxmlformats.org/officeDocument/2006/relationships/image" Target="../media/image120.png"/><Relationship Id="rId4" Type="http://schemas.openxmlformats.org/officeDocument/2006/relationships/image" Target="../media/image12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png"/><Relationship Id="rId3" Type="http://schemas.openxmlformats.org/officeDocument/2006/relationships/image" Target="../media/image123.png"/><Relationship Id="rId4" Type="http://schemas.openxmlformats.org/officeDocument/2006/relationships/image" Target="../media/image124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png"/><Relationship Id="rId3" Type="http://schemas.openxmlformats.org/officeDocument/2006/relationships/image" Target="../media/image126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png"/><Relationship Id="rId3" Type="http://schemas.openxmlformats.org/officeDocument/2006/relationships/image" Target="../media/image12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9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Relationship Id="rId3" Type="http://schemas.openxmlformats.org/officeDocument/2006/relationships/image" Target="../media/image131.png"/><Relationship Id="rId4" Type="http://schemas.openxmlformats.org/officeDocument/2006/relationships/image" Target="../media/image132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Relationship Id="rId3" Type="http://schemas.openxmlformats.org/officeDocument/2006/relationships/image" Target="../media/image135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Relationship Id="rId3" Type="http://schemas.openxmlformats.org/officeDocument/2006/relationships/image" Target="../media/image136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Relationship Id="rId3" Type="http://schemas.openxmlformats.org/officeDocument/2006/relationships/image" Target="../media/image138.png"/><Relationship Id="rId4" Type="http://schemas.openxmlformats.org/officeDocument/2006/relationships/image" Target="../media/image139.png"/><Relationship Id="rId5" Type="http://schemas.openxmlformats.org/officeDocument/2006/relationships/image" Target="../media/image140.png"/><Relationship Id="rId6" Type="http://schemas.openxmlformats.org/officeDocument/2006/relationships/image" Target="../media/image14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Relationship Id="rId3" Type="http://schemas.openxmlformats.org/officeDocument/2006/relationships/image" Target="../media/image142.png"/><Relationship Id="rId4" Type="http://schemas.openxmlformats.org/officeDocument/2006/relationships/image" Target="../media/image143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png"/><Relationship Id="rId3" Type="http://schemas.openxmlformats.org/officeDocument/2006/relationships/image" Target="../media/image144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5.png"/><Relationship Id="rId3" Type="http://schemas.openxmlformats.org/officeDocument/2006/relationships/image" Target="../media/image146.png"/><Relationship Id="rId4" Type="http://schemas.openxmlformats.org/officeDocument/2006/relationships/image" Target="../media/image147.png"/><Relationship Id="rId5" Type="http://schemas.openxmlformats.org/officeDocument/2006/relationships/image" Target="../media/image148.png"/><Relationship Id="rId6" Type="http://schemas.openxmlformats.org/officeDocument/2006/relationships/image" Target="../media/image149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0.png"/><Relationship Id="rId3" Type="http://schemas.openxmlformats.org/officeDocument/2006/relationships/image" Target="../media/image151.png"/><Relationship Id="rId4" Type="http://schemas.openxmlformats.org/officeDocument/2006/relationships/image" Target="../media/image152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3.png"/><Relationship Id="rId3" Type="http://schemas.openxmlformats.org/officeDocument/2006/relationships/image" Target="../media/image154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3.png"/><Relationship Id="rId3" Type="http://schemas.openxmlformats.org/officeDocument/2006/relationships/image" Target="../media/image154.png"/><Relationship Id="rId4" Type="http://schemas.openxmlformats.org/officeDocument/2006/relationships/image" Target="../media/image155.png"/><Relationship Id="rId5" Type="http://schemas.openxmlformats.org/officeDocument/2006/relationships/image" Target="../media/image156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7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8.png"/><Relationship Id="rId3" Type="http://schemas.openxmlformats.org/officeDocument/2006/relationships/image" Target="../media/image159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0.png"/><Relationship Id="rId3" Type="http://schemas.openxmlformats.org/officeDocument/2006/relationships/image" Target="../media/image161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9.png"/><Relationship Id="rId3" Type="http://schemas.openxmlformats.org/officeDocument/2006/relationships/image" Target="../media/image162.png"/><Relationship Id="rId4" Type="http://schemas.openxmlformats.org/officeDocument/2006/relationships/image" Target="../media/image118.png"/><Relationship Id="rId5" Type="http://schemas.openxmlformats.org/officeDocument/2006/relationships/image" Target="../media/image163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Relationship Id="rId3" Type="http://schemas.openxmlformats.org/officeDocument/2006/relationships/image" Target="../media/image164.png"/><Relationship Id="rId4" Type="http://schemas.openxmlformats.org/officeDocument/2006/relationships/image" Target="../media/image165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Relationship Id="rId3" Type="http://schemas.openxmlformats.org/officeDocument/2006/relationships/image" Target="../media/image164.png"/><Relationship Id="rId4" Type="http://schemas.openxmlformats.org/officeDocument/2006/relationships/image" Target="../media/image165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6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7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8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9.png"/><Relationship Id="rId3" Type="http://schemas.openxmlformats.org/officeDocument/2006/relationships/image" Target="../media/image170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3.png"/><Relationship Id="rId3" Type="http://schemas.openxmlformats.org/officeDocument/2006/relationships/image" Target="../media/image174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5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6.png"/><Relationship Id="rId3" Type="http://schemas.openxmlformats.org/officeDocument/2006/relationships/image" Target="../media/image177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8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9.png"/><Relationship Id="rId3" Type="http://schemas.openxmlformats.org/officeDocument/2006/relationships/image" Target="../media/image180.png"/><Relationship Id="rId4" Type="http://schemas.openxmlformats.org/officeDocument/2006/relationships/image" Target="../media/image18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3.png"/><Relationship Id="rId3" Type="http://schemas.openxmlformats.org/officeDocument/2006/relationships/image" Target="../media/image182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3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4.png"/><Relationship Id="rId3" Type="http://schemas.openxmlformats.org/officeDocument/2006/relationships/image" Target="../media/image185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6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7.png"/><Relationship Id="rId3" Type="http://schemas.openxmlformats.org/officeDocument/2006/relationships/image" Target="../media/image188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9.png"/><Relationship Id="rId3" Type="http://schemas.openxmlformats.org/officeDocument/2006/relationships/image" Target="../media/image190.png"/><Relationship Id="rId4" Type="http://schemas.openxmlformats.org/officeDocument/2006/relationships/image" Target="../media/image191.png"/><Relationship Id="rId5" Type="http://schemas.openxmlformats.org/officeDocument/2006/relationships/image" Target="../media/image192.png"/><Relationship Id="rId6" Type="http://schemas.openxmlformats.org/officeDocument/2006/relationships/image" Target="../media/image193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4.png"/><Relationship Id="rId3" Type="http://schemas.openxmlformats.org/officeDocument/2006/relationships/image" Target="../media/image195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png"/><Relationship Id="rId3" Type="http://schemas.openxmlformats.org/officeDocument/2006/relationships/image" Target="../media/image171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7.png"/><Relationship Id="rId3" Type="http://schemas.openxmlformats.org/officeDocument/2006/relationships/image" Target="../media/image173.png"/><Relationship Id="rId4" Type="http://schemas.openxmlformats.org/officeDocument/2006/relationships/image" Target="../media/image198.png"/><Relationship Id="rId5" Type="http://schemas.openxmlformats.org/officeDocument/2006/relationships/image" Target="../media/image199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0.png"/><Relationship Id="rId3" Type="http://schemas.openxmlformats.org/officeDocument/2006/relationships/image" Target="../media/image196.png"/><Relationship Id="rId4" Type="http://schemas.openxmlformats.org/officeDocument/2006/relationships/image" Target="../media/image171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png"/><Relationship Id="rId3" Type="http://schemas.openxmlformats.org/officeDocument/2006/relationships/image" Target="../media/image197.png"/><Relationship Id="rId4" Type="http://schemas.openxmlformats.org/officeDocument/2006/relationships/image" Target="../media/image173.png"/><Relationship Id="rId5" Type="http://schemas.openxmlformats.org/officeDocument/2006/relationships/image" Target="../media/image202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3.png"/><Relationship Id="rId3" Type="http://schemas.openxmlformats.org/officeDocument/2006/relationships/image" Target="../media/image204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5.png"/><Relationship Id="rId3" Type="http://schemas.openxmlformats.org/officeDocument/2006/relationships/image" Target="../media/image206.png"/><Relationship Id="rId4" Type="http://schemas.openxmlformats.org/officeDocument/2006/relationships/image" Target="../media/image207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9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4.png"/><Relationship Id="rId3" Type="http://schemas.openxmlformats.org/officeDocument/2006/relationships/image" Target="../media/image208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Relationship Id="rId3" Type="http://schemas.openxmlformats.org/officeDocument/2006/relationships/image" Target="../media/image183.png"/><Relationship Id="rId4" Type="http://schemas.openxmlformats.org/officeDocument/2006/relationships/image" Target="../media/image209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3.png"/><Relationship Id="rId3" Type="http://schemas.openxmlformats.org/officeDocument/2006/relationships/image" Target="../media/image184.png"/><Relationship Id="rId4" Type="http://schemas.openxmlformats.org/officeDocument/2006/relationships/image" Target="../media/image210.png"/><Relationship Id="rId5" Type="http://schemas.openxmlformats.org/officeDocument/2006/relationships/image" Target="../media/image211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Relationship Id="rId3" Type="http://schemas.openxmlformats.org/officeDocument/2006/relationships/image" Target="../media/image183.png"/><Relationship Id="rId4" Type="http://schemas.openxmlformats.org/officeDocument/2006/relationships/image" Target="../media/image186.png"/><Relationship Id="rId5" Type="http://schemas.openxmlformats.org/officeDocument/2006/relationships/image" Target="../media/image189.png"/><Relationship Id="rId6" Type="http://schemas.openxmlformats.org/officeDocument/2006/relationships/image" Target="../media/image200.png"/><Relationship Id="rId7" Type="http://schemas.openxmlformats.org/officeDocument/2006/relationships/image" Target="../media/image196.png"/><Relationship Id="rId8" Type="http://schemas.openxmlformats.org/officeDocument/2006/relationships/image" Target="../media/image175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Relationship Id="rId3" Type="http://schemas.openxmlformats.org/officeDocument/2006/relationships/image" Target="../media/image105.png"/><Relationship Id="rId4" Type="http://schemas.openxmlformats.org/officeDocument/2006/relationships/image" Target="../media/image52.png"/><Relationship Id="rId5" Type="http://schemas.openxmlformats.org/officeDocument/2006/relationships/image" Target="../media/image212.png"/><Relationship Id="rId6" Type="http://schemas.openxmlformats.org/officeDocument/2006/relationships/image" Target="../media/image196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Relationship Id="rId3" Type="http://schemas.openxmlformats.org/officeDocument/2006/relationships/image" Target="../media/image105.png"/><Relationship Id="rId4" Type="http://schemas.openxmlformats.org/officeDocument/2006/relationships/image" Target="../media/image52.png"/><Relationship Id="rId5" Type="http://schemas.openxmlformats.org/officeDocument/2006/relationships/image" Target="../media/image212.png"/><Relationship Id="rId6" Type="http://schemas.openxmlformats.org/officeDocument/2006/relationships/image" Target="../media/image196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3.png"/><Relationship Id="rId3" Type="http://schemas.openxmlformats.org/officeDocument/2006/relationships/image" Target="../media/image214.png"/><Relationship Id="rId4" Type="http://schemas.openxmlformats.org/officeDocument/2006/relationships/image" Target="../media/image215.png"/><Relationship Id="rId5" Type="http://schemas.openxmlformats.org/officeDocument/2006/relationships/image" Target="../media/image216.png"/><Relationship Id="rId6" Type="http://schemas.openxmlformats.org/officeDocument/2006/relationships/image" Target="../media/image217.png"/><Relationship Id="rId7" Type="http://schemas.openxmlformats.org/officeDocument/2006/relationships/image" Target="../media/image218.png"/><Relationship Id="rId8" Type="http://schemas.openxmlformats.org/officeDocument/2006/relationships/image" Target="../media/image219.png"/><Relationship Id="rId9" Type="http://schemas.openxmlformats.org/officeDocument/2006/relationships/image" Target="../media/image220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1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2.png"/><Relationship Id="rId3" Type="http://schemas.openxmlformats.org/officeDocument/2006/relationships/image" Target="../media/image223.png"/><Relationship Id="rId4" Type="http://schemas.openxmlformats.org/officeDocument/2006/relationships/image" Target="../media/image224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6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7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6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8.png"/><Relationship Id="rId3" Type="http://schemas.openxmlformats.org/officeDocument/2006/relationships/image" Target="../media/image229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png"/><Relationship Id="rId3" Type="http://schemas.openxmlformats.org/officeDocument/2006/relationships/image" Target="../media/image230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1.png"/><Relationship Id="rId3" Type="http://schemas.openxmlformats.org/officeDocument/2006/relationships/image" Target="../media/image232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0.png"/><Relationship Id="rId3" Type="http://schemas.openxmlformats.org/officeDocument/2006/relationships/image" Target="../media/image233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png"/><Relationship Id="rId3" Type="http://schemas.openxmlformats.org/officeDocument/2006/relationships/image" Target="../media/image234.png"/><Relationship Id="rId4" Type="http://schemas.openxmlformats.org/officeDocument/2006/relationships/image" Target="../media/image235.png"/><Relationship Id="rId5" Type="http://schemas.openxmlformats.org/officeDocument/2006/relationships/image" Target="../media/image236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7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8.png"/><Relationship Id="rId3" Type="http://schemas.openxmlformats.org/officeDocument/2006/relationships/image" Target="../media/image239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0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1.png"/><Relationship Id="rId3" Type="http://schemas.openxmlformats.org/officeDocument/2006/relationships/image" Target="../media/image242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3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4.png"/><Relationship Id="rId3" Type="http://schemas.openxmlformats.org/officeDocument/2006/relationships/image" Target="../media/image245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0.png"/><Relationship Id="rId3" Type="http://schemas.openxmlformats.org/officeDocument/2006/relationships/image" Target="../media/image246.png"/><Relationship Id="rId4" Type="http://schemas.openxmlformats.org/officeDocument/2006/relationships/image" Target="../media/image247.png"/><Relationship Id="rId5" Type="http://schemas.openxmlformats.org/officeDocument/2006/relationships/image" Target="../media/image248.png"/><Relationship Id="rId6" Type="http://schemas.openxmlformats.org/officeDocument/2006/relationships/image" Target="../media/image249.png"/><Relationship Id="rId7" Type="http://schemas.openxmlformats.org/officeDocument/2006/relationships/image" Target="../media/image250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png"/><Relationship Id="rId3" Type="http://schemas.openxmlformats.org/officeDocument/2006/relationships/image" Target="../media/image251.png"/><Relationship Id="rId4" Type="http://schemas.openxmlformats.org/officeDocument/2006/relationships/image" Target="../media/image235.png"/><Relationship Id="rId5" Type="http://schemas.openxmlformats.org/officeDocument/2006/relationships/image" Target="../media/image252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3.png"/><Relationship Id="rId3" Type="http://schemas.openxmlformats.org/officeDocument/2006/relationships/image" Target="../media/image254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5.png"/><Relationship Id="rId3" Type="http://schemas.openxmlformats.org/officeDocument/2006/relationships/image" Target="../media/image256.png"/><Relationship Id="rId4" Type="http://schemas.openxmlformats.org/officeDocument/2006/relationships/image" Target="../media/image257.png"/><Relationship Id="rId5" Type="http://schemas.openxmlformats.org/officeDocument/2006/relationships/image" Target="../media/image258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9.png"/><Relationship Id="rId3" Type="http://schemas.openxmlformats.org/officeDocument/2006/relationships/image" Target="../media/image260.png"/><Relationship Id="rId4" Type="http://schemas.openxmlformats.org/officeDocument/2006/relationships/image" Target="../media/image261.png"/><Relationship Id="rId5" Type="http://schemas.openxmlformats.org/officeDocument/2006/relationships/image" Target="../media/image262.png"/><Relationship Id="rId6" Type="http://schemas.openxmlformats.org/officeDocument/2006/relationships/image" Target="../media/image263.png"/><Relationship Id="rId7" Type="http://schemas.openxmlformats.org/officeDocument/2006/relationships/image" Target="../media/image264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5.png"/><Relationship Id="rId3" Type="http://schemas.openxmlformats.org/officeDocument/2006/relationships/image" Target="../media/image266.png"/><Relationship Id="rId4" Type="http://schemas.openxmlformats.org/officeDocument/2006/relationships/image" Target="../media/image267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7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8.png"/><Relationship Id="rId3" Type="http://schemas.openxmlformats.org/officeDocument/2006/relationships/image" Target="../media/image268.png"/><Relationship Id="rId4" Type="http://schemas.openxmlformats.org/officeDocument/2006/relationships/image" Target="../media/image269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0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1.png"/><Relationship Id="rId3" Type="http://schemas.openxmlformats.org/officeDocument/2006/relationships/image" Target="../media/image270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png"/><Relationship Id="rId3" Type="http://schemas.openxmlformats.org/officeDocument/2006/relationships/image" Target="../media/image271.png"/><Relationship Id="rId4" Type="http://schemas.openxmlformats.org/officeDocument/2006/relationships/image" Target="../media/image272.png"/><Relationship Id="rId5" Type="http://schemas.openxmlformats.org/officeDocument/2006/relationships/image" Target="../media/image273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7.png"/><Relationship Id="rId3" Type="http://schemas.openxmlformats.org/officeDocument/2006/relationships/image" Target="../media/image274.png"/><Relationship Id="rId4" Type="http://schemas.openxmlformats.org/officeDocument/2006/relationships/image" Target="../media/image275.png"/><Relationship Id="rId5" Type="http://schemas.openxmlformats.org/officeDocument/2006/relationships/image" Target="../media/image276.png"/><Relationship Id="rId6" Type="http://schemas.openxmlformats.org/officeDocument/2006/relationships/image" Target="../media/image277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6.png"/><Relationship Id="rId3" Type="http://schemas.openxmlformats.org/officeDocument/2006/relationships/image" Target="../media/image237.png"/><Relationship Id="rId4" Type="http://schemas.openxmlformats.org/officeDocument/2006/relationships/image" Target="../media/image240.png"/><Relationship Id="rId5" Type="http://schemas.openxmlformats.org/officeDocument/2006/relationships/image" Target="../media/image196.png"/><Relationship Id="rId6" Type="http://schemas.openxmlformats.org/officeDocument/2006/relationships/image" Target="../media/image278.png"/><Relationship Id="rId7" Type="http://schemas.openxmlformats.org/officeDocument/2006/relationships/image" Target="../media/image253.png"/><Relationship Id="rId8" Type="http://schemas.openxmlformats.org/officeDocument/2006/relationships/image" Target="../media/image254.png"/><Relationship Id="rId9" Type="http://schemas.openxmlformats.org/officeDocument/2006/relationships/image" Target="../media/image279.png"/><Relationship Id="rId10" Type="http://schemas.openxmlformats.org/officeDocument/2006/relationships/image" Target="../media/image280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7.png"/><Relationship Id="rId3" Type="http://schemas.openxmlformats.org/officeDocument/2006/relationships/image" Target="../media/image281.png"/><Relationship Id="rId4" Type="http://schemas.openxmlformats.org/officeDocument/2006/relationships/image" Target="../media/image282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7.png"/><Relationship Id="rId3" Type="http://schemas.openxmlformats.org/officeDocument/2006/relationships/image" Target="../media/image281.png"/><Relationship Id="rId4" Type="http://schemas.openxmlformats.org/officeDocument/2006/relationships/image" Target="../media/image282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3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4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5.png"/><Relationship Id="rId3" Type="http://schemas.openxmlformats.org/officeDocument/2006/relationships/image" Target="../media/image286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7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8.png"/><Relationship Id="rId3" Type="http://schemas.openxmlformats.org/officeDocument/2006/relationships/image" Target="../media/image289.png"/><Relationship Id="rId4" Type="http://schemas.openxmlformats.org/officeDocument/2006/relationships/image" Target="../media/image290.png"/><Relationship Id="rId5" Type="http://schemas.openxmlformats.org/officeDocument/2006/relationships/image" Target="../media/image291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2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3.png"/><Relationship Id="rId3" Type="http://schemas.openxmlformats.org/officeDocument/2006/relationships/image" Target="../media/image294.png"/><Relationship Id="rId4" Type="http://schemas.openxmlformats.org/officeDocument/2006/relationships/image" Target="../media/image295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6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7.png"/><Relationship Id="rId3" Type="http://schemas.openxmlformats.org/officeDocument/2006/relationships/image" Target="../media/image298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9.png"/><Relationship Id="rId3" Type="http://schemas.openxmlformats.org/officeDocument/2006/relationships/image" Target="../media/image300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1.png"/><Relationship Id="rId3" Type="http://schemas.openxmlformats.org/officeDocument/2006/relationships/image" Target="../media/image302.png"/><Relationship Id="rId4" Type="http://schemas.openxmlformats.org/officeDocument/2006/relationships/image" Target="../media/image303.png"/><Relationship Id="rId5" Type="http://schemas.openxmlformats.org/officeDocument/2006/relationships/image" Target="../media/image304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5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6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7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8.png"/><Relationship Id="rId3" Type="http://schemas.openxmlformats.org/officeDocument/2006/relationships/image" Target="../media/image309.png"/><Relationship Id="rId4" Type="http://schemas.openxmlformats.org/officeDocument/2006/relationships/image" Target="../media/image310.png"/><Relationship Id="rId5" Type="http://schemas.openxmlformats.org/officeDocument/2006/relationships/image" Target="../media/image28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1.png"/><Relationship Id="rId3" Type="http://schemas.openxmlformats.org/officeDocument/2006/relationships/image" Target="../media/image312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3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6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7.png"/><Relationship Id="rId3" Type="http://schemas.openxmlformats.org/officeDocument/2006/relationships/image" Target="../media/image314.png"/><Relationship Id="rId4" Type="http://schemas.openxmlformats.org/officeDocument/2006/relationships/image" Target="../media/image315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6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7.png"/><Relationship Id="rId3" Type="http://schemas.openxmlformats.org/officeDocument/2006/relationships/image" Target="../media/image318.png"/><Relationship Id="rId4" Type="http://schemas.openxmlformats.org/officeDocument/2006/relationships/image" Target="../media/image319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5.png"/><Relationship Id="rId3" Type="http://schemas.openxmlformats.org/officeDocument/2006/relationships/image" Target="../media/image279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0.png"/><Relationship Id="rId3" Type="http://schemas.openxmlformats.org/officeDocument/2006/relationships/image" Target="../media/image320.png"/><Relationship Id="rId4" Type="http://schemas.openxmlformats.org/officeDocument/2006/relationships/image" Target="../media/image321.png"/><Relationship Id="rId5" Type="http://schemas.openxmlformats.org/officeDocument/2006/relationships/image" Target="../media/image322.pn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6.png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7.png"/><Relationship Id="rId3" Type="http://schemas.openxmlformats.org/officeDocument/2006/relationships/image" Target="../media/image323.png"/><Relationship Id="rId4" Type="http://schemas.openxmlformats.org/officeDocument/2006/relationships/image" Target="../media/image324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5.png"/><Relationship Id="rId3" Type="http://schemas.openxmlformats.org/officeDocument/2006/relationships/image" Target="../media/image189.png"/><Relationship Id="rId4" Type="http://schemas.openxmlformats.org/officeDocument/2006/relationships/image" Target="../media/image326.png"/><Relationship Id="rId5" Type="http://schemas.openxmlformats.org/officeDocument/2006/relationships/image" Target="../media/image327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78308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13969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610" b="1" i="0">
                <a:solidFill>
                  <a:srgbClr val="1A1A1A"/>
                </a:solidFill>
                <a:latin typeface="Lexend"/>
              </a:rPr>
              <a:t>Multi-Step Proportional Relationships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34670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42900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703320"/>
            <a:ext cx="106070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6B6B6B"/>
                </a:solidFill>
                <a:latin typeface="Lexend"/>
              </a:rPr>
              <a:t>Six lessons in teaching order  ·  the next slide jumps to each 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— Multi-Step Proportional Relationships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Contents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— Multi-Step Proportional 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>
            <a:hlinkClick action="ppaction://hlinksldjump" r:id="rId2"/>
          </p:cNvPr>
          <p:cNvSpPr txBox="1"/>
          <p:nvPr/>
        </p:nvSpPr>
        <p:spPr>
          <a:xfrm>
            <a:off x="1143000" y="178308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5.01</a:t>
            </a:r>
          </a:p>
        </p:txBody>
      </p:sp>
      <p:sp>
        <p:nvSpPr>
          <p:cNvPr id="9" name="TextBox 8">
            <a:hlinkClick action="ppaction://hlinksldjump" r:id="rId2"/>
          </p:cNvPr>
          <p:cNvSpPr txBox="1"/>
          <p:nvPr/>
        </p:nvSpPr>
        <p:spPr>
          <a:xfrm>
            <a:off x="2560320" y="178308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Scale Drawings</a:t>
            </a:r>
          </a:p>
        </p:txBody>
      </p:sp>
      <p:sp>
        <p:nvSpPr>
          <p:cNvPr id="10" name="TextBox 9">
            <a:hlinkClick action="ppaction://hlinksldjump" r:id="rId2"/>
          </p:cNvPr>
          <p:cNvSpPr txBox="1"/>
          <p:nvPr/>
        </p:nvSpPr>
        <p:spPr>
          <a:xfrm>
            <a:off x="9555480" y="178308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43000" y="224028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hlinkClick action="ppaction://hlinksldjump" r:id="rId3"/>
          </p:cNvPr>
          <p:cNvSpPr txBox="1"/>
          <p:nvPr/>
        </p:nvSpPr>
        <p:spPr>
          <a:xfrm>
            <a:off x="1143000" y="220370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5.02–03</a:t>
            </a:r>
          </a:p>
        </p:txBody>
      </p:sp>
      <p:sp>
        <p:nvSpPr>
          <p:cNvPr id="13" name="TextBox 12">
            <a:hlinkClick action="ppaction://hlinksldjump" r:id="rId3"/>
          </p:cNvPr>
          <p:cNvSpPr txBox="1"/>
          <p:nvPr/>
        </p:nvSpPr>
        <p:spPr>
          <a:xfrm>
            <a:off x="2560320" y="220370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Scale Factor: Perimeter and Area</a:t>
            </a:r>
          </a:p>
        </p:txBody>
      </p:sp>
      <p:sp>
        <p:nvSpPr>
          <p:cNvPr id="14" name="TextBox 13">
            <a:hlinkClick action="ppaction://hlinksldjump" r:id="rId3"/>
          </p:cNvPr>
          <p:cNvSpPr txBox="1"/>
          <p:nvPr/>
        </p:nvSpPr>
        <p:spPr>
          <a:xfrm>
            <a:off x="9555480" y="220370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43000" y="266090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hlinkClick action="ppaction://hlinksldjump" r:id="rId4"/>
          </p:cNvPr>
          <p:cNvSpPr txBox="1"/>
          <p:nvPr/>
        </p:nvSpPr>
        <p:spPr>
          <a:xfrm>
            <a:off x="1143000" y="262432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5.04</a:t>
            </a:r>
          </a:p>
        </p:txBody>
      </p:sp>
      <p:sp>
        <p:nvSpPr>
          <p:cNvPr id="17" name="TextBox 16">
            <a:hlinkClick action="ppaction://hlinksldjump" r:id="rId4"/>
          </p:cNvPr>
          <p:cNvSpPr txBox="1"/>
          <p:nvPr/>
        </p:nvSpPr>
        <p:spPr>
          <a:xfrm>
            <a:off x="2560320" y="262432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Real-World Scale Drawings</a:t>
            </a:r>
          </a:p>
        </p:txBody>
      </p:sp>
      <p:sp>
        <p:nvSpPr>
          <p:cNvPr id="18" name="TextBox 17">
            <a:hlinkClick action="ppaction://hlinksldjump" r:id="rId4"/>
          </p:cNvPr>
          <p:cNvSpPr txBox="1"/>
          <p:nvPr/>
        </p:nvSpPr>
        <p:spPr>
          <a:xfrm>
            <a:off x="9555480" y="262432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73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43000" y="308152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hlinkClick action="ppaction://hlinksldjump" r:id="rId5"/>
          </p:cNvPr>
          <p:cNvSpPr txBox="1"/>
          <p:nvPr/>
        </p:nvSpPr>
        <p:spPr>
          <a:xfrm>
            <a:off x="1143000" y="3044952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5.06–07</a:t>
            </a:r>
          </a:p>
        </p:txBody>
      </p:sp>
      <p:sp>
        <p:nvSpPr>
          <p:cNvPr id="21" name="TextBox 20">
            <a:hlinkClick action="ppaction://hlinksldjump" r:id="rId5"/>
          </p:cNvPr>
          <p:cNvSpPr txBox="1"/>
          <p:nvPr/>
        </p:nvSpPr>
        <p:spPr>
          <a:xfrm>
            <a:off x="2560320" y="3044952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Converting Length Across Systems; Currency</a:t>
            </a:r>
          </a:p>
        </p:txBody>
      </p:sp>
      <p:sp>
        <p:nvSpPr>
          <p:cNvPr id="22" name="TextBox 21">
            <a:hlinkClick action="ppaction://hlinksldjump" r:id="rId5"/>
          </p:cNvPr>
          <p:cNvSpPr txBox="1"/>
          <p:nvPr/>
        </p:nvSpPr>
        <p:spPr>
          <a:xfrm>
            <a:off x="9555480" y="3044952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108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43000" y="3502152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hlinkClick action="ppaction://hlinksldjump" r:id="rId6"/>
          </p:cNvPr>
          <p:cNvSpPr txBox="1"/>
          <p:nvPr/>
        </p:nvSpPr>
        <p:spPr>
          <a:xfrm>
            <a:off x="1143000" y="3465576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5.08–09</a:t>
            </a:r>
          </a:p>
        </p:txBody>
      </p:sp>
      <p:sp>
        <p:nvSpPr>
          <p:cNvPr id="25" name="TextBox 24">
            <a:hlinkClick action="ppaction://hlinksldjump" r:id="rId6"/>
          </p:cNvPr>
          <p:cNvSpPr txBox="1"/>
          <p:nvPr/>
        </p:nvSpPr>
        <p:spPr>
          <a:xfrm>
            <a:off x="2560320" y="3465576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Converting Mass, Area and Volume</a:t>
            </a:r>
          </a:p>
        </p:txBody>
      </p:sp>
      <p:sp>
        <p:nvSpPr>
          <p:cNvPr id="26" name="TextBox 25">
            <a:hlinkClick action="ppaction://hlinksldjump" r:id="rId6"/>
          </p:cNvPr>
          <p:cNvSpPr txBox="1"/>
          <p:nvPr/>
        </p:nvSpPr>
        <p:spPr>
          <a:xfrm>
            <a:off x="9555480" y="3465576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143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143000" y="3922776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hlinkClick action="ppaction://hlinksldjump" r:id="rId7"/>
          </p:cNvPr>
          <p:cNvSpPr txBox="1"/>
          <p:nvPr/>
        </p:nvSpPr>
        <p:spPr>
          <a:xfrm>
            <a:off x="1143000" y="388620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5.10–11</a:t>
            </a:r>
          </a:p>
        </p:txBody>
      </p:sp>
      <p:sp>
        <p:nvSpPr>
          <p:cNvPr id="29" name="TextBox 28">
            <a:hlinkClick action="ppaction://hlinksldjump" r:id="rId7"/>
          </p:cNvPr>
          <p:cNvSpPr txBox="1"/>
          <p:nvPr/>
        </p:nvSpPr>
        <p:spPr>
          <a:xfrm>
            <a:off x="2560320" y="388620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Multi-Step Proportion Problems</a:t>
            </a:r>
          </a:p>
        </p:txBody>
      </p:sp>
      <p:sp>
        <p:nvSpPr>
          <p:cNvPr id="30" name="TextBox 29">
            <a:hlinkClick action="ppaction://hlinksldjump" r:id="rId7"/>
          </p:cNvPr>
          <p:cNvSpPr txBox="1"/>
          <p:nvPr/>
        </p:nvSpPr>
        <p:spPr>
          <a:xfrm>
            <a:off x="9555480" y="388620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178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143000" y="434340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Scale Drawings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MA.7.GR.1.5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the scale factor between two figures, and use a scale to find a real length from a drawing or a drawing length from the real one.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c477c7b8f5111b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55813"/>
            <a:ext cx="1493520" cy="283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bdfad0a4d6a24e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083117"/>
            <a:ext cx="679704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16210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</a:t>
            </a:r>
          </a:p>
        </p:txBody>
      </p:sp>
      <p:pic>
        <p:nvPicPr>
          <p:cNvPr id="13" name="Picture 12" descr="df9e392240993d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8447" y="2738437"/>
            <a:ext cx="1130808" cy="2712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89255" y="2665476"/>
            <a:ext cx="2186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as a number.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93024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On a map, 3 cm stands for 12 km. What does 1 cm stand for?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c477c7b8f5111b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55813"/>
            <a:ext cx="1493520" cy="283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01328" y="1440180"/>
            <a:ext cx="5562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−5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2" name="Picture 11" descr="bdfad0a4d6a24e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083117"/>
            <a:ext cx="679704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01650" y="2052828"/>
            <a:ext cx="3800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16210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</a:t>
            </a:r>
          </a:p>
        </p:txBody>
      </p:sp>
      <p:pic>
        <p:nvPicPr>
          <p:cNvPr id="15" name="Picture 14" descr="df9e392240993d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8447" y="2738437"/>
            <a:ext cx="1130808" cy="2712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89255" y="2665476"/>
            <a:ext cx="2186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as a number.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7382" y="2665476"/>
            <a:ext cx="10283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2,500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278124"/>
            <a:ext cx="93024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On a map, 3 cm stands for 12 km. What does 1 cm stand for?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3735324"/>
            <a:ext cx="9662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 km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scale drawing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20848"/>
            <a:ext cx="10241280" cy="644055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drawing of a real thing with every length multiplied by the same number: a map, a floor plan, a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02648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scale factor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037597"/>
            <a:ext cx="56784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the number every length is multiplied by, written </a:t>
            </a:r>
          </a:p>
        </p:txBody>
      </p:sp>
      <p:pic>
        <p:nvPicPr>
          <p:cNvPr id="12" name="Picture 11" descr="5ad8b479ac3620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4305" y="3065410"/>
            <a:ext cx="188976" cy="2865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73281" y="3037597"/>
            <a:ext cx="24772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: from 4 cm to 6 cm, </a:t>
            </a:r>
          </a:p>
        </p:txBody>
      </p:sp>
      <p:pic>
        <p:nvPicPr>
          <p:cNvPr id="14" name="Picture 13" descr="a3bca5590aab4c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3366" y="3068458"/>
            <a:ext cx="1030224" cy="289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3673105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corresponding sides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030913"/>
            <a:ext cx="10241280" cy="644055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the side of the copy that matches a side of the original: the 6 cm side matches the 4 cm side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912713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scale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247662"/>
            <a:ext cx="35533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scale factor with units on it: </a:t>
            </a:r>
          </a:p>
        </p:txBody>
      </p:sp>
      <p:pic>
        <p:nvPicPr>
          <p:cNvPr id="19" name="Picture 18" descr="33a234fb1dc3f5c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9200" y="5270522"/>
            <a:ext cx="1728216" cy="30175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287416" y="5247662"/>
            <a:ext cx="47722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 means every inch on the map is 20 miles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scale copy: every side times the same number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a37466dfaa1878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79" y="1993392"/>
            <a:ext cx="4937760" cy="2238451"/>
          </a:xfrm>
          <a:prstGeom prst="rect">
            <a:avLst/>
          </a:prstGeom>
        </p:spPr>
      </p:pic>
      <p:pic>
        <p:nvPicPr>
          <p:cNvPr id="11" name="Picture 10" descr="5db795a1dcbd5a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0304" y="4378147"/>
            <a:ext cx="8820912" cy="804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552114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Every angle is still 90°: k multiplies lengths, not angles.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Find k: copy divided by original — and k can be less than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c3fa4e7c95803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424" y="1993392"/>
            <a:ext cx="6900672" cy="67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00228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k = copy ÷ original. Less than 1 shrinks, more than 1 enlarges, 1 is the same size.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Use k both ways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f2961e2a00986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2784" y="2017776"/>
            <a:ext cx="7235952" cy="387096"/>
          </a:xfrm>
          <a:prstGeom prst="rect">
            <a:avLst/>
          </a:prstGeom>
        </p:spPr>
      </p:pic>
      <p:pic>
        <p:nvPicPr>
          <p:cNvPr id="11" name="Picture 10" descr="8380a0d28443e47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7255" y="2713101"/>
            <a:ext cx="8827008" cy="301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4290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To the copy, multiply by k. Back to the original, divide by 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6 cm by 4 cm rectangle is copied at 15 cm by 10 cm.</a:t>
            </a:r>
          </a:p>
        </p:txBody>
      </p:sp>
      <p:pic>
        <p:nvPicPr>
          <p:cNvPr id="9" name="Picture 8" descr="gd5b862b59eaad3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2276458"/>
            <a:ext cx="5486400" cy="27451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35076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scale factor.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200adc5213f3de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874519" cy="673608"/>
          </a:xfrm>
          <a:prstGeom prst="rect">
            <a:avLst/>
          </a:prstGeom>
        </p:spPr>
      </p:pic>
      <p:pic>
        <p:nvPicPr>
          <p:cNvPr id="9" name="Picture 8" descr="3dbcdeb48f5a06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1335024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2.5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An 8 cm by 10 cm rectangle is copied at 12 cm by 15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scale factor.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An 8 cm by 10 cm rectangle is copied at 12 cm by 15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scale factor.</a:t>
            </a:r>
          </a:p>
        </p:txBody>
      </p:sp>
      <p:pic>
        <p:nvPicPr>
          <p:cNvPr id="10" name="Picture 9" descr="fe7cf77f09050b1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3298" y="2751548"/>
            <a:ext cx="1673352" cy="603504"/>
          </a:xfrm>
          <a:prstGeom prst="rect">
            <a:avLst/>
          </a:prstGeom>
        </p:spPr>
      </p:pic>
      <p:pic>
        <p:nvPicPr>
          <p:cNvPr id="11" name="Picture 10" descr="ea6090423d2d6b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3298" y="3483068"/>
            <a:ext cx="1194816" cy="6126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48114" y="3560792"/>
            <a:ext cx="2710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— the same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1.5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0700" y="1714500"/>
            <a:ext cx="2641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map's scale is </a:t>
            </a:r>
          </a:p>
        </p:txBody>
      </p:sp>
      <p:pic>
        <p:nvPicPr>
          <p:cNvPr id="9" name="Picture 8" descr="d7f44fc30d54f3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4742" y="1819656"/>
            <a:ext cx="1392936" cy="243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57678" y="171450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231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Two towns are 2.6 in apart on the map.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4513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far apart are the towns?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f31880d7c5f206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033015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65 mi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160" y="1577340"/>
            <a:ext cx="2641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map's scale is </a:t>
            </a:r>
          </a:p>
        </p:txBody>
      </p:sp>
      <p:pic>
        <p:nvPicPr>
          <p:cNvPr id="9" name="Picture 8" descr="06167158fe892f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5202" y="1691640"/>
            <a:ext cx="1652016" cy="2346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87218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Two towns are 4.2 cm apart on the map.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250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far apart are the towns?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160" y="1577340"/>
            <a:ext cx="2641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map's scale is </a:t>
            </a:r>
          </a:p>
        </p:txBody>
      </p:sp>
      <p:pic>
        <p:nvPicPr>
          <p:cNvPr id="9" name="Picture 8" descr="e2bec98e965b49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5202" y="1691640"/>
            <a:ext cx="1652016" cy="2346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87218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Two towns are 4.2 cm apart on the map.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250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far apart are the towns?</a:t>
            </a:r>
          </a:p>
        </p:txBody>
      </p:sp>
      <p:pic>
        <p:nvPicPr>
          <p:cNvPr id="13" name="Picture 12" descr="874fbb5c36f522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603" y="3531265"/>
            <a:ext cx="1847088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63 km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 cm side becomes 6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 cm side becomes 6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d90d78eb18b743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6879" y="3071588"/>
            <a:ext cx="1240536" cy="609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8 cm side becomes 4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8 cm side becomes 4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88f6a9aaf9cd8a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19" y="3071588"/>
            <a:ext cx="1280160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½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12 cm side becomes 9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12 cm side becomes 9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3a3e9bb1d3245f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5628" y="3071588"/>
            <a:ext cx="1453896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¾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side of 5 cm becomes 2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998c49ee2893d4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38644"/>
            <a:ext cx="47853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3cb114a9a26f9e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38644"/>
            <a:ext cx="530352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33209a3099e77b7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48244"/>
            <a:ext cx="137160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899d09e1fb7976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54340"/>
            <a:ext cx="185928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side of 5 cm becomes 2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41cad21ae37866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3812" y="3071588"/>
            <a:ext cx="1566672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0.4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scale factor is 3.5. A side of the original is 6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that side in the copy?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scale factor is 3.5. A side of the original is 6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that side in the copy?</a:t>
            </a:r>
          </a:p>
        </p:txBody>
      </p:sp>
      <p:pic>
        <p:nvPicPr>
          <p:cNvPr id="10" name="Picture 9" descr="330bf951670aa9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03" y="3165505"/>
            <a:ext cx="161848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21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92123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drawing has a 40° angle. The real figure is a scale copy at </a:t>
            </a:r>
          </a:p>
        </p:txBody>
      </p:sp>
      <p:pic>
        <p:nvPicPr>
          <p:cNvPr id="9" name="Picture 8" descr="fc22e08664d808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628" y="1965960"/>
            <a:ext cx="853440" cy="2346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163068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angle in the real figure?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3" name="Picture 12" descr="931d3a876917ba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568" y="3212194"/>
            <a:ext cx="600456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37959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5" name="Picture 14" descr="f041d7103b8797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888" y="3212194"/>
            <a:ext cx="886968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7" name="Picture 16" descr="0b9eb51d2c267c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8568" y="3818746"/>
            <a:ext cx="512064" cy="2773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9" name="Picture 18" descr="f6bdea168322aab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888" y="3824842"/>
            <a:ext cx="765048" cy="2773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50759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92123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drawing has a 40° angle. The real figure is a scale copy at </a:t>
            </a:r>
          </a:p>
        </p:txBody>
      </p:sp>
      <p:pic>
        <p:nvPicPr>
          <p:cNvPr id="9" name="Picture 8" descr="39705602679ca2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628" y="1965960"/>
            <a:ext cx="853440" cy="2346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163068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angle in the real figure?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68098" y="3122278"/>
            <a:ext cx="796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Lengths are multiplied by k. Angles are not.</a:t>
            </a:r>
          </a:p>
        </p:txBody>
      </p:sp>
      <p:pic>
        <p:nvPicPr>
          <p:cNvPr id="13" name="Picture 12" descr="3cc36cf75937c8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2962" y="3781598"/>
            <a:ext cx="545592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40°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6, 8 and 10. Another has sides 9, 12 and 15; a third has sides 9, 12 and 14.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one is a scale copy of the first?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6, 8 and 10. Another has sides 9, 12 and 15; a third has sides 9, 12 and 14.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one is a scale copy of the first?</a:t>
            </a:r>
          </a:p>
        </p:txBody>
      </p:sp>
      <p:pic>
        <p:nvPicPr>
          <p:cNvPr id="10" name="Picture 9" descr="1caa99a087a8b7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9559" y="3500959"/>
            <a:ext cx="2496312" cy="612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25871" y="3578683"/>
            <a:ext cx="40560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second is a copy</a:t>
            </a:r>
          </a:p>
        </p:txBody>
      </p:sp>
      <p:pic>
        <p:nvPicPr>
          <p:cNvPr id="12" name="Picture 11" descr="66f8f0a44e6167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9559" y="4241623"/>
            <a:ext cx="1996439" cy="609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925999" y="4317823"/>
            <a:ext cx="30053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third is not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988383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9-12-15 triangle (k = 1.5); the 9-12-14 one is not a copy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Dev, who is 13, draws a 15-ft wall as 3 in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a 20-ft wall on his drawing?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Dev, who is 13, draws a 15-ft wall as 3 in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a 20-ft wall on his drawing?</a:t>
            </a:r>
          </a:p>
        </p:txBody>
      </p:sp>
      <p:pic>
        <p:nvPicPr>
          <p:cNvPr id="10" name="Picture 9" descr="53b8b83f65f5cc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6582" y="3168553"/>
            <a:ext cx="1374648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21230" y="3048728"/>
            <a:ext cx="3340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every inch is 5 ft</a:t>
            </a:r>
          </a:p>
        </p:txBody>
      </p:sp>
      <p:pic>
        <p:nvPicPr>
          <p:cNvPr id="12" name="Picture 11" descr="503b886175e4a4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6582" y="3708049"/>
            <a:ext cx="1453896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 in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Priya says the scale factor from a 6 cm side to its 3 cm copy is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Priya says the scale factor from a 6 cm side to its 3 cm copy is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pic>
        <p:nvPicPr>
          <p:cNvPr id="10" name="Picture 9" descr="0673d22e8596ca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7682" y="3071588"/>
            <a:ext cx="1063752" cy="5120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1434" y="3099020"/>
            <a:ext cx="6166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. No: the copy is smaller, so k is under 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No. k = 3 ÷ 6 = ½: the copy is smaller, so k is under 1.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7031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7031"/>
            <a:ext cx="810171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5 cm side becomes 15 cm in the copy. Find the scale factor.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2817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28178"/>
            <a:ext cx="809871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15 cm side becomes 6 cm in the copy. Find the scale factor.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59326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59326"/>
            <a:ext cx="9383799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3 cm by 5 cm rectangle is copied at 7.5 cm by 12.5 cm. Find the scale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962457"/>
            <a:ext cx="102995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factor.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93604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93604"/>
            <a:ext cx="9614649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The scale factor is 1.5 and a side of the original is 8 cm. How long is that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896735"/>
            <a:ext cx="238772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side in the copy?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427882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27882"/>
            <a:ext cx="233721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map's scale is </a:t>
            </a:r>
          </a:p>
        </p:txBody>
      </p:sp>
      <p:pic>
        <p:nvPicPr>
          <p:cNvPr id="20" name="Picture 19" descr="d7f44fc30d54f3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4535" y="4525286"/>
            <a:ext cx="1271811" cy="22263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026347" y="4427882"/>
            <a:ext cx="647292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Two cities are 2.8 in apart on the map. How far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831013"/>
            <a:ext cx="2227461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apart are they?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362160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362160"/>
            <a:ext cx="893673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On the same map, a road is 150 mi long. How long is it on the map?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find the scale factor, missing side, or missing angle — WEA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2–3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Scale Factor: Perimeter and Area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MA.7.GR.1.5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the perimeter and the area of a scale copy from the original and k, and find k from two areas.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3437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20 cm side becomes 8 cm in the copy. Find the scale factor.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0" name="Picture 9" descr="f53f316f2160c0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306" y="2083117"/>
            <a:ext cx="886968" cy="3901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65476"/>
            <a:ext cx="30712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values:  </a:t>
            </a:r>
          </a:p>
        </p:txBody>
      </p:sp>
      <p:pic>
        <p:nvPicPr>
          <p:cNvPr id="12" name="Picture 11" descr="6eb818bbb8711f8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8588" y="2732341"/>
            <a:ext cx="277368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85956" y="2665476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4" name="Picture 13" descr="9db8fd1d7925e6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6297" y="2738437"/>
            <a:ext cx="271272" cy="2712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278124"/>
            <a:ext cx="93490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perimeter and the area of a 3 cm by 5 cm rectangle.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3437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20 cm side becomes 8 cm in the copy. Find the scale factor.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12274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k = 0.4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f53f316f2160c0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306" y="2540317"/>
            <a:ext cx="886968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08914" y="2510028"/>
            <a:ext cx="5365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122676"/>
            <a:ext cx="30712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values:  </a:t>
            </a:r>
          </a:p>
        </p:txBody>
      </p:sp>
      <p:pic>
        <p:nvPicPr>
          <p:cNvPr id="14" name="Picture 13" descr="6eb818bbb8711f8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8588" y="3189541"/>
            <a:ext cx="277368" cy="2773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85956" y="3122676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6" name="Picture 15" descr="9db8fd1d7925e6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6297" y="3195637"/>
            <a:ext cx="271272" cy="27127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856209" y="3122676"/>
            <a:ext cx="14651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 and 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735324"/>
            <a:ext cx="93490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perimeter and the area of a 3 cm by 5 cm rectangle.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4192524"/>
            <a:ext cx="33881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P = 16 cm, A = 15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k squared</a:t>
            </a:r>
          </a:p>
        </p:txBody>
      </p:sp>
      <p:pic>
        <p:nvPicPr>
          <p:cNvPr id="9" name="Picture 8" descr="f5d0f69f4213cc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892410"/>
            <a:ext cx="359664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502664" y="1869550"/>
            <a:ext cx="99845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, k times k: what an area is multiplied by when every length is multiplied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54182"/>
            <a:ext cx="6241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by </a:t>
            </a:r>
          </a:p>
        </p:txBody>
      </p:sp>
      <p:pic>
        <p:nvPicPr>
          <p:cNvPr id="12" name="Picture 11" descr="5ad8b479ac3620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92" y="2401045"/>
            <a:ext cx="188976" cy="2865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298969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perimeter ratio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396200"/>
            <a:ext cx="71062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copy's perimeter ÷ original's perimeter — it equals </a:t>
            </a:r>
          </a:p>
        </p:txBody>
      </p:sp>
      <p:pic>
        <p:nvPicPr>
          <p:cNvPr id="15" name="Picture 14" descr="5ad8b479ac3620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2116" y="3443063"/>
            <a:ext cx="188976" cy="2865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03170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area ratio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438219"/>
            <a:ext cx="56769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copy's area ÷ original's area — it equals </a:t>
            </a:r>
          </a:p>
        </p:txBody>
      </p:sp>
      <p:pic>
        <p:nvPicPr>
          <p:cNvPr id="18" name="Picture 17" descr="f5d0f69f4213cc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2757" y="4461079"/>
            <a:ext cx="359664" cy="33832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Every side × k, so the perimeter × 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75b63e5073dba8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993392"/>
            <a:ext cx="5486400" cy="2387065"/>
          </a:xfrm>
          <a:prstGeom prst="rect">
            <a:avLst/>
          </a:prstGeom>
        </p:spPr>
      </p:pic>
      <p:pic>
        <p:nvPicPr>
          <p:cNvPr id="11" name="Picture 10" descr="6b863e3a4ccebf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1315" y="4572862"/>
            <a:ext cx="4818888" cy="28956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Area is two lengths, so the area × k × 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6f6e25f3820793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993392"/>
            <a:ext cx="3840480" cy="2708030"/>
          </a:xfrm>
          <a:prstGeom prst="rect">
            <a:avLst/>
          </a:prstGeom>
        </p:spPr>
      </p:pic>
      <p:pic>
        <p:nvPicPr>
          <p:cNvPr id="11" name="Picture 10" descr="3072c2893096e23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6724" y="4847726"/>
            <a:ext cx="5148072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From two areas back to k: a square root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8fb9d177b623a6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6251" y="1993391"/>
            <a:ext cx="8129016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00837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Area ratio = k</a:t>
            </a:r>
            <a:r>
              <a:rPr sz="2180" b="1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180" b="1" i="0">
                <a:solidFill>
                  <a:srgbClr val="1A1A1A"/>
                </a:solidFill>
                <a:latin typeface="Lexend"/>
              </a:rPr>
              <a:t>. k = the square root of the area ratio.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5313" y="2080260"/>
            <a:ext cx="58614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 cm by 4 cm rectangle is scaled by </a:t>
            </a:r>
          </a:p>
        </p:txBody>
      </p:sp>
      <p:pic>
        <p:nvPicPr>
          <p:cNvPr id="9" name="Picture 8" descr="0937735c0d6e38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9560" y="2194560"/>
            <a:ext cx="603504" cy="2346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73064" y="20802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13da73618c3a5c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065776" cy="353568"/>
          </a:xfrm>
          <a:prstGeom prst="rect">
            <a:avLst/>
          </a:prstGeom>
        </p:spPr>
      </p:pic>
      <p:pic>
        <p:nvPicPr>
          <p:cNvPr id="9" name="Picture 8" descr="da9b199f35923b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8128"/>
            <a:ext cx="4386072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P = 36 cm, A = 72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4186" y="1577340"/>
            <a:ext cx="58362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3 cm by 6 cm rectangle is scaled by </a:t>
            </a:r>
          </a:p>
        </p:txBody>
      </p:sp>
      <p:pic>
        <p:nvPicPr>
          <p:cNvPr id="9" name="Picture 8" descr="dc6c9152a78ca2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3255" y="1688592"/>
            <a:ext cx="630936" cy="2316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74191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2662" y="1577340"/>
            <a:ext cx="58362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3 cm by 6 cm rectangle is scaled by </a:t>
            </a:r>
          </a:p>
        </p:txBody>
      </p:sp>
      <p:pic>
        <p:nvPicPr>
          <p:cNvPr id="9" name="Picture 8" descr="5706b37a0e438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1731" y="1688592"/>
            <a:ext cx="633984" cy="2316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75715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  <p:pic>
        <p:nvPicPr>
          <p:cNvPr id="12" name="Picture 11" descr="a391ba38776033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4047" y="2992166"/>
            <a:ext cx="2109216" cy="252984"/>
          </a:xfrm>
          <a:prstGeom prst="rect">
            <a:avLst/>
          </a:prstGeom>
        </p:spPr>
      </p:pic>
      <p:pic>
        <p:nvPicPr>
          <p:cNvPr id="13" name="Picture 12" descr="30e6b9ad4e67f13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4047" y="3482894"/>
            <a:ext cx="3880104" cy="3017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P = 72 cm, A = 288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79745" y="1714500"/>
            <a:ext cx="28633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has area </a:t>
            </a:r>
          </a:p>
        </p:txBody>
      </p:sp>
      <p:pic>
        <p:nvPicPr>
          <p:cNvPr id="9" name="Picture 8" descr="acf05f3147d3a6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5945" y="1786128"/>
            <a:ext cx="93268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38633" y="171450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3004" y="2400300"/>
            <a:ext cx="37451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scale copy has area </a:t>
            </a:r>
          </a:p>
        </p:txBody>
      </p:sp>
      <p:pic>
        <p:nvPicPr>
          <p:cNvPr id="12" name="Picture 11" descr="cd92977597ebed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1038" y="2471928"/>
            <a:ext cx="1164336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95374" y="240030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089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side of the original is 3 cm.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3093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k, then the matching side of the copy.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c237a4a459a457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252472" cy="676656"/>
          </a:xfrm>
          <a:prstGeom prst="rect">
            <a:avLst/>
          </a:prstGeom>
        </p:spPr>
      </p:pic>
      <p:pic>
        <p:nvPicPr>
          <p:cNvPr id="9" name="Picture 8" descr="c1463e20ee37a9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71215"/>
            <a:ext cx="4255008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4; the side is 12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82793" y="1577340"/>
            <a:ext cx="28633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has area </a:t>
            </a:r>
          </a:p>
        </p:txBody>
      </p:sp>
      <p:pic>
        <p:nvPicPr>
          <p:cNvPr id="9" name="Picture 8" descr="7ced559aec939d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993" y="1648968"/>
            <a:ext cx="92659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35585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4528" y="2263140"/>
            <a:ext cx="37451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scale copy has area </a:t>
            </a:r>
          </a:p>
        </p:txBody>
      </p:sp>
      <p:pic>
        <p:nvPicPr>
          <p:cNvPr id="12" name="Picture 11" descr="d10548f7154d55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2562" y="2334768"/>
            <a:ext cx="1161288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93850" y="22631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side of the original is 2 cm.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62771" y="3488038"/>
            <a:ext cx="9435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16" name="Picture 15" descr="15aa4a684a6a761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9186" y="3599290"/>
            <a:ext cx="155448" cy="2316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824634" y="3488038"/>
            <a:ext cx="56112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then the matching side of the copy.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82793" y="1577340"/>
            <a:ext cx="28633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has area </a:t>
            </a:r>
          </a:p>
        </p:txBody>
      </p:sp>
      <p:pic>
        <p:nvPicPr>
          <p:cNvPr id="9" name="Picture 8" descr="53872f32833451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993" y="1648968"/>
            <a:ext cx="92659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35585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1480" y="2263140"/>
            <a:ext cx="37451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scale copy has area </a:t>
            </a:r>
          </a:p>
        </p:txBody>
      </p:sp>
      <p:pic>
        <p:nvPicPr>
          <p:cNvPr id="12" name="Picture 11" descr="8031aa25e0fc3e7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9514" y="2334768"/>
            <a:ext cx="1167384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96898" y="22631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side of the original is 2 cm.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62771" y="3488038"/>
            <a:ext cx="9435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16" name="Picture 15" descr="15aa4a684a6a761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9186" y="3599290"/>
            <a:ext cx="155448" cy="2316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824634" y="3488038"/>
            <a:ext cx="56112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then the matching side of the copy.</a:t>
            </a:r>
          </a:p>
        </p:txBody>
      </p:sp>
      <p:pic>
        <p:nvPicPr>
          <p:cNvPr id="18" name="Picture 17" descr="a02b1beb298b5d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240" y="4269850"/>
            <a:ext cx="2048256" cy="609600"/>
          </a:xfrm>
          <a:prstGeom prst="rect">
            <a:avLst/>
          </a:prstGeom>
        </p:spPr>
      </p:pic>
      <p:pic>
        <p:nvPicPr>
          <p:cNvPr id="19" name="Picture 18" descr="c6b6368f1cca46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6240" y="5007466"/>
            <a:ext cx="3861816" cy="43281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57744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5; the side is 10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52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perimeter 14 cm is scaled by </a:t>
            </a:r>
          </a:p>
        </p:txBody>
      </p:sp>
      <p:pic>
        <p:nvPicPr>
          <p:cNvPr id="9" name="Picture 8" descr="365db93adf7efc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763" y="1962911"/>
            <a:ext cx="612648" cy="2316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32411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perimeter?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52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perimeter 14 cm is scaled by </a:t>
            </a:r>
          </a:p>
        </p:txBody>
      </p:sp>
      <p:pic>
        <p:nvPicPr>
          <p:cNvPr id="9" name="Picture 8" descr="4b3d59f7957f5c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763" y="1962911"/>
            <a:ext cx="615696" cy="2316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35459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perimeter?</a:t>
            </a:r>
          </a:p>
        </p:txBody>
      </p:sp>
      <p:pic>
        <p:nvPicPr>
          <p:cNvPr id="12" name="Picture 11" descr="d860927724a309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6859" y="3242102"/>
            <a:ext cx="1554480" cy="24993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28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7ced559aec939d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3287"/>
            <a:ext cx="92659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94638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365db93adf7efc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3344" y="1962911"/>
            <a:ext cx="612648" cy="2316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7599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53872f32833451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3287"/>
            <a:ext cx="92659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94638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4b3d59f7957f5c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3344" y="1962911"/>
            <a:ext cx="615696" cy="2316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7904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4" name="Picture 13" descr="427887251510c88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0203" y="3190286"/>
            <a:ext cx="2910840" cy="3017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48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192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8e6d7d6e505860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88819"/>
            <a:ext cx="98755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55598" y="1917192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3bcf9a6d74a2c9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4304" y="1874519"/>
            <a:ext cx="624840" cy="5425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9144" y="1917192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618232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192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05de746722b060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88819"/>
            <a:ext cx="99364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61694" y="1917192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f7228653a96dd5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0400" y="1874519"/>
            <a:ext cx="621792" cy="5425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52192" y="1917192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618232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4" name="Picture 13" descr="ba1e3c512174bc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1311" y="3276202"/>
            <a:ext cx="3474720" cy="6126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6285ccdfa38694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3287"/>
            <a:ext cx="944880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12926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0937735c0d6e389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1632" y="1965960"/>
            <a:ext cx="603504" cy="2346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5136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5" name="Picture 14" descr="78f7267bd6258a9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209146"/>
            <a:ext cx="420624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7" name="Picture 16" descr="b6b586116b6ce2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209146"/>
            <a:ext cx="417576" cy="28041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9" name="Picture 18" descr="da98a1872183d6f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8568" y="3824842"/>
            <a:ext cx="414528" cy="2773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1" name="Picture 20" descr="65ff48fc3d12dc0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4888" y="3824842"/>
            <a:ext cx="350520" cy="2773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77240" y="450759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090d1f48e1a718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3287"/>
            <a:ext cx="944880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12926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065fb73e082dfe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1632" y="1965960"/>
            <a:ext cx="606552" cy="2346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8184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4" name="Picture 13" descr="8413de0e199e541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0203" y="3190286"/>
            <a:ext cx="2910840" cy="304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90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d7fc11fcb5d46b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3287"/>
            <a:ext cx="78943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57478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981713b65bc0ab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6184" y="1965960"/>
            <a:ext cx="838200" cy="2346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64384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206fc3ce5420f4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3287"/>
            <a:ext cx="78943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57478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beaaa9fd83ee57b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6184" y="1965960"/>
            <a:ext cx="838200" cy="2346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64384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4" name="Picture 13" descr="3c70ee3fe6f126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223" y="3190286"/>
            <a:ext cx="1539240" cy="304800"/>
          </a:xfrm>
          <a:prstGeom prst="rect">
            <a:avLst/>
          </a:prstGeom>
        </p:spPr>
      </p:pic>
      <p:pic>
        <p:nvPicPr>
          <p:cNvPr id="15" name="Picture 14" descr="2e3c5fba163c0d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1223" y="3781598"/>
            <a:ext cx="1831848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18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figure's perimeter is 20 cm; its copy's perimeter is 60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area ratio, copy to original?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c003d31adc9c10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32548"/>
            <a:ext cx="18897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899d09e1fb7976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41692"/>
            <a:ext cx="18592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e3fffa01a271e3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51292"/>
            <a:ext cx="448056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5a99f83968c3ddd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45196"/>
            <a:ext cx="192024" cy="2773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figure's perimeter is 20 cm; its copy's perimeter is 60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area ratio, copy to original?</a:t>
            </a:r>
          </a:p>
        </p:txBody>
      </p:sp>
      <p:pic>
        <p:nvPicPr>
          <p:cNvPr id="10" name="Picture 9" descr="458baf89721802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5813" y="3071588"/>
            <a:ext cx="1453896" cy="6187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79709" y="3152360"/>
            <a:ext cx="45059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perimeter ratio is k</a:t>
            </a:r>
          </a:p>
        </p:txBody>
      </p:sp>
      <p:pic>
        <p:nvPicPr>
          <p:cNvPr id="12" name="Picture 11" descr="2edc07f1b53d6d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5813" y="3860449"/>
            <a:ext cx="853440" cy="3017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79253" y="3795488"/>
            <a:ext cx="2864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area ratio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9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192"/>
            <a:ext cx="73388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with sides 6, 8 and 10 cm is scaled by </a:t>
            </a:r>
          </a:p>
        </p:txBody>
      </p:sp>
      <p:pic>
        <p:nvPicPr>
          <p:cNvPr id="9" name="Picture 8" descr="3bcf9a6d74a2c9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6104" y="1874519"/>
            <a:ext cx="624840" cy="542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60944" y="1917192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95372"/>
            <a:ext cx="18035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area is </a:t>
            </a:r>
          </a:p>
        </p:txBody>
      </p:sp>
      <p:pic>
        <p:nvPicPr>
          <p:cNvPr id="12" name="Picture 11" descr="050f2fbd0e1306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0809" y="2667000"/>
            <a:ext cx="972311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73121" y="2595372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230880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192"/>
            <a:ext cx="73388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with sides 6, 8 and 10 cm is scaled by </a:t>
            </a:r>
          </a:p>
        </p:txBody>
      </p:sp>
      <p:pic>
        <p:nvPicPr>
          <p:cNvPr id="9" name="Picture 8" descr="f7228653a96dd5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6104" y="1874519"/>
            <a:ext cx="621792" cy="542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57896" y="1917192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95372"/>
            <a:ext cx="18035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area is </a:t>
            </a:r>
          </a:p>
        </p:txBody>
      </p:sp>
      <p:pic>
        <p:nvPicPr>
          <p:cNvPr id="12" name="Picture 11" descr="7eb340286a1c1c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0809" y="2667000"/>
            <a:ext cx="975360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76169" y="2595372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230880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  <p:pic>
        <p:nvPicPr>
          <p:cNvPr id="15" name="Picture 14" descr="288a399f2ce561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5775" y="3888850"/>
            <a:ext cx="2145792" cy="606552"/>
          </a:xfrm>
          <a:prstGeom prst="rect">
            <a:avLst/>
          </a:prstGeom>
        </p:spPr>
      </p:pic>
      <p:pic>
        <p:nvPicPr>
          <p:cNvPr id="16" name="Picture 15" descr="392447636256ad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5775" y="4623418"/>
            <a:ext cx="2042160" cy="60350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36408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P = 12 cm, A = 6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81982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4 in by 6 in photo, taken 3 years ago, is enlarged at </a:t>
            </a:r>
          </a:p>
        </p:txBody>
      </p:sp>
      <p:pic>
        <p:nvPicPr>
          <p:cNvPr id="9" name="Picture 8" descr="fc22e08664d808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5558" y="1965960"/>
            <a:ext cx="853440" cy="2346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148998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enlargement's area?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81982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4 in by 6 in photo, taken 3 years ago, is enlarged at </a:t>
            </a:r>
          </a:p>
        </p:txBody>
      </p:sp>
      <p:pic>
        <p:nvPicPr>
          <p:cNvPr id="9" name="Picture 8" descr="39705602679ca2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5558" y="1965960"/>
            <a:ext cx="853440" cy="2346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148998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enlargement's area?</a:t>
            </a:r>
          </a:p>
        </p:txBody>
      </p:sp>
      <p:pic>
        <p:nvPicPr>
          <p:cNvPr id="12" name="Picture 11" descr="2a69d4576013ab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379" y="3236006"/>
            <a:ext cx="1996439" cy="252984"/>
          </a:xfrm>
          <a:prstGeom prst="rect">
            <a:avLst/>
          </a:prstGeom>
        </p:spPr>
      </p:pic>
      <p:pic>
        <p:nvPicPr>
          <p:cNvPr id="13" name="Picture 12" descr="f562745388bd647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3379" y="3729782"/>
            <a:ext cx="3901440" cy="304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150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says that doubling every side of a rectangle doubles its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Explain why not, with a counterexample.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says that doubling every side of a rectangle doubles its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Explain why not, with a counterexample.</a:t>
            </a:r>
          </a:p>
        </p:txBody>
      </p:sp>
      <p:pic>
        <p:nvPicPr>
          <p:cNvPr id="10" name="Picture 9" descr="3b4f9ec0788951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2340" y="3162457"/>
            <a:ext cx="530656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No: 2 by 7 doubled is 4 by 14, area 14 </a:t>
            </a:r>
            <a:r>
              <a:rPr sz="3040" b="1" i="0">
                <a:solidFill>
                  <a:srgbClr val="9E1B32"/>
                </a:solidFill>
                <a:latin typeface="Arial"/>
              </a:rPr>
              <a:t>→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56 — × 4, as both lengths doubled.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7031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7031"/>
            <a:ext cx="572237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figure with perimeter 18 cm is scaled by </a:t>
            </a:r>
          </a:p>
        </p:txBody>
      </p:sp>
      <p:pic>
        <p:nvPicPr>
          <p:cNvPr id="10" name="Picture 9" descr="0937735c0d6e38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9697" y="1598609"/>
            <a:ext cx="551025" cy="21428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0723" y="1497031"/>
            <a:ext cx="36840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the copy's perimeter.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02817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028178"/>
            <a:ext cx="262576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14" name="Picture 13" descr="15179f9c1b6811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3085" y="2110276"/>
            <a:ext cx="706870" cy="25324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49956" y="2028178"/>
            <a:ext cx="186882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6" name="Picture 15" descr="0937735c0d6e38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1618" y="2129756"/>
            <a:ext cx="551025" cy="21428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032644" y="2028178"/>
            <a:ext cx="303256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the copy's area.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619159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619159"/>
            <a:ext cx="262576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20" name="Picture 19" descr="f4387bd3ec8815b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3085" y="2701256"/>
            <a:ext cx="910026" cy="25324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953112" y="2619159"/>
            <a:ext cx="186882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22" name="Picture 21" descr="3bcf9a6d74a2c9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774" y="2580198"/>
            <a:ext cx="570506" cy="49536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255280" y="2619159"/>
            <a:ext cx="303256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the copy's area.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210140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3210140"/>
            <a:ext cx="514083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2 cm by 5 cm rectangle is scaled by </a:t>
            </a:r>
          </a:p>
        </p:txBody>
      </p:sp>
      <p:pic>
        <p:nvPicPr>
          <p:cNvPr id="26" name="Picture 25" descr="fc22e08664d8088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8152" y="3311718"/>
            <a:ext cx="779227" cy="21428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37380" y="3210140"/>
            <a:ext cx="3728608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the copy's perimeter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3613271"/>
            <a:ext cx="1446539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and area.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14441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4144418"/>
            <a:ext cx="2531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figure has area </a:t>
            </a:r>
          </a:p>
        </p:txBody>
      </p:sp>
      <p:pic>
        <p:nvPicPr>
          <p:cNvPr id="31" name="Picture 30" descr="edb32a36259546d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49067" y="4226515"/>
            <a:ext cx="718002" cy="25324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667069" y="4144418"/>
            <a:ext cx="3899959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its scale copy has area </a:t>
            </a:r>
          </a:p>
        </p:txBody>
      </p:sp>
      <p:pic>
        <p:nvPicPr>
          <p:cNvPr id="33" name="Picture 32" descr="0db939c0bc0baa3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29869" y="4226515"/>
            <a:ext cx="1043608" cy="253249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473478" y="4144418"/>
            <a:ext cx="98833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</a:t>
            </a:r>
          </a:p>
        </p:txBody>
      </p:sp>
      <p:pic>
        <p:nvPicPr>
          <p:cNvPr id="35" name="Picture 34" descr="15aa4a684a6a761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24654" y="4247388"/>
            <a:ext cx="141930" cy="21150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0466585" y="4144418"/>
            <a:ext cx="271558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4675565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54480" y="4675565"/>
            <a:ext cx="992508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figure's perimeter is 12 cm and its copy's perimeter is 48 cm. What is the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54480" y="5078696"/>
            <a:ext cx="3825124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area ratio, copy to original?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Perimeter and area: changes in scale — ZC6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find the scale factor or missing side — XHM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Scale Drawings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MA.7.GR.1.5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use a scale such as ¼ in : 1 ft to find real lengths and areas from a drawing, and drawing lengths from real ones.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002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figure of area </a:t>
            </a:r>
          </a:p>
        </p:txBody>
      </p:sp>
      <p:pic>
        <p:nvPicPr>
          <p:cNvPr id="9" name="Picture 8" descr="edb32a36259546d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998" y="1507045"/>
            <a:ext cx="786384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26382" y="1440180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365db93adf7efc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6157" y="1546669"/>
            <a:ext cx="612648" cy="2316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028805" y="1440180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052828"/>
            <a:ext cx="91705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5 cm side becomes 3 cm in the copy. Find the scale factor.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5" name="Picture 14" descr="7ec5cb8616fd94f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2661" y="2784157"/>
            <a:ext cx="1072896" cy="2255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278124"/>
            <a:ext cx="9143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90 miles in 2 hours. How far does it go per hour?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002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figure of area </a:t>
            </a:r>
          </a:p>
        </p:txBody>
      </p:sp>
      <p:pic>
        <p:nvPicPr>
          <p:cNvPr id="9" name="Picture 8" descr="edb32a36259546d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998" y="1507045"/>
            <a:ext cx="786384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26382" y="1440180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365db93adf7efc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6157" y="1546669"/>
            <a:ext cx="612648" cy="2316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028805" y="1440180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1897380"/>
            <a:ext cx="11989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36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510028"/>
            <a:ext cx="91705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5 cm side becomes 3 cm in the copy. Find the scale factor.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2967228"/>
            <a:ext cx="1210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k = 0.6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798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7" name="Picture 16" descr="7ec5cb8616fd94f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2661" y="3698557"/>
            <a:ext cx="1072896" cy="2255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34197" y="3579876"/>
            <a:ext cx="6300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3.6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4192524"/>
            <a:ext cx="9143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90 miles in 2 hours. How far does it go per hour?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4649724"/>
            <a:ext cx="28419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45 miles per hour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floor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20848"/>
            <a:ext cx="10241280" cy="32202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scale drawing of a room or building seen from above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80620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scale (two units)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42061"/>
            <a:ext cx="19068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ratio such as </a:t>
            </a:r>
          </a:p>
        </p:txBody>
      </p:sp>
      <p:pic>
        <p:nvPicPr>
          <p:cNvPr id="12" name="Picture 11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2679" y="2738429"/>
            <a:ext cx="1456944" cy="664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69623" y="2842061"/>
            <a:ext cx="60054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 — a drawing length and the real length it stands for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04061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unit rate of a 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065501"/>
            <a:ext cx="42611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the scale written per 1 drawing unit: </a:t>
            </a:r>
          </a:p>
        </p:txBody>
      </p:sp>
      <p:pic>
        <p:nvPicPr>
          <p:cNvPr id="16" name="Picture 15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7036" y="3961869"/>
            <a:ext cx="1456944" cy="6644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723980" y="4065501"/>
            <a:ext cx="513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 is </a:t>
            </a:r>
          </a:p>
        </p:txBody>
      </p:sp>
      <p:pic>
        <p:nvPicPr>
          <p:cNvPr id="18" name="Picture 17" descr="2e89f08f987938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0268" y="4084170"/>
            <a:ext cx="1374648" cy="3017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4827501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scale with one unit</a:t>
            </a:r>
          </a:p>
        </p:txBody>
      </p:sp>
      <p:pic>
        <p:nvPicPr>
          <p:cNvPr id="20" name="Picture 19" descr="978f6528d2268a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5205503"/>
            <a:ext cx="826008" cy="27736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969008" y="5162450"/>
            <a:ext cx="48876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 — no units: 1 cm of model is 50 cm of car. </a:t>
            </a:r>
          </a:p>
        </p:txBody>
      </p:sp>
      <p:pic>
        <p:nvPicPr>
          <p:cNvPr id="22" name="Picture 21" descr="2e89f08f987938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9450" y="5185310"/>
            <a:ext cx="1374648" cy="30175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094098" y="5162450"/>
            <a:ext cx="513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 is </a:t>
            </a:r>
          </a:p>
        </p:txBody>
      </p:sp>
      <p:pic>
        <p:nvPicPr>
          <p:cNvPr id="24" name="Picture 23" descr="f0627971b55979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0387" y="5205503"/>
            <a:ext cx="832104" cy="27736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302491" y="5162450"/>
            <a:ext cx="12576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 this way,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5647082"/>
            <a:ext cx="30174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and 48 is the scale factor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scale is a rate: write it per 1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73d9c50cbaab7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9539" y="1993392"/>
            <a:ext cx="4282440" cy="667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299923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Drawing × rate = real.  Real ÷ rate = drawing.  With one unit, 1 in : 4 ft is 1 : 48.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Area: go to the real dimensions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c256debf18477e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4965" y="1993392"/>
            <a:ext cx="3951589" cy="3566159"/>
          </a:xfrm>
          <a:prstGeom prst="rect">
            <a:avLst/>
          </a:prstGeom>
        </p:spPr>
      </p:pic>
      <p:pic>
        <p:nvPicPr>
          <p:cNvPr id="11" name="Picture 10" descr="da18b1e3915be7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5705855"/>
            <a:ext cx="3145536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Real to drawing is a division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5c94e184342c6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1663" y="2027301"/>
            <a:ext cx="2298192" cy="301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27432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No scale printed? One pair gives it: 2 in </a:t>
            </a:r>
            <a:r>
              <a:rPr sz="2180" b="1" i="0">
                <a:solidFill>
                  <a:srgbClr val="1A1A1A"/>
                </a:solidFill>
                <a:latin typeface="Arial"/>
              </a:rPr>
              <a:t>↔</a:t>
            </a:r>
            <a:r>
              <a:rPr sz="2180" b="1" i="0">
                <a:solidFill>
                  <a:srgbClr val="1A1A1A"/>
                </a:solidFill>
                <a:latin typeface="Lexend"/>
              </a:rPr>
              <a:t> 9 ft is 4.5 ft per inch.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6016" y="1778507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floor plan is drawn at </a:t>
            </a:r>
          </a:p>
        </p:txBody>
      </p:sp>
      <p:pic>
        <p:nvPicPr>
          <p:cNvPr id="9" name="Picture 8" descr="9ca189c78b28ba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6689" y="1737360"/>
            <a:ext cx="1185672" cy="5394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361" y="1778507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551175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room is 2.5 in by 3 in on the plan.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7315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room's real dimensions and area.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dcd2a03b5af577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432048" cy="667512"/>
          </a:xfrm>
          <a:prstGeom prst="rect">
            <a:avLst/>
          </a:prstGeom>
        </p:spPr>
      </p:pic>
      <p:pic>
        <p:nvPicPr>
          <p:cNvPr id="9" name="Picture 8" descr="915548aa4259a54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2072"/>
            <a:ext cx="4096512" cy="277368"/>
          </a:xfrm>
          <a:prstGeom prst="rect">
            <a:avLst/>
          </a:prstGeom>
        </p:spPr>
      </p:pic>
      <p:pic>
        <p:nvPicPr>
          <p:cNvPr id="10" name="Picture 9" descr="ed3c81b185a5a2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13759"/>
            <a:ext cx="2112264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 ft by 12 ft; 120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6016" y="1641348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floor plan is drawn at </a:t>
            </a:r>
          </a:p>
        </p:txBody>
      </p:sp>
      <p:pic>
        <p:nvPicPr>
          <p:cNvPr id="9" name="Picture 8" descr="9ca189c78b28ba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6689" y="1600200"/>
            <a:ext cx="1185672" cy="5394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361" y="164134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14015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room is 1.5 in by 4 in on the plan.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5311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room's real dimensions and area.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4492" y="1641348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floor plan is drawn at </a:t>
            </a:r>
          </a:p>
        </p:txBody>
      </p:sp>
      <p:pic>
        <p:nvPicPr>
          <p:cNvPr id="9" name="Picture 8" descr="9141fd4a1e45fc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5165" y="1600200"/>
            <a:ext cx="1188720" cy="5394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3885" y="164134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14015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room is 1.5 in by 4 in on the plan.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5311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room's real dimensions and area.</a:t>
            </a:r>
          </a:p>
        </p:txBody>
      </p:sp>
      <p:pic>
        <p:nvPicPr>
          <p:cNvPr id="13" name="Picture 12" descr="2ca6e5298287df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5403" y="3659281"/>
            <a:ext cx="3523488" cy="256032"/>
          </a:xfrm>
          <a:prstGeom prst="rect">
            <a:avLst/>
          </a:prstGeom>
        </p:spPr>
      </p:pic>
      <p:pic>
        <p:nvPicPr>
          <p:cNvPr id="14" name="Picture 13" descr="5fd038657ddc92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5403" y="4195729"/>
            <a:ext cx="1551432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535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 ft by 16 ft; 96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On a drawing a wall is 4 in long; the real wall is 18 ft. Another wall is 6 in long on the drawing.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544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long is the second wall really?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0261f8592fb08f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459480" cy="384048"/>
          </a:xfrm>
          <a:prstGeom prst="rect">
            <a:avLst/>
          </a:prstGeom>
        </p:spPr>
      </p:pic>
      <p:pic>
        <p:nvPicPr>
          <p:cNvPr id="9" name="Picture 8" descr="022db8f1da267d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78608"/>
            <a:ext cx="1847088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27 ft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On a drawing a wall is 2 in long; the real wall is 13 ft. Another wall is 5 in long on the drawing.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86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second wall really?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On a drawing a wall is 2 in long; the real wall is 13 ft. Another wall is 5 in long on the drawing.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86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second wall really?</a:t>
            </a:r>
          </a:p>
        </p:txBody>
      </p:sp>
      <p:pic>
        <p:nvPicPr>
          <p:cNvPr id="10" name="Picture 9" descr="bbb8c08ba0d816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4874" y="3274835"/>
            <a:ext cx="1642872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57746" y="3158059"/>
            <a:ext cx="17357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ft per in</a:t>
            </a:r>
          </a:p>
        </p:txBody>
      </p:sp>
      <p:pic>
        <p:nvPicPr>
          <p:cNvPr id="12" name="Picture 11" descr="563feef954113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4874" y="3814331"/>
            <a:ext cx="1923288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32.5 ft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192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e7b684faf88323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874519"/>
            <a:ext cx="1161288" cy="542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34579" y="1917192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18232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wall is 4 in long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7330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wall?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192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73bf4039381e9a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874519"/>
            <a:ext cx="1167384" cy="542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40675" y="1917192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18232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wall is 4 in long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7330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wall?</a:t>
            </a:r>
          </a:p>
        </p:txBody>
      </p:sp>
      <p:pic>
        <p:nvPicPr>
          <p:cNvPr id="13" name="Picture 12" descr="c8c92f87f3d6ee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5528" y="3815300"/>
            <a:ext cx="3060192" cy="606552"/>
          </a:xfrm>
          <a:prstGeom prst="rect">
            <a:avLst/>
          </a:prstGeom>
        </p:spPr>
      </p:pic>
      <p:pic>
        <p:nvPicPr>
          <p:cNvPr id="14" name="Picture 13" descr="4c79ce6c59743c2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5528" y="4646833"/>
            <a:ext cx="1210056" cy="24993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09850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 ft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d7e1b174636e67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6815"/>
            <a:ext cx="1094232" cy="243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7523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room is 2.5 in long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room?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bc94ef922c26df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6815"/>
            <a:ext cx="1094232" cy="243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7523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room is 2.5 in long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room?</a:t>
            </a:r>
          </a:p>
        </p:txBody>
      </p:sp>
      <p:pic>
        <p:nvPicPr>
          <p:cNvPr id="13" name="Picture 12" descr="7f47ff26618b21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9135" y="3781201"/>
            <a:ext cx="1712976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7.5 ft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d7e1b174636e67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6815"/>
            <a:ext cx="1094232" cy="243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7523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real wall is 21 ft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bc94ef922c26df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6815"/>
            <a:ext cx="1094232" cy="243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7523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real wall is 21 ft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pic>
        <p:nvPicPr>
          <p:cNvPr id="13" name="Picture 12" descr="42d22dbd0f417c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6775" y="3781201"/>
            <a:ext cx="1380744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 in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87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model car is built at </a:t>
            </a:r>
          </a:p>
        </p:txBody>
      </p:sp>
      <p:pic>
        <p:nvPicPr>
          <p:cNvPr id="9" name="Picture 8" descr="bea53fde14d6fb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994" y="1975103"/>
            <a:ext cx="673608" cy="2255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19602" y="1851660"/>
            <a:ext cx="2782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is 8 cm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car?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3" name="Picture 12" descr="e6be1afe100034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568" y="3212194"/>
            <a:ext cx="667512" cy="2712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37959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5" name="Picture 14" descr="d1c869ae9d4258c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888" y="3209146"/>
            <a:ext cx="1155192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7" name="Picture 16" descr="f9480b526a91aca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8568" y="3824842"/>
            <a:ext cx="1136904" cy="2773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9" name="Picture 18" descr="f6b889ed3e969be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888" y="3827890"/>
            <a:ext cx="1075944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50759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87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model car is built at </a:t>
            </a:r>
          </a:p>
        </p:txBody>
      </p:sp>
      <p:pic>
        <p:nvPicPr>
          <p:cNvPr id="9" name="Picture 8" descr="bea53fde14d6fb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994" y="1975103"/>
            <a:ext cx="673608" cy="2255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19602" y="1851660"/>
            <a:ext cx="2782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is 8 cm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car?</a:t>
            </a:r>
          </a:p>
        </p:txBody>
      </p:sp>
      <p:pic>
        <p:nvPicPr>
          <p:cNvPr id="12" name="Picture 11" descr="4fc1d381e1a99b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6280" y="3242102"/>
            <a:ext cx="1847088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673368" y="3122278"/>
            <a:ext cx="8542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cm</a:t>
            </a:r>
          </a:p>
        </p:txBody>
      </p:sp>
      <p:pic>
        <p:nvPicPr>
          <p:cNvPr id="14" name="Picture 13" descr="19d037a982db9c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280" y="3781598"/>
            <a:ext cx="2103120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29400" y="3661774"/>
            <a:ext cx="6557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 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5667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9ca189c78b28ba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874519"/>
            <a:ext cx="1185672" cy="5394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8963" y="1915667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1518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real wall is 15 ft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4282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5667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9141fd4a1e45fc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874519"/>
            <a:ext cx="1188720" cy="5394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62011" y="1915667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1518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real wall is 15 ft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4282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pic>
        <p:nvPicPr>
          <p:cNvPr id="13" name="Picture 12" descr="e9e37835812246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7095" y="3887881"/>
            <a:ext cx="3877056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3.75 in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69da27b14c874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6815"/>
            <a:ext cx="1121664" cy="243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495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room is 2 in by 3 in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room's real area?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4" name="Picture 13" descr="cec3ecd6d985b8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568" y="3702524"/>
            <a:ext cx="981455" cy="3413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6" name="Picture 15" descr="48cdba4a3e3447a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888" y="3702524"/>
            <a:ext cx="969264" cy="3413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91640" y="437003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8" name="Picture 17" descr="096426823913f6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8568" y="4315172"/>
            <a:ext cx="1014984" cy="3413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37959" y="437003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0" name="Picture 19" descr="ac80d7fa9b4da39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888" y="4315172"/>
            <a:ext cx="978408" cy="3413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504669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0108e640f9a5d2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6815"/>
            <a:ext cx="1121664" cy="243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495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room is 2 in by 3 in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room's real area?</a:t>
            </a:r>
          </a:p>
        </p:txBody>
      </p:sp>
      <p:pic>
        <p:nvPicPr>
          <p:cNvPr id="13" name="Picture 12" descr="a2754109ea50ef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1039" y="3781201"/>
            <a:ext cx="3249168" cy="252984"/>
          </a:xfrm>
          <a:prstGeom prst="rect">
            <a:avLst/>
          </a:prstGeom>
        </p:spPr>
      </p:pic>
      <p:pic>
        <p:nvPicPr>
          <p:cNvPr id="14" name="Picture 13" descr="cb9cc937a98fdc8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1039" y="4317649"/>
            <a:ext cx="1554480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96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plane is 36 ft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90758"/>
            <a:ext cx="40465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One model of it is built at </a:t>
            </a:r>
          </a:p>
        </p:txBody>
      </p:sp>
      <p:pic>
        <p:nvPicPr>
          <p:cNvPr id="10" name="Picture 9" descr="556f5c83e30f33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862" y="2514202"/>
            <a:ext cx="679704" cy="225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23566" y="2390758"/>
            <a:ext cx="2031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another at </a:t>
            </a:r>
          </a:p>
        </p:txBody>
      </p:sp>
      <p:pic>
        <p:nvPicPr>
          <p:cNvPr id="12" name="Picture 11" descr="3e9707db2572cb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8287" y="2514202"/>
            <a:ext cx="652272" cy="2255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70559" y="23907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model is longer, and by how much?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plane is 36 ft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90758"/>
            <a:ext cx="40465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One model of it is built at </a:t>
            </a:r>
          </a:p>
        </p:txBody>
      </p:sp>
      <p:pic>
        <p:nvPicPr>
          <p:cNvPr id="10" name="Picture 9" descr="556f5c83e30f33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862" y="2514202"/>
            <a:ext cx="679704" cy="225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23566" y="2390758"/>
            <a:ext cx="2031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another at </a:t>
            </a:r>
          </a:p>
        </p:txBody>
      </p:sp>
      <p:pic>
        <p:nvPicPr>
          <p:cNvPr id="12" name="Picture 11" descr="3e9707db2572cb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8287" y="2514202"/>
            <a:ext cx="652272" cy="2255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70559" y="23907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model is longer, and by how much?</a:t>
            </a:r>
          </a:p>
        </p:txBody>
      </p:sp>
      <p:pic>
        <p:nvPicPr>
          <p:cNvPr id="15" name="Picture 14" descr="5542fd061f65cd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3067" y="3778153"/>
            <a:ext cx="1953768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26835" y="3661376"/>
            <a:ext cx="637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in</a:t>
            </a:r>
          </a:p>
        </p:txBody>
      </p:sp>
      <p:pic>
        <p:nvPicPr>
          <p:cNvPr id="17" name="Picture 16" descr="5f9988afdad05b2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3067" y="4317649"/>
            <a:ext cx="4328160" cy="2560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772372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1 : 48 model, by 3 in (9 in against 6 in)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Mia, who is 13, enlarges her 9 in by 12 in poster into a mural.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90758"/>
            <a:ext cx="31516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mural's scale is </a:t>
            </a:r>
          </a:p>
        </p:txBody>
      </p:sp>
      <p:pic>
        <p:nvPicPr>
          <p:cNvPr id="10" name="Picture 9" descr="799b2639d3e366c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8889" y="2495914"/>
            <a:ext cx="1097280" cy="243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46169" y="23907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are the mural's dimensions?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Mia, who is 13, enlarges her 9 in by 12 in poster into a mural.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90758"/>
            <a:ext cx="31516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mural's scale is </a:t>
            </a:r>
          </a:p>
        </p:txBody>
      </p:sp>
      <p:pic>
        <p:nvPicPr>
          <p:cNvPr id="10" name="Picture 9" descr="4cffcd08a805c9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8889" y="2495914"/>
            <a:ext cx="1100328" cy="243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49217" y="23907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are the mural's dimensions?</a:t>
            </a:r>
          </a:p>
        </p:txBody>
      </p:sp>
      <p:pic>
        <p:nvPicPr>
          <p:cNvPr id="13" name="Picture 12" descr="12be65d33c7344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5780" y="3781201"/>
            <a:ext cx="3599688" cy="2499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18 ft by 24 ft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Andrew's drawing a wall is 3.5 in wide and 4 in tall; the real wall is 26.25 ft wide.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real height and the real area. Which step uses the scale?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Andrew's drawing a wall is 3.5 in wide and 4 in tall; the real wall is 26.25 ft wide.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real height and the real area. Which step uses the scale?</a:t>
            </a:r>
          </a:p>
        </p:txBody>
      </p:sp>
      <p:pic>
        <p:nvPicPr>
          <p:cNvPr id="10" name="Picture 9" descr="ba794c9b63733e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9712" y="3994337"/>
            <a:ext cx="6208776" cy="347472"/>
          </a:xfrm>
          <a:prstGeom prst="rect">
            <a:avLst/>
          </a:prstGeom>
        </p:spPr>
      </p:pic>
      <p:pic>
        <p:nvPicPr>
          <p:cNvPr id="11" name="Picture 10" descr="b9e87113330b48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9712" y="4563742"/>
            <a:ext cx="2703576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018465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30 ft high; 787.5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 The scale (7.5 ft per in) is the step from 4 in to 30 ft.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5315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53154"/>
            <a:ext cx="239991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10" name="Picture 9" descr="e7b684faf88323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7231" y="1517904"/>
            <a:ext cx="959324" cy="4481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76556" y="1553154"/>
            <a:ext cx="540974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wall is 6 in long on it. Find the real length.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07522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075224"/>
            <a:ext cx="239991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14" name="Picture 13" descr="42aab0cb6b1598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7231" y="2163351"/>
            <a:ext cx="914002" cy="20143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31233" y="2075224"/>
            <a:ext cx="574016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room is 3.2 in long on it. Find the real length.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543158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2543158"/>
            <a:ext cx="239991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18" name="Picture 17" descr="42aab0cb6b1598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7231" y="2631285"/>
            <a:ext cx="914002" cy="20143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731233" y="2543158"/>
            <a:ext cx="621769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real wall is 22 ft long. Find its length on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063968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063968"/>
            <a:ext cx="239991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22" name="Picture 21" descr="9ca189c78b28bad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7231" y="3029977"/>
            <a:ext cx="979468" cy="44567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796699" y="3063968"/>
            <a:ext cx="660376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room is 2 in by 3.5 in on it. Find the real dimensions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3484195"/>
            <a:ext cx="132879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and area.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395212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3952129"/>
            <a:ext cx="302122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model boat is built at </a:t>
            </a:r>
          </a:p>
        </p:txBody>
      </p:sp>
      <p:pic>
        <p:nvPicPr>
          <p:cNvPr id="27" name="Picture 26" descr="701ad704adc58a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8542" y="4047810"/>
            <a:ext cx="569048" cy="18632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007590" y="3952129"/>
            <a:ext cx="5853713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and is 15 cm long. Find the real boat's length in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319479"/>
            <a:ext cx="108070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meters.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78741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4787414"/>
            <a:ext cx="980063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On a drawing a wall is 3 in long; the real wall is 16.5 ft. Another wall is 5 in long on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5154764"/>
            <a:ext cx="416887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the drawing. How long is it really?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word problems — 84H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scale factor word problems — KCM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6–7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Converting Length Across Systems; Currency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MA.7.AR.3.3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convert a length between the customary and metric systems with a ratio from the reference sheet, and convert money with a given rate.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04188"/>
            <a:ext cx="10713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At </a:t>
            </a:r>
          </a:p>
        </p:txBody>
      </p:sp>
      <p:pic>
        <p:nvPicPr>
          <p:cNvPr id="9" name="Picture 8" descr="9ca189c78b28ba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8724" y="1463040"/>
            <a:ext cx="1185672" cy="5394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94396" y="1504188"/>
            <a:ext cx="54619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how long is a 10-ft wall on the plan?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180844"/>
            <a:ext cx="93367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14 cm side becomes 7 cm in the copy. Find the scale factor.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793492"/>
            <a:ext cx="33564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quotient:  </a:t>
            </a:r>
          </a:p>
        </p:txBody>
      </p:sp>
      <p:pic>
        <p:nvPicPr>
          <p:cNvPr id="13" name="Picture 12" descr="cfca3ed0d98078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841" y="2912173"/>
            <a:ext cx="1161288" cy="225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406140"/>
            <a:ext cx="7068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</a:t>
            </a:r>
          </a:p>
        </p:txBody>
      </p:sp>
      <p:pic>
        <p:nvPicPr>
          <p:cNvPr id="15" name="Picture 14" descr="16140fa0016efc2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4241" y="3503485"/>
            <a:ext cx="1362456" cy="24079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806697" y="3406140"/>
            <a:ext cx="37385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feet is 30 in?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04188"/>
            <a:ext cx="10713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At </a:t>
            </a:r>
          </a:p>
        </p:txBody>
      </p:sp>
      <p:pic>
        <p:nvPicPr>
          <p:cNvPr id="9" name="Picture 8" descr="9ca189c78b28ba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8724" y="1463040"/>
            <a:ext cx="1185672" cy="5394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94396" y="1504188"/>
            <a:ext cx="54619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how long is a 10-ft wall on the plan?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67830" y="1440180"/>
            <a:ext cx="997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2.5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180844"/>
            <a:ext cx="93367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14 cm side becomes 7 cm in the copy. Find the scale factor.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638044"/>
            <a:ext cx="1009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k = 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250692"/>
            <a:ext cx="33564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quotient:  </a:t>
            </a:r>
          </a:p>
        </p:txBody>
      </p:sp>
      <p:pic>
        <p:nvPicPr>
          <p:cNvPr id="15" name="Picture 14" descr="cfca3ed0d98078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841" y="3369373"/>
            <a:ext cx="1161288" cy="2255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803769" y="3250692"/>
            <a:ext cx="3856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863339"/>
            <a:ext cx="7068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</a:t>
            </a:r>
          </a:p>
        </p:txBody>
      </p:sp>
      <p:pic>
        <p:nvPicPr>
          <p:cNvPr id="18" name="Picture 17" descr="16140fa0016efc2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4241" y="3960685"/>
            <a:ext cx="1362456" cy="24079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806697" y="3863339"/>
            <a:ext cx="37385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feet is 30 in?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6776" y="3863339"/>
            <a:ext cx="9500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2.5 ft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customary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inch–foot–mile–pound–gallon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52182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metric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45771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centimeter–meter–kilometer–kilogram–liter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41324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conversion ratio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12054"/>
            <a:ext cx="44291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pair of equal measures, such as </a:t>
            </a:r>
          </a:p>
        </p:txBody>
      </p:sp>
      <p:pic>
        <p:nvPicPr>
          <p:cNvPr id="14" name="Picture 13" descr="23c46f257f02b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990" y="3840248"/>
            <a:ext cx="2270760" cy="3017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05750" y="3812054"/>
            <a:ext cx="2786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296686"/>
            <a:ext cx="43906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written as a fraction that equals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932194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exchange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325783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how much of one currency one unit of another buys — a rate someone sets, printed on the problem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conversion ratio is a form of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7d6f4ebec763b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5532" y="1993392"/>
            <a:ext cx="4410456" cy="697992"/>
          </a:xfrm>
          <a:prstGeom prst="rect">
            <a:avLst/>
          </a:prstGeom>
        </p:spPr>
      </p:pic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Which ratio? Estimate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4d1300cfc0602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8975" y="1993392"/>
            <a:ext cx="4163568" cy="701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03276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Pick the ratio whose 1 is the unit you have. Estimate: which is the bigger unit?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Money is a rate someone sets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ebe123ca6a6e2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1583" y="2039493"/>
            <a:ext cx="3578352" cy="289560"/>
          </a:xfrm>
          <a:prstGeom prst="rect">
            <a:avLst/>
          </a:prstGeom>
        </p:spPr>
      </p:pic>
      <p:pic>
        <p:nvPicPr>
          <p:cNvPr id="11" name="Picture 10" descr="ff2899a6a3a58a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032" y="2734437"/>
            <a:ext cx="7077456" cy="280416"/>
          </a:xfrm>
          <a:prstGeom prst="rect">
            <a:avLst/>
          </a:prstGeom>
        </p:spPr>
      </p:pic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88d2b26b87c7a8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6206" y="2185415"/>
            <a:ext cx="1847088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73294" y="2080260"/>
            <a:ext cx="47991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tablet screen is 15 in across.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5c726513f1e9cc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511552" cy="277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38.1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88d2b26b87c7a8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756" y="1682496"/>
            <a:ext cx="1847088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47844" y="1577340"/>
            <a:ext cx="40500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monitor is 25 in across.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e3914b43cbb522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2280" y="1682496"/>
            <a:ext cx="1844040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46320" y="1577340"/>
            <a:ext cx="40500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monitor is 25 in across.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pic>
        <p:nvPicPr>
          <p:cNvPr id="11" name="Picture 10" descr="338bfed52120ec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811" y="2992166"/>
            <a:ext cx="2325624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63.5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0460" y="2080260"/>
            <a:ext cx="21679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Today's rate: </a:t>
            </a:r>
          </a:p>
        </p:txBody>
      </p:sp>
      <p:pic>
        <p:nvPicPr>
          <p:cNvPr id="9" name="Picture 8" descr="9090d8e8f0989a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213" y="2194560"/>
            <a:ext cx="3346704" cy="2346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97917" y="20802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euros is $80? And how many dollars is 46 euros?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d3223ac4dec205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810256" cy="280416"/>
          </a:xfrm>
          <a:prstGeom prst="rect">
            <a:avLst/>
          </a:prstGeom>
        </p:spPr>
      </p:pic>
      <p:pic>
        <p:nvPicPr>
          <p:cNvPr id="9" name="Picture 8" descr="d55869bdcabf04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2362200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73.60 euros; $50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2908" y="1577340"/>
            <a:ext cx="21679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Today's rate: </a:t>
            </a:r>
          </a:p>
        </p:txBody>
      </p:sp>
      <p:pic>
        <p:nvPicPr>
          <p:cNvPr id="9" name="Picture 8" descr="d0d46e5b72ac2d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660" y="1682496"/>
            <a:ext cx="5047488" cy="243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71148" y="1577340"/>
            <a:ext cx="123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(CAD).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$120 in CAD? And 81 CAD in US dollars?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2908" y="1577340"/>
            <a:ext cx="21679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Today's rate: </a:t>
            </a:r>
          </a:p>
        </p:txBody>
      </p:sp>
      <p:pic>
        <p:nvPicPr>
          <p:cNvPr id="9" name="Picture 8" descr="1cbb51ff54ffc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660" y="1682496"/>
            <a:ext cx="5047488" cy="243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71148" y="1577340"/>
            <a:ext cx="123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(CAD).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$120 in CAD? And 81 CAD in US dollars?</a:t>
            </a:r>
          </a:p>
        </p:txBody>
      </p:sp>
      <p:pic>
        <p:nvPicPr>
          <p:cNvPr id="12" name="Picture 11" descr="b61c547caeac9d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2999" y="2992166"/>
            <a:ext cx="2368296" cy="256032"/>
          </a:xfrm>
          <a:prstGeom prst="rect">
            <a:avLst/>
          </a:prstGeom>
        </p:spPr>
      </p:pic>
      <p:pic>
        <p:nvPicPr>
          <p:cNvPr id="13" name="Picture 12" descr="8124e5dae99de1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2999" y="3531662"/>
            <a:ext cx="2054352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162 CAD; $60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88d2b26b87c7a8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847088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81528" y="1851660"/>
            <a:ext cx="3267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ruler is 20 in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e3914b43cbb522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844040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78480" y="1851660"/>
            <a:ext cx="3267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ruler is 20 in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pic>
        <p:nvPicPr>
          <p:cNvPr id="11" name="Picture 10" descr="563291572bb5ac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8428" y="3242102"/>
            <a:ext cx="2374392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50.8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8f784bf30c7681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831848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66288" y="1851660"/>
            <a:ext cx="36866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phone is 20 cm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inches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6c8af11a611881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831848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66288" y="1851660"/>
            <a:ext cx="36866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phone is 20 cm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inches is that?</a:t>
            </a:r>
          </a:p>
        </p:txBody>
      </p:sp>
      <p:pic>
        <p:nvPicPr>
          <p:cNvPr id="11" name="Picture 10" descr="a6122b463c812d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7299" y="3242102"/>
            <a:ext cx="2136648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7.8 in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673c0080fbe231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901952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851660"/>
            <a:ext cx="31553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race is 5 mi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kilometers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e62e96f3d6ecb8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901952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851660"/>
            <a:ext cx="31553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race is 5 mi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kilometers is that?</a:t>
            </a:r>
          </a:p>
        </p:txBody>
      </p:sp>
      <p:pic>
        <p:nvPicPr>
          <p:cNvPr id="11" name="Picture 10" descr="ed0994c23a4938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1015" y="3239054"/>
            <a:ext cx="2112264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8.05 km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d2f86d8905c910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950720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85160" y="1851660"/>
            <a:ext cx="31804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trail is 5 km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miles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2" name="Picture 11" descr="d576d2edbb6fc5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568" y="3187810"/>
            <a:ext cx="1264920" cy="3017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37959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4" name="Picture 13" descr="1bea68e0811b195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888" y="3187810"/>
            <a:ext cx="1249680" cy="3017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6" name="Picture 15" descr="711be185f145e86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8568" y="3800458"/>
            <a:ext cx="1292352" cy="3017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8" name="Picture 17" descr="147918762884eff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888" y="3800458"/>
            <a:ext cx="1024128" cy="3017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450759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6e18d58589ed85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950720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85160" y="1851660"/>
            <a:ext cx="31804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trail is 5 km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miles is that?</a:t>
            </a:r>
          </a:p>
        </p:txBody>
      </p:sp>
      <p:pic>
        <p:nvPicPr>
          <p:cNvPr id="11" name="Picture 10" descr="7848a55870dbf0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599" y="3239054"/>
            <a:ext cx="1914144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3.1 mi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a7e24ba549ecbc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3768"/>
            <a:ext cx="1347216" cy="2407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81656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88d2b26b87c7a8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8162" y="1956815"/>
            <a:ext cx="1847088" cy="243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4525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door is 6 ft tall.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f2542c0ca55f85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3768"/>
            <a:ext cx="1347216" cy="2407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81656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e3914b43cbb522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8162" y="1956815"/>
            <a:ext cx="1844040" cy="243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4220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door is 6 ft tall.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pic>
        <p:nvPicPr>
          <p:cNvPr id="14" name="Picture 13" descr="cce88695c46a5fc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0787" y="3753769"/>
            <a:ext cx="1935480" cy="274320"/>
          </a:xfrm>
          <a:prstGeom prst="rect">
            <a:avLst/>
          </a:prstGeom>
        </p:spPr>
      </p:pic>
      <p:pic>
        <p:nvPicPr>
          <p:cNvPr id="15" name="Picture 14" descr="23919ae52bfa69e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0787" y="4320697"/>
            <a:ext cx="2709672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182.88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85d78c8d2e33f8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304544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38984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0" name="Picture 9" descr="a7e24ba549ecbc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9990" y="1953768"/>
            <a:ext cx="1347216" cy="2407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27206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2" name="Picture 11" descr="88d2b26b87c7a8c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8212" y="1956815"/>
            <a:ext cx="1847088" cy="243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1530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table is 3 yd long.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About how many centimeters is that? Estimate, then compute.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eb837b0c989315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307592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42032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0" name="Picture 9" descr="f2542c0ca55f85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3038" y="1953768"/>
            <a:ext cx="1347216" cy="2407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30254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2" name="Picture 11" descr="e3914b43cbb5223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1260" y="1956815"/>
            <a:ext cx="1844040" cy="243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1530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table is 3 yd long.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About how many centimeters is that? Estimate, then compute.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94988" y="3661376"/>
            <a:ext cx="77087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Estimate: 3 yd is a bit under 3 m, so about 270 cm</a:t>
            </a:r>
          </a:p>
        </p:txBody>
      </p:sp>
      <p:pic>
        <p:nvPicPr>
          <p:cNvPr id="17" name="Picture 16" descr="d185211e555287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49852" y="4284026"/>
            <a:ext cx="5269992" cy="231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7357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270; exactly 274.32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4647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Rate on Nov 2: </a:t>
            </a:r>
          </a:p>
        </p:txBody>
      </p:sp>
      <p:pic>
        <p:nvPicPr>
          <p:cNvPr id="9" name="Picture 8" descr="6f3040f3d83f44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1985" y="1950720"/>
            <a:ext cx="1898904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60889" y="1851660"/>
            <a:ext cx="2907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</a:t>
            </a:r>
          </a:p>
        </p:txBody>
      </p:sp>
      <p:pic>
        <p:nvPicPr>
          <p:cNvPr id="11" name="Picture 10" descr="e54799be41057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84704"/>
            <a:ext cx="262432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858768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Theo changes $200 to CAD, then to pesos.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63891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pesos does he get?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6089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4647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Rate on Nov 2: </a:t>
            </a:r>
          </a:p>
        </p:txBody>
      </p:sp>
      <p:pic>
        <p:nvPicPr>
          <p:cNvPr id="9" name="Picture 8" descr="62d87b2c8cfaf8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1985" y="1950720"/>
            <a:ext cx="1898904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60889" y="1851660"/>
            <a:ext cx="2907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</a:t>
            </a:r>
          </a:p>
        </p:txBody>
      </p:sp>
      <p:pic>
        <p:nvPicPr>
          <p:cNvPr id="11" name="Picture 10" descr="5f4792e490fd8d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84704"/>
            <a:ext cx="2621280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855720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Theo changes $200 to CAD, then to pesos.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63891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pesos does he get?</a:t>
            </a:r>
          </a:p>
        </p:txBody>
      </p:sp>
      <p:pic>
        <p:nvPicPr>
          <p:cNvPr id="15" name="Picture 14" descr="773c04bbf5cec4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5704" y="4387753"/>
            <a:ext cx="6339840" cy="3169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84552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4,276.80 pesos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d2f86d8905c910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950720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8516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Theo, who weighs 110 lb, rides a 12 km trail.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trail in miles?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6e18d58589ed85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950720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8516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Theo, who weighs 110 lb, rides a 12 km trail.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trail in miles?</a:t>
            </a:r>
          </a:p>
        </p:txBody>
      </p:sp>
      <p:pic>
        <p:nvPicPr>
          <p:cNvPr id="12" name="Picture 11" descr="5134a9b996441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9764" y="3778153"/>
            <a:ext cx="2331720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7.44 mi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pic>
        <p:nvPicPr>
          <p:cNvPr id="8" name="Picture 7" descr="88d2b26b87c7a8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847088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81528" y="1851660"/>
            <a:ext cx="2907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</a:t>
            </a:r>
          </a:p>
        </p:txBody>
      </p:sp>
      <p:pic>
        <p:nvPicPr>
          <p:cNvPr id="10" name="Picture 9" descr="8f784bf30c7681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69464"/>
            <a:ext cx="1831848" cy="243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66288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76956"/>
            <a:ext cx="44962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converts 30 cm to inches: </a:t>
            </a:r>
          </a:p>
        </p:txBody>
      </p:sp>
      <p:pic>
        <p:nvPicPr>
          <p:cNvPr id="13" name="Picture 12" descr="ea1f35b738fd545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3572" y="3182112"/>
            <a:ext cx="2417064" cy="2438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10636" y="307695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71246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43444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pic>
        <p:nvPicPr>
          <p:cNvPr id="8" name="Picture 7" descr="e3914b43cbb522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844040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78480" y="1851660"/>
            <a:ext cx="2907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</a:t>
            </a:r>
          </a:p>
        </p:txBody>
      </p:sp>
      <p:pic>
        <p:nvPicPr>
          <p:cNvPr id="10" name="Picture 9" descr="6c8af11a611881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69464"/>
            <a:ext cx="1831848" cy="243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66288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76956"/>
            <a:ext cx="44962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converts 30 cm to inches: </a:t>
            </a:r>
          </a:p>
        </p:txBody>
      </p:sp>
      <p:pic>
        <p:nvPicPr>
          <p:cNvPr id="13" name="Picture 12" descr="055a3bc030cecbf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3572" y="3182112"/>
            <a:ext cx="2417064" cy="2438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10636" y="307695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71246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pic>
        <p:nvPicPr>
          <p:cNvPr id="16" name="Picture 15" descr="609db8417a3b428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8051" y="4467398"/>
            <a:ext cx="2298192" cy="25298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919074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She used the inches ratio on centimeters. Inches are bigger, so fewer: 11.7 in.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88d2b26b87c7a8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601723"/>
            <a:ext cx="1847088" cy="243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74720" y="1495044"/>
            <a:ext cx="4831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centimeters is 12 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2" name="Picture 11" descr="8f784bf30c7681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96083"/>
            <a:ext cx="1831848" cy="243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59480" y="2089403"/>
            <a:ext cx="42718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inches is 40 cm?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5" name="Picture 14" descr="673c0080fbe2317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90443"/>
            <a:ext cx="1901952" cy="2438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529584" y="2683763"/>
            <a:ext cx="47457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kilometers is 10 mi?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8" name="Picture 17" descr="d2f86d8905c9108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84803"/>
            <a:ext cx="1950720" cy="2438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78352" y="3278123"/>
            <a:ext cx="3925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miles is 8 km?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21" name="Picture 20" descr="85d78c8d2e33f8b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3948684"/>
            <a:ext cx="1304544" cy="304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932176" y="3872483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3" name="Picture 22" descr="a7e24ba549ecbc3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66238" y="3980688"/>
            <a:ext cx="1347216" cy="24079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513454" y="3872483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5" name="Picture 24" descr="88d2b26b87c7a8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7516" y="3979164"/>
            <a:ext cx="1847088" cy="2438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594604" y="3872483"/>
            <a:ext cx="48643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centimeters is 2 yd?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311396"/>
            <a:ext cx="2186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Estimate first.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905755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905755"/>
            <a:ext cx="20862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Today's rate: </a:t>
            </a:r>
          </a:p>
        </p:txBody>
      </p:sp>
      <p:pic>
        <p:nvPicPr>
          <p:cNvPr id="30" name="Picture 29" descr="9090d8e8f0989a7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03603" y="5017008"/>
            <a:ext cx="3346704" cy="2346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850307" y="4905755"/>
            <a:ext cx="46100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euros is $50? How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5344667"/>
            <a:ext cx="37730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many dollars is 23 euros?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Convert between customary and metric systems — E8Z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customary units — 4B8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metric units — HW2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8–9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Converting Mass, Area and Volume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MA.7.AR.3.3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convert mass, volume and area between systems, and square the length ratio for area.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88d2b26b87c7a8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40573"/>
            <a:ext cx="1847088" cy="243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56009" y="1440180"/>
            <a:ext cx="4831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centimeters is 12 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3016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figure of area </a:t>
            </a:r>
          </a:p>
        </p:txBody>
      </p:sp>
      <p:pic>
        <p:nvPicPr>
          <p:cNvPr id="12" name="Picture 11" descr="15179f9c1b6811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136" y="2119693"/>
            <a:ext cx="774192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528328" y="2052828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4" name="Picture 13" descr="0937735c0d6e389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8103" y="2162365"/>
            <a:ext cx="603504" cy="2346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021607" y="2052828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7" name="Picture 16" descr="dd9d4cf5c31a1b9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2661" y="2784157"/>
            <a:ext cx="1036320" cy="2255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874519" y="3278124"/>
            <a:ext cx="7068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</a:t>
            </a:r>
          </a:p>
        </p:txBody>
      </p:sp>
      <p:pic>
        <p:nvPicPr>
          <p:cNvPr id="19" name="Picture 18" descr="a7e24ba549ecbc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4241" y="3375469"/>
            <a:ext cx="1347216" cy="24079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91457" y="3278124"/>
            <a:ext cx="6844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A 1-ft square has what area in square inches?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88d2b26b87c7a8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40573"/>
            <a:ext cx="1847088" cy="243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56009" y="1440180"/>
            <a:ext cx="4831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centimeters is 12 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98840" y="1440180"/>
            <a:ext cx="15592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30.48 cm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052828"/>
            <a:ext cx="3016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figure of area </a:t>
            </a:r>
          </a:p>
        </p:txBody>
      </p:sp>
      <p:pic>
        <p:nvPicPr>
          <p:cNvPr id="13" name="Picture 12" descr="15179f9c1b6811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136" y="2119693"/>
            <a:ext cx="774192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528328" y="2052828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5" name="Picture 14" descr="0937735c0d6e389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8103" y="2162365"/>
            <a:ext cx="603504" cy="2346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021607" y="2052828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2510028"/>
            <a:ext cx="11989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63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1226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9" name="Picture 18" descr="dd9d4cf5c31a1b9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2661" y="3241357"/>
            <a:ext cx="1036320" cy="22555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97621" y="3122676"/>
            <a:ext cx="744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−10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3735324"/>
            <a:ext cx="7068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</a:t>
            </a:r>
          </a:p>
        </p:txBody>
      </p:sp>
      <p:pic>
        <p:nvPicPr>
          <p:cNvPr id="22" name="Picture 21" descr="a7e24ba549ecbc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4241" y="3832669"/>
            <a:ext cx="1347216" cy="24079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791457" y="3735324"/>
            <a:ext cx="6844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A 1-ft square has what area in square inches?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4192524"/>
            <a:ext cx="12465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144 in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mass and weight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20848"/>
            <a:ext cx="10241280" cy="32202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pounds and kilograms — one word on this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80620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ounce (oz)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715569"/>
            <a:ext cx="12917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weight: </a:t>
            </a:r>
          </a:p>
        </p:txBody>
      </p:sp>
      <p:pic>
        <p:nvPicPr>
          <p:cNvPr id="12" name="Picture 11" descr="74807a5fc79ce2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7613" y="2746430"/>
            <a:ext cx="1792224" cy="289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89837" y="2715569"/>
            <a:ext cx="336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4" name="Picture 13" descr="f9a4b27b199226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8880" y="2758622"/>
            <a:ext cx="2234184" cy="3627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3351077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fluid ounce (fl oz)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686025"/>
            <a:ext cx="13502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volume: </a:t>
            </a:r>
          </a:p>
        </p:txBody>
      </p:sp>
      <p:pic>
        <p:nvPicPr>
          <p:cNvPr id="17" name="Picture 16" descr="ae0de4c5e07765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6112" y="3716886"/>
            <a:ext cx="1831848" cy="2895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87960" y="3686025"/>
            <a:ext cx="39764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 — not the same unit as the ounce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321533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square units</a:t>
            </a:r>
          </a:p>
        </p:txBody>
      </p:sp>
      <p:pic>
        <p:nvPicPr>
          <p:cNvPr id="20" name="Picture 19" descr="6bd260b1d893cf5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4679342"/>
            <a:ext cx="399288" cy="304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42287" y="4656482"/>
            <a:ext cx="336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2" name="Picture 21" descr="b894db2784ec4b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41330" y="4679342"/>
            <a:ext cx="661416" cy="304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402746" y="4656482"/>
            <a:ext cx="336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4" name="Picture 23" descr="9bb1e36bc0b83fd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01789" y="4679342"/>
            <a:ext cx="445008" cy="30175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046797" y="4656482"/>
            <a:ext cx="47360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 — an area; the length ratio is used twice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291990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cubic units</a:t>
            </a:r>
          </a:p>
        </p:txBody>
      </p:sp>
      <p:pic>
        <p:nvPicPr>
          <p:cNvPr id="27" name="Picture 26" descr="e179aa5248dda23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3000" y="5649799"/>
            <a:ext cx="399288" cy="30175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42287" y="5626939"/>
            <a:ext cx="336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9" name="Picture 28" descr="7280d534979a852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1330" y="5649799"/>
            <a:ext cx="426720" cy="29870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168050" y="5626939"/>
            <a:ext cx="5560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 — a volume; the length ratio is used three times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Mass and volume convert like length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3faf06fd849e2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247" y="2029968"/>
            <a:ext cx="8193024" cy="374904"/>
          </a:xfrm>
          <a:prstGeom prst="rect">
            <a:avLst/>
          </a:prstGeom>
        </p:spPr>
      </p:pic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Area: the length ratio is used twice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8b3f50c43905f9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79" y="1993392"/>
            <a:ext cx="2194560" cy="2298185"/>
          </a:xfrm>
          <a:prstGeom prst="rect">
            <a:avLst/>
          </a:prstGeom>
        </p:spPr>
      </p:pic>
      <p:pic>
        <p:nvPicPr>
          <p:cNvPr id="11" name="Picture 10" descr="2bbb456a3f9066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2992" y="4437881"/>
            <a:ext cx="6955536" cy="341376"/>
          </a:xfrm>
          <a:prstGeom prst="rect">
            <a:avLst/>
          </a:prstGeom>
        </p:spPr>
      </p:pic>
      <p:pic>
        <p:nvPicPr>
          <p:cNvPr id="12" name="Picture 11" descr="e1f2231684ab9c0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3160" y="5123681"/>
            <a:ext cx="7315200" cy="408432"/>
          </a:xfrm>
          <a:prstGeom prst="rect">
            <a:avLst/>
          </a:prstGeom>
        </p:spPr>
      </p:pic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Fluid ounces go through cups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68b725b0adf21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0528" y="2039493"/>
            <a:ext cx="6760464" cy="289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27432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Length: the ratio once. Area: twice. Volume: three times.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86539a90126a09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9450" y="2191512"/>
            <a:ext cx="1987296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06746" y="2080260"/>
            <a:ext cx="387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suitcase weighs 70 lb.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kilograms is that?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3192ce45c55d31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029712" cy="277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31.78 kg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86539a90126a09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2131" y="1688592"/>
            <a:ext cx="1987296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29427" y="1577340"/>
            <a:ext cx="34271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crate weighs 90 lb.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kilograms is that?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b10388bb53fbda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3655" y="1688592"/>
            <a:ext cx="1984248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27903" y="1577340"/>
            <a:ext cx="34271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crate weighs 90 lb.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kilograms is that?</a:t>
            </a:r>
          </a:p>
        </p:txBody>
      </p:sp>
      <p:pic>
        <p:nvPicPr>
          <p:cNvPr id="11" name="Picture 10" descr="ac569d9db41729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6779" y="2992166"/>
            <a:ext cx="2837688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40.86 kg (about 40.9)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a7e24ba549ecbc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9429" y="2182368"/>
            <a:ext cx="1347216" cy="2407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36645" y="2080260"/>
            <a:ext cx="15282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tile is </a:t>
            </a:r>
          </a:p>
        </p:txBody>
      </p:sp>
      <p:pic>
        <p:nvPicPr>
          <p:cNvPr id="10" name="Picture 9" descr="8ba99cdd4ae998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7703" y="2148840"/>
            <a:ext cx="576072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03775" y="2080260"/>
            <a:ext cx="14054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square inches is that?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d6d56c7d6c8476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276600" cy="341376"/>
          </a:xfrm>
          <a:prstGeom prst="rect">
            <a:avLst/>
          </a:prstGeom>
        </p:spPr>
      </p:pic>
      <p:pic>
        <p:nvPicPr>
          <p:cNvPr id="9" name="Picture 8" descr="0454483ebb13af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220675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720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85d78c8d2e33f8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0725" y="1688592"/>
            <a:ext cx="1304544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85269" y="1577340"/>
            <a:ext cx="1851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patio is </a:t>
            </a:r>
          </a:p>
        </p:txBody>
      </p:sp>
      <p:pic>
        <p:nvPicPr>
          <p:cNvPr id="10" name="Picture 9" descr="b80bf23af7e2cc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9247" y="1645920"/>
            <a:ext cx="713232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2479" y="1577340"/>
            <a:ext cx="14054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eb837b0c989315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7677" y="1688592"/>
            <a:ext cx="1307592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85269" y="1577340"/>
            <a:ext cx="1851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patio is </a:t>
            </a:r>
          </a:p>
        </p:txBody>
      </p:sp>
      <p:pic>
        <p:nvPicPr>
          <p:cNvPr id="10" name="Picture 9" descr="e4af36b06ea23b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9247" y="1645920"/>
            <a:ext cx="716280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527" y="1577340"/>
            <a:ext cx="14054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  <p:pic>
        <p:nvPicPr>
          <p:cNvPr id="13" name="Picture 12" descr="c9fe1cb570749ef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7711" y="2943398"/>
            <a:ext cx="838200" cy="304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45911" y="2875390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ft</a:t>
            </a:r>
            <a:r>
              <a:rPr sz="275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750" b="0" i="0">
                <a:solidFill>
                  <a:srgbClr val="1A1A1A"/>
                </a:solidFill>
                <a:latin typeface="Lexend"/>
              </a:rPr>
              <a:t> in a square yard</a:t>
            </a:r>
          </a:p>
        </p:txBody>
      </p:sp>
      <p:pic>
        <p:nvPicPr>
          <p:cNvPr id="15" name="Picture 14" descr="33061e30c29e67c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07711" y="3531662"/>
            <a:ext cx="1402080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45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d7de33d50f52ca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6596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0" y="1851660"/>
            <a:ext cx="35493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bag of rice is 10 kg.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pounds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e707e309a93366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6596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0" y="1851660"/>
            <a:ext cx="35493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bag of rice is 10 kg.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pounds is that?</a:t>
            </a:r>
          </a:p>
        </p:txBody>
      </p:sp>
      <p:pic>
        <p:nvPicPr>
          <p:cNvPr id="11" name="Picture 10" descr="6312203239575a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7927" y="3242102"/>
            <a:ext cx="2755392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22.04 lb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0d647df019511e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3548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69920" y="1851660"/>
            <a:ext cx="3361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cooler holds 4 gal.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118ca277248594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3548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69920" y="1851660"/>
            <a:ext cx="3361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cooler holds 4 gal.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is that?</a:t>
            </a:r>
          </a:p>
        </p:txBody>
      </p:sp>
      <p:pic>
        <p:nvPicPr>
          <p:cNvPr id="11" name="Picture 10" descr="94f8980594becd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799" y="3242102"/>
            <a:ext cx="2520696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15.14 L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9ab9b6452f97f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72056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6496" y="1851660"/>
            <a:ext cx="29729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tank holds 10 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35b6bbccdafb35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72056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6496" y="1851660"/>
            <a:ext cx="29729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tank holds 10 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that?</a:t>
            </a:r>
          </a:p>
        </p:txBody>
      </p:sp>
      <p:pic>
        <p:nvPicPr>
          <p:cNvPr id="11" name="Picture 10" descr="ba6a3ea2bb8d7c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1559" y="3239054"/>
            <a:ext cx="2548128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2.64 gal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85d78c8d2e33f8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304544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38984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293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patch of lawn is </a:t>
            </a:r>
          </a:p>
        </p:txBody>
      </p:sp>
      <p:pic>
        <p:nvPicPr>
          <p:cNvPr id="11" name="Picture 10" descr="1bf4f9ec3810cb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3426" y="2532888"/>
            <a:ext cx="704088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37514" y="2464308"/>
            <a:ext cx="14054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5" name="Picture 14" descr="1faa871627427bb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76074"/>
            <a:ext cx="920495" cy="3413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7" name="Picture 16" descr="fa7c6ba97e7789d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76074"/>
            <a:ext cx="932688" cy="3413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91640" y="444358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9" name="Picture 18" descr="9327eaee863255b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8568" y="4388722"/>
            <a:ext cx="752856" cy="34137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37959" y="444358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1" name="Picture 20" descr="e03f104e5972ce9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4888" y="4388722"/>
            <a:ext cx="749808" cy="34137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77240" y="512024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eb837b0c989315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307592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4203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293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patch of lawn is </a:t>
            </a:r>
          </a:p>
        </p:txBody>
      </p:sp>
      <p:pic>
        <p:nvPicPr>
          <p:cNvPr id="11" name="Picture 10" descr="116cfbe2b85a3e8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3426" y="2532888"/>
            <a:ext cx="707136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40562" y="2464308"/>
            <a:ext cx="14054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  <p:pic>
        <p:nvPicPr>
          <p:cNvPr id="14" name="Picture 13" descr="c9fe1cb570749ef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7711" y="3802934"/>
            <a:ext cx="838200" cy="304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45911" y="3734926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ft</a:t>
            </a:r>
            <a:r>
              <a:rPr sz="275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750" b="0" i="0">
                <a:solidFill>
                  <a:srgbClr val="1A1A1A"/>
                </a:solidFill>
                <a:latin typeface="Lexend"/>
              </a:rPr>
              <a:t> in a square yard</a:t>
            </a:r>
          </a:p>
        </p:txBody>
      </p:sp>
      <p:pic>
        <p:nvPicPr>
          <p:cNvPr id="16" name="Picture 15" descr="33de29ff29e259d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07711" y="4394246"/>
            <a:ext cx="1353312" cy="24993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18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53fb1d19ce3600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5960"/>
            <a:ext cx="1493520" cy="2346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27960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aae6846e2fca6d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4466" y="1975103"/>
            <a:ext cx="1484376" cy="225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884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bottle holds 16 fl oz.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is that?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bcdf2ce76b2006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5960"/>
            <a:ext cx="1490472" cy="2346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24912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5cfd257165b204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1418" y="1975103"/>
            <a:ext cx="1481328" cy="225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2746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bottle holds 16 fl oz.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is that?</a:t>
            </a:r>
          </a:p>
        </p:txBody>
      </p:sp>
      <p:pic>
        <p:nvPicPr>
          <p:cNvPr id="14" name="Picture 13" descr="83c4edb2bd6b777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8343" y="3778153"/>
            <a:ext cx="1676400" cy="256032"/>
          </a:xfrm>
          <a:prstGeom prst="rect">
            <a:avLst/>
          </a:prstGeom>
        </p:spPr>
      </p:pic>
      <p:pic>
        <p:nvPicPr>
          <p:cNvPr id="15" name="Picture 14" descr="f589dab710055d0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8343" y="4320697"/>
            <a:ext cx="2194560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0.48 L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fb110fe836d86e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75103"/>
            <a:ext cx="1783080" cy="2255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1752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54132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centimeters is </a:t>
            </a:r>
          </a:p>
        </p:txBody>
      </p:sp>
      <p:pic>
        <p:nvPicPr>
          <p:cNvPr id="11" name="Picture 10" descr="54aa35aeb0a188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6" y="2532888"/>
            <a:ext cx="585216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95742" y="246430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2918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4" name="Picture 13" descr="14ef69fc1ef0ed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282696"/>
            <a:ext cx="947928" cy="3444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37959" y="32918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6" name="Picture 15" descr="6c5a704f658703b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285744"/>
            <a:ext cx="646176" cy="2773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91640" y="39044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8" name="Picture 17" descr="e79298326e3b3d5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8568" y="3895344"/>
            <a:ext cx="1182624" cy="34442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37959" y="39044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0" name="Picture 19" descr="b951781f6010573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4888" y="3898392"/>
            <a:ext cx="612648" cy="27736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5811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b9580ee1a813cb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75103"/>
            <a:ext cx="1783080" cy="2255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1752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54132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centimeters is </a:t>
            </a:r>
          </a:p>
        </p:txBody>
      </p:sp>
      <p:pic>
        <p:nvPicPr>
          <p:cNvPr id="11" name="Picture 10" descr="e6f525412f578c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6" y="2532888"/>
            <a:ext cx="588264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98790" y="246430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90afc6895672487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6299" y="3312604"/>
            <a:ext cx="2898648" cy="3139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10,000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d7de33d50f52ca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6596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5-lb bag of flour and a 2.5-kg bag of sugar.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is heavier, and by how much?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e707e309a93366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6596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5-lb bag of flour and a 2.5-kg bag of sugar.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is heavier, and by how much?</a:t>
            </a:r>
          </a:p>
        </p:txBody>
      </p:sp>
      <p:pic>
        <p:nvPicPr>
          <p:cNvPr id="12" name="Picture 11" descr="1da7a0dd2289da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8387" y="3769009"/>
            <a:ext cx="3014472" cy="265176"/>
          </a:xfrm>
          <a:prstGeom prst="rect">
            <a:avLst/>
          </a:prstGeom>
        </p:spPr>
      </p:pic>
      <p:pic>
        <p:nvPicPr>
          <p:cNvPr id="13" name="Picture 12" descr="d2ea0731c01267c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8387" y="4320697"/>
            <a:ext cx="2145792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sugar, by 0.51 lb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0d647df019511e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3548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6992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7433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20-gal fish tank, bought for $45, is being filled.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does it hold?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118ca277248594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3548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6992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7433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20-gal fish tank, bought for $45, is being filled.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does it hold?</a:t>
            </a:r>
          </a:p>
        </p:txBody>
      </p:sp>
      <p:pic>
        <p:nvPicPr>
          <p:cNvPr id="12" name="Picture 11" descr="fd66d022f8b749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8323" y="3854750"/>
            <a:ext cx="2517648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75.7 L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pic>
        <p:nvPicPr>
          <p:cNvPr id="8" name="Picture 7" descr="a7e24ba549ecbc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3768"/>
            <a:ext cx="1347216" cy="2407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81656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18152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Priya says </a:t>
            </a:r>
          </a:p>
        </p:txBody>
      </p:sp>
      <p:pic>
        <p:nvPicPr>
          <p:cNvPr id="11" name="Picture 10" descr="2153689eab6c37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2548" y="2538984"/>
            <a:ext cx="560832" cy="2682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73380" y="2464308"/>
            <a:ext cx="6145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</a:t>
            </a:r>
          </a:p>
        </p:txBody>
      </p:sp>
      <p:pic>
        <p:nvPicPr>
          <p:cNvPr id="13" name="Picture 12" descr="146ce481013c05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0732" y="2538984"/>
            <a:ext cx="783336" cy="2682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34068" y="2464308"/>
            <a:ext cx="1705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because </a:t>
            </a:r>
          </a:p>
        </p:txBody>
      </p:sp>
      <p:pic>
        <p:nvPicPr>
          <p:cNvPr id="15" name="Picture 14" descr="be501a9f3fe0d8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2222" y="2584704"/>
            <a:ext cx="1399032" cy="22250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01254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pic>
        <p:nvPicPr>
          <p:cNvPr id="8" name="Picture 7" descr="f2542c0ca55f85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3768"/>
            <a:ext cx="1347216" cy="2407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81656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18152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Priya says </a:t>
            </a:r>
          </a:p>
        </p:txBody>
      </p:sp>
      <p:pic>
        <p:nvPicPr>
          <p:cNvPr id="11" name="Picture 10" descr="a93cf3a68f39c8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2548" y="2538984"/>
            <a:ext cx="560832" cy="2682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73380" y="2464308"/>
            <a:ext cx="6145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</a:t>
            </a:r>
          </a:p>
        </p:txBody>
      </p:sp>
      <p:pic>
        <p:nvPicPr>
          <p:cNvPr id="13" name="Picture 12" descr="db71148f8587025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0732" y="2538984"/>
            <a:ext cx="786384" cy="2682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37116" y="2464308"/>
            <a:ext cx="1705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because </a:t>
            </a:r>
          </a:p>
        </p:txBody>
      </p:sp>
      <p:pic>
        <p:nvPicPr>
          <p:cNvPr id="15" name="Picture 14" descr="b2ab879000df896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5270" y="2584704"/>
            <a:ext cx="1402080" cy="22250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07350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pic>
        <p:nvPicPr>
          <p:cNvPr id="18" name="Picture 17" descr="a3ccc6ff8a3d38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0939" y="3799886"/>
            <a:ext cx="4849368" cy="365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She used the ratio once. A cubic foot is 12 × 12 × 12 = 1,728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, so 2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3,456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86539a90126a09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71244"/>
            <a:ext cx="1987296" cy="30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14928" y="1495044"/>
            <a:ext cx="457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kilograms is 30 lb?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2" name="Picture 11" descr="d7de33d50f52caf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65604"/>
            <a:ext cx="1965960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93592" y="2089403"/>
            <a:ext cx="43074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pounds is 25 kg?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5" name="Picture 14" descr="0d647df019511e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59963"/>
            <a:ext cx="1935480" cy="304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563112" y="2683763"/>
            <a:ext cx="38939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liters is 6 gal?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8" name="Picture 17" descr="a7e24ba549ecbc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86327"/>
            <a:ext cx="1347216" cy="24079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974848" y="3278123"/>
            <a:ext cx="43070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square inches is </a:t>
            </a:r>
          </a:p>
        </p:txBody>
      </p:sp>
      <p:pic>
        <p:nvPicPr>
          <p:cNvPr id="20" name="Picture 19" descr="fd3f0498ea874b6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4744" y="3369563"/>
            <a:ext cx="573024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17768" y="3278123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23" name="Picture 22" descr="53fb1d19ce36004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3983736"/>
            <a:ext cx="1493520" cy="2346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121152" y="3872483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25" name="Picture 24" descr="aae6846e2fca6d9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06735" y="3988307"/>
            <a:ext cx="1484376" cy="22555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391111" y="3872483"/>
            <a:ext cx="42090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liters is 24 fl oz?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28" name="Picture 27" descr="c79700df5a23d6d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27632" y="4578096"/>
            <a:ext cx="1828800" cy="23469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456432" y="4466844"/>
            <a:ext cx="4391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square meters is </a:t>
            </a:r>
          </a:p>
        </p:txBody>
      </p:sp>
      <p:pic>
        <p:nvPicPr>
          <p:cNvPr id="30" name="Picture 29" descr="aa3a1dcc642825f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10505" y="4556760"/>
            <a:ext cx="758952" cy="27736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469457" y="4466844"/>
            <a:ext cx="25337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 (Round to two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4905756"/>
            <a:ext cx="12982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places.)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Convert between customary and metric systems — E8Z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customary units — 4B8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metric units — HW2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10–11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Multi-Step Proportion Problems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MA.7.AR.4.5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solve a problem that takes two or more proportional steps, including a unit conversion, and compare two rates given in different units.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d7de33d50f52ca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46669"/>
            <a:ext cx="1965960" cy="30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74881" y="1440180"/>
            <a:ext cx="41615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pounds is 4 kg?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10855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At </a:t>
            </a:r>
          </a:p>
        </p:txBody>
      </p:sp>
      <p:pic>
        <p:nvPicPr>
          <p:cNvPr id="12" name="Picture 11" descr="f4514319604e2a5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2862" y="2162365"/>
            <a:ext cx="1685544" cy="2346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08406" y="2052828"/>
            <a:ext cx="5270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3 cm on the map is how many km?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278b168b184c0a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784157"/>
            <a:ext cx="1536192" cy="2255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278124"/>
            <a:ext cx="9166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180 miles in 3 hours. Its speed in miles per hour?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d7de33d50f52ca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46669"/>
            <a:ext cx="1965960" cy="30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74881" y="1440180"/>
            <a:ext cx="41615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pounds is 4 kg?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47894" y="1440180"/>
            <a:ext cx="1350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8.816 lb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052828"/>
            <a:ext cx="10855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At </a:t>
            </a:r>
          </a:p>
        </p:txBody>
      </p:sp>
      <p:pic>
        <p:nvPicPr>
          <p:cNvPr id="13" name="Picture 12" descr="f4514319604e2a5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2862" y="2162365"/>
            <a:ext cx="1685544" cy="2346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08406" y="2052828"/>
            <a:ext cx="5270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3 cm on the map is how many km?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0706" y="2052828"/>
            <a:ext cx="1310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150 km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7" name="Picture 16" descr="278b168b184c0a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784157"/>
            <a:ext cx="1536192" cy="2255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752543" y="2665476"/>
            <a:ext cx="3800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278124"/>
            <a:ext cx="9166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180 miles in 3 hours. Its speed in miles per hour?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3735324"/>
            <a:ext cx="28407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60 miles per hour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unit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how much of one quantity per 1 of the other — 23 miles per 1 gallon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proportional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two quantities whose ratio stays the same: double one, the other doubles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844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13818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for each 1 — the word that marks a unit rate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One unit rate, used twice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84e611f102833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483" y="2020824"/>
            <a:ext cx="975055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Compare rates in one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d21ff173496ec7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024253"/>
            <a:ext cx="6528816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27432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Same unit first. Then compare.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Scale a recipe, then check the pantry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d35a45236af3a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2176" y="1993392"/>
            <a:ext cx="6297168" cy="673608"/>
          </a:xfrm>
          <a:prstGeom prst="rect">
            <a:avLst/>
          </a:prstGeom>
        </p:spPr>
      </p:pic>
      <p:pic>
        <p:nvPicPr>
          <p:cNvPr id="11" name="Picture 10" descr="f2b684c3a3f3c20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939" y="2965704"/>
            <a:ext cx="10073640" cy="387096"/>
          </a:xfrm>
          <a:prstGeom prst="rect">
            <a:avLst/>
          </a:prstGeom>
        </p:spPr>
      </p:pic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17a8a85b0b9a11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5834" y="1771269"/>
            <a:ext cx="2340864" cy="3017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76698" y="17145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688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Runner A does 5 mi in 40 min; runner B does 9 km in 45 min.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908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each speed in km/h. Who is faster?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2785da30ee9605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949696" cy="670560"/>
          </a:xfrm>
          <a:prstGeom prst="rect">
            <a:avLst/>
          </a:prstGeom>
        </p:spPr>
      </p:pic>
      <p:pic>
        <p:nvPicPr>
          <p:cNvPr id="9" name="Picture 8" descr="4fc8bab69cb80b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5120"/>
            <a:ext cx="2874264" cy="670560"/>
          </a:xfrm>
          <a:prstGeom prst="rect">
            <a:avLst/>
          </a:prstGeom>
        </p:spPr>
      </p:pic>
      <p:pic>
        <p:nvPicPr>
          <p:cNvPr id="10" name="Picture 9" descr="3c725b51699ea0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10000"/>
            <a:ext cx="1615440" cy="667512"/>
          </a:xfrm>
          <a:prstGeom prst="rect">
            <a:avLst/>
          </a:prstGeom>
        </p:spPr>
      </p:pic>
      <p:pic>
        <p:nvPicPr>
          <p:cNvPr id="11" name="Picture 10" descr="8081506ef4a1aba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4751832"/>
            <a:ext cx="1859280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4864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≈ 12.08 km/h, B = 12 km/h: A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55c3fc7a368775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1702" y="1600200"/>
            <a:ext cx="2929128" cy="377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70830" y="157734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Runner A does 4 mi in 30 min; runner B does 7 km in 35 min.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7081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each speed in km/h. Who is faster?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f6c1428a8fe5fa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3226" y="1600200"/>
            <a:ext cx="2926080" cy="377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69306" y="157734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Runner A does 4 mi in 30 min; runner B does 7 km in 35 min.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7081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each speed in km/h. Who is faster?</a:t>
            </a:r>
          </a:p>
        </p:txBody>
      </p:sp>
      <p:pic>
        <p:nvPicPr>
          <p:cNvPr id="12" name="Picture 11" descr="7b8f562dd79bcb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9772" y="3483068"/>
            <a:ext cx="5251704" cy="606552"/>
          </a:xfrm>
          <a:prstGeom prst="rect">
            <a:avLst/>
          </a:prstGeom>
        </p:spPr>
      </p:pic>
      <p:pic>
        <p:nvPicPr>
          <p:cNvPr id="13" name="Picture 12" descr="fb86ceff55f1ba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9772" y="4217636"/>
            <a:ext cx="1603248" cy="60350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583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= 12.88 km/h, B = 12 km/h: A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20414" y="2145792"/>
            <a:ext cx="43777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recipe for 8 servings uses </a:t>
            </a:r>
          </a:p>
        </p:txBody>
      </p:sp>
      <p:pic>
        <p:nvPicPr>
          <p:cNvPr id="9" name="Picture 8" descr="37e2160f39e92d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0999" y="2103120"/>
            <a:ext cx="332232" cy="542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93231" y="2145792"/>
            <a:ext cx="20850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cups of rice.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02864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much rice for 20 servings? With 5 cups on hand, how many servings can be made?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2907b0d85da38e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770120" cy="673608"/>
          </a:xfrm>
          <a:prstGeom prst="rect">
            <a:avLst/>
          </a:prstGeom>
        </p:spPr>
      </p:pic>
      <p:pic>
        <p:nvPicPr>
          <p:cNvPr id="9" name="Picture 8" descr="1b4354005a94a6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3852671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6¼ cups; 16 servings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5978" y="1642872"/>
            <a:ext cx="43710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recipe for 6 servings uses </a:t>
            </a:r>
          </a:p>
        </p:txBody>
      </p:sp>
      <p:pic>
        <p:nvPicPr>
          <p:cNvPr id="9" name="Picture 8" descr="c3298129393360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9818" y="1600200"/>
            <a:ext cx="307848" cy="542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77666" y="1642872"/>
            <a:ext cx="20850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cups of rice.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170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rice for 12 servings?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2201" y="2998834"/>
            <a:ext cx="9877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With </a:t>
            </a:r>
          </a:p>
        </p:txBody>
      </p:sp>
      <p:pic>
        <p:nvPicPr>
          <p:cNvPr id="13" name="Picture 12" descr="c4d7fa400edc5e3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2778" y="2956162"/>
            <a:ext cx="362712" cy="5425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15490" y="2998834"/>
            <a:ext cx="5480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cups on hand, how many servings?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9026" y="1642872"/>
            <a:ext cx="43710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recipe for 6 servings uses </a:t>
            </a:r>
          </a:p>
        </p:txBody>
      </p:sp>
      <p:pic>
        <p:nvPicPr>
          <p:cNvPr id="9" name="Picture 8" descr="da5a8fd9ee34c7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2866" y="1600200"/>
            <a:ext cx="301752" cy="542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74618" y="1642872"/>
            <a:ext cx="20850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cups of rice.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170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rice for 12 servings?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5249" y="2998834"/>
            <a:ext cx="9877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With </a:t>
            </a:r>
          </a:p>
        </p:txBody>
      </p:sp>
      <p:pic>
        <p:nvPicPr>
          <p:cNvPr id="13" name="Picture 12" descr="8e2d2576f86f7f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5826" y="2956162"/>
            <a:ext cx="356616" cy="5425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12442" y="2998834"/>
            <a:ext cx="5480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cups on hand, how many servings?</a:t>
            </a:r>
          </a:p>
        </p:txBody>
      </p:sp>
      <p:pic>
        <p:nvPicPr>
          <p:cNvPr id="15" name="Picture 14" descr="9d4724fac4a2806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9392" y="3846178"/>
            <a:ext cx="3474720" cy="606552"/>
          </a:xfrm>
          <a:prstGeom prst="rect">
            <a:avLst/>
          </a:prstGeom>
        </p:spPr>
      </p:pic>
      <p:pic>
        <p:nvPicPr>
          <p:cNvPr id="16" name="Picture 15" descr="13f1547c75366d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9392" y="4580746"/>
            <a:ext cx="3712463" cy="6065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32445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cups; 18 servings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gets 28 miles per gallon. Its tank holds 15 gal.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does it go on a full tank?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gets 28 miles per gallon. Its tank holds 15 gal.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does it go on a full tank?</a:t>
            </a:r>
          </a:p>
        </p:txBody>
      </p:sp>
      <p:pic>
        <p:nvPicPr>
          <p:cNvPr id="10" name="Picture 9" descr="198d9d3f25b719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5023" y="3168553"/>
            <a:ext cx="1981199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420 mi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prints 35 pages per minute. A job is 1,400 pages.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does the job take?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prints 35 pages per minute. A job is 1,400 pages.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does the job take?</a:t>
            </a:r>
          </a:p>
        </p:txBody>
      </p:sp>
      <p:pic>
        <p:nvPicPr>
          <p:cNvPr id="10" name="Picture 9" descr="a8e292b8cde330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3667" y="3165505"/>
            <a:ext cx="2343912" cy="313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40 min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 earns $14.50 per hour at a shop 2 mi from home, 6 h a day for 5 days.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does she earn?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 earns $14.50 per hour at a shop 2 mi from home, 6 h a day for 5 days.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does she earn?</a:t>
            </a:r>
          </a:p>
        </p:txBody>
      </p:sp>
      <p:pic>
        <p:nvPicPr>
          <p:cNvPr id="10" name="Picture 9" descr="7c445bb00f162a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9435" y="3594875"/>
            <a:ext cx="4532376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$435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gets 30 miles per gallon with a 12-gal tank. It makes a 900-mi trip.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tanks of gas does the trip use? (Part of a tank counts as a whole tank.)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400348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72df7627a7a480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994337"/>
            <a:ext cx="18288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400348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63a373b7e630cf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997385"/>
            <a:ext cx="38404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461612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b6172e6484e9447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4606985"/>
            <a:ext cx="390144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461612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899d09e1fb7976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4613081"/>
            <a:ext cx="185928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29278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gets 30 miles per gallon with a 12-gal tank. It makes a 900-mi trip.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tanks of gas does the trip use? (Part of a tank counts as a whole tank.)</a:t>
            </a:r>
          </a:p>
        </p:txBody>
      </p:sp>
      <p:pic>
        <p:nvPicPr>
          <p:cNvPr id="10" name="Picture 9" descr="065daa35c97d27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0039" y="3994337"/>
            <a:ext cx="4014215" cy="347472"/>
          </a:xfrm>
          <a:prstGeom prst="rect">
            <a:avLst/>
          </a:prstGeom>
        </p:spPr>
      </p:pic>
      <p:pic>
        <p:nvPicPr>
          <p:cNvPr id="11" name="Picture 10" descr="e083f958e2482f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0039" y="4554598"/>
            <a:ext cx="3986784" cy="2651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01846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3 tanks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cereal has 12 g of protein per 100 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grams of protein in 1 kg?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cereal has 12 g of protein per 100 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grams of protein in 1 kg?</a:t>
            </a:r>
          </a:p>
        </p:txBody>
      </p:sp>
      <p:pic>
        <p:nvPicPr>
          <p:cNvPr id="10" name="Picture 9" descr="89d5d50ac74474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8352" y="3165505"/>
            <a:ext cx="5114544" cy="313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120 g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673c0080fbe231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901952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Cyclist A rides 12 km in 50 min; cyclist B rides 7 mi in 45 min.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Who is faster?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702524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Tie: 12 and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02524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A: 12 &gt;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4388324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B: 15.0 &gt; 14.4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388324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A: 14.4 &gt; 11.27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39416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e62e96f3d6ecb8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901952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Cyclist A rides 12 km in 50 min; cyclist B rides 7 mi in 45 min.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Who is faster?</a:t>
            </a:r>
          </a:p>
        </p:txBody>
      </p:sp>
      <p:pic>
        <p:nvPicPr>
          <p:cNvPr id="12" name="Picture 11" descr="506f303710cd3d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2011" y="3684236"/>
            <a:ext cx="6062472" cy="606552"/>
          </a:xfrm>
          <a:prstGeom prst="rect">
            <a:avLst/>
          </a:prstGeom>
        </p:spPr>
      </p:pic>
      <p:pic>
        <p:nvPicPr>
          <p:cNvPr id="13" name="Picture 12" descr="c13e10458026784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2011" y="4418804"/>
            <a:ext cx="7510272" cy="60350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1594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cyclist B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3224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Paint is mixed white : blue : grey = </a:t>
            </a:r>
          </a:p>
        </p:txBody>
      </p:sp>
      <p:pic>
        <p:nvPicPr>
          <p:cNvPr id="9" name="Picture 8" descr="36303ebf85e26c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704" y="1975103"/>
            <a:ext cx="883920" cy="2255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03624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batch uses 8 gal of white.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the whole batch?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3224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Paint is mixed white : blue : grey = </a:t>
            </a:r>
          </a:p>
        </p:txBody>
      </p:sp>
      <p:pic>
        <p:nvPicPr>
          <p:cNvPr id="9" name="Picture 8" descr="55a59dfed80728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704" y="1975103"/>
            <a:ext cx="886968" cy="2255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0667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batch uses 8 gal of white.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the whole batch?</a:t>
            </a:r>
          </a:p>
        </p:txBody>
      </p:sp>
      <p:pic>
        <p:nvPicPr>
          <p:cNvPr id="13" name="Picture 12" descr="d59191ca87bf000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6367" y="3684236"/>
            <a:ext cx="4861560" cy="609600"/>
          </a:xfrm>
          <a:prstGeom prst="rect">
            <a:avLst/>
          </a:prstGeom>
        </p:spPr>
      </p:pic>
      <p:pic>
        <p:nvPicPr>
          <p:cNvPr id="14" name="Picture 13" descr="60ebe7948d8a203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6367" y="4515769"/>
            <a:ext cx="1581912" cy="24993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7049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44 gal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69da27b14c874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6815"/>
            <a:ext cx="1121664" cy="243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4955" y="1851660"/>
            <a:ext cx="44807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 a room is 2 in by 2.5 in on it.</a:t>
            </a:r>
          </a:p>
        </p:txBody>
      </p:sp>
      <p:pic>
        <p:nvPicPr>
          <p:cNvPr id="11" name="Picture 10" descr="c79700df5a23d6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78608"/>
            <a:ext cx="1828800" cy="2346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63240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room's area in square 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0108e640f9a5d2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6815"/>
            <a:ext cx="1121664" cy="243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4955" y="1851660"/>
            <a:ext cx="44807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 a room is 2 in by 2.5 in on it.</a:t>
            </a:r>
          </a:p>
        </p:txBody>
      </p:sp>
      <p:pic>
        <p:nvPicPr>
          <p:cNvPr id="11" name="Picture 10" descr="c76c66710128e6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78608"/>
            <a:ext cx="1828800" cy="2346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63240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room's area in square meters.</a:t>
            </a:r>
          </a:p>
        </p:txBody>
      </p:sp>
      <p:pic>
        <p:nvPicPr>
          <p:cNvPr id="14" name="Picture 13" descr="edc42479e43efb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7527" y="3839510"/>
            <a:ext cx="4294632" cy="268224"/>
          </a:xfrm>
          <a:prstGeom prst="rect">
            <a:avLst/>
          </a:prstGeom>
        </p:spPr>
      </p:pic>
      <p:pic>
        <p:nvPicPr>
          <p:cNvPr id="15" name="Picture 14" descr="8d1545a1affce0b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57527" y="4394246"/>
            <a:ext cx="9162288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7.44 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pic>
        <p:nvPicPr>
          <p:cNvPr id="8" name="Picture 7" descr="673c0080fbe231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728216"/>
            <a:ext cx="1901952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6230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2585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300-km drive.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7976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Car A averages 50 mi/h; car B averages 75 km/h.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33676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car gets there first, and by how long? Explain.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pic>
        <p:nvPicPr>
          <p:cNvPr id="8" name="Picture 7" descr="e62e96f3d6ecb8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728216"/>
            <a:ext cx="1901952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6230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2585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300-km drive.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7976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Car A averages 50 mi/h; car B averages 75 km/h.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33676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car gets there first, and by how long? Explain.</a:t>
            </a:r>
          </a:p>
        </p:txBody>
      </p:sp>
      <p:pic>
        <p:nvPicPr>
          <p:cNvPr id="13" name="Picture 12" descr="6fd1d65a65982d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1172" y="4079507"/>
            <a:ext cx="3340608" cy="307848"/>
          </a:xfrm>
          <a:prstGeom prst="rect">
            <a:avLst/>
          </a:prstGeom>
        </p:spPr>
      </p:pic>
      <p:pic>
        <p:nvPicPr>
          <p:cNvPr id="14" name="Picture 13" descr="6a117b4420daa3f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1172" y="4615955"/>
            <a:ext cx="5711952" cy="2682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082871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Car A: 80.5 km/h against 75, so about 3.73 h against 4 h — about 16 minutes sooner.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901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9019"/>
            <a:ext cx="955719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car gets 32 miles per gallon and its tank holds 14 gal. How far does it go on a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66369"/>
            <a:ext cx="86304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tank?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430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4304"/>
            <a:ext cx="942196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That car makes a 1,000-mi trip. How many tanks of gas does it use? (Part of a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701654"/>
            <a:ext cx="365082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tank counts as a whole tank.)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22246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222464"/>
            <a:ext cx="351953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recipe for 4 servings uses </a:t>
            </a:r>
          </a:p>
        </p:txBody>
      </p:sp>
      <p:pic>
        <p:nvPicPr>
          <p:cNvPr id="16" name="Picture 15" descr="8ef7b8baa04105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6859" y="3188473"/>
            <a:ext cx="274452" cy="44567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11312" y="3222464"/>
            <a:ext cx="543282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cups of rice. How much rice for 10 servings?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743275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9" name="Picture 18" descr="d2f86d8905c910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3831402"/>
            <a:ext cx="1611464" cy="20143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239096" y="3743275"/>
            <a:ext cx="808168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train does 120 km/h; a bus does 70 mi/h. Which is faster? Show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10625"/>
            <a:ext cx="284402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the speeds in one unit.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57855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578559"/>
            <a:ext cx="494959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Juice is mixed orange : mango : water = </a:t>
            </a:r>
          </a:p>
        </p:txBody>
      </p:sp>
      <p:pic>
        <p:nvPicPr>
          <p:cNvPr id="24" name="Picture 23" descr="3e12847d3b5309c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6918" y="4674240"/>
            <a:ext cx="715087" cy="18632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82005" y="4578559"/>
            <a:ext cx="399247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batch uses 9 cups of orange.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945910"/>
            <a:ext cx="4402623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How many cups is the whole batch?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41384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413844"/>
            <a:ext cx="239991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29" name="Picture 28" descr="bf04384952a1402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7231" y="5501971"/>
            <a:ext cx="908966" cy="201433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726198" y="5413844"/>
            <a:ext cx="6648424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; a room is 2 in by 3.5 in on it. Find the room's real area.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rates: word problems — VVS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Multi-step problems with customary or metric unit conversions — UCT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