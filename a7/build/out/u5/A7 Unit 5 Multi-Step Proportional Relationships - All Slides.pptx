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4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7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71.png"/><Relationship Id="rId4" Type="http://schemas.openxmlformats.org/officeDocument/2006/relationships/image" Target="../media/image7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53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28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9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70.png"/><Relationship Id="rId4" Type="http://schemas.openxmlformats.org/officeDocument/2006/relationships/image" Target="../media/image11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70.png"/><Relationship Id="rId4" Type="http://schemas.openxmlformats.org/officeDocument/2006/relationships/image" Target="../media/image11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image" Target="../media/image13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Relationship Id="rId3" Type="http://schemas.openxmlformats.org/officeDocument/2006/relationships/image" Target="../media/image145.png"/><Relationship Id="rId4" Type="http://schemas.openxmlformats.org/officeDocument/2006/relationships/image" Target="../media/image146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4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5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55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Relationship Id="rId3" Type="http://schemas.openxmlformats.org/officeDocument/2006/relationships/image" Target="../media/image177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Relationship Id="rId3" Type="http://schemas.openxmlformats.org/officeDocument/2006/relationships/image" Target="../media/image185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70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176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Relationship Id="rId3" Type="http://schemas.openxmlformats.org/officeDocument/2006/relationships/image" Target="../media/image209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image" Target="../media/image216.png"/><Relationship Id="rId4" Type="http://schemas.openxmlformats.org/officeDocument/2006/relationships/image" Target="../media/image217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Relationship Id="rId5" Type="http://schemas.openxmlformats.org/officeDocument/2006/relationships/image" Target="../media/image22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image" Target="../media/image216.png"/><Relationship Id="rId4" Type="http://schemas.openxmlformats.org/officeDocument/2006/relationships/image" Target="../media/image221.png"/><Relationship Id="rId5" Type="http://schemas.openxmlformats.org/officeDocument/2006/relationships/image" Target="../media/image213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22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223.png"/><Relationship Id="rId4" Type="http://schemas.openxmlformats.org/officeDocument/2006/relationships/image" Target="../media/image53.png"/><Relationship Id="rId5" Type="http://schemas.openxmlformats.org/officeDocument/2006/relationships/image" Target="../media/image224.png"/><Relationship Id="rId6" Type="http://schemas.openxmlformats.org/officeDocument/2006/relationships/image" Target="../media/image198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image" Target="../media/image223.png"/><Relationship Id="rId4" Type="http://schemas.openxmlformats.org/officeDocument/2006/relationships/image" Target="../media/image53.png"/><Relationship Id="rId5" Type="http://schemas.openxmlformats.org/officeDocument/2006/relationships/image" Target="../media/image224.png"/><Relationship Id="rId6" Type="http://schemas.openxmlformats.org/officeDocument/2006/relationships/image" Target="../media/image19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Relationship Id="rId3" Type="http://schemas.openxmlformats.org/officeDocument/2006/relationships/image" Target="../media/image24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image" Target="../media/image24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image" Target="../media/image246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Relationship Id="rId3" Type="http://schemas.openxmlformats.org/officeDocument/2006/relationships/image" Target="../media/image253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Relationship Id="rId6" Type="http://schemas.openxmlformats.org/officeDocument/2006/relationships/image" Target="../media/image263.png"/><Relationship Id="rId7" Type="http://schemas.openxmlformats.org/officeDocument/2006/relationships/image" Target="../media/image264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image" Target="../media/image265.png"/><Relationship Id="rId4" Type="http://schemas.openxmlformats.org/officeDocument/2006/relationships/image" Target="../media/image249.png"/><Relationship Id="rId5" Type="http://schemas.openxmlformats.org/officeDocument/2006/relationships/image" Target="../media/image26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image" Target="../media/image26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Relationship Id="rId3" Type="http://schemas.openxmlformats.org/officeDocument/2006/relationships/image" Target="../media/image269.png"/><Relationship Id="rId4" Type="http://schemas.openxmlformats.org/officeDocument/2006/relationships/image" Target="../media/image270.png"/><Relationship Id="rId5" Type="http://schemas.openxmlformats.org/officeDocument/2006/relationships/image" Target="../media/image27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image" Target="../media/image283.png"/><Relationship Id="rId4" Type="http://schemas.openxmlformats.org/officeDocument/2006/relationships/image" Target="../media/image28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image" Target="../media/image288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91.png"/><Relationship Id="rId4" Type="http://schemas.openxmlformats.org/officeDocument/2006/relationships/image" Target="../media/image292.png"/><Relationship Id="rId5" Type="http://schemas.openxmlformats.org/officeDocument/2006/relationships/image" Target="../media/image293.png"/><Relationship Id="rId6" Type="http://schemas.openxmlformats.org/officeDocument/2006/relationships/image" Target="../media/image294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Relationship Id="rId3" Type="http://schemas.openxmlformats.org/officeDocument/2006/relationships/image" Target="../media/image281.png"/><Relationship Id="rId4" Type="http://schemas.openxmlformats.org/officeDocument/2006/relationships/image" Target="../media/image285.png"/><Relationship Id="rId5" Type="http://schemas.openxmlformats.org/officeDocument/2006/relationships/image" Target="../media/image202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Relationship Id="rId9" Type="http://schemas.openxmlformats.org/officeDocument/2006/relationships/image" Target="../media/image299.png"/><Relationship Id="rId10" Type="http://schemas.openxmlformats.org/officeDocument/2006/relationships/image" Target="../media/image30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image" Target="../media/image301.png"/><Relationship Id="rId4" Type="http://schemas.openxmlformats.org/officeDocument/2006/relationships/image" Target="../media/image302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image" Target="../media/image306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Relationship Id="rId3" Type="http://schemas.openxmlformats.org/officeDocument/2006/relationships/image" Target="../media/image308.png"/><Relationship Id="rId4" Type="http://schemas.openxmlformats.org/officeDocument/2006/relationships/image" Target="../media/image309.png"/><Relationship Id="rId5" Type="http://schemas.openxmlformats.org/officeDocument/2006/relationships/image" Target="../media/image310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Relationship Id="rId3" Type="http://schemas.openxmlformats.org/officeDocument/2006/relationships/image" Target="../media/image313.png"/><Relationship Id="rId4" Type="http://schemas.openxmlformats.org/officeDocument/2006/relationships/image" Target="../media/image314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image" Target="../media/image317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Relationship Id="rId3" Type="http://schemas.openxmlformats.org/officeDocument/2006/relationships/image" Target="../media/image321.png"/><Relationship Id="rId4" Type="http://schemas.openxmlformats.org/officeDocument/2006/relationships/image" Target="../media/image322.png"/><Relationship Id="rId5" Type="http://schemas.openxmlformats.org/officeDocument/2006/relationships/image" Target="../media/image32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28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Relationship Id="rId3" Type="http://schemas.openxmlformats.org/officeDocument/2006/relationships/image" Target="../media/image33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Relationship Id="rId4" Type="http://schemas.openxmlformats.org/officeDocument/2006/relationships/image" Target="../media/image339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299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image" Target="../media/image343.png"/><Relationship Id="rId4" Type="http://schemas.openxmlformats.org/officeDocument/2006/relationships/image" Target="../media/image344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image" Target="../media/image213.png"/><Relationship Id="rId4" Type="http://schemas.openxmlformats.org/officeDocument/2006/relationships/image" Target="../media/image346.png"/><Relationship Id="rId5" Type="http://schemas.openxmlformats.org/officeDocument/2006/relationships/image" Target="../media/image347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Multi-Step Proportional Relationships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— Multi-Step Proportional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— Multi-Step Proportional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5.02–03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5.06–07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5.08–09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5.10–11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scale factor between two figures, and use a scale to find a real length from a drawing or a drawing length from the real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3" name="Picture 12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41289" y="1440180"/>
            <a:ext cx="5562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69860" y="2052828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5" name="Picture 14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178" y="2665476"/>
            <a:ext cx="1028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35324"/>
            <a:ext cx="9662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 km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drawing of a real thing with every length multiplied by the same number: a map, a floor plan,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80720"/>
            <a:ext cx="6286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number every length is multiplied by, written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128" y="3310578"/>
            <a:ext cx="127952" cy="193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0080" y="3180720"/>
            <a:ext cx="2729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: from 4 cm to 6 cm, </a:t>
            </a:r>
          </a:p>
        </p:txBody>
      </p:sp>
      <p:pic>
        <p:nvPicPr>
          <p:cNvPr id="14" name="Picture 13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246" y="3312641"/>
            <a:ext cx="697547" cy="196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16228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9818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side of the copy that matches a side of the original: the 6 cm side matches the 4 cm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3179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3909"/>
            <a:ext cx="392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factor with units on it: </a:t>
            </a:r>
          </a:p>
        </p:txBody>
      </p:sp>
      <p:pic>
        <p:nvPicPr>
          <p:cNvPr id="19" name="Picture 18" descr="33a234fb1dc3f5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727" y="5657575"/>
            <a:ext cx="1170146" cy="2043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00874" y="5533909"/>
            <a:ext cx="52793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means every inch on the map is 20 miles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copy: every side times the same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37466dfaa1878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79" y="1993392"/>
            <a:ext cx="4937760" cy="2238451"/>
          </a:xfrm>
          <a:prstGeom prst="rect">
            <a:avLst/>
          </a:prstGeom>
        </p:spPr>
      </p:pic>
      <p:pic>
        <p:nvPicPr>
          <p:cNvPr id="11" name="Picture 10" descr="5db795a1dcbd5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304" y="4378147"/>
            <a:ext cx="8820912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5211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angle is still 90°: k multiplies lengths, not angles.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Find k: copy divided by original — and k can be less than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c3fa4e7c9580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24" y="1993392"/>
            <a:ext cx="6900672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022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k = copy ÷ original. Less than 1 shrinks, more than 1 enlarges, 1 is the same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Use k both ways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f2961e2a00986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784" y="2017776"/>
            <a:ext cx="7235952" cy="387096"/>
          </a:xfrm>
          <a:prstGeom prst="rect">
            <a:avLst/>
          </a:prstGeom>
        </p:spPr>
      </p:pic>
      <p:pic>
        <p:nvPicPr>
          <p:cNvPr id="11" name="Picture 10" descr="8380a0d28443e4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55" y="2713101"/>
            <a:ext cx="8827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4290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To the copy, multiply by k. Back to the original, divide by 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4 cm rectangle is copied at 15 cm by 10 cm.</a:t>
            </a:r>
          </a:p>
        </p:txBody>
      </p:sp>
      <p:pic>
        <p:nvPicPr>
          <p:cNvPr id="9" name="Picture 8" descr="gd5b862b59eaad3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76458"/>
            <a:ext cx="5486400" cy="2745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507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00adc5213f3d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74519" cy="673608"/>
          </a:xfrm>
          <a:prstGeom prst="rect">
            <a:avLst/>
          </a:prstGeom>
        </p:spPr>
      </p:pic>
      <p:pic>
        <p:nvPicPr>
          <p:cNvPr id="9" name="Picture 8" descr="3dbcdeb48f5a06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133502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2.5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  <p:pic>
        <p:nvPicPr>
          <p:cNvPr id="10" name="Picture 9" descr="fe7cf77f09050b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17" y="2751548"/>
            <a:ext cx="1673352" cy="603504"/>
          </a:xfrm>
          <a:prstGeom prst="rect">
            <a:avLst/>
          </a:prstGeom>
        </p:spPr>
      </p:pic>
      <p:pic>
        <p:nvPicPr>
          <p:cNvPr id="11" name="Picture 10" descr="c01a75d5d6aaea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17" y="3483068"/>
            <a:ext cx="1193292" cy="613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7209" y="3561078"/>
            <a:ext cx="2710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the same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1.5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1271" y="171450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46801c56b80b5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13" y="1817179"/>
            <a:ext cx="139179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7106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2.6 in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31880d7c5f20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033015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 mi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e81d11d57c22f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9dc5c0b3d418a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  <p:pic>
        <p:nvPicPr>
          <p:cNvPr id="13" name="Picture 12" descr="874fbb5c36f522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603" y="3531265"/>
            <a:ext cx="1847088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 km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d90d78eb18b74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9" y="3071588"/>
            <a:ext cx="1240536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88f6a9aaf9cd8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19" y="3071588"/>
            <a:ext cx="128016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3a3e9bb1d3245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28" y="3071588"/>
            <a:ext cx="1453896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998c49ee2893d4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8644"/>
            <a:ext cx="47853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3cb114a9a26f9e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38644"/>
            <a:ext cx="53035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33209a3099e77b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48244"/>
            <a:ext cx="13716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54340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41cad21ae3786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3071588"/>
            <a:ext cx="1566672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0.4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pic>
        <p:nvPicPr>
          <p:cNvPr id="10" name="Picture 9" descr="330bf951670aa9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3" y="3165505"/>
            <a:ext cx="161848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21 cm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154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3" name="Picture 12" descr="931d3a876917ba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212194"/>
            <a:ext cx="600456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5" name="Picture 14" descr="f041d7103b8797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212194"/>
            <a:ext cx="886968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7" name="Picture 16" descr="0b9eb51d2c267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18746"/>
            <a:ext cx="51206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9" name="Picture 18" descr="f6bdea168322aa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4842"/>
            <a:ext cx="76504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402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8098" y="3122278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Lengths are multiplied by k. Angles are not.</a:t>
            </a:r>
          </a:p>
        </p:txBody>
      </p:sp>
      <p:pic>
        <p:nvPicPr>
          <p:cNvPr id="13" name="Picture 12" descr="3cc36cf75937c8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962" y="3781598"/>
            <a:ext cx="5455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40°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pic>
        <p:nvPicPr>
          <p:cNvPr id="10" name="Picture 9" descr="3af538f0ea090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036" y="3500959"/>
            <a:ext cx="2497073" cy="613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6110" y="3578969"/>
            <a:ext cx="40560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second is a copy</a:t>
            </a:r>
          </a:p>
        </p:txBody>
      </p:sp>
      <p:pic>
        <p:nvPicPr>
          <p:cNvPr id="12" name="Picture 11" descr="102070a7c64f05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036" y="4242194"/>
            <a:ext cx="1997106" cy="610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26142" y="4318823"/>
            <a:ext cx="30053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third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981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9-12-15 triangle (k = 1.5); the 9-12-14 one is not a copy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pic>
        <p:nvPicPr>
          <p:cNvPr id="10" name="Picture 9" descr="4238e14711500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68" y="3169601"/>
            <a:ext cx="1372838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1706" y="3048728"/>
            <a:ext cx="3340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every inch is 5 ft</a:t>
            </a:r>
          </a:p>
        </p:txBody>
      </p:sp>
      <p:pic>
        <p:nvPicPr>
          <p:cNvPr id="12" name="Picture 11" descr="503b886175e4a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868" y="3708049"/>
            <a:ext cx="1453896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50c40483c37e0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849" y="3071588"/>
            <a:ext cx="1061799" cy="5133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9648" y="3099687"/>
            <a:ext cx="6166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. No: the copy is smaller, so k is under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No. k = 3 ÷ 6 = ½: the copy is smaller, so k is under 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017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5 cm side becomes 15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80987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15 cm side becomes 6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38379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3 cm by 5 cm rectangle is copied at 7.5 cm by 12.5 cm. Find the scale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102995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61464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The scale factor is 1.5 and a side of the original is 8 cm. How long is that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3877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side in the copy?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23372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20" name="Picture 19" descr="d7f44fc30d54f3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35" y="4525286"/>
            <a:ext cx="1271811" cy="2226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6347" y="4427882"/>
            <a:ext cx="647292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Two cities are 2.8 in apart on the map. How far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31013"/>
            <a:ext cx="2227461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apart are they?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6216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62160"/>
            <a:ext cx="893673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On the same map, a road is 150 mi long. How long is it on the map?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factor, missing side, or missing angle — WEA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and the area of a scale copy from the original and k, and find k from two areas.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0" name="Picture 9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096674"/>
            <a:ext cx="847272" cy="372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2" name="Picture 11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2742549"/>
            <a:ext cx="265811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399" y="26654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4" name="Picture 13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2744922"/>
            <a:ext cx="261064" cy="2634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2781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553874"/>
            <a:ext cx="847272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9218" y="2510028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226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4" name="Picture 13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3199749"/>
            <a:ext cx="265811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399" y="31226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6" name="Picture 15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3202122"/>
            <a:ext cx="261064" cy="2634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4444" y="3122676"/>
            <a:ext cx="14651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33881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P = 16 cm, A = 15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k squared</a:t>
            </a:r>
          </a:p>
        </p:txBody>
      </p:sp>
      <p:pic>
        <p:nvPicPr>
          <p:cNvPr id="9" name="Picture 8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0941"/>
            <a:ext cx="267874" cy="251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0874" y="1869550"/>
            <a:ext cx="99845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 k times k: what an area is multiplied by when every length is multiplied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624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by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92" y="2474165"/>
            <a:ext cx="140747" cy="2133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96200"/>
            <a:ext cx="71062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perimeter ÷ original's perimeter — it equals </a:t>
            </a:r>
          </a:p>
        </p:txBody>
      </p:sp>
      <p:pic>
        <p:nvPicPr>
          <p:cNvPr id="15" name="Picture 14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6" y="3516184"/>
            <a:ext cx="140747" cy="2133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0317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area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8219"/>
            <a:ext cx="567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area ÷ original's area — it equals </a:t>
            </a:r>
          </a:p>
        </p:txBody>
      </p:sp>
      <p:pic>
        <p:nvPicPr>
          <p:cNvPr id="18" name="Picture 17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57" y="4519610"/>
            <a:ext cx="267874" cy="2519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Every side × k, so the perimeter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5b63e5073dba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93392"/>
            <a:ext cx="5486400" cy="2387065"/>
          </a:xfrm>
          <a:prstGeom prst="rect">
            <a:avLst/>
          </a:prstGeom>
        </p:spPr>
      </p:pic>
      <p:pic>
        <p:nvPicPr>
          <p:cNvPr id="11" name="Picture 10" descr="6b863e3a4ccebf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15" y="4572862"/>
            <a:ext cx="4818888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 is two lengths, so the area × k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f6e25f382079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93392"/>
            <a:ext cx="3840480" cy="2708030"/>
          </a:xfrm>
          <a:prstGeom prst="rect">
            <a:avLst/>
          </a:prstGeom>
        </p:spPr>
      </p:pic>
      <p:pic>
        <p:nvPicPr>
          <p:cNvPr id="11" name="Picture 10" descr="3072c2893096e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24" y="4847726"/>
            <a:ext cx="5148072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From two areas back to k: a square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9d177b623a6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251" y="1993391"/>
            <a:ext cx="8129016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083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Area ratio = k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. k = the square root of the area ratio.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932" y="2080260"/>
            <a:ext cx="5861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by 4 cm rectangle is scaled by </a:t>
            </a:r>
          </a:p>
        </p:txBody>
      </p:sp>
      <p:pic>
        <p:nvPicPr>
          <p:cNvPr id="9" name="Picture 8" descr="8058f93241672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179" y="2192845"/>
            <a:ext cx="60426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3445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3da73618c3a5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065776" cy="353568"/>
          </a:xfrm>
          <a:prstGeom prst="rect">
            <a:avLst/>
          </a:prstGeom>
        </p:spPr>
      </p:pic>
      <p:pic>
        <p:nvPicPr>
          <p:cNvPr id="9" name="Picture 8" descr="da9b199f35923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38607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36 cm, A = 72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901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6c1f342e4d843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70" y="1687449"/>
            <a:ext cx="631507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477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2662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8818f8b250790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731" y="1687449"/>
            <a:ext cx="633984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5715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2" name="Picture 11" descr="a391ba3877603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47" y="2992166"/>
            <a:ext cx="2109216" cy="252984"/>
          </a:xfrm>
          <a:prstGeom prst="rect">
            <a:avLst/>
          </a:prstGeom>
        </p:spPr>
      </p:pic>
      <p:pic>
        <p:nvPicPr>
          <p:cNvPr id="13" name="Picture 12" descr="30e6b9ad4e67f1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047" y="3482894"/>
            <a:ext cx="3880104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72 cm, A = 288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1745" y="171450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bd8ae361e3ef13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945" y="1784985"/>
            <a:ext cx="92868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6632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40030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310dff147270a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47078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4003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3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09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k, then the matching side of the copy.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237a4a459a45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52472" cy="676656"/>
          </a:xfrm>
          <a:prstGeom prst="rect">
            <a:avLst/>
          </a:prstGeom>
        </p:spPr>
      </p:pic>
      <p:pic>
        <p:nvPicPr>
          <p:cNvPr id="9" name="Picture 8" descr="c1463e20ee37a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4255008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4; the side is 12 cm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cecd9b8e3fec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33362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3194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8fab6492a088d5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228" y="2333625"/>
            <a:ext cx="1163955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5183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  <p:pic>
        <p:nvPicPr>
          <p:cNvPr id="18" name="Picture 17" descr="a02b1beb298b5d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69850"/>
            <a:ext cx="2048256" cy="609600"/>
          </a:xfrm>
          <a:prstGeom prst="rect">
            <a:avLst/>
          </a:prstGeom>
        </p:spPr>
      </p:pic>
      <p:pic>
        <p:nvPicPr>
          <p:cNvPr id="19" name="Picture 18" descr="c6b6368f1cca46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007466"/>
            <a:ext cx="3861816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7744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5; the side is 10 cm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df787c7f4ce773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1695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145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bcf4e6c09f084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4172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393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pic>
        <p:nvPicPr>
          <p:cNvPr id="12" name="Picture 11" descr="d860927724a30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59" y="3242102"/>
            <a:ext cx="1554480" cy="249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 cm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1695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970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bcf4e6c09f084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4172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218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427887251510c8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19c87c68c435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7581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7096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025ad037a3e872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4078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954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7a8fa05a0e6e09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8819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8334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343adb895dd9d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1601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477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ba1e3c512174b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1" y="3278488"/>
            <a:ext cx="3474720" cy="612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3750b0735fbfc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4266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208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78f7267bd6258a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09146"/>
            <a:ext cx="42062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b6b586116b6ce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09146"/>
            <a:ext cx="417576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da98a1872183d6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24842"/>
            <a:ext cx="41452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65ff48fc3d12dc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24842"/>
            <a:ext cx="350520" cy="277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2d2e2a1dc911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217c156fbd4cb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6742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456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8413de0e199e54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987bd4d974e8c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7057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133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f4873bb202c1b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c0265cf83ecf01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9533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381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3c70ee3fe6f12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3" y="3190286"/>
            <a:ext cx="1539240" cy="304800"/>
          </a:xfrm>
          <a:prstGeom prst="rect">
            <a:avLst/>
          </a:prstGeom>
        </p:spPr>
      </p:pic>
      <p:pic>
        <p:nvPicPr>
          <p:cNvPr id="15" name="Picture 14" descr="2e3c5fba163c0d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3" y="3781598"/>
            <a:ext cx="183184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003d31adc9c10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2548"/>
            <a:ext cx="18897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899d09e1fb7976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1692"/>
            <a:ext cx="18592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e3fffa01a271e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1292"/>
            <a:ext cx="44805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5a99f83968c3dd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45196"/>
            <a:ext cx="19202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pic>
        <p:nvPicPr>
          <p:cNvPr id="10" name="Picture 9" descr="9771a717e91a6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146" y="3071588"/>
            <a:ext cx="1452943" cy="615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9090" y="3150979"/>
            <a:ext cx="4505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perimeter ratio is k</a:t>
            </a:r>
          </a:p>
        </p:txBody>
      </p:sp>
      <p:pic>
        <p:nvPicPr>
          <p:cNvPr id="12" name="Picture 11" descr="16227b3b3d8b10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146" y="3852829"/>
            <a:ext cx="85353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79681" y="3792726"/>
            <a:ext cx="2864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area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025ad037a3e87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40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60182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5181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15415fd0592ff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5666"/>
            <a:ext cx="970787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1597" y="2595181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068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343adb895dd9d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1601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770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7658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662ac61bc7a43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8143"/>
            <a:ext cx="97326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4073" y="25976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31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5" name="Picture 14" descr="288a399f2ce56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5" y="3891136"/>
            <a:ext cx="2145792" cy="606552"/>
          </a:xfrm>
          <a:prstGeom prst="rect">
            <a:avLst/>
          </a:prstGeom>
        </p:spPr>
      </p:pic>
      <p:pic>
        <p:nvPicPr>
          <p:cNvPr id="16" name="Picture 15" descr="392447636256ad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5" y="4625704"/>
            <a:ext cx="2042160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66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12 cm, A = 6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747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995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pic>
        <p:nvPicPr>
          <p:cNvPr id="12" name="Picture 11" descr="2a69d4576013ab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79" y="3236006"/>
            <a:ext cx="1996439" cy="252984"/>
          </a:xfrm>
          <a:prstGeom prst="rect">
            <a:avLst/>
          </a:prstGeom>
        </p:spPr>
      </p:pic>
      <p:pic>
        <p:nvPicPr>
          <p:cNvPr id="13" name="Picture 12" descr="f562745388bd6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79" y="3729782"/>
            <a:ext cx="390144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pic>
        <p:nvPicPr>
          <p:cNvPr id="10" name="Picture 9" descr="3b4f9ec078895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40" y="3162457"/>
            <a:ext cx="530656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2 by 7 doubled is 4 by 14, area 14 </a:t>
            </a:r>
            <a:r>
              <a:rPr sz="3040" b="1" i="0">
                <a:solidFill>
                  <a:srgbClr val="9E1B32"/>
                </a:solidFill>
                <a:latin typeface="Arial"/>
              </a:rPr>
              <a:t>→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56 — × 4, as both lengths doubled.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572237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perimeter 18 cm is scaled by </a:t>
            </a:r>
          </a:p>
        </p:txBody>
      </p:sp>
      <p:pic>
        <p:nvPicPr>
          <p:cNvPr id="10" name="Picture 9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97" y="1598609"/>
            <a:ext cx="551025" cy="214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0723" y="1497031"/>
            <a:ext cx="36840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8178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14" name="Picture 13" descr="15179f9c1b681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5" y="2110276"/>
            <a:ext cx="706870" cy="253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9956" y="2028178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6" name="Picture 15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618" y="2129756"/>
            <a:ext cx="551025" cy="2142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2644" y="2028178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915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19159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20" name="Picture 19" descr="f4387bd3ec881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085" y="2701256"/>
            <a:ext cx="910026" cy="2532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53112" y="2619159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22" name="Picture 21" descr="3bcf9a6d74a2c9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774" y="2580198"/>
            <a:ext cx="570506" cy="495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5280" y="2619159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21014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10140"/>
            <a:ext cx="514083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2 cm by 5 cm rectangle is scaled by </a:t>
            </a:r>
          </a:p>
        </p:txBody>
      </p:sp>
      <p:pic>
        <p:nvPicPr>
          <p:cNvPr id="26" name="Picture 25" descr="fc22e08664d808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52" y="3311718"/>
            <a:ext cx="779227" cy="2142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37380" y="3210140"/>
            <a:ext cx="372860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3271"/>
            <a:ext cx="144653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4441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44418"/>
            <a:ext cx="2531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31" name="Picture 30" descr="edb32a36259546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067" y="4226515"/>
            <a:ext cx="718002" cy="253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67069" y="4144418"/>
            <a:ext cx="389995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its scale copy has area </a:t>
            </a:r>
          </a:p>
        </p:txBody>
      </p:sp>
      <p:pic>
        <p:nvPicPr>
          <p:cNvPr id="33" name="Picture 32" descr="0db939c0bc0baa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69" y="4226515"/>
            <a:ext cx="1043608" cy="253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73478" y="4144418"/>
            <a:ext cx="98833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</a:t>
            </a:r>
          </a:p>
        </p:txBody>
      </p:sp>
      <p:pic>
        <p:nvPicPr>
          <p:cNvPr id="35" name="Picture 34" descr="15aa4a684a6a76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654" y="4247388"/>
            <a:ext cx="141930" cy="2115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66585" y="4144418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5565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75565"/>
            <a:ext cx="992508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figure's perimeter is 12 cm and its copy's perimeter is 48 cm. What is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8696"/>
            <a:ext cx="382512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area ratio, copy to original?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Perimeter and area: changes in scale — ZC6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 or missing side — XHM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a scale such as ¼ in : 1 ft to find real lengths and areas from a drawing, and drawing lengths from real ones.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of area </a:t>
            </a:r>
          </a:p>
        </p:txBody>
      </p:sp>
      <p:pic>
        <p:nvPicPr>
          <p:cNvPr id="9" name="Picture 8" descr="146e78fc0ae7d0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98" y="1517253"/>
            <a:ext cx="752340" cy="2658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92338" y="1440180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113" y="1555226"/>
            <a:ext cx="586208" cy="223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8321" y="1440180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0528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5" name="Picture 14" descr="5daa986ee9f3de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61" y="2792388"/>
            <a:ext cx="1027644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figure of area </a:t>
            </a:r>
          </a:p>
        </p:txBody>
      </p:sp>
      <p:pic>
        <p:nvPicPr>
          <p:cNvPr id="9" name="Picture 8" descr="146e78fc0ae7d0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98" y="1517253"/>
            <a:ext cx="752340" cy="2658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92338" y="1440180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113" y="1555226"/>
            <a:ext cx="586208" cy="223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68321" y="1440180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897380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36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10028"/>
            <a:ext cx="91705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5 cm side becomes 3 cm in the copy. Find the scale 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1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5daa986ee9f3de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61" y="3706788"/>
            <a:ext cx="1027644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8946" y="3579876"/>
            <a:ext cx="6300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9143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90 miles in 2 hours. How far does it go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649724"/>
            <a:ext cx="2841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miles per hour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floor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drawing of a room or building seen from above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(two units)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2120"/>
            <a:ext cx="2095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ratio such as </a:t>
            </a:r>
          </a:p>
        </p:txBody>
      </p:sp>
      <p:pic>
        <p:nvPicPr>
          <p:cNvPr id="12" name="Picture 11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215" y="2845771"/>
            <a:ext cx="986472" cy="4498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87688" y="2842120"/>
            <a:ext cx="6649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— a drawing length and the real length it stands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96837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unit rate of a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86775"/>
            <a:ext cx="4711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scale written per 1 drawing unit: </a:t>
            </a:r>
          </a:p>
        </p:txBody>
      </p:sp>
      <p:pic>
        <p:nvPicPr>
          <p:cNvPr id="16" name="Picture 15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145" y="3890426"/>
            <a:ext cx="986472" cy="4498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03617" y="3886775"/>
            <a:ext cx="5471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8" name="Picture 17" descr="2e89f08f987938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627" y="4010441"/>
            <a:ext cx="930751" cy="2043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4149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with one unit</a:t>
            </a:r>
          </a:p>
        </p:txBody>
      </p:sp>
      <p:pic>
        <p:nvPicPr>
          <p:cNvPr id="20" name="Picture 19" descr="978f6528d2268a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052398"/>
            <a:ext cx="559276" cy="1878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702276" y="4912221"/>
            <a:ext cx="5407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— no units: 1 cm of model is 50 cm of car. </a:t>
            </a:r>
          </a:p>
        </p:txBody>
      </p:sp>
      <p:pic>
        <p:nvPicPr>
          <p:cNvPr id="22" name="Picture 21" descr="2e89f08f987938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717" y="5035888"/>
            <a:ext cx="930751" cy="2043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03468" y="4912221"/>
            <a:ext cx="5471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24" name="Picture 23" descr="f0627971b55979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478" y="5052398"/>
            <a:ext cx="563403" cy="1878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76881" y="4912221"/>
            <a:ext cx="1374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this way,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96853"/>
            <a:ext cx="33294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and 48 is the scale factor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is a rate: write it per 1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73d9c50cbaab7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539" y="1993392"/>
            <a:ext cx="428244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99923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Drawing × rate = real.  Real ÷ rate = drawing.  With one unit, 1 in : 4 ft is 1 : 48.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go to the real dimensions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256debf18477e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965" y="1993392"/>
            <a:ext cx="3951589" cy="3566159"/>
          </a:xfrm>
          <a:prstGeom prst="rect">
            <a:avLst/>
          </a:prstGeom>
        </p:spPr>
      </p:pic>
      <p:pic>
        <p:nvPicPr>
          <p:cNvPr id="11" name="Picture 10" descr="da18b1e3915be7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5705855"/>
            <a:ext cx="3145536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Real to drawing is a division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5c94e184342c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663" y="2027301"/>
            <a:ext cx="2298192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43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No scale printed? One pair gives it: 2 in </a:t>
            </a:r>
            <a:r>
              <a:rPr sz="2180" b="1" i="0">
                <a:solidFill>
                  <a:srgbClr val="1A1A1A"/>
                </a:solidFill>
                <a:latin typeface="Arial"/>
              </a:rPr>
              <a:t>↔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 9 ft is 4.5 ft per inch.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969" y="1778698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42" y="1737360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1409" y="177869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515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2.5 in by 3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3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cd2a03b5af57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32048" cy="667512"/>
          </a:xfrm>
          <a:prstGeom prst="rect">
            <a:avLst/>
          </a:prstGeom>
        </p:spPr>
      </p:pic>
      <p:pic>
        <p:nvPicPr>
          <p:cNvPr id="9" name="Picture 8" descr="915548aa4259a54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2072"/>
            <a:ext cx="4096512" cy="277368"/>
          </a:xfrm>
          <a:prstGeom prst="rect">
            <a:avLst/>
          </a:prstGeom>
        </p:spPr>
      </p:pic>
      <p:pic>
        <p:nvPicPr>
          <p:cNvPr id="10" name="Picture 9" descr="ed3c81b185a5a2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13759"/>
            <a:ext cx="2112264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ft by 12 ft; 120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6969" y="1641538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42" y="1600200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1409" y="164153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439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1.5 in by 4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495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5731" y="164277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floor plan is drawn at </a:t>
            </a:r>
          </a:p>
        </p:txBody>
      </p:sp>
      <p:pic>
        <p:nvPicPr>
          <p:cNvPr id="9" name="Picture 8" descr="ea6ef832dff2cc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404" y="1600200"/>
            <a:ext cx="1186243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647" y="164277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room is 1.5 in by 4 in on the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59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room's real dimensions and area.</a:t>
            </a:r>
          </a:p>
        </p:txBody>
      </p:sp>
      <p:pic>
        <p:nvPicPr>
          <p:cNvPr id="13" name="Picture 12" descr="2ca6e5298287d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3" y="3662138"/>
            <a:ext cx="3523488" cy="256032"/>
          </a:xfrm>
          <a:prstGeom prst="rect">
            <a:avLst/>
          </a:prstGeom>
        </p:spPr>
      </p:pic>
      <p:pic>
        <p:nvPicPr>
          <p:cNvPr id="14" name="Picture 13" descr="5fd038657ddc9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3" y="4198586"/>
            <a:ext cx="1551432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56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 ft by 16 ft;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4 in long; the real wall is 18 ft. Another wall is 6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544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261f8592fb08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59480" cy="384048"/>
          </a:xfrm>
          <a:prstGeom prst="rect">
            <a:avLst/>
          </a:prstGeom>
        </p:spPr>
      </p:pic>
      <p:pic>
        <p:nvPicPr>
          <p:cNvPr id="9" name="Picture 8" descr="022db8f1da267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78608"/>
            <a:ext cx="1847088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27 ft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On a drawing a wall is 2 in long; the real wall is 13 ft. Another wall is 5 in long on the drawing.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86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long is the second wall really?</a:t>
            </a:r>
          </a:p>
        </p:txBody>
      </p:sp>
      <p:pic>
        <p:nvPicPr>
          <p:cNvPr id="10" name="Picture 9" descr="b264694ef97daf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302" y="3276169"/>
            <a:ext cx="1640776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58079" y="3158059"/>
            <a:ext cx="17357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 per in</a:t>
            </a:r>
          </a:p>
        </p:txBody>
      </p:sp>
      <p:pic>
        <p:nvPicPr>
          <p:cNvPr id="12" name="Picture 11" descr="563feef954113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302" y="3814331"/>
            <a:ext cx="1923288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32.5 ft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a22f3f49cdf11e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614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4770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wall is 4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713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ad7010ee96b3fe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63955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724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wall is 4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96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wall?</a:t>
            </a:r>
          </a:p>
        </p:txBody>
      </p:sp>
      <p:pic>
        <p:nvPicPr>
          <p:cNvPr id="13" name="Picture 12" descr="c8c92f87f3d6ee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528" y="3817586"/>
            <a:ext cx="3060192" cy="606552"/>
          </a:xfrm>
          <a:prstGeom prst="rect">
            <a:avLst/>
          </a:prstGeom>
        </p:spPr>
      </p:pic>
      <p:pic>
        <p:nvPicPr>
          <p:cNvPr id="14" name="Picture 13" descr="4c79ce6c59743c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28" y="4649119"/>
            <a:ext cx="1210056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100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ft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84427c8d2ac69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2.5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36f237721cbc4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2.5 in long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room?</a:t>
            </a:r>
          </a:p>
        </p:txBody>
      </p:sp>
      <p:pic>
        <p:nvPicPr>
          <p:cNvPr id="13" name="Picture 12" descr="7f47ff26618b21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135" y="3781201"/>
            <a:ext cx="1712976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7.5 ft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84427c8d2ac69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21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36f237721cbc4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08718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6047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21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3" name="Picture 12" descr="42d22dbd0f417c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775" y="3781201"/>
            <a:ext cx="138074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in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87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</a:t>
            </a:r>
          </a:p>
        </p:txBody>
      </p:sp>
      <p:pic>
        <p:nvPicPr>
          <p:cNvPr id="9" name="Picture 8" descr="978f6528d2268a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94" y="1974151"/>
            <a:ext cx="671131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7125" y="1851660"/>
            <a:ext cx="2782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is 8 cm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3" name="Picture 12" descr="e6be1afe100034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212194"/>
            <a:ext cx="667512" cy="271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5" name="Picture 14" descr="d1c869ae9d4258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209146"/>
            <a:ext cx="1155192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7" name="Picture 16" descr="f9480b526a91ac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24842"/>
            <a:ext cx="113690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9" name="Picture 18" descr="f6b889ed3e969b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7890"/>
            <a:ext cx="107594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87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model car is built at </a:t>
            </a:r>
          </a:p>
        </p:txBody>
      </p:sp>
      <p:pic>
        <p:nvPicPr>
          <p:cNvPr id="9" name="Picture 8" descr="f950ae6c97c70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994" y="1974151"/>
            <a:ext cx="673607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9602" y="1851660"/>
            <a:ext cx="2782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is 8 cm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real car?</a:t>
            </a:r>
          </a:p>
        </p:txBody>
      </p:sp>
      <p:pic>
        <p:nvPicPr>
          <p:cNvPr id="12" name="Picture 11" descr="f87205a9484c63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80" y="3243150"/>
            <a:ext cx="1850707" cy="2513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6987" y="3122278"/>
            <a:ext cx="8542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cm</a:t>
            </a:r>
          </a:p>
        </p:txBody>
      </p:sp>
      <p:pic>
        <p:nvPicPr>
          <p:cNvPr id="14" name="Picture 13" descr="19d037a982db9c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280" y="3781598"/>
            <a:ext cx="210312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29400" y="3661774"/>
            <a:ext cx="65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 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5858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83766" cy="5398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7058" y="19158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556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15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63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ea6ef832dff2cc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874519"/>
            <a:ext cx="1186243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9535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real wall is 15 ft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713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it on the plan?</a:t>
            </a:r>
          </a:p>
        </p:txBody>
      </p:sp>
      <p:pic>
        <p:nvPicPr>
          <p:cNvPr id="13" name="Picture 12" descr="e9e37835812246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5" y="3890738"/>
            <a:ext cx="38770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3.75 in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 in by 3 in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cec3ecd6d985b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702524"/>
            <a:ext cx="981455" cy="341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48cdba4a3e3447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702524"/>
            <a:ext cx="969264" cy="34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437003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096426823913f6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4315172"/>
            <a:ext cx="1014984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437003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ac80d7fa9b4da3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4315172"/>
            <a:ext cx="978408" cy="34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0466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room is 2 in by 3 in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room's real area?</a:t>
            </a:r>
          </a:p>
        </p:txBody>
      </p:sp>
      <p:pic>
        <p:nvPicPr>
          <p:cNvPr id="13" name="Picture 12" descr="a2754109ea50e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039" y="3781201"/>
            <a:ext cx="3249168" cy="252984"/>
          </a:xfrm>
          <a:prstGeom prst="rect">
            <a:avLst/>
          </a:prstGeom>
        </p:spPr>
      </p:pic>
      <p:pic>
        <p:nvPicPr>
          <p:cNvPr id="14" name="Picture 13" descr="cb9cc937a98fdc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39" y="4317649"/>
            <a:ext cx="1554480" cy="2529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96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40465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model of it is built at </a:t>
            </a:r>
          </a:p>
        </p:txBody>
      </p:sp>
      <p:pic>
        <p:nvPicPr>
          <p:cNvPr id="10" name="Picture 9" descr="f0627971b55979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62" y="2513249"/>
            <a:ext cx="676084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9946" y="2390758"/>
            <a:ext cx="2031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another at </a:t>
            </a:r>
          </a:p>
        </p:txBody>
      </p:sp>
      <p:pic>
        <p:nvPicPr>
          <p:cNvPr id="12" name="Picture 11" descr="ae14a7ed50518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67" y="2513249"/>
            <a:ext cx="648843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3510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plane is 36 ft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40465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One model of it is built at </a:t>
            </a:r>
          </a:p>
        </p:txBody>
      </p:sp>
      <p:pic>
        <p:nvPicPr>
          <p:cNvPr id="10" name="Picture 9" descr="ea7aeef4c43044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62" y="2513249"/>
            <a:ext cx="676084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9946" y="2390758"/>
            <a:ext cx="2031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another at </a:t>
            </a:r>
          </a:p>
        </p:txBody>
      </p:sp>
      <p:pic>
        <p:nvPicPr>
          <p:cNvPr id="12" name="Picture 11" descr="ae14a7ed50518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67" y="2513249"/>
            <a:ext cx="648843" cy="2253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3510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model is longer, and by how much?</a:t>
            </a:r>
          </a:p>
        </p:txBody>
      </p:sp>
      <p:pic>
        <p:nvPicPr>
          <p:cNvPr id="15" name="Picture 14" descr="a89ced5ccc91c1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067" y="3779486"/>
            <a:ext cx="1950148" cy="2541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23216" y="3661376"/>
            <a:ext cx="637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in</a:t>
            </a:r>
          </a:p>
        </p:txBody>
      </p:sp>
      <p:pic>
        <p:nvPicPr>
          <p:cNvPr id="17" name="Picture 16" descr="5f9988afdad05b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067" y="4317649"/>
            <a:ext cx="4328160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77237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1 : 48 model, by 3 in (9 in against 6 in)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3151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mural's scale is </a:t>
            </a:r>
          </a:p>
        </p:txBody>
      </p:sp>
      <p:pic>
        <p:nvPicPr>
          <p:cNvPr id="10" name="Picture 9" descr="a99ea26457b731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89" y="2493437"/>
            <a:ext cx="1094613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02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Mia, who is 13, enlarges her 9 in by 12 in poster into a mural.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0758"/>
            <a:ext cx="3151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mural's scale is </a:t>
            </a:r>
          </a:p>
        </p:txBody>
      </p:sp>
      <p:pic>
        <p:nvPicPr>
          <p:cNvPr id="10" name="Picture 9" descr="815ebff852359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89" y="2493437"/>
            <a:ext cx="1094613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3502" y="23907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are the mural's dimensions?</a:t>
            </a:r>
          </a:p>
        </p:txBody>
      </p:sp>
      <p:pic>
        <p:nvPicPr>
          <p:cNvPr id="13" name="Picture 12" descr="12be65d33c734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780" y="3781201"/>
            <a:ext cx="3599688" cy="2499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ft by 24 ft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Andrew's drawing a wall is 3.5 in wide and 4 in tall; the real wall is 26.25 ft 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real height and the real area. Which step uses the scale?</a:t>
            </a:r>
          </a:p>
        </p:txBody>
      </p:sp>
      <p:pic>
        <p:nvPicPr>
          <p:cNvPr id="10" name="Picture 9" descr="ba794c9b63733e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712" y="3994337"/>
            <a:ext cx="6208776" cy="347472"/>
          </a:xfrm>
          <a:prstGeom prst="rect">
            <a:avLst/>
          </a:prstGeom>
        </p:spPr>
      </p:pic>
      <p:pic>
        <p:nvPicPr>
          <p:cNvPr id="11" name="Picture 10" descr="b9e87113330b48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2" y="4563742"/>
            <a:ext cx="2703576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30 ft high; 787.5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 The scale (7.5 ft per in) is the step from 4 in to 30 ft.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5315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315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0" name="Picture 9" descr="e7b684faf8832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231" y="1517904"/>
            <a:ext cx="959324" cy="448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76556" y="1553154"/>
            <a:ext cx="540974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wall is 6 in long on it. Find the real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7522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7522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4" name="Picture 13" descr="42aab0cb6b1598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31" y="2163351"/>
            <a:ext cx="914002" cy="2014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1233" y="2075224"/>
            <a:ext cx="574016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room is 3.2 in long on it. Find the real length.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4315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43158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18" name="Picture 17" descr="42aab0cb6b1598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31" y="2631285"/>
            <a:ext cx="914002" cy="2014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31233" y="2543158"/>
            <a:ext cx="6217697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real wall is 22 ft long. Find its length on the plan.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6396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063968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2" name="Picture 21" descr="9ca189c78b28ba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231" y="3029977"/>
            <a:ext cx="979468" cy="4456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96699" y="3063968"/>
            <a:ext cx="660376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room is 2 in by 3.5 in on it. Find the real dimensions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84195"/>
            <a:ext cx="132879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212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52129"/>
            <a:ext cx="3021222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model boat is built at </a:t>
            </a:r>
          </a:p>
        </p:txBody>
      </p:sp>
      <p:pic>
        <p:nvPicPr>
          <p:cNvPr id="27" name="Picture 26" descr="701ad704adc58a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542" y="4047810"/>
            <a:ext cx="569048" cy="1863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07590" y="3952129"/>
            <a:ext cx="585371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and is 15 cm long. Find the real boat's length in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319479"/>
            <a:ext cx="108070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meters.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8741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787414"/>
            <a:ext cx="980063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On a drawing a wall is 3 in long; the real wall is 16.5 ft. Another wall is 5 in long on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154764"/>
            <a:ext cx="416887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drawing. How long is it really?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4 — Real-World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word problems — 84H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scale factor word problems — KCM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Length Across Systems; Currency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a length between the customary and metric systems with a ratio from the reference sheet, and convert money with a given rate.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713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3" name="Picture 12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2895917"/>
            <a:ext cx="1115456" cy="218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840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5" name="Picture 14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487205"/>
            <a:ext cx="1300575" cy="2349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44816" y="33840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93131"/>
            <a:ext cx="10713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At </a:t>
            </a:r>
          </a:p>
        </p:txBody>
      </p:sp>
      <p:pic>
        <p:nvPicPr>
          <p:cNvPr id="9" name="Picture 8" descr="992378efc32c8a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724" y="1463039"/>
            <a:ext cx="1134443" cy="5173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43168" y="1493131"/>
            <a:ext cx="54619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how long is a 10-ft wall on the plan?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6601" y="1440180"/>
            <a:ext cx="997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58730"/>
            <a:ext cx="93367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14 cm side becomes 7 cm in the copy. Find the scale factor.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615930"/>
            <a:ext cx="1009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28578"/>
            <a:ext cx="33564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quotient:  </a:t>
            </a:r>
          </a:p>
        </p:txBody>
      </p:sp>
      <p:pic>
        <p:nvPicPr>
          <p:cNvPr id="15" name="Picture 14" descr="39e03d93cf5508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41" y="3353117"/>
            <a:ext cx="1115456" cy="218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57938" y="3228578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41226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8" name="Picture 17" descr="f2cd49c9de613d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41" y="3944405"/>
            <a:ext cx="1300575" cy="2349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44816" y="3841226"/>
            <a:ext cx="3738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feet is 30 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895" y="3841226"/>
            <a:ext cx="950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2.5 ft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customary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inch–foot–mile–pound–gallon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218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45771"/>
            <a:ext cx="1024128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centimeter–meter–kilometer–kilogram–liter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41324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conversion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12054"/>
            <a:ext cx="44291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pair of equal measures, such as </a:t>
            </a:r>
          </a:p>
        </p:txBody>
      </p:sp>
      <p:pic>
        <p:nvPicPr>
          <p:cNvPr id="14" name="Picture 13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90" y="3935720"/>
            <a:ext cx="1537493" cy="2043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72484" y="3812054"/>
            <a:ext cx="4530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, written as a fraction that equals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47562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exchange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84115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how much of one currency one unit of another buys — a rate someone sets, printed on the problem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conversion ratio is a form of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7d6f4ebec763b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32" y="1993392"/>
            <a:ext cx="4410456" cy="69799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Which ratio? Estimate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d1300cfc06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5" y="1993392"/>
            <a:ext cx="4163568" cy="70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3276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Pick the ratio whose 1 is the unit you have. Estimate: which is the bigger unit?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Money is a rate someone sets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ebe123ca6a6e2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583" y="2039493"/>
            <a:ext cx="3578352" cy="289560"/>
          </a:xfrm>
          <a:prstGeom prst="rect">
            <a:avLst/>
          </a:prstGeom>
        </p:spPr>
      </p:pic>
      <p:pic>
        <p:nvPicPr>
          <p:cNvPr id="11" name="Picture 10" descr="ff2899a6a3a58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734437"/>
            <a:ext cx="7077456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254" y="21829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72246" y="2080260"/>
            <a:ext cx="4799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tablet screen is 15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c726513f1e9cc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1155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38.1 cm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804" y="168001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6796" y="1577340"/>
            <a:ext cx="40500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monitor is 25 in across.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338bfed52120ec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811" y="2992166"/>
            <a:ext cx="232562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63.5 cm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0937" y="208026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47c497fa41547b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690" y="2192845"/>
            <a:ext cx="3345751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97441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euros is $80? And how many dollars is 46 euros?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3223ac4dec205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810256" cy="280416"/>
          </a:xfrm>
          <a:prstGeom prst="rect">
            <a:avLst/>
          </a:prstGeom>
        </p:spPr>
      </p:pic>
      <p:pic>
        <p:nvPicPr>
          <p:cNvPr id="9" name="Picture 8" descr="d55869bdcabf04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236220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73.60 euros; $50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cdcc197a46a9d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098" y="1577340"/>
            <a:ext cx="21679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9" name="Picture 8" descr="5497a985b9854d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851" y="1680019"/>
            <a:ext cx="5047107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958" y="1577340"/>
            <a:ext cx="123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(CAD).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$120 in CAD? And 81 CAD in US dollars?</a:t>
            </a:r>
          </a:p>
        </p:txBody>
      </p:sp>
      <p:pic>
        <p:nvPicPr>
          <p:cNvPr id="12" name="Picture 11" descr="b61c547caeac9d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2992166"/>
            <a:ext cx="2368296" cy="256032"/>
          </a:xfrm>
          <a:prstGeom prst="rect">
            <a:avLst/>
          </a:prstGeom>
        </p:spPr>
      </p:pic>
      <p:pic>
        <p:nvPicPr>
          <p:cNvPr id="13" name="Picture 12" descr="8124e5dae99de1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9" y="3531662"/>
            <a:ext cx="205435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162 CAD; $60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3fcb734e6361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4499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9432" y="1851660"/>
            <a:ext cx="3267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ruler is 20 in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1" name="Picture 10" descr="563291572bb5ac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28" y="3242102"/>
            <a:ext cx="2374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50.8 cm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519897831d3769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827657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62097" y="1851660"/>
            <a:ext cx="36866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phone is 20 cm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inches is that?</a:t>
            </a:r>
          </a:p>
        </p:txBody>
      </p:sp>
      <p:pic>
        <p:nvPicPr>
          <p:cNvPr id="11" name="Picture 10" descr="a6122b463c812d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299" y="3242102"/>
            <a:ext cx="213664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7.8 in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b3ee9e039b8f1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0195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31553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race is 5 mi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kilometers is that?</a:t>
            </a:r>
          </a:p>
        </p:txBody>
      </p:sp>
      <p:pic>
        <p:nvPicPr>
          <p:cNvPr id="11" name="Picture 10" descr="ed0994c23a4938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015" y="3239054"/>
            <a:ext cx="211226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8.05 km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bf2c9433a2aba0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2" name="Picture 11" descr="d576d2edbb6fc5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187810"/>
            <a:ext cx="1264920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4" name="Picture 13" descr="1bea68e0811b19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187810"/>
            <a:ext cx="124968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6" name="Picture 15" descr="711be185f145e8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00458"/>
            <a:ext cx="12923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8" name="Picture 17" descr="147918762884eff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00458"/>
            <a:ext cx="1024128" cy="3017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6a54cea2649eb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4339"/>
            <a:ext cx="1949005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3445" y="1851660"/>
            <a:ext cx="31804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trail is 5 km long.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miles is that?</a:t>
            </a:r>
          </a:p>
        </p:txBody>
      </p:sp>
      <p:pic>
        <p:nvPicPr>
          <p:cNvPr id="11" name="Picture 10" descr="7848a55870dbf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3239054"/>
            <a:ext cx="1914144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3.1 mi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23c46f257f02bc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493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670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3fcb734e6361b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09" y="1954339"/>
            <a:ext cx="1844992" cy="2451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20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door is 6 ft tall.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centimeters is that?</a:t>
            </a:r>
          </a:p>
        </p:txBody>
      </p:sp>
      <p:pic>
        <p:nvPicPr>
          <p:cNvPr id="14" name="Picture 13" descr="cce88695c46a5f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787" y="3753769"/>
            <a:ext cx="1935480" cy="274320"/>
          </a:xfrm>
          <a:prstGeom prst="rect">
            <a:avLst/>
          </a:prstGeom>
        </p:spPr>
      </p:pic>
      <p:pic>
        <p:nvPicPr>
          <p:cNvPr id="15" name="Picture 14" descr="23919ae52bfa69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787" y="4320697"/>
            <a:ext cx="2709672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182.88 cm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a7e24ba549ecb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990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27206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88d2b26b87c7a8c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212" y="1956815"/>
            <a:ext cx="184708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0" name="Picture 9" descr="f2542c0ca55f8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038" y="1953768"/>
            <a:ext cx="1347216" cy="2407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30254" y="1851660"/>
            <a:ext cx="378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2" name="Picture 11" descr="e3914b43cbb52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260" y="1956815"/>
            <a:ext cx="1844040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53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table is 3 yd long.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About how many centimeters is that? Estimate, then compute.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4988" y="3661376"/>
            <a:ext cx="77087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Estimate: 3 yd is a bit under 3 m, so about 270 cm</a:t>
            </a:r>
          </a:p>
        </p:txBody>
      </p:sp>
      <p:pic>
        <p:nvPicPr>
          <p:cNvPr id="17" name="Picture 16" descr="d185211e555287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852" y="4284026"/>
            <a:ext cx="5269992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7357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270; exactly 274.32 cm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14cf36aaa71634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6999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84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e54799be41057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432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876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608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64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Rate on Nov 2: </a:t>
            </a:r>
          </a:p>
        </p:txBody>
      </p:sp>
      <p:pic>
        <p:nvPicPr>
          <p:cNvPr id="9" name="Picture 8" descr="fa316f6c8e8ec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985" y="1949386"/>
            <a:ext cx="1899475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6146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1" name="Picture 10" descr="5f4792e490fd8d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84704"/>
            <a:ext cx="2621280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5572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 changes $200 to CAD, then to pesos.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3891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pesos does he get?</a:t>
            </a:r>
          </a:p>
        </p:txBody>
      </p:sp>
      <p:pic>
        <p:nvPicPr>
          <p:cNvPr id="15" name="Picture 14" descr="773c04bbf5cec4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704" y="4387753"/>
            <a:ext cx="63398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52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4,276.80 pesos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2f86d8905c910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6e18d58589ed8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5072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851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Theo, who weighs 110 lb, rides a 12 km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the trail in miles?</a:t>
            </a:r>
          </a:p>
        </p:txBody>
      </p:sp>
      <p:pic>
        <p:nvPicPr>
          <p:cNvPr id="12" name="Picture 11" descr="5134a9b996441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3778153"/>
            <a:ext cx="2331720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7.44 mi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7088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1528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fd521c93e65714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4587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8159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4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3914b43cbb52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844040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78480" y="1851660"/>
            <a:ext cx="2907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</a:t>
            </a:r>
          </a:p>
        </p:txBody>
      </p:sp>
      <p:pic>
        <p:nvPicPr>
          <p:cNvPr id="10" name="Picture 9" descr="6c8af11a611881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69464"/>
            <a:ext cx="1831848" cy="243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628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76956"/>
            <a:ext cx="44962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converts 30 cm to inches: </a:t>
            </a:r>
          </a:p>
        </p:txBody>
      </p:sp>
      <p:pic>
        <p:nvPicPr>
          <p:cNvPr id="13" name="Picture 12" descr="4ece4610ab63a2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572" y="3179635"/>
            <a:ext cx="2417064" cy="2451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10636" y="307695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124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6" name="Picture 15" descr="609db8417a3b42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051" y="4467398"/>
            <a:ext cx="2298192" cy="2529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19074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inches ratio on centimeters. Inches are bigger, so fewer: 11.7 in.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01723"/>
            <a:ext cx="1847088" cy="243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1495044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8f784bf30c7681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96083"/>
            <a:ext cx="1831848" cy="243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9480" y="2089403"/>
            <a:ext cx="427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inches is 40 cm?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673c0080fbe231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90443"/>
            <a:ext cx="1901952" cy="243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9584" y="2683763"/>
            <a:ext cx="4745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kilometers is 10 mi?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d2f86d8905c910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4803"/>
            <a:ext cx="1950720" cy="243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78352" y="3278123"/>
            <a:ext cx="3925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miles is 8 km?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1" name="Picture 20" descr="85d78c8d2e33f8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48684"/>
            <a:ext cx="1304544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32176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3" name="Picture 22" descr="a7e24ba549ecbc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6238" y="3980688"/>
            <a:ext cx="1347216" cy="24079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13454" y="3872483"/>
            <a:ext cx="3712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5" name="Picture 24" descr="88d2b26b87c7a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16" y="3979164"/>
            <a:ext cx="1847088" cy="2438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94604" y="3872483"/>
            <a:ext cx="48643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2 yd?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31139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Estimate first.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0575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05755"/>
            <a:ext cx="2086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Today's rate: </a:t>
            </a:r>
          </a:p>
        </p:txBody>
      </p:sp>
      <p:pic>
        <p:nvPicPr>
          <p:cNvPr id="30" name="Picture 29" descr="9090d8e8f0989a7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603" y="5017008"/>
            <a:ext cx="3346704" cy="2346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0307" y="4905755"/>
            <a:ext cx="4610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euros is $50? How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44667"/>
            <a:ext cx="37730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many dollars is 23 euros?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6–7 — Converting Length Across Systems; 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8–9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Converting Mass, Area and Volume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MA.7.AR.3.3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convert mass, volume and area between systems, and square the length ratio for area.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2" name="Picture 11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4" name="Picture 13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7" name="Picture 16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2792388"/>
            <a:ext cx="99441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74519" y="32781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19" name="Picture 18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381303"/>
            <a:ext cx="1286335" cy="23495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730576" y="32781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23c46f257f02b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48106"/>
            <a:ext cx="1768117" cy="2349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77039" y="1440180"/>
            <a:ext cx="4831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centimeters is 12 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9870" y="1440180"/>
            <a:ext cx="15592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30.48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3" name="Picture 12" descr="4f88773a302254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36" y="2129901"/>
            <a:ext cx="740473" cy="2658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9460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5" name="Picture 14" descr="8058f93241672f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384" y="2170247"/>
            <a:ext cx="579088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6347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10028"/>
            <a:ext cx="11989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63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122676"/>
            <a:ext cx="327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product:  </a:t>
            </a:r>
          </a:p>
        </p:txBody>
      </p:sp>
      <p:pic>
        <p:nvPicPr>
          <p:cNvPr id="19" name="Picture 18" descr="c261042202a19b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661" y="3249588"/>
            <a:ext cx="994417" cy="2159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55719" y="3122676"/>
            <a:ext cx="7444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735324"/>
            <a:ext cx="7068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</a:t>
            </a:r>
          </a:p>
        </p:txBody>
      </p:sp>
      <p:pic>
        <p:nvPicPr>
          <p:cNvPr id="22" name="Picture 21" descr="419008846420ef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241" y="3838503"/>
            <a:ext cx="1286335" cy="23495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30576" y="3735324"/>
            <a:ext cx="6844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A 1-ft square has what area in square inches?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92524"/>
            <a:ext cx="12465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144 in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mass and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0848"/>
            <a:ext cx="10241280" cy="3220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pounds and kilograms — one word on this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062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ounce (oz)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15569"/>
            <a:ext cx="1291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weight: </a:t>
            </a:r>
          </a:p>
        </p:txBody>
      </p:sp>
      <p:pic>
        <p:nvPicPr>
          <p:cNvPr id="12" name="Picture 11" descr="74807a5fc79ce2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613" y="2857158"/>
            <a:ext cx="1092136" cy="176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89749" y="271556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4" name="Picture 13" descr="f9a4b27b199226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792" y="2864587"/>
            <a:ext cx="1361455" cy="2210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351077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fluid ounce (fl oz)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6025"/>
            <a:ext cx="13502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a volume: </a:t>
            </a:r>
          </a:p>
        </p:txBody>
      </p:sp>
      <p:pic>
        <p:nvPicPr>
          <p:cNvPr id="17" name="Picture 16" descr="ae0de4c5e07765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112" y="3827615"/>
            <a:ext cx="1116282" cy="176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72394" y="3686025"/>
            <a:ext cx="3976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not the same unit as the ounce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21533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square units</a:t>
            </a:r>
          </a:p>
        </p:txBody>
      </p:sp>
      <p:pic>
        <p:nvPicPr>
          <p:cNvPr id="20" name="Picture 19" descr="6bd260b1d893cf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785070"/>
            <a:ext cx="243316" cy="185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86316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2" name="Picture 21" descr="b894db2784ec4b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358" y="4788784"/>
            <a:ext cx="403050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88409" y="4656482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4" name="Picture 23" descr="9bb1e36bc0b83f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7451" y="4786927"/>
            <a:ext cx="271176" cy="183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458628" y="4656482"/>
            <a:ext cx="47360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an area; the length ratio is used twice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91990"/>
            <a:ext cx="10607040" cy="3578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0B5394"/>
                </a:solidFill>
                <a:latin typeface="Lexend"/>
              </a:rPr>
              <a:t>cubic units</a:t>
            </a:r>
          </a:p>
        </p:txBody>
      </p:sp>
      <p:pic>
        <p:nvPicPr>
          <p:cNvPr id="27" name="Picture 26" descr="e179aa5248dda2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757384"/>
            <a:ext cx="243316" cy="183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86316" y="5626939"/>
            <a:ext cx="336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29" name="Picture 28" descr="7280d534979a852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5358" y="5759241"/>
            <a:ext cx="260032" cy="1820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845391" y="5626939"/>
            <a:ext cx="5560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710" b="0" i="0">
                <a:solidFill>
                  <a:srgbClr val="1A1A1A"/>
                </a:solidFill>
                <a:latin typeface="Lexend"/>
              </a:rPr>
              <a:t> — a volume; the length ratio is used three times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Mass and volume convert like length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3faf06fd849e2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7" y="2029968"/>
            <a:ext cx="8193024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Area: the length ratio is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b3f50c43905f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79" y="1993392"/>
            <a:ext cx="2194560" cy="2298185"/>
          </a:xfrm>
          <a:prstGeom prst="rect">
            <a:avLst/>
          </a:prstGeom>
        </p:spPr>
      </p:pic>
      <p:pic>
        <p:nvPicPr>
          <p:cNvPr id="11" name="Picture 10" descr="2bbb456a3f9066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992" y="4437881"/>
            <a:ext cx="6955536" cy="341376"/>
          </a:xfrm>
          <a:prstGeom prst="rect">
            <a:avLst/>
          </a:prstGeom>
        </p:spPr>
      </p:pic>
      <p:pic>
        <p:nvPicPr>
          <p:cNvPr id="12" name="Picture 11" descr="e1f2231684ab9c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5123681"/>
            <a:ext cx="7315200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Fluid ounces go through cups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68b725b0adf2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528" y="2039493"/>
            <a:ext cx="6760464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43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Length: the ratio once. Area: twice. Volume: three times.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260" y="219284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04936" y="2080260"/>
            <a:ext cx="387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suitcase weighs 70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3192ce45c55d31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029712" cy="277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31.78 kg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889ac44668791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c5f90b4ff337bc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41" y="1689925"/>
            <a:ext cx="198367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27618" y="1577340"/>
            <a:ext cx="34271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crate weighs 90 lb.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kilograms is that?</a:t>
            </a:r>
          </a:p>
        </p:txBody>
      </p:sp>
      <p:pic>
        <p:nvPicPr>
          <p:cNvPr id="11" name="Picture 10" descr="ac569d9db41729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779" y="2992166"/>
            <a:ext cx="283768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40.86 kg (about 40.9)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419008846420ef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668" y="2177986"/>
            <a:ext cx="1342262" cy="2451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34931" y="2080260"/>
            <a:ext cx="15282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tile is </a:t>
            </a:r>
          </a:p>
        </p:txBody>
      </p:sp>
      <p:pic>
        <p:nvPicPr>
          <p:cNvPr id="10" name="Picture 9" descr="040327706b658f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89" y="2148268"/>
            <a:ext cx="574548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0537" y="208026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many square inches is that?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d6d56c7d6c8476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76600" cy="341376"/>
          </a:xfrm>
          <a:prstGeom prst="rect">
            <a:avLst/>
          </a:prstGeom>
        </p:spPr>
      </p:pic>
      <p:pic>
        <p:nvPicPr>
          <p:cNvPr id="9" name="Picture 8" descr="0454483ebb13a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22067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720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f721e6687ccc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f6484183bcbd0a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155f3c6fd32ecb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678" y="1689925"/>
            <a:ext cx="1302639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84317" y="1577340"/>
            <a:ext cx="185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patio is </a:t>
            </a:r>
          </a:p>
        </p:txBody>
      </p:sp>
      <p:pic>
        <p:nvPicPr>
          <p:cNvPr id="10" name="Picture 9" descr="3c99dfaaa214ad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295" y="1647825"/>
            <a:ext cx="713232" cy="34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1527" y="1577340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3" name="Picture 12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2938255"/>
            <a:ext cx="836961" cy="3093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45149" y="2875390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5" name="Picture 14" descr="33061e30c29e67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3531662"/>
            <a:ext cx="140208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45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fd933339219d3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3864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8304" y="1851660"/>
            <a:ext cx="35493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bag of rice is 10 kg.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pounds is that?</a:t>
            </a:r>
          </a:p>
        </p:txBody>
      </p:sp>
      <p:pic>
        <p:nvPicPr>
          <p:cNvPr id="11" name="Picture 10" descr="6312203239575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927" y="3242102"/>
            <a:ext cx="2755392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22.04 lb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pic>
        <p:nvPicPr>
          <p:cNvPr id="8" name="Picture 7" descr="3b403895e0674b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10760bc6c5882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34146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8586" y="1851660"/>
            <a:ext cx="336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cooler holds 4 gal.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1" name="Picture 10" descr="94f8980594becd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9" y="3242102"/>
            <a:ext cx="2520696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15.14 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d26edaed8467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590217cf62aa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966341" cy="304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781" y="1851660"/>
            <a:ext cx="2972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 A tank holds 10 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that?</a:t>
            </a:r>
          </a:p>
        </p:txBody>
      </p:sp>
      <p:pic>
        <p:nvPicPr>
          <p:cNvPr id="11" name="Picture 10" descr="ba6a3ea2bb8d7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59" y="3239054"/>
            <a:ext cx="2548128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2.64 gal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85d78c8d2e33f8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4544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3898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a387a3e299107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0849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4275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1faa871627427b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76074"/>
            <a:ext cx="920495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fa7c6ba97e7789d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76074"/>
            <a:ext cx="932688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9327eaee863255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4388722"/>
            <a:ext cx="752856" cy="34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444358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e03f104e5972ce9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4388722"/>
            <a:ext cx="749808" cy="34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512024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b837b0c989315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307592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203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293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patch of lawn is </a:t>
            </a:r>
          </a:p>
        </p:txBody>
      </p:sp>
      <p:pic>
        <p:nvPicPr>
          <p:cNvPr id="11" name="Picture 10" descr="6287286a7d407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426" y="2534793"/>
            <a:ext cx="703326" cy="346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36752" y="2464308"/>
            <a:ext cx="14054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area.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feet is that?</a:t>
            </a:r>
          </a:p>
        </p:txBody>
      </p:sp>
      <p:pic>
        <p:nvPicPr>
          <p:cNvPr id="14" name="Picture 13" descr="6a1d74e97a46e5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187" y="3797791"/>
            <a:ext cx="836961" cy="3093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5149" y="3734926"/>
            <a:ext cx="3757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ft</a:t>
            </a:r>
            <a:r>
              <a:rPr sz="275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750" b="0" i="0">
                <a:solidFill>
                  <a:srgbClr val="1A1A1A"/>
                </a:solidFill>
                <a:latin typeface="Lexend"/>
              </a:rPr>
              <a:t> in a square yard</a:t>
            </a:r>
          </a:p>
        </p:txBody>
      </p:sp>
      <p:pic>
        <p:nvPicPr>
          <p:cNvPr id="16" name="Picture 15" descr="33de29ff29e259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87" y="4394246"/>
            <a:ext cx="1353312" cy="2499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18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ae0de4c5e0776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ed1791ada6c7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47b584da7b83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4245"/>
            <a:ext cx="1488376" cy="235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22816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97621f8b70045f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23" y="1974151"/>
            <a:ext cx="1480947" cy="2253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027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bottle holds 16 fl oz.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is that?</a:t>
            </a:r>
          </a:p>
        </p:txBody>
      </p:sp>
      <p:pic>
        <p:nvPicPr>
          <p:cNvPr id="14" name="Picture 13" descr="83c4edb2bd6b77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3" y="3778153"/>
            <a:ext cx="1676400" cy="256032"/>
          </a:xfrm>
          <a:prstGeom prst="rect">
            <a:avLst/>
          </a:prstGeom>
        </p:spPr>
      </p:pic>
      <p:pic>
        <p:nvPicPr>
          <p:cNvPr id="15" name="Picture 14" descr="f589dab710055d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343" y="4320697"/>
            <a:ext cx="21945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0.48 L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fb110fe836d86e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ff228dc4c8df40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14ef69fc1ef0ed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82696"/>
            <a:ext cx="947928" cy="3444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32918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6c5a704f658703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85744"/>
            <a:ext cx="646176" cy="277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e79298326e3b3d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95344"/>
            <a:ext cx="1182624" cy="3444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9044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b951781f601057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98392"/>
            <a:ext cx="612648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811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b9580ee1a813c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75103"/>
            <a:ext cx="1783080" cy="225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54132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square centimeters is </a:t>
            </a:r>
          </a:p>
        </p:txBody>
      </p:sp>
      <p:pic>
        <p:nvPicPr>
          <p:cNvPr id="11" name="Picture 10" descr="dc0942f76508db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6" y="2532316"/>
            <a:ext cx="581977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92503" y="2464308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90afc689567248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299" y="3312604"/>
            <a:ext cx="2898648" cy="3139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10,000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7de33d50f52ca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707e309a93366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6596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5-lb bag of flour and a 2.5-kg bag of sugar.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is heavier, and by how much?</a:t>
            </a:r>
          </a:p>
        </p:txBody>
      </p:sp>
      <p:pic>
        <p:nvPicPr>
          <p:cNvPr id="12" name="Picture 11" descr="1da7a0dd2289da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87" y="3769009"/>
            <a:ext cx="3014472" cy="265176"/>
          </a:xfrm>
          <a:prstGeom prst="rect">
            <a:avLst/>
          </a:prstGeom>
        </p:spPr>
      </p:pic>
      <p:pic>
        <p:nvPicPr>
          <p:cNvPr id="13" name="Picture 12" descr="d2ea0731c01267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387" y="4320697"/>
            <a:ext cx="21457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sugar, by 0.51 lb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0d647df019511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118ca277248594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2911"/>
            <a:ext cx="193548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6992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7433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20-gal fish tank, bought for $45, is being filled.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liters does it hold?</a:t>
            </a:r>
          </a:p>
        </p:txBody>
      </p:sp>
      <p:pic>
        <p:nvPicPr>
          <p:cNvPr id="12" name="Picture 11" descr="fd66d022f8b749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3" y="3854750"/>
            <a:ext cx="2517648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75.7 L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a7e24ba549ecbc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8f2e55c8bb5bdd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59689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2237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b5b0e70f63b0e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589" y="2534793"/>
            <a:ext cx="785050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4639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941bdd639930e1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794" y="2584323"/>
            <a:ext cx="1399222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02016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f2542c0ca55f85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3768"/>
            <a:ext cx="1347216" cy="240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165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64308"/>
            <a:ext cx="1815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</a:t>
            </a:r>
          </a:p>
        </p:txBody>
      </p:sp>
      <p:pic>
        <p:nvPicPr>
          <p:cNvPr id="11" name="Picture 10" descr="7b97a516d29415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8" y="2532316"/>
            <a:ext cx="562165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74714" y="2464308"/>
            <a:ext cx="614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</a:t>
            </a:r>
          </a:p>
        </p:txBody>
      </p:sp>
      <p:pic>
        <p:nvPicPr>
          <p:cNvPr id="13" name="Picture 12" descr="f7559e20e57a5d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065" y="2534793"/>
            <a:ext cx="787527" cy="2724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9592" y="2464308"/>
            <a:ext cx="1705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because </a:t>
            </a:r>
          </a:p>
        </p:txBody>
      </p:sp>
      <p:pic>
        <p:nvPicPr>
          <p:cNvPr id="15" name="Picture 14" descr="cf3a2a0005dd5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47" y="2584323"/>
            <a:ext cx="140417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11922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Name the error and fix it.</a:t>
            </a:r>
          </a:p>
        </p:txBody>
      </p:sp>
      <p:pic>
        <p:nvPicPr>
          <p:cNvPr id="18" name="Picture 17" descr="a3ccc6ff8a3d380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939" y="3799886"/>
            <a:ext cx="4849368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She used the ratio once. A cubic foot is 12 × 12 × 12 = 1,728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, so 2 ft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3,456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6539a90126a0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71244"/>
            <a:ext cx="1987296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4928" y="1495044"/>
            <a:ext cx="457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kilograms is 30 lb?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2" name="Picture 11" descr="d7de33d50f52ca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65604"/>
            <a:ext cx="196596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93592" y="2089403"/>
            <a:ext cx="43074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25 kg?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5" name="Picture 14" descr="0d647df019511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59963"/>
            <a:ext cx="193548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63112" y="2683763"/>
            <a:ext cx="3893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6 gal?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8" name="Picture 17" descr="a7e24ba549ecb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86327"/>
            <a:ext cx="1347216" cy="240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4848" y="3278123"/>
            <a:ext cx="43070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inches is </a:t>
            </a:r>
          </a:p>
        </p:txBody>
      </p:sp>
      <p:pic>
        <p:nvPicPr>
          <p:cNvPr id="20" name="Picture 19" descr="fd3f0498ea874b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744" y="3369563"/>
            <a:ext cx="573024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17768" y="3278123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23" name="Picture 22" descr="53fb1d19ce3600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3983736"/>
            <a:ext cx="1493520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21152" y="387248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5" name="Picture 24" descr="aae6846e2fca6d9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735" y="3988307"/>
            <a:ext cx="1484376" cy="2255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91111" y="3872483"/>
            <a:ext cx="42090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liters is 24 fl oz?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8" name="Picture 27" descr="c79700df5a23d6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4578096"/>
            <a:ext cx="1828800" cy="2346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56432" y="4466844"/>
            <a:ext cx="4391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square meters is </a:t>
            </a:r>
          </a:p>
        </p:txBody>
      </p:sp>
      <p:pic>
        <p:nvPicPr>
          <p:cNvPr id="30" name="Picture 29" descr="aa3a1dcc642825f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505" y="4556760"/>
            <a:ext cx="758952" cy="2773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69457" y="4466844"/>
            <a:ext cx="25337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 (Round to two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905756"/>
            <a:ext cx="12982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places.)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8–9 — Converting Mass, Area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Convert between customary and metric systems — E8Z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customary units — 4B8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and convert metric units — HW2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10–11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problem that takes two or more proportional steps, including a unit conversion, and compare two rates given in different units.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2" name="Picture 11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3971" y="1440180"/>
            <a:ext cx="1350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8.816 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3" name="Picture 12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9014" y="2052828"/>
            <a:ext cx="1310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178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35324"/>
            <a:ext cx="28407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60 miles per hour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how much of one quantity per 1 of the other — 23 miles per 1 gallon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proportional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quantities whose ratio stays the same: double one, the other doubles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for each 1 — the word that marks a unit rate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One unit rate,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84e611f102833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83" y="2020824"/>
            <a:ext cx="9750552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Compare rates in one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21ff173496ec7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024253"/>
            <a:ext cx="652881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432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unit first. Then compare.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Scale a recipe, then check the pantry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d35a45236af3a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176" y="1993392"/>
            <a:ext cx="6297168" cy="673608"/>
          </a:xfrm>
          <a:prstGeom prst="rect">
            <a:avLst/>
          </a:prstGeom>
        </p:spPr>
      </p:pic>
      <p:pic>
        <p:nvPicPr>
          <p:cNvPr id="11" name="Picture 10" descr="f2b684c3a3f3c2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" y="2965704"/>
            <a:ext cx="10073640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34" y="1771269"/>
            <a:ext cx="2340864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6698" y="1714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5 mi in 40 min; runner B does 9 km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785da30ee96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9696" cy="670560"/>
          </a:xfrm>
          <a:prstGeom prst="rect">
            <a:avLst/>
          </a:prstGeom>
        </p:spPr>
      </p:pic>
      <p:pic>
        <p:nvPicPr>
          <p:cNvPr id="9" name="Picture 8" descr="4fc8bab69cb80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874264" cy="670560"/>
          </a:xfrm>
          <a:prstGeom prst="rect">
            <a:avLst/>
          </a:prstGeom>
        </p:spPr>
      </p:pic>
      <p:pic>
        <p:nvPicPr>
          <p:cNvPr id="10" name="Picture 9" descr="3c725b51699ea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1615440" cy="667512"/>
          </a:xfrm>
          <a:prstGeom prst="rect">
            <a:avLst/>
          </a:prstGeom>
        </p:spPr>
      </p:pic>
      <p:pic>
        <p:nvPicPr>
          <p:cNvPr id="11" name="Picture 10" descr="8081506ef4a1ab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751832"/>
            <a:ext cx="18592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≈ 12.08 km/h, B = 12 km/h: A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55c3fc7a368775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02" y="1600200"/>
            <a:ext cx="2929128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0830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f6c1428a8fe5f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26" y="1600200"/>
            <a:ext cx="2926080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9306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  <p:pic>
        <p:nvPicPr>
          <p:cNvPr id="12" name="Picture 11" descr="7b8f562dd79bc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72" y="3483068"/>
            <a:ext cx="5251704" cy="606552"/>
          </a:xfrm>
          <a:prstGeom prst="rect">
            <a:avLst/>
          </a:prstGeom>
        </p:spPr>
      </p:pic>
      <p:pic>
        <p:nvPicPr>
          <p:cNvPr id="13" name="Picture 12" descr="fb86ceff55f1ba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772" y="4217636"/>
            <a:ext cx="1603248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583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12.88 km/h, B = 12 km/h: A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0604" y="2145696"/>
            <a:ext cx="43777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8 servings uses </a:t>
            </a:r>
          </a:p>
        </p:txBody>
      </p:sp>
      <p:pic>
        <p:nvPicPr>
          <p:cNvPr id="9" name="Picture 8" descr="cfbc1da7a07fb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89" y="2103120"/>
            <a:ext cx="331851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3040" y="214569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2673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rice for 20 servings? With 5 cups on hand, how many servings can be made?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2907b0d85da38e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70120" cy="673608"/>
          </a:xfrm>
          <a:prstGeom prst="rect">
            <a:avLst/>
          </a:prstGeom>
        </p:spPr>
      </p:pic>
      <p:pic>
        <p:nvPicPr>
          <p:cNvPr id="9" name="Picture 8" descr="1b4354005a94a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8526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6¼ cups; 16 servings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7597" y="1642776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b8f565bf2384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38" y="1600200"/>
            <a:ext cx="304609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6047" y="164277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773" y="2998548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d0dda701f68944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350" y="2955971"/>
            <a:ext cx="361569" cy="5423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4919" y="2998548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0073" y="1644015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a256e78171c67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14" y="1600200"/>
            <a:ext cx="299656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3571" y="1644015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934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5249" y="3002263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e79d51c9125476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26" y="2958448"/>
            <a:ext cx="356616" cy="544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2442" y="3002263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  <p:pic>
        <p:nvPicPr>
          <p:cNvPr id="15" name="Picture 14" descr="9d4724fac4a280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850750"/>
            <a:ext cx="3474720" cy="606552"/>
          </a:xfrm>
          <a:prstGeom prst="rect">
            <a:avLst/>
          </a:prstGeom>
        </p:spPr>
      </p:pic>
      <p:pic>
        <p:nvPicPr>
          <p:cNvPr id="16" name="Picture 15" descr="13f1547c75366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585318"/>
            <a:ext cx="3712463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290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cups; 18 servings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pic>
        <p:nvPicPr>
          <p:cNvPr id="10" name="Picture 9" descr="198d9d3f25b719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23" y="3168553"/>
            <a:ext cx="1981199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420 mi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pic>
        <p:nvPicPr>
          <p:cNvPr id="10" name="Picture 9" descr="a8e292b8cde33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667" y="3165505"/>
            <a:ext cx="234391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 min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pic>
        <p:nvPicPr>
          <p:cNvPr id="10" name="Picture 9" descr="7c445bb00f162a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35" y="3594875"/>
            <a:ext cx="4532376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$435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72df7627a7a480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994337"/>
            <a:ext cx="18288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3a373b7e630c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997385"/>
            <a:ext cx="384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b6172e6484e9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606985"/>
            <a:ext cx="39014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613081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9278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pic>
        <p:nvPicPr>
          <p:cNvPr id="10" name="Picture 9" descr="065daa35c97d27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39" y="3994337"/>
            <a:ext cx="4014215" cy="347472"/>
          </a:xfrm>
          <a:prstGeom prst="rect">
            <a:avLst/>
          </a:prstGeom>
        </p:spPr>
      </p:pic>
      <p:pic>
        <p:nvPicPr>
          <p:cNvPr id="11" name="Picture 10" descr="e083f958e2482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39" y="4554598"/>
            <a:ext cx="3986784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 tanks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pic>
        <p:nvPicPr>
          <p:cNvPr id="10" name="Picture 9" descr="89d5d50ac7447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3165505"/>
            <a:ext cx="5114544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120 g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Tie: 12 and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12 &gt;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B: 15.0 &gt; 14.4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14.4 &gt; 11.27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16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pic>
        <p:nvPicPr>
          <p:cNvPr id="12" name="Picture 11" descr="506f303710cd3d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11" y="3684236"/>
            <a:ext cx="6062472" cy="606552"/>
          </a:xfrm>
          <a:prstGeom prst="rect">
            <a:avLst/>
          </a:prstGeom>
        </p:spPr>
      </p:pic>
      <p:pic>
        <p:nvPicPr>
          <p:cNvPr id="13" name="Picture 12" descr="c13e104580267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11" y="4418804"/>
            <a:ext cx="7510272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594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cyclist B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51d1cdc51197b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4110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381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4d1f2e7bdd7bf8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9063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876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pic>
        <p:nvPicPr>
          <p:cNvPr id="13" name="Picture 12" descr="d59191ca87bf0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67" y="3684236"/>
            <a:ext cx="4861560" cy="609600"/>
          </a:xfrm>
          <a:prstGeom prst="rect">
            <a:avLst/>
          </a:prstGeom>
        </p:spPr>
      </p:pic>
      <p:pic>
        <p:nvPicPr>
          <p:cNvPr id="14" name="Picture 13" descr="60ebe7948d8a2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367" y="4515769"/>
            <a:ext cx="1581912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gal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9700df5a23d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6c66710128e6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pic>
        <p:nvPicPr>
          <p:cNvPr id="14" name="Picture 13" descr="edc42479e43efb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527" y="3839510"/>
            <a:ext cx="4294632" cy="268224"/>
          </a:xfrm>
          <a:prstGeom prst="rect">
            <a:avLst/>
          </a:prstGeom>
        </p:spPr>
      </p:pic>
      <p:pic>
        <p:nvPicPr>
          <p:cNvPr id="15" name="Picture 14" descr="8d1545a1affce0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527" y="4394246"/>
            <a:ext cx="91622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7.44 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pic>
        <p:nvPicPr>
          <p:cNvPr id="13" name="Picture 12" descr="6fd1d65a65982d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72" y="4079507"/>
            <a:ext cx="3340608" cy="307848"/>
          </a:xfrm>
          <a:prstGeom prst="rect">
            <a:avLst/>
          </a:prstGeom>
        </p:spPr>
      </p:pic>
      <p:pic>
        <p:nvPicPr>
          <p:cNvPr id="14" name="Picture 13" descr="6a117b4420daa3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72" y="4615955"/>
            <a:ext cx="5711952" cy="2682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082871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Car A: 80.5 km/h against 75, so about 3.73 h against 4 h — about 16 minutes sooner.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955719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gets 32 miles per gallon and its tank holds 14 gal. How far does it go on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66369"/>
            <a:ext cx="86304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430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4304"/>
            <a:ext cx="94219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That car makes a 1,000-mi trip. How many tanks of gas does it use? (Part of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01654"/>
            <a:ext cx="365082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 counts as a whole tank.)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246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22464"/>
            <a:ext cx="351953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recipe for 4 servings uses </a:t>
            </a:r>
          </a:p>
        </p:txBody>
      </p:sp>
      <p:pic>
        <p:nvPicPr>
          <p:cNvPr id="16" name="Picture 15" descr="8ef7b8baa0410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59" y="3188473"/>
            <a:ext cx="274452" cy="4456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1312" y="3222464"/>
            <a:ext cx="543282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cups of rice. How much rice for 10 servings?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327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9" name="Picture 18" descr="d2f86d8905c9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3831402"/>
            <a:ext cx="1611464" cy="2014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39096" y="3743275"/>
            <a:ext cx="808168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train does 120 km/h; a bus does 70 mi/h. Which is faster? Show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0625"/>
            <a:ext cx="28440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speeds in one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855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8559"/>
            <a:ext cx="49495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Juice is mixed orange : mango : water = </a:t>
            </a:r>
          </a:p>
        </p:txBody>
      </p:sp>
      <p:pic>
        <p:nvPicPr>
          <p:cNvPr id="24" name="Picture 23" descr="3e12847d3b5309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918" y="4674240"/>
            <a:ext cx="715087" cy="1863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2005" y="4578559"/>
            <a:ext cx="399247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batch uses 9 cups of orange.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45910"/>
            <a:ext cx="44026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cups is the whole batch?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1384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1384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9" name="Picture 28" descr="bf04384952a140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231" y="5501971"/>
            <a:ext cx="908966" cy="2014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26198" y="5413844"/>
            <a:ext cx="664842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; a room is 2 in by 3.5 in on it. Find the room's real area.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rates: word problems — VVS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Multi-step problems with customary or metric unit conversions — 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