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30.png"/><Relationship Id="rId5" Type="http://schemas.openxmlformats.org/officeDocument/2006/relationships/image" Target="../media/image4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2.png"/><Relationship Id="rId4" Type="http://schemas.openxmlformats.org/officeDocument/2006/relationships/image" Target="../media/image73.png"/><Relationship Id="rId5" Type="http://schemas.openxmlformats.org/officeDocument/2006/relationships/image" Target="../media/image7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image" Target="../media/image76.png"/><Relationship Id="rId4" Type="http://schemas.openxmlformats.org/officeDocument/2006/relationships/image" Target="../media/image77.png"/><Relationship Id="rId5" Type="http://schemas.openxmlformats.org/officeDocument/2006/relationships/image" Target="../media/image78.png"/><Relationship Id="rId6" Type="http://schemas.openxmlformats.org/officeDocument/2006/relationships/image" Target="../media/image7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image" Target="../media/image64.png"/><Relationship Id="rId4" Type="http://schemas.openxmlformats.org/officeDocument/2006/relationships/image" Target="../media/image68.png"/><Relationship Id="rId5" Type="http://schemas.openxmlformats.org/officeDocument/2006/relationships/image" Target="../media/image71.png"/><Relationship Id="rId6" Type="http://schemas.openxmlformats.org/officeDocument/2006/relationships/image" Target="../media/image81.png"/><Relationship Id="rId7" Type="http://schemas.openxmlformats.org/officeDocument/2006/relationships/image" Target="../media/image82.png"/><Relationship Id="rId8" Type="http://schemas.openxmlformats.org/officeDocument/2006/relationships/image" Target="../media/image83.png"/><Relationship Id="rId9" Type="http://schemas.openxmlformats.org/officeDocument/2006/relationships/image" Target="../media/image84.png"/><Relationship Id="rId10" Type="http://schemas.openxmlformats.org/officeDocument/2006/relationships/image" Target="../media/image8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8–9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Converting Mass, Area and Volume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MA.7.AR.3.3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convert mass, volume and area between systems, and square the length ratio for area.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48106"/>
            <a:ext cx="1768117" cy="2349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77039" y="1440180"/>
            <a:ext cx="4831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centimeters is 12 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3016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figure of area </a:t>
            </a:r>
          </a:p>
        </p:txBody>
      </p:sp>
      <p:pic>
        <p:nvPicPr>
          <p:cNvPr id="12" name="Picture 11" descr="4f88773a302254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136" y="2129901"/>
            <a:ext cx="740473" cy="26581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94609" y="2052828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4" name="Picture 13" descr="8058f93241672f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4384" y="2170247"/>
            <a:ext cx="579088" cy="2254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63473" y="2052828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7" name="Picture 16" descr="c261042202a19b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2661" y="2792388"/>
            <a:ext cx="994417" cy="2159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74519" y="3278124"/>
            <a:ext cx="7068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</a:t>
            </a:r>
          </a:p>
        </p:txBody>
      </p:sp>
      <p:pic>
        <p:nvPicPr>
          <p:cNvPr id="19" name="Picture 18" descr="419008846420ef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4241" y="3381303"/>
            <a:ext cx="1286335" cy="23495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30576" y="3278124"/>
            <a:ext cx="6844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A 1-ft square has what area in square inches?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48106"/>
            <a:ext cx="1768117" cy="2349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77039" y="1440180"/>
            <a:ext cx="4831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centimeters is 12 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9870" y="1440180"/>
            <a:ext cx="15592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30.48 cm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052828"/>
            <a:ext cx="3016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figure of area </a:t>
            </a:r>
          </a:p>
        </p:txBody>
      </p:sp>
      <p:pic>
        <p:nvPicPr>
          <p:cNvPr id="13" name="Picture 12" descr="4f88773a302254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136" y="2129901"/>
            <a:ext cx="740473" cy="26581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94609" y="2052828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5" name="Picture 14" descr="8058f93241672f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4384" y="2170247"/>
            <a:ext cx="579088" cy="225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963473" y="2052828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2510028"/>
            <a:ext cx="11989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63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1226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9" name="Picture 18" descr="c261042202a19b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2661" y="3249588"/>
            <a:ext cx="994417" cy="21597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55719" y="3122676"/>
            <a:ext cx="744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−10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735324"/>
            <a:ext cx="7068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</a:t>
            </a:r>
          </a:p>
        </p:txBody>
      </p:sp>
      <p:pic>
        <p:nvPicPr>
          <p:cNvPr id="22" name="Picture 21" descr="419008846420ef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4241" y="3838503"/>
            <a:ext cx="1286335" cy="23495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730576" y="3735324"/>
            <a:ext cx="6844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A 1-ft square has what area in square inches?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192524"/>
            <a:ext cx="12465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144 in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mass and weight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20848"/>
            <a:ext cx="10241280" cy="32202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pounds and kilograms — one word on this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80620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ounce (oz)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715569"/>
            <a:ext cx="12917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weight: </a:t>
            </a:r>
          </a:p>
        </p:txBody>
      </p:sp>
      <p:pic>
        <p:nvPicPr>
          <p:cNvPr id="12" name="Picture 11" descr="74807a5fc79ce2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7613" y="2857158"/>
            <a:ext cx="1092136" cy="1764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9749" y="2715569"/>
            <a:ext cx="336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4" name="Picture 13" descr="f9a4b27b199226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8792" y="2864587"/>
            <a:ext cx="1361455" cy="22102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351077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fluid ounce (fl oz)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686025"/>
            <a:ext cx="13502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volume: </a:t>
            </a:r>
          </a:p>
        </p:txBody>
      </p:sp>
      <p:pic>
        <p:nvPicPr>
          <p:cNvPr id="17" name="Picture 16" descr="ae0de4c5e07765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6112" y="3827615"/>
            <a:ext cx="1116282" cy="1764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72394" y="3686025"/>
            <a:ext cx="3976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— not the same unit as the ounce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21533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square units</a:t>
            </a:r>
          </a:p>
        </p:txBody>
      </p:sp>
      <p:pic>
        <p:nvPicPr>
          <p:cNvPr id="20" name="Picture 19" descr="6bd260b1d893cf5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4785070"/>
            <a:ext cx="243316" cy="18573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86316" y="4656482"/>
            <a:ext cx="336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2" name="Picture 21" descr="b894db2784ec4b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5358" y="4788784"/>
            <a:ext cx="403050" cy="18573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988409" y="4656482"/>
            <a:ext cx="336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4" name="Picture 23" descr="9bb1e36bc0b83fd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87451" y="4786927"/>
            <a:ext cx="271176" cy="183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58628" y="4656482"/>
            <a:ext cx="47360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— an area; the length ratio is used twice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291990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cubic units</a:t>
            </a:r>
          </a:p>
        </p:txBody>
      </p:sp>
      <p:pic>
        <p:nvPicPr>
          <p:cNvPr id="27" name="Picture 26" descr="e179aa5248dda23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3000" y="5757384"/>
            <a:ext cx="243316" cy="1838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86316" y="5626939"/>
            <a:ext cx="336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9" name="Picture 28" descr="7280d534979a852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85358" y="5759241"/>
            <a:ext cx="260032" cy="18202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845391" y="5626939"/>
            <a:ext cx="5560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— a volume; the length ratio is used three times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Mass and volume convert like length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2daf8da0d1e34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464" y="2231136"/>
            <a:ext cx="8546592" cy="3749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Area: the length ratio is used twice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8b3f50c43905f9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79" y="1993392"/>
            <a:ext cx="2194560" cy="2298185"/>
          </a:xfrm>
          <a:prstGeom prst="rect">
            <a:avLst/>
          </a:prstGeom>
        </p:spPr>
      </p:pic>
      <p:pic>
        <p:nvPicPr>
          <p:cNvPr id="11" name="Picture 10" descr="974c14d3ea300a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6208" y="4437881"/>
            <a:ext cx="7309104" cy="341376"/>
          </a:xfrm>
          <a:prstGeom prst="rect">
            <a:avLst/>
          </a:prstGeom>
        </p:spPr>
      </p:pic>
      <p:pic>
        <p:nvPicPr>
          <p:cNvPr id="12" name="Picture 11" descr="e1f2231684ab9c0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3160" y="5123681"/>
            <a:ext cx="7315200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Fluid ounces go through cups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f33f2f218af8f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2240661"/>
            <a:ext cx="7114032" cy="289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14553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Length: the ratio once. Area: twice. Volume: three times.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b889ac44668791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1260" y="2192845"/>
            <a:ext cx="1983676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04936" y="2080260"/>
            <a:ext cx="387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suitcase weighs 70 lb.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3192ce45c55d31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29712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31.78 kg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b889ac44668791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3941" y="1689925"/>
            <a:ext cx="1983676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27618" y="1577340"/>
            <a:ext cx="34271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crate weighs 90 lb.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c5f90b4ff337bc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3941" y="1689925"/>
            <a:ext cx="1983676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27618" y="1577340"/>
            <a:ext cx="34271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crate weighs 90 lb.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  <p:pic>
        <p:nvPicPr>
          <p:cNvPr id="11" name="Picture 10" descr="ac569d9db41729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779" y="2992166"/>
            <a:ext cx="2837688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40.86 kg (about 40.9)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419008846420ef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2668" y="2177986"/>
            <a:ext cx="134226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34931" y="2080260"/>
            <a:ext cx="15282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tile is </a:t>
            </a:r>
          </a:p>
        </p:txBody>
      </p:sp>
      <p:pic>
        <p:nvPicPr>
          <p:cNvPr id="10" name="Picture 9" descr="040327706b658f5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989" y="2148268"/>
            <a:ext cx="574548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00537" y="2080260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square inches is that?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6d56c7d6c8476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276600" cy="341376"/>
          </a:xfrm>
          <a:prstGeom prst="rect">
            <a:avLst/>
          </a:prstGeom>
        </p:spPr>
      </p:pic>
      <p:pic>
        <p:nvPicPr>
          <p:cNvPr id="9" name="Picture 8" descr="0454483ebb13af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20675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720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df721e6687ccce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678" y="1689925"/>
            <a:ext cx="1302639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84317" y="1577340"/>
            <a:ext cx="185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patio is </a:t>
            </a:r>
          </a:p>
        </p:txBody>
      </p:sp>
      <p:pic>
        <p:nvPicPr>
          <p:cNvPr id="10" name="Picture 9" descr="f6484183bcbd0a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295" y="1647825"/>
            <a:ext cx="713232" cy="3467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1527" y="1577340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155f3c6fd32ecb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678" y="1689925"/>
            <a:ext cx="1302639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84317" y="1577340"/>
            <a:ext cx="185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patio is </a:t>
            </a:r>
          </a:p>
        </p:txBody>
      </p:sp>
      <p:pic>
        <p:nvPicPr>
          <p:cNvPr id="10" name="Picture 9" descr="3c99dfaaa214ad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295" y="1647825"/>
            <a:ext cx="713232" cy="3467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1527" y="1577340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  <p:pic>
        <p:nvPicPr>
          <p:cNvPr id="13" name="Picture 12" descr="6a1d74e97a46e5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8187" y="2938255"/>
            <a:ext cx="836961" cy="3093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45149" y="2875390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ft</a:t>
            </a:r>
            <a:r>
              <a:rPr sz="275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750" b="0" i="0">
                <a:solidFill>
                  <a:srgbClr val="1A1A1A"/>
                </a:solidFill>
                <a:latin typeface="Lexend"/>
              </a:rPr>
              <a:t> in a square yard</a:t>
            </a:r>
          </a:p>
        </p:txBody>
      </p:sp>
      <p:pic>
        <p:nvPicPr>
          <p:cNvPr id="15" name="Picture 14" descr="33061e30c29e67c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08187" y="3531662"/>
            <a:ext cx="1402080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45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b20e69a494d39e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63864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98304" y="1851660"/>
            <a:ext cx="35493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bag of rice is 10 kg.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pounds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fd933339219d3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63864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98304" y="1851660"/>
            <a:ext cx="35493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bag of rice is 10 kg.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pounds is that?</a:t>
            </a:r>
          </a:p>
        </p:txBody>
      </p:sp>
      <p:pic>
        <p:nvPicPr>
          <p:cNvPr id="11" name="Picture 10" descr="6312203239575a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7927" y="3242102"/>
            <a:ext cx="2755392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22.04 lb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3b403895e0674b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34146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68586" y="1851660"/>
            <a:ext cx="336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cooler holds 4 gal.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10760bc6c58820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34146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68586" y="1851660"/>
            <a:ext cx="336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cooler holds 4 gal.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pic>
        <p:nvPicPr>
          <p:cNvPr id="11" name="Picture 10" descr="94f8980594becd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799" y="3242102"/>
            <a:ext cx="2520696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15.14 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9d26edaed8467e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66341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781" y="1851660"/>
            <a:ext cx="2972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tank holds 10 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9590217cf62aa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66341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781" y="1851660"/>
            <a:ext cx="2972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tank holds 10 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that?</a:t>
            </a:r>
          </a:p>
        </p:txBody>
      </p:sp>
      <p:pic>
        <p:nvPicPr>
          <p:cNvPr id="11" name="Picture 10" descr="ba6a3ea2bb8d7c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1559" y="3239054"/>
            <a:ext cx="2548128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2.64 gal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85d78c8d2e33f8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304544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3898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293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patch of lawn is </a:t>
            </a:r>
          </a:p>
        </p:txBody>
      </p:sp>
      <p:pic>
        <p:nvPicPr>
          <p:cNvPr id="11" name="Picture 10" descr="6a387a3e299107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3426" y="2534793"/>
            <a:ext cx="700849" cy="3467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34275" y="2464308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5" name="Picture 14" descr="1faa871627427bb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76074"/>
            <a:ext cx="920495" cy="3413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7" name="Picture 16" descr="fa7c6ba97e7789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76074"/>
            <a:ext cx="932688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91640" y="444358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9" name="Picture 18" descr="9327eaee863255b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568" y="4388722"/>
            <a:ext cx="752856" cy="3413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37959" y="444358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1" name="Picture 20" descr="e03f104e5972ce9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4388722"/>
            <a:ext cx="749808" cy="34137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77240" y="512024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eb837b0c989315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307592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4203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293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patch of lawn is </a:t>
            </a:r>
          </a:p>
        </p:txBody>
      </p:sp>
      <p:pic>
        <p:nvPicPr>
          <p:cNvPr id="11" name="Picture 10" descr="6287286a7d407b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3426" y="2534793"/>
            <a:ext cx="703326" cy="3467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36752" y="2464308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  <p:pic>
        <p:nvPicPr>
          <p:cNvPr id="14" name="Picture 13" descr="6a1d74e97a46e5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8187" y="3797791"/>
            <a:ext cx="836961" cy="3093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45149" y="3734926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ft</a:t>
            </a:r>
            <a:r>
              <a:rPr sz="275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750" b="0" i="0">
                <a:solidFill>
                  <a:srgbClr val="1A1A1A"/>
                </a:solidFill>
                <a:latin typeface="Lexend"/>
              </a:rPr>
              <a:t> in a square yard</a:t>
            </a:r>
          </a:p>
        </p:txBody>
      </p:sp>
      <p:pic>
        <p:nvPicPr>
          <p:cNvPr id="16" name="Picture 15" descr="33de29ff29e259d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08187" y="4394246"/>
            <a:ext cx="1353312" cy="24993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18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ae0de4c5e07765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488376" cy="2352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22816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ed1791ada6c756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9323" y="1974151"/>
            <a:ext cx="1480947" cy="2253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027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bottle holds 16 fl oz.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747b584da7b830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488376" cy="2352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22816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97621f8b70045f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9323" y="1974151"/>
            <a:ext cx="1480947" cy="2253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027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bottle holds 16 fl oz.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pic>
        <p:nvPicPr>
          <p:cNvPr id="14" name="Picture 13" descr="83c4edb2bd6b77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8343" y="3778153"/>
            <a:ext cx="1676400" cy="256032"/>
          </a:xfrm>
          <a:prstGeom prst="rect">
            <a:avLst/>
          </a:prstGeom>
        </p:spPr>
      </p:pic>
      <p:pic>
        <p:nvPicPr>
          <p:cNvPr id="15" name="Picture 14" descr="f589dab710055d0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8343" y="4320697"/>
            <a:ext cx="2194560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0.48 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fb110fe836d86e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75103"/>
            <a:ext cx="1783080" cy="2255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1752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54132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centimeters is </a:t>
            </a:r>
          </a:p>
        </p:txBody>
      </p:sp>
      <p:pic>
        <p:nvPicPr>
          <p:cNvPr id="11" name="Picture 10" descr="ff228dc4c8df40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6" y="2532316"/>
            <a:ext cx="581977" cy="2748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92503" y="246430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2918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4" name="Picture 13" descr="14ef69fc1ef0ed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282696"/>
            <a:ext cx="947928" cy="3444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37959" y="32918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6" name="Picture 15" descr="6c5a704f658703b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285744"/>
            <a:ext cx="646176" cy="2773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91640" y="39044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8" name="Picture 17" descr="e79298326e3b3d5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568" y="3895344"/>
            <a:ext cx="1182624" cy="34442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37959" y="39044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0" name="Picture 19" descr="b951781f6010573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3898392"/>
            <a:ext cx="612648" cy="27736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5811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b9580ee1a813cb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75103"/>
            <a:ext cx="1783080" cy="2255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1752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54132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centimeters is </a:t>
            </a:r>
          </a:p>
        </p:txBody>
      </p:sp>
      <p:pic>
        <p:nvPicPr>
          <p:cNvPr id="11" name="Picture 10" descr="dc0942f76508db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6" y="2532316"/>
            <a:ext cx="581977" cy="2748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92503" y="246430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90afc689567248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6299" y="3312604"/>
            <a:ext cx="2898648" cy="3139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10,000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d7de33d50f52ca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6596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5-lb bag of flour and a 2.5-kg bag of sugar.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is heavier, and by how much?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e707e309a93366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6596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5-lb bag of flour and a 2.5-kg bag of sugar.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is heavier, and by how much?</a:t>
            </a:r>
          </a:p>
        </p:txBody>
      </p:sp>
      <p:pic>
        <p:nvPicPr>
          <p:cNvPr id="12" name="Picture 11" descr="1da7a0dd2289da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8387" y="3769009"/>
            <a:ext cx="3014472" cy="265176"/>
          </a:xfrm>
          <a:prstGeom prst="rect">
            <a:avLst/>
          </a:prstGeom>
        </p:spPr>
      </p:pic>
      <p:pic>
        <p:nvPicPr>
          <p:cNvPr id="13" name="Picture 12" descr="d2ea0731c01267c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8387" y="4320697"/>
            <a:ext cx="2145792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sugar, by 0.51 lb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0d647df019511e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3548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6992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7433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20-gal fish tank, bought for $45, is being filled.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does it hold?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118ca277248594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3548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6992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7433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20-gal fish tank, bought for $45, is being filled.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does it hold?</a:t>
            </a:r>
          </a:p>
        </p:txBody>
      </p:sp>
      <p:pic>
        <p:nvPicPr>
          <p:cNvPr id="12" name="Picture 11" descr="fd66d022f8b749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8323" y="3854750"/>
            <a:ext cx="2517648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75.7 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pic>
        <p:nvPicPr>
          <p:cNvPr id="8" name="Picture 7" descr="a7e24ba549ecbc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3768"/>
            <a:ext cx="1347216" cy="2407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81656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18152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</a:t>
            </a:r>
          </a:p>
        </p:txBody>
      </p:sp>
      <p:pic>
        <p:nvPicPr>
          <p:cNvPr id="11" name="Picture 10" descr="8f2e55c8bb5bdd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2548" y="2532316"/>
            <a:ext cx="559689" cy="2748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72237" y="2464308"/>
            <a:ext cx="614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</a:t>
            </a:r>
          </a:p>
        </p:txBody>
      </p:sp>
      <p:pic>
        <p:nvPicPr>
          <p:cNvPr id="13" name="Picture 12" descr="fb5b0e70f63b0ed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9589" y="2534793"/>
            <a:ext cx="785050" cy="27241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34639" y="2464308"/>
            <a:ext cx="1705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because </a:t>
            </a:r>
          </a:p>
        </p:txBody>
      </p:sp>
      <p:pic>
        <p:nvPicPr>
          <p:cNvPr id="15" name="Picture 14" descr="941bdd639930e1f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2794" y="2584323"/>
            <a:ext cx="1399222" cy="22288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02016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pic>
        <p:nvPicPr>
          <p:cNvPr id="8" name="Picture 7" descr="f2542c0ca55f85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3768"/>
            <a:ext cx="1347216" cy="2407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81656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18152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</a:t>
            </a:r>
          </a:p>
        </p:txBody>
      </p:sp>
      <p:pic>
        <p:nvPicPr>
          <p:cNvPr id="11" name="Picture 10" descr="7b97a516d29415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2548" y="2532316"/>
            <a:ext cx="562165" cy="2748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74714" y="2464308"/>
            <a:ext cx="614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</a:t>
            </a:r>
          </a:p>
        </p:txBody>
      </p:sp>
      <p:pic>
        <p:nvPicPr>
          <p:cNvPr id="13" name="Picture 12" descr="f7559e20e57a5dd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2065" y="2534793"/>
            <a:ext cx="787527" cy="27241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39592" y="2464308"/>
            <a:ext cx="1705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because </a:t>
            </a:r>
          </a:p>
        </p:txBody>
      </p:sp>
      <p:pic>
        <p:nvPicPr>
          <p:cNvPr id="15" name="Picture 14" descr="cf3a2a0005dd5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747" y="2584323"/>
            <a:ext cx="1404175" cy="22288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11922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pic>
        <p:nvPicPr>
          <p:cNvPr id="18" name="Picture 17" descr="a3ccc6ff8a3d38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0939" y="3799886"/>
            <a:ext cx="4849368" cy="365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She used the ratio once. A cubic foot is 12 × 12 × 12 = 1,728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, so 2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3,456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6539a90126a09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71244"/>
            <a:ext cx="1987296" cy="30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14928" y="1495044"/>
            <a:ext cx="457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kilograms is 30 lb?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2" name="Picture 11" descr="d7de33d50f52ca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65604"/>
            <a:ext cx="1965960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93592" y="2089403"/>
            <a:ext cx="43074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pounds is 25 kg?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5" name="Picture 14" descr="0d647df019511e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59963"/>
            <a:ext cx="1935480" cy="304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63112" y="2683763"/>
            <a:ext cx="3893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liters is 6 gal?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8" name="Picture 17" descr="a7e24ba549ecbc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86327"/>
            <a:ext cx="1347216" cy="24079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974848" y="3278123"/>
            <a:ext cx="43070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square inches is </a:t>
            </a:r>
          </a:p>
        </p:txBody>
      </p:sp>
      <p:pic>
        <p:nvPicPr>
          <p:cNvPr id="20" name="Picture 19" descr="fd3f0498ea874b6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4744" y="3369563"/>
            <a:ext cx="573024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17768" y="3278123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23" name="Picture 22" descr="53fb1d19ce36004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3983736"/>
            <a:ext cx="1493520" cy="2346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121152" y="3872483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25" name="Picture 24" descr="aae6846e2fca6d9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06735" y="3988307"/>
            <a:ext cx="1484376" cy="22555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391111" y="3872483"/>
            <a:ext cx="42090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liters is 24 fl oz?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28" name="Picture 27" descr="c79700df5a23d6d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27632" y="4578096"/>
            <a:ext cx="1828800" cy="23469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456432" y="4466844"/>
            <a:ext cx="4391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square meters is </a:t>
            </a:r>
          </a:p>
        </p:txBody>
      </p:sp>
      <p:pic>
        <p:nvPicPr>
          <p:cNvPr id="30" name="Picture 29" descr="aa3a1dcc642825f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10505" y="4556760"/>
            <a:ext cx="758952" cy="27736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469457" y="4466844"/>
            <a:ext cx="25337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 (Round to two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4905756"/>
            <a:ext cx="12982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places.)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5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customary and metric systems — E8Z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customary units — 4B8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metric units — HW2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