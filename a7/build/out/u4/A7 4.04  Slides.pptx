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Real-World Problems and Significant Digits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solve a real-world problem with numbers in scientific notation and report the answer with the right number of significant digits.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you multiplied and divided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numbers are measurements, each with limits.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aa1e7ea664b07d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2441448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2" name="Picture 11" descr="8ddd66cd0c0fdc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433828"/>
            <a:ext cx="3099816" cy="335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2985516"/>
            <a:ext cx="59977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Write  0.00902  in scientific notation.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598164"/>
            <a:ext cx="6461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Round  4.738  to the nearest hundredth.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aa1e7ea664b07d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2441448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8053" y="1760220"/>
            <a:ext cx="14517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1.2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3" name="Picture 12" descr="8ddd66cd0c0fdc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433828"/>
            <a:ext cx="3099816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12627" y="2372868"/>
            <a:ext cx="16371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5.89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59977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Write  0.00902  in scientific notation.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3709" y="2985516"/>
            <a:ext cx="17436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9.02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98164"/>
            <a:ext cx="6461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Round  4.738  to the nearest hundredth.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7623" y="3598164"/>
            <a:ext cx="829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4.74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Which digits are significant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5999" y="2340864"/>
          <a:ext cx="758952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188720"/>
                <a:gridCol w="43891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entury Schoolbook"/>
                        </a:rPr>
                        <a:t>Measurement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entury Schoolbook"/>
                        </a:rPr>
                        <a:t>Digits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entury Schoolbook"/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4,207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the middle zero counts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0.0058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leading zeros never count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3.200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trailing zeros count after a decimal point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52,000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no decimal point, so they do not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Multiplying or dividing: count the digits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3a738e44a54142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428" y="2340864"/>
            <a:ext cx="6074664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05746" y="3003804"/>
            <a:ext cx="8306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2 significant digits and 3, so the answer keeps 2:   </a:t>
            </a:r>
          </a:p>
        </p:txBody>
      </p:sp>
      <p:pic>
        <p:nvPicPr>
          <p:cNvPr id="12" name="Picture 11" descr="46d10cc3baed6a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5029" y="3055620"/>
            <a:ext cx="1380744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7764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Multiply or divide: the answer takes the smaller of the two significant-digit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all three lines.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Adding or subtracting: a different rule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19428082cb99c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643" y="2377440"/>
            <a:ext cx="338023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94714" y="3003804"/>
            <a:ext cx="87092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1,234 stops at the ones place;  5.6 stops at the tenths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1688" y="3689604"/>
            <a:ext cx="60785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so the sum stops at the ones place:   </a:t>
            </a:r>
          </a:p>
        </p:txBody>
      </p:sp>
      <p:pic>
        <p:nvPicPr>
          <p:cNvPr id="14" name="Picture 13" descr="4090bfd67d1032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063" y="3718560"/>
            <a:ext cx="3096768" cy="3992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4622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Add or subtract: the answer stops at the leftmost of the two last-digit places.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product of two measurements.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68" y="2080260"/>
            <a:ext cx="4175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solar array measures  </a:t>
            </a:r>
          </a:p>
        </p:txBody>
      </p:sp>
      <p:pic>
        <p:nvPicPr>
          <p:cNvPr id="10" name="Picture 9" descr="7ad9bfb61548f8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447" y="2135124"/>
            <a:ext cx="1594104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41551" y="2080260"/>
            <a:ext cx="13817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by  </a:t>
            </a:r>
          </a:p>
        </p:txBody>
      </p:sp>
      <p:pic>
        <p:nvPicPr>
          <p:cNvPr id="12" name="Picture 11" descr="82188a05fd74b5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108" y="2133599"/>
            <a:ext cx="1389888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996" y="2080260"/>
            <a:ext cx="813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346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What is its area?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5661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Give the answer to the correct number of significant digits.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8831760cab574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151120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37120" y="1895856"/>
            <a:ext cx="3947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in full</a:t>
            </a:r>
          </a:p>
        </p:txBody>
      </p:sp>
      <p:pic>
        <p:nvPicPr>
          <p:cNvPr id="11" name="Picture 10" descr="30f7ea4290ce65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2992"/>
            <a:ext cx="5010912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96912" y="2557272"/>
            <a:ext cx="408736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answer keeps 2</a:t>
            </a:r>
          </a:p>
        </p:txBody>
      </p:sp>
      <p:pic>
        <p:nvPicPr>
          <p:cNvPr id="13" name="Picture 12" descr="ae705d3f714a20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43072"/>
            <a:ext cx="45171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03136" y="3215640"/>
            <a:ext cx="458114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round once, at the 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4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square meters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8695" y="2186940"/>
            <a:ext cx="31014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field measures  </a:t>
            </a:r>
          </a:p>
        </p:txBody>
      </p:sp>
      <p:pic>
        <p:nvPicPr>
          <p:cNvPr id="10" name="Picture 9" descr="d18dbc9ddd0d98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969" y="2194560"/>
            <a:ext cx="1786128" cy="44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79097" y="2186940"/>
            <a:ext cx="13817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by  </a:t>
            </a:r>
          </a:p>
        </p:txBody>
      </p:sp>
      <p:pic>
        <p:nvPicPr>
          <p:cNvPr id="12" name="Picture 11" descr="e2afadd128af9c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653" y="2194560"/>
            <a:ext cx="2033015" cy="441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56669" y="2186940"/>
            <a:ext cx="813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56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What is its area?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7171" y="2185415"/>
            <a:ext cx="31014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field measures  </a:t>
            </a:r>
          </a:p>
        </p:txBody>
      </p:sp>
      <p:pic>
        <p:nvPicPr>
          <p:cNvPr id="10" name="Picture 9" descr="2ea2d2cafb1884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445" y="2194560"/>
            <a:ext cx="1789176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80621" y="2185415"/>
            <a:ext cx="13817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by  </a:t>
            </a:r>
          </a:p>
        </p:txBody>
      </p:sp>
      <p:pic>
        <p:nvPicPr>
          <p:cNvPr id="12" name="Picture 11" descr="798bb70a13d738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177" y="2194560"/>
            <a:ext cx="2033015" cy="438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58193" y="2185415"/>
            <a:ext cx="813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535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What is its area?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9261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108,100, kept to two significant digits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square meters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difference of two measurements.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3513" y="2080260"/>
            <a:ext cx="32456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container holds  </a:t>
            </a:r>
          </a:p>
        </p:txBody>
      </p:sp>
      <p:pic>
        <p:nvPicPr>
          <p:cNvPr id="10" name="Picture 9" descr="2cd8b9426e7270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977" y="2133599"/>
            <a:ext cx="1804416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86393" y="2080260"/>
            <a:ext cx="34387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cubic feet of liquid.</a:t>
            </a:r>
          </a:p>
        </p:txBody>
      </p:sp>
      <p:pic>
        <p:nvPicPr>
          <p:cNvPr id="12" name="Picture 11" descr="96c6bbe36750af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029" y="2863596"/>
            <a:ext cx="2008632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25661" y="2811780"/>
            <a:ext cx="38559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cubic feet evaporates.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How much is left? Give the answer with the correct precision.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799fbcd94df551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946648" cy="289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32648" y="1836420"/>
            <a:ext cx="315163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subtract in full</a:t>
            </a:r>
          </a:p>
        </p:txBody>
      </p:sp>
      <p:pic>
        <p:nvPicPr>
          <p:cNvPr id="11" name="Picture 10" descr="22b44a67be12e9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84120"/>
            <a:ext cx="3867912" cy="4297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53912" y="2470404"/>
            <a:ext cx="523036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leftmost last-digit place</a:t>
            </a:r>
          </a:p>
        </p:txBody>
      </p:sp>
      <p:pic>
        <p:nvPicPr>
          <p:cNvPr id="13" name="Picture 12" descr="4629515b15c2b4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88207"/>
            <a:ext cx="5955792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41792" y="3134868"/>
            <a:ext cx="314248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round there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3.06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cubic feet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8002" y="2183892"/>
            <a:ext cx="18504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road is  </a:t>
            </a:r>
          </a:p>
        </p:txBody>
      </p:sp>
      <p:pic>
        <p:nvPicPr>
          <p:cNvPr id="10" name="Picture 9" descr="6fe96bec245088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310" y="2194560"/>
            <a:ext cx="2011680" cy="435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2990" y="2183892"/>
            <a:ext cx="15976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3365" y="2942844"/>
            <a:ext cx="18826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section  </a:t>
            </a:r>
          </a:p>
        </p:txBody>
      </p:sp>
      <p:pic>
        <p:nvPicPr>
          <p:cNvPr id="13" name="Picture 12" descr="e7c28ca8c59a9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55" y="2950464"/>
            <a:ext cx="2033015" cy="44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71871" y="2942844"/>
            <a:ext cx="3333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long is repaved.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1246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How much of the road is not repaved?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8002" y="2183892"/>
            <a:ext cx="18504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road is  </a:t>
            </a:r>
          </a:p>
        </p:txBody>
      </p:sp>
      <p:pic>
        <p:nvPicPr>
          <p:cNvPr id="10" name="Picture 9" descr="8579fbd842756a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310" y="2194560"/>
            <a:ext cx="2011680" cy="435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2990" y="2183892"/>
            <a:ext cx="15976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3365" y="2941320"/>
            <a:ext cx="18826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section  </a:t>
            </a:r>
          </a:p>
        </p:txBody>
      </p:sp>
      <p:pic>
        <p:nvPicPr>
          <p:cNvPr id="13" name="Picture 12" descr="522cffef3ffba4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55" y="2950464"/>
            <a:ext cx="2033015" cy="4389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71871" y="2941320"/>
            <a:ext cx="3333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long is repaved.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0941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How much of the road is not repaved?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4851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3,576, stopped at the tens place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7049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3.58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significant digits are in  0.00470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Leading zeros, then trailing zeros.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significant digits are in  0.00470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237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4, 7 and the last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43524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pond's surface measures  </a:t>
            </a:r>
          </a:p>
        </p:txBody>
      </p:sp>
      <p:pic>
        <p:nvPicPr>
          <p:cNvPr id="10" name="Picture 9" descr="69f46df5ecb064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681" y="1938527"/>
            <a:ext cx="1127760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7441" y="1851660"/>
            <a:ext cx="12916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 by  </a:t>
            </a:r>
          </a:p>
        </p:txBody>
      </p:sp>
      <p:pic>
        <p:nvPicPr>
          <p:cNvPr id="12" name="Picture 11" descr="dd823fb368db84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917" y="1937003"/>
            <a:ext cx="1127760" cy="2865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59677" y="1851660"/>
            <a:ext cx="7669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pond is 3 meters deep.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2626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Find the surface area. Round to the correct number of significant digits.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43524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pond's surface measures  </a:t>
            </a:r>
          </a:p>
        </p:txBody>
      </p:sp>
      <p:pic>
        <p:nvPicPr>
          <p:cNvPr id="10" name="Picture 9" descr="877de329d13d7e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681" y="1938527"/>
            <a:ext cx="1127760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7441" y="1851660"/>
            <a:ext cx="12916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 by  </a:t>
            </a:r>
          </a:p>
        </p:txBody>
      </p:sp>
      <p:pic>
        <p:nvPicPr>
          <p:cNvPr id="12" name="Picture 11" descr="98384e6b1ba121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917" y="1938527"/>
            <a:ext cx="1130808" cy="283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62725" y="1851660"/>
            <a:ext cx="7669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pond is 3 meters deep.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2626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Find the surface area. Round to the correct number of significant digits.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8617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11,900, kept to two digits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17695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4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square meters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Two measurements are multiplied. One has 3 significant digits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1793" y="2692908"/>
            <a:ext cx="69977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the other has 5. The exact product is  </a:t>
            </a:r>
          </a:p>
        </p:txBody>
      </p:sp>
      <p:pic>
        <p:nvPicPr>
          <p:cNvPr id="11" name="Picture 10" descr="f1f759a641dda9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370" y="2744724"/>
            <a:ext cx="2026920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439290" y="2692908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015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should the answer be written?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count wins?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Two measurements are multiplied. One has 3 significant digits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1793" y="2601468"/>
            <a:ext cx="69977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the other has 5. The exact product is  </a:t>
            </a:r>
          </a:p>
        </p:txBody>
      </p:sp>
      <p:pic>
        <p:nvPicPr>
          <p:cNvPr id="11" name="Picture 10" descr="b1203184ca7f2d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370" y="2653284"/>
            <a:ext cx="2026920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439290" y="2601468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101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should the answer be written?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3072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smaller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7.41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3f644ac48482c8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302" y="2194560"/>
            <a:ext cx="4020312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09614" y="2171700"/>
            <a:ext cx="42997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meters, both measured.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sum with the correct precision.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Where does each one's last digit sit?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da2ed7f30b8d3f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778" y="2104643"/>
            <a:ext cx="4023360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11138" y="2080260"/>
            <a:ext cx="42997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meters, both measured.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sum with the correct precision.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095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2,500 stops at the hundreds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3.0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significant digits are in  0.03080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significant digits are in  0.03080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3414" y="2171700"/>
            <a:ext cx="3903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rectangle measures  </a:t>
            </a:r>
          </a:p>
        </p:txBody>
      </p:sp>
      <p:pic>
        <p:nvPicPr>
          <p:cNvPr id="10" name="Picture 9" descr="64bbdc30301628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466" y="2226564"/>
            <a:ext cx="1423416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42882" y="2171700"/>
            <a:ext cx="15371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cm by  </a:t>
            </a:r>
          </a:p>
        </p:txBody>
      </p:sp>
      <p:pic>
        <p:nvPicPr>
          <p:cNvPr id="12" name="Picture 11" descr="feb742ea3ba69b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830" y="2226564"/>
            <a:ext cx="1633728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76558" y="2171700"/>
            <a:ext cx="9687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area, to the correct significant digits?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26.1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2.6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2.6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2.61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1890" y="2080260"/>
            <a:ext cx="3903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rectangle measures  </a:t>
            </a:r>
          </a:p>
        </p:txBody>
      </p:sp>
      <p:pic>
        <p:nvPicPr>
          <p:cNvPr id="10" name="Picture 9" descr="2040ebaec58d50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942" y="2135124"/>
            <a:ext cx="1426464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44406" y="2080260"/>
            <a:ext cx="15371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cm by  </a:t>
            </a:r>
          </a:p>
        </p:txBody>
      </p:sp>
      <p:pic>
        <p:nvPicPr>
          <p:cNvPr id="12" name="Picture 11" descr="7f74096cc598f7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354" y="2135124"/>
            <a:ext cx="1633728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78082" y="2080260"/>
            <a:ext cx="9687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area, to the correct significant digits?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26.1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2.6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 cm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2.6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2.61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2.6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cm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3822" y="2171700"/>
            <a:ext cx="24563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car travels  </a:t>
            </a:r>
          </a:p>
        </p:txBody>
      </p:sp>
      <p:pic>
        <p:nvPicPr>
          <p:cNvPr id="10" name="Picture 9" descr="a0c3ce9052e643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972" y="2226564"/>
            <a:ext cx="1633728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06700" y="2171700"/>
            <a:ext cx="32381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km in  3.0  hours.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What is its average speed, to the right number of significant digits?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Count both measurements.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3822" y="2080260"/>
            <a:ext cx="24563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car travels  </a:t>
            </a:r>
          </a:p>
        </p:txBody>
      </p:sp>
      <p:pic>
        <p:nvPicPr>
          <p:cNvPr id="10" name="Picture 9" descr="cb8dbdba9896eb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972" y="2135124"/>
            <a:ext cx="1633728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06700" y="2080260"/>
            <a:ext cx="32381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km in  3.0  hours.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What is its average speed, to the right number of significant digits?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35584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140 exactly, kept to two digits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1.4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km/h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measured length times a measured width gives an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7016" y="2746579"/>
            <a:ext cx="6964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of  </a:t>
            </a:r>
          </a:p>
        </p:txBody>
      </p:sp>
      <p:pic>
        <p:nvPicPr>
          <p:cNvPr id="11" name="Picture 10" descr="56b3c95944d229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273" y="2799919"/>
            <a:ext cx="1408176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64449" y="2746579"/>
            <a:ext cx="46620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</a:t>
            </a:r>
            <a:r>
              <a:rPr sz="26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600" b="0" i="0">
                <a:solidFill>
                  <a:srgbClr val="1A1A1A"/>
                </a:solidFill>
                <a:latin typeface="Century Schoolbook"/>
              </a:rPr>
              <a:t>. The length measured  </a:t>
            </a:r>
          </a:p>
        </p:txBody>
      </p:sp>
      <p:pic>
        <p:nvPicPr>
          <p:cNvPr id="13" name="Picture 12" descr="05f1b129363955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316" y="2799919"/>
            <a:ext cx="1399032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88348" y="2746579"/>
            <a:ext cx="813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What did the width measure, to two significant digits?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Divide, then count.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measured length times a measured width gives an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5492" y="2655139"/>
            <a:ext cx="6964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of  </a:t>
            </a:r>
          </a:p>
        </p:txBody>
      </p:sp>
      <p:pic>
        <p:nvPicPr>
          <p:cNvPr id="11" name="Picture 10" descr="7257295b37188a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749" y="2708479"/>
            <a:ext cx="1411224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65973" y="2655139"/>
            <a:ext cx="46620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</a:t>
            </a:r>
            <a:r>
              <a:rPr sz="26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600" b="0" i="0">
                <a:solidFill>
                  <a:srgbClr val="1A1A1A"/>
                </a:solidFill>
                <a:latin typeface="Century Schoolbook"/>
              </a:rPr>
              <a:t>. The length measured  </a:t>
            </a:r>
          </a:p>
        </p:txBody>
      </p:sp>
      <p:pic>
        <p:nvPicPr>
          <p:cNvPr id="13" name="Picture 12" descr="94cb33e082284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840" y="2708479"/>
            <a:ext cx="1399032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89872" y="2655139"/>
            <a:ext cx="813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What did the width measure, to two significant digits?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843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3,600 ÷ 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159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4.0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Ellis says: 1,234 has 4 significant digits and 5.6 has 2,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5728" y="2746579"/>
            <a:ext cx="21468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so the sum  </a:t>
            </a:r>
          </a:p>
        </p:txBody>
      </p:sp>
      <p:pic>
        <p:nvPicPr>
          <p:cNvPr id="11" name="Picture 10" descr="705d48a90c77f2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462" y="2806015"/>
            <a:ext cx="176479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60254" y="2746579"/>
            <a:ext cx="4401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must be written with 2:  </a:t>
            </a:r>
          </a:p>
        </p:txBody>
      </p:sp>
      <p:pic>
        <p:nvPicPr>
          <p:cNvPr id="13" name="Picture 12" descr="1a57ee4fc40528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611" y="2799919"/>
            <a:ext cx="1380744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705355" y="2746579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he is wrong, and give the correct sum.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rule is for which operation?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Ellis says: 1,234 has 4 significant digits and 5.6 has 2,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5728" y="2655139"/>
            <a:ext cx="21468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so the sum  </a:t>
            </a:r>
          </a:p>
        </p:txBody>
      </p:sp>
      <p:pic>
        <p:nvPicPr>
          <p:cNvPr id="11" name="Picture 10" descr="a825a716d0b1ce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462" y="2714575"/>
            <a:ext cx="176479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60254" y="2655139"/>
            <a:ext cx="4401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must be written with 2:  </a:t>
            </a:r>
          </a:p>
        </p:txBody>
      </p:sp>
      <p:pic>
        <p:nvPicPr>
          <p:cNvPr id="13" name="Picture 12" descr="1d3c8ee25f946d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611" y="2708479"/>
            <a:ext cx="1380744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705355" y="2655139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he is wrong, and give the correct sum.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843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products count digits; sums count places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159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1,240 = 1.240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Add, subtract, multiply, and divide numbers written in scientific notation: word problems — D5S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