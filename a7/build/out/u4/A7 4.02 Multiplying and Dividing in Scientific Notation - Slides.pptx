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2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image" Target="../media/image4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Relationship Id="rId3" Type="http://schemas.openxmlformats.org/officeDocument/2006/relationships/image" Target="../media/image4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Relationship Id="rId3" Type="http://schemas.openxmlformats.org/officeDocument/2006/relationships/image" Target="../media/image44.png"/><Relationship Id="rId4" Type="http://schemas.openxmlformats.org/officeDocument/2006/relationships/image" Target="../media/image45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Relationship Id="rId3" Type="http://schemas.openxmlformats.org/officeDocument/2006/relationships/image" Target="../media/image47.png"/><Relationship Id="rId4" Type="http://schemas.openxmlformats.org/officeDocument/2006/relationships/image" Target="../media/image48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Relationship Id="rId3" Type="http://schemas.openxmlformats.org/officeDocument/2006/relationships/image" Target="../media/image50.png"/><Relationship Id="rId4" Type="http://schemas.openxmlformats.org/officeDocument/2006/relationships/image" Target="../media/image51.png"/><Relationship Id="rId5" Type="http://schemas.openxmlformats.org/officeDocument/2006/relationships/image" Target="../media/image52.png"/><Relationship Id="rId6" Type="http://schemas.openxmlformats.org/officeDocument/2006/relationships/image" Target="../media/image53.png"/><Relationship Id="rId7" Type="http://schemas.openxmlformats.org/officeDocument/2006/relationships/image" Target="../media/image54.png"/><Relationship Id="rId8" Type="http://schemas.openxmlformats.org/officeDocument/2006/relationships/image" Target="../media/image55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0" i="0">
                <a:solidFill>
                  <a:srgbClr val="6B6B6B"/>
                </a:solidFill>
                <a:latin typeface="Century Schoolbook"/>
              </a:rPr>
              <a:t>GRADE 7 ACCELERATED  ·  UNIT 4  ·  LESSONS 2–3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400" b="1" i="0">
                <a:solidFill>
                  <a:srgbClr val="1A1A1A"/>
                </a:solidFill>
                <a:latin typeface="Century Schoolbook"/>
              </a:rPr>
              <a:t>Multiplying and Dividing in Scientific Notation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1" i="0">
                <a:solidFill>
                  <a:srgbClr val="1A1A1A"/>
                </a:solidFill>
                <a:latin typeface="Century Schoolbook"/>
              </a:rPr>
              <a:t>MA.8.NSO.1.5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1A1A1A"/>
                </a:solidFill>
                <a:latin typeface="Century Schoolbook"/>
              </a:rPr>
              <a:t>I can multiply and divide two numbers written in scientific notation, and write the answer in scientific notation.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7206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</a:t>
            </a:r>
          </a:p>
        </p:txBody>
      </p:sp>
      <p:pic>
        <p:nvPicPr>
          <p:cNvPr id="9" name="Picture 8" descr="7655f1be3ef338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7965" y="1501140"/>
            <a:ext cx="3099816" cy="335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74519" y="2180844"/>
            <a:ext cx="37048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Write as one power:  </a:t>
            </a:r>
          </a:p>
        </p:txBody>
      </p:sp>
      <p:pic>
        <p:nvPicPr>
          <p:cNvPr id="11" name="Picture 10" descr="911d175e6834769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2165" y="2075688"/>
            <a:ext cx="469392" cy="66751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74519" y="2921508"/>
            <a:ext cx="30649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Find the value:  </a:t>
            </a:r>
          </a:p>
        </p:txBody>
      </p:sp>
      <p:pic>
        <p:nvPicPr>
          <p:cNvPr id="13" name="Picture 12" descr="d68e6e8f02f1f5e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2299" y="2945892"/>
            <a:ext cx="853440" cy="40843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874519" y="3610356"/>
            <a:ext cx="347421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Find the quotient:  </a:t>
            </a:r>
          </a:p>
        </p:txBody>
      </p:sp>
      <p:pic>
        <p:nvPicPr>
          <p:cNvPr id="15" name="Picture 14" descr="57c14efe4619570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11575" y="3557016"/>
            <a:ext cx="417576" cy="56388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7206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</a:t>
            </a:r>
          </a:p>
        </p:txBody>
      </p:sp>
      <p:pic>
        <p:nvPicPr>
          <p:cNvPr id="9" name="Picture 8" descr="7655f1be3ef338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7965" y="1501140"/>
            <a:ext cx="3099816" cy="335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106421" y="1440180"/>
            <a:ext cx="145943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6.2 × 10</a:t>
            </a:r>
            <a:r>
              <a:rPr sz="23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180844"/>
            <a:ext cx="37048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Write as one power:  </a:t>
            </a:r>
          </a:p>
        </p:txBody>
      </p:sp>
      <p:pic>
        <p:nvPicPr>
          <p:cNvPr id="12" name="Picture 11" descr="911d175e6834769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2165" y="2075688"/>
            <a:ext cx="469392" cy="66751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460197" y="2052828"/>
            <a:ext cx="65250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10</a:t>
            </a:r>
            <a:r>
              <a:rPr sz="2300" b="1" i="0" baseline="30000">
                <a:solidFill>
                  <a:srgbClr val="9E1B32"/>
                </a:solidFill>
                <a:latin typeface="Century Schoolbook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921508"/>
            <a:ext cx="30649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Find the value:  </a:t>
            </a:r>
          </a:p>
        </p:txBody>
      </p:sp>
      <p:pic>
        <p:nvPicPr>
          <p:cNvPr id="15" name="Picture 14" descr="d68e6e8f02f1f5e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2299" y="2945892"/>
            <a:ext cx="853440" cy="40843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204379" y="2921508"/>
            <a:ext cx="56579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13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19" y="3610356"/>
            <a:ext cx="347421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Find the quotient:  </a:t>
            </a:r>
          </a:p>
        </p:txBody>
      </p:sp>
      <p:pic>
        <p:nvPicPr>
          <p:cNvPr id="18" name="Picture 17" descr="57c14efe4619570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11575" y="3557016"/>
            <a:ext cx="417576" cy="5638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177791" y="3534156"/>
            <a:ext cx="3880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I.  Multiplying: regroup, then use the laws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3d98347d24a5e79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4683" y="1993392"/>
            <a:ext cx="7312152" cy="411480"/>
          </a:xfrm>
          <a:prstGeom prst="rect">
            <a:avLst/>
          </a:prstGeom>
        </p:spPr>
      </p:pic>
      <p:pic>
        <p:nvPicPr>
          <p:cNvPr id="11" name="Picture 10" descr="cac393ebd07bcf1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1941" y="2711196"/>
            <a:ext cx="1115568" cy="34747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087509" y="2656332"/>
            <a:ext cx="197735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,    never    </a:t>
            </a:r>
          </a:p>
        </p:txBody>
      </p:sp>
      <p:pic>
        <p:nvPicPr>
          <p:cNvPr id="13" name="Picture 12" descr="d56fc73065e54a0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27706" y="2709672"/>
            <a:ext cx="1261872" cy="3505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7552" y="3429000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Multiply the coefficients. Add the exponents — that is the product of powers law, not a new rule.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II.  Dividing: the same move with the quotient law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1a3a168722c51cc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04616" y="1993392"/>
            <a:ext cx="5352288" cy="819912"/>
          </a:xfrm>
          <a:prstGeom prst="rect">
            <a:avLst/>
          </a:prstGeom>
        </p:spPr>
      </p:pic>
      <p:pic>
        <p:nvPicPr>
          <p:cNvPr id="11" name="Picture 10" descr="a2db9260e265919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8040" y="3087624"/>
            <a:ext cx="5425440" cy="8229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87552" y="4248912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Divide the coefficients. Subtract the exponents, top minus bottom.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III.  Finish the answer — both directions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0c79c2afc3e4714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5788" y="1993392"/>
            <a:ext cx="6409944" cy="411480"/>
          </a:xfrm>
          <a:prstGeom prst="rect">
            <a:avLst/>
          </a:prstGeom>
        </p:spPr>
      </p:pic>
      <p:pic>
        <p:nvPicPr>
          <p:cNvPr id="11" name="Picture 10" descr="6e3a2fa74bbe542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19044" y="2679192"/>
            <a:ext cx="6123432" cy="8229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87552" y="3840480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Every answer ends with a coefficient at least 1 and less than 10.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7</a:t>
            </a:r>
          </a:p>
        </p:txBody>
      </p:sp>
      <p:pic>
        <p:nvPicPr>
          <p:cNvPr id="8" name="Picture 7" descr="7b4ae14dd869224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25696" y="2103120"/>
            <a:ext cx="3310128" cy="411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01752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Multiply. Write the answer in scientific notation.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8</a:t>
            </a:r>
          </a:p>
        </p:txBody>
      </p:sp>
      <p:pic>
        <p:nvPicPr>
          <p:cNvPr id="8" name="Picture 7" descr="255f5ba7a254ef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6769608" cy="408432"/>
          </a:xfrm>
          <a:prstGeom prst="rect">
            <a:avLst/>
          </a:prstGeom>
        </p:spPr>
      </p:pic>
      <p:pic>
        <p:nvPicPr>
          <p:cNvPr id="9" name="Picture 8" descr="6f84424baa8324f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602992"/>
            <a:ext cx="1652016" cy="353568"/>
          </a:xfrm>
          <a:prstGeom prst="rect">
            <a:avLst/>
          </a:prstGeom>
        </p:spPr>
      </p:pic>
      <p:pic>
        <p:nvPicPr>
          <p:cNvPr id="10" name="Picture 9" descr="faf479a8541eeb6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230880"/>
            <a:ext cx="3166872" cy="3535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2.7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9</a:t>
            </a:r>
          </a:p>
        </p:txBody>
      </p:sp>
      <p:pic>
        <p:nvPicPr>
          <p:cNvPr id="8" name="Picture 7" descr="945d13953f7af1b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12691" y="2194560"/>
            <a:ext cx="4136136" cy="5181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21564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Multiply. Write the answer in scientific notation.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10</a:t>
            </a:r>
          </a:p>
        </p:txBody>
      </p:sp>
      <p:pic>
        <p:nvPicPr>
          <p:cNvPr id="8" name="Picture 7" descr="02a20b9238011d7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11168" y="2194560"/>
            <a:ext cx="4139183" cy="52120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21868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Multiply. Write the answer in scientific notation.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2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11</a:t>
            </a:r>
          </a:p>
        </p:txBody>
      </p:sp>
      <p:pic>
        <p:nvPicPr>
          <p:cNvPr id="8" name="Picture 7" descr="d048c7fc436d66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1896" y="2103120"/>
            <a:ext cx="3157728" cy="88696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49300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Evaluate. Write the answer in scientific notation.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12</a:t>
            </a:r>
          </a:p>
        </p:txBody>
      </p:sp>
      <p:pic>
        <p:nvPicPr>
          <p:cNvPr id="8" name="Picture 7" descr="6b3f0849106cd4b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4861560" cy="411480"/>
          </a:xfrm>
          <a:prstGeom prst="rect">
            <a:avLst/>
          </a:prstGeom>
        </p:spPr>
      </p:pic>
      <p:pic>
        <p:nvPicPr>
          <p:cNvPr id="9" name="Picture 8" descr="1c6ad9425b8dfd7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606040"/>
            <a:ext cx="3139440" cy="826008"/>
          </a:xfrm>
          <a:prstGeom prst="rect">
            <a:avLst/>
          </a:prstGeom>
        </p:spPr>
      </p:pic>
      <p:pic>
        <p:nvPicPr>
          <p:cNvPr id="10" name="Picture 9" descr="6aefb1689d23fb3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706368"/>
            <a:ext cx="3133344" cy="3535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1.2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13</a:t>
            </a:r>
          </a:p>
        </p:txBody>
      </p:sp>
      <p:pic>
        <p:nvPicPr>
          <p:cNvPr id="8" name="Picture 7" descr="d9eedbeb2084bf5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7284" y="2194560"/>
            <a:ext cx="3806952" cy="110947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80695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Evaluate. Write the answer in scientific notation.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14</a:t>
            </a:r>
          </a:p>
        </p:txBody>
      </p:sp>
      <p:pic>
        <p:nvPicPr>
          <p:cNvPr id="8" name="Picture 7" descr="914658bc6d4d66f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8807" y="2194560"/>
            <a:ext cx="3803904" cy="110947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80695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Evaluate. Write the answer in scientific notation.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3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15</a:t>
            </a:r>
          </a:p>
        </p:txBody>
      </p:sp>
      <p:pic>
        <p:nvPicPr>
          <p:cNvPr id="8" name="Picture 7" descr="a47a82f506d1e53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5632" y="2194560"/>
            <a:ext cx="2810256" cy="4145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16</a:t>
            </a:r>
          </a:p>
        </p:txBody>
      </p:sp>
      <p:pic>
        <p:nvPicPr>
          <p:cNvPr id="8" name="Picture 7" descr="31fb752d70c6278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4108" y="2103120"/>
            <a:ext cx="2813304" cy="411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6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282472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A printer makes  </a:t>
            </a:r>
          </a:p>
        </p:txBody>
      </p:sp>
      <p:pic>
        <p:nvPicPr>
          <p:cNvPr id="9" name="Picture 8" descr="813d8c543037484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22007" y="1938527"/>
            <a:ext cx="902208" cy="2834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824215" y="1851660"/>
            <a:ext cx="272881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copies per hour.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64308"/>
            <a:ext cx="19272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It runs for  </a:t>
            </a:r>
          </a:p>
        </p:txBody>
      </p:sp>
      <p:pic>
        <p:nvPicPr>
          <p:cNvPr id="12" name="Picture 11" descr="39bd69d20e0cfe6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24522" y="2551176"/>
            <a:ext cx="1155192" cy="28346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179714" y="2464308"/>
            <a:ext cx="54883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hours. Paper costs 3 cents a sheet.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How many copies does it make?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282472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A printer makes  </a:t>
            </a:r>
          </a:p>
        </p:txBody>
      </p:sp>
      <p:pic>
        <p:nvPicPr>
          <p:cNvPr id="9" name="Picture 8" descr="00df9fb5b7ec9fd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22007" y="1938527"/>
            <a:ext cx="905256" cy="2834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827263" y="1851660"/>
            <a:ext cx="272881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copies per hour.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64308"/>
            <a:ext cx="19272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It runs for  </a:t>
            </a:r>
          </a:p>
        </p:txBody>
      </p:sp>
      <p:pic>
        <p:nvPicPr>
          <p:cNvPr id="12" name="Picture 11" descr="a80742e4b94b4b6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24522" y="2551176"/>
            <a:ext cx="1155192" cy="28346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179714" y="2464308"/>
            <a:ext cx="54883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hours. Paper costs 3 cents a sheet.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How many copies does it make?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19</a:t>
            </a:r>
          </a:p>
        </p:txBody>
      </p:sp>
      <p:pic>
        <p:nvPicPr>
          <p:cNvPr id="8" name="Picture 7" descr="f43a30d4653d07e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9240" y="2194560"/>
            <a:ext cx="1463040" cy="8229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20</a:t>
            </a:r>
          </a:p>
        </p:txBody>
      </p:sp>
      <p:pic>
        <p:nvPicPr>
          <p:cNvPr id="8" name="Picture 7" descr="f69d270b84b836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0764" y="2103120"/>
            <a:ext cx="1459992" cy="8229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8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21</a:t>
            </a:r>
          </a:p>
        </p:txBody>
      </p:sp>
      <p:pic>
        <p:nvPicPr>
          <p:cNvPr id="8" name="Picture 7" descr="854a4a598c6527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77028" y="2194560"/>
            <a:ext cx="1807464" cy="82600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22</a:t>
            </a:r>
          </a:p>
        </p:txBody>
      </p:sp>
      <p:pic>
        <p:nvPicPr>
          <p:cNvPr id="8" name="Picture 7" descr="8bc77f296de0cf4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78552" y="2103120"/>
            <a:ext cx="1804416" cy="8229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5.3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23</a:t>
            </a:r>
          </a:p>
        </p:txBody>
      </p:sp>
      <p:pic>
        <p:nvPicPr>
          <p:cNvPr id="8" name="Picture 7" descr="c0f8266fbc7965d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5632" y="2194560"/>
            <a:ext cx="2810256" cy="4145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88340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product?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54972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6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-1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54972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6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23552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6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23552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5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241367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24</a:t>
            </a:r>
          </a:p>
        </p:txBody>
      </p:sp>
      <p:pic>
        <p:nvPicPr>
          <p:cNvPr id="8" name="Picture 7" descr="64c6147c2ce0e22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4108" y="2103120"/>
            <a:ext cx="2813304" cy="411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7889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product?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4552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6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-1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4552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6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1410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C.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6 × 10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1410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5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146879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C — 6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9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25</a:t>
            </a:r>
          </a:p>
        </p:txBody>
      </p:sp>
      <p:pic>
        <p:nvPicPr>
          <p:cNvPr id="8" name="Picture 7" descr="f125fe26b9d135b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5632" y="2194560"/>
            <a:ext cx="2810256" cy="4145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88340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product, written in scientific notation?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54972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54972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20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23552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20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18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23552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241367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26</a:t>
            </a:r>
          </a:p>
        </p:txBody>
      </p:sp>
      <p:pic>
        <p:nvPicPr>
          <p:cNvPr id="8" name="Picture 7" descr="ffd33f95921b244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4108" y="2103120"/>
            <a:ext cx="2813304" cy="411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7889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product, written in scientific notation?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4552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4552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20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1410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20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18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1410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D.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2 × 10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146879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D — 2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10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27</a:t>
            </a:r>
          </a:p>
        </p:txBody>
      </p:sp>
      <p:pic>
        <p:nvPicPr>
          <p:cNvPr id="8" name="Picture 7" descr="e525d712acf4b16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4103" y="2194560"/>
            <a:ext cx="1353312" cy="82600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28</a:t>
            </a:r>
          </a:p>
        </p:txBody>
      </p:sp>
      <p:pic>
        <p:nvPicPr>
          <p:cNvPr id="8" name="Picture 7" descr="dd4e224a7fe9f3b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7152" y="2103120"/>
            <a:ext cx="1347216" cy="8229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12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29</a:t>
            </a:r>
          </a:p>
        </p:txBody>
      </p:sp>
      <p:pic>
        <p:nvPicPr>
          <p:cNvPr id="8" name="Picture 7" descr="cf1acb8271e6df8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6551" y="2194560"/>
            <a:ext cx="3328416" cy="81991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117100" y="3265931"/>
            <a:ext cx="35466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What is the value of </a:t>
            </a:r>
          </a:p>
        </p:txBody>
      </p:sp>
      <p:pic>
        <p:nvPicPr>
          <p:cNvPr id="10" name="Picture 9" descr="ce9b607ea85ce74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6567" y="3403091"/>
            <a:ext cx="192024" cy="1828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18591" y="3265931"/>
            <a:ext cx="4629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30</a:t>
            </a:r>
          </a:p>
        </p:txBody>
      </p:sp>
      <p:pic>
        <p:nvPicPr>
          <p:cNvPr id="8" name="Picture 7" descr="49829e386e3352b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5028" y="2103120"/>
            <a:ext cx="3331464" cy="81686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117100" y="3171444"/>
            <a:ext cx="35466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What is the value of </a:t>
            </a:r>
          </a:p>
        </p:txBody>
      </p:sp>
      <p:pic>
        <p:nvPicPr>
          <p:cNvPr id="10" name="Picture 9" descr="ce9b607ea85ce74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6567" y="3308604"/>
            <a:ext cx="192024" cy="1828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18591" y="3171444"/>
            <a:ext cx="4629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n = 2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38140" y="2378964"/>
            <a:ext cx="95477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For  </a:t>
            </a:r>
          </a:p>
        </p:txBody>
      </p:sp>
      <p:pic>
        <p:nvPicPr>
          <p:cNvPr id="9" name="Picture 8" descr="497afcee60275d6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5751" y="2194560"/>
            <a:ext cx="1463040" cy="82600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18791" y="2378964"/>
            <a:ext cx="29213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Marcus writes  </a:t>
            </a:r>
          </a:p>
        </p:txBody>
      </p:sp>
      <p:pic>
        <p:nvPicPr>
          <p:cNvPr id="11" name="Picture 10" descr="a61c108a2c4f32a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03011" y="2430780"/>
            <a:ext cx="1420368" cy="3535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034964" y="3272028"/>
            <a:ext cx="29851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and Sara writes  </a:t>
            </a:r>
          </a:p>
        </p:txBody>
      </p:sp>
      <p:pic>
        <p:nvPicPr>
          <p:cNvPr id="13" name="Picture 12" descr="5029bb2e4362f29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2971" y="3325367"/>
            <a:ext cx="1243584" cy="3505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3980687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300" b="0" i="0">
                <a:solidFill>
                  <a:srgbClr val="1A1A1A"/>
                </a:solidFill>
                <a:latin typeface="Century Schoolbook"/>
              </a:rPr>
              <a:t>Name what each one did wrong, and give the correct quotient.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639056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39664" y="2284475"/>
            <a:ext cx="95477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For  </a:t>
            </a:r>
          </a:p>
        </p:txBody>
      </p:sp>
      <p:pic>
        <p:nvPicPr>
          <p:cNvPr id="9" name="Picture 8" descr="11453e40830bd3a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275" y="2103120"/>
            <a:ext cx="1459992" cy="8199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17267" y="2284475"/>
            <a:ext cx="29213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Marcus writes  </a:t>
            </a:r>
          </a:p>
        </p:txBody>
      </p:sp>
      <p:pic>
        <p:nvPicPr>
          <p:cNvPr id="11" name="Picture 10" descr="9220e587e37081e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01487" y="2336291"/>
            <a:ext cx="1420368" cy="3535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033440" y="3174491"/>
            <a:ext cx="29851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and Sara writes  </a:t>
            </a:r>
          </a:p>
        </p:txBody>
      </p:sp>
      <p:pic>
        <p:nvPicPr>
          <p:cNvPr id="13" name="Picture 12" descr="6afd167257bcd61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1447" y="3227831"/>
            <a:ext cx="1246632" cy="3505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3883151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300" b="0" i="0">
                <a:solidFill>
                  <a:srgbClr val="1A1A1A"/>
                </a:solidFill>
                <a:latin typeface="Century Schoolbook"/>
              </a:rPr>
              <a:t>Name what each one did wrong, and give the correct quotient.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3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5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49504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pic>
        <p:nvPicPr>
          <p:cNvPr id="9" name="Picture 8" descr="c49caa77206bc38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7632" y="1556004"/>
            <a:ext cx="2282952" cy="335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2215895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pic>
        <p:nvPicPr>
          <p:cNvPr id="11" name="Picture 10" descr="17604f6e1003d2c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7632" y="2112263"/>
            <a:ext cx="1188720" cy="66446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60120" y="2936748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pic>
        <p:nvPicPr>
          <p:cNvPr id="13" name="Picture 12" descr="e2e26ee8dfa2948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27632" y="2997707"/>
            <a:ext cx="2441448" cy="3352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60120" y="365912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0B5394"/>
                </a:solidFill>
                <a:latin typeface="Century Schoolbook"/>
              </a:rPr>
              <a:t>4.</a:t>
            </a:r>
          </a:p>
        </p:txBody>
      </p:sp>
      <p:pic>
        <p:nvPicPr>
          <p:cNvPr id="15" name="Picture 14" descr="822dad32b0eba4a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27632" y="3553967"/>
            <a:ext cx="1188720" cy="66751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60120" y="4511039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0B5394"/>
                </a:solidFill>
                <a:latin typeface="Century Schoolbook"/>
              </a:rPr>
              <a:t>5.</a:t>
            </a:r>
          </a:p>
        </p:txBody>
      </p:sp>
      <p:pic>
        <p:nvPicPr>
          <p:cNvPr id="17" name="Picture 16" descr="7c5a8d7e4e4f2d6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27632" y="4404360"/>
            <a:ext cx="1100328" cy="67056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960120" y="5234940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0B5394"/>
                </a:solidFill>
                <a:latin typeface="Century Schoolbook"/>
              </a:rPr>
              <a:t>6.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5234940"/>
            <a:ext cx="96739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Find </a:t>
            </a:r>
          </a:p>
        </p:txBody>
      </p:sp>
      <p:pic>
        <p:nvPicPr>
          <p:cNvPr id="20" name="Picture 19" descr="0afe177f69dd5e0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384711" y="5388864"/>
            <a:ext cx="155448" cy="149352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2540159" y="5234940"/>
            <a:ext cx="4685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.  </a:t>
            </a:r>
          </a:p>
        </p:txBody>
      </p:sp>
      <p:pic>
        <p:nvPicPr>
          <p:cNvPr id="22" name="Picture 21" descr="29f37f2eabf1cbac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871561" y="5295900"/>
            <a:ext cx="3654552" cy="33528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1A1A1A"/>
                </a:solidFill>
                <a:latin typeface="Century Schoolbook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Multiply numbers written in scientific notation — YZU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Divide numbers written in scientific notation — SGT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