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</p:sldIdLst>
  <p:sldSz cx="1219196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Relationship Id="rId4" Type="http://schemas.openxmlformats.org/officeDocument/2006/relationships/image" Target="../media/image1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image" Target="../media/image16.png"/><Relationship Id="rId4" Type="http://schemas.openxmlformats.org/officeDocument/2006/relationships/image" Target="../media/image17.png"/><Relationship Id="rId5" Type="http://schemas.openxmlformats.org/officeDocument/2006/relationships/image" Target="../media/image18.png"/><Relationship Id="rId6" Type="http://schemas.openxmlformats.org/officeDocument/2006/relationships/image" Target="../media/image19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Relationship Id="rId3" Type="http://schemas.openxmlformats.org/officeDocument/2006/relationships/image" Target="../media/image22.png"/><Relationship Id="rId4" Type="http://schemas.openxmlformats.org/officeDocument/2006/relationships/image" Target="../media/image2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Relationship Id="rId3" Type="http://schemas.openxmlformats.org/officeDocument/2006/relationships/image" Target="../media/image26.png"/><Relationship Id="rId4" Type="http://schemas.openxmlformats.org/officeDocument/2006/relationships/image" Target="../media/image27.png"/><Relationship Id="rId5" Type="http://schemas.openxmlformats.org/officeDocument/2006/relationships/image" Target="../media/image28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png"/><Relationship Id="rId3" Type="http://schemas.openxmlformats.org/officeDocument/2006/relationships/image" Target="../media/image31.png"/><Relationship Id="rId4" Type="http://schemas.openxmlformats.org/officeDocument/2006/relationships/image" Target="../media/image32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png"/><Relationship Id="rId3" Type="http://schemas.openxmlformats.org/officeDocument/2006/relationships/image" Target="../media/image35.png"/><Relationship Id="rId4" Type="http://schemas.openxmlformats.org/officeDocument/2006/relationships/image" Target="../media/image36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png"/><Relationship Id="rId3" Type="http://schemas.openxmlformats.org/officeDocument/2006/relationships/image" Target="../media/image39.png"/><Relationship Id="rId4" Type="http://schemas.openxmlformats.org/officeDocument/2006/relationships/image" Target="../media/image40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1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png"/><Relationship Id="rId3" Type="http://schemas.openxmlformats.org/officeDocument/2006/relationships/image" Target="../media/image43.png"/><Relationship Id="rId4" Type="http://schemas.openxmlformats.org/officeDocument/2006/relationships/image" Target="../media/image44.png"/><Relationship Id="rId5" Type="http://schemas.openxmlformats.org/officeDocument/2006/relationships/image" Target="../media/image45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6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7.png"/><Relationship Id="rId3" Type="http://schemas.openxmlformats.org/officeDocument/2006/relationships/image" Target="../media/image48.png"/><Relationship Id="rId4" Type="http://schemas.openxmlformats.org/officeDocument/2006/relationships/image" Target="../media/image49.png"/><Relationship Id="rId5" Type="http://schemas.openxmlformats.org/officeDocument/2006/relationships/image" Target="../media/image50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1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2.png"/><Relationship Id="rId3" Type="http://schemas.openxmlformats.org/officeDocument/2006/relationships/image" Target="../media/image53.png"/><Relationship Id="rId4" Type="http://schemas.openxmlformats.org/officeDocument/2006/relationships/image" Target="../media/image54.png"/><Relationship Id="rId5" Type="http://schemas.openxmlformats.org/officeDocument/2006/relationships/image" Target="../media/image55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6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7.png"/><Relationship Id="rId3" Type="http://schemas.openxmlformats.org/officeDocument/2006/relationships/image" Target="../media/image58.png"/><Relationship Id="rId4" Type="http://schemas.openxmlformats.org/officeDocument/2006/relationships/image" Target="../media/image59.png"/><Relationship Id="rId5" Type="http://schemas.openxmlformats.org/officeDocument/2006/relationships/image" Target="../media/image60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1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2.png"/><Relationship Id="rId3" Type="http://schemas.openxmlformats.org/officeDocument/2006/relationships/image" Target="../media/image63.png"/><Relationship Id="rId4" Type="http://schemas.openxmlformats.org/officeDocument/2006/relationships/image" Target="../media/image64.png"/><Relationship Id="rId5" Type="http://schemas.openxmlformats.org/officeDocument/2006/relationships/image" Target="../media/image65.png"/><Relationship Id="rId6" Type="http://schemas.openxmlformats.org/officeDocument/2006/relationships/image" Target="../media/image66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7.png"/><Relationship Id="rId3" Type="http://schemas.openxmlformats.org/officeDocument/2006/relationships/image" Target="../media/image68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9.png"/><Relationship Id="rId3" Type="http://schemas.openxmlformats.org/officeDocument/2006/relationships/image" Target="../media/image68.png"/><Relationship Id="rId4" Type="http://schemas.openxmlformats.org/officeDocument/2006/relationships/image" Target="../media/image70.png"/><Relationship Id="rId5" Type="http://schemas.openxmlformats.org/officeDocument/2006/relationships/image" Target="../media/image71.png"/><Relationship Id="rId6" Type="http://schemas.openxmlformats.org/officeDocument/2006/relationships/image" Target="../media/image72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3.png"/><Relationship Id="rId3" Type="http://schemas.openxmlformats.org/officeDocument/2006/relationships/image" Target="../media/image74.png"/><Relationship Id="rId4" Type="http://schemas.openxmlformats.org/officeDocument/2006/relationships/image" Target="../media/image75.png"/><Relationship Id="rId5" Type="http://schemas.openxmlformats.org/officeDocument/2006/relationships/image" Target="../media/image76.png"/><Relationship Id="rId6" Type="http://schemas.openxmlformats.org/officeDocument/2006/relationships/image" Target="../media/image77.png"/><Relationship Id="rId7" Type="http://schemas.openxmlformats.org/officeDocument/2006/relationships/image" Target="../media/image78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2148840"/>
            <a:ext cx="10607040" cy="34747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420" b="0" i="0">
                <a:solidFill>
                  <a:srgbClr val="6B6B6B"/>
                </a:solidFill>
                <a:latin typeface="Lexend"/>
              </a:rPr>
              <a:t>GRADE 7 ACCELERATED  ·  UNIT 4  ·  LESSON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2505456"/>
            <a:ext cx="10607040" cy="10058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3229" b="1" i="0">
                <a:solidFill>
                  <a:srgbClr val="1A1A1A"/>
                </a:solidFill>
                <a:latin typeface="Lexend"/>
              </a:rPr>
              <a:t>Order of Operations with Radicals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291840" y="3712464"/>
            <a:ext cx="55778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3291840" y="3794760"/>
            <a:ext cx="55778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395935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520" b="1" i="0">
                <a:solidFill>
                  <a:srgbClr val="1A1A1A"/>
                </a:solidFill>
                <a:latin typeface="Lexend"/>
              </a:rPr>
              <a:t>MA.8.NSO.1.7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4297680"/>
            <a:ext cx="10607040" cy="7315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810" b="0" i="0">
                <a:solidFill>
                  <a:srgbClr val="1A1A1A"/>
                </a:solidFill>
                <a:latin typeface="Lexend"/>
              </a:rPr>
              <a:t>I can evaluate a multi-step expression with rational numbers, exponents and radicals by reading its structure.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 6 — Order of Operations with Radicals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Warm-Up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 6 — Order of Operations with Radicals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74519" y="1440180"/>
            <a:ext cx="67156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1.   </a:t>
            </a:r>
          </a:p>
        </p:txBody>
      </p:sp>
      <p:pic>
        <p:nvPicPr>
          <p:cNvPr id="9" name="Picture 8" descr="380cdbfed5fb592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08921" y="1470469"/>
            <a:ext cx="1118616" cy="39014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874519" y="2052828"/>
            <a:ext cx="669038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2.   How many significant digits are in  1.020 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74519" y="2719613"/>
            <a:ext cx="293035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3.   Find the value:  </a:t>
            </a:r>
          </a:p>
        </p:txBody>
      </p:sp>
      <p:pic>
        <p:nvPicPr>
          <p:cNvPr id="12" name="Picture 11" descr="45dfe0c1090fb1f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7711" y="2688336"/>
            <a:ext cx="733353" cy="519755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874519" y="3386399"/>
            <a:ext cx="218559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4.   Evaluate:  </a:t>
            </a:r>
          </a:p>
        </p:txBody>
      </p:sp>
      <p:pic>
        <p:nvPicPr>
          <p:cNvPr id="14" name="Picture 13" descr="8c31237e42b535d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22957" y="3513312"/>
            <a:ext cx="1077483" cy="215971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Warm-Up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 6 — Order of Operations with Radicals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74519" y="1440180"/>
            <a:ext cx="67156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1.   </a:t>
            </a:r>
          </a:p>
        </p:txBody>
      </p:sp>
      <p:pic>
        <p:nvPicPr>
          <p:cNvPr id="9" name="Picture 8" descr="380cdbfed5fb592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08921" y="1470469"/>
            <a:ext cx="1118616" cy="39014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076177" y="1440180"/>
            <a:ext cx="40504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1" i="0">
                <a:solidFill>
                  <a:srgbClr val="9E1B32"/>
                </a:solidFill>
                <a:latin typeface="Lexend"/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74519" y="2052828"/>
            <a:ext cx="669038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2.   How many significant digits are in  1.020 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76387" y="2052828"/>
            <a:ext cx="40504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1" i="0">
                <a:solidFill>
                  <a:srgbClr val="9E1B32"/>
                </a:solidFill>
                <a:latin typeface="Lexend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74519" y="2719613"/>
            <a:ext cx="293035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3.   Find the value:  </a:t>
            </a:r>
          </a:p>
        </p:txBody>
      </p:sp>
      <p:pic>
        <p:nvPicPr>
          <p:cNvPr id="14" name="Picture 13" descr="45dfe0c1090fb1f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7711" y="2688336"/>
            <a:ext cx="733353" cy="519755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949704" y="2665476"/>
            <a:ext cx="71742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1" i="0">
                <a:solidFill>
                  <a:srgbClr val="9E1B32"/>
                </a:solidFill>
                <a:latin typeface="Lexend"/>
              </a:rPr>
              <a:t>9/4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74519" y="3386399"/>
            <a:ext cx="218559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4.   Evaluate:  </a:t>
            </a:r>
          </a:p>
        </p:txBody>
      </p:sp>
      <p:pic>
        <p:nvPicPr>
          <p:cNvPr id="17" name="Picture 16" descr="8c31237e42b535d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22957" y="3513312"/>
            <a:ext cx="1077483" cy="215971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5549081" y="3386399"/>
            <a:ext cx="386509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1" i="0">
                <a:solidFill>
                  <a:srgbClr val="9E1B32"/>
                </a:solidFill>
                <a:latin typeface="Lexend"/>
              </a:rPr>
              <a:t>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Vocabulary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 6 — Order of Operations with Radicals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463040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0B5394"/>
                </a:solidFill>
                <a:latin typeface="Lexend"/>
              </a:rPr>
              <a:t>grouping symbol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892410"/>
            <a:ext cx="10241280" cy="787179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090" b="0" i="0">
                <a:solidFill>
                  <a:srgbClr val="1A1A1A"/>
                </a:solidFill>
                <a:latin typeface="Lexend"/>
              </a:rPr>
              <a:t>anything that holds part of an expression together and is finished first: parentheses, brackets, the radical bar and the fraction bar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917333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0B5394"/>
                </a:solidFill>
                <a:latin typeface="Lexend"/>
              </a:rPr>
              <a:t>nested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3346704"/>
            <a:ext cx="10241280" cy="393589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090" b="0" i="0">
                <a:solidFill>
                  <a:srgbClr val="1A1A1A"/>
                </a:solidFill>
                <a:latin typeface="Lexend"/>
              </a:rPr>
              <a:t>one grouping symbol inside another. The innermost one is finished first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3978037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0B5394"/>
                </a:solidFill>
                <a:latin typeface="Lexend"/>
              </a:rPr>
              <a:t>multi-step expression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4407407"/>
            <a:ext cx="10241280" cy="787179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090" b="0" i="0">
                <a:solidFill>
                  <a:srgbClr val="1A1A1A"/>
                </a:solidFill>
                <a:latin typeface="Lexend"/>
              </a:rPr>
              <a:t>one that takes more than one operation to evaluate. Everything in this unit takes six steps or fewer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Notes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 6 — Order of Operations with Radicals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389888"/>
            <a:ext cx="10607040" cy="40233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380" b="1" i="0">
                <a:solidFill>
                  <a:srgbClr val="1A1A1A"/>
                </a:solidFill>
                <a:latin typeface="Lexend"/>
              </a:rPr>
              <a:t>I.  The structure, not a mnemonic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77240" y="1828800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2103120" y="1993392"/>
          <a:ext cx="7955280" cy="19202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40080"/>
                <a:gridCol w="2743200"/>
                <a:gridCol w="4572000"/>
              </a:tblGrid>
              <a:tr h="384048"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marL="73152" marR="73152" marT="27432" marB="27432" anchor="ctr">
                    <a:solidFill>
                      <a:srgbClr val="D9D9D9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20" b="1">
                          <a:solidFill>
                            <a:srgbClr val="1A1A1A"/>
                          </a:solidFill>
                          <a:latin typeface="Lexend"/>
                        </a:rPr>
                        <a:t>Level</a:t>
                      </a:r>
                    </a:p>
                  </a:txBody>
                  <a:tcPr marL="73152" marR="73152" marT="27432" marB="27432" anchor="ctr">
                    <a:solidFill>
                      <a:srgbClr val="D9D9D9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20" b="1">
                          <a:solidFill>
                            <a:srgbClr val="1A1A1A"/>
                          </a:solidFill>
                          <a:latin typeface="Lexend"/>
                        </a:rPr>
                        <a:t>What it means</a:t>
                      </a:r>
                    </a:p>
                  </a:txBody>
                  <a:tcPr marL="73152" marR="73152" marT="27432" marB="27432" anchor="ctr">
                    <a:solidFill>
                      <a:srgbClr val="D9D9D9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420" b="0">
                          <a:solidFill>
                            <a:srgbClr val="1A1A1A"/>
                          </a:solidFill>
                          <a:latin typeface="Lexend"/>
                        </a:rPr>
                        <a:t>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20" b="0">
                          <a:solidFill>
                            <a:srgbClr val="1A1A1A"/>
                          </a:solidFill>
                          <a:latin typeface="Lexend"/>
                        </a:rPr>
                        <a:t>Grouping symbols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20" b="0">
                          <a:solidFill>
                            <a:srgbClr val="1A1A1A"/>
                          </a:solidFill>
                          <a:latin typeface="Lexend"/>
                        </a:rPr>
                        <a:t>( ), [ ], the radical bar, the fraction bar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420" b="0">
                          <a:solidFill>
                            <a:srgbClr val="1A1A1A"/>
                          </a:solidFill>
                          <a:latin typeface="Lexend"/>
                        </a:rPr>
                        <a:t>2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20" b="0">
                          <a:solidFill>
                            <a:srgbClr val="1A1A1A"/>
                          </a:solidFill>
                          <a:latin typeface="Lexend"/>
                        </a:rPr>
                        <a:t>Powers and roots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20" b="0">
                          <a:solidFill>
                            <a:srgbClr val="1A1A1A"/>
                          </a:solidFill>
                          <a:latin typeface="Lexend"/>
                        </a:rPr>
                        <a:t>the same level as each other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420" b="0">
                          <a:solidFill>
                            <a:srgbClr val="1A1A1A"/>
                          </a:solidFill>
                          <a:latin typeface="Lexend"/>
                        </a:rPr>
                        <a:t>3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20" b="0">
                          <a:solidFill>
                            <a:srgbClr val="1A1A1A"/>
                          </a:solidFill>
                          <a:latin typeface="Lexend"/>
                        </a:rPr>
                        <a:t>Multiply and divide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20" b="0">
                          <a:solidFill>
                            <a:srgbClr val="1A1A1A"/>
                          </a:solidFill>
                          <a:latin typeface="Lexend"/>
                        </a:rPr>
                        <a:t>left to right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420" b="0">
                          <a:solidFill>
                            <a:srgbClr val="1A1A1A"/>
                          </a:solidFill>
                          <a:latin typeface="Lexend"/>
                        </a:rPr>
                        <a:t>4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20" b="0">
                          <a:solidFill>
                            <a:srgbClr val="1A1A1A"/>
                          </a:solidFill>
                          <a:latin typeface="Lexend"/>
                        </a:rPr>
                        <a:t>Add and subtract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20" b="0">
                          <a:solidFill>
                            <a:srgbClr val="1A1A1A"/>
                          </a:solidFill>
                          <a:latin typeface="Lexend"/>
                        </a:rPr>
                        <a:t>left to right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987552" y="4206240"/>
            <a:ext cx="10131551" cy="47548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80" b="1" i="0">
                <a:solidFill>
                  <a:srgbClr val="1A1A1A"/>
                </a:solidFill>
                <a:latin typeface="Lexend"/>
              </a:rPr>
              <a:t>Innermost grouping symbol first, then out.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Notes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 6 — Order of Operations with Radicals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389888"/>
            <a:ext cx="10607040" cy="40233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380" b="1" i="0">
                <a:solidFill>
                  <a:srgbClr val="1A1A1A"/>
                </a:solidFill>
                <a:latin typeface="Lexend"/>
              </a:rPr>
              <a:t>II.  Left to right means left to right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77240" y="1828800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Picture 9" descr="2201d3ee15bc2ba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83453" y="2285349"/>
            <a:ext cx="2647997" cy="244141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831450" y="2171700"/>
            <a:ext cx="194770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,     never   </a:t>
            </a:r>
          </a:p>
        </p:txBody>
      </p:sp>
      <p:pic>
        <p:nvPicPr>
          <p:cNvPr id="12" name="Picture 11" descr="f0147313abe6d96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41994" y="2279983"/>
            <a:ext cx="1336071" cy="244141"/>
          </a:xfrm>
          <a:prstGeom prst="rect">
            <a:avLst/>
          </a:prstGeom>
        </p:spPr>
      </p:pic>
      <p:pic>
        <p:nvPicPr>
          <p:cNvPr id="13" name="Picture 12" descr="0ee3a056470a442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60041" y="3078194"/>
            <a:ext cx="2892139" cy="24682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952180" y="2967228"/>
            <a:ext cx="194770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,     never   </a:t>
            </a:r>
          </a:p>
        </p:txBody>
      </p:sp>
      <p:pic>
        <p:nvPicPr>
          <p:cNvPr id="15" name="Picture 14" descr="b927c0f461bb714c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62724" y="3080877"/>
            <a:ext cx="1338754" cy="244141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987552" y="3941064"/>
            <a:ext cx="10131551" cy="95097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80" b="1" i="0">
                <a:solidFill>
                  <a:srgbClr val="1A1A1A"/>
                </a:solidFill>
                <a:latin typeface="Lexend"/>
              </a:rPr>
              <a:t>Multiplication and division are one level. Addition and subtraction are one level. Left to right, both times.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Notes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 6 — Order of Operations with Radicals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389888"/>
            <a:ext cx="10607040" cy="40233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380" b="1" i="0">
                <a:solidFill>
                  <a:srgbClr val="1A1A1A"/>
                </a:solidFill>
                <a:latin typeface="Lexend"/>
              </a:rPr>
              <a:t>III.  The fraction bar groups, top and bottom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77240" y="1828800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Picture 9" descr="b676b63d56095f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81372" y="2194560"/>
            <a:ext cx="2398776" cy="792480"/>
          </a:xfrm>
          <a:prstGeom prst="rect">
            <a:avLst/>
          </a:prstGeom>
        </p:spPr>
      </p:pic>
      <p:pic>
        <p:nvPicPr>
          <p:cNvPr id="11" name="Picture 10" descr="fb1e10d5d1f5e97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87496" y="3371088"/>
            <a:ext cx="4986528" cy="84734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987552" y="4757928"/>
            <a:ext cx="10131551" cy="47548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80" b="1" i="0">
                <a:solidFill>
                  <a:srgbClr val="1A1A1A"/>
                </a:solidFill>
                <a:latin typeface="Lexend"/>
              </a:rPr>
              <a:t>Finish the numerator and finish the denominator before you divide.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Example 1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 6 — Order of Operations with Radicals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8</a:t>
            </a:r>
          </a:p>
        </p:txBody>
      </p:sp>
      <p:pic>
        <p:nvPicPr>
          <p:cNvPr id="8" name="Picture 7" descr="6b6fcd5e7b2e72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02607" y="2103120"/>
            <a:ext cx="3956304" cy="47853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3084576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80" b="1" i="0">
                <a:solidFill>
                  <a:srgbClr val="1A1A1A"/>
                </a:solidFill>
                <a:latin typeface="Lexend"/>
              </a:rPr>
              <a:t>Evaluate.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Example 1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 6 — Order of Operations with Radicals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9</a:t>
            </a:r>
          </a:p>
        </p:txBody>
      </p:sp>
      <p:pic>
        <p:nvPicPr>
          <p:cNvPr id="8" name="Picture 7" descr="04e54fe9a154095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920240"/>
            <a:ext cx="2249424" cy="411480"/>
          </a:xfrm>
          <a:prstGeom prst="rect">
            <a:avLst/>
          </a:prstGeom>
        </p:spPr>
      </p:pic>
      <p:pic>
        <p:nvPicPr>
          <p:cNvPr id="9" name="Picture 8" descr="21bef9986283dc4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0" y="2606040"/>
            <a:ext cx="6989064" cy="353568"/>
          </a:xfrm>
          <a:prstGeom prst="rect">
            <a:avLst/>
          </a:prstGeom>
        </p:spPr>
      </p:pic>
      <p:pic>
        <p:nvPicPr>
          <p:cNvPr id="10" name="Picture 9" descr="09e7e44a6e73f25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28800" y="3233928"/>
            <a:ext cx="2910840" cy="28041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77240" y="457200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−1.44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Your Turn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 6 — Order of Operations with Radicals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10</a:t>
            </a:r>
          </a:p>
        </p:txBody>
      </p:sp>
      <p:pic>
        <p:nvPicPr>
          <p:cNvPr id="8" name="Picture 7" descr="47f83e2b495dac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6952" y="1600200"/>
            <a:ext cx="4547616" cy="5943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2697480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80" b="1" i="0">
                <a:solidFill>
                  <a:srgbClr val="1A1A1A"/>
                </a:solidFill>
                <a:latin typeface="Lexend"/>
              </a:rPr>
              <a:t>Evaluate.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Your Turn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 6 — Order of Operations with Radicals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11</a:t>
            </a:r>
          </a:p>
        </p:txBody>
      </p:sp>
      <p:pic>
        <p:nvPicPr>
          <p:cNvPr id="8" name="Picture 7" descr="aac90390d93a983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9999" y="1600200"/>
            <a:ext cx="4541520" cy="5943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2697480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80" b="1" i="0">
                <a:solidFill>
                  <a:srgbClr val="1A1A1A"/>
                </a:solidFill>
                <a:latin typeface="Lexend"/>
              </a:rPr>
              <a:t>Evaluate.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9097" y="3286870"/>
            <a:ext cx="308526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30" b="0" i="0">
                <a:solidFill>
                  <a:srgbClr val="1A1A1A"/>
                </a:solidFill>
                <a:latin typeface="Lexend"/>
              </a:rPr>
              <a:t>Powers and roots:  </a:t>
            </a:r>
          </a:p>
        </p:txBody>
      </p:sp>
      <p:pic>
        <p:nvPicPr>
          <p:cNvPr id="11" name="Picture 10" descr="7ac03a8924eefbd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47204" y="3373119"/>
            <a:ext cx="1549527" cy="315039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196731" y="3286870"/>
            <a:ext cx="132004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30" b="0" i="0">
                <a:solidFill>
                  <a:srgbClr val="1A1A1A"/>
                </a:solidFill>
                <a:latin typeface="Lexend"/>
              </a:rPr>
              <a:t>   and   </a:t>
            </a:r>
          </a:p>
        </p:txBody>
      </p:sp>
      <p:pic>
        <p:nvPicPr>
          <p:cNvPr id="13" name="Picture 12" descr="14243ac5c29f503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79620" y="3342782"/>
            <a:ext cx="1089802" cy="366379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2699097" y="3789790"/>
            <a:ext cx="393812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30" b="0" i="0">
                <a:solidFill>
                  <a:srgbClr val="1A1A1A"/>
                </a:solidFill>
                <a:latin typeface="Lexend"/>
              </a:rPr>
              <a:t>Inside the parentheses:  </a:t>
            </a:r>
          </a:p>
        </p:txBody>
      </p:sp>
      <p:pic>
        <p:nvPicPr>
          <p:cNvPr id="15" name="Picture 14" descr="50cf6f024a53d9bc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00064" y="3925045"/>
            <a:ext cx="2109597" cy="214693"/>
          </a:xfrm>
          <a:prstGeom prst="rect">
            <a:avLst/>
          </a:prstGeom>
        </p:spPr>
      </p:pic>
      <p:pic>
        <p:nvPicPr>
          <p:cNvPr id="16" name="Picture 15" descr="9835c37dc0133d28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53961" y="4430727"/>
            <a:ext cx="3514344" cy="21336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777240" y="486421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9.97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Example 2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 6 — Order of Operations with Radicals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12</a:t>
            </a:r>
          </a:p>
        </p:txBody>
      </p:sp>
      <p:pic>
        <p:nvPicPr>
          <p:cNvPr id="8" name="Picture 7" descr="b808d9623aef050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13731" y="2103120"/>
            <a:ext cx="2734056" cy="84734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3453384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80" b="1" i="0">
                <a:solidFill>
                  <a:srgbClr val="1A1A1A"/>
                </a:solidFill>
                <a:latin typeface="Lexend"/>
              </a:rPr>
              <a:t>Evaluate.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Example 2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 6 — Order of Operations with Radicals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13</a:t>
            </a:r>
          </a:p>
        </p:txBody>
      </p:sp>
      <p:pic>
        <p:nvPicPr>
          <p:cNvPr id="8" name="Picture 7" descr="9aec3c395596e36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920240"/>
            <a:ext cx="2593848" cy="792480"/>
          </a:xfrm>
          <a:prstGeom prst="rect">
            <a:avLst/>
          </a:prstGeom>
        </p:spPr>
      </p:pic>
      <p:pic>
        <p:nvPicPr>
          <p:cNvPr id="9" name="Picture 8" descr="fd77386a9e66a33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0" y="2987040"/>
            <a:ext cx="3694176" cy="789432"/>
          </a:xfrm>
          <a:prstGeom prst="rect">
            <a:avLst/>
          </a:prstGeom>
        </p:spPr>
      </p:pic>
      <p:pic>
        <p:nvPicPr>
          <p:cNvPr id="10" name="Picture 9" descr="69a6d692b4cc56e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28800" y="4050791"/>
            <a:ext cx="1895856" cy="67056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77240" y="5178552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−1/4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Your Turn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 6 — Order of Operations with Radicals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14</a:t>
            </a:r>
          </a:p>
        </p:txBody>
      </p:sp>
      <p:pic>
        <p:nvPicPr>
          <p:cNvPr id="8" name="Picture 7" descr="a0165d764fa8474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39996" y="1481328"/>
            <a:ext cx="3081528" cy="84734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2831592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80" b="1" i="0">
                <a:solidFill>
                  <a:srgbClr val="1A1A1A"/>
                </a:solidFill>
                <a:latin typeface="Lexend"/>
              </a:rPr>
              <a:t>Evaluate.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Your Turn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 6 — Order of Operations with Radicals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15</a:t>
            </a:r>
          </a:p>
        </p:txBody>
      </p:sp>
      <p:pic>
        <p:nvPicPr>
          <p:cNvPr id="8" name="Picture 7" descr="93f2d6cae19f44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41519" y="1481328"/>
            <a:ext cx="3078480" cy="84734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2831592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80" b="1" i="0">
                <a:solidFill>
                  <a:srgbClr val="1A1A1A"/>
                </a:solidFill>
                <a:latin typeface="Lexend"/>
              </a:rPr>
              <a:t>Evaluate.</a:t>
            </a:r>
          </a:p>
        </p:txBody>
      </p:sp>
      <p:pic>
        <p:nvPicPr>
          <p:cNvPr id="10" name="Picture 9" descr="6565c690921d94d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27803" y="3443842"/>
            <a:ext cx="1810512" cy="609600"/>
          </a:xfrm>
          <a:prstGeom prst="rect">
            <a:avLst/>
          </a:prstGeom>
        </p:spPr>
      </p:pic>
      <p:pic>
        <p:nvPicPr>
          <p:cNvPr id="11" name="Picture 10" descr="a2173ad1551df9c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27803" y="4144882"/>
            <a:ext cx="3212592" cy="612648"/>
          </a:xfrm>
          <a:prstGeom prst="rect">
            <a:avLst/>
          </a:prstGeom>
        </p:spPr>
      </p:pic>
      <p:pic>
        <p:nvPicPr>
          <p:cNvPr id="12" name="Picture 11" descr="03d6a17384790a95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27803" y="4848970"/>
            <a:ext cx="1091184" cy="51206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77240" y="5498194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1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1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 6 — Order of Operations with Radicals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16</a:t>
            </a:r>
          </a:p>
        </p:txBody>
      </p:sp>
      <p:pic>
        <p:nvPicPr>
          <p:cNvPr id="8" name="Picture 7" descr="25a7622aecf1eba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52287" y="2249805"/>
            <a:ext cx="1456944" cy="28041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1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 6 — Order of Operations with Radicals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17</a:t>
            </a:r>
          </a:p>
        </p:txBody>
      </p:sp>
      <p:pic>
        <p:nvPicPr>
          <p:cNvPr id="8" name="Picture 7" descr="36fd5fdafeb181a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52287" y="2158365"/>
            <a:ext cx="1456944" cy="28041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011631" y="2839212"/>
            <a:ext cx="265673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750" b="0" i="0">
                <a:solidFill>
                  <a:srgbClr val="1A1A1A"/>
                </a:solidFill>
                <a:latin typeface="Lexend"/>
              </a:rPr>
              <a:t>Left to right:  </a:t>
            </a:r>
          </a:p>
        </p:txBody>
      </p:sp>
      <p:pic>
        <p:nvPicPr>
          <p:cNvPr id="10" name="Picture 9" descr="eeef22e3ceb6602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1210" y="2957322"/>
            <a:ext cx="1618678" cy="254126"/>
          </a:xfrm>
          <a:prstGeom prst="rect">
            <a:avLst/>
          </a:prstGeom>
        </p:spPr>
      </p:pic>
      <p:pic>
        <p:nvPicPr>
          <p:cNvPr id="11" name="Picture 10" descr="58b50d1f788fe12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66495" y="3498532"/>
            <a:ext cx="1478280" cy="25298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54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2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 6 — Order of Operations with Radicals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51660"/>
            <a:ext cx="354561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A square tile has side  </a:t>
            </a:r>
          </a:p>
        </p:txBody>
      </p:sp>
      <p:pic>
        <p:nvPicPr>
          <p:cNvPr id="9" name="Picture 8" descr="25d82099734b37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2897" y="1887473"/>
            <a:ext cx="842010" cy="38881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484907" y="1851660"/>
            <a:ext cx="221142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  centimeters.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248716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Its diagonal is about 19.8 centimeters.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3026266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What is the perimeter of the tile?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2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 6 — Order of Operations with Radicals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51660"/>
            <a:ext cx="354561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A square tile has side  </a:t>
            </a:r>
          </a:p>
        </p:txBody>
      </p:sp>
      <p:pic>
        <p:nvPicPr>
          <p:cNvPr id="9" name="Picture 8" descr="6003818e495bb74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2897" y="1887473"/>
            <a:ext cx="839533" cy="38881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482430" y="1851660"/>
            <a:ext cx="221142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  centimeters.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248716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Its diagonal is about 19.8 centimeters.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3026266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What is the perimeter of the tile?</a:t>
            </a:r>
          </a:p>
        </p:txBody>
      </p:sp>
      <p:pic>
        <p:nvPicPr>
          <p:cNvPr id="13" name="Picture 12" descr="fe182c84c4bdb5f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65277" y="3684236"/>
            <a:ext cx="1642872" cy="432816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210413" y="4222208"/>
            <a:ext cx="227022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750" b="0" i="0">
                <a:solidFill>
                  <a:srgbClr val="1A1A1A"/>
                </a:solidFill>
                <a:latin typeface="Lexend"/>
              </a:rPr>
              <a:t>Perimeter:  </a:t>
            </a:r>
          </a:p>
        </p:txBody>
      </p:sp>
      <p:pic>
        <p:nvPicPr>
          <p:cNvPr id="15" name="Picture 14" descr="17f44b5618a9d36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43477" y="4337556"/>
            <a:ext cx="1607629" cy="254126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777240" y="4793708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56 centimeters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3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 6 — Order of Operations with Radicals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20</a:t>
            </a:r>
          </a:p>
        </p:txBody>
      </p:sp>
      <p:pic>
        <p:nvPicPr>
          <p:cNvPr id="8" name="Picture 7" descr="7d69da8346cb7cd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0" y="2246757"/>
            <a:ext cx="1554480" cy="28041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3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 6 — Order of Operations with Radicals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21</a:t>
            </a:r>
          </a:p>
        </p:txBody>
      </p:sp>
      <p:pic>
        <p:nvPicPr>
          <p:cNvPr id="8" name="Picture 7" descr="9dc4fd86eed7f2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0" y="2155317"/>
            <a:ext cx="1554480" cy="28041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058589" y="2839212"/>
            <a:ext cx="265673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750" b="0" i="0">
                <a:solidFill>
                  <a:srgbClr val="1A1A1A"/>
                </a:solidFill>
                <a:latin typeface="Lexend"/>
              </a:rPr>
              <a:t>Left to right:  </a:t>
            </a:r>
          </a:p>
        </p:txBody>
      </p:sp>
      <p:pic>
        <p:nvPicPr>
          <p:cNvPr id="10" name="Picture 9" descr="8d7f8b36a59e9cb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78168" y="2954559"/>
            <a:ext cx="1524762" cy="254126"/>
          </a:xfrm>
          <a:prstGeom prst="rect">
            <a:avLst/>
          </a:prstGeom>
        </p:spPr>
      </p:pic>
      <p:pic>
        <p:nvPicPr>
          <p:cNvPr id="11" name="Picture 10" descr="1f8367c1c48b434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3453" y="3495484"/>
            <a:ext cx="1554480" cy="25298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15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4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 6 — Order of Operations with Radicals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22</a:t>
            </a:r>
          </a:p>
        </p:txBody>
      </p:sp>
      <p:pic>
        <p:nvPicPr>
          <p:cNvPr id="8" name="Picture 7" descr="2b230be022ca8b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98591" y="2194560"/>
            <a:ext cx="1164336" cy="79552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4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 6 — Order of Operations with Radicals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23</a:t>
            </a:r>
          </a:p>
        </p:txBody>
      </p:sp>
      <p:pic>
        <p:nvPicPr>
          <p:cNvPr id="8" name="Picture 7" descr="0893d505426886e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01639" y="2103120"/>
            <a:ext cx="1158240" cy="79857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022871" y="3226307"/>
            <a:ext cx="996779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30" b="0" i="0">
                <a:solidFill>
                  <a:srgbClr val="1A1A1A"/>
                </a:solidFill>
                <a:latin typeface="Lexend"/>
              </a:rPr>
              <a:t>Top:  </a:t>
            </a:r>
          </a:p>
        </p:txBody>
      </p:sp>
      <p:pic>
        <p:nvPicPr>
          <p:cNvPr id="10" name="Picture 9" descr="abe72144a9717f4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82490" y="3317224"/>
            <a:ext cx="2482977" cy="25903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022871" y="3729227"/>
            <a:ext cx="1583270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30" b="0" i="0">
                <a:solidFill>
                  <a:srgbClr val="1A1A1A"/>
                </a:solidFill>
                <a:latin typeface="Lexend"/>
              </a:rPr>
              <a:t>Bottom:  </a:t>
            </a:r>
          </a:p>
        </p:txBody>
      </p:sp>
      <p:pic>
        <p:nvPicPr>
          <p:cNvPr id="12" name="Picture 11" descr="c8750695812e336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68981" y="3817810"/>
            <a:ext cx="2672000" cy="261366"/>
          </a:xfrm>
          <a:prstGeom prst="rect">
            <a:avLst/>
          </a:prstGeom>
        </p:spPr>
      </p:pic>
      <p:pic>
        <p:nvPicPr>
          <p:cNvPr id="13" name="Picture 12" descr="3d14f1f915bfc61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77735" y="4255007"/>
            <a:ext cx="807720" cy="515112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77240" y="490728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3/5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5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 6 — Order of Operations with Radicals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24</a:t>
            </a:r>
          </a:p>
        </p:txBody>
      </p:sp>
      <p:pic>
        <p:nvPicPr>
          <p:cNvPr id="8" name="Picture 7" descr="594d57048b4fb9a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87339" y="2194560"/>
            <a:ext cx="1386840" cy="34137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2880360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0" i="0">
                <a:solidFill>
                  <a:srgbClr val="1A1A1A"/>
                </a:solidFill>
                <a:latin typeface="Lexend"/>
              </a:rPr>
              <a:t>Which is the value?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74519" y="3546679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A.   </a:t>
            </a:r>
            <a:r>
              <a:rPr sz="2280" b="0" i="0">
                <a:solidFill>
                  <a:srgbClr val="1A1A1A"/>
                </a:solidFill>
                <a:latin typeface="Lexend"/>
              </a:rPr>
              <a:t>146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29400" y="3546679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B.   </a:t>
            </a:r>
            <a:r>
              <a:rPr sz="2280" b="0" i="0">
                <a:solidFill>
                  <a:srgbClr val="1A1A1A"/>
                </a:solidFill>
                <a:latin typeface="Lexend"/>
              </a:rPr>
              <a:t>50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74519" y="4232479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C.   </a:t>
            </a:r>
            <a:r>
              <a:rPr sz="2280" b="0" i="0">
                <a:solidFill>
                  <a:srgbClr val="1A1A1A"/>
                </a:solidFill>
                <a:latin typeface="Lexend"/>
              </a:rPr>
              <a:t>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9400" y="4232479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D.   </a:t>
            </a:r>
            <a:r>
              <a:rPr sz="2280" b="0" i="0">
                <a:solidFill>
                  <a:srgbClr val="1A1A1A"/>
                </a:solidFill>
                <a:latin typeface="Lexend"/>
              </a:rPr>
              <a:t>80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5238319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5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 6 — Order of Operations with Radicals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25</a:t>
            </a:r>
          </a:p>
        </p:txBody>
      </p:sp>
      <p:pic>
        <p:nvPicPr>
          <p:cNvPr id="8" name="Picture 7" descr="53291355aab2c4a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85816" y="2103120"/>
            <a:ext cx="1389888" cy="34137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2788920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0" i="0">
                <a:solidFill>
                  <a:srgbClr val="1A1A1A"/>
                </a:solidFill>
                <a:latin typeface="Lexend"/>
              </a:rPr>
              <a:t>Which is the value?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69823" y="3414091"/>
            <a:ext cx="2089630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30" b="0" i="0">
                <a:solidFill>
                  <a:srgbClr val="1A1A1A"/>
                </a:solidFill>
                <a:latin typeface="Lexend"/>
              </a:rPr>
              <a:t>Power first:  </a:t>
            </a:r>
          </a:p>
        </p:txBody>
      </p:sp>
      <p:pic>
        <p:nvPicPr>
          <p:cNvPr id="11" name="Picture 10" descr="39ff18f997e09d8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2294" y="3500340"/>
            <a:ext cx="877443" cy="259032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269823" y="3917011"/>
            <a:ext cx="249887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30" b="0" i="0">
                <a:solidFill>
                  <a:srgbClr val="1A1A1A"/>
                </a:solidFill>
                <a:latin typeface="Lexend"/>
              </a:rPr>
              <a:t>Then multiply:  </a:t>
            </a:r>
          </a:p>
        </p:txBody>
      </p:sp>
      <p:pic>
        <p:nvPicPr>
          <p:cNvPr id="13" name="Picture 12" descr="1a56c2424612d0a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31539" y="4052266"/>
            <a:ext cx="1262491" cy="214693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269823" y="4419931"/>
            <a:ext cx="187746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30" b="0" i="0">
                <a:solidFill>
                  <a:srgbClr val="1A1A1A"/>
                </a:solidFill>
                <a:latin typeface="Lexend"/>
              </a:rPr>
              <a:t>Then add:  </a:t>
            </a:r>
          </a:p>
        </p:txBody>
      </p:sp>
      <p:pic>
        <p:nvPicPr>
          <p:cNvPr id="15" name="Picture 14" descr="345d1dacfb918cd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10128" y="4557519"/>
            <a:ext cx="1400175" cy="212359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777240" y="4991431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B — 50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6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 6 — Order of Operations with Radicals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26</a:t>
            </a:r>
          </a:p>
        </p:txBody>
      </p:sp>
      <p:pic>
        <p:nvPicPr>
          <p:cNvPr id="8" name="Picture 7" descr="266fcce5418af23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86983" y="2194560"/>
            <a:ext cx="987552" cy="7924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3261360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0" i="0">
                <a:solidFill>
                  <a:srgbClr val="1A1A1A"/>
                </a:solidFill>
                <a:latin typeface="Lexend"/>
              </a:rPr>
              <a:t>Which is the value?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74519" y="3927679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A.   </a:t>
            </a:r>
            <a:r>
              <a:rPr sz="2280" b="0" i="0">
                <a:solidFill>
                  <a:srgbClr val="1A1A1A"/>
                </a:solidFill>
                <a:latin typeface="Lexend"/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29400" y="3927679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B.   </a:t>
            </a:r>
            <a:r>
              <a:rPr sz="2280" b="0" i="0">
                <a:solidFill>
                  <a:srgbClr val="1A1A1A"/>
                </a:solidFill>
                <a:latin typeface="Lexend"/>
              </a:rPr>
              <a:t>35.5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74519" y="4613479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C.   </a:t>
            </a:r>
            <a:r>
              <a:rPr sz="2280" b="0" i="0">
                <a:solidFill>
                  <a:srgbClr val="1A1A1A"/>
                </a:solidFill>
                <a:latin typeface="Lexend"/>
              </a:rPr>
              <a:t>0.5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9400" y="4613479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D.   </a:t>
            </a:r>
            <a:r>
              <a:rPr sz="2280" b="0" i="0">
                <a:solidFill>
                  <a:srgbClr val="1A1A1A"/>
                </a:solidFill>
                <a:latin typeface="Lexend"/>
              </a:rPr>
              <a:t>256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5619319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6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 6 — Order of Operations with Radicals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27</a:t>
            </a:r>
          </a:p>
        </p:txBody>
      </p:sp>
      <p:pic>
        <p:nvPicPr>
          <p:cNvPr id="8" name="Picture 7" descr="286b5294f6ed7d8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90032" y="2103120"/>
            <a:ext cx="981455" cy="78943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3166871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0" i="0">
                <a:solidFill>
                  <a:srgbClr val="1A1A1A"/>
                </a:solidFill>
                <a:latin typeface="Lexend"/>
              </a:rPr>
              <a:t>Which is the value?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58467" y="3792043"/>
            <a:ext cx="996779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30" b="0" i="0">
                <a:solidFill>
                  <a:srgbClr val="1A1A1A"/>
                </a:solidFill>
                <a:latin typeface="Lexend"/>
              </a:rPr>
              <a:t>Top:  </a:t>
            </a:r>
          </a:p>
        </p:txBody>
      </p:sp>
      <p:pic>
        <p:nvPicPr>
          <p:cNvPr id="11" name="Picture 10" descr="57304b44759ca8c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18087" y="3880625"/>
            <a:ext cx="2387298" cy="26136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458467" y="4294963"/>
            <a:ext cx="1583270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30" b="0" i="0">
                <a:solidFill>
                  <a:srgbClr val="1A1A1A"/>
                </a:solidFill>
                <a:latin typeface="Lexend"/>
              </a:rPr>
              <a:t>Bottom:  </a:t>
            </a:r>
          </a:p>
        </p:txBody>
      </p:sp>
      <p:pic>
        <p:nvPicPr>
          <p:cNvPr id="13" name="Picture 12" descr="8824add34145570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04578" y="4385879"/>
            <a:ext cx="702421" cy="256698"/>
          </a:xfrm>
          <a:prstGeom prst="rect">
            <a:avLst/>
          </a:prstGeom>
        </p:spPr>
      </p:pic>
      <p:pic>
        <p:nvPicPr>
          <p:cNvPr id="14" name="Picture 13" descr="e3ce27ebfe1bfdd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13331" y="4932852"/>
            <a:ext cx="1219200" cy="21336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77240" y="5369383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A — 4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7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 6 — Order of Operations with Radicals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28</a:t>
            </a:r>
          </a:p>
        </p:txBody>
      </p:sp>
      <p:pic>
        <p:nvPicPr>
          <p:cNvPr id="8" name="Picture 7" descr="6ce0d9f4982b699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75503" y="2194560"/>
            <a:ext cx="1810512" cy="4114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7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 6 — Order of Operations with Radicals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29</a:t>
            </a:r>
          </a:p>
        </p:txBody>
      </p:sp>
      <p:pic>
        <p:nvPicPr>
          <p:cNvPr id="8" name="Picture 7" descr="74e67f9444e645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73980" y="2103120"/>
            <a:ext cx="1813560" cy="411480"/>
          </a:xfrm>
          <a:prstGeom prst="rect">
            <a:avLst/>
          </a:prstGeom>
        </p:spPr>
      </p:pic>
      <p:pic>
        <p:nvPicPr>
          <p:cNvPr id="9" name="Picture 8" descr="db68b18bfb41eb3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56128" y="2925460"/>
            <a:ext cx="1066466" cy="25903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122595" y="2839212"/>
            <a:ext cx="523435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30" b="0" i="0">
                <a:solidFill>
                  <a:srgbClr val="1A1A1A"/>
                </a:solidFill>
                <a:latin typeface="Lexend"/>
              </a:rPr>
              <a:t>     (the exponent is on the 2 only)</a:t>
            </a:r>
          </a:p>
        </p:txBody>
      </p:sp>
      <p:pic>
        <p:nvPicPr>
          <p:cNvPr id="11" name="Picture 10" descr="a8317bc2e11e2fe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56128" y="3431381"/>
            <a:ext cx="1115568" cy="313944"/>
          </a:xfrm>
          <a:prstGeom prst="rect">
            <a:avLst/>
          </a:prstGeom>
        </p:spPr>
      </p:pic>
      <p:pic>
        <p:nvPicPr>
          <p:cNvPr id="12" name="Picture 11" descr="ab059e2234c1904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56128" y="3980021"/>
            <a:ext cx="1252728" cy="21336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0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8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 6 — Order of Operations with Radicals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30</a:t>
            </a:r>
          </a:p>
        </p:txBody>
      </p:sp>
      <p:pic>
        <p:nvPicPr>
          <p:cNvPr id="8" name="Picture 7" descr="f06e7d140296346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32603" y="2194560"/>
            <a:ext cx="2496312" cy="66751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8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 6 — Order of Operations with Radicals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31</a:t>
            </a:r>
          </a:p>
        </p:txBody>
      </p:sp>
      <p:pic>
        <p:nvPicPr>
          <p:cNvPr id="8" name="Picture 7" descr="3edde1adf91d2fc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31080" y="2103120"/>
            <a:ext cx="2499360" cy="673608"/>
          </a:xfrm>
          <a:prstGeom prst="rect">
            <a:avLst/>
          </a:prstGeom>
        </p:spPr>
      </p:pic>
      <p:pic>
        <p:nvPicPr>
          <p:cNvPr id="9" name="Picture 8" descr="3fa91d29a0671fb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18946" y="3124200"/>
            <a:ext cx="1061799" cy="515731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480745" y="3153465"/>
            <a:ext cx="167094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30" b="0" i="0">
                <a:solidFill>
                  <a:srgbClr val="1A1A1A"/>
                </a:solidFill>
                <a:latin typeface="Lexend"/>
              </a:rPr>
              <a:t>     and     </a:t>
            </a:r>
          </a:p>
        </p:txBody>
      </p:sp>
      <p:pic>
        <p:nvPicPr>
          <p:cNvPr id="11" name="Picture 10" descr="8172b02b515cb19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14530" y="3126533"/>
            <a:ext cx="835437" cy="513397"/>
          </a:xfrm>
          <a:prstGeom prst="rect">
            <a:avLst/>
          </a:prstGeom>
        </p:spPr>
      </p:pic>
      <p:pic>
        <p:nvPicPr>
          <p:cNvPr id="12" name="Picture 11" descr="116226914234f125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18946" y="3731371"/>
            <a:ext cx="2569464" cy="515112"/>
          </a:xfrm>
          <a:prstGeom prst="rect">
            <a:avLst/>
          </a:prstGeom>
        </p:spPr>
      </p:pic>
      <p:pic>
        <p:nvPicPr>
          <p:cNvPr id="13" name="Picture 12" descr="ea27676c0bb85836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18946" y="4337923"/>
            <a:ext cx="1481328" cy="51206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77240" y="4987147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17/6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9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 6 — Order of Operations with Radicals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32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465069" y="2171700"/>
            <a:ext cx="290237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Roscoe says that  </a:t>
            </a:r>
          </a:p>
        </p:txBody>
      </p:sp>
      <p:pic>
        <p:nvPicPr>
          <p:cNvPr id="9" name="Picture 8" descr="c79d4acb3ae0bdb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0284" y="2194560"/>
            <a:ext cx="1545336" cy="40614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775620" y="2171700"/>
            <a:ext cx="3057990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  is always positive,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880360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0" i="0">
                <a:solidFill>
                  <a:srgbClr val="1A1A1A"/>
                </a:solidFill>
                <a:latin typeface="Lexend"/>
              </a:rPr>
              <a:t>because a square is always positive.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32807" y="3432379"/>
            <a:ext cx="430930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Is he right? Give a value of </a:t>
            </a:r>
          </a:p>
        </p:txBody>
      </p:sp>
      <p:pic>
        <p:nvPicPr>
          <p:cNvPr id="13" name="Picture 12" descr="f14fce7cf077cd0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04952" y="3606877"/>
            <a:ext cx="143637" cy="168401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148589" y="3432379"/>
            <a:ext cx="231728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 that settles it.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Write your answer in sentences.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9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 6 — Order of Operations with Radicals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33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463830" y="2080260"/>
            <a:ext cx="290237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Roscoe says that  </a:t>
            </a:r>
          </a:p>
        </p:txBody>
      </p:sp>
      <p:pic>
        <p:nvPicPr>
          <p:cNvPr id="9" name="Picture 8" descr="349a51316d69c5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29046" y="2103120"/>
            <a:ext cx="1547812" cy="40614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776858" y="2080260"/>
            <a:ext cx="3057990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  is always positive,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788920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0" i="0">
                <a:solidFill>
                  <a:srgbClr val="1A1A1A"/>
                </a:solidFill>
                <a:latin typeface="Lexend"/>
              </a:rPr>
              <a:t>because a square is always positive.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32807" y="3340939"/>
            <a:ext cx="430930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Is he right? Give a value of </a:t>
            </a:r>
          </a:p>
        </p:txBody>
      </p:sp>
      <p:pic>
        <p:nvPicPr>
          <p:cNvPr id="13" name="Picture 12" descr="f14fce7cf077cd0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04952" y="3515437"/>
            <a:ext cx="143637" cy="168401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148589" y="3340939"/>
            <a:ext cx="231728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 that settles it.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89600" y="4110987"/>
            <a:ext cx="1342179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750" b="0" i="0">
                <a:solidFill>
                  <a:srgbClr val="1A1A1A"/>
                </a:solidFill>
                <a:latin typeface="Lexend"/>
              </a:rPr>
              <a:t>When </a:t>
            </a:r>
          </a:p>
        </p:txBody>
      </p:sp>
      <p:pic>
        <p:nvPicPr>
          <p:cNvPr id="16" name="Picture 15" descr="9784f3a1f264e16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94619" y="4229097"/>
            <a:ext cx="1033081" cy="248602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5227701" y="4110987"/>
            <a:ext cx="60646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750" b="0" i="0">
                <a:solidFill>
                  <a:srgbClr val="1A1A1A"/>
                </a:solidFill>
                <a:latin typeface="Lexend"/>
              </a:rPr>
              <a:t>:   </a:t>
            </a:r>
          </a:p>
        </p:txBody>
      </p:sp>
      <p:pic>
        <p:nvPicPr>
          <p:cNvPr id="18" name="Picture 17" descr="a4391d9dd133494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97009" y="4122751"/>
            <a:ext cx="3483197" cy="433673"/>
          </a:xfrm>
          <a:prstGeom prst="rect">
            <a:avLst/>
          </a:prstGeom>
        </p:spPr>
      </p:pic>
      <p:pic>
        <p:nvPicPr>
          <p:cNvPr id="19" name="Picture 18" descr="a2ae239b6083298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44464" y="4724445"/>
            <a:ext cx="870108" cy="309372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3914572" y="4661580"/>
            <a:ext cx="432124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750" b="0" i="0">
                <a:solidFill>
                  <a:srgbClr val="1A1A1A"/>
                </a:solidFill>
                <a:latin typeface="Lexend"/>
              </a:rPr>
              <a:t>,   and 0 is not positive.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523308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No — at n = 121 the value is 0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Independent Set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 6 — Order of Operations with Radicals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34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1495043"/>
            <a:ext cx="54864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180" b="1" i="0">
                <a:solidFill>
                  <a:srgbClr val="0B5394"/>
                </a:solidFill>
                <a:latin typeface="Lexend"/>
              </a:rPr>
              <a:t>1.</a:t>
            </a:r>
          </a:p>
        </p:txBody>
      </p:sp>
      <p:pic>
        <p:nvPicPr>
          <p:cNvPr id="9" name="Picture 8" descr="7297de9a2fe9374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7632" y="1610867"/>
            <a:ext cx="1676400" cy="22555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960120" y="2089403"/>
            <a:ext cx="54864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180" b="1" i="0">
                <a:solidFill>
                  <a:srgbClr val="0B5394"/>
                </a:solidFill>
                <a:latin typeface="Lexend"/>
              </a:rPr>
              <a:t>2.</a:t>
            </a:r>
          </a:p>
        </p:txBody>
      </p:sp>
      <p:pic>
        <p:nvPicPr>
          <p:cNvPr id="11" name="Picture 10" descr="503ca8bbf5ad037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27632" y="2205227"/>
            <a:ext cx="1167384" cy="225552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960120" y="2683763"/>
            <a:ext cx="54864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180" b="1" i="0">
                <a:solidFill>
                  <a:srgbClr val="0B5394"/>
                </a:solidFill>
                <a:latin typeface="Lexend"/>
              </a:rPr>
              <a:t>3.</a:t>
            </a:r>
          </a:p>
        </p:txBody>
      </p:sp>
      <p:pic>
        <p:nvPicPr>
          <p:cNvPr id="13" name="Picture 12" descr="fee2d71f7c46e5a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27632" y="2744723"/>
            <a:ext cx="1630680" cy="33528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960120" y="3395471"/>
            <a:ext cx="54864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180" b="1" i="0">
                <a:solidFill>
                  <a:srgbClr val="0B5394"/>
                </a:solidFill>
                <a:latin typeface="Lexend"/>
              </a:rPr>
              <a:t>4.</a:t>
            </a:r>
          </a:p>
        </p:txBody>
      </p:sp>
      <p:pic>
        <p:nvPicPr>
          <p:cNvPr id="15" name="Picture 14" descr="4e620423e0fdea8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27632" y="3300983"/>
            <a:ext cx="780288" cy="646176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960120" y="4107179"/>
            <a:ext cx="54864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180" b="1" i="0">
                <a:solidFill>
                  <a:srgbClr val="0B5394"/>
                </a:solidFill>
                <a:latin typeface="Lexend"/>
              </a:rPr>
              <a:t>5.</a:t>
            </a:r>
          </a:p>
        </p:txBody>
      </p:sp>
      <p:pic>
        <p:nvPicPr>
          <p:cNvPr id="17" name="Picture 16" descr="749d7946d074ee2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27632" y="4168139"/>
            <a:ext cx="1514856" cy="33528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960120" y="4701539"/>
            <a:ext cx="54864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180" b="1" i="0">
                <a:solidFill>
                  <a:srgbClr val="0B5394"/>
                </a:solidFill>
                <a:latin typeface="Lexend"/>
              </a:rPr>
              <a:t>6.</a:t>
            </a:r>
          </a:p>
        </p:txBody>
      </p:sp>
      <p:pic>
        <p:nvPicPr>
          <p:cNvPr id="19" name="Picture 18" descr="16b03c438ff63fe5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27632" y="4735067"/>
            <a:ext cx="2215896" cy="390144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IXL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 6 — Order of Operations with Radicals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35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1828800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89" b="1" i="0">
                <a:solidFill>
                  <a:srgbClr val="0B5394"/>
                </a:solidFill>
                <a:latin typeface="Lexend"/>
              </a:rPr>
              <a:t>1.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1828800"/>
            <a:ext cx="98298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89" b="0" i="0">
                <a:solidFill>
                  <a:srgbClr val="1A1A1A"/>
                </a:solidFill>
                <a:latin typeface="Lexend"/>
              </a:rPr>
              <a:t>Open IXL and start today's skills.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331720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89" b="1" i="0">
                <a:solidFill>
                  <a:srgbClr val="0B5394"/>
                </a:solidFill>
                <a:latin typeface="Lexend"/>
              </a:rPr>
              <a:t>2.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2331720"/>
            <a:ext cx="9829800" cy="7680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89" b="0" i="0">
                <a:solidFill>
                  <a:srgbClr val="1A1A1A"/>
                </a:solidFill>
                <a:latin typeface="Lexend"/>
              </a:rPr>
              <a:t>Work on paper where the question needs work. The answer box does not show it.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3191256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89" b="1" i="0">
                <a:solidFill>
                  <a:srgbClr val="0B5394"/>
                </a:solidFill>
                <a:latin typeface="Lexend"/>
              </a:rPr>
              <a:t>3.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3191256"/>
            <a:ext cx="9829800" cy="7680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89" b="0" i="0">
                <a:solidFill>
                  <a:srgbClr val="1A1A1A"/>
                </a:solidFill>
                <a:latin typeface="Lexend"/>
              </a:rPr>
              <a:t>Every skill listed is required, to a SmartScore of 67. Due by the Unit 4 test.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4096511"/>
            <a:ext cx="102412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89" b="1" i="0">
                <a:solidFill>
                  <a:srgbClr val="1A1A1A"/>
                </a:solidFill>
                <a:latin typeface="Lexend"/>
              </a:rPr>
              <a:t>Today's skills — all required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25880" y="4507992"/>
            <a:ext cx="9692640" cy="32918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10" b="0" i="0">
                <a:solidFill>
                  <a:srgbClr val="1A1A1A"/>
                </a:solidFill>
                <a:latin typeface="Lexend"/>
              </a:rPr>
              <a:t>Evaluate radical expressions — D8J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