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52" r:id="rId103"/>
    <p:sldId id="353" r:id="rId104"/>
    <p:sldId id="354" r:id="rId105"/>
    <p:sldId id="355" r:id="rId106"/>
    <p:sldId id="356" r:id="rId107"/>
    <p:sldId id="357" r:id="rId108"/>
    <p:sldId id="358" r:id="rId109"/>
    <p:sldId id="359" r:id="rId110"/>
    <p:sldId id="360" r:id="rId111"/>
    <p:sldId id="361" r:id="rId112"/>
    <p:sldId id="362" r:id="rId113"/>
    <p:sldId id="363" r:id="rId114"/>
    <p:sldId id="364" r:id="rId115"/>
    <p:sldId id="365" r:id="rId116"/>
    <p:sldId id="366" r:id="rId117"/>
    <p:sldId id="367" r:id="rId118"/>
    <p:sldId id="368" r:id="rId119"/>
    <p:sldId id="369" r:id="rId120"/>
    <p:sldId id="370" r:id="rId121"/>
    <p:sldId id="371" r:id="rId122"/>
    <p:sldId id="372" r:id="rId123"/>
    <p:sldId id="373" r:id="rId124"/>
    <p:sldId id="374" r:id="rId125"/>
    <p:sldId id="375" r:id="rId126"/>
    <p:sldId id="376" r:id="rId127"/>
    <p:sldId id="377" r:id="rId128"/>
    <p:sldId id="378" r:id="rId129"/>
    <p:sldId id="379" r:id="rId130"/>
    <p:sldId id="380" r:id="rId131"/>
    <p:sldId id="381" r:id="rId132"/>
    <p:sldId id="382" r:id="rId133"/>
    <p:sldId id="383" r:id="rId134"/>
    <p:sldId id="384" r:id="rId135"/>
    <p:sldId id="385" r:id="rId136"/>
    <p:sldId id="386" r:id="rId137"/>
    <p:sldId id="387" r:id="rId138"/>
    <p:sldId id="388" r:id="rId139"/>
    <p:sldId id="389" r:id="rId140"/>
    <p:sldId id="390" r:id="rId141"/>
    <p:sldId id="391" r:id="rId142"/>
    <p:sldId id="392" r:id="rId143"/>
    <p:sldId id="393" r:id="rId144"/>
    <p:sldId id="394" r:id="rId145"/>
    <p:sldId id="395" r:id="rId146"/>
    <p:sldId id="396" r:id="rId147"/>
    <p:sldId id="397" r:id="rId148"/>
    <p:sldId id="398" r:id="rId149"/>
    <p:sldId id="399" r:id="rId150"/>
    <p:sldId id="400" r:id="rId151"/>
    <p:sldId id="401" r:id="rId152"/>
    <p:sldId id="402" r:id="rId153"/>
    <p:sldId id="403" r:id="rId154"/>
    <p:sldId id="404" r:id="rId155"/>
    <p:sldId id="405" r:id="rId156"/>
    <p:sldId id="406" r:id="rId157"/>
    <p:sldId id="407" r:id="rId158"/>
    <p:sldId id="408" r:id="rId159"/>
    <p:sldId id="409" r:id="rId160"/>
    <p:sldId id="410" r:id="rId161"/>
    <p:sldId id="411" r:id="rId162"/>
    <p:sldId id="412" r:id="rId163"/>
    <p:sldId id="413" r:id="rId164"/>
    <p:sldId id="414" r:id="rId165"/>
    <p:sldId id="415" r:id="rId166"/>
    <p:sldId id="416" r:id="rId167"/>
    <p:sldId id="417" r:id="rId168"/>
    <p:sldId id="418" r:id="rId169"/>
    <p:sldId id="419" r:id="rId170"/>
    <p:sldId id="420" r:id="rId171"/>
    <p:sldId id="421" r:id="rId172"/>
    <p:sldId id="422" r:id="rId173"/>
    <p:sldId id="423" r:id="rId174"/>
    <p:sldId id="424" r:id="rId175"/>
    <p:sldId id="425" r:id="rId176"/>
    <p:sldId id="426" r:id="rId177"/>
    <p:sldId id="427" r:id="rId178"/>
    <p:sldId id="428" r:id="rId179"/>
    <p:sldId id="429" r:id="rId180"/>
    <p:sldId id="430" r:id="rId181"/>
    <p:sldId id="431" r:id="rId182"/>
    <p:sldId id="432" r:id="rId183"/>
    <p:sldId id="433" r:id="rId184"/>
    <p:sldId id="434" r:id="rId185"/>
    <p:sldId id="435" r:id="rId186"/>
    <p:sldId id="436" r:id="rId187"/>
    <p:sldId id="437" r:id="rId188"/>
    <p:sldId id="438" r:id="rId189"/>
    <p:sldId id="439" r:id="rId190"/>
    <p:sldId id="440" r:id="rId191"/>
    <p:sldId id="441" r:id="rId192"/>
    <p:sldId id="442" r:id="rId193"/>
    <p:sldId id="443" r:id="rId194"/>
    <p:sldId id="444" r:id="rId195"/>
    <p:sldId id="445" r:id="rId196"/>
    <p:sldId id="446" r:id="rId197"/>
    <p:sldId id="447" r:id="rId198"/>
    <p:sldId id="448" r:id="rId199"/>
    <p:sldId id="449" r:id="rId200"/>
    <p:sldId id="450" r:id="rId201"/>
    <p:sldId id="451" r:id="rId202"/>
    <p:sldId id="452" r:id="rId203"/>
    <p:sldId id="453" r:id="rId204"/>
    <p:sldId id="454" r:id="rId205"/>
    <p:sldId id="455" r:id="rId206"/>
    <p:sldId id="456" r:id="rId207"/>
    <p:sldId id="457" r:id="rId208"/>
    <p:sldId id="458" r:id="rId209"/>
    <p:sldId id="459" r:id="rId210"/>
    <p:sldId id="460" r:id="rId211"/>
    <p:sldId id="461" r:id="rId212"/>
    <p:sldId id="462" r:id="rId213"/>
    <p:sldId id="463" r:id="rId214"/>
    <p:sldId id="464" r:id="rId215"/>
    <p:sldId id="465" r:id="rId216"/>
    <p:sldId id="466" r:id="rId217"/>
    <p:sldId id="467" r:id="rId218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Relationship Id="rId103" Type="http://schemas.openxmlformats.org/officeDocument/2006/relationships/slide" Target="slides/slide97.xml"/><Relationship Id="rId104" Type="http://schemas.openxmlformats.org/officeDocument/2006/relationships/slide" Target="slides/slide98.xml"/><Relationship Id="rId105" Type="http://schemas.openxmlformats.org/officeDocument/2006/relationships/slide" Target="slides/slide99.xml"/><Relationship Id="rId106" Type="http://schemas.openxmlformats.org/officeDocument/2006/relationships/slide" Target="slides/slide100.xml"/><Relationship Id="rId107" Type="http://schemas.openxmlformats.org/officeDocument/2006/relationships/slide" Target="slides/slide101.xml"/><Relationship Id="rId108" Type="http://schemas.openxmlformats.org/officeDocument/2006/relationships/slide" Target="slides/slide102.xml"/><Relationship Id="rId109" Type="http://schemas.openxmlformats.org/officeDocument/2006/relationships/slide" Target="slides/slide103.xml"/><Relationship Id="rId110" Type="http://schemas.openxmlformats.org/officeDocument/2006/relationships/slide" Target="slides/slide104.xml"/><Relationship Id="rId111" Type="http://schemas.openxmlformats.org/officeDocument/2006/relationships/slide" Target="slides/slide105.xml"/><Relationship Id="rId112" Type="http://schemas.openxmlformats.org/officeDocument/2006/relationships/slide" Target="slides/slide106.xml"/><Relationship Id="rId113" Type="http://schemas.openxmlformats.org/officeDocument/2006/relationships/slide" Target="slides/slide107.xml"/><Relationship Id="rId114" Type="http://schemas.openxmlformats.org/officeDocument/2006/relationships/slide" Target="slides/slide108.xml"/><Relationship Id="rId115" Type="http://schemas.openxmlformats.org/officeDocument/2006/relationships/slide" Target="slides/slide109.xml"/><Relationship Id="rId116" Type="http://schemas.openxmlformats.org/officeDocument/2006/relationships/slide" Target="slides/slide110.xml"/><Relationship Id="rId117" Type="http://schemas.openxmlformats.org/officeDocument/2006/relationships/slide" Target="slides/slide111.xml"/><Relationship Id="rId118" Type="http://schemas.openxmlformats.org/officeDocument/2006/relationships/slide" Target="slides/slide112.xml"/><Relationship Id="rId119" Type="http://schemas.openxmlformats.org/officeDocument/2006/relationships/slide" Target="slides/slide113.xml"/><Relationship Id="rId120" Type="http://schemas.openxmlformats.org/officeDocument/2006/relationships/slide" Target="slides/slide114.xml"/><Relationship Id="rId121" Type="http://schemas.openxmlformats.org/officeDocument/2006/relationships/slide" Target="slides/slide115.xml"/><Relationship Id="rId122" Type="http://schemas.openxmlformats.org/officeDocument/2006/relationships/slide" Target="slides/slide116.xml"/><Relationship Id="rId123" Type="http://schemas.openxmlformats.org/officeDocument/2006/relationships/slide" Target="slides/slide117.xml"/><Relationship Id="rId124" Type="http://schemas.openxmlformats.org/officeDocument/2006/relationships/slide" Target="slides/slide118.xml"/><Relationship Id="rId125" Type="http://schemas.openxmlformats.org/officeDocument/2006/relationships/slide" Target="slides/slide119.xml"/><Relationship Id="rId126" Type="http://schemas.openxmlformats.org/officeDocument/2006/relationships/slide" Target="slides/slide120.xml"/><Relationship Id="rId127" Type="http://schemas.openxmlformats.org/officeDocument/2006/relationships/slide" Target="slides/slide121.xml"/><Relationship Id="rId128" Type="http://schemas.openxmlformats.org/officeDocument/2006/relationships/slide" Target="slides/slide122.xml"/><Relationship Id="rId129" Type="http://schemas.openxmlformats.org/officeDocument/2006/relationships/slide" Target="slides/slide123.xml"/><Relationship Id="rId130" Type="http://schemas.openxmlformats.org/officeDocument/2006/relationships/slide" Target="slides/slide124.xml"/><Relationship Id="rId131" Type="http://schemas.openxmlformats.org/officeDocument/2006/relationships/slide" Target="slides/slide125.xml"/><Relationship Id="rId132" Type="http://schemas.openxmlformats.org/officeDocument/2006/relationships/slide" Target="slides/slide126.xml"/><Relationship Id="rId133" Type="http://schemas.openxmlformats.org/officeDocument/2006/relationships/slide" Target="slides/slide127.xml"/><Relationship Id="rId134" Type="http://schemas.openxmlformats.org/officeDocument/2006/relationships/slide" Target="slides/slide128.xml"/><Relationship Id="rId135" Type="http://schemas.openxmlformats.org/officeDocument/2006/relationships/slide" Target="slides/slide129.xml"/><Relationship Id="rId136" Type="http://schemas.openxmlformats.org/officeDocument/2006/relationships/slide" Target="slides/slide130.xml"/><Relationship Id="rId137" Type="http://schemas.openxmlformats.org/officeDocument/2006/relationships/slide" Target="slides/slide131.xml"/><Relationship Id="rId138" Type="http://schemas.openxmlformats.org/officeDocument/2006/relationships/slide" Target="slides/slide132.xml"/><Relationship Id="rId139" Type="http://schemas.openxmlformats.org/officeDocument/2006/relationships/slide" Target="slides/slide133.xml"/><Relationship Id="rId140" Type="http://schemas.openxmlformats.org/officeDocument/2006/relationships/slide" Target="slides/slide134.xml"/><Relationship Id="rId141" Type="http://schemas.openxmlformats.org/officeDocument/2006/relationships/slide" Target="slides/slide135.xml"/><Relationship Id="rId142" Type="http://schemas.openxmlformats.org/officeDocument/2006/relationships/slide" Target="slides/slide136.xml"/><Relationship Id="rId143" Type="http://schemas.openxmlformats.org/officeDocument/2006/relationships/slide" Target="slides/slide137.xml"/><Relationship Id="rId144" Type="http://schemas.openxmlformats.org/officeDocument/2006/relationships/slide" Target="slides/slide138.xml"/><Relationship Id="rId145" Type="http://schemas.openxmlformats.org/officeDocument/2006/relationships/slide" Target="slides/slide139.xml"/><Relationship Id="rId146" Type="http://schemas.openxmlformats.org/officeDocument/2006/relationships/slide" Target="slides/slide140.xml"/><Relationship Id="rId147" Type="http://schemas.openxmlformats.org/officeDocument/2006/relationships/slide" Target="slides/slide141.xml"/><Relationship Id="rId148" Type="http://schemas.openxmlformats.org/officeDocument/2006/relationships/slide" Target="slides/slide142.xml"/><Relationship Id="rId149" Type="http://schemas.openxmlformats.org/officeDocument/2006/relationships/slide" Target="slides/slide143.xml"/><Relationship Id="rId150" Type="http://schemas.openxmlformats.org/officeDocument/2006/relationships/slide" Target="slides/slide144.xml"/><Relationship Id="rId151" Type="http://schemas.openxmlformats.org/officeDocument/2006/relationships/slide" Target="slides/slide145.xml"/><Relationship Id="rId152" Type="http://schemas.openxmlformats.org/officeDocument/2006/relationships/slide" Target="slides/slide146.xml"/><Relationship Id="rId153" Type="http://schemas.openxmlformats.org/officeDocument/2006/relationships/slide" Target="slides/slide147.xml"/><Relationship Id="rId154" Type="http://schemas.openxmlformats.org/officeDocument/2006/relationships/slide" Target="slides/slide148.xml"/><Relationship Id="rId155" Type="http://schemas.openxmlformats.org/officeDocument/2006/relationships/slide" Target="slides/slide149.xml"/><Relationship Id="rId156" Type="http://schemas.openxmlformats.org/officeDocument/2006/relationships/slide" Target="slides/slide150.xml"/><Relationship Id="rId157" Type="http://schemas.openxmlformats.org/officeDocument/2006/relationships/slide" Target="slides/slide151.xml"/><Relationship Id="rId158" Type="http://schemas.openxmlformats.org/officeDocument/2006/relationships/slide" Target="slides/slide152.xml"/><Relationship Id="rId159" Type="http://schemas.openxmlformats.org/officeDocument/2006/relationships/slide" Target="slides/slide153.xml"/><Relationship Id="rId160" Type="http://schemas.openxmlformats.org/officeDocument/2006/relationships/slide" Target="slides/slide154.xml"/><Relationship Id="rId161" Type="http://schemas.openxmlformats.org/officeDocument/2006/relationships/slide" Target="slides/slide155.xml"/><Relationship Id="rId162" Type="http://schemas.openxmlformats.org/officeDocument/2006/relationships/slide" Target="slides/slide156.xml"/><Relationship Id="rId163" Type="http://schemas.openxmlformats.org/officeDocument/2006/relationships/slide" Target="slides/slide157.xml"/><Relationship Id="rId164" Type="http://schemas.openxmlformats.org/officeDocument/2006/relationships/slide" Target="slides/slide158.xml"/><Relationship Id="rId165" Type="http://schemas.openxmlformats.org/officeDocument/2006/relationships/slide" Target="slides/slide159.xml"/><Relationship Id="rId166" Type="http://schemas.openxmlformats.org/officeDocument/2006/relationships/slide" Target="slides/slide160.xml"/><Relationship Id="rId167" Type="http://schemas.openxmlformats.org/officeDocument/2006/relationships/slide" Target="slides/slide161.xml"/><Relationship Id="rId168" Type="http://schemas.openxmlformats.org/officeDocument/2006/relationships/slide" Target="slides/slide162.xml"/><Relationship Id="rId169" Type="http://schemas.openxmlformats.org/officeDocument/2006/relationships/slide" Target="slides/slide163.xml"/><Relationship Id="rId170" Type="http://schemas.openxmlformats.org/officeDocument/2006/relationships/slide" Target="slides/slide164.xml"/><Relationship Id="rId171" Type="http://schemas.openxmlformats.org/officeDocument/2006/relationships/slide" Target="slides/slide165.xml"/><Relationship Id="rId172" Type="http://schemas.openxmlformats.org/officeDocument/2006/relationships/slide" Target="slides/slide166.xml"/><Relationship Id="rId173" Type="http://schemas.openxmlformats.org/officeDocument/2006/relationships/slide" Target="slides/slide167.xml"/><Relationship Id="rId174" Type="http://schemas.openxmlformats.org/officeDocument/2006/relationships/slide" Target="slides/slide168.xml"/><Relationship Id="rId175" Type="http://schemas.openxmlformats.org/officeDocument/2006/relationships/slide" Target="slides/slide169.xml"/><Relationship Id="rId176" Type="http://schemas.openxmlformats.org/officeDocument/2006/relationships/slide" Target="slides/slide170.xml"/><Relationship Id="rId177" Type="http://schemas.openxmlformats.org/officeDocument/2006/relationships/slide" Target="slides/slide171.xml"/><Relationship Id="rId178" Type="http://schemas.openxmlformats.org/officeDocument/2006/relationships/slide" Target="slides/slide172.xml"/><Relationship Id="rId179" Type="http://schemas.openxmlformats.org/officeDocument/2006/relationships/slide" Target="slides/slide173.xml"/><Relationship Id="rId180" Type="http://schemas.openxmlformats.org/officeDocument/2006/relationships/slide" Target="slides/slide174.xml"/><Relationship Id="rId181" Type="http://schemas.openxmlformats.org/officeDocument/2006/relationships/slide" Target="slides/slide175.xml"/><Relationship Id="rId182" Type="http://schemas.openxmlformats.org/officeDocument/2006/relationships/slide" Target="slides/slide176.xml"/><Relationship Id="rId183" Type="http://schemas.openxmlformats.org/officeDocument/2006/relationships/slide" Target="slides/slide177.xml"/><Relationship Id="rId184" Type="http://schemas.openxmlformats.org/officeDocument/2006/relationships/slide" Target="slides/slide178.xml"/><Relationship Id="rId185" Type="http://schemas.openxmlformats.org/officeDocument/2006/relationships/slide" Target="slides/slide179.xml"/><Relationship Id="rId186" Type="http://schemas.openxmlformats.org/officeDocument/2006/relationships/slide" Target="slides/slide180.xml"/><Relationship Id="rId187" Type="http://schemas.openxmlformats.org/officeDocument/2006/relationships/slide" Target="slides/slide181.xml"/><Relationship Id="rId188" Type="http://schemas.openxmlformats.org/officeDocument/2006/relationships/slide" Target="slides/slide182.xml"/><Relationship Id="rId189" Type="http://schemas.openxmlformats.org/officeDocument/2006/relationships/slide" Target="slides/slide183.xml"/><Relationship Id="rId190" Type="http://schemas.openxmlformats.org/officeDocument/2006/relationships/slide" Target="slides/slide184.xml"/><Relationship Id="rId191" Type="http://schemas.openxmlformats.org/officeDocument/2006/relationships/slide" Target="slides/slide185.xml"/><Relationship Id="rId192" Type="http://schemas.openxmlformats.org/officeDocument/2006/relationships/slide" Target="slides/slide186.xml"/><Relationship Id="rId193" Type="http://schemas.openxmlformats.org/officeDocument/2006/relationships/slide" Target="slides/slide187.xml"/><Relationship Id="rId194" Type="http://schemas.openxmlformats.org/officeDocument/2006/relationships/slide" Target="slides/slide188.xml"/><Relationship Id="rId195" Type="http://schemas.openxmlformats.org/officeDocument/2006/relationships/slide" Target="slides/slide189.xml"/><Relationship Id="rId196" Type="http://schemas.openxmlformats.org/officeDocument/2006/relationships/slide" Target="slides/slide190.xml"/><Relationship Id="rId197" Type="http://schemas.openxmlformats.org/officeDocument/2006/relationships/slide" Target="slides/slide191.xml"/><Relationship Id="rId198" Type="http://schemas.openxmlformats.org/officeDocument/2006/relationships/slide" Target="slides/slide192.xml"/><Relationship Id="rId199" Type="http://schemas.openxmlformats.org/officeDocument/2006/relationships/slide" Target="slides/slide193.xml"/><Relationship Id="rId200" Type="http://schemas.openxmlformats.org/officeDocument/2006/relationships/slide" Target="slides/slide194.xml"/><Relationship Id="rId201" Type="http://schemas.openxmlformats.org/officeDocument/2006/relationships/slide" Target="slides/slide195.xml"/><Relationship Id="rId202" Type="http://schemas.openxmlformats.org/officeDocument/2006/relationships/slide" Target="slides/slide196.xml"/><Relationship Id="rId203" Type="http://schemas.openxmlformats.org/officeDocument/2006/relationships/slide" Target="slides/slide197.xml"/><Relationship Id="rId204" Type="http://schemas.openxmlformats.org/officeDocument/2006/relationships/slide" Target="slides/slide198.xml"/><Relationship Id="rId205" Type="http://schemas.openxmlformats.org/officeDocument/2006/relationships/slide" Target="slides/slide199.xml"/><Relationship Id="rId206" Type="http://schemas.openxmlformats.org/officeDocument/2006/relationships/slide" Target="slides/slide200.xml"/><Relationship Id="rId207" Type="http://schemas.openxmlformats.org/officeDocument/2006/relationships/slide" Target="slides/slide201.xml"/><Relationship Id="rId208" Type="http://schemas.openxmlformats.org/officeDocument/2006/relationships/slide" Target="slides/slide202.xml"/><Relationship Id="rId209" Type="http://schemas.openxmlformats.org/officeDocument/2006/relationships/slide" Target="slides/slide203.xml"/><Relationship Id="rId210" Type="http://schemas.openxmlformats.org/officeDocument/2006/relationships/slide" Target="slides/slide204.xml"/><Relationship Id="rId211" Type="http://schemas.openxmlformats.org/officeDocument/2006/relationships/slide" Target="slides/slide205.xml"/><Relationship Id="rId212" Type="http://schemas.openxmlformats.org/officeDocument/2006/relationships/slide" Target="slides/slide206.xml"/><Relationship Id="rId213" Type="http://schemas.openxmlformats.org/officeDocument/2006/relationships/slide" Target="slides/slide207.xml"/><Relationship Id="rId214" Type="http://schemas.openxmlformats.org/officeDocument/2006/relationships/slide" Target="slides/slide208.xml"/><Relationship Id="rId215" Type="http://schemas.openxmlformats.org/officeDocument/2006/relationships/slide" Target="slides/slide209.xml"/><Relationship Id="rId216" Type="http://schemas.openxmlformats.org/officeDocument/2006/relationships/slide" Target="slides/slide210.xml"/><Relationship Id="rId217" Type="http://schemas.openxmlformats.org/officeDocument/2006/relationships/slide" Target="slides/slide211.xml"/><Relationship Id="rId218" Type="http://schemas.openxmlformats.org/officeDocument/2006/relationships/slide" Target="slides/slide2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3.xml"/><Relationship Id="rId3" Type="http://schemas.openxmlformats.org/officeDocument/2006/relationships/slide" Target="slide38.xml"/><Relationship Id="rId4" Type="http://schemas.openxmlformats.org/officeDocument/2006/relationships/slide" Target="slide73.xml"/><Relationship Id="rId5" Type="http://schemas.openxmlformats.org/officeDocument/2006/relationships/slide" Target="slide108.xml"/><Relationship Id="rId6" Type="http://schemas.openxmlformats.org/officeDocument/2006/relationships/slide" Target="slide143.xml"/><Relationship Id="rId7" Type="http://schemas.openxmlformats.org/officeDocument/2006/relationships/slide" Target="slide178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image" Target="../media/image1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Relationship Id="rId4" Type="http://schemas.openxmlformats.org/officeDocument/2006/relationships/image" Target="../media/image2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image" Target="../media/image23.png"/><Relationship Id="rId4" Type="http://schemas.openxmlformats.org/officeDocument/2006/relationships/image" Target="../media/image2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image" Target="../media/image27.png"/><Relationship Id="rId4" Type="http://schemas.openxmlformats.org/officeDocument/2006/relationships/image" Target="../media/image28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openxmlformats.org/officeDocument/2006/relationships/image" Target="../media/image31.png"/><Relationship Id="rId4" Type="http://schemas.openxmlformats.org/officeDocument/2006/relationships/image" Target="../media/image32.png"/><Relationship Id="rId5" Type="http://schemas.openxmlformats.org/officeDocument/2006/relationships/image" Target="../media/image3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image" Target="../media/image36.png"/><Relationship Id="rId4" Type="http://schemas.openxmlformats.org/officeDocument/2006/relationships/image" Target="../media/image37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Relationship Id="rId3" Type="http://schemas.openxmlformats.org/officeDocument/2006/relationships/image" Target="../media/image39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Relationship Id="rId3" Type="http://schemas.openxmlformats.org/officeDocument/2006/relationships/image" Target="../media/image41.png"/><Relationship Id="rId4" Type="http://schemas.openxmlformats.org/officeDocument/2006/relationships/image" Target="../media/image42.png"/><Relationship Id="rId5" Type="http://schemas.openxmlformats.org/officeDocument/2006/relationships/image" Target="../media/image43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Relationship Id="rId3" Type="http://schemas.openxmlformats.org/officeDocument/2006/relationships/image" Target="../media/image46.png"/><Relationship Id="rId4" Type="http://schemas.openxmlformats.org/officeDocument/2006/relationships/image" Target="../media/image47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png"/><Relationship Id="rId3" Type="http://schemas.openxmlformats.org/officeDocument/2006/relationships/image" Target="../media/image50.png"/><Relationship Id="rId4" Type="http://schemas.openxmlformats.org/officeDocument/2006/relationships/image" Target="../media/image5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.png"/><Relationship Id="rId3" Type="http://schemas.openxmlformats.org/officeDocument/2006/relationships/image" Target="../media/image54.png"/><Relationship Id="rId4" Type="http://schemas.openxmlformats.org/officeDocument/2006/relationships/image" Target="../media/image55.png"/><Relationship Id="rId5" Type="http://schemas.openxmlformats.org/officeDocument/2006/relationships/image" Target="../media/image56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8.png"/><Relationship Id="rId3" Type="http://schemas.openxmlformats.org/officeDocument/2006/relationships/image" Target="../media/image59.png"/><Relationship Id="rId4" Type="http://schemas.openxmlformats.org/officeDocument/2006/relationships/image" Target="../media/image60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2.png"/><Relationship Id="rId3" Type="http://schemas.openxmlformats.org/officeDocument/2006/relationships/image" Target="../media/image63.png"/><Relationship Id="rId4" Type="http://schemas.openxmlformats.org/officeDocument/2006/relationships/image" Target="../media/image64.png"/><Relationship Id="rId5" Type="http://schemas.openxmlformats.org/officeDocument/2006/relationships/image" Target="../media/image65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6.png"/><Relationship Id="rId3" Type="http://schemas.openxmlformats.org/officeDocument/2006/relationships/image" Target="../media/image7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7.png"/><Relationship Id="rId3" Type="http://schemas.openxmlformats.org/officeDocument/2006/relationships/image" Target="../media/image7.png"/><Relationship Id="rId4" Type="http://schemas.openxmlformats.org/officeDocument/2006/relationships/image" Target="../media/image68.png"/><Relationship Id="rId5" Type="http://schemas.openxmlformats.org/officeDocument/2006/relationships/image" Target="../media/image69.png"/><Relationship Id="rId6" Type="http://schemas.openxmlformats.org/officeDocument/2006/relationships/image" Target="../media/image70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1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2.png"/><Relationship Id="rId3" Type="http://schemas.openxmlformats.org/officeDocument/2006/relationships/image" Target="../media/image73.png"/><Relationship Id="rId4" Type="http://schemas.openxmlformats.org/officeDocument/2006/relationships/image" Target="../media/image74.png"/><Relationship Id="rId5" Type="http://schemas.openxmlformats.org/officeDocument/2006/relationships/image" Target="../media/image75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6.png"/><Relationship Id="rId3" Type="http://schemas.openxmlformats.org/officeDocument/2006/relationships/image" Target="../media/image77.png"/><Relationship Id="rId4" Type="http://schemas.openxmlformats.org/officeDocument/2006/relationships/image" Target="../media/image78.png"/><Relationship Id="rId5" Type="http://schemas.openxmlformats.org/officeDocument/2006/relationships/image" Target="../media/image79.png"/><Relationship Id="rId6" Type="http://schemas.openxmlformats.org/officeDocument/2006/relationships/image" Target="../media/image80.png"/><Relationship Id="rId7" Type="http://schemas.openxmlformats.org/officeDocument/2006/relationships/image" Target="../media/image81.png"/><Relationship Id="rId8" Type="http://schemas.openxmlformats.org/officeDocument/2006/relationships/image" Target="../media/image82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3.png"/><Relationship Id="rId3" Type="http://schemas.openxmlformats.org/officeDocument/2006/relationships/image" Target="../media/image84.png"/><Relationship Id="rId4" Type="http://schemas.openxmlformats.org/officeDocument/2006/relationships/image" Target="../media/image85.png"/><Relationship Id="rId5" Type="http://schemas.openxmlformats.org/officeDocument/2006/relationships/image" Target="../media/image86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3.png"/><Relationship Id="rId3" Type="http://schemas.openxmlformats.org/officeDocument/2006/relationships/image" Target="../media/image84.png"/><Relationship Id="rId4" Type="http://schemas.openxmlformats.org/officeDocument/2006/relationships/image" Target="../media/image85.png"/><Relationship Id="rId5" Type="http://schemas.openxmlformats.org/officeDocument/2006/relationships/image" Target="../media/image86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7.png"/><Relationship Id="rId3" Type="http://schemas.openxmlformats.org/officeDocument/2006/relationships/image" Target="../media/image88.png"/><Relationship Id="rId4" Type="http://schemas.openxmlformats.org/officeDocument/2006/relationships/image" Target="../media/image89.png"/><Relationship Id="rId5" Type="http://schemas.openxmlformats.org/officeDocument/2006/relationships/image" Target="../media/image90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1.png"/><Relationship Id="rId3" Type="http://schemas.openxmlformats.org/officeDocument/2006/relationships/image" Target="../media/image92.png"/><Relationship Id="rId4" Type="http://schemas.openxmlformats.org/officeDocument/2006/relationships/image" Target="../media/image93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4.png"/><Relationship Id="rId3" Type="http://schemas.openxmlformats.org/officeDocument/2006/relationships/image" Target="../media/image95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6.png"/><Relationship Id="rId3" Type="http://schemas.openxmlformats.org/officeDocument/2006/relationships/image" Target="../media/image97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8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9.png"/><Relationship Id="rId3" Type="http://schemas.openxmlformats.org/officeDocument/2006/relationships/image" Target="../media/image100.png"/><Relationship Id="rId4" Type="http://schemas.openxmlformats.org/officeDocument/2006/relationships/image" Target="../media/image101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2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3.png"/><Relationship Id="rId3" Type="http://schemas.openxmlformats.org/officeDocument/2006/relationships/image" Target="../media/image104.png"/><Relationship Id="rId4" Type="http://schemas.openxmlformats.org/officeDocument/2006/relationships/image" Target="../media/image105.png"/><Relationship Id="rId5" Type="http://schemas.openxmlformats.org/officeDocument/2006/relationships/image" Target="../media/image106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7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8.png"/><Relationship Id="rId3" Type="http://schemas.openxmlformats.org/officeDocument/2006/relationships/image" Target="../media/image109.png"/><Relationship Id="rId4" Type="http://schemas.openxmlformats.org/officeDocument/2006/relationships/image" Target="../media/image110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1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2.png"/><Relationship Id="rId3" Type="http://schemas.openxmlformats.org/officeDocument/2006/relationships/image" Target="../media/image113.png"/><Relationship Id="rId4" Type="http://schemas.openxmlformats.org/officeDocument/2006/relationships/image" Target="../media/image114.png"/><Relationship Id="rId5" Type="http://schemas.openxmlformats.org/officeDocument/2006/relationships/image" Target="../media/image115.png"/><Relationship Id="rId6" Type="http://schemas.openxmlformats.org/officeDocument/2006/relationships/image" Target="../media/image116.png"/><Relationship Id="rId7" Type="http://schemas.openxmlformats.org/officeDocument/2006/relationships/image" Target="../media/image117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8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9.png"/><Relationship Id="rId3" Type="http://schemas.openxmlformats.org/officeDocument/2006/relationships/image" Target="../media/image120.png"/><Relationship Id="rId4" Type="http://schemas.openxmlformats.org/officeDocument/2006/relationships/image" Target="../media/image121.png"/><Relationship Id="rId5" Type="http://schemas.openxmlformats.org/officeDocument/2006/relationships/image" Target="../media/image122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3.png"/><Relationship Id="rId3" Type="http://schemas.openxmlformats.org/officeDocument/2006/relationships/image" Target="../media/image124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5.png"/><Relationship Id="rId3" Type="http://schemas.openxmlformats.org/officeDocument/2006/relationships/image" Target="../media/image126.png"/><Relationship Id="rId4" Type="http://schemas.openxmlformats.org/officeDocument/2006/relationships/image" Target="../media/image127.png"/><Relationship Id="rId5" Type="http://schemas.openxmlformats.org/officeDocument/2006/relationships/image" Target="../media/image128.png"/><Relationship Id="rId6" Type="http://schemas.openxmlformats.org/officeDocument/2006/relationships/image" Target="../media/image129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0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1.png"/><Relationship Id="rId3" Type="http://schemas.openxmlformats.org/officeDocument/2006/relationships/image" Target="../media/image132.png"/><Relationship Id="rId4" Type="http://schemas.openxmlformats.org/officeDocument/2006/relationships/image" Target="../media/image133.png"/><Relationship Id="rId5" Type="http://schemas.openxmlformats.org/officeDocument/2006/relationships/image" Target="../media/image134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5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6.png"/><Relationship Id="rId3" Type="http://schemas.openxmlformats.org/officeDocument/2006/relationships/image" Target="../media/image137.png"/><Relationship Id="rId4" Type="http://schemas.openxmlformats.org/officeDocument/2006/relationships/image" Target="../media/image138.png"/><Relationship Id="rId5" Type="http://schemas.openxmlformats.org/officeDocument/2006/relationships/image" Target="../media/image139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0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1.png"/><Relationship Id="rId3" Type="http://schemas.openxmlformats.org/officeDocument/2006/relationships/image" Target="../media/image142.png"/><Relationship Id="rId4" Type="http://schemas.openxmlformats.org/officeDocument/2006/relationships/image" Target="../media/image143.png"/><Relationship Id="rId5" Type="http://schemas.openxmlformats.org/officeDocument/2006/relationships/image" Target="../media/image144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5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6.png"/><Relationship Id="rId3" Type="http://schemas.openxmlformats.org/officeDocument/2006/relationships/image" Target="../media/image147.png"/><Relationship Id="rId4" Type="http://schemas.openxmlformats.org/officeDocument/2006/relationships/image" Target="../media/image148.png"/><Relationship Id="rId5" Type="http://schemas.openxmlformats.org/officeDocument/2006/relationships/image" Target="../media/image149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0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1.png"/><Relationship Id="rId3" Type="http://schemas.openxmlformats.org/officeDocument/2006/relationships/image" Target="../media/image152.png"/><Relationship Id="rId4" Type="http://schemas.openxmlformats.org/officeDocument/2006/relationships/image" Target="../media/image153.png"/><Relationship Id="rId5" Type="http://schemas.openxmlformats.org/officeDocument/2006/relationships/image" Target="../media/image154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5.png"/><Relationship Id="rId3" Type="http://schemas.openxmlformats.org/officeDocument/2006/relationships/image" Target="../media/image7.pn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6.png"/><Relationship Id="rId3" Type="http://schemas.openxmlformats.org/officeDocument/2006/relationships/image" Target="../media/image7.png"/><Relationship Id="rId4" Type="http://schemas.openxmlformats.org/officeDocument/2006/relationships/image" Target="../media/image157.png"/><Relationship Id="rId5" Type="http://schemas.openxmlformats.org/officeDocument/2006/relationships/image" Target="../media/image158.png"/><Relationship Id="rId6" Type="http://schemas.openxmlformats.org/officeDocument/2006/relationships/image" Target="../media/image159.pn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0.png"/><Relationship Id="rId3" Type="http://schemas.openxmlformats.org/officeDocument/2006/relationships/image" Target="../media/image161.png"/><Relationship Id="rId4" Type="http://schemas.openxmlformats.org/officeDocument/2006/relationships/image" Target="../media/image162.pn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3.png"/><Relationship Id="rId3" Type="http://schemas.openxmlformats.org/officeDocument/2006/relationships/image" Target="../media/image164.png"/><Relationship Id="rId4" Type="http://schemas.openxmlformats.org/officeDocument/2006/relationships/image" Target="../media/image165.png"/><Relationship Id="rId5" Type="http://schemas.openxmlformats.org/officeDocument/2006/relationships/image" Target="../media/image166.png"/><Relationship Id="rId6" Type="http://schemas.openxmlformats.org/officeDocument/2006/relationships/image" Target="../media/image167.png"/><Relationship Id="rId7" Type="http://schemas.openxmlformats.org/officeDocument/2006/relationships/image" Target="../media/image168.pn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9.png"/><Relationship Id="rId3" Type="http://schemas.openxmlformats.org/officeDocument/2006/relationships/image" Target="../media/image170.png"/><Relationship Id="rId4" Type="http://schemas.openxmlformats.org/officeDocument/2006/relationships/image" Target="../media/image171.png"/><Relationship Id="rId5" Type="http://schemas.openxmlformats.org/officeDocument/2006/relationships/image" Target="../media/image172.png"/><Relationship Id="rId6" Type="http://schemas.openxmlformats.org/officeDocument/2006/relationships/image" Target="../media/image173.png"/><Relationship Id="rId7" Type="http://schemas.openxmlformats.org/officeDocument/2006/relationships/image" Target="../media/image81.png"/><Relationship Id="rId8" Type="http://schemas.openxmlformats.org/officeDocument/2006/relationships/image" Target="../media/image174.pn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5.png"/><Relationship Id="rId3" Type="http://schemas.openxmlformats.org/officeDocument/2006/relationships/image" Target="../media/image176.pn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5.png"/><Relationship Id="rId3" Type="http://schemas.openxmlformats.org/officeDocument/2006/relationships/image" Target="../media/image176.pn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7.png"/><Relationship Id="rId3" Type="http://schemas.openxmlformats.org/officeDocument/2006/relationships/image" Target="../media/image178.pn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9.png"/><Relationship Id="rId3" Type="http://schemas.openxmlformats.org/officeDocument/2006/relationships/image" Target="../media/image180.pn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1.png"/><Relationship Id="rId3" Type="http://schemas.openxmlformats.org/officeDocument/2006/relationships/image" Target="../media/image182.pn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3.png"/><Relationship Id="rId3" Type="http://schemas.openxmlformats.org/officeDocument/2006/relationships/image" Target="../media/image184.png"/><Relationship Id="rId4" Type="http://schemas.openxmlformats.org/officeDocument/2006/relationships/image" Target="../media/image185.pn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6.png"/><Relationship Id="rId3" Type="http://schemas.openxmlformats.org/officeDocument/2006/relationships/image" Target="../media/image187.png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8.png"/><Relationship Id="rId3" Type="http://schemas.openxmlformats.org/officeDocument/2006/relationships/image" Target="../media/image189.png"/><Relationship Id="rId4" Type="http://schemas.openxmlformats.org/officeDocument/2006/relationships/image" Target="../media/image190.png"/><Relationship Id="rId5" Type="http://schemas.openxmlformats.org/officeDocument/2006/relationships/image" Target="../media/image191.png"/><Relationship Id="rId6" Type="http://schemas.openxmlformats.org/officeDocument/2006/relationships/image" Target="../media/image192.png"/><Relationship Id="rId7" Type="http://schemas.openxmlformats.org/officeDocument/2006/relationships/image" Target="../media/image193.png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4.png"/><Relationship Id="rId3" Type="http://schemas.openxmlformats.org/officeDocument/2006/relationships/image" Target="../media/image195.png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6.png"/><Relationship Id="rId3" Type="http://schemas.openxmlformats.org/officeDocument/2006/relationships/image" Target="../media/image197.png"/><Relationship Id="rId4" Type="http://schemas.openxmlformats.org/officeDocument/2006/relationships/image" Target="../media/image198.png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9.png"/><Relationship Id="rId3" Type="http://schemas.openxmlformats.org/officeDocument/2006/relationships/image" Target="../media/image200.png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1.png"/><Relationship Id="rId3" Type="http://schemas.openxmlformats.org/officeDocument/2006/relationships/image" Target="../media/image202.png"/><Relationship Id="rId4" Type="http://schemas.openxmlformats.org/officeDocument/2006/relationships/image" Target="../media/image203.png"/><Relationship Id="rId5" Type="http://schemas.openxmlformats.org/officeDocument/2006/relationships/image" Target="../media/image204.png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5.png"/><Relationship Id="rId3" Type="http://schemas.openxmlformats.org/officeDocument/2006/relationships/image" Target="../media/image206.png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7.png"/><Relationship Id="rId3" Type="http://schemas.openxmlformats.org/officeDocument/2006/relationships/image" Target="../media/image208.png"/><Relationship Id="rId4" Type="http://schemas.openxmlformats.org/officeDocument/2006/relationships/image" Target="../media/image209.png"/><Relationship Id="rId5" Type="http://schemas.openxmlformats.org/officeDocument/2006/relationships/image" Target="../media/image210.png"/><Relationship Id="rId6" Type="http://schemas.openxmlformats.org/officeDocument/2006/relationships/image" Target="../media/image211.png"/><Relationship Id="rId7" Type="http://schemas.openxmlformats.org/officeDocument/2006/relationships/image" Target="../media/image212.png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3.png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4.png"/><Relationship Id="rId3" Type="http://schemas.openxmlformats.org/officeDocument/2006/relationships/image" Target="../media/image215.png"/><Relationship Id="rId4" Type="http://schemas.openxmlformats.org/officeDocument/2006/relationships/image" Target="../media/image216.png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7.png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8.png"/><Relationship Id="rId3" Type="http://schemas.openxmlformats.org/officeDocument/2006/relationships/image" Target="../media/image219.png"/><Relationship Id="rId4" Type="http://schemas.openxmlformats.org/officeDocument/2006/relationships/image" Target="../media/image220.png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1.png"/><Relationship Id="rId3" Type="http://schemas.openxmlformats.org/officeDocument/2006/relationships/image" Target="../media/image222.png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3.png"/><Relationship Id="rId3" Type="http://schemas.openxmlformats.org/officeDocument/2006/relationships/image" Target="../media/image224.png"/><Relationship Id="rId4" Type="http://schemas.openxmlformats.org/officeDocument/2006/relationships/image" Target="../media/image225.png"/><Relationship Id="rId5" Type="http://schemas.openxmlformats.org/officeDocument/2006/relationships/image" Target="../media/image191.png"/><Relationship Id="rId6" Type="http://schemas.openxmlformats.org/officeDocument/2006/relationships/image" Target="../media/image226.png"/><Relationship Id="rId7" Type="http://schemas.openxmlformats.org/officeDocument/2006/relationships/image" Target="../media/image227.png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8.png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9.png"/><Relationship Id="rId3" Type="http://schemas.openxmlformats.org/officeDocument/2006/relationships/image" Target="../media/image230.png"/><Relationship Id="rId4" Type="http://schemas.openxmlformats.org/officeDocument/2006/relationships/image" Target="../media/image231.png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2.png"/><Relationship Id="rId3" Type="http://schemas.openxmlformats.org/officeDocument/2006/relationships/image" Target="../media/image233.png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4.png"/><Relationship Id="rId3" Type="http://schemas.openxmlformats.org/officeDocument/2006/relationships/image" Target="../media/image235.png"/><Relationship Id="rId4" Type="http://schemas.openxmlformats.org/officeDocument/2006/relationships/image" Target="../media/image236.png"/><Relationship Id="rId5" Type="http://schemas.openxmlformats.org/officeDocument/2006/relationships/image" Target="../media/image237.png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8.png"/><Relationship Id="rId3" Type="http://schemas.openxmlformats.org/officeDocument/2006/relationships/image" Target="../media/image239.png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0.png"/><Relationship Id="rId3" Type="http://schemas.openxmlformats.org/officeDocument/2006/relationships/image" Target="../media/image241.png"/><Relationship Id="rId4" Type="http://schemas.openxmlformats.org/officeDocument/2006/relationships/image" Target="../media/image242.png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3.png"/><Relationship Id="rId3" Type="http://schemas.openxmlformats.org/officeDocument/2006/relationships/image" Target="../media/image244.png"/><Relationship Id="rId4" Type="http://schemas.openxmlformats.org/officeDocument/2006/relationships/image" Target="../media/image245.png"/><Relationship Id="rId5" Type="http://schemas.openxmlformats.org/officeDocument/2006/relationships/image" Target="../media/image246.png"/><Relationship Id="rId6" Type="http://schemas.openxmlformats.org/officeDocument/2006/relationships/image" Target="../media/image247.png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8.png"/><Relationship Id="rId3" Type="http://schemas.openxmlformats.org/officeDocument/2006/relationships/image" Target="../media/image249.png"/><Relationship Id="rId4" Type="http://schemas.openxmlformats.org/officeDocument/2006/relationships/image" Target="../media/image250.png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8.png"/><Relationship Id="rId3" Type="http://schemas.openxmlformats.org/officeDocument/2006/relationships/image" Target="../media/image249.png"/><Relationship Id="rId4" Type="http://schemas.openxmlformats.org/officeDocument/2006/relationships/image" Target="../media/image250.png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1.png"/><Relationship Id="rId3" Type="http://schemas.openxmlformats.org/officeDocument/2006/relationships/image" Target="../media/image252.png"/><Relationship Id="rId4" Type="http://schemas.openxmlformats.org/officeDocument/2006/relationships/image" Target="../media/image253.png"/><Relationship Id="rId5" Type="http://schemas.openxmlformats.org/officeDocument/2006/relationships/image" Target="../media/image254.png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5.png"/><Relationship Id="rId3" Type="http://schemas.openxmlformats.org/officeDocument/2006/relationships/image" Target="../media/image256.png"/><Relationship Id="rId4" Type="http://schemas.openxmlformats.org/officeDocument/2006/relationships/image" Target="../media/image257.png"/><Relationship Id="rId5" Type="http://schemas.openxmlformats.org/officeDocument/2006/relationships/image" Target="../media/image258.png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9.png"/><Relationship Id="rId3" Type="http://schemas.openxmlformats.org/officeDocument/2006/relationships/image" Target="../media/image260.png"/><Relationship Id="rId4" Type="http://schemas.openxmlformats.org/officeDocument/2006/relationships/image" Target="../media/image261.png"/><Relationship Id="rId5" Type="http://schemas.openxmlformats.org/officeDocument/2006/relationships/image" Target="../media/image262.png"/><Relationship Id="rId6" Type="http://schemas.openxmlformats.org/officeDocument/2006/relationships/image" Target="../media/image263.png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4.png"/><Relationship Id="rId3" Type="http://schemas.openxmlformats.org/officeDocument/2006/relationships/image" Target="../media/image265.png"/><Relationship Id="rId4" Type="http://schemas.openxmlformats.org/officeDocument/2006/relationships/image" Target="../media/image266.png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7.png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8.png"/><Relationship Id="rId3" Type="http://schemas.openxmlformats.org/officeDocument/2006/relationships/image" Target="../media/image256.png"/><Relationship Id="rId4" Type="http://schemas.openxmlformats.org/officeDocument/2006/relationships/image" Target="../media/image269.png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0.png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1.png"/><Relationship Id="rId3" Type="http://schemas.openxmlformats.org/officeDocument/2006/relationships/image" Target="../media/image272.png"/><Relationship Id="rId4" Type="http://schemas.openxmlformats.org/officeDocument/2006/relationships/image" Target="../media/image273.png"/><Relationship Id="rId5" Type="http://schemas.openxmlformats.org/officeDocument/2006/relationships/image" Target="../media/image274.png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5.png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6.png"/><Relationship Id="rId3" Type="http://schemas.openxmlformats.org/officeDocument/2006/relationships/image" Target="../media/image277.png"/><Relationship Id="rId4" Type="http://schemas.openxmlformats.org/officeDocument/2006/relationships/image" Target="../media/image278.png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9.png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0.png"/><Relationship Id="rId3" Type="http://schemas.openxmlformats.org/officeDocument/2006/relationships/image" Target="../media/image281.png"/><Relationship Id="rId4" Type="http://schemas.openxmlformats.org/officeDocument/2006/relationships/image" Target="../media/image282.png"/><Relationship Id="rId5" Type="http://schemas.openxmlformats.org/officeDocument/2006/relationships/image" Target="../media/image283.png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4.png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5.png"/><Relationship Id="rId3" Type="http://schemas.openxmlformats.org/officeDocument/2006/relationships/image" Target="../media/image286.png"/><Relationship Id="rId4" Type="http://schemas.openxmlformats.org/officeDocument/2006/relationships/image" Target="../media/image287.png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8.png"/><Relationship Id="rId3" Type="http://schemas.openxmlformats.org/officeDocument/2006/relationships/image" Target="../media/image289.png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0.png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1.png"/><Relationship Id="rId3" Type="http://schemas.openxmlformats.org/officeDocument/2006/relationships/image" Target="../media/image292.png"/><Relationship Id="rId4" Type="http://schemas.openxmlformats.org/officeDocument/2006/relationships/image" Target="../media/image293.png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4.png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5.png"/><Relationship Id="rId3" Type="http://schemas.openxmlformats.org/officeDocument/2006/relationships/image" Target="../media/image296.png"/><Relationship Id="rId4" Type="http://schemas.openxmlformats.org/officeDocument/2006/relationships/image" Target="../media/image297.png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8.png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9.png"/><Relationship Id="rId3" Type="http://schemas.openxmlformats.org/officeDocument/2006/relationships/image" Target="../media/image300.png"/><Relationship Id="rId4" Type="http://schemas.openxmlformats.org/officeDocument/2006/relationships/image" Target="../media/image289.png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1.png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2.png"/><Relationship Id="rId3" Type="http://schemas.openxmlformats.org/officeDocument/2006/relationships/image" Target="../media/image303.png"/><Relationship Id="rId4" Type="http://schemas.openxmlformats.org/officeDocument/2006/relationships/image" Target="../media/image304.png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5.png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6.png"/><Relationship Id="rId3" Type="http://schemas.openxmlformats.org/officeDocument/2006/relationships/image" Target="../media/image307.png"/><Relationship Id="rId4" Type="http://schemas.openxmlformats.org/officeDocument/2006/relationships/image" Target="../media/image308.png"/><Relationship Id="rId5" Type="http://schemas.openxmlformats.org/officeDocument/2006/relationships/image" Target="../media/image309.png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0.png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1.png"/><Relationship Id="rId3" Type="http://schemas.openxmlformats.org/officeDocument/2006/relationships/image" Target="../media/image312.png"/><Relationship Id="rId4" Type="http://schemas.openxmlformats.org/officeDocument/2006/relationships/image" Target="../media/image313.png"/><Relationship Id="rId5" Type="http://schemas.openxmlformats.org/officeDocument/2006/relationships/image" Target="../media/image314.png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5.png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6.png"/><Relationship Id="rId3" Type="http://schemas.openxmlformats.org/officeDocument/2006/relationships/image" Target="../media/image317.png"/><Relationship Id="rId4" Type="http://schemas.openxmlformats.org/officeDocument/2006/relationships/image" Target="../media/image318.png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9.png"/><Relationship Id="rId3" Type="http://schemas.openxmlformats.org/officeDocument/2006/relationships/image" Target="../media/image320.png"/><Relationship Id="rId4" Type="http://schemas.openxmlformats.org/officeDocument/2006/relationships/image" Target="../media/image321.png"/><Relationship Id="rId5" Type="http://schemas.openxmlformats.org/officeDocument/2006/relationships/image" Target="../media/image322.png"/><Relationship Id="rId6" Type="http://schemas.openxmlformats.org/officeDocument/2006/relationships/image" Target="../media/image323.png"/><Relationship Id="rId7" Type="http://schemas.openxmlformats.org/officeDocument/2006/relationships/image" Target="../media/image324.png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5.png"/><Relationship Id="rId3" Type="http://schemas.openxmlformats.org/officeDocument/2006/relationships/image" Target="../media/image326.png"/><Relationship Id="rId4" Type="http://schemas.openxmlformats.org/officeDocument/2006/relationships/image" Target="../media/image327.png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5.png"/><Relationship Id="rId3" Type="http://schemas.openxmlformats.org/officeDocument/2006/relationships/image" Target="../media/image326.png"/><Relationship Id="rId4" Type="http://schemas.openxmlformats.org/officeDocument/2006/relationships/image" Target="../media/image327.png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8.png"/><Relationship Id="rId3" Type="http://schemas.openxmlformats.org/officeDocument/2006/relationships/image" Target="../media/image329.png"/><Relationship Id="rId4" Type="http://schemas.openxmlformats.org/officeDocument/2006/relationships/image" Target="../media/image330.png"/><Relationship Id="rId5" Type="http://schemas.openxmlformats.org/officeDocument/2006/relationships/image" Target="../media/image331.png"/></Relationships>
</file>

<file path=ppt/slides/_rels/slide1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2.png"/><Relationship Id="rId3" Type="http://schemas.openxmlformats.org/officeDocument/2006/relationships/image" Target="../media/image333.png"/></Relationships>
</file>

<file path=ppt/slides/_rels/slide1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4.png"/></Relationships>
</file>

<file path=ppt/slides/_rels/slide1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5.png"/><Relationship Id="rId3" Type="http://schemas.openxmlformats.org/officeDocument/2006/relationships/image" Target="../media/image336.png"/><Relationship Id="rId4" Type="http://schemas.openxmlformats.org/officeDocument/2006/relationships/image" Target="../media/image337.png"/></Relationships>
</file>

<file path=ppt/slides/_rels/slide1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8.png"/></Relationships>
</file>

<file path=ppt/slides/_rels/slide1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9.png"/><Relationship Id="rId3" Type="http://schemas.openxmlformats.org/officeDocument/2006/relationships/image" Target="../media/image340.png"/><Relationship Id="rId4" Type="http://schemas.openxmlformats.org/officeDocument/2006/relationships/image" Target="../media/image341.png"/><Relationship Id="rId5" Type="http://schemas.openxmlformats.org/officeDocument/2006/relationships/image" Target="../media/image342.png"/><Relationship Id="rId6" Type="http://schemas.openxmlformats.org/officeDocument/2006/relationships/image" Target="../media/image343.png"/></Relationships>
</file>

<file path=ppt/slides/_rels/slide1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4.png"/></Relationships>
</file>

<file path=ppt/slides/_rels/slide1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5.png"/><Relationship Id="rId3" Type="http://schemas.openxmlformats.org/officeDocument/2006/relationships/image" Target="../media/image346.png"/><Relationship Id="rId4" Type="http://schemas.openxmlformats.org/officeDocument/2006/relationships/image" Target="../media/image347.png"/></Relationships>
</file>

<file path=ppt/slides/_rels/slide1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8.png"/></Relationships>
</file>

<file path=ppt/slides/_rels/slide1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9.png"/><Relationship Id="rId3" Type="http://schemas.openxmlformats.org/officeDocument/2006/relationships/image" Target="../media/image350.png"/><Relationship Id="rId4" Type="http://schemas.openxmlformats.org/officeDocument/2006/relationships/image" Target="../media/image351.png"/><Relationship Id="rId5" Type="http://schemas.openxmlformats.org/officeDocument/2006/relationships/image" Target="../media/image352.png"/></Relationships>
</file>

<file path=ppt/slides/_rels/slide1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3.png"/></Relationships>
</file>

<file path=ppt/slides/_rels/slide1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4.png"/><Relationship Id="rId3" Type="http://schemas.openxmlformats.org/officeDocument/2006/relationships/image" Target="../media/image355.png"/><Relationship Id="rId4" Type="http://schemas.openxmlformats.org/officeDocument/2006/relationships/image" Target="../media/image356.png"/></Relationships>
</file>

<file path=ppt/slides/_rels/slide1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9.png"/></Relationships>
</file>

<file path=ppt/slides/_rels/slide1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7.png"/><Relationship Id="rId3" Type="http://schemas.openxmlformats.org/officeDocument/2006/relationships/image" Target="../media/image358.png"/><Relationship Id="rId4" Type="http://schemas.openxmlformats.org/officeDocument/2006/relationships/image" Target="../media/image359.png"/></Relationships>
</file>

<file path=ppt/slides/_rels/slide1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0.png"/></Relationships>
</file>

<file path=ppt/slides/_rels/slide1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1.png"/><Relationship Id="rId3" Type="http://schemas.openxmlformats.org/officeDocument/2006/relationships/image" Target="../media/image362.png"/><Relationship Id="rId4" Type="http://schemas.openxmlformats.org/officeDocument/2006/relationships/image" Target="../media/image363.png"/></Relationships>
</file>

<file path=ppt/slides/_rels/slide1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4.png"/></Relationships>
</file>

<file path=ppt/slides/_rels/slide1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5.png"/><Relationship Id="rId3" Type="http://schemas.openxmlformats.org/officeDocument/2006/relationships/image" Target="../media/image366.png"/><Relationship Id="rId4" Type="http://schemas.openxmlformats.org/officeDocument/2006/relationships/image" Target="../media/image367.png"/><Relationship Id="rId5" Type="http://schemas.openxmlformats.org/officeDocument/2006/relationships/image" Target="../media/image368.png"/></Relationships>
</file>

<file path=ppt/slides/_rels/slide1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9.png"/></Relationships>
</file>

<file path=ppt/slides/_rels/slide1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0.png"/><Relationship Id="rId3" Type="http://schemas.openxmlformats.org/officeDocument/2006/relationships/image" Target="../media/image371.png"/><Relationship Id="rId4" Type="http://schemas.openxmlformats.org/officeDocument/2006/relationships/image" Target="../media/image372.png"/><Relationship Id="rId5" Type="http://schemas.openxmlformats.org/officeDocument/2006/relationships/image" Target="../media/image373.png"/></Relationships>
</file>

<file path=ppt/slides/_rels/slide1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4.png"/></Relationships>
</file>

<file path=ppt/slides/_rels/slide1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5.png"/><Relationship Id="rId3" Type="http://schemas.openxmlformats.org/officeDocument/2006/relationships/image" Target="../media/image376.png"/><Relationship Id="rId4" Type="http://schemas.openxmlformats.org/officeDocument/2006/relationships/image" Target="../media/image377.png"/><Relationship Id="rId5" Type="http://schemas.openxmlformats.org/officeDocument/2006/relationships/image" Target="../media/image378.png"/></Relationships>
</file>

<file path=ppt/slides/_rels/slide1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9.png"/></Relationships>
</file>

<file path=ppt/slides/_rels/slide1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0.png"/><Relationship Id="rId3" Type="http://schemas.openxmlformats.org/officeDocument/2006/relationships/image" Target="../media/image381.png"/><Relationship Id="rId4" Type="http://schemas.openxmlformats.org/officeDocument/2006/relationships/image" Target="../media/image382.png"/><Relationship Id="rId5" Type="http://schemas.openxmlformats.org/officeDocument/2006/relationships/image" Target="../media/image383.png"/></Relationships>
</file>

<file path=ppt/slides/_rels/slide1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4.png"/></Relationships>
</file>

<file path=ppt/slides/_rels/slide1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5.png"/><Relationship Id="rId3" Type="http://schemas.openxmlformats.org/officeDocument/2006/relationships/image" Target="../media/image386.png"/><Relationship Id="rId4" Type="http://schemas.openxmlformats.org/officeDocument/2006/relationships/image" Target="../media/image387.png"/><Relationship Id="rId5" Type="http://schemas.openxmlformats.org/officeDocument/2006/relationships/image" Target="../media/image388.png"/><Relationship Id="rId6" Type="http://schemas.openxmlformats.org/officeDocument/2006/relationships/image" Target="../media/image389.png"/></Relationships>
</file>

<file path=ppt/slides/_rels/slide1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0.png"/><Relationship Id="rId3" Type="http://schemas.openxmlformats.org/officeDocument/2006/relationships/image" Target="../media/image7.png"/></Relationships>
</file>

<file path=ppt/slides/_rels/slide1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1.png"/><Relationship Id="rId3" Type="http://schemas.openxmlformats.org/officeDocument/2006/relationships/image" Target="../media/image7.png"/><Relationship Id="rId4" Type="http://schemas.openxmlformats.org/officeDocument/2006/relationships/image" Target="../media/image392.png"/><Relationship Id="rId5" Type="http://schemas.openxmlformats.org/officeDocument/2006/relationships/image" Target="../media/image393.png"/><Relationship Id="rId6" Type="http://schemas.openxmlformats.org/officeDocument/2006/relationships/image" Target="../media/image394.png"/></Relationships>
</file>

<file path=ppt/slides/_rels/slide1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5.png"/><Relationship Id="rId3" Type="http://schemas.openxmlformats.org/officeDocument/2006/relationships/image" Target="../media/image396.png"/><Relationship Id="rId4" Type="http://schemas.openxmlformats.org/officeDocument/2006/relationships/image" Target="../media/image397.png"/><Relationship Id="rId5" Type="http://schemas.openxmlformats.org/officeDocument/2006/relationships/image" Target="../media/image398.png"/><Relationship Id="rId6" Type="http://schemas.openxmlformats.org/officeDocument/2006/relationships/image" Target="../media/image399.png"/><Relationship Id="rId7" Type="http://schemas.openxmlformats.org/officeDocument/2006/relationships/image" Target="../media/image400.png"/></Relationships>
</file>

<file path=ppt/slides/_rels/slide1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1.png"/><Relationship Id="rId3" Type="http://schemas.openxmlformats.org/officeDocument/2006/relationships/image" Target="../media/image402.png"/><Relationship Id="rId4" Type="http://schemas.openxmlformats.org/officeDocument/2006/relationships/image" Target="../media/image403.png"/><Relationship Id="rId5" Type="http://schemas.openxmlformats.org/officeDocument/2006/relationships/image" Target="../media/image404.png"/><Relationship Id="rId6" Type="http://schemas.openxmlformats.org/officeDocument/2006/relationships/image" Target="../media/image405.png"/></Relationships>
</file>

<file path=ppt/slides/_rels/slide1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1.png"/><Relationship Id="rId3" Type="http://schemas.openxmlformats.org/officeDocument/2006/relationships/image" Target="../media/image402.png"/><Relationship Id="rId4" Type="http://schemas.openxmlformats.org/officeDocument/2006/relationships/image" Target="../media/image403.png"/><Relationship Id="rId5" Type="http://schemas.openxmlformats.org/officeDocument/2006/relationships/image" Target="../media/image404.png"/><Relationship Id="rId6" Type="http://schemas.openxmlformats.org/officeDocument/2006/relationships/image" Target="../media/image405.png"/></Relationships>
</file>

<file path=ppt/slides/_rels/slide1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6.png"/></Relationships>
</file>

<file path=ppt/slides/_rels/slide1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7.png"/><Relationship Id="rId3" Type="http://schemas.openxmlformats.org/officeDocument/2006/relationships/image" Target="../media/image408.png"/><Relationship Id="rId4" Type="http://schemas.openxmlformats.org/officeDocument/2006/relationships/image" Target="../media/image409.png"/><Relationship Id="rId5" Type="http://schemas.openxmlformats.org/officeDocument/2006/relationships/image" Target="../media/image410.png"/><Relationship Id="rId6" Type="http://schemas.openxmlformats.org/officeDocument/2006/relationships/image" Target="../media/image411.png"/><Relationship Id="rId7" Type="http://schemas.openxmlformats.org/officeDocument/2006/relationships/image" Target="../media/image412.png"/><Relationship Id="rId8" Type="http://schemas.openxmlformats.org/officeDocument/2006/relationships/image" Target="../media/image413.png"/></Relationships>
</file>

<file path=ppt/slides/_rels/slide1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4.png"/><Relationship Id="rId3" Type="http://schemas.openxmlformats.org/officeDocument/2006/relationships/image" Target="../media/image415.png"/></Relationships>
</file>

<file path=ppt/slides/_rels/slide1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6.png"/><Relationship Id="rId3" Type="http://schemas.openxmlformats.org/officeDocument/2006/relationships/image" Target="../media/image417.png"/></Relationships>
</file>

<file path=ppt/slides/_rels/slide1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6.png"/><Relationship Id="rId3" Type="http://schemas.openxmlformats.org/officeDocument/2006/relationships/image" Target="../media/image418.png"/><Relationship Id="rId4" Type="http://schemas.openxmlformats.org/officeDocument/2006/relationships/image" Target="../media/image419.png"/><Relationship Id="rId5" Type="http://schemas.openxmlformats.org/officeDocument/2006/relationships/image" Target="../media/image420.png"/></Relationships>
</file>

<file path=ppt/slides/_rels/slide1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1.png"/><Relationship Id="rId3" Type="http://schemas.openxmlformats.org/officeDocument/2006/relationships/image" Target="../media/image422.png"/><Relationship Id="rId4" Type="http://schemas.openxmlformats.org/officeDocument/2006/relationships/image" Target="../media/image423.png"/></Relationships>
</file>

<file path=ppt/slides/_rels/slide1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4.png"/><Relationship Id="rId3" Type="http://schemas.openxmlformats.org/officeDocument/2006/relationships/image" Target="../media/image425.png"/><Relationship Id="rId4" Type="http://schemas.openxmlformats.org/officeDocument/2006/relationships/image" Target="../media/image426.png"/></Relationships>
</file>

<file path=ppt/slides/_rels/slide1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7.png"/><Relationship Id="rId3" Type="http://schemas.openxmlformats.org/officeDocument/2006/relationships/image" Target="../media/image428.png"/><Relationship Id="rId4" Type="http://schemas.openxmlformats.org/officeDocument/2006/relationships/image" Target="../media/image429.png"/><Relationship Id="rId5" Type="http://schemas.openxmlformats.org/officeDocument/2006/relationships/image" Target="../media/image430.png"/><Relationship Id="rId6" Type="http://schemas.openxmlformats.org/officeDocument/2006/relationships/image" Target="../media/image431.png"/></Relationships>
</file>

<file path=ppt/slides/_rels/slide1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2.png"/><Relationship Id="rId3" Type="http://schemas.openxmlformats.org/officeDocument/2006/relationships/image" Target="../media/image433.png"/><Relationship Id="rId4" Type="http://schemas.openxmlformats.org/officeDocument/2006/relationships/image" Target="../media/image434.png"/></Relationships>
</file>

<file path=ppt/slides/_rels/slide1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5.png"/><Relationship Id="rId3" Type="http://schemas.openxmlformats.org/officeDocument/2006/relationships/image" Target="../media/image436.png"/><Relationship Id="rId4" Type="http://schemas.openxmlformats.org/officeDocument/2006/relationships/image" Target="../media/image437.png"/></Relationships>
</file>

<file path=ppt/slides/_rels/slide1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8.png"/><Relationship Id="rId3" Type="http://schemas.openxmlformats.org/officeDocument/2006/relationships/image" Target="../media/image439.png"/></Relationships>
</file>

<file path=ppt/slides/_rels/slide1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0.png"/><Relationship Id="rId3" Type="http://schemas.openxmlformats.org/officeDocument/2006/relationships/image" Target="../media/image439.png"/><Relationship Id="rId4" Type="http://schemas.openxmlformats.org/officeDocument/2006/relationships/image" Target="../media/image441.png"/><Relationship Id="rId5" Type="http://schemas.openxmlformats.org/officeDocument/2006/relationships/image" Target="../media/image382.png"/><Relationship Id="rId6" Type="http://schemas.openxmlformats.org/officeDocument/2006/relationships/image" Target="../media/image442.png"/></Relationships>
</file>

<file path=ppt/slides/_rels/slide1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3.png"/><Relationship Id="rId3" Type="http://schemas.openxmlformats.org/officeDocument/2006/relationships/image" Target="../media/image444.png"/><Relationship Id="rId4" Type="http://schemas.openxmlformats.org/officeDocument/2006/relationships/image" Target="../media/image445.png"/></Relationships>
</file>

<file path=ppt/slides/_rels/slide1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6.png"/><Relationship Id="rId3" Type="http://schemas.openxmlformats.org/officeDocument/2006/relationships/image" Target="../media/image444.png"/><Relationship Id="rId4" Type="http://schemas.openxmlformats.org/officeDocument/2006/relationships/image" Target="../media/image445.png"/><Relationship Id="rId5" Type="http://schemas.openxmlformats.org/officeDocument/2006/relationships/image" Target="../media/image447.png"/></Relationships>
</file>

<file path=ppt/slides/_rels/slide1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8.png"/><Relationship Id="rId3" Type="http://schemas.openxmlformats.org/officeDocument/2006/relationships/image" Target="../media/image449.png"/></Relationships>
</file>

<file path=ppt/slides/_rels/slide1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0.png"/><Relationship Id="rId3" Type="http://schemas.openxmlformats.org/officeDocument/2006/relationships/image" Target="../media/image451.png"/><Relationship Id="rId4" Type="http://schemas.openxmlformats.org/officeDocument/2006/relationships/image" Target="../media/image452.png"/></Relationships>
</file>

<file path=ppt/slides/_rels/slide2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3.png"/><Relationship Id="rId3" Type="http://schemas.openxmlformats.org/officeDocument/2006/relationships/image" Target="../media/image454.png"/><Relationship Id="rId4" Type="http://schemas.openxmlformats.org/officeDocument/2006/relationships/image" Target="../media/image455.png"/></Relationships>
</file>

<file path=ppt/slides/_rels/slide2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6.png"/><Relationship Id="rId3" Type="http://schemas.openxmlformats.org/officeDocument/2006/relationships/image" Target="../media/image457.png"/><Relationship Id="rId4" Type="http://schemas.openxmlformats.org/officeDocument/2006/relationships/image" Target="../media/image455.png"/><Relationship Id="rId5" Type="http://schemas.openxmlformats.org/officeDocument/2006/relationships/image" Target="../media/image458.png"/><Relationship Id="rId6" Type="http://schemas.openxmlformats.org/officeDocument/2006/relationships/image" Target="../media/image459.png"/></Relationships>
</file>

<file path=ppt/slides/_rels/slide2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0.png"/><Relationship Id="rId3" Type="http://schemas.openxmlformats.org/officeDocument/2006/relationships/image" Target="../media/image461.png"/><Relationship Id="rId4" Type="http://schemas.openxmlformats.org/officeDocument/2006/relationships/image" Target="../media/image462.png"/></Relationships>
</file>

<file path=ppt/slides/_rels/slide2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3.png"/></Relationships>
</file>

<file path=ppt/slides/_rels/slide2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4.png"/><Relationship Id="rId3" Type="http://schemas.openxmlformats.org/officeDocument/2006/relationships/image" Target="../media/image465.png"/><Relationship Id="rId4" Type="http://schemas.openxmlformats.org/officeDocument/2006/relationships/image" Target="../media/image466.png"/></Relationships>
</file>

<file path=ppt/slides/_rels/slide2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7.png"/><Relationship Id="rId3" Type="http://schemas.openxmlformats.org/officeDocument/2006/relationships/image" Target="../media/image468.png"/><Relationship Id="rId4" Type="http://schemas.openxmlformats.org/officeDocument/2006/relationships/image" Target="../media/image469.png"/><Relationship Id="rId5" Type="http://schemas.openxmlformats.org/officeDocument/2006/relationships/image" Target="../media/image470.png"/></Relationships>
</file>

<file path=ppt/slides/_rels/slide2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1.png"/><Relationship Id="rId3" Type="http://schemas.openxmlformats.org/officeDocument/2006/relationships/image" Target="../media/image468.png"/><Relationship Id="rId4" Type="http://schemas.openxmlformats.org/officeDocument/2006/relationships/image" Target="../media/image472.png"/><Relationship Id="rId5" Type="http://schemas.openxmlformats.org/officeDocument/2006/relationships/image" Target="../media/image473.png"/><Relationship Id="rId6" Type="http://schemas.openxmlformats.org/officeDocument/2006/relationships/image" Target="../media/image474.png"/><Relationship Id="rId7" Type="http://schemas.openxmlformats.org/officeDocument/2006/relationships/image" Target="../media/image475.png"/></Relationships>
</file>

<file path=ppt/slides/_rels/slide2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6.png"/><Relationship Id="rId3" Type="http://schemas.openxmlformats.org/officeDocument/2006/relationships/image" Target="../media/image477.png"/></Relationships>
</file>

<file path=ppt/slides/_rels/slide2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8.png"/><Relationship Id="rId3" Type="http://schemas.openxmlformats.org/officeDocument/2006/relationships/image" Target="../media/image479.png"/><Relationship Id="rId4" Type="http://schemas.openxmlformats.org/officeDocument/2006/relationships/image" Target="../media/image480.png"/><Relationship Id="rId5" Type="http://schemas.openxmlformats.org/officeDocument/2006/relationships/image" Target="../media/image481.png"/><Relationship Id="rId6" Type="http://schemas.openxmlformats.org/officeDocument/2006/relationships/image" Target="../media/image482.png"/><Relationship Id="rId7" Type="http://schemas.openxmlformats.org/officeDocument/2006/relationships/image" Target="../media/image483.png"/><Relationship Id="rId8" Type="http://schemas.openxmlformats.org/officeDocument/2006/relationships/image" Target="../media/image484.png"/><Relationship Id="rId9" Type="http://schemas.openxmlformats.org/officeDocument/2006/relationships/image" Target="../media/image485.png"/><Relationship Id="rId10" Type="http://schemas.openxmlformats.org/officeDocument/2006/relationships/image" Target="../media/image486.png"/><Relationship Id="rId11" Type="http://schemas.openxmlformats.org/officeDocument/2006/relationships/image" Target="../media/image487.png"/><Relationship Id="rId12" Type="http://schemas.openxmlformats.org/officeDocument/2006/relationships/image" Target="../media/image488.png"/><Relationship Id="rId13" Type="http://schemas.openxmlformats.org/officeDocument/2006/relationships/image" Target="../media/image489.png"/></Relationships>
</file>

<file path=ppt/slides/_rels/slide2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178308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20" b="0" i="0">
                <a:solidFill>
                  <a:srgbClr val="6B6B6B"/>
                </a:solidFill>
                <a:latin typeface="Lexend"/>
              </a:rPr>
              <a:t>GRADE 7 ACCELERATED  ·  UNIT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13969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610" b="1" i="0">
                <a:solidFill>
                  <a:srgbClr val="1A1A1A"/>
                </a:solidFill>
                <a:latin typeface="Lexend"/>
              </a:rPr>
              <a:t>Solving Problems with Rational Numbers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34670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42900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703320"/>
            <a:ext cx="1060704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810" b="0" i="0">
                <a:solidFill>
                  <a:srgbClr val="6B6B6B"/>
                </a:solidFill>
                <a:latin typeface="Lexend"/>
              </a:rPr>
              <a:t>Six lessons in teaching order  ·  the next slide jumps to each one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— Solving Problems with Rational Numbers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Contents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— Solving Problems with Rational Numbers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</a:t>
            </a:r>
          </a:p>
        </p:txBody>
      </p:sp>
      <p:sp>
        <p:nvSpPr>
          <p:cNvPr id="8" name="TextBox 7">
            <a:hlinkClick action="ppaction://hlinksldjump" r:id="rId2"/>
          </p:cNvPr>
          <p:cNvSpPr txBox="1"/>
          <p:nvPr/>
        </p:nvSpPr>
        <p:spPr>
          <a:xfrm>
            <a:off x="1143000" y="1783080"/>
            <a:ext cx="132588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090" b="1" i="0">
                <a:solidFill>
                  <a:srgbClr val="1A1A1A"/>
                </a:solidFill>
                <a:latin typeface="Lexend"/>
              </a:rPr>
              <a:t>4.01</a:t>
            </a:r>
          </a:p>
        </p:txBody>
      </p:sp>
      <p:sp>
        <p:nvSpPr>
          <p:cNvPr id="9" name="TextBox 8">
            <a:hlinkClick action="ppaction://hlinksldjump" r:id="rId2"/>
          </p:cNvPr>
          <p:cNvSpPr txBox="1"/>
          <p:nvPr/>
        </p:nvSpPr>
        <p:spPr>
          <a:xfrm>
            <a:off x="2560320" y="1783080"/>
            <a:ext cx="69494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Adding and Subtracting in Scientific Notation</a:t>
            </a:r>
          </a:p>
        </p:txBody>
      </p:sp>
      <p:sp>
        <p:nvSpPr>
          <p:cNvPr id="10" name="TextBox 9">
            <a:hlinkClick action="ppaction://hlinksldjump" r:id="rId2"/>
          </p:cNvPr>
          <p:cNvSpPr txBox="1"/>
          <p:nvPr/>
        </p:nvSpPr>
        <p:spPr>
          <a:xfrm>
            <a:off x="9555480" y="1783080"/>
            <a:ext cx="14630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610" b="0" i="0">
                <a:solidFill>
                  <a:srgbClr val="6B6B6B"/>
                </a:solidFill>
                <a:latin typeface="Lexend"/>
              </a:rPr>
              <a:t>slide 3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143000" y="2240280"/>
            <a:ext cx="9875519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hlinkClick action="ppaction://hlinksldjump" r:id="rId3"/>
          </p:cNvPr>
          <p:cNvSpPr txBox="1"/>
          <p:nvPr/>
        </p:nvSpPr>
        <p:spPr>
          <a:xfrm>
            <a:off x="1143000" y="2203704"/>
            <a:ext cx="132588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090" b="1" i="0">
                <a:solidFill>
                  <a:srgbClr val="1A1A1A"/>
                </a:solidFill>
                <a:latin typeface="Lexend"/>
              </a:rPr>
              <a:t>4.02–03</a:t>
            </a:r>
          </a:p>
        </p:txBody>
      </p:sp>
      <p:sp>
        <p:nvSpPr>
          <p:cNvPr id="13" name="TextBox 12">
            <a:hlinkClick action="ppaction://hlinksldjump" r:id="rId3"/>
          </p:cNvPr>
          <p:cNvSpPr txBox="1"/>
          <p:nvPr/>
        </p:nvSpPr>
        <p:spPr>
          <a:xfrm>
            <a:off x="2560320" y="2203704"/>
            <a:ext cx="69494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Multiplying and Dividing in Scientific Notation</a:t>
            </a:r>
          </a:p>
        </p:txBody>
      </p:sp>
      <p:sp>
        <p:nvSpPr>
          <p:cNvPr id="14" name="TextBox 13">
            <a:hlinkClick action="ppaction://hlinksldjump" r:id="rId3"/>
          </p:cNvPr>
          <p:cNvSpPr txBox="1"/>
          <p:nvPr/>
        </p:nvSpPr>
        <p:spPr>
          <a:xfrm>
            <a:off x="9555480" y="2203704"/>
            <a:ext cx="14630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610" b="0" i="0">
                <a:solidFill>
                  <a:srgbClr val="6B6B6B"/>
                </a:solidFill>
                <a:latin typeface="Lexend"/>
              </a:rPr>
              <a:t>slide 38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143000" y="2660904"/>
            <a:ext cx="9875519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hlinkClick action="ppaction://hlinksldjump" r:id="rId4"/>
          </p:cNvPr>
          <p:cNvSpPr txBox="1"/>
          <p:nvPr/>
        </p:nvSpPr>
        <p:spPr>
          <a:xfrm>
            <a:off x="1143000" y="2624328"/>
            <a:ext cx="132588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090" b="1" i="0">
                <a:solidFill>
                  <a:srgbClr val="1A1A1A"/>
                </a:solidFill>
                <a:latin typeface="Lexend"/>
              </a:rPr>
              <a:t>4.04</a:t>
            </a:r>
          </a:p>
        </p:txBody>
      </p:sp>
      <p:sp>
        <p:nvSpPr>
          <p:cNvPr id="17" name="TextBox 16">
            <a:hlinkClick action="ppaction://hlinksldjump" r:id="rId4"/>
          </p:cNvPr>
          <p:cNvSpPr txBox="1"/>
          <p:nvPr/>
        </p:nvSpPr>
        <p:spPr>
          <a:xfrm>
            <a:off x="2560320" y="2624328"/>
            <a:ext cx="69494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Real-World Problems and Significant Digits</a:t>
            </a:r>
          </a:p>
        </p:txBody>
      </p:sp>
      <p:sp>
        <p:nvSpPr>
          <p:cNvPr id="18" name="TextBox 17">
            <a:hlinkClick action="ppaction://hlinksldjump" r:id="rId4"/>
          </p:cNvPr>
          <p:cNvSpPr txBox="1"/>
          <p:nvPr/>
        </p:nvSpPr>
        <p:spPr>
          <a:xfrm>
            <a:off x="9555480" y="2624328"/>
            <a:ext cx="14630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610" b="0" i="0">
                <a:solidFill>
                  <a:srgbClr val="6B6B6B"/>
                </a:solidFill>
                <a:latin typeface="Lexend"/>
              </a:rPr>
              <a:t>slide 73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1143000" y="3081528"/>
            <a:ext cx="9875519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hlinkClick action="ppaction://hlinksldjump" r:id="rId5"/>
          </p:cNvPr>
          <p:cNvSpPr txBox="1"/>
          <p:nvPr/>
        </p:nvSpPr>
        <p:spPr>
          <a:xfrm>
            <a:off x="1143000" y="3044952"/>
            <a:ext cx="132588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090" b="1" i="0">
                <a:solidFill>
                  <a:srgbClr val="1A1A1A"/>
                </a:solidFill>
                <a:latin typeface="Lexend"/>
              </a:rPr>
              <a:t>4.05</a:t>
            </a:r>
          </a:p>
        </p:txBody>
      </p:sp>
      <p:sp>
        <p:nvSpPr>
          <p:cNvPr id="21" name="TextBox 20">
            <a:hlinkClick action="ppaction://hlinksldjump" r:id="rId5"/>
          </p:cNvPr>
          <p:cNvSpPr txBox="1"/>
          <p:nvPr/>
        </p:nvSpPr>
        <p:spPr>
          <a:xfrm>
            <a:off x="2560320" y="3044952"/>
            <a:ext cx="69494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Evaluating Expressions with Radicals</a:t>
            </a:r>
          </a:p>
        </p:txBody>
      </p:sp>
      <p:sp>
        <p:nvSpPr>
          <p:cNvPr id="22" name="TextBox 21">
            <a:hlinkClick action="ppaction://hlinksldjump" r:id="rId5"/>
          </p:cNvPr>
          <p:cNvSpPr txBox="1"/>
          <p:nvPr/>
        </p:nvSpPr>
        <p:spPr>
          <a:xfrm>
            <a:off x="9555480" y="3044952"/>
            <a:ext cx="14630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610" b="0" i="0">
                <a:solidFill>
                  <a:srgbClr val="6B6B6B"/>
                </a:solidFill>
                <a:latin typeface="Lexend"/>
              </a:rPr>
              <a:t>slide 108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1143000" y="3502152"/>
            <a:ext cx="9875519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hlinkClick action="ppaction://hlinksldjump" r:id="rId6"/>
          </p:cNvPr>
          <p:cNvSpPr txBox="1"/>
          <p:nvPr/>
        </p:nvSpPr>
        <p:spPr>
          <a:xfrm>
            <a:off x="1143000" y="3465576"/>
            <a:ext cx="132588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090" b="1" i="0">
                <a:solidFill>
                  <a:srgbClr val="1A1A1A"/>
                </a:solidFill>
                <a:latin typeface="Lexend"/>
              </a:rPr>
              <a:t>4.06</a:t>
            </a:r>
          </a:p>
        </p:txBody>
      </p:sp>
      <p:sp>
        <p:nvSpPr>
          <p:cNvPr id="25" name="TextBox 24">
            <a:hlinkClick action="ppaction://hlinksldjump" r:id="rId6"/>
          </p:cNvPr>
          <p:cNvSpPr txBox="1"/>
          <p:nvPr/>
        </p:nvSpPr>
        <p:spPr>
          <a:xfrm>
            <a:off x="2560320" y="3465576"/>
            <a:ext cx="69494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Order of Operations with Radicals</a:t>
            </a:r>
          </a:p>
        </p:txBody>
      </p:sp>
      <p:sp>
        <p:nvSpPr>
          <p:cNvPr id="26" name="TextBox 25">
            <a:hlinkClick action="ppaction://hlinksldjump" r:id="rId6"/>
          </p:cNvPr>
          <p:cNvSpPr txBox="1"/>
          <p:nvPr/>
        </p:nvSpPr>
        <p:spPr>
          <a:xfrm>
            <a:off x="9555480" y="3465576"/>
            <a:ext cx="14630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610" b="0" i="0">
                <a:solidFill>
                  <a:srgbClr val="6B6B6B"/>
                </a:solidFill>
                <a:latin typeface="Lexend"/>
              </a:rPr>
              <a:t>slide 143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1143000" y="3922776"/>
            <a:ext cx="9875519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hlinkClick action="ppaction://hlinksldjump" r:id="rId7"/>
          </p:cNvPr>
          <p:cNvSpPr txBox="1"/>
          <p:nvPr/>
        </p:nvSpPr>
        <p:spPr>
          <a:xfrm>
            <a:off x="1143000" y="3886200"/>
            <a:ext cx="132588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090" b="1" i="0">
                <a:solidFill>
                  <a:srgbClr val="1A1A1A"/>
                </a:solidFill>
                <a:latin typeface="Lexend"/>
              </a:rPr>
              <a:t>4.07–08</a:t>
            </a:r>
          </a:p>
        </p:txBody>
      </p:sp>
      <p:sp>
        <p:nvSpPr>
          <p:cNvPr id="29" name="TextBox 28">
            <a:hlinkClick action="ppaction://hlinksldjump" r:id="rId7"/>
          </p:cNvPr>
          <p:cNvSpPr txBox="1"/>
          <p:nvPr/>
        </p:nvSpPr>
        <p:spPr>
          <a:xfrm>
            <a:off x="2560320" y="3886200"/>
            <a:ext cx="69494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Real-World Order of Operations</a:t>
            </a:r>
          </a:p>
        </p:txBody>
      </p:sp>
      <p:sp>
        <p:nvSpPr>
          <p:cNvPr id="30" name="TextBox 29">
            <a:hlinkClick action="ppaction://hlinksldjump" r:id="rId7"/>
          </p:cNvPr>
          <p:cNvSpPr txBox="1"/>
          <p:nvPr/>
        </p:nvSpPr>
        <p:spPr>
          <a:xfrm>
            <a:off x="9555480" y="3886200"/>
            <a:ext cx="14630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610" b="0" i="0">
                <a:solidFill>
                  <a:srgbClr val="6B6B6B"/>
                </a:solidFill>
                <a:latin typeface="Lexend"/>
              </a:rPr>
              <a:t>slide 178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1143000" y="4343400"/>
            <a:ext cx="9875519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488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20" b="0" i="0">
                <a:solidFill>
                  <a:srgbClr val="6B6B6B"/>
                </a:solidFill>
                <a:latin typeface="Lexend"/>
              </a:rPr>
              <a:t>GRADE 7 ACCELERATED  ·  UNIT 4  ·  LESSON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5054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229" b="1" i="0">
                <a:solidFill>
                  <a:srgbClr val="1A1A1A"/>
                </a:solidFill>
                <a:latin typeface="Lexend"/>
              </a:rPr>
              <a:t>Adding and Subtracting in Scientific Notation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7124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7947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9593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20" b="1" i="0">
                <a:solidFill>
                  <a:srgbClr val="1A1A1A"/>
                </a:solidFill>
                <a:latin typeface="Lexend"/>
              </a:rPr>
              <a:t>MA.8.NSO.1.5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2976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810" b="0" i="0">
                <a:solidFill>
                  <a:srgbClr val="1A1A1A"/>
                </a:solidFill>
                <a:latin typeface="Lexend"/>
              </a:rPr>
              <a:t>I can add and subtract two numbers written in scientific notation, and write the answer in scientific notation.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</a:t>
            </a:r>
          </a:p>
        </p:txBody>
      </p:sp>
      <p:sp>
        <p:nvSpPr>
          <p:cNvPr id="11" name="TextBox 10">
            <a:hlinkClick action="ppaction://hlinksldjump" r:id="rId2"/>
          </p:cNvPr>
          <p:cNvSpPr txBox="1"/>
          <p:nvPr/>
        </p:nvSpPr>
        <p:spPr>
          <a:xfrm>
            <a:off x="9372600" y="201168"/>
            <a:ext cx="201168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40" b="0" i="0">
                <a:solidFill>
                  <a:srgbClr val="6B6B6B"/>
                </a:solidFill>
                <a:latin typeface="Arial"/>
              </a:rPr>
              <a:t>←</a:t>
            </a:r>
            <a:r>
              <a:rPr sz="1140" b="0" i="0">
                <a:solidFill>
                  <a:srgbClr val="6B6B6B"/>
                </a:solidFill>
                <a:latin typeface="Lexend"/>
              </a:rPr>
              <a:t> Contents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585321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Write  0.00062  in scientific notation.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2052828"/>
            <a:ext cx="447021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How many times larger is  </a:t>
            </a:r>
          </a:p>
        </p:txBody>
      </p:sp>
      <p:pic>
        <p:nvPicPr>
          <p:cNvPr id="10" name="Picture 9" descr="322d90d803ad0d3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07574" y="2145792"/>
            <a:ext cx="896112" cy="27127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103686" y="2052828"/>
            <a:ext cx="118896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 than  </a:t>
            </a:r>
          </a:p>
        </p:txBody>
      </p:sp>
      <p:pic>
        <p:nvPicPr>
          <p:cNvPr id="12" name="Picture 11" descr="91469e0de639e79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55489" y="2145792"/>
            <a:ext cx="899160" cy="27127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054649" y="2052828"/>
            <a:ext cx="44301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2665476"/>
            <a:ext cx="29303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Find the value:  </a:t>
            </a:r>
          </a:p>
        </p:txBody>
      </p:sp>
      <p:pic>
        <p:nvPicPr>
          <p:cNvPr id="15" name="Picture 14" descr="f53f316f2160c0a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7711" y="2699004"/>
            <a:ext cx="886968" cy="39014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874519" y="3278124"/>
            <a:ext cx="277383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Find the sum:  </a:t>
            </a:r>
          </a:p>
        </p:txBody>
      </p:sp>
      <p:pic>
        <p:nvPicPr>
          <p:cNvPr id="17" name="Picture 16" descr="bd88d4ecf7738e5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11197" y="3393948"/>
            <a:ext cx="1307592" cy="22555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585321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Write  0.00062  in scientific notation.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9214" y="1440180"/>
            <a:ext cx="161744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6.2 × 10</a:t>
            </a:r>
            <a:r>
              <a:rPr sz="2180" b="1" i="0" baseline="30000">
                <a:solidFill>
                  <a:srgbClr val="9E1B32"/>
                </a:solidFill>
                <a:latin typeface="Lexend"/>
              </a:rPr>
              <a:t>-4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2052828"/>
            <a:ext cx="447021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How many times larger is  </a:t>
            </a:r>
          </a:p>
        </p:txBody>
      </p:sp>
      <p:pic>
        <p:nvPicPr>
          <p:cNvPr id="11" name="Picture 10" descr="322d90d803ad0d3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07574" y="2145792"/>
            <a:ext cx="896112" cy="27127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103686" y="2052828"/>
            <a:ext cx="118896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 than  </a:t>
            </a:r>
          </a:p>
        </p:txBody>
      </p:sp>
      <p:pic>
        <p:nvPicPr>
          <p:cNvPr id="13" name="Picture 12" descr="91469e0de639e79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55489" y="2145792"/>
            <a:ext cx="899160" cy="27127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054649" y="2052828"/>
            <a:ext cx="44301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09139" y="2052828"/>
            <a:ext cx="108505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4,000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2665476"/>
            <a:ext cx="29303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Find the value:  </a:t>
            </a:r>
          </a:p>
        </p:txBody>
      </p:sp>
      <p:pic>
        <p:nvPicPr>
          <p:cNvPr id="17" name="Picture 16" descr="f53f316f2160c0a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7711" y="2699004"/>
            <a:ext cx="886968" cy="39014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103319" y="2665476"/>
            <a:ext cx="53652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12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74519" y="3278124"/>
            <a:ext cx="277383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Find the sum:  </a:t>
            </a:r>
          </a:p>
        </p:txBody>
      </p:sp>
      <p:pic>
        <p:nvPicPr>
          <p:cNvPr id="20" name="Picture 19" descr="bd88d4ecf7738e5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11197" y="3393948"/>
            <a:ext cx="1307592" cy="225552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367429" y="3278124"/>
            <a:ext cx="79090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1.69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Vocabulary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46304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0B5394"/>
                </a:solidFill>
                <a:latin typeface="Lexend"/>
              </a:rPr>
              <a:t>scientific notation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869550"/>
            <a:ext cx="303236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a number written as </a:t>
            </a:r>
          </a:p>
        </p:txBody>
      </p:sp>
      <p:pic>
        <p:nvPicPr>
          <p:cNvPr id="10" name="Picture 9" descr="5c7736c1398d0b5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38202" y="1953370"/>
            <a:ext cx="1133856" cy="2895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172058" y="1869550"/>
            <a:ext cx="2854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,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2354182"/>
            <a:ext cx="11185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where </a:t>
            </a:r>
          </a:p>
        </p:txBody>
      </p:sp>
      <p:pic>
        <p:nvPicPr>
          <p:cNvPr id="13" name="Picture 12" descr="658262df29b49a9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4363" y="2477626"/>
            <a:ext cx="204216" cy="21031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328579" y="2354182"/>
            <a:ext cx="47741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 is at least 1 and less than 10 and </a:t>
            </a:r>
          </a:p>
        </p:txBody>
      </p:sp>
      <p:pic>
        <p:nvPicPr>
          <p:cNvPr id="15" name="Picture 14" descr="f14fce7cf077cd0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65520" y="2479150"/>
            <a:ext cx="176784" cy="20726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142304" y="2354182"/>
            <a:ext cx="198177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 is an integer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298969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0B5394"/>
                </a:solidFill>
                <a:latin typeface="Lexend"/>
              </a:rPr>
              <a:t>coefficient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3396200"/>
            <a:ext cx="163482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the factor </a:t>
            </a:r>
          </a:p>
        </p:txBody>
      </p:sp>
      <p:pic>
        <p:nvPicPr>
          <p:cNvPr id="19" name="Picture 18" descr="658262df29b49a9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40665" y="3519644"/>
            <a:ext cx="204216" cy="210312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2844881" y="3396200"/>
            <a:ext cx="61351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 in </a:t>
            </a:r>
          </a:p>
        </p:txBody>
      </p:sp>
      <p:pic>
        <p:nvPicPr>
          <p:cNvPr id="21" name="Picture 20" descr="5c7736c1398d0b5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21233" y="3480020"/>
            <a:ext cx="1133856" cy="28956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4455089" y="3396200"/>
            <a:ext cx="27445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43000" y="3880832"/>
            <a:ext cx="554533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In a finished answer it always satisfies </a:t>
            </a:r>
          </a:p>
        </p:txBody>
      </p:sp>
      <p:pic>
        <p:nvPicPr>
          <p:cNvPr id="24" name="Picture 23" descr="bfdcfbaf2cf7af2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51171" y="3970748"/>
            <a:ext cx="1542288" cy="277368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77240" y="451634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0B5394"/>
                </a:solidFill>
                <a:latin typeface="Lexend"/>
              </a:rPr>
              <a:t>common power of ten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43000" y="4945711"/>
            <a:ext cx="10241280" cy="78717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the matching power that two numbers are written over before they are added or subtracted — the place value they share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I.  A power of ten is a place value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1874520" y="1993392"/>
          <a:ext cx="8412480" cy="7680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03120"/>
                <a:gridCol w="2103120"/>
                <a:gridCol w="2103120"/>
                <a:gridCol w="210312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520" b="1">
                          <a:solidFill>
                            <a:srgbClr val="1A1A1A"/>
                          </a:solidFill>
                          <a:latin typeface="Lexend"/>
                        </a:rPr>
                        <a:t>10</a:t>
                      </a:r>
                      <a:r>
                        <a:rPr sz="1520" b="1" baseline="30000">
                          <a:solidFill>
                            <a:srgbClr val="1A1A1A"/>
                          </a:solidFill>
                          <a:latin typeface="Lexend"/>
                        </a:rPr>
                        <a:t>3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20" b="1">
                          <a:solidFill>
                            <a:srgbClr val="1A1A1A"/>
                          </a:solidFill>
                          <a:latin typeface="Lexend"/>
                        </a:rPr>
                        <a:t>10</a:t>
                      </a:r>
                      <a:r>
                        <a:rPr sz="1520" b="1" baseline="30000">
                          <a:solidFill>
                            <a:srgbClr val="1A1A1A"/>
                          </a:solidFill>
                          <a:latin typeface="Lexend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20" b="1">
                          <a:solidFill>
                            <a:srgbClr val="1A1A1A"/>
                          </a:solidFill>
                          <a:latin typeface="Lexend"/>
                        </a:rPr>
                        <a:t>10</a:t>
                      </a:r>
                      <a:r>
                        <a:rPr sz="1520" b="1" baseline="30000">
                          <a:solidFill>
                            <a:srgbClr val="1A1A1A"/>
                          </a:solidFill>
                          <a:latin typeface="Lexend"/>
                        </a:rPr>
                        <a:t>5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20" b="1">
                          <a:solidFill>
                            <a:srgbClr val="1A1A1A"/>
                          </a:solidFill>
                          <a:latin typeface="Lexend"/>
                        </a:rPr>
                        <a:t>10</a:t>
                      </a:r>
                      <a:r>
                        <a:rPr sz="1520" b="1" baseline="30000">
                          <a:solidFill>
                            <a:srgbClr val="1A1A1A"/>
                          </a:solidFill>
                          <a:latin typeface="Lexend"/>
                        </a:rPr>
                        <a:t>6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thousands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ten thousands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hundred thousands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millions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pic>
        <p:nvPicPr>
          <p:cNvPr id="11" name="Picture 10" descr="864bf61ed56dcd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91127" y="3020568"/>
            <a:ext cx="4779264" cy="350520"/>
          </a:xfrm>
          <a:prstGeom prst="rect">
            <a:avLst/>
          </a:prstGeom>
        </p:spPr>
      </p:pic>
      <p:pic>
        <p:nvPicPr>
          <p:cNvPr id="12" name="Picture 11" descr="2417d66e2dd5920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19300" y="3712464"/>
            <a:ext cx="8122920" cy="3383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87552" y="4425696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Two numbers can be added only when they carry the same power of ten.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II.  Same power: add or subtract the coefficients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1cc98597e79ddba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08604" y="1993392"/>
            <a:ext cx="5544312" cy="414528"/>
          </a:xfrm>
          <a:prstGeom prst="rect">
            <a:avLst/>
          </a:prstGeom>
        </p:spPr>
      </p:pic>
      <p:pic>
        <p:nvPicPr>
          <p:cNvPr id="11" name="Picture 10" descr="a46e16cf656fad9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55164" y="2683763"/>
            <a:ext cx="7251192" cy="40843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87552" y="3432047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Add or subtract the coefficients. The power of ten does not change.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87552" y="4163568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Then check the coefficient: if it is not between 1 and 10, the answer is not finished.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III.  Different powers: rewrite one of them first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6f0baaf26a407df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78807" y="1994916"/>
            <a:ext cx="3803904" cy="408432"/>
          </a:xfrm>
          <a:prstGeom prst="rect">
            <a:avLst/>
          </a:prstGeom>
        </p:spPr>
      </p:pic>
      <p:pic>
        <p:nvPicPr>
          <p:cNvPr id="11" name="Picture 10" descr="4fc26d98a263c89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02052" y="2682240"/>
            <a:ext cx="6757416" cy="405384"/>
          </a:xfrm>
          <a:prstGeom prst="rect">
            <a:avLst/>
          </a:prstGeom>
        </p:spPr>
      </p:pic>
      <p:pic>
        <p:nvPicPr>
          <p:cNvPr id="12" name="Picture 11" descr="ae1a5a7207b8178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26347" y="3366516"/>
            <a:ext cx="5961888" cy="40843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488235" y="3342132"/>
            <a:ext cx="185458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,    never   </a:t>
            </a:r>
          </a:p>
        </p:txBody>
      </p:sp>
      <p:pic>
        <p:nvPicPr>
          <p:cNvPr id="14" name="Picture 13" descr="83c5d338eb6c267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05660" y="3401568"/>
            <a:ext cx="1429512" cy="33832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987552" y="4114800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Rewrite one number so both carry the same power of ten, then add or subtract the coefficients.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7552" y="5321808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Exponent up one, decimal point one place left. The value does not move.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8</a:t>
            </a:r>
          </a:p>
        </p:txBody>
      </p:sp>
      <p:pic>
        <p:nvPicPr>
          <p:cNvPr id="8" name="Picture 7" descr="b073017cb630509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87952" y="2104643"/>
            <a:ext cx="3785615" cy="40843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01752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Add. Write the answer in scientific notation.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9</a:t>
            </a:r>
          </a:p>
        </p:txBody>
      </p:sp>
      <p:pic>
        <p:nvPicPr>
          <p:cNvPr id="8" name="Picture 7" descr="29f41e57a08380a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5797296" cy="405384"/>
          </a:xfrm>
          <a:prstGeom prst="rect">
            <a:avLst/>
          </a:prstGeom>
        </p:spPr>
      </p:pic>
      <p:pic>
        <p:nvPicPr>
          <p:cNvPr id="9" name="Picture 8" descr="9886ab42ab881df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599944"/>
            <a:ext cx="3624072" cy="338328"/>
          </a:xfrm>
          <a:prstGeom prst="rect">
            <a:avLst/>
          </a:prstGeom>
        </p:spPr>
      </p:pic>
      <p:pic>
        <p:nvPicPr>
          <p:cNvPr id="10" name="Picture 9" descr="a3c2876c6f516a7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212592"/>
            <a:ext cx="2215896" cy="34747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1.45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10</a:t>
            </a:r>
          </a:p>
        </p:txBody>
      </p:sp>
      <p:pic>
        <p:nvPicPr>
          <p:cNvPr id="8" name="Picture 7" descr="b4cde0a73e6462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09772" y="1600200"/>
            <a:ext cx="5141976" cy="50596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60908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Add. Write the answer in scientific notation.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11</a:t>
            </a:r>
          </a:p>
        </p:txBody>
      </p:sp>
      <p:pic>
        <p:nvPicPr>
          <p:cNvPr id="8" name="Picture 7" descr="6341fce2cb0bbc8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08248" y="1600200"/>
            <a:ext cx="5145024" cy="5090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612136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Add. Write the answer in scientific notation.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35576" y="3201526"/>
            <a:ext cx="598724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Same power, so add the fronts:  </a:t>
            </a:r>
          </a:p>
        </p:txBody>
      </p:sp>
      <p:pic>
        <p:nvPicPr>
          <p:cNvPr id="11" name="Picture 10" descr="bcb34fa03e0895f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5663" y="3303634"/>
            <a:ext cx="2240280" cy="252984"/>
          </a:xfrm>
          <a:prstGeom prst="rect">
            <a:avLst/>
          </a:prstGeom>
        </p:spPr>
      </p:pic>
      <p:pic>
        <p:nvPicPr>
          <p:cNvPr id="12" name="Picture 11" descr="30762fde1252fce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90440" y="3817222"/>
            <a:ext cx="3486912" cy="3048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1.23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-2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12</a:t>
            </a:r>
          </a:p>
        </p:txBody>
      </p:sp>
      <p:pic>
        <p:nvPicPr>
          <p:cNvPr id="8" name="Picture 7" descr="bf4da8d69ae35ff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84903" y="2104643"/>
            <a:ext cx="3791712" cy="40843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01752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Subtract. Write the answer in scientific notation.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13</a:t>
            </a:r>
          </a:p>
        </p:txBody>
      </p:sp>
      <p:pic>
        <p:nvPicPr>
          <p:cNvPr id="8" name="Picture 7" descr="f0014276d232b37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3505200" cy="341376"/>
          </a:xfrm>
          <a:prstGeom prst="rect">
            <a:avLst/>
          </a:prstGeom>
        </p:spPr>
      </p:pic>
      <p:pic>
        <p:nvPicPr>
          <p:cNvPr id="9" name="Picture 8" descr="934206aface5fa5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535936"/>
            <a:ext cx="6050280" cy="414528"/>
          </a:xfrm>
          <a:prstGeom prst="rect">
            <a:avLst/>
          </a:prstGeom>
        </p:spPr>
      </p:pic>
      <p:pic>
        <p:nvPicPr>
          <p:cNvPr id="10" name="Picture 9" descr="5c58ea87206358f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224783"/>
            <a:ext cx="5779008" cy="3505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6.85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14</a:t>
            </a:r>
          </a:p>
        </p:txBody>
      </p:sp>
      <p:pic>
        <p:nvPicPr>
          <p:cNvPr id="8" name="Picture 7" descr="1b8e06632cef401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99104" y="1600200"/>
            <a:ext cx="5163312" cy="51206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615184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Subtract. Write the answer in scientific notation.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15</a:t>
            </a:r>
          </a:p>
        </p:txBody>
      </p:sp>
      <p:pic>
        <p:nvPicPr>
          <p:cNvPr id="8" name="Picture 7" descr="248bda730bf17b8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97579" y="1600200"/>
            <a:ext cx="5166360" cy="51206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615184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Subtract. Write the answer in scientific notation.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13393" y="3204574"/>
            <a:ext cx="315495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Match the powers:  </a:t>
            </a:r>
          </a:p>
        </p:txBody>
      </p:sp>
      <p:pic>
        <p:nvPicPr>
          <p:cNvPr id="11" name="Picture 10" descr="9ce2865529b18e9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31190" y="3302110"/>
            <a:ext cx="2913888" cy="262128"/>
          </a:xfrm>
          <a:prstGeom prst="rect">
            <a:avLst/>
          </a:prstGeom>
        </p:spPr>
      </p:pic>
      <p:pic>
        <p:nvPicPr>
          <p:cNvPr id="12" name="Picture 11" descr="bd4649ecf62b8ad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68257" y="3829414"/>
            <a:ext cx="2069591" cy="213360"/>
          </a:xfrm>
          <a:prstGeom prst="rect">
            <a:avLst/>
          </a:prstGeom>
        </p:spPr>
      </p:pic>
      <p:pic>
        <p:nvPicPr>
          <p:cNvPr id="13" name="Picture 12" descr="fb181fe42321e2e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68257" y="4310998"/>
            <a:ext cx="1362456" cy="25603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4781914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5.51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-4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16</a:t>
            </a:r>
          </a:p>
        </p:txBody>
      </p:sp>
      <p:pic>
        <p:nvPicPr>
          <p:cNvPr id="8" name="Picture 7" descr="09fad54e403494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92524" y="2197608"/>
            <a:ext cx="3776472" cy="4053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17</a:t>
            </a:r>
          </a:p>
        </p:txBody>
      </p:sp>
      <p:pic>
        <p:nvPicPr>
          <p:cNvPr id="8" name="Picture 7" descr="2a3c75618fa7d5a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90999" y="2106168"/>
            <a:ext cx="3779520" cy="4053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142256" y="2839212"/>
            <a:ext cx="598724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Same power, so add the fronts:  </a:t>
            </a:r>
          </a:p>
        </p:txBody>
      </p:sp>
      <p:pic>
        <p:nvPicPr>
          <p:cNvPr id="10" name="Picture 9" descr="691fe688d72e9de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92343" y="2941320"/>
            <a:ext cx="2026920" cy="252984"/>
          </a:xfrm>
          <a:prstGeom prst="rect">
            <a:avLst/>
          </a:prstGeom>
        </p:spPr>
      </p:pic>
      <p:pic>
        <p:nvPicPr>
          <p:cNvPr id="11" name="Picture 10" descr="b4ec2c46247ef02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97120" y="3454908"/>
            <a:ext cx="1246632" cy="3048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7.3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257915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stadium sold  </a:t>
            </a:r>
          </a:p>
        </p:txBody>
      </p:sp>
      <p:pic>
        <p:nvPicPr>
          <p:cNvPr id="9" name="Picture 8" descr="5243cc360be291a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76435" y="1944623"/>
            <a:ext cx="1173480" cy="2712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849915" y="1851660"/>
            <a:ext cx="286585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tickets on Friday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464308"/>
            <a:ext cx="9536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and  </a:t>
            </a:r>
          </a:p>
        </p:txBody>
      </p:sp>
      <p:pic>
        <p:nvPicPr>
          <p:cNvPr id="12" name="Picture 11" descr="5ce3a6a6b398a32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50946" y="2557272"/>
            <a:ext cx="1152144" cy="27127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203090" y="2464308"/>
            <a:ext cx="62846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on Saturday. Each ticket cost 38 dollars.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30998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tickets were sold on the two days?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257915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stadium sold  </a:t>
            </a:r>
          </a:p>
        </p:txBody>
      </p:sp>
      <p:pic>
        <p:nvPicPr>
          <p:cNvPr id="9" name="Picture 8" descr="a8bb2f17f73fb1a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76435" y="1943100"/>
            <a:ext cx="1173480" cy="2743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849915" y="1851660"/>
            <a:ext cx="286585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tickets on Friday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464308"/>
            <a:ext cx="9536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and  </a:t>
            </a:r>
          </a:p>
        </p:txBody>
      </p:sp>
      <p:pic>
        <p:nvPicPr>
          <p:cNvPr id="12" name="Picture 11" descr="ca70dd33a6d37a9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50946" y="2555748"/>
            <a:ext cx="1155192" cy="2743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206138" y="2464308"/>
            <a:ext cx="62846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on Saturday. Each ticket cost 38 dollars.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30998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tickets were sold on the two days?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30064" y="3734926"/>
            <a:ext cx="598724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Same power, so add the fronts:  </a:t>
            </a:r>
          </a:p>
        </p:txBody>
      </p:sp>
      <p:pic>
        <p:nvPicPr>
          <p:cNvPr id="16" name="Picture 15" descr="884fc76005d8767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80151" y="3837034"/>
            <a:ext cx="2057400" cy="252984"/>
          </a:xfrm>
          <a:prstGeom prst="rect">
            <a:avLst/>
          </a:prstGeom>
        </p:spPr>
      </p:pic>
      <p:pic>
        <p:nvPicPr>
          <p:cNvPr id="17" name="Picture 16" descr="3665917b6f2092c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84928" y="4350622"/>
            <a:ext cx="1271016" cy="3048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77240" y="4845922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7.7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4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20</a:t>
            </a:r>
          </a:p>
        </p:txBody>
      </p:sp>
      <p:pic>
        <p:nvPicPr>
          <p:cNvPr id="8" name="Picture 7" descr="9a1c5b83d56645e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37304" y="2196083"/>
            <a:ext cx="3486912" cy="40843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21</a:t>
            </a:r>
          </a:p>
        </p:txBody>
      </p:sp>
      <p:pic>
        <p:nvPicPr>
          <p:cNvPr id="8" name="Picture 7" descr="b4e4dff994d3b29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35780" y="2103120"/>
            <a:ext cx="3489960" cy="414528"/>
          </a:xfrm>
          <a:prstGeom prst="rect">
            <a:avLst/>
          </a:prstGeom>
        </p:spPr>
      </p:pic>
      <p:pic>
        <p:nvPicPr>
          <p:cNvPr id="9" name="Picture 8" descr="74a99bec27e47ca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31435" y="2944368"/>
            <a:ext cx="1365504" cy="252984"/>
          </a:xfrm>
          <a:prstGeom prst="rect">
            <a:avLst/>
          </a:prstGeom>
        </p:spPr>
      </p:pic>
      <p:pic>
        <p:nvPicPr>
          <p:cNvPr id="10" name="Picture 9" descr="3dc41426a2cb472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31435" y="3456431"/>
            <a:ext cx="3008376" cy="30784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1.1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-5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22</a:t>
            </a:r>
          </a:p>
        </p:txBody>
      </p:sp>
      <p:pic>
        <p:nvPicPr>
          <p:cNvPr id="8" name="Picture 7" descr="1e4655248ebd17e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72712" y="2196083"/>
            <a:ext cx="3816095" cy="40843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23</a:t>
            </a:r>
          </a:p>
        </p:txBody>
      </p:sp>
      <p:pic>
        <p:nvPicPr>
          <p:cNvPr id="8" name="Picture 7" descr="6c08936514ac2e5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71188" y="2104643"/>
            <a:ext cx="3819144" cy="408432"/>
          </a:xfrm>
          <a:prstGeom prst="rect">
            <a:avLst/>
          </a:prstGeom>
        </p:spPr>
      </p:pic>
      <p:pic>
        <p:nvPicPr>
          <p:cNvPr id="9" name="Picture 8" descr="428101046aa75a5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18887" y="2939796"/>
            <a:ext cx="2084831" cy="256032"/>
          </a:xfrm>
          <a:prstGeom prst="rect">
            <a:avLst/>
          </a:prstGeom>
        </p:spPr>
      </p:pic>
      <p:pic>
        <p:nvPicPr>
          <p:cNvPr id="10" name="Picture 9" descr="e9dcbdc19c34f04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18887" y="3454908"/>
            <a:ext cx="2639568" cy="3048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7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7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24</a:t>
            </a:r>
          </a:p>
        </p:txBody>
      </p:sp>
      <p:pic>
        <p:nvPicPr>
          <p:cNvPr id="8" name="Picture 7" descr="458ce47e03352da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98620" y="2196083"/>
            <a:ext cx="3764279" cy="40843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8803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is the sum?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3.9 × 10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3.9 × 10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10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2324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2.316 × 10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2324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2.46 × 10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238319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25</a:t>
            </a:r>
          </a:p>
        </p:txBody>
      </p:sp>
      <p:pic>
        <p:nvPicPr>
          <p:cNvPr id="8" name="Picture 7" descr="0a5ae3f69ac2c6a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97096" y="2103120"/>
            <a:ext cx="3767328" cy="41452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791967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is the sum?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81973" y="3417139"/>
            <a:ext cx="315495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Match the powers:  </a:t>
            </a:r>
          </a:p>
        </p:txBody>
      </p:sp>
      <p:pic>
        <p:nvPicPr>
          <p:cNvPr id="11" name="Picture 10" descr="27f7e9522e6b321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9770" y="3514675"/>
            <a:ext cx="2782824" cy="262128"/>
          </a:xfrm>
          <a:prstGeom prst="rect">
            <a:avLst/>
          </a:prstGeom>
        </p:spPr>
      </p:pic>
      <p:pic>
        <p:nvPicPr>
          <p:cNvPr id="12" name="Picture 11" descr="121dee4f34127b1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36837" y="4041979"/>
            <a:ext cx="2365248" cy="213360"/>
          </a:xfrm>
          <a:prstGeom prst="rect">
            <a:avLst/>
          </a:prstGeom>
        </p:spPr>
      </p:pic>
      <p:pic>
        <p:nvPicPr>
          <p:cNvPr id="13" name="Picture 12" descr="d9fd5fe20052fef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36837" y="4520515"/>
            <a:ext cx="1377696" cy="26212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4994479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C — 2.316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6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26</a:t>
            </a:r>
          </a:p>
        </p:txBody>
      </p:sp>
      <p:pic>
        <p:nvPicPr>
          <p:cNvPr id="8" name="Picture 7" descr="c56988b1bd43427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86428" y="2196083"/>
            <a:ext cx="3788664" cy="40843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8803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is the sum, written in scientific notation?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12.3 × 10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12.3 × 10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2324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1.23 × 10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2324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1.23 × 10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238319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27</a:t>
            </a:r>
          </a:p>
        </p:txBody>
      </p:sp>
      <p:pic>
        <p:nvPicPr>
          <p:cNvPr id="8" name="Picture 7" descr="9def6d28be26225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84903" y="2103120"/>
            <a:ext cx="3791712" cy="41452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791967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is the sum, written in scientific notation?</a:t>
            </a:r>
          </a:p>
        </p:txBody>
      </p:sp>
      <p:pic>
        <p:nvPicPr>
          <p:cNvPr id="10" name="Picture 9" descr="7a92f566b3dc9a9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30851" y="3519247"/>
            <a:ext cx="2209800" cy="252984"/>
          </a:xfrm>
          <a:prstGeom prst="rect">
            <a:avLst/>
          </a:prstGeom>
        </p:spPr>
      </p:pic>
      <p:pic>
        <p:nvPicPr>
          <p:cNvPr id="11" name="Picture 10" descr="4253edb8e6cb150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30851" y="4031311"/>
            <a:ext cx="3209544" cy="30784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D — 1.23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7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28</a:t>
            </a:r>
          </a:p>
        </p:txBody>
      </p:sp>
      <p:pic>
        <p:nvPicPr>
          <p:cNvPr id="8" name="Picture 7" descr="8364ffedb5ab9d4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6408" y="2194560"/>
            <a:ext cx="4108704" cy="4114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29</a:t>
            </a:r>
          </a:p>
        </p:txBody>
      </p:sp>
      <p:pic>
        <p:nvPicPr>
          <p:cNvPr id="8" name="Picture 7" descr="95877dd6e3ac64a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4883" y="2103120"/>
            <a:ext cx="4111752" cy="4114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119489" y="2839212"/>
            <a:ext cx="315495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Match the powers:  </a:t>
            </a:r>
          </a:p>
        </p:txBody>
      </p:sp>
      <p:pic>
        <p:nvPicPr>
          <p:cNvPr id="10" name="Picture 9" descr="2c3b2befdb898d6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37286" y="2936748"/>
            <a:ext cx="2904744" cy="262128"/>
          </a:xfrm>
          <a:prstGeom prst="rect">
            <a:avLst/>
          </a:prstGeom>
        </p:spPr>
      </p:pic>
      <p:pic>
        <p:nvPicPr>
          <p:cNvPr id="11" name="Picture 10" descr="40578aa67f396b1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74353" y="3464052"/>
            <a:ext cx="2066543" cy="213360"/>
          </a:xfrm>
          <a:prstGeom prst="rect">
            <a:avLst/>
          </a:prstGeom>
        </p:spPr>
      </p:pic>
      <p:pic>
        <p:nvPicPr>
          <p:cNvPr id="12" name="Picture 11" descr="859794e45c118a3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74353" y="3942588"/>
            <a:ext cx="1331976" cy="2621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7.16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-2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30</a:t>
            </a:r>
          </a:p>
        </p:txBody>
      </p:sp>
      <p:pic>
        <p:nvPicPr>
          <p:cNvPr id="8" name="Picture 7" descr="5f6d6560049ba77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20795" y="2196083"/>
            <a:ext cx="5519928" cy="40843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134140" y="2857500"/>
            <a:ext cx="351744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What is the value of </a:t>
            </a:r>
          </a:p>
        </p:txBody>
      </p:sp>
      <p:pic>
        <p:nvPicPr>
          <p:cNvPr id="10" name="Picture 9" descr="f14fce7cf077cd0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14421" y="2982468"/>
            <a:ext cx="176784" cy="20726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691205" y="2857500"/>
            <a:ext cx="4733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31</a:t>
            </a:r>
          </a:p>
        </p:txBody>
      </p:sp>
      <p:pic>
        <p:nvPicPr>
          <p:cNvPr id="8" name="Picture 7" descr="a7b6204384889c5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19272" y="2103120"/>
            <a:ext cx="5522976" cy="41452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134140" y="2769107"/>
            <a:ext cx="351744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What is the value of </a:t>
            </a:r>
          </a:p>
        </p:txBody>
      </p:sp>
      <p:pic>
        <p:nvPicPr>
          <p:cNvPr id="10" name="Picture 9" descr="f14fce7cf077cd0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14421" y="2894075"/>
            <a:ext cx="176784" cy="20726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691205" y="2769107"/>
            <a:ext cx="4733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?</a:t>
            </a:r>
          </a:p>
        </p:txBody>
      </p:sp>
      <p:pic>
        <p:nvPicPr>
          <p:cNvPr id="12" name="Picture 11" descr="af0a0edef72ddd4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6403" y="3625595"/>
            <a:ext cx="2761488" cy="262128"/>
          </a:xfrm>
          <a:prstGeom prst="rect">
            <a:avLst/>
          </a:prstGeom>
        </p:spPr>
      </p:pic>
      <p:pic>
        <p:nvPicPr>
          <p:cNvPr id="13" name="Picture 12" descr="e0b2ab7a4c26bc0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56403" y="4152899"/>
            <a:ext cx="1694688" cy="213360"/>
          </a:xfrm>
          <a:prstGeom prst="rect">
            <a:avLst/>
          </a:prstGeom>
        </p:spPr>
      </p:pic>
      <p:pic>
        <p:nvPicPr>
          <p:cNvPr id="14" name="Picture 13" descr="1dcdac54ad1451b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56403" y="4655819"/>
            <a:ext cx="2353056" cy="2133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7240" y="51054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n = 5.7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39261" y="2171700"/>
            <a:ext cx="249028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Devon writes  </a:t>
            </a:r>
          </a:p>
        </p:txBody>
      </p:sp>
      <p:pic>
        <p:nvPicPr>
          <p:cNvPr id="9" name="Picture 8" descr="0a7a4307a87a1af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92384" y="2196083"/>
            <a:ext cx="5580888" cy="40843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973272" y="2171700"/>
            <a:ext cx="2861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8803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Name the two mistakes he made, and give the correct sum.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Write your answer in sentences.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37737" y="2081783"/>
            <a:ext cx="249028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Devon writes  </a:t>
            </a:r>
          </a:p>
        </p:txBody>
      </p:sp>
      <p:pic>
        <p:nvPicPr>
          <p:cNvPr id="9" name="Picture 8" descr="595d18b76e1d008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90860" y="2103120"/>
            <a:ext cx="5583936" cy="4145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974796" y="2081783"/>
            <a:ext cx="2861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791967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Name the two mistakes he made, and give the correct sum.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54232" y="3417139"/>
            <a:ext cx="879021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The powers do not match, and exponents are not added.</a:t>
            </a:r>
          </a:p>
        </p:txBody>
      </p:sp>
      <p:pic>
        <p:nvPicPr>
          <p:cNvPr id="13" name="Picture 12" descr="afb9dc22174bd35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09096" y="4017595"/>
            <a:ext cx="2773680" cy="262128"/>
          </a:xfrm>
          <a:prstGeom prst="rect">
            <a:avLst/>
          </a:prstGeom>
        </p:spPr>
      </p:pic>
      <p:pic>
        <p:nvPicPr>
          <p:cNvPr id="14" name="Picture 13" descr="0920ee9ba6d56af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09096" y="4544899"/>
            <a:ext cx="2380488" cy="2133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189584" y="4422979"/>
            <a:ext cx="116308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,   so   </a:t>
            </a:r>
          </a:p>
        </p:txBody>
      </p:sp>
      <p:pic>
        <p:nvPicPr>
          <p:cNvPr id="16" name="Picture 15" descr="5bab4917e6b979c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15509" y="4523563"/>
            <a:ext cx="1399032" cy="25603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77240" y="4994479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6.619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4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49504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pic>
        <p:nvPicPr>
          <p:cNvPr id="9" name="Picture 8" descr="8bb51b7cdaedcae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7632" y="1557527"/>
            <a:ext cx="3066288" cy="33223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60120" y="208940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pic>
        <p:nvPicPr>
          <p:cNvPr id="11" name="Picture 10" descr="6da4b5382fbcdf2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27632" y="2153411"/>
            <a:ext cx="3304032" cy="32918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60120" y="268376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pic>
        <p:nvPicPr>
          <p:cNvPr id="13" name="Picture 12" descr="95d8ded1b0db296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27632" y="2747771"/>
            <a:ext cx="3063240" cy="32918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60120" y="327812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4.</a:t>
            </a:r>
          </a:p>
        </p:txBody>
      </p:sp>
      <p:pic>
        <p:nvPicPr>
          <p:cNvPr id="15" name="Picture 14" descr="0bd66daf20240d1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27632" y="3340607"/>
            <a:ext cx="3060192" cy="33223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60120" y="387248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5.</a:t>
            </a:r>
          </a:p>
        </p:txBody>
      </p:sp>
      <p:pic>
        <p:nvPicPr>
          <p:cNvPr id="17" name="Picture 16" descr="ca328e324458575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27632" y="3933444"/>
            <a:ext cx="3374136" cy="33528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960120" y="4466844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6.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4466844"/>
            <a:ext cx="91305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Find </a:t>
            </a:r>
          </a:p>
        </p:txBody>
      </p:sp>
      <p:pic>
        <p:nvPicPr>
          <p:cNvPr id="20" name="Picture 19" descr="6d78c2be12150bf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330372" y="4611624"/>
            <a:ext cx="146304" cy="16764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2476676" y="4466844"/>
            <a:ext cx="44211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.  </a:t>
            </a:r>
          </a:p>
        </p:txBody>
      </p:sp>
      <p:pic>
        <p:nvPicPr>
          <p:cNvPr id="22" name="Picture 21" descr="d4634cfd84477cb3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781626" y="4527804"/>
            <a:ext cx="4541520" cy="33528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Open IXL and start today's skills.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Work on paper where the question needs work. The answer box does not show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Every skill listed is required, to a SmartScore of 67. Due at the start of the next class.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1A1A1A"/>
                </a:solidFill>
                <a:latin typeface="Lexend"/>
              </a:rPr>
              <a:t>Today's skills — all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Add and subtract numbers written in scientific notation — HUR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488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20" b="0" i="0">
                <a:solidFill>
                  <a:srgbClr val="6B6B6B"/>
                </a:solidFill>
                <a:latin typeface="Lexend"/>
              </a:rPr>
              <a:t>GRADE 7 ACCELERATED  ·  UNIT 4  ·  LESSONS 2–3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5054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229" b="1" i="0">
                <a:solidFill>
                  <a:srgbClr val="1A1A1A"/>
                </a:solidFill>
                <a:latin typeface="Lexend"/>
              </a:rPr>
              <a:t>Multiplying and Dividing in Scientific Notation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7124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7947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9593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20" b="1" i="0">
                <a:solidFill>
                  <a:srgbClr val="1A1A1A"/>
                </a:solidFill>
                <a:latin typeface="Lexend"/>
              </a:rPr>
              <a:t>MA.8.NSO.1.5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2976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810" b="0" i="0">
                <a:solidFill>
                  <a:srgbClr val="1A1A1A"/>
                </a:solidFill>
                <a:latin typeface="Lexend"/>
              </a:rPr>
              <a:t>I can multiply and divide two numbers written in scientific notation, and write the answer in scientific notation.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</a:t>
            </a:r>
          </a:p>
        </p:txBody>
      </p:sp>
      <p:sp>
        <p:nvSpPr>
          <p:cNvPr id="11" name="TextBox 10">
            <a:hlinkClick action="ppaction://hlinksldjump" r:id="rId2"/>
          </p:cNvPr>
          <p:cNvSpPr txBox="1"/>
          <p:nvPr/>
        </p:nvSpPr>
        <p:spPr>
          <a:xfrm>
            <a:off x="9372600" y="201168"/>
            <a:ext cx="201168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40" b="0" i="0">
                <a:solidFill>
                  <a:srgbClr val="6B6B6B"/>
                </a:solidFill>
                <a:latin typeface="Arial"/>
              </a:rPr>
              <a:t>←</a:t>
            </a:r>
            <a:r>
              <a:rPr sz="1140" b="0" i="0">
                <a:solidFill>
                  <a:srgbClr val="6B6B6B"/>
                </a:solidFill>
                <a:latin typeface="Lexend"/>
              </a:rPr>
              <a:t> Contents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67156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</a:t>
            </a:r>
          </a:p>
        </p:txBody>
      </p:sp>
      <p:pic>
        <p:nvPicPr>
          <p:cNvPr id="9" name="Picture 8" descr="ffd4838a463a73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8921" y="1502664"/>
            <a:ext cx="3087624" cy="33223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74519" y="2170176"/>
            <a:ext cx="36785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Write as one power:  </a:t>
            </a:r>
          </a:p>
        </p:txBody>
      </p:sp>
      <p:pic>
        <p:nvPicPr>
          <p:cNvPr id="11" name="Picture 10" descr="164f8cc20815187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15911" y="2075688"/>
            <a:ext cx="499871" cy="64617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874519" y="2900172"/>
            <a:ext cx="29303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Find the value:  </a:t>
            </a:r>
          </a:p>
        </p:txBody>
      </p:sp>
      <p:pic>
        <p:nvPicPr>
          <p:cNvPr id="13" name="Picture 12" descr="1cd87bae707e9a4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7711" y="2933700"/>
            <a:ext cx="844296" cy="39014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874519" y="3579876"/>
            <a:ext cx="338325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Find the quotient:  </a:t>
            </a:r>
          </a:p>
        </p:txBody>
      </p:sp>
      <p:pic>
        <p:nvPicPr>
          <p:cNvPr id="15" name="Picture 14" descr="fe7c9d77350b9ea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20618" y="3535680"/>
            <a:ext cx="451104" cy="545592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67156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</a:t>
            </a:r>
          </a:p>
        </p:txBody>
      </p:sp>
      <p:pic>
        <p:nvPicPr>
          <p:cNvPr id="9" name="Picture 8" descr="ffd4838a463a73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8921" y="1502664"/>
            <a:ext cx="3087624" cy="33223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045185" y="1440180"/>
            <a:ext cx="143654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6.2 × 10</a:t>
            </a:r>
            <a:r>
              <a:rPr sz="2180" b="1" i="0" baseline="30000">
                <a:solidFill>
                  <a:srgbClr val="9E1B32"/>
                </a:solidFill>
                <a:latin typeface="Lexend"/>
              </a:rPr>
              <a:t>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2170176"/>
            <a:ext cx="36785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Write as one power:  </a:t>
            </a:r>
          </a:p>
        </p:txBody>
      </p:sp>
      <p:pic>
        <p:nvPicPr>
          <p:cNvPr id="12" name="Picture 11" descr="164f8cc20815187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15911" y="2075688"/>
            <a:ext cx="499871" cy="64617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464423" y="2052828"/>
            <a:ext cx="68210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10</a:t>
            </a:r>
            <a:r>
              <a:rPr sz="2180" b="1" i="0" baseline="30000">
                <a:solidFill>
                  <a:srgbClr val="9E1B32"/>
                </a:solidFill>
                <a:latin typeface="Lexend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2900172"/>
            <a:ext cx="29303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Find the value:  </a:t>
            </a:r>
          </a:p>
        </p:txBody>
      </p:sp>
      <p:pic>
        <p:nvPicPr>
          <p:cNvPr id="15" name="Picture 14" descr="1cd87bae707e9a4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7711" y="2933700"/>
            <a:ext cx="844296" cy="39014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060647" y="2900172"/>
            <a:ext cx="54916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13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74519" y="3579876"/>
            <a:ext cx="338325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Find the quotient:  </a:t>
            </a:r>
          </a:p>
        </p:txBody>
      </p:sp>
      <p:pic>
        <p:nvPicPr>
          <p:cNvPr id="18" name="Picture 17" descr="fe7c9d77350b9ea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20618" y="3535680"/>
            <a:ext cx="451104" cy="545592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120362" y="3512820"/>
            <a:ext cx="38416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3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Vocabulary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46304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0B5394"/>
                </a:solidFill>
                <a:latin typeface="Lexend"/>
              </a:rPr>
              <a:t>product of powers law</a:t>
            </a:r>
          </a:p>
        </p:txBody>
      </p:sp>
      <p:pic>
        <p:nvPicPr>
          <p:cNvPr id="9" name="Picture 8" descr="50a410785dbdd9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" y="1953370"/>
            <a:ext cx="2935224" cy="2895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078224" y="1869550"/>
            <a:ext cx="300763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 — the law from 3.01,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2354182"/>
            <a:ext cx="576419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now doing the work on the powers of ten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98969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0B5394"/>
                </a:solidFill>
                <a:latin typeface="Lexend"/>
              </a:rPr>
              <a:t>quotient of powers law</a:t>
            </a:r>
          </a:p>
        </p:txBody>
      </p:sp>
      <p:pic>
        <p:nvPicPr>
          <p:cNvPr id="13" name="Picture 12" descr="5b8488cf2680dc2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000" y="3419060"/>
            <a:ext cx="2176272" cy="70104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319272" y="3540980"/>
            <a:ext cx="445442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 — top minus bottom, from 3.02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32126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0B5394"/>
                </a:solidFill>
                <a:latin typeface="Lexend"/>
              </a:rPr>
              <a:t>regrouping a product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4727779"/>
            <a:ext cx="81730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using the commutative and associative properties to write</a:t>
            </a:r>
          </a:p>
        </p:txBody>
      </p:sp>
      <p:pic>
        <p:nvPicPr>
          <p:cNvPr id="17" name="Picture 16" descr="030f336ef028bc0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" y="5238319"/>
            <a:ext cx="2810256" cy="40538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3953256" y="5212411"/>
            <a:ext cx="68075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 as </a:t>
            </a:r>
          </a:p>
        </p:txBody>
      </p:sp>
      <p:pic>
        <p:nvPicPr>
          <p:cNvPr id="19" name="Picture 18" descr="b19aa5f8730d723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96849" y="5238319"/>
            <a:ext cx="2627376" cy="405384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I.  Multiplying: regroup, then use the laws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24f6cc700f63110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0112" y="1993392"/>
            <a:ext cx="7321295" cy="414528"/>
          </a:xfrm>
          <a:prstGeom prst="rect">
            <a:avLst/>
          </a:prstGeom>
        </p:spPr>
      </p:pic>
      <p:pic>
        <p:nvPicPr>
          <p:cNvPr id="11" name="Picture 10" descr="d894b08558ca6ca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94387" y="2717292"/>
            <a:ext cx="1100328" cy="34137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094715" y="2659380"/>
            <a:ext cx="194770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,    never    </a:t>
            </a:r>
          </a:p>
        </p:txBody>
      </p:sp>
      <p:pic>
        <p:nvPicPr>
          <p:cNvPr id="13" name="Picture 12" descr="f59bf4b41a85edb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05260" y="2717292"/>
            <a:ext cx="1261872" cy="34137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87552" y="3432047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Multiply the coefficients. Add the exponents — that is the product of powers law, not a new rule.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II.  Dividing: the same move with the quotient law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5efa08aa797f449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1380" y="1993392"/>
            <a:ext cx="5318760" cy="798576"/>
          </a:xfrm>
          <a:prstGeom prst="rect">
            <a:avLst/>
          </a:prstGeom>
        </p:spPr>
      </p:pic>
      <p:pic>
        <p:nvPicPr>
          <p:cNvPr id="11" name="Picture 10" descr="44f28ecf0a9cf88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83864" y="3066288"/>
            <a:ext cx="5193792" cy="79552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87552" y="4200144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Divide the coefficients. Subtract the exponents, top minus bottom.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III.  Finish the answer — both directions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040551c03da2cd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06268" y="1993392"/>
            <a:ext cx="6348984" cy="414528"/>
          </a:xfrm>
          <a:prstGeom prst="rect">
            <a:avLst/>
          </a:prstGeom>
        </p:spPr>
      </p:pic>
      <p:pic>
        <p:nvPicPr>
          <p:cNvPr id="11" name="Picture 10" descr="acee3a8d1b67208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6580" y="2682240"/>
            <a:ext cx="5928360" cy="80162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87552" y="3822191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Every answer ends with a coefficient at least 1 and less than 10.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8</a:t>
            </a:r>
          </a:p>
        </p:txBody>
      </p:sp>
      <p:pic>
        <p:nvPicPr>
          <p:cNvPr id="8" name="Picture 7" descr="c7ebac9815df250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39412" y="2104643"/>
            <a:ext cx="3282696" cy="40843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01752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Multiply. Write the answer in scientific notation.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9</a:t>
            </a:r>
          </a:p>
        </p:txBody>
      </p:sp>
      <p:pic>
        <p:nvPicPr>
          <p:cNvPr id="8" name="Picture 7" descr="25f7ed4f25353ce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6772656" cy="408432"/>
          </a:xfrm>
          <a:prstGeom prst="rect">
            <a:avLst/>
          </a:prstGeom>
        </p:spPr>
      </p:pic>
      <p:pic>
        <p:nvPicPr>
          <p:cNvPr id="9" name="Picture 8" descr="54ffb222fc56be8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602992"/>
            <a:ext cx="1609344" cy="338328"/>
          </a:xfrm>
          <a:prstGeom prst="rect">
            <a:avLst/>
          </a:prstGeom>
        </p:spPr>
      </p:pic>
      <p:pic>
        <p:nvPicPr>
          <p:cNvPr id="10" name="Picture 9" descr="bb053a1b6357935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215640"/>
            <a:ext cx="3108960" cy="33832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2.7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5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10</a:t>
            </a:r>
          </a:p>
        </p:txBody>
      </p:sp>
      <p:pic>
        <p:nvPicPr>
          <p:cNvPr id="8" name="Picture 7" descr="a28d7c387e5fd6b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34027" y="1600200"/>
            <a:ext cx="4093464" cy="51206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615184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Multiply. Write the answer in scientific notation.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11</a:t>
            </a:r>
          </a:p>
        </p:txBody>
      </p:sp>
      <p:pic>
        <p:nvPicPr>
          <p:cNvPr id="8" name="Picture 7" descr="816312d3d4d7895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34027" y="1600200"/>
            <a:ext cx="4093464" cy="51206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615184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Multiply. Write the answer in scientific notation.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02505" y="3204574"/>
            <a:ext cx="322034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Multiply the fronts:  </a:t>
            </a:r>
          </a:p>
        </p:txBody>
      </p:sp>
      <p:pic>
        <p:nvPicPr>
          <p:cNvPr id="11" name="Picture 10" descr="04263b59ab134a8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5695" y="3326494"/>
            <a:ext cx="1414272" cy="21336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502505" y="3707494"/>
            <a:ext cx="331551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Add the exponents:  </a:t>
            </a:r>
          </a:p>
        </p:txBody>
      </p:sp>
      <p:pic>
        <p:nvPicPr>
          <p:cNvPr id="13" name="Picture 12" descr="2e6e8e2b001e1a7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0862" y="3805030"/>
            <a:ext cx="1981199" cy="262128"/>
          </a:xfrm>
          <a:prstGeom prst="rect">
            <a:avLst/>
          </a:prstGeom>
        </p:spPr>
      </p:pic>
      <p:pic>
        <p:nvPicPr>
          <p:cNvPr id="14" name="Picture 13" descr="52d05dcb8358be3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57369" y="4310998"/>
            <a:ext cx="2173224" cy="25603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7240" y="4781914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2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5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12</a:t>
            </a:r>
          </a:p>
        </p:txBody>
      </p:sp>
      <p:pic>
        <p:nvPicPr>
          <p:cNvPr id="8" name="Picture 7" descr="99e2cda0670996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98848" y="2103120"/>
            <a:ext cx="3163824" cy="8686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47472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Evaluate. Write the answer in scientific notation.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13</a:t>
            </a:r>
          </a:p>
        </p:txBody>
      </p:sp>
      <p:pic>
        <p:nvPicPr>
          <p:cNvPr id="8" name="Picture 7" descr="e1f7b5cd77abb9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4858512" cy="414528"/>
          </a:xfrm>
          <a:prstGeom prst="rect">
            <a:avLst/>
          </a:prstGeom>
        </p:spPr>
      </p:pic>
      <p:pic>
        <p:nvPicPr>
          <p:cNvPr id="9" name="Picture 8" descr="cef6ad8a5081518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609087"/>
            <a:ext cx="3102864" cy="801624"/>
          </a:xfrm>
          <a:prstGeom prst="rect">
            <a:avLst/>
          </a:prstGeom>
        </p:spPr>
      </p:pic>
      <p:pic>
        <p:nvPicPr>
          <p:cNvPr id="10" name="Picture 9" descr="06feb2f012fdd55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685031"/>
            <a:ext cx="3057144" cy="33832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1.2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5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14</a:t>
            </a:r>
          </a:p>
        </p:txBody>
      </p:sp>
      <p:pic>
        <p:nvPicPr>
          <p:cNvPr id="8" name="Picture 7" descr="af033f99401fce5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94047" y="1600200"/>
            <a:ext cx="3773424" cy="107594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179064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Evaluate. Write the answer in scientific notation.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15</a:t>
            </a:r>
          </a:p>
        </p:txBody>
      </p:sp>
      <p:pic>
        <p:nvPicPr>
          <p:cNvPr id="8" name="Picture 7" descr="6065c2d5f71d0c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97096" y="1600200"/>
            <a:ext cx="3767328" cy="107594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179064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Evaluate. Write the answer in scientific notation.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34773" y="3768454"/>
            <a:ext cx="99677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Top:  </a:t>
            </a:r>
          </a:p>
        </p:txBody>
      </p:sp>
      <p:pic>
        <p:nvPicPr>
          <p:cNvPr id="11" name="Picture 10" descr="a056522f38be108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94393" y="3891898"/>
            <a:ext cx="1203960" cy="21031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298353" y="3768454"/>
            <a:ext cx="13200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   and   </a:t>
            </a:r>
          </a:p>
        </p:txBody>
      </p:sp>
      <p:pic>
        <p:nvPicPr>
          <p:cNvPr id="13" name="Picture 12" descr="d07cb81e712af36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81242" y="3865990"/>
            <a:ext cx="1965960" cy="26212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234773" y="4271374"/>
            <a:ext cx="142755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Divide:  </a:t>
            </a:r>
          </a:p>
        </p:txBody>
      </p:sp>
      <p:pic>
        <p:nvPicPr>
          <p:cNvPr id="15" name="Picture 14" descr="5bba082eb9d2489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25169" y="4393294"/>
            <a:ext cx="1213104" cy="21336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738273" y="4271374"/>
            <a:ext cx="13200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   and   </a:t>
            </a:r>
          </a:p>
        </p:txBody>
      </p:sp>
      <p:pic>
        <p:nvPicPr>
          <p:cNvPr id="17" name="Picture 16" descr="256bb6140aa7aee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21162" y="4368910"/>
            <a:ext cx="2011680" cy="262128"/>
          </a:xfrm>
          <a:prstGeom prst="rect">
            <a:avLst/>
          </a:prstGeom>
        </p:spPr>
      </p:pic>
      <p:pic>
        <p:nvPicPr>
          <p:cNvPr id="18" name="Picture 17" descr="28b3729f21e06ae4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289637" y="4871830"/>
            <a:ext cx="957072" cy="26212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77240" y="5345794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3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-2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16</a:t>
            </a:r>
          </a:p>
        </p:txBody>
      </p:sp>
      <p:pic>
        <p:nvPicPr>
          <p:cNvPr id="8" name="Picture 7" descr="71829a44e81d106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87823" y="2196083"/>
            <a:ext cx="2785872" cy="40843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17</a:t>
            </a:r>
          </a:p>
        </p:txBody>
      </p:sp>
      <p:pic>
        <p:nvPicPr>
          <p:cNvPr id="8" name="Picture 7" descr="9a64fed63dd0409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86300" y="2103120"/>
            <a:ext cx="2788920" cy="41452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523841" y="2842259"/>
            <a:ext cx="322034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Multiply the fronts:  </a:t>
            </a:r>
          </a:p>
        </p:txBody>
      </p:sp>
      <p:pic>
        <p:nvPicPr>
          <p:cNvPr id="10" name="Picture 9" descr="515cb46100c8992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7031" y="2964179"/>
            <a:ext cx="987552" cy="2133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523841" y="3345179"/>
            <a:ext cx="331551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Add the exponents:  </a:t>
            </a:r>
          </a:p>
        </p:txBody>
      </p:sp>
      <p:pic>
        <p:nvPicPr>
          <p:cNvPr id="12" name="Picture 11" descr="b08638df285abcb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02198" y="3442715"/>
            <a:ext cx="1941576" cy="262128"/>
          </a:xfrm>
          <a:prstGeom prst="rect">
            <a:avLst/>
          </a:prstGeom>
        </p:spPr>
      </p:pic>
      <p:pic>
        <p:nvPicPr>
          <p:cNvPr id="13" name="Picture 12" descr="f2052183a017b13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78705" y="3945635"/>
            <a:ext cx="932688" cy="26212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9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11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274551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printer makes  </a:t>
            </a:r>
          </a:p>
        </p:txBody>
      </p:sp>
      <p:pic>
        <p:nvPicPr>
          <p:cNvPr id="9" name="Picture 8" descr="63d362095a3f347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2791" y="1944623"/>
            <a:ext cx="911352" cy="2712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754143" y="1851660"/>
            <a:ext cx="272592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copies per hour.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464308"/>
            <a:ext cx="188460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It runs for  </a:t>
            </a:r>
          </a:p>
        </p:txBody>
      </p:sp>
      <p:pic>
        <p:nvPicPr>
          <p:cNvPr id="12" name="Picture 11" descr="9fc66bb1f34c491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81888" y="2554224"/>
            <a:ext cx="1136904" cy="27736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118792" y="2464308"/>
            <a:ext cx="548113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hours. Paper costs 3 cents a sheet.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30998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copies does it make?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274551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printer makes  </a:t>
            </a:r>
          </a:p>
        </p:txBody>
      </p:sp>
      <p:pic>
        <p:nvPicPr>
          <p:cNvPr id="9" name="Picture 8" descr="e21453500b58799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2791" y="1944623"/>
            <a:ext cx="914400" cy="2712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757191" y="1851660"/>
            <a:ext cx="272592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copies per hour.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464308"/>
            <a:ext cx="188460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It runs for  </a:t>
            </a:r>
          </a:p>
        </p:txBody>
      </p:sp>
      <p:pic>
        <p:nvPicPr>
          <p:cNvPr id="12" name="Picture 11" descr="dcfe01e2266e7d4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81888" y="2554224"/>
            <a:ext cx="1143000" cy="27736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124888" y="2464308"/>
            <a:ext cx="548113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hours. Paper costs 3 cents a sheet.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30998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copies does it make?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72609" y="3734926"/>
            <a:ext cx="322034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Multiply the fronts:  </a:t>
            </a:r>
          </a:p>
        </p:txBody>
      </p:sp>
      <p:pic>
        <p:nvPicPr>
          <p:cNvPr id="16" name="Picture 15" descr="4841b499496deb7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55799" y="3856846"/>
            <a:ext cx="1417320" cy="21336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3572609" y="4237846"/>
            <a:ext cx="331551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Add the exponents:  </a:t>
            </a:r>
          </a:p>
        </p:txBody>
      </p:sp>
      <p:pic>
        <p:nvPicPr>
          <p:cNvPr id="18" name="Picture 17" descr="a2fcaba2a23dd20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50966" y="4335382"/>
            <a:ext cx="1840991" cy="262128"/>
          </a:xfrm>
          <a:prstGeom prst="rect">
            <a:avLst/>
          </a:prstGeom>
        </p:spPr>
      </p:pic>
      <p:pic>
        <p:nvPicPr>
          <p:cNvPr id="19" name="Picture 18" descr="2a1f3e18aef4b3d9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27473" y="4838302"/>
            <a:ext cx="2127504" cy="26212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77240" y="5312266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6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20</a:t>
            </a:r>
          </a:p>
        </p:txBody>
      </p:sp>
      <p:pic>
        <p:nvPicPr>
          <p:cNvPr id="8" name="Picture 7" descr="aa8aaa91edd783f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6859" y="2194560"/>
            <a:ext cx="1447800" cy="79552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21</a:t>
            </a:r>
          </a:p>
        </p:txBody>
      </p:sp>
      <p:pic>
        <p:nvPicPr>
          <p:cNvPr id="8" name="Picture 7" descr="3b2db2bf563f5fd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9908" y="2103120"/>
            <a:ext cx="1441704" cy="79552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203725" y="3223260"/>
            <a:ext cx="299159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Divide the fronts:  </a:t>
            </a:r>
          </a:p>
        </p:txBody>
      </p:sp>
      <p:pic>
        <p:nvPicPr>
          <p:cNvPr id="10" name="Picture 9" descr="68d052e64ee5583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58163" y="3345180"/>
            <a:ext cx="1481328" cy="2133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203725" y="3726179"/>
            <a:ext cx="401366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Subtract the exponents:  </a:t>
            </a:r>
          </a:p>
        </p:txBody>
      </p:sp>
      <p:pic>
        <p:nvPicPr>
          <p:cNvPr id="12" name="Picture 11" descr="93ba4e388683b6a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80226" y="3826763"/>
            <a:ext cx="1880616" cy="256032"/>
          </a:xfrm>
          <a:prstGeom prst="rect">
            <a:avLst/>
          </a:prstGeom>
        </p:spPr>
      </p:pic>
      <p:pic>
        <p:nvPicPr>
          <p:cNvPr id="13" name="Picture 12" descr="c6369a2a18532f7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58589" y="4329683"/>
            <a:ext cx="847344" cy="25603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48006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8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5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22</a:t>
            </a:r>
          </a:p>
        </p:txBody>
      </p:sp>
      <p:pic>
        <p:nvPicPr>
          <p:cNvPr id="8" name="Picture 7" descr="ffdc47127232dd7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6276" y="2194560"/>
            <a:ext cx="1648968" cy="79552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23</a:t>
            </a:r>
          </a:p>
        </p:txBody>
      </p:sp>
      <p:pic>
        <p:nvPicPr>
          <p:cNvPr id="8" name="Picture 7" descr="e0912071a11b6e8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9323" y="2103120"/>
            <a:ext cx="1642872" cy="79552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089425" y="3223260"/>
            <a:ext cx="299159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Divide the fronts:  </a:t>
            </a:r>
          </a:p>
        </p:txBody>
      </p:sp>
      <p:pic>
        <p:nvPicPr>
          <p:cNvPr id="10" name="Picture 9" descr="b4106f1670f3493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863" y="3345180"/>
            <a:ext cx="1865376" cy="2133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089425" y="3726179"/>
            <a:ext cx="401366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Subtract the exponents:  </a:t>
            </a:r>
          </a:p>
        </p:txBody>
      </p:sp>
      <p:pic>
        <p:nvPicPr>
          <p:cNvPr id="12" name="Picture 11" descr="006020145e46252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65926" y="3823716"/>
            <a:ext cx="2109216" cy="262128"/>
          </a:xfrm>
          <a:prstGeom prst="rect">
            <a:avLst/>
          </a:prstGeom>
        </p:spPr>
      </p:pic>
      <p:pic>
        <p:nvPicPr>
          <p:cNvPr id="13" name="Picture 12" descr="c559c147ffe46a9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44289" y="4329683"/>
            <a:ext cx="2889504" cy="25603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48006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8.2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-4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24</a:t>
            </a:r>
          </a:p>
        </p:txBody>
      </p:sp>
      <p:pic>
        <p:nvPicPr>
          <p:cNvPr id="8" name="Picture 7" descr="3853590bf44167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9536" y="2196083"/>
            <a:ext cx="2822448" cy="40843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8803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is the product?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8 × 10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-2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8 × 10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63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2324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8 × 10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16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2324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6 × 10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16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238319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25</a:t>
            </a:r>
          </a:p>
        </p:txBody>
      </p:sp>
      <p:pic>
        <p:nvPicPr>
          <p:cNvPr id="8" name="Picture 7" descr="172da9cf6bf1b71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8012" y="2103120"/>
            <a:ext cx="2825496" cy="41452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791967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is the product?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17745" y="3417139"/>
            <a:ext cx="322034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Multiply the fronts:  </a:t>
            </a:r>
          </a:p>
        </p:txBody>
      </p:sp>
      <p:pic>
        <p:nvPicPr>
          <p:cNvPr id="11" name="Picture 10" descr="441dd60a023e07e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0935" y="3540583"/>
            <a:ext cx="1021080" cy="21031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517745" y="3920059"/>
            <a:ext cx="331551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Add the exponents:  </a:t>
            </a:r>
          </a:p>
        </p:txBody>
      </p:sp>
      <p:pic>
        <p:nvPicPr>
          <p:cNvPr id="13" name="Picture 12" descr="579cc9c9ffeab55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96102" y="4017595"/>
            <a:ext cx="1950720" cy="262128"/>
          </a:xfrm>
          <a:prstGeom prst="rect">
            <a:avLst/>
          </a:prstGeom>
        </p:spPr>
      </p:pic>
      <p:pic>
        <p:nvPicPr>
          <p:cNvPr id="14" name="Picture 13" descr="10c89d61f9e09d4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72609" y="4520515"/>
            <a:ext cx="954023" cy="26212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7240" y="4994479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C — 8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16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26</a:t>
            </a:r>
          </a:p>
        </p:txBody>
      </p:sp>
      <p:pic>
        <p:nvPicPr>
          <p:cNvPr id="8" name="Picture 7" descr="811d128c9a4cb37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8012" y="2196083"/>
            <a:ext cx="2825496" cy="40843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8803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is the product, written in scientific notation?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2 × 10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20 × 10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2324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20 × 10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18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2324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2 × 10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238319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27</a:t>
            </a:r>
          </a:p>
        </p:txBody>
      </p:sp>
      <p:pic>
        <p:nvPicPr>
          <p:cNvPr id="8" name="Picture 7" descr="d3ea7b9b7f4f766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6487" y="2103120"/>
            <a:ext cx="2828544" cy="41452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791967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is the product, written in scientific notation?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72609" y="3417139"/>
            <a:ext cx="322034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Multiply the fronts:  </a:t>
            </a:r>
          </a:p>
        </p:txBody>
      </p:sp>
      <p:pic>
        <p:nvPicPr>
          <p:cNvPr id="11" name="Picture 10" descr="95ecba0795db8e3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55799" y="3539059"/>
            <a:ext cx="1197864" cy="21336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572609" y="3920059"/>
            <a:ext cx="331551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Add the exponents:  </a:t>
            </a:r>
          </a:p>
        </p:txBody>
      </p:sp>
      <p:pic>
        <p:nvPicPr>
          <p:cNvPr id="13" name="Picture 12" descr="d8f8e59949bbed4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50966" y="4017595"/>
            <a:ext cx="1840991" cy="262128"/>
          </a:xfrm>
          <a:prstGeom prst="rect">
            <a:avLst/>
          </a:prstGeom>
        </p:spPr>
      </p:pic>
      <p:pic>
        <p:nvPicPr>
          <p:cNvPr id="14" name="Picture 13" descr="a7b20829de9c08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27473" y="4520515"/>
            <a:ext cx="2273808" cy="26212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7240" y="4994479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D — 2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10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28</a:t>
            </a:r>
          </a:p>
        </p:txBody>
      </p:sp>
      <p:pic>
        <p:nvPicPr>
          <p:cNvPr id="8" name="Picture 7" descr="c4bdb38362d4edf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34583" y="2194560"/>
            <a:ext cx="1292352" cy="80162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29</a:t>
            </a:r>
          </a:p>
        </p:txBody>
      </p:sp>
      <p:pic>
        <p:nvPicPr>
          <p:cNvPr id="8" name="Picture 7" descr="117d387ca555e41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37632" y="2103120"/>
            <a:ext cx="1286256" cy="80162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437153" y="3229356"/>
            <a:ext cx="299159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Divide the fronts:  </a:t>
            </a:r>
          </a:p>
        </p:txBody>
      </p:sp>
      <p:pic>
        <p:nvPicPr>
          <p:cNvPr id="10" name="Picture 9" descr="e20244de15a0b93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91591" y="3352800"/>
            <a:ext cx="996696" cy="21031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2437153" y="3732275"/>
            <a:ext cx="401366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Subtract the exponents:  </a:t>
            </a:r>
          </a:p>
        </p:txBody>
      </p:sp>
      <p:pic>
        <p:nvPicPr>
          <p:cNvPr id="12" name="Picture 11" descr="03a763d23ef38bc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13654" y="3829812"/>
            <a:ext cx="3416808" cy="262128"/>
          </a:xfrm>
          <a:prstGeom prst="rect">
            <a:avLst/>
          </a:prstGeom>
        </p:spPr>
      </p:pic>
      <p:pic>
        <p:nvPicPr>
          <p:cNvPr id="13" name="Picture 12" descr="9b9b4517e7c627d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92017" y="4332732"/>
            <a:ext cx="917448" cy="26212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4806696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15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30</a:t>
            </a:r>
          </a:p>
        </p:txBody>
      </p:sp>
      <p:pic>
        <p:nvPicPr>
          <p:cNvPr id="8" name="Picture 7" descr="dfc728df3a4406c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25696" y="2194560"/>
            <a:ext cx="3310128" cy="79552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134140" y="3241548"/>
            <a:ext cx="351744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What is the value of </a:t>
            </a:r>
          </a:p>
        </p:txBody>
      </p:sp>
      <p:pic>
        <p:nvPicPr>
          <p:cNvPr id="10" name="Picture 9" descr="f14fce7cf077cd0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14421" y="3366516"/>
            <a:ext cx="176784" cy="20726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691205" y="3241548"/>
            <a:ext cx="4733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31</a:t>
            </a:r>
          </a:p>
        </p:txBody>
      </p:sp>
      <p:pic>
        <p:nvPicPr>
          <p:cNvPr id="8" name="Picture 7" descr="594e88537557ceb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24172" y="2103120"/>
            <a:ext cx="3313176" cy="79552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134140" y="3150108"/>
            <a:ext cx="351744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What is the value of </a:t>
            </a:r>
          </a:p>
        </p:txBody>
      </p:sp>
      <p:pic>
        <p:nvPicPr>
          <p:cNvPr id="10" name="Picture 9" descr="f14fce7cf077cd0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14421" y="3275076"/>
            <a:ext cx="176784" cy="20726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691205" y="3150108"/>
            <a:ext cx="4733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40887" y="3909059"/>
            <a:ext cx="164007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Fronts:  </a:t>
            </a:r>
          </a:p>
        </p:txBody>
      </p:sp>
      <p:pic>
        <p:nvPicPr>
          <p:cNvPr id="13" name="Picture 12" descr="e920add2c6370e5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43799" y="4011168"/>
            <a:ext cx="1834896" cy="25298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978695" y="3909059"/>
            <a:ext cx="13382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,   so   </a:t>
            </a:r>
          </a:p>
        </p:txBody>
      </p:sp>
      <p:pic>
        <p:nvPicPr>
          <p:cNvPr id="15" name="Picture 14" descr="8691e6c5c0ab487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79768" y="4011168"/>
            <a:ext cx="2346960" cy="25298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2640887" y="4602480"/>
            <a:ext cx="160150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Check:  </a:t>
            </a:r>
          </a:p>
        </p:txBody>
      </p:sp>
      <p:pic>
        <p:nvPicPr>
          <p:cNvPr id="17" name="Picture 16" descr="dedb3e2327f40b6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05232" y="4471416"/>
            <a:ext cx="3002280" cy="71932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77240" y="5327904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n = 2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49107" y="1816608"/>
            <a:ext cx="9301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For  </a:t>
            </a:r>
          </a:p>
        </p:txBody>
      </p:sp>
      <p:pic>
        <p:nvPicPr>
          <p:cNvPr id="9" name="Picture 8" descr="60ccdbf79261551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42134" y="1645920"/>
            <a:ext cx="1554480" cy="79857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196614" y="1816608"/>
            <a:ext cx="281125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Marcus writes  </a:t>
            </a:r>
          </a:p>
        </p:txBody>
      </p:sp>
      <p:pic>
        <p:nvPicPr>
          <p:cNvPr id="11" name="Picture 10" descr="7f9ab9ea310fee8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70708" y="1876044"/>
            <a:ext cx="1441704" cy="33832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059724" y="2695956"/>
            <a:ext cx="29295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and Sara writes  </a:t>
            </a:r>
          </a:p>
        </p:txBody>
      </p:sp>
      <p:pic>
        <p:nvPicPr>
          <p:cNvPr id="13" name="Picture 12" descr="f48b4bb2456d355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2115" y="2753868"/>
            <a:ext cx="1249680" cy="34137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3404616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180" b="0" i="0">
                <a:solidFill>
                  <a:srgbClr val="1A1A1A"/>
                </a:solidFill>
                <a:latin typeface="Lexend"/>
              </a:rPr>
              <a:t>Name what each one did wrong, and give the correct quotient.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Write your answer in sentences.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50631" y="1816608"/>
            <a:ext cx="9301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For  </a:t>
            </a:r>
          </a:p>
        </p:txBody>
      </p:sp>
      <p:pic>
        <p:nvPicPr>
          <p:cNvPr id="9" name="Picture 8" descr="eb274165a95bfcd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43658" y="1645920"/>
            <a:ext cx="1548384" cy="79857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192042" y="1816608"/>
            <a:ext cx="281125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Marcus writes  </a:t>
            </a:r>
          </a:p>
        </p:txBody>
      </p:sp>
      <p:pic>
        <p:nvPicPr>
          <p:cNvPr id="11" name="Picture 10" descr="031963a342c3fd4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6136" y="1876044"/>
            <a:ext cx="1444752" cy="33832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058200" y="2695956"/>
            <a:ext cx="29295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and Sara writes  </a:t>
            </a:r>
          </a:p>
        </p:txBody>
      </p:sp>
      <p:pic>
        <p:nvPicPr>
          <p:cNvPr id="13" name="Picture 12" descr="f762cb430573f29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0591" y="2753868"/>
            <a:ext cx="1252728" cy="34137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3404616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180" b="0" i="0">
                <a:solidFill>
                  <a:srgbClr val="1A1A1A"/>
                </a:solidFill>
                <a:latin typeface="Lexend"/>
              </a:rPr>
              <a:t>Name what each one did wrong, and give the correct quotient.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20736" y="3976115"/>
            <a:ext cx="885720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Marcus subtracted the fronts. Sara added the exponents.</a:t>
            </a:r>
          </a:p>
        </p:txBody>
      </p:sp>
      <p:pic>
        <p:nvPicPr>
          <p:cNvPr id="16" name="Picture 15" descr="da3880d22447243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75600" y="4600956"/>
            <a:ext cx="1496568" cy="21336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3272168" y="4479035"/>
            <a:ext cx="13200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   and   </a:t>
            </a:r>
          </a:p>
        </p:txBody>
      </p:sp>
      <p:pic>
        <p:nvPicPr>
          <p:cNvPr id="18" name="Picture 17" descr="e5d4b81feea7d9a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55057" y="4576572"/>
            <a:ext cx="1972056" cy="262128"/>
          </a:xfrm>
          <a:prstGeom prst="rect">
            <a:avLst/>
          </a:prstGeom>
        </p:spPr>
      </p:pic>
      <p:pic>
        <p:nvPicPr>
          <p:cNvPr id="19" name="Picture 18" descr="9fe0ce93fe0b7e9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775600" y="5082539"/>
            <a:ext cx="841248" cy="256032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77240" y="5553456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3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8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49504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pic>
        <p:nvPicPr>
          <p:cNvPr id="9" name="Picture 8" descr="6e0be8365ac4f5b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7632" y="1559051"/>
            <a:ext cx="2292096" cy="32918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60120" y="2205227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pic>
        <p:nvPicPr>
          <p:cNvPr id="11" name="Picture 10" descr="62a20c5f23ea4ba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27632" y="2112263"/>
            <a:ext cx="1167384" cy="64312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60120" y="2915411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pic>
        <p:nvPicPr>
          <p:cNvPr id="13" name="Picture 12" descr="d61c32ba4971b57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27632" y="2977895"/>
            <a:ext cx="2407920" cy="33223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60120" y="3625595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4.</a:t>
            </a:r>
          </a:p>
        </p:txBody>
      </p:sp>
      <p:pic>
        <p:nvPicPr>
          <p:cNvPr id="15" name="Picture 14" descr="8867f8a3b1816d8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27632" y="3532631"/>
            <a:ext cx="1155192" cy="64312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60120" y="4454651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5.</a:t>
            </a:r>
          </a:p>
        </p:txBody>
      </p:sp>
      <p:pic>
        <p:nvPicPr>
          <p:cNvPr id="17" name="Picture 16" descr="b725906188c6ae1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27632" y="4358639"/>
            <a:ext cx="1060704" cy="64922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960120" y="516788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6.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5167883"/>
            <a:ext cx="91305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Find </a:t>
            </a:r>
          </a:p>
        </p:txBody>
      </p:sp>
      <p:pic>
        <p:nvPicPr>
          <p:cNvPr id="20" name="Picture 19" descr="6d78c2be12150bf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330372" y="5312664"/>
            <a:ext cx="146304" cy="16764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2476676" y="5167883"/>
            <a:ext cx="44211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.  </a:t>
            </a:r>
          </a:p>
        </p:txBody>
      </p:sp>
      <p:pic>
        <p:nvPicPr>
          <p:cNvPr id="22" name="Picture 21" descr="d7bf46933a52690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781626" y="5228844"/>
            <a:ext cx="3621024" cy="335280"/>
          </a:xfrm>
          <a:prstGeom prst="rect">
            <a:avLst/>
          </a:prstGeom>
        </p:spPr>
      </p:pic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Open IXL and start today's skills.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Work on paper where the question needs work. The answer box does not show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Every skill listed is required, to a SmartScore of 67. Due at the start of the next class.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1A1A1A"/>
                </a:solidFill>
                <a:latin typeface="Lexend"/>
              </a:rPr>
              <a:t>Today's skills — all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Multiply numbers written in scientific notation — YZU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837176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Divide numbers written in scientific notation — SGT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488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20" b="0" i="0">
                <a:solidFill>
                  <a:srgbClr val="6B6B6B"/>
                </a:solidFill>
                <a:latin typeface="Lexend"/>
              </a:rPr>
              <a:t>GRADE 7 ACCELERATED  ·  UNIT 4  ·  LESSON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5054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229" b="1" i="0">
                <a:solidFill>
                  <a:srgbClr val="1A1A1A"/>
                </a:solidFill>
                <a:latin typeface="Lexend"/>
              </a:rPr>
              <a:t>Real-World Problems and Significant Digits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7124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7947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9593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20" b="1" i="0">
                <a:solidFill>
                  <a:srgbClr val="1A1A1A"/>
                </a:solidFill>
                <a:latin typeface="Lexend"/>
              </a:rPr>
              <a:t>MA.8.NSO.1.6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2976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810" b="0" i="0">
                <a:solidFill>
                  <a:srgbClr val="1A1A1A"/>
                </a:solidFill>
                <a:latin typeface="Lexend"/>
              </a:rPr>
              <a:t>I can solve a real-world problem with numbers in scientific notation and report the answer with the right number of significant digits.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</a:t>
            </a:r>
          </a:p>
        </p:txBody>
      </p:sp>
      <p:sp>
        <p:nvSpPr>
          <p:cNvPr id="11" name="TextBox 10">
            <a:hlinkClick action="ppaction://hlinksldjump" r:id="rId2"/>
          </p:cNvPr>
          <p:cNvSpPr txBox="1"/>
          <p:nvPr/>
        </p:nvSpPr>
        <p:spPr>
          <a:xfrm>
            <a:off x="9372600" y="201168"/>
            <a:ext cx="201168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40" b="0" i="0">
                <a:solidFill>
                  <a:srgbClr val="6B6B6B"/>
                </a:solidFill>
                <a:latin typeface="Arial"/>
              </a:rPr>
              <a:t>←</a:t>
            </a:r>
            <a:r>
              <a:rPr sz="1140" b="0" i="0">
                <a:solidFill>
                  <a:srgbClr val="6B6B6B"/>
                </a:solidFill>
                <a:latin typeface="Lexend"/>
              </a:rPr>
              <a:t> Contents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67156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</a:t>
            </a:r>
          </a:p>
        </p:txBody>
      </p:sp>
      <p:pic>
        <p:nvPicPr>
          <p:cNvPr id="9" name="Picture 8" descr="9ef93e9422ec807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8921" y="1501140"/>
            <a:ext cx="2417064" cy="3352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74519" y="2052828"/>
            <a:ext cx="68569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</a:t>
            </a:r>
          </a:p>
        </p:txBody>
      </p:sp>
      <p:pic>
        <p:nvPicPr>
          <p:cNvPr id="11" name="Picture 10" descr="872c396e107e432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3059" y="2115312"/>
            <a:ext cx="3057144" cy="33223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874519" y="2665476"/>
            <a:ext cx="585995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Write  0.00902  in scientific notation.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3278124"/>
            <a:ext cx="630192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Round  4.738  to the nearest hundredth.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67156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</a:t>
            </a:r>
          </a:p>
        </p:txBody>
      </p:sp>
      <p:pic>
        <p:nvPicPr>
          <p:cNvPr id="9" name="Picture 8" descr="9ef93e9422ec807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8921" y="1501140"/>
            <a:ext cx="2417064" cy="3352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74625" y="1440180"/>
            <a:ext cx="144034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1.2 × 10</a:t>
            </a:r>
            <a:r>
              <a:rPr sz="2180" b="1" i="0" baseline="30000">
                <a:solidFill>
                  <a:srgbClr val="9E1B32"/>
                </a:solidFill>
                <a:latin typeface="Lexend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2052828"/>
            <a:ext cx="68569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</a:t>
            </a:r>
          </a:p>
        </p:txBody>
      </p:sp>
      <p:pic>
        <p:nvPicPr>
          <p:cNvPr id="12" name="Picture 11" descr="872c396e107e432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3059" y="2115312"/>
            <a:ext cx="3057144" cy="33223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028843" y="2052828"/>
            <a:ext cx="16123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5.89 × 10</a:t>
            </a:r>
            <a:r>
              <a:rPr sz="2180" b="1" i="0" baseline="30000">
                <a:solidFill>
                  <a:srgbClr val="9E1B32"/>
                </a:solidFill>
                <a:latin typeface="Lexend"/>
              </a:rPr>
              <a:t>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2665476"/>
            <a:ext cx="585995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Write  0.00902  in scientific notation.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45958" y="2665476"/>
            <a:ext cx="180008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9.02 × 10</a:t>
            </a:r>
            <a:r>
              <a:rPr sz="2180" b="1" i="0" baseline="30000">
                <a:solidFill>
                  <a:srgbClr val="9E1B32"/>
                </a:solidFill>
                <a:latin typeface="Lexend"/>
              </a:rPr>
              <a:t>-3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3278124"/>
            <a:ext cx="630192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Round  4.738  to the nearest hundredth.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87924" y="3278124"/>
            <a:ext cx="83067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4.74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Vocabulary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463040"/>
            <a:ext cx="10607040" cy="39358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1" i="0">
                <a:solidFill>
                  <a:srgbClr val="0B5394"/>
                </a:solidFill>
                <a:latin typeface="Lexend"/>
              </a:rPr>
              <a:t>significant digits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856629"/>
            <a:ext cx="10241280" cy="715617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Lexend"/>
              </a:rPr>
              <a:t>the digits of a measurement that carry information: every nonzero digit, every zero between nonzero digits, and a trailing zero only when a decimal point is written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809990"/>
            <a:ext cx="10607040" cy="39358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1" i="0">
                <a:solidFill>
                  <a:srgbClr val="0B5394"/>
                </a:solidFill>
                <a:latin typeface="Lexend"/>
              </a:rPr>
              <a:t>leading zero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3203580"/>
            <a:ext cx="10241280" cy="715617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Lexend"/>
              </a:rPr>
              <a:t>a zero before the first nonzero digit. 0.0047 has two leading zeros and two significant digits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156941"/>
            <a:ext cx="10607040" cy="39358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1" i="0">
                <a:solidFill>
                  <a:srgbClr val="0B5394"/>
                </a:solidFill>
                <a:latin typeface="Lexend"/>
              </a:rPr>
              <a:t>measurement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4550531"/>
            <a:ext cx="10241280" cy="715617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Lexend"/>
              </a:rPr>
              <a:t>a quantity that was measured, so its last digit is uncertain. A count is not a measurement — 24 students is exactly 24, and 60 seconds in a minute is exact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I.  Which digits are significant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2285999" y="1993392"/>
          <a:ext cx="7589520" cy="19202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1680"/>
                <a:gridCol w="1188720"/>
                <a:gridCol w="438912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420" b="1">
                          <a:solidFill>
                            <a:srgbClr val="1A1A1A"/>
                          </a:solidFill>
                          <a:latin typeface="Lexend"/>
                        </a:rPr>
                        <a:t>Measurement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20" b="1">
                          <a:solidFill>
                            <a:srgbClr val="1A1A1A"/>
                          </a:solidFill>
                          <a:latin typeface="Lexend"/>
                        </a:rPr>
                        <a:t>Digits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20" b="1">
                          <a:solidFill>
                            <a:srgbClr val="1A1A1A"/>
                          </a:solidFill>
                          <a:latin typeface="Lexend"/>
                        </a:rPr>
                        <a:t>Why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420" b="0">
                          <a:solidFill>
                            <a:srgbClr val="1A1A1A"/>
                          </a:solidFill>
                          <a:latin typeface="Lexend"/>
                        </a:rPr>
                        <a:t>4,207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20" b="0">
                          <a:solidFill>
                            <a:srgbClr val="1A1A1A"/>
                          </a:solidFill>
                          <a:latin typeface="Lexend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20" b="0">
                          <a:solidFill>
                            <a:srgbClr val="1A1A1A"/>
                          </a:solidFill>
                          <a:latin typeface="Lexend"/>
                        </a:rPr>
                        <a:t>the middle zero counts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420" b="0">
                          <a:solidFill>
                            <a:srgbClr val="1A1A1A"/>
                          </a:solidFill>
                          <a:latin typeface="Lexend"/>
                        </a:rPr>
                        <a:t>0.0058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20" b="0">
                          <a:solidFill>
                            <a:srgbClr val="1A1A1A"/>
                          </a:solidFill>
                          <a:latin typeface="Lexend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20" b="0">
                          <a:solidFill>
                            <a:srgbClr val="1A1A1A"/>
                          </a:solidFill>
                          <a:latin typeface="Lexend"/>
                        </a:rPr>
                        <a:t>leading zeros never count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420" b="0">
                          <a:solidFill>
                            <a:srgbClr val="1A1A1A"/>
                          </a:solidFill>
                          <a:latin typeface="Lexend"/>
                        </a:rPr>
                        <a:t>3.200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20" b="0">
                          <a:solidFill>
                            <a:srgbClr val="1A1A1A"/>
                          </a:solidFill>
                          <a:latin typeface="Lexend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20" b="0">
                          <a:solidFill>
                            <a:srgbClr val="1A1A1A"/>
                          </a:solidFill>
                          <a:latin typeface="Lexend"/>
                        </a:rPr>
                        <a:t>trailing zeros count after a decimal point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420" b="0">
                          <a:solidFill>
                            <a:srgbClr val="1A1A1A"/>
                          </a:solidFill>
                          <a:latin typeface="Lexend"/>
                        </a:rPr>
                        <a:t>52,000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20" b="0">
                          <a:solidFill>
                            <a:srgbClr val="1A1A1A"/>
                          </a:solidFill>
                          <a:latin typeface="Lexend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20" b="0">
                          <a:solidFill>
                            <a:srgbClr val="1A1A1A"/>
                          </a:solidFill>
                          <a:latin typeface="Lexend"/>
                        </a:rPr>
                        <a:t>no decimal point, so they do not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II.  Multiplying or dividing: count the digits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c7e6ff835d857c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1716" y="1993392"/>
            <a:ext cx="6038088" cy="4114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343817" y="2656332"/>
            <a:ext cx="82333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2 significant digits and 3, so the answer keeps 2:   </a:t>
            </a:r>
          </a:p>
        </p:txBody>
      </p:sp>
      <p:pic>
        <p:nvPicPr>
          <p:cNvPr id="12" name="Picture 11" descr="723af09f9a41839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40006" y="2717292"/>
            <a:ext cx="1377696" cy="33528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87552" y="3429000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Multiply or divide: the answer takes the smaller of the two significant-digit counts.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III.  Adding or subtracting: a different rule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ac84020e548be5d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120" y="2023872"/>
            <a:ext cx="3383280" cy="3505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820000" y="2656332"/>
            <a:ext cx="865867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1,234 stops at the ones place;  5.6 stops at the tenths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410" y="3342132"/>
            <a:ext cx="61149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so the sum stops at the ones place:   </a:t>
            </a:r>
          </a:p>
        </p:txBody>
      </p:sp>
      <p:pic>
        <p:nvPicPr>
          <p:cNvPr id="13" name="Picture 12" descr="40647922f9acd29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86237" y="3368040"/>
            <a:ext cx="3166872" cy="40538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87552" y="4114800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Add or subtract: the answer stops at the leftmost of the two last-digit places.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68053" y="1714500"/>
            <a:ext cx="412051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A solar array measures  </a:t>
            </a:r>
          </a:p>
        </p:txBody>
      </p:sp>
      <p:pic>
        <p:nvPicPr>
          <p:cNvPr id="9" name="Picture 8" descr="ff2cbfe6b6afaad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51411" y="1772412"/>
            <a:ext cx="1575816" cy="34137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227227" y="1714500"/>
            <a:ext cx="13781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m by  </a:t>
            </a:r>
          </a:p>
        </p:txBody>
      </p:sp>
      <p:pic>
        <p:nvPicPr>
          <p:cNvPr id="11" name="Picture 10" descr="aa26922bd492b4c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68215" y="1772412"/>
            <a:ext cx="1383792" cy="34137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852007" y="1714500"/>
            <a:ext cx="77861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m.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46888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What is its area?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19085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Give the answer to the correct number of significant digits.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9</a:t>
            </a:r>
          </a:p>
        </p:txBody>
      </p:sp>
      <p:pic>
        <p:nvPicPr>
          <p:cNvPr id="8" name="Picture 7" descr="d7b7c5abadb0c1a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5151120" cy="411480"/>
          </a:xfrm>
          <a:prstGeom prst="rect">
            <a:avLst/>
          </a:prstGeom>
        </p:spPr>
      </p:pic>
      <p:pic>
        <p:nvPicPr>
          <p:cNvPr id="9" name="Picture 8" descr="a08d6ab77e17239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606040"/>
            <a:ext cx="6248400" cy="387096"/>
          </a:xfrm>
          <a:prstGeom prst="rect">
            <a:avLst/>
          </a:prstGeom>
        </p:spPr>
      </p:pic>
      <p:pic>
        <p:nvPicPr>
          <p:cNvPr id="10" name="Picture 9" descr="a93125fbd09b82b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267456"/>
            <a:ext cx="4462272" cy="40538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1.1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4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square meters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70625" y="1583436"/>
            <a:ext cx="307717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A field measures  </a:t>
            </a:r>
          </a:p>
        </p:txBody>
      </p:sp>
      <p:pic>
        <p:nvPicPr>
          <p:cNvPr id="9" name="Picture 8" descr="1645c9c47acde3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10639" y="1600200"/>
            <a:ext cx="1792224" cy="4236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502863" y="1583436"/>
            <a:ext cx="13781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m by  </a:t>
            </a:r>
          </a:p>
        </p:txBody>
      </p:sp>
      <p:pic>
        <p:nvPicPr>
          <p:cNvPr id="11" name="Picture 10" descr="debdcb1f492603f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43851" y="1600200"/>
            <a:ext cx="2005584" cy="42367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749435" y="1583436"/>
            <a:ext cx="77861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m.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343912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What is its area?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69101" y="1583436"/>
            <a:ext cx="307717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A field measures  </a:t>
            </a:r>
          </a:p>
        </p:txBody>
      </p:sp>
      <p:pic>
        <p:nvPicPr>
          <p:cNvPr id="9" name="Picture 8" descr="19219eb587cce93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9115" y="1600200"/>
            <a:ext cx="1792224" cy="4236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501339" y="1583436"/>
            <a:ext cx="13781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m by  </a:t>
            </a:r>
          </a:p>
        </p:txBody>
      </p:sp>
      <p:pic>
        <p:nvPicPr>
          <p:cNvPr id="11" name="Picture 10" descr="acda4b72b75ce9a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42327" y="1600200"/>
            <a:ext cx="2008632" cy="42367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750959" y="1583436"/>
            <a:ext cx="77861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m.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343912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What is its area?</a:t>
            </a:r>
          </a:p>
        </p:txBody>
      </p:sp>
      <p:pic>
        <p:nvPicPr>
          <p:cNvPr id="14" name="Picture 13" descr="94a8240adc6e96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65957" y="3055222"/>
            <a:ext cx="2185416" cy="2133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951373" y="2933302"/>
            <a:ext cx="13200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   and   </a:t>
            </a:r>
          </a:p>
        </p:txBody>
      </p:sp>
      <p:pic>
        <p:nvPicPr>
          <p:cNvPr id="16" name="Picture 15" descr="6dc7d095c18b426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34261" y="3030838"/>
            <a:ext cx="1859280" cy="262128"/>
          </a:xfrm>
          <a:prstGeom prst="rect">
            <a:avLst/>
          </a:prstGeom>
        </p:spPr>
      </p:pic>
      <p:pic>
        <p:nvPicPr>
          <p:cNvPr id="17" name="Picture 16" descr="c8c5f1b26c2cdc8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65957" y="3509374"/>
            <a:ext cx="2758440" cy="31089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711093" y="3939142"/>
            <a:ext cx="584931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Keep 2 significant digits (4.6 has 2):   </a:t>
            </a:r>
          </a:p>
        </p:txBody>
      </p:sp>
      <p:pic>
        <p:nvPicPr>
          <p:cNvPr id="19" name="Picture 18" descr="7eec2dad996b77df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23250" y="4039726"/>
            <a:ext cx="1030224" cy="256032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1.1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5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square meters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89331" y="1714500"/>
            <a:ext cx="320381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A container holds  </a:t>
            </a:r>
          </a:p>
        </p:txBody>
      </p:sp>
      <p:pic>
        <p:nvPicPr>
          <p:cNvPr id="9" name="Picture 8" descr="14e0b9b3df93fbb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55985" y="1773936"/>
            <a:ext cx="1783080" cy="3383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839065" y="1714500"/>
            <a:ext cx="347028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cubic feet of liquid.</a:t>
            </a:r>
          </a:p>
        </p:txBody>
      </p:sp>
      <p:pic>
        <p:nvPicPr>
          <p:cNvPr id="11" name="Picture 10" descr="a3b236c4480db31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60625" y="2506980"/>
            <a:ext cx="1999487" cy="3352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160113" y="2446020"/>
            <a:ext cx="397794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cubic feet evaporates.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38328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How much is left? Give the answer with the correct precision.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13</a:t>
            </a:r>
          </a:p>
        </p:txBody>
      </p:sp>
      <p:pic>
        <p:nvPicPr>
          <p:cNvPr id="8" name="Picture 7" descr="7330ec204f7748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6358128" cy="280416"/>
          </a:xfrm>
          <a:prstGeom prst="rect">
            <a:avLst/>
          </a:prstGeom>
        </p:spPr>
      </p:pic>
      <p:pic>
        <p:nvPicPr>
          <p:cNvPr id="9" name="Picture 8" descr="bb89500147edd46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474976"/>
            <a:ext cx="3895344" cy="417576"/>
          </a:xfrm>
          <a:prstGeom prst="rect">
            <a:avLst/>
          </a:prstGeom>
        </p:spPr>
      </p:pic>
      <p:pic>
        <p:nvPicPr>
          <p:cNvPr id="10" name="Picture 9" descr="675b2dce7029d49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166871"/>
            <a:ext cx="6041136" cy="33832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3.06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-3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cubic feet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09636" y="1581912"/>
            <a:ext cx="181966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A road is  </a:t>
            </a:r>
          </a:p>
        </p:txBody>
      </p:sp>
      <p:pic>
        <p:nvPicPr>
          <p:cNvPr id="9" name="Picture 8" descr="7085e71197c76ea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92141" y="1600200"/>
            <a:ext cx="2026920" cy="4206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219061" y="1581912"/>
            <a:ext cx="156998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m long.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93031" y="2324100"/>
            <a:ext cx="187681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A section  </a:t>
            </a:r>
          </a:p>
        </p:txBody>
      </p:sp>
      <p:pic>
        <p:nvPicPr>
          <p:cNvPr id="12" name="Picture 11" descr="8ca2d2fd49f849d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32686" y="2340864"/>
            <a:ext cx="2036064" cy="42367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368750" y="2324100"/>
            <a:ext cx="333689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m long is repaved.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084576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How much of the road is not repaved?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08112" y="1581912"/>
            <a:ext cx="181966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A road is  </a:t>
            </a:r>
          </a:p>
        </p:txBody>
      </p:sp>
      <p:pic>
        <p:nvPicPr>
          <p:cNvPr id="9" name="Picture 8" descr="792d949c5a21a6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90617" y="1600200"/>
            <a:ext cx="2029968" cy="4206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220585" y="1581912"/>
            <a:ext cx="156998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m long.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91507" y="2324100"/>
            <a:ext cx="187681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A section  </a:t>
            </a:r>
          </a:p>
        </p:txBody>
      </p:sp>
      <p:pic>
        <p:nvPicPr>
          <p:cNvPr id="12" name="Picture 11" descr="b395e7df8785e02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31162" y="2340864"/>
            <a:ext cx="2039112" cy="42367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370274" y="2324100"/>
            <a:ext cx="333689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m long is repaved.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084576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How much of the road is not repaved?</a:t>
            </a:r>
          </a:p>
        </p:txBody>
      </p:sp>
      <p:pic>
        <p:nvPicPr>
          <p:cNvPr id="15" name="Picture 14" descr="df3a7677f047d40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10235" y="3768454"/>
            <a:ext cx="2529840" cy="26822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2055371" y="4176886"/>
            <a:ext cx="818793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3,850 stops at the tens place, so round to tens:  3,580</a:t>
            </a:r>
          </a:p>
        </p:txBody>
      </p:sp>
      <p:pic>
        <p:nvPicPr>
          <p:cNvPr id="17" name="Picture 16" descr="e2ff5572229200e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10235" y="4752958"/>
            <a:ext cx="2270760" cy="31089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77240" y="5251306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3.58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3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m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945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How many significant digits are in  0.00470 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031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How many significant digits are in  0.00470 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40987" y="2728291"/>
            <a:ext cx="523065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Leading zeros do not count:  0.00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40987" y="3231211"/>
            <a:ext cx="701670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4, 7 and the final 0 count:  3 significant digits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3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436705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pond's surface measures  </a:t>
            </a:r>
          </a:p>
        </p:txBody>
      </p:sp>
      <p:pic>
        <p:nvPicPr>
          <p:cNvPr id="9" name="Picture 8" descr="cb6705e7e3c134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64334" y="1941575"/>
            <a:ext cx="1130808" cy="2773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595142" y="1851660"/>
            <a:ext cx="128822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m by  </a:t>
            </a:r>
          </a:p>
        </p:txBody>
      </p:sp>
      <p:pic>
        <p:nvPicPr>
          <p:cNvPr id="11" name="Picture 10" descr="fe2d8d13976231c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46208" y="1941575"/>
            <a:ext cx="1127760" cy="27736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873968" y="1851660"/>
            <a:ext cx="73485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m.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The pond is 3 meters deep.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3026266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Find the surface area. Round to the correct number of significant digits.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436705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pond's surface measures  </a:t>
            </a:r>
          </a:p>
        </p:txBody>
      </p:sp>
      <p:pic>
        <p:nvPicPr>
          <p:cNvPr id="9" name="Picture 8" descr="14e1bd54084a469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64334" y="1941575"/>
            <a:ext cx="1130808" cy="2773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595142" y="1851660"/>
            <a:ext cx="128822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m by  </a:t>
            </a:r>
          </a:p>
        </p:txBody>
      </p:sp>
      <p:pic>
        <p:nvPicPr>
          <p:cNvPr id="11" name="Picture 10" descr="5ace9ec43120721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46208" y="1941575"/>
            <a:ext cx="1127760" cy="27736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873968" y="1851660"/>
            <a:ext cx="73485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m.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The pond is 3 meters deep.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3026266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Find the surface area. Round to the correct number of significant digits.</a:t>
            </a:r>
          </a:p>
        </p:txBody>
      </p:sp>
      <p:pic>
        <p:nvPicPr>
          <p:cNvPr id="15" name="Picture 14" descr="0dcb6b3604aaf1a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71929" y="4212667"/>
            <a:ext cx="1825752" cy="21336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397681" y="4090747"/>
            <a:ext cx="13200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   and   </a:t>
            </a:r>
          </a:p>
        </p:txBody>
      </p:sp>
      <p:pic>
        <p:nvPicPr>
          <p:cNvPr id="17" name="Picture 16" descr="a732557401dc8ad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80570" y="4188283"/>
            <a:ext cx="1831848" cy="262128"/>
          </a:xfrm>
          <a:prstGeom prst="rect">
            <a:avLst/>
          </a:prstGeom>
        </p:spPr>
      </p:pic>
      <p:pic>
        <p:nvPicPr>
          <p:cNvPr id="18" name="Picture 17" descr="ca43b17f8102147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71929" y="4666819"/>
            <a:ext cx="2362200" cy="310896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3517065" y="5096587"/>
            <a:ext cx="420994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Keep 2 significant digits:   </a:t>
            </a:r>
          </a:p>
        </p:txBody>
      </p:sp>
      <p:pic>
        <p:nvPicPr>
          <p:cNvPr id="20" name="Picture 19" descr="018e3913f4d433d2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589846" y="5197171"/>
            <a:ext cx="1057656" cy="256032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777240" y="5668087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1.2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4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square meters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94560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180" b="0" i="0">
                <a:solidFill>
                  <a:srgbClr val="1A1A1A"/>
                </a:solidFill>
                <a:latin typeface="Lexend"/>
              </a:rPr>
              <a:t>Two measurements are multiplied. One has 3 significant digits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80585" y="2692908"/>
            <a:ext cx="695855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and the other has 5. The exact product is  </a:t>
            </a:r>
          </a:p>
        </p:txBody>
      </p:sp>
      <p:pic>
        <p:nvPicPr>
          <p:cNvPr id="10" name="Picture 9" descr="f5a6805642b360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01980" y="2753867"/>
            <a:ext cx="2029968" cy="3352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0431948" y="2692908"/>
            <a:ext cx="2861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401568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How should the answer be written?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03120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180" b="0" i="0">
                <a:solidFill>
                  <a:srgbClr val="1A1A1A"/>
                </a:solidFill>
                <a:latin typeface="Lexend"/>
              </a:rPr>
              <a:t>Two measurements are multiplied. One has 3 significant digits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80585" y="2601468"/>
            <a:ext cx="695855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and the other has 5. The exact product is  </a:t>
            </a:r>
          </a:p>
        </p:txBody>
      </p:sp>
      <p:pic>
        <p:nvPicPr>
          <p:cNvPr id="10" name="Picture 9" descr="b41e0e74d053423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01980" y="2662428"/>
            <a:ext cx="2029968" cy="3352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0431948" y="2601468"/>
            <a:ext cx="2861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310128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How should the answer be written?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6369" y="3935299"/>
            <a:ext cx="864594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The answer keeps the smaller count: 3 significant digits.</a:t>
            </a:r>
          </a:p>
        </p:txBody>
      </p:sp>
      <p:pic>
        <p:nvPicPr>
          <p:cNvPr id="14" name="Picture 13" descr="40ace4bdf802fbb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81233" y="4538803"/>
            <a:ext cx="1557528" cy="25603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438761" y="4438219"/>
            <a:ext cx="210022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   becomes   </a:t>
            </a:r>
          </a:p>
        </p:txBody>
      </p:sp>
      <p:pic>
        <p:nvPicPr>
          <p:cNvPr id="16" name="Picture 15" descr="ecdbdf53729bbd0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01823" y="4538803"/>
            <a:ext cx="1231392" cy="25603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77240" y="5009719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7.41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5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22</a:t>
            </a:r>
          </a:p>
        </p:txBody>
      </p:sp>
      <p:pic>
        <p:nvPicPr>
          <p:cNvPr id="8" name="Picture 7" descr="c7912e820c52de7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7740" y="2194560"/>
            <a:ext cx="3983736" cy="4114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991476" y="2171700"/>
            <a:ext cx="429946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meters, both measured.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8803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Write the sum with the correct precision.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23</a:t>
            </a:r>
          </a:p>
        </p:txBody>
      </p:sp>
      <p:pic>
        <p:nvPicPr>
          <p:cNvPr id="8" name="Picture 7" descr="d295e21d6a5af5d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6216" y="2103120"/>
            <a:ext cx="3986784" cy="4114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993000" y="2080260"/>
            <a:ext cx="429946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meters, both measured.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7889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Write the sum with the correct precision.</a:t>
            </a:r>
          </a:p>
        </p:txBody>
      </p:sp>
      <p:pic>
        <p:nvPicPr>
          <p:cNvPr id="11" name="Picture 10" descr="9677988c74c08a0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18422" y="3508579"/>
            <a:ext cx="2499360" cy="26822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263558" y="3917011"/>
            <a:ext cx="977156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2,500 stops at the hundreds place, so round to hundreds:  3,000</a:t>
            </a:r>
          </a:p>
        </p:txBody>
      </p:sp>
      <p:pic>
        <p:nvPicPr>
          <p:cNvPr id="13" name="Picture 12" descr="1b2a94b567e4496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18422" y="4493083"/>
            <a:ext cx="2130552" cy="31089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4991431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3.0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3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m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945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How many significant digits are in  0.03080 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28608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29400" y="28608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552519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031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How many significant digits are in  0.03080 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54399" y="2728291"/>
            <a:ext cx="504046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Leading zeros do not count:  0.0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54399" y="3231211"/>
            <a:ext cx="738988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3, 0, 8 and the final 0 count:  4 significant digits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A — 4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3716" y="2171700"/>
            <a:ext cx="389281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A rectangle measures  </a:t>
            </a:r>
          </a:p>
        </p:txBody>
      </p:sp>
      <p:pic>
        <p:nvPicPr>
          <p:cNvPr id="9" name="Picture 8" descr="bdf46868d006cd9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9372" y="2229612"/>
            <a:ext cx="1420368" cy="34137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729740" y="2171700"/>
            <a:ext cx="155604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cm by  </a:t>
            </a:r>
          </a:p>
        </p:txBody>
      </p:sp>
      <p:pic>
        <p:nvPicPr>
          <p:cNvPr id="11" name="Picture 10" descr="4ada1bcfda5f9a8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48624" y="2229612"/>
            <a:ext cx="1639824" cy="34137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788448" y="2171700"/>
            <a:ext cx="95651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cm.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8803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is the area, to the correct significant digits?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26.1 × 10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4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 cm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9400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2.6 × 10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5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 cm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42324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2.6 × 10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4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 cm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29400" y="42324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2.61 × 10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5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 cm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5238319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2192" y="2080260"/>
            <a:ext cx="389281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A rectangle measures  </a:t>
            </a:r>
          </a:p>
        </p:txBody>
      </p:sp>
      <p:pic>
        <p:nvPicPr>
          <p:cNvPr id="9" name="Picture 8" descr="1aaeee8bfa6e844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7848" y="2138171"/>
            <a:ext cx="1423416" cy="34137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731264" y="2080260"/>
            <a:ext cx="155604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cm by  </a:t>
            </a:r>
          </a:p>
        </p:txBody>
      </p:sp>
      <p:pic>
        <p:nvPicPr>
          <p:cNvPr id="11" name="Picture 10" descr="ba0b2a6dbe833f8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50148" y="2138171"/>
            <a:ext cx="1639824" cy="34137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789972" y="2080260"/>
            <a:ext cx="95651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cm.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7889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is the area, to the correct significant digits?</a:t>
            </a:r>
          </a:p>
        </p:txBody>
      </p:sp>
      <p:pic>
        <p:nvPicPr>
          <p:cNvPr id="14" name="Picture 13" descr="7be216ecf24c5d8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46669" y="3536011"/>
            <a:ext cx="2029968" cy="2133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776637" y="3414091"/>
            <a:ext cx="13200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   and   </a:t>
            </a:r>
          </a:p>
        </p:txBody>
      </p:sp>
      <p:pic>
        <p:nvPicPr>
          <p:cNvPr id="16" name="Picture 15" descr="6dc7d095c18b426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59526" y="3511627"/>
            <a:ext cx="1859280" cy="262128"/>
          </a:xfrm>
          <a:prstGeom prst="rect">
            <a:avLst/>
          </a:prstGeom>
        </p:spPr>
      </p:pic>
      <p:pic>
        <p:nvPicPr>
          <p:cNvPr id="17" name="Picture 16" descr="35eed8d154d098e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46669" y="3990163"/>
            <a:ext cx="2602992" cy="31089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691805" y="4419931"/>
            <a:ext cx="584522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Keep 2 significant digits (6.0 has 2):   </a:t>
            </a:r>
          </a:p>
        </p:txBody>
      </p:sp>
      <p:pic>
        <p:nvPicPr>
          <p:cNvPr id="19" name="Picture 18" descr="9b8a502d8aaa20e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99866" y="4520515"/>
            <a:ext cx="1069848" cy="256032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77240" y="4991431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B — 2.6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5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cm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39605" y="2171700"/>
            <a:ext cx="242184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A car travels  </a:t>
            </a:r>
          </a:p>
        </p:txBody>
      </p:sp>
      <p:pic>
        <p:nvPicPr>
          <p:cNvPr id="9" name="Picture 8" descr="b5f5674feeb41d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24287" y="2229612"/>
            <a:ext cx="1661160" cy="34137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585447" y="2171700"/>
            <a:ext cx="307362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km in  3.0  hours.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880360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180" b="0" i="0">
                <a:solidFill>
                  <a:srgbClr val="1A1A1A"/>
                </a:solidFill>
                <a:latin typeface="Lexend"/>
              </a:rPr>
              <a:t>What is its average speed, to the right number of significant digits?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39605" y="2080260"/>
            <a:ext cx="242184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A car travels  </a:t>
            </a:r>
          </a:p>
        </p:txBody>
      </p:sp>
      <p:pic>
        <p:nvPicPr>
          <p:cNvPr id="9" name="Picture 8" descr="4947c0dc47f86ab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24287" y="2138171"/>
            <a:ext cx="1661160" cy="34137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585447" y="2080260"/>
            <a:ext cx="307362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km in  3.0  hours.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788920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180" b="0" i="0">
                <a:solidFill>
                  <a:srgbClr val="1A1A1A"/>
                </a:solidFill>
                <a:latin typeface="Lexend"/>
              </a:rPr>
              <a:t>What is its average speed, to the right number of significant digits?</a:t>
            </a:r>
          </a:p>
        </p:txBody>
      </p:sp>
      <p:pic>
        <p:nvPicPr>
          <p:cNvPr id="12" name="Picture 11" descr="b7f3f89b7670fbc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35366" y="3482340"/>
            <a:ext cx="1981199" cy="2133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2580502" y="3863339"/>
            <a:ext cx="607697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3.0 has 2 significant digits, so keep 2:   </a:t>
            </a:r>
          </a:p>
        </p:txBody>
      </p:sp>
      <p:pic>
        <p:nvPicPr>
          <p:cNvPr id="14" name="Picture 13" descr="a617e99eac0e996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20313" y="3960876"/>
            <a:ext cx="1063752" cy="26212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1.4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km/h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945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A measured length times a measured width gives an area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56207" y="2746579"/>
            <a:ext cx="72506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of  </a:t>
            </a:r>
          </a:p>
        </p:txBody>
      </p:sp>
      <p:pic>
        <p:nvPicPr>
          <p:cNvPr id="10" name="Picture 9" descr="66c8c788a53acf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44112" y="2806015"/>
            <a:ext cx="1392936" cy="33832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837048" y="2746579"/>
            <a:ext cx="456188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m</a:t>
            </a:r>
            <a:r>
              <a:rPr sz="2470" b="0" i="0" baseline="30000">
                <a:solidFill>
                  <a:srgbClr val="1A1A1A"/>
                </a:solidFill>
                <a:latin typeface="Lexend"/>
              </a:rPr>
              <a:t>2</a:t>
            </a:r>
            <a:r>
              <a:rPr sz="2470" b="0" i="0">
                <a:solidFill>
                  <a:srgbClr val="1A1A1A"/>
                </a:solidFill>
                <a:latin typeface="Lexend"/>
              </a:rPr>
              <a:t>. The length measured  </a:t>
            </a:r>
          </a:p>
        </p:txBody>
      </p:sp>
      <p:pic>
        <p:nvPicPr>
          <p:cNvPr id="12" name="Picture 11" descr="e3528be3edfa664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61773" y="2804491"/>
            <a:ext cx="1402080" cy="34137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663853" y="2746579"/>
            <a:ext cx="77861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m.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45523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What did the width measure, to two significant digits?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031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A measured length times a measured width gives an area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54683" y="2655139"/>
            <a:ext cx="72506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of  </a:t>
            </a:r>
          </a:p>
        </p:txBody>
      </p:sp>
      <p:pic>
        <p:nvPicPr>
          <p:cNvPr id="10" name="Picture 9" descr="96dda91be14bb1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42588" y="2714575"/>
            <a:ext cx="1395984" cy="33832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838572" y="2655139"/>
            <a:ext cx="456188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m</a:t>
            </a:r>
            <a:r>
              <a:rPr sz="2470" b="0" i="0" baseline="30000">
                <a:solidFill>
                  <a:srgbClr val="1A1A1A"/>
                </a:solidFill>
                <a:latin typeface="Lexend"/>
              </a:rPr>
              <a:t>2</a:t>
            </a:r>
            <a:r>
              <a:rPr sz="2470" b="0" i="0">
                <a:solidFill>
                  <a:srgbClr val="1A1A1A"/>
                </a:solidFill>
                <a:latin typeface="Lexend"/>
              </a:rPr>
              <a:t>. The length measured  </a:t>
            </a:r>
          </a:p>
        </p:txBody>
      </p:sp>
      <p:pic>
        <p:nvPicPr>
          <p:cNvPr id="12" name="Picture 11" descr="b0f75faad513fd6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63297" y="2713051"/>
            <a:ext cx="1402080" cy="34137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665377" y="2655139"/>
            <a:ext cx="77861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m.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36379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What did the width measure, to two significant digits?</a:t>
            </a:r>
          </a:p>
        </p:txBody>
      </p:sp>
      <p:pic>
        <p:nvPicPr>
          <p:cNvPr id="15" name="Picture 14" descr="90203440ac2af94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46025" y="4059074"/>
            <a:ext cx="2377440" cy="31699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3291161" y="4528466"/>
            <a:ext cx="442095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Two significant digits:   </a:t>
            </a:r>
          </a:p>
        </p:txBody>
      </p:sp>
      <p:pic>
        <p:nvPicPr>
          <p:cNvPr id="17" name="Picture 16" descr="83b7c76269977cf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74958" y="4604666"/>
            <a:ext cx="1301496" cy="3048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77240" y="5099966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4.0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1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m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945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Ellis says: 9,145 has 4 significant digits and 4.8 has 2,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40808" y="2746579"/>
            <a:ext cx="213354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so the sum  </a:t>
            </a:r>
          </a:p>
        </p:txBody>
      </p:sp>
      <p:pic>
        <p:nvPicPr>
          <p:cNvPr id="10" name="Picture 9" descr="9630dac2daa1ad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7190" y="2801443"/>
            <a:ext cx="1859280" cy="34747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196470" y="2746579"/>
            <a:ext cx="423471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must be written with 2:  </a:t>
            </a:r>
          </a:p>
        </p:txBody>
      </p:sp>
      <p:pic>
        <p:nvPicPr>
          <p:cNvPr id="12" name="Picture 11" descr="ca0b1ffd8d5f750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94029" y="2806015"/>
            <a:ext cx="1377696" cy="3383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671725" y="2746579"/>
            <a:ext cx="2861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45523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Explain why he is wrong, and give the correct sum.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Write your answer in sentences.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031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Ellis says: 9,145 has 4 significant digits and 4.8 has 2,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40808" y="2655139"/>
            <a:ext cx="213354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so the sum  </a:t>
            </a:r>
          </a:p>
        </p:txBody>
      </p:sp>
      <p:pic>
        <p:nvPicPr>
          <p:cNvPr id="10" name="Picture 9" descr="76e99574fb25931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7190" y="2708479"/>
            <a:ext cx="1859280" cy="3505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196470" y="2655139"/>
            <a:ext cx="423471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must be written with 2:  </a:t>
            </a:r>
          </a:p>
        </p:txBody>
      </p:sp>
      <p:pic>
        <p:nvPicPr>
          <p:cNvPr id="12" name="Picture 11" descr="4947c6a9376ae7a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94029" y="2714575"/>
            <a:ext cx="1377696" cy="3383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671725" y="2655139"/>
            <a:ext cx="2861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36379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Explain why he is wrong, and give the correct sum.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97221" y="3988970"/>
            <a:ext cx="772004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Adding uses decimal places, not a count of digits.</a:t>
            </a:r>
          </a:p>
        </p:txBody>
      </p:sp>
      <p:pic>
        <p:nvPicPr>
          <p:cNvPr id="16" name="Picture 15" descr="990cd9202cebfca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52085" y="4586378"/>
            <a:ext cx="2673096" cy="26822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997221" y="4994810"/>
            <a:ext cx="830423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9,145 stops at the ones place, so round to ones:  9,150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556631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9,150 = 9.150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3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499019"/>
            <a:ext cx="548640" cy="37768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499019"/>
            <a:ext cx="6001785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How many significant digits are in  6,030  grams?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1966953"/>
            <a:ext cx="548640" cy="37768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1966953"/>
            <a:ext cx="6343588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How many significant digits are in  0.00710  meters?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2434888"/>
            <a:ext cx="548640" cy="37768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2434888"/>
            <a:ext cx="2901426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A rectangle measures  </a:t>
            </a:r>
          </a:p>
        </p:txBody>
      </p:sp>
      <p:pic>
        <p:nvPicPr>
          <p:cNvPr id="14" name="Picture 13" descr="7d17691463990a5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18746" y="2509166"/>
            <a:ext cx="954289" cy="22913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273035" y="2434888"/>
            <a:ext cx="1063721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  m by  </a:t>
            </a:r>
          </a:p>
        </p:txBody>
      </p:sp>
      <p:pic>
        <p:nvPicPr>
          <p:cNvPr id="16" name="Picture 15" descr="35e387f60425e7c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9596" y="2509166"/>
            <a:ext cx="1072630" cy="22913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272227" y="2434888"/>
            <a:ext cx="3961306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  m. Find its area, to the correct 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54480" y="2802238"/>
            <a:ext cx="3518640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number of significant digits.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3270172"/>
            <a:ext cx="548640" cy="37768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4.</a:t>
            </a:r>
          </a:p>
        </p:txBody>
      </p:sp>
      <p:pic>
        <p:nvPicPr>
          <p:cNvPr id="20" name="Picture 19" descr="2f8ec9a9220ceb3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27632" y="3323048"/>
            <a:ext cx="2696684" cy="271934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4324316" y="3270172"/>
            <a:ext cx="6831265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  meters, both measured. Write the sum with the correct 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54480" y="3637522"/>
            <a:ext cx="1329440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precision.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0120" y="4105457"/>
            <a:ext cx="548640" cy="37768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5.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54480" y="4105457"/>
            <a:ext cx="1826459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A car travels  </a:t>
            </a:r>
          </a:p>
        </p:txBody>
      </p:sp>
      <p:pic>
        <p:nvPicPr>
          <p:cNvPr id="25" name="Picture 24" descr="d28efaf6c4b6b0d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43779" y="4179735"/>
            <a:ext cx="1080184" cy="22913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4323963" y="4105457"/>
            <a:ext cx="6869881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  km in  4.0  hours. Find its average speed, to the correct 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54480" y="4472807"/>
            <a:ext cx="3518640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number of significant digits.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0120" y="4940741"/>
            <a:ext cx="548640" cy="37768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6.</a:t>
            </a:r>
          </a:p>
        </p:txBody>
      </p:sp>
      <p:pic>
        <p:nvPicPr>
          <p:cNvPr id="29" name="Picture 28" descr="f68f597f3be75e8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27632" y="4991100"/>
            <a:ext cx="2913225" cy="27697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4540857" y="4940741"/>
            <a:ext cx="6571740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  grams, both measured. Write the difference with the 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54480" y="5308092"/>
            <a:ext cx="2233056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correct precision.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Open IXL and start today's skills.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Work on paper where the question needs work. The answer box does not show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Every skill listed is required, to a SmartScore of 67. Due at the start of the next class.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1A1A1A"/>
                </a:solidFill>
                <a:latin typeface="Lexend"/>
              </a:rPr>
              <a:t>Today's skills — all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Add, subtract, multiply, and divide numbers written in scientific notation: word problems — D5S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488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20" b="0" i="0">
                <a:solidFill>
                  <a:srgbClr val="6B6B6B"/>
                </a:solidFill>
                <a:latin typeface="Lexend"/>
              </a:rPr>
              <a:t>GRADE 7 ACCELERATED  ·  UNIT 4  ·  LESSON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5054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229" b="1" i="0">
                <a:solidFill>
                  <a:srgbClr val="1A1A1A"/>
                </a:solidFill>
                <a:latin typeface="Lexend"/>
              </a:rPr>
              <a:t>Evaluating Expressions with Radicals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7124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7947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9593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20" b="1" i="0">
                <a:solidFill>
                  <a:srgbClr val="1A1A1A"/>
                </a:solidFill>
                <a:latin typeface="Lexend"/>
              </a:rPr>
              <a:t>MA.8.NSO.1.7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2976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810" b="0" i="0">
                <a:solidFill>
                  <a:srgbClr val="1A1A1A"/>
                </a:solidFill>
                <a:latin typeface="Lexend"/>
              </a:rPr>
              <a:t>I can evaluate an expression that contains square roots, cube roots and integer exponents.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</a:t>
            </a:r>
          </a:p>
        </p:txBody>
      </p:sp>
      <p:sp>
        <p:nvSpPr>
          <p:cNvPr id="11" name="TextBox 10">
            <a:hlinkClick action="ppaction://hlinksldjump" r:id="rId2"/>
          </p:cNvPr>
          <p:cNvSpPr txBox="1"/>
          <p:nvPr/>
        </p:nvSpPr>
        <p:spPr>
          <a:xfrm>
            <a:off x="9372600" y="201168"/>
            <a:ext cx="201168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40" b="0" i="0">
                <a:solidFill>
                  <a:srgbClr val="6B6B6B"/>
                </a:solidFill>
                <a:latin typeface="Arial"/>
              </a:rPr>
              <a:t>←</a:t>
            </a:r>
            <a:r>
              <a:rPr sz="1140" b="0" i="0">
                <a:solidFill>
                  <a:srgbClr val="6B6B6B"/>
                </a:solidFill>
                <a:latin typeface="Lexend"/>
              </a:rPr>
              <a:t> Contents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687477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How many significant digits are in  0.0250 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2052828"/>
            <a:ext cx="68569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</a:t>
            </a:r>
          </a:p>
        </p:txBody>
      </p:sp>
      <p:pic>
        <p:nvPicPr>
          <p:cNvPr id="10" name="Picture 9" descr="56d20e268514a0e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3059" y="2116836"/>
            <a:ext cx="2404872" cy="32918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874519" y="2665476"/>
            <a:ext cx="29303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Find the value:  </a:t>
            </a:r>
          </a:p>
        </p:txBody>
      </p:sp>
      <p:pic>
        <p:nvPicPr>
          <p:cNvPr id="12" name="Picture 11" descr="97c530a75d29d30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7711" y="2699004"/>
            <a:ext cx="844296" cy="3901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874519" y="3278124"/>
            <a:ext cx="218559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Evaluate:  </a:t>
            </a:r>
          </a:p>
        </p:txBody>
      </p:sp>
      <p:pic>
        <p:nvPicPr>
          <p:cNvPr id="14" name="Picture 13" descr="b791e832d65b0b8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22957" y="3393948"/>
            <a:ext cx="1182624" cy="225552"/>
          </a:xfrm>
          <a:prstGeom prst="rect">
            <a:avLst/>
          </a:prstGeom>
        </p:spPr>
      </p:pic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687477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How many significant digits are in  0.0250 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60777" y="1440180"/>
            <a:ext cx="38416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2052828"/>
            <a:ext cx="68569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</a:t>
            </a:r>
          </a:p>
        </p:txBody>
      </p:sp>
      <p:pic>
        <p:nvPicPr>
          <p:cNvPr id="11" name="Picture 10" descr="56d20e268514a0e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3059" y="2116836"/>
            <a:ext cx="2404872" cy="32918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376571" y="2052828"/>
            <a:ext cx="136535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6 × 10</a:t>
            </a:r>
            <a:r>
              <a:rPr sz="2180" b="1" i="0" baseline="30000">
                <a:solidFill>
                  <a:srgbClr val="9E1B32"/>
                </a:solidFill>
                <a:latin typeface="Lexend"/>
              </a:rPr>
              <a:t>-3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2665476"/>
            <a:ext cx="29303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Find the value:  </a:t>
            </a:r>
          </a:p>
        </p:txBody>
      </p:sp>
      <p:pic>
        <p:nvPicPr>
          <p:cNvPr id="14" name="Picture 13" descr="97c530a75d29d30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7711" y="2699004"/>
            <a:ext cx="844296" cy="39014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060647" y="2665476"/>
            <a:ext cx="57004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14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3278124"/>
            <a:ext cx="218559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Evaluate:  </a:t>
            </a:r>
          </a:p>
        </p:txBody>
      </p:sp>
      <p:pic>
        <p:nvPicPr>
          <p:cNvPr id="17" name="Picture 16" descr="b791e832d65b0b8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22957" y="3393948"/>
            <a:ext cx="1182624" cy="22555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654221" y="3278124"/>
            <a:ext cx="38650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8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Vocabulary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46304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0B5394"/>
                </a:solidFill>
                <a:latin typeface="Lexend"/>
              </a:rPr>
              <a:t>radical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903078"/>
            <a:ext cx="751512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a root symbol together with everything under its bar: </a:t>
            </a:r>
          </a:p>
        </p:txBody>
      </p:sp>
      <p:pic>
        <p:nvPicPr>
          <p:cNvPr id="10" name="Picture 9" descr="7fc2ce39b1027aa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20961" y="1892410"/>
            <a:ext cx="835152" cy="47853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356113" y="1903078"/>
            <a:ext cx="177015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 is a square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2454766"/>
            <a:ext cx="9199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root, </a:t>
            </a:r>
          </a:p>
        </p:txBody>
      </p:sp>
      <p:pic>
        <p:nvPicPr>
          <p:cNvPr id="13" name="Picture 12" descr="5f7b58e3a978235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5786" y="2444098"/>
            <a:ext cx="871728" cy="47853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797514" y="2454766"/>
            <a:ext cx="214073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 is a cube root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123802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0B5394"/>
                </a:solidFill>
                <a:latin typeface="Lexend"/>
              </a:rPr>
              <a:t>radicand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3553172"/>
            <a:ext cx="10241280" cy="78717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the number under the radical bar. The bar groups it, so whatever is under it is evaluated before the root is taken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578096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0B5394"/>
                </a:solidFill>
                <a:latin typeface="Lexend"/>
              </a:rPr>
              <a:t>principal square root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5018134"/>
            <a:ext cx="316399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the nonnegative one. </a:t>
            </a:r>
          </a:p>
        </p:txBody>
      </p:sp>
      <p:pic>
        <p:nvPicPr>
          <p:cNvPr id="19" name="Picture 18" descr="66ed9a548d73b0d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69838" y="5007466"/>
            <a:ext cx="868680" cy="478536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5038518" y="5018134"/>
            <a:ext cx="393487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 is 7 — not −7, and not both,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43000" y="5536294"/>
            <a:ext cx="198512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even though </a:t>
            </a:r>
          </a:p>
        </p:txBody>
      </p:sp>
      <p:pic>
        <p:nvPicPr>
          <p:cNvPr id="22" name="Picture 21" descr="955753387502252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90961" y="5559154"/>
            <a:ext cx="841248" cy="41148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3832209" y="5536294"/>
            <a:ext cx="154570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 is also 49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I.  The radical bar is a grouping symbol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f0301447559f26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77184" y="1993392"/>
            <a:ext cx="5407152" cy="478536"/>
          </a:xfrm>
          <a:prstGeom prst="rect">
            <a:avLst/>
          </a:prstGeom>
        </p:spPr>
      </p:pic>
      <p:pic>
        <p:nvPicPr>
          <p:cNvPr id="11" name="Picture 10" descr="3737ed6aaf20179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88180" y="2746248"/>
            <a:ext cx="3185160" cy="478536"/>
          </a:xfrm>
          <a:prstGeom prst="rect">
            <a:avLst/>
          </a:prstGeom>
        </p:spPr>
      </p:pic>
      <p:pic>
        <p:nvPicPr>
          <p:cNvPr id="12" name="Picture 11" descr="4a07f45d5d9ca5f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21035" y="3499104"/>
            <a:ext cx="3209544" cy="47853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430579" y="3509772"/>
            <a:ext cx="185458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,    never   </a:t>
            </a:r>
          </a:p>
        </p:txBody>
      </p:sp>
      <p:pic>
        <p:nvPicPr>
          <p:cNvPr id="14" name="Picture 13" descr="fbd6d5a320033c4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48004" y="3601212"/>
            <a:ext cx="792480" cy="27432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987552" y="4315968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Everything under the bar is evaluated before the root is taken.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II.  Square roots and cube roots are not the same shape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14243ac5c29f503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86784" y="1993392"/>
            <a:ext cx="1423416" cy="47853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110200" y="2004060"/>
            <a:ext cx="11415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       </a:t>
            </a:r>
          </a:p>
        </p:txBody>
      </p:sp>
      <p:pic>
        <p:nvPicPr>
          <p:cNvPr id="12" name="Picture 11" descr="59fd66553504e96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14543" y="1993392"/>
            <a:ext cx="1453896" cy="47853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568439" y="2004060"/>
            <a:ext cx="11415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       </a:t>
            </a:r>
          </a:p>
        </p:txBody>
      </p:sp>
      <p:pic>
        <p:nvPicPr>
          <p:cNvPr id="14" name="Picture 13" descr="138d560710ac33e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72783" y="1993392"/>
            <a:ext cx="1901952" cy="478536"/>
          </a:xfrm>
          <a:prstGeom prst="rect">
            <a:avLst/>
          </a:prstGeom>
        </p:spPr>
      </p:pic>
      <p:pic>
        <p:nvPicPr>
          <p:cNvPr id="15" name="Picture 14" descr="b169188f81dcb70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18596" y="2750820"/>
            <a:ext cx="1246632" cy="78943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365228" y="2916936"/>
            <a:ext cx="11415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       </a:t>
            </a:r>
          </a:p>
        </p:txBody>
      </p:sp>
      <p:pic>
        <p:nvPicPr>
          <p:cNvPr id="17" name="Picture 16" descr="df602f9237f1cbd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69571" y="2746248"/>
            <a:ext cx="1673352" cy="79857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987552" y="3883152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An odd root keeps the sign of its radicand. A square root sign never gives a negative value.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III.  Radicals alongside exponents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d5f3f835e2d872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36328" y="1993392"/>
            <a:ext cx="2286000" cy="7315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022328" y="2130552"/>
            <a:ext cx="11415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       </a:t>
            </a:r>
          </a:p>
        </p:txBody>
      </p:sp>
      <p:pic>
        <p:nvPicPr>
          <p:cNvPr id="12" name="Picture 11" descr="24b3a5f09066cb8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26671" y="2119884"/>
            <a:ext cx="3398520" cy="478536"/>
          </a:xfrm>
          <a:prstGeom prst="rect">
            <a:avLst/>
          </a:prstGeom>
        </p:spPr>
      </p:pic>
      <p:pic>
        <p:nvPicPr>
          <p:cNvPr id="13" name="Picture 12" descr="0416a625cfa02c4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61232" y="2999232"/>
            <a:ext cx="4639056" cy="67360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87552" y="4011168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Finish each piece — the radical, the power — and only then put them together.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8</a:t>
            </a:r>
          </a:p>
        </p:txBody>
      </p:sp>
      <p:pic>
        <p:nvPicPr>
          <p:cNvPr id="8" name="Picture 7" descr="5e47ed58306c9a9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1059" y="2103120"/>
            <a:ext cx="2819400" cy="66751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273552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Evaluate.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9</a:t>
            </a:r>
          </a:p>
        </p:txBody>
      </p:sp>
      <p:pic>
        <p:nvPicPr>
          <p:cNvPr id="8" name="Picture 7" descr="0d6c9f96a3ec0d8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1630680" cy="673608"/>
          </a:xfrm>
          <a:prstGeom prst="rect">
            <a:avLst/>
          </a:prstGeom>
        </p:spPr>
      </p:pic>
      <p:pic>
        <p:nvPicPr>
          <p:cNvPr id="9" name="Picture 8" descr="3737ed6aaf20179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868168"/>
            <a:ext cx="3185160" cy="478536"/>
          </a:xfrm>
          <a:prstGeom prst="rect">
            <a:avLst/>
          </a:prstGeom>
        </p:spPr>
      </p:pic>
      <p:pic>
        <p:nvPicPr>
          <p:cNvPr id="10" name="Picture 9" descr="48d618d0a819b8c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621024"/>
            <a:ext cx="1661160" cy="66751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745736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17/4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10</a:t>
            </a:r>
          </a:p>
        </p:txBody>
      </p:sp>
      <p:pic>
        <p:nvPicPr>
          <p:cNvPr id="8" name="Picture 7" descr="b20bcbb3e5acef3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60163" y="1600200"/>
            <a:ext cx="3441192" cy="8412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94436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Evaluate.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11</a:t>
            </a:r>
          </a:p>
        </p:txBody>
      </p:sp>
      <p:pic>
        <p:nvPicPr>
          <p:cNvPr id="8" name="Picture 7" descr="39a98bd65ba9c0b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64735" y="1600200"/>
            <a:ext cx="3432048" cy="8412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94436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Evaluate.</a:t>
            </a:r>
          </a:p>
        </p:txBody>
      </p:sp>
      <p:pic>
        <p:nvPicPr>
          <p:cNvPr id="10" name="Picture 9" descr="6dcdcd24bba7458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0055" y="3556618"/>
            <a:ext cx="1219200" cy="515112"/>
          </a:xfrm>
          <a:prstGeom prst="rect">
            <a:avLst/>
          </a:prstGeom>
        </p:spPr>
      </p:pic>
      <p:pic>
        <p:nvPicPr>
          <p:cNvPr id="11" name="Picture 10" descr="56c69e6e26de48c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0055" y="4184506"/>
            <a:ext cx="2234184" cy="368808"/>
          </a:xfrm>
          <a:prstGeom prst="rect">
            <a:avLst/>
          </a:prstGeom>
        </p:spPr>
      </p:pic>
      <p:pic>
        <p:nvPicPr>
          <p:cNvPr id="12" name="Picture 11" descr="a96b4c18555835f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20055" y="4666090"/>
            <a:ext cx="1399032" cy="51511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5318362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−17/9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12</a:t>
            </a:r>
          </a:p>
        </p:txBody>
      </p:sp>
      <p:pic>
        <p:nvPicPr>
          <p:cNvPr id="8" name="Picture 7" descr="8d7699a30e9dd19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57116" y="2103120"/>
            <a:ext cx="3447288" cy="49987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105912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Evaluate.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13</a:t>
            </a:r>
          </a:p>
        </p:txBody>
      </p:sp>
      <p:pic>
        <p:nvPicPr>
          <p:cNvPr id="8" name="Picture 7" descr="0e80ddb964149cd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3822191" cy="478536"/>
          </a:xfrm>
          <a:prstGeom prst="rect">
            <a:avLst/>
          </a:prstGeom>
        </p:spPr>
      </p:pic>
      <p:pic>
        <p:nvPicPr>
          <p:cNvPr id="9" name="Picture 8" descr="a2a1fa108c11dcc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673096"/>
            <a:ext cx="3989832" cy="478536"/>
          </a:xfrm>
          <a:prstGeom prst="rect">
            <a:avLst/>
          </a:prstGeom>
        </p:spPr>
      </p:pic>
      <p:pic>
        <p:nvPicPr>
          <p:cNvPr id="10" name="Picture 9" descr="64f4a386edd0098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425952"/>
            <a:ext cx="1972056" cy="2773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0.2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14</a:t>
            </a:r>
          </a:p>
        </p:txBody>
      </p:sp>
      <p:pic>
        <p:nvPicPr>
          <p:cNvPr id="8" name="Picture 7" descr="d6d7dee63e8529a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01440" y="1600200"/>
            <a:ext cx="4358640" cy="6248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72796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Evaluate.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15</a:t>
            </a:r>
          </a:p>
        </p:txBody>
      </p:sp>
      <p:pic>
        <p:nvPicPr>
          <p:cNvPr id="8" name="Picture 7" descr="7e55928de2d14c9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99915" y="1600200"/>
            <a:ext cx="4361688" cy="6248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72796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Evaluate.</a:t>
            </a:r>
          </a:p>
        </p:txBody>
      </p:sp>
      <p:pic>
        <p:nvPicPr>
          <p:cNvPr id="10" name="Picture 9" descr="3d08e3b9f0cd129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91811" y="3361546"/>
            <a:ext cx="1261872" cy="368808"/>
          </a:xfrm>
          <a:prstGeom prst="rect">
            <a:avLst/>
          </a:prstGeom>
        </p:spPr>
      </p:pic>
      <p:pic>
        <p:nvPicPr>
          <p:cNvPr id="11" name="Picture 10" descr="97af87df177bbd2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91811" y="3864466"/>
            <a:ext cx="2438400" cy="368808"/>
          </a:xfrm>
          <a:prstGeom prst="rect">
            <a:avLst/>
          </a:prstGeom>
        </p:spPr>
      </p:pic>
      <p:pic>
        <p:nvPicPr>
          <p:cNvPr id="12" name="Picture 11" descr="dbd85bfcc6699fc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91811" y="4445110"/>
            <a:ext cx="3087624" cy="2133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489469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8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16</a:t>
            </a:r>
          </a:p>
        </p:txBody>
      </p:sp>
      <p:pic>
        <p:nvPicPr>
          <p:cNvPr id="8" name="Picture 7" descr="ea03e9b9b6d5089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3268" y="2194560"/>
            <a:ext cx="1014984" cy="4785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17</a:t>
            </a:r>
          </a:p>
        </p:txBody>
      </p:sp>
      <p:pic>
        <p:nvPicPr>
          <p:cNvPr id="8" name="Picture 7" descr="6c4a40349de610b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6315" y="2103120"/>
            <a:ext cx="1008888" cy="478536"/>
          </a:xfrm>
          <a:prstGeom prst="rect">
            <a:avLst/>
          </a:prstGeom>
        </p:spPr>
      </p:pic>
      <p:pic>
        <p:nvPicPr>
          <p:cNvPr id="9" name="Picture 8" descr="e345b1c8704f7bb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0399" y="3020568"/>
            <a:ext cx="1819656" cy="249935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660055" y="2916936"/>
            <a:ext cx="13382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,   so   </a:t>
            </a:r>
          </a:p>
        </p:txBody>
      </p:sp>
      <p:pic>
        <p:nvPicPr>
          <p:cNvPr id="11" name="Picture 10" descr="ca3e1ca339eb783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61128" y="2929128"/>
            <a:ext cx="1572768" cy="43281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11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square patio has an area of  169  square feet.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Fencing for it costs 12 dollars a foot.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9527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one side of the patio?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square patio has an area of  169  square feet.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Fencing for it costs 12 dollars a foot.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9527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one side of the patio?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39815" y="3587827"/>
            <a:ext cx="313177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Side × side = 169</a:t>
            </a:r>
          </a:p>
        </p:txBody>
      </p:sp>
      <p:pic>
        <p:nvPicPr>
          <p:cNvPr id="12" name="Picture 11" descr="389a35c8a608274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94679" y="4238575"/>
            <a:ext cx="1868424" cy="25603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663103" y="4137991"/>
            <a:ext cx="13382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,   so   </a:t>
            </a:r>
          </a:p>
        </p:txBody>
      </p:sp>
      <p:pic>
        <p:nvPicPr>
          <p:cNvPr id="14" name="Picture 13" descr="296c25346e41fa2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64176" y="4150183"/>
            <a:ext cx="1612392" cy="43281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7240" y="4720159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13 feet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20</a:t>
            </a:r>
          </a:p>
        </p:txBody>
      </p:sp>
      <p:pic>
        <p:nvPicPr>
          <p:cNvPr id="8" name="Picture 7" descr="33a9e56c707a61f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8300" y="2194560"/>
            <a:ext cx="1264920" cy="4785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21</a:t>
            </a:r>
          </a:p>
        </p:txBody>
      </p:sp>
      <p:pic>
        <p:nvPicPr>
          <p:cNvPr id="8" name="Picture 7" descr="84e87a07475feba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51347" y="2103120"/>
            <a:ext cx="1258824" cy="478536"/>
          </a:xfrm>
          <a:prstGeom prst="rect">
            <a:avLst/>
          </a:prstGeom>
        </p:spPr>
      </p:pic>
      <p:pic>
        <p:nvPicPr>
          <p:cNvPr id="9" name="Picture 8" descr="6b0304793847f9a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94935" y="2987040"/>
            <a:ext cx="3630168" cy="31699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425103" y="2916936"/>
            <a:ext cx="13382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,   so   </a:t>
            </a:r>
          </a:p>
        </p:txBody>
      </p:sp>
      <p:pic>
        <p:nvPicPr>
          <p:cNvPr id="11" name="Picture 10" descr="754dfe5956abcf1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6176" y="2929128"/>
            <a:ext cx="1853184" cy="43281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−5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22</a:t>
            </a:r>
          </a:p>
        </p:txBody>
      </p:sp>
      <p:pic>
        <p:nvPicPr>
          <p:cNvPr id="8" name="Picture 7" descr="7058abdbd152924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1996" y="2194560"/>
            <a:ext cx="1557528" cy="4785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23</a:t>
            </a:r>
          </a:p>
        </p:txBody>
      </p:sp>
      <p:pic>
        <p:nvPicPr>
          <p:cNvPr id="8" name="Picture 7" descr="074bb924378dc9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5043" y="2103120"/>
            <a:ext cx="1551432" cy="4785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763194" y="2906268"/>
            <a:ext cx="38279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Under the bar first:  </a:t>
            </a:r>
          </a:p>
        </p:txBody>
      </p:sp>
      <p:pic>
        <p:nvPicPr>
          <p:cNvPr id="10" name="Picture 9" descr="5105a5010efd453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53957" y="2982468"/>
            <a:ext cx="2944368" cy="304800"/>
          </a:xfrm>
          <a:prstGeom prst="rect">
            <a:avLst/>
          </a:prstGeom>
        </p:spPr>
      </p:pic>
      <p:pic>
        <p:nvPicPr>
          <p:cNvPr id="11" name="Picture 10" descr="5127a0c173e3949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18058" y="3468623"/>
            <a:ext cx="1271016" cy="43281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5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24</a:t>
            </a:r>
          </a:p>
        </p:txBody>
      </p:sp>
      <p:pic>
        <p:nvPicPr>
          <p:cNvPr id="8" name="Picture 7" descr="0287c1279b1b6e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35880" y="2194560"/>
            <a:ext cx="1889760" cy="4785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947416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is the value?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61373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61373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169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29953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84.5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29953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305375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25</a:t>
            </a:r>
          </a:p>
        </p:txBody>
      </p:sp>
      <p:pic>
        <p:nvPicPr>
          <p:cNvPr id="8" name="Picture 7" descr="627b4a23b9288a9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38927" y="2103120"/>
            <a:ext cx="1883664" cy="4785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855975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is the value?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36574" y="3481147"/>
            <a:ext cx="38279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Under the bar first:  </a:t>
            </a:r>
          </a:p>
        </p:txBody>
      </p:sp>
      <p:pic>
        <p:nvPicPr>
          <p:cNvPr id="11" name="Picture 10" descr="d050f197a4a44d9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27337" y="3581731"/>
            <a:ext cx="2197608" cy="256032"/>
          </a:xfrm>
          <a:prstGeom prst="rect">
            <a:avLst/>
          </a:prstGeom>
        </p:spPr>
      </p:pic>
      <p:pic>
        <p:nvPicPr>
          <p:cNvPr id="12" name="Picture 11" descr="296c25346e41fa2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91438" y="4043503"/>
            <a:ext cx="1612392" cy="43281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D — 13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26</a:t>
            </a:r>
          </a:p>
        </p:txBody>
      </p:sp>
      <p:pic>
        <p:nvPicPr>
          <p:cNvPr id="8" name="Picture 7" descr="24ebae5e5d75799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04688" y="2194560"/>
            <a:ext cx="1152144" cy="78943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258311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is the value?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92463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−1/4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92463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not a real number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61043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−1/8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61043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1/4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616271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27</a:t>
            </a:r>
          </a:p>
        </p:txBody>
      </p:sp>
      <p:pic>
        <p:nvPicPr>
          <p:cNvPr id="8" name="Picture 7" descr="3d615a9b7c2dc05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06212" y="2103120"/>
            <a:ext cx="1149096" cy="78943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166871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is the value?</a:t>
            </a:r>
          </a:p>
        </p:txBody>
      </p:sp>
      <p:pic>
        <p:nvPicPr>
          <p:cNvPr id="10" name="Picture 9" descr="44ca813e0eef5cc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07179" y="3814903"/>
            <a:ext cx="4053840" cy="60655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052316" y="4679011"/>
            <a:ext cx="9276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so   </a:t>
            </a:r>
          </a:p>
        </p:txBody>
      </p:sp>
      <p:pic>
        <p:nvPicPr>
          <p:cNvPr id="12" name="Picture 11" descr="712e2a339e91aae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42795" y="4549471"/>
            <a:ext cx="1786128" cy="71628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5402911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A — −1/4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28</a:t>
            </a:r>
          </a:p>
        </p:txBody>
      </p:sp>
      <p:pic>
        <p:nvPicPr>
          <p:cNvPr id="8" name="Picture 7" descr="13bd5897204bf8f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17591" y="2194560"/>
            <a:ext cx="1926335" cy="78943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29</a:t>
            </a:r>
          </a:p>
        </p:txBody>
      </p:sp>
      <p:pic>
        <p:nvPicPr>
          <p:cNvPr id="8" name="Picture 7" descr="e6bc0b83f8afa4f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19115" y="2103120"/>
            <a:ext cx="1923288" cy="789432"/>
          </a:xfrm>
          <a:prstGeom prst="rect">
            <a:avLst/>
          </a:prstGeom>
        </p:spPr>
      </p:pic>
      <p:pic>
        <p:nvPicPr>
          <p:cNvPr id="9" name="Picture 8" descr="ab1c6f19d3960fb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86317" y="3240023"/>
            <a:ext cx="1161288" cy="7162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147605" y="3369563"/>
            <a:ext cx="193946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     and     </a:t>
            </a:r>
          </a:p>
        </p:txBody>
      </p:sp>
      <p:pic>
        <p:nvPicPr>
          <p:cNvPr id="11" name="Picture 10" descr="7b48005c9016cda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9906" y="3240023"/>
            <a:ext cx="1322832" cy="716280"/>
          </a:xfrm>
          <a:prstGeom prst="rect">
            <a:avLst/>
          </a:prstGeom>
        </p:spPr>
      </p:pic>
      <p:pic>
        <p:nvPicPr>
          <p:cNvPr id="12" name="Picture 11" descr="27befd5d1612721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86317" y="4084320"/>
            <a:ext cx="1350264" cy="60655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4828032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4/3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30</a:t>
            </a:r>
          </a:p>
        </p:txBody>
      </p:sp>
      <p:pic>
        <p:nvPicPr>
          <p:cNvPr id="8" name="Picture 7" descr="7513eedb387e933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9744" y="2194560"/>
            <a:ext cx="2542032" cy="4785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31</a:t>
            </a:r>
          </a:p>
        </p:txBody>
      </p:sp>
      <p:pic>
        <p:nvPicPr>
          <p:cNvPr id="8" name="Picture 7" descr="41217f15035bee5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8220" y="2103120"/>
            <a:ext cx="2545080" cy="478536"/>
          </a:xfrm>
          <a:prstGeom prst="rect">
            <a:avLst/>
          </a:prstGeom>
        </p:spPr>
      </p:pic>
      <p:pic>
        <p:nvPicPr>
          <p:cNvPr id="9" name="Picture 8" descr="3837c1f0f17629c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09999" y="2950464"/>
            <a:ext cx="4651248" cy="368808"/>
          </a:xfrm>
          <a:prstGeom prst="rect">
            <a:avLst/>
          </a:prstGeom>
        </p:spPr>
      </p:pic>
      <p:pic>
        <p:nvPicPr>
          <p:cNvPr id="10" name="Picture 9" descr="a0f3c47d5d7510d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09999" y="3432047"/>
            <a:ext cx="1584960" cy="569976"/>
          </a:xfrm>
          <a:prstGeom prst="rect">
            <a:avLst/>
          </a:prstGeom>
        </p:spPr>
      </p:pic>
      <p:pic>
        <p:nvPicPr>
          <p:cNvPr id="11" name="Picture 10" descr="894447109a3e5d6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09999" y="4093464"/>
            <a:ext cx="3218688" cy="57302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803648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1/100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59886" y="2205228"/>
            <a:ext cx="296971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Simon says that  </a:t>
            </a:r>
          </a:p>
        </p:txBody>
      </p:sp>
      <p:pic>
        <p:nvPicPr>
          <p:cNvPr id="9" name="Picture 8" descr="a849ea34284e1e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92443" y="2194560"/>
            <a:ext cx="1060704" cy="47853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253147" y="2205228"/>
            <a:ext cx="368564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is not a real number,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947416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because you cannot take the root of a negative.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522295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Explain why he is wrong, and give the value.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Write your answer in sentences.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61410" y="2113788"/>
            <a:ext cx="296971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Simon says that  </a:t>
            </a:r>
          </a:p>
        </p:txBody>
      </p:sp>
      <p:pic>
        <p:nvPicPr>
          <p:cNvPr id="9" name="Picture 8" descr="dc8e0a2c2f29ccd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93967" y="2103120"/>
            <a:ext cx="1057656" cy="47853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251623" y="2113788"/>
            <a:ext cx="368564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is not a real number,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855975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because you cannot take the root of a negative.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430855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Explain why he is wrong, and give the value.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3154" y="4056026"/>
            <a:ext cx="1051237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A cube root can be negative: three negatives multiply to a negative.</a:t>
            </a:r>
          </a:p>
        </p:txBody>
      </p:sp>
      <p:pic>
        <p:nvPicPr>
          <p:cNvPr id="14" name="Picture 13" descr="cbf83985c3ed1e8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8018" y="4654958"/>
            <a:ext cx="2889504" cy="26517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837522" y="4558946"/>
            <a:ext cx="116308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,   so   </a:t>
            </a:r>
          </a:p>
        </p:txBody>
      </p:sp>
      <p:pic>
        <p:nvPicPr>
          <p:cNvPr id="16" name="Picture 15" descr="590e54612c7e6e6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63447" y="4603142"/>
            <a:ext cx="1405128" cy="36880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77240" y="5130446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−3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49504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pic>
        <p:nvPicPr>
          <p:cNvPr id="9" name="Picture 8" descr="e838230098c6497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7632" y="1528572"/>
            <a:ext cx="862584" cy="3901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60120" y="208940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pic>
        <p:nvPicPr>
          <p:cNvPr id="11" name="Picture 10" descr="c2339290e868186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27632" y="2122931"/>
            <a:ext cx="676656" cy="3901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60120" y="268376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pic>
        <p:nvPicPr>
          <p:cNvPr id="13" name="Picture 12" descr="ad02206568954f6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27632" y="2717291"/>
            <a:ext cx="1271016" cy="39014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60120" y="339242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4.</a:t>
            </a:r>
          </a:p>
        </p:txBody>
      </p:sp>
      <p:pic>
        <p:nvPicPr>
          <p:cNvPr id="15" name="Picture 14" descr="64b69718fca3659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27632" y="3300983"/>
            <a:ext cx="566928" cy="64008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60120" y="410108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5.</a:t>
            </a:r>
          </a:p>
        </p:txBody>
      </p:sp>
      <p:pic>
        <p:nvPicPr>
          <p:cNvPr id="17" name="Picture 16" descr="3f6f87e04710f31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27632" y="4134612"/>
            <a:ext cx="1484376" cy="39014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960120" y="4760976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6.</a:t>
            </a:r>
          </a:p>
        </p:txBody>
      </p:sp>
      <p:pic>
        <p:nvPicPr>
          <p:cNvPr id="19" name="Picture 18" descr="07d37168da608794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27632" y="4718304"/>
            <a:ext cx="2304288" cy="542544"/>
          </a:xfrm>
          <a:prstGeom prst="rect">
            <a:avLst/>
          </a:prstGeom>
        </p:spPr>
      </p:pic>
    </p:spTree>
  </p:cSld>
  <p:clrMapOvr>
    <a:masterClrMapping/>
  </p:clrMapOvr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Open IXL and start today's skills.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Work on paper where the question needs work. The answer box does not show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Every skill listed is required, to a SmartScore of 67. This skill continues tomorrow: one assignment, due at the start of the class after 4.06.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1A1A1A"/>
                </a:solidFill>
                <a:latin typeface="Lexend"/>
              </a:rPr>
              <a:t>Today's skills — all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Evaluate radical expressions — D8J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488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20" b="0" i="0">
                <a:solidFill>
                  <a:srgbClr val="6B6B6B"/>
                </a:solidFill>
                <a:latin typeface="Lexend"/>
              </a:rPr>
              <a:t>GRADE 7 ACCELERATED  ·  UNIT 4  ·  LESSON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5054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229" b="1" i="0">
                <a:solidFill>
                  <a:srgbClr val="1A1A1A"/>
                </a:solidFill>
                <a:latin typeface="Lexend"/>
              </a:rPr>
              <a:t>Order of Operations with Radicals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7124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7947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9593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20" b="1" i="0">
                <a:solidFill>
                  <a:srgbClr val="1A1A1A"/>
                </a:solidFill>
                <a:latin typeface="Lexend"/>
              </a:rPr>
              <a:t>MA.8.NSO.1.7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2976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810" b="0" i="0">
                <a:solidFill>
                  <a:srgbClr val="1A1A1A"/>
                </a:solidFill>
                <a:latin typeface="Lexend"/>
              </a:rPr>
              <a:t>I can evaluate a multi-step expression with rational numbers, exponents and radicals by reading its structure.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</a:t>
            </a:r>
          </a:p>
        </p:txBody>
      </p:sp>
      <p:sp>
        <p:nvSpPr>
          <p:cNvPr id="11" name="TextBox 10">
            <a:hlinkClick action="ppaction://hlinksldjump" r:id="rId2"/>
          </p:cNvPr>
          <p:cNvSpPr txBox="1"/>
          <p:nvPr/>
        </p:nvSpPr>
        <p:spPr>
          <a:xfrm>
            <a:off x="9372600" y="201168"/>
            <a:ext cx="201168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40" b="0" i="0">
                <a:solidFill>
                  <a:srgbClr val="6B6B6B"/>
                </a:solidFill>
                <a:latin typeface="Arial"/>
              </a:rPr>
              <a:t>←</a:t>
            </a:r>
            <a:r>
              <a:rPr sz="1140" b="0" i="0">
                <a:solidFill>
                  <a:srgbClr val="6B6B6B"/>
                </a:solidFill>
                <a:latin typeface="Lexend"/>
              </a:rPr>
              <a:t> Contents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67156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</a:t>
            </a:r>
          </a:p>
        </p:txBody>
      </p:sp>
      <p:pic>
        <p:nvPicPr>
          <p:cNvPr id="9" name="Picture 8" descr="380cdbfed5fb59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8921" y="1473708"/>
            <a:ext cx="1118616" cy="3901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74519" y="2052828"/>
            <a:ext cx="66903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How many significant digits are in  1.020 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2731008"/>
            <a:ext cx="29303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Find the value:  </a:t>
            </a:r>
          </a:p>
        </p:txBody>
      </p:sp>
      <p:pic>
        <p:nvPicPr>
          <p:cNvPr id="12" name="Picture 11" descr="f3c8135f85cfec4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7711" y="2688336"/>
            <a:ext cx="765048" cy="5425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874519" y="3409188"/>
            <a:ext cx="218559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Evaluate:  </a:t>
            </a:r>
          </a:p>
        </p:txBody>
      </p:sp>
      <p:pic>
        <p:nvPicPr>
          <p:cNvPr id="14" name="Picture 13" descr="8de25ca1bc5f4d4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22957" y="3525012"/>
            <a:ext cx="1127760" cy="225552"/>
          </a:xfrm>
          <a:prstGeom prst="rect">
            <a:avLst/>
          </a:prstGeom>
        </p:spPr>
      </p:pic>
    </p:spTree>
  </p:cSld>
  <p:clrMapOvr>
    <a:masterClrMapping/>
  </p:clrMapOvr>
</p:sld>
</file>

<file path=ppt/slides/slide1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67156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</a:t>
            </a:r>
          </a:p>
        </p:txBody>
      </p:sp>
      <p:pic>
        <p:nvPicPr>
          <p:cNvPr id="9" name="Picture 8" descr="380cdbfed5fb59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8921" y="1473708"/>
            <a:ext cx="1118616" cy="3901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076177" y="1440180"/>
            <a:ext cx="40504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2052828"/>
            <a:ext cx="66903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How many significant digits are in  1.020 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76387" y="2052828"/>
            <a:ext cx="40504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2731008"/>
            <a:ext cx="29303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Find the value:  </a:t>
            </a:r>
          </a:p>
        </p:txBody>
      </p:sp>
      <p:pic>
        <p:nvPicPr>
          <p:cNvPr id="14" name="Picture 13" descr="f3c8135f85cfec4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7711" y="2688336"/>
            <a:ext cx="765048" cy="54254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981399" y="2665476"/>
            <a:ext cx="71742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9/4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3409188"/>
            <a:ext cx="218559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Evaluate:  </a:t>
            </a:r>
          </a:p>
        </p:txBody>
      </p:sp>
      <p:pic>
        <p:nvPicPr>
          <p:cNvPr id="17" name="Picture 16" descr="8de25ca1bc5f4d4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22957" y="3525012"/>
            <a:ext cx="1127760" cy="22555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599357" y="3409188"/>
            <a:ext cx="38650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8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Vocabulary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46304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0B5394"/>
                </a:solidFill>
                <a:latin typeface="Lexend"/>
              </a:rPr>
              <a:t>grouping symbol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892410"/>
            <a:ext cx="10241280" cy="78717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anything that holds part of an expression together and is finished first: parentheses, brackets, the radical bar and the fraction bar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917333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0B5394"/>
                </a:solidFill>
                <a:latin typeface="Lexend"/>
              </a:rPr>
              <a:t>nested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3346704"/>
            <a:ext cx="10241280" cy="39358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one grouping symbol inside another. The innermost one is finished first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978037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0B5394"/>
                </a:solidFill>
                <a:latin typeface="Lexend"/>
              </a:rPr>
              <a:t>multi-step expression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4407407"/>
            <a:ext cx="10241280" cy="78717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one that takes more than one operation to evaluate. Everything in this unit takes six steps or fewer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I.  The structure, not a mnemonic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2103120" y="1993392"/>
          <a:ext cx="7955280" cy="19202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40080"/>
                <a:gridCol w="2743200"/>
                <a:gridCol w="457200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20" b="1">
                          <a:solidFill>
                            <a:srgbClr val="1A1A1A"/>
                          </a:solidFill>
                          <a:latin typeface="Lexend"/>
                        </a:rPr>
                        <a:t>Level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20" b="1">
                          <a:solidFill>
                            <a:srgbClr val="1A1A1A"/>
                          </a:solidFill>
                          <a:latin typeface="Lexend"/>
                        </a:rPr>
                        <a:t>What it means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420" b="0">
                          <a:solidFill>
                            <a:srgbClr val="1A1A1A"/>
                          </a:solidFill>
                          <a:latin typeface="Lexend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20" b="0">
                          <a:solidFill>
                            <a:srgbClr val="1A1A1A"/>
                          </a:solidFill>
                          <a:latin typeface="Lexend"/>
                        </a:rPr>
                        <a:t>Grouping symbols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20" b="0">
                          <a:solidFill>
                            <a:srgbClr val="1A1A1A"/>
                          </a:solidFill>
                          <a:latin typeface="Lexend"/>
                        </a:rPr>
                        <a:t>( ), [ ], the radical bar, the fraction bar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420" b="0">
                          <a:solidFill>
                            <a:srgbClr val="1A1A1A"/>
                          </a:solidFill>
                          <a:latin typeface="Lexend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20" b="0">
                          <a:solidFill>
                            <a:srgbClr val="1A1A1A"/>
                          </a:solidFill>
                          <a:latin typeface="Lexend"/>
                        </a:rPr>
                        <a:t>Powers and roots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20" b="0">
                          <a:solidFill>
                            <a:srgbClr val="1A1A1A"/>
                          </a:solidFill>
                          <a:latin typeface="Lexend"/>
                        </a:rPr>
                        <a:t>the same level as each other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420" b="0">
                          <a:solidFill>
                            <a:srgbClr val="1A1A1A"/>
                          </a:solidFill>
                          <a:latin typeface="Lexend"/>
                        </a:rPr>
                        <a:t>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20" b="0">
                          <a:solidFill>
                            <a:srgbClr val="1A1A1A"/>
                          </a:solidFill>
                          <a:latin typeface="Lexend"/>
                        </a:rPr>
                        <a:t>Multiply and divide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20" b="0">
                          <a:solidFill>
                            <a:srgbClr val="1A1A1A"/>
                          </a:solidFill>
                          <a:latin typeface="Lexend"/>
                        </a:rPr>
                        <a:t>left to right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420" b="0">
                          <a:solidFill>
                            <a:srgbClr val="1A1A1A"/>
                          </a:solidFill>
                          <a:latin typeface="Lexend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20" b="0">
                          <a:solidFill>
                            <a:srgbClr val="1A1A1A"/>
                          </a:solidFill>
                          <a:latin typeface="Lexend"/>
                        </a:rPr>
                        <a:t>Add and subtract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20" b="0">
                          <a:solidFill>
                            <a:srgbClr val="1A1A1A"/>
                          </a:solidFill>
                          <a:latin typeface="Lexend"/>
                        </a:rPr>
                        <a:t>left to right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987552" y="4206240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Innermost grouping symbol first, then out.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II.  Left to right means left to right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2201d3ee15bc2ba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12347" y="2060448"/>
            <a:ext cx="3008376" cy="2773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920723" y="1970532"/>
            <a:ext cx="194770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,     never   </a:t>
            </a:r>
          </a:p>
        </p:txBody>
      </p:sp>
      <p:pic>
        <p:nvPicPr>
          <p:cNvPr id="12" name="Picture 11" descr="f0147313abe6d96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31268" y="2060448"/>
            <a:ext cx="1517904" cy="277368"/>
          </a:xfrm>
          <a:prstGeom prst="rect">
            <a:avLst/>
          </a:prstGeom>
        </p:spPr>
      </p:pic>
      <p:pic>
        <p:nvPicPr>
          <p:cNvPr id="13" name="Picture 12" descr="0ee3a056470a442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72139" y="2744724"/>
            <a:ext cx="3285744" cy="28041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057883" y="2656332"/>
            <a:ext cx="194770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,     never   </a:t>
            </a:r>
          </a:p>
        </p:txBody>
      </p:sp>
      <p:pic>
        <p:nvPicPr>
          <p:cNvPr id="15" name="Picture 14" descr="b927c0f461bb714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68428" y="2746248"/>
            <a:ext cx="1520952" cy="27736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87552" y="3429000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Multiplication and division are one level. Addition and subtraction are one level. Left to right, both times.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III.  The fraction bar groups, top and bottom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b676b63d56095f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1372" y="1993392"/>
            <a:ext cx="2398776" cy="792480"/>
          </a:xfrm>
          <a:prstGeom prst="rect">
            <a:avLst/>
          </a:prstGeom>
        </p:spPr>
      </p:pic>
      <p:pic>
        <p:nvPicPr>
          <p:cNvPr id="11" name="Picture 10" descr="fb1e10d5d1f5e97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87496" y="3060192"/>
            <a:ext cx="4986528" cy="8473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87552" y="4245864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Finish the numerator and finish the denominator before you divide.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8</a:t>
            </a:r>
          </a:p>
        </p:txBody>
      </p:sp>
      <p:pic>
        <p:nvPicPr>
          <p:cNvPr id="8" name="Picture 7" descr="6b6fcd5e7b2e72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02607" y="2103120"/>
            <a:ext cx="3956304" cy="4785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084576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Evaluate.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9</a:t>
            </a:r>
          </a:p>
        </p:txBody>
      </p:sp>
      <p:pic>
        <p:nvPicPr>
          <p:cNvPr id="8" name="Picture 7" descr="04e54fe9a154095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2249424" cy="411480"/>
          </a:xfrm>
          <a:prstGeom prst="rect">
            <a:avLst/>
          </a:prstGeom>
        </p:spPr>
      </p:pic>
      <p:pic>
        <p:nvPicPr>
          <p:cNvPr id="9" name="Picture 8" descr="21bef9986283dc4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606040"/>
            <a:ext cx="6989064" cy="353568"/>
          </a:xfrm>
          <a:prstGeom prst="rect">
            <a:avLst/>
          </a:prstGeom>
        </p:spPr>
      </p:pic>
      <p:pic>
        <p:nvPicPr>
          <p:cNvPr id="10" name="Picture 9" descr="09e7e44a6e73f25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233928"/>
            <a:ext cx="2910840" cy="28041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−1.44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10</a:t>
            </a:r>
          </a:p>
        </p:txBody>
      </p:sp>
      <p:pic>
        <p:nvPicPr>
          <p:cNvPr id="8" name="Picture 7" descr="47f83e2b495dac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6952" y="1600200"/>
            <a:ext cx="4547616" cy="5943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69748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Evaluate.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11</a:t>
            </a:r>
          </a:p>
        </p:txBody>
      </p:sp>
      <p:pic>
        <p:nvPicPr>
          <p:cNvPr id="8" name="Picture 7" descr="aac90390d93a983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9999" y="1600200"/>
            <a:ext cx="4541520" cy="5943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69748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Evaluate.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95478" y="3286870"/>
            <a:ext cx="30852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Powers and roots:  </a:t>
            </a:r>
          </a:p>
        </p:txBody>
      </p:sp>
      <p:pic>
        <p:nvPicPr>
          <p:cNvPr id="11" name="Picture 10" descr="f6d02763ee13a42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43584" y="3358498"/>
            <a:ext cx="1548384" cy="3139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191968" y="3286870"/>
            <a:ext cx="13200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   and   </a:t>
            </a:r>
          </a:p>
        </p:txBody>
      </p:sp>
      <p:pic>
        <p:nvPicPr>
          <p:cNvPr id="13" name="Picture 12" descr="954e49d4ca9d857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74857" y="3331066"/>
            <a:ext cx="1091184" cy="36880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695478" y="3789790"/>
            <a:ext cx="393812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Inside the parentheses:  </a:t>
            </a:r>
          </a:p>
        </p:txBody>
      </p:sp>
      <p:pic>
        <p:nvPicPr>
          <p:cNvPr id="15" name="Picture 14" descr="e7c4e03b1a074318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96444" y="3911710"/>
            <a:ext cx="2109216" cy="213360"/>
          </a:xfrm>
          <a:prstGeom prst="rect">
            <a:avLst/>
          </a:prstGeom>
        </p:spPr>
      </p:pic>
      <p:pic>
        <p:nvPicPr>
          <p:cNvPr id="16" name="Picture 15" descr="9835c37dc0133d28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50342" y="4414630"/>
            <a:ext cx="3514344" cy="21336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77240" y="486421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9.97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12</a:t>
            </a:r>
          </a:p>
        </p:txBody>
      </p:sp>
      <p:pic>
        <p:nvPicPr>
          <p:cNvPr id="8" name="Picture 7" descr="b808d9623aef050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13731" y="2103120"/>
            <a:ext cx="2734056" cy="84734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453384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Evaluate.</a:t>
            </a: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13</a:t>
            </a:r>
          </a:p>
        </p:txBody>
      </p:sp>
      <p:pic>
        <p:nvPicPr>
          <p:cNvPr id="8" name="Picture 7" descr="9aec3c395596e36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2593848" cy="792480"/>
          </a:xfrm>
          <a:prstGeom prst="rect">
            <a:avLst/>
          </a:prstGeom>
        </p:spPr>
      </p:pic>
      <p:pic>
        <p:nvPicPr>
          <p:cNvPr id="9" name="Picture 8" descr="fd77386a9e66a33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987040"/>
            <a:ext cx="3694176" cy="789432"/>
          </a:xfrm>
          <a:prstGeom prst="rect">
            <a:avLst/>
          </a:prstGeom>
        </p:spPr>
      </p:pic>
      <p:pic>
        <p:nvPicPr>
          <p:cNvPr id="10" name="Picture 9" descr="69a6d692b4cc56e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4050791"/>
            <a:ext cx="1895856" cy="6705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5178552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−1/4</a:t>
            </a: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14</a:t>
            </a:r>
          </a:p>
        </p:txBody>
      </p:sp>
      <p:pic>
        <p:nvPicPr>
          <p:cNvPr id="8" name="Picture 7" descr="a0165d764fa8474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39996" y="1481328"/>
            <a:ext cx="3081528" cy="84734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831592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Evaluate.</a:t>
            </a:r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15</a:t>
            </a:r>
          </a:p>
        </p:txBody>
      </p:sp>
      <p:pic>
        <p:nvPicPr>
          <p:cNvPr id="8" name="Picture 7" descr="93f2d6cae19f44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41519" y="1481328"/>
            <a:ext cx="3078480" cy="84734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831592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Evaluate.</a:t>
            </a:r>
          </a:p>
        </p:txBody>
      </p:sp>
      <p:pic>
        <p:nvPicPr>
          <p:cNvPr id="10" name="Picture 9" descr="6565c690921d94d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27803" y="3443842"/>
            <a:ext cx="1810512" cy="609600"/>
          </a:xfrm>
          <a:prstGeom prst="rect">
            <a:avLst/>
          </a:prstGeom>
        </p:spPr>
      </p:pic>
      <p:pic>
        <p:nvPicPr>
          <p:cNvPr id="11" name="Picture 10" descr="a2173ad1551df9c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27803" y="4144882"/>
            <a:ext cx="3212592" cy="612648"/>
          </a:xfrm>
          <a:prstGeom prst="rect">
            <a:avLst/>
          </a:prstGeom>
        </p:spPr>
      </p:pic>
      <p:pic>
        <p:nvPicPr>
          <p:cNvPr id="12" name="Picture 11" descr="03d6a17384790a9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27803" y="4848970"/>
            <a:ext cx="1091184" cy="51206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5498194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</a:t>
            </a:r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16</a:t>
            </a:r>
          </a:p>
        </p:txBody>
      </p:sp>
      <p:pic>
        <p:nvPicPr>
          <p:cNvPr id="8" name="Picture 7" descr="25a7622aecf1eba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2287" y="2260092"/>
            <a:ext cx="1456944" cy="2804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17</a:t>
            </a:r>
          </a:p>
        </p:txBody>
      </p:sp>
      <p:pic>
        <p:nvPicPr>
          <p:cNvPr id="8" name="Picture 7" descr="36fd5fdafeb181a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2287" y="2168652"/>
            <a:ext cx="1456944" cy="2804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011726" y="2839212"/>
            <a:ext cx="265673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Left to right:  </a:t>
            </a:r>
          </a:p>
        </p:txBody>
      </p:sp>
      <p:pic>
        <p:nvPicPr>
          <p:cNvPr id="10" name="Picture 9" descr="12ac90fe8177c5f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1305" y="2941320"/>
            <a:ext cx="1621536" cy="252984"/>
          </a:xfrm>
          <a:prstGeom prst="rect">
            <a:avLst/>
          </a:prstGeom>
        </p:spPr>
      </p:pic>
      <p:pic>
        <p:nvPicPr>
          <p:cNvPr id="11" name="Picture 10" descr="58b50d1f788fe12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66590" y="3480816"/>
            <a:ext cx="1478280" cy="25298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54</a:t>
            </a:r>
          </a:p>
        </p:txBody>
      </p:sp>
    </p:spTree>
  </p:cSld>
  <p:clrMapOvr>
    <a:masterClrMapping/>
  </p:clrMapOvr>
</p:sld>
</file>

<file path=ppt/slides/slide1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354561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square tile has side  </a:t>
            </a:r>
          </a:p>
        </p:txBody>
      </p:sp>
      <p:pic>
        <p:nvPicPr>
          <p:cNvPr id="9" name="Picture 8" descr="97c530a75d29d3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2897" y="1885187"/>
            <a:ext cx="844296" cy="3901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7193" y="1851660"/>
            <a:ext cx="221142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centimeters.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Its diagonal is about 19.8 centimeters.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perimeter of the tile?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354561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square tile has side  </a:t>
            </a:r>
          </a:p>
        </p:txBody>
      </p:sp>
      <p:pic>
        <p:nvPicPr>
          <p:cNvPr id="9" name="Picture 8" descr="8dd3731dd90336b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2897" y="1885187"/>
            <a:ext cx="838200" cy="3901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1097" y="1851660"/>
            <a:ext cx="221142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centimeters.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Its diagonal is about 19.8 centimeters.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perimeter of the tile?</a:t>
            </a:r>
          </a:p>
        </p:txBody>
      </p:sp>
      <p:pic>
        <p:nvPicPr>
          <p:cNvPr id="13" name="Picture 12" descr="fe182c84c4bdb5f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67467" y="3684236"/>
            <a:ext cx="1642872" cy="43281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212603" y="4222208"/>
            <a:ext cx="227022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Perimeter:  </a:t>
            </a:r>
          </a:p>
        </p:txBody>
      </p:sp>
      <p:pic>
        <p:nvPicPr>
          <p:cNvPr id="15" name="Picture 14" descr="b92290561e20c8b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45668" y="4322792"/>
            <a:ext cx="1609344" cy="25603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77240" y="4793708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56 centimeters</a:t>
            </a:r>
          </a:p>
        </p:txBody>
      </p:sp>
    </p:spTree>
  </p:cSld>
  <p:clrMapOvr>
    <a:masterClrMapping/>
  </p:clrMapOvr>
</p:sld>
</file>

<file path=ppt/slides/slide1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20</a:t>
            </a:r>
          </a:p>
        </p:txBody>
      </p:sp>
      <p:pic>
        <p:nvPicPr>
          <p:cNvPr id="8" name="Picture 7" descr="7d69da8346cb7cd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0" y="2260092"/>
            <a:ext cx="1554480" cy="2804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21</a:t>
            </a:r>
          </a:p>
        </p:txBody>
      </p:sp>
      <p:pic>
        <p:nvPicPr>
          <p:cNvPr id="8" name="Picture 7" descr="9dc4fd86eed7f2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0" y="2168652"/>
            <a:ext cx="1554480" cy="2804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057446" y="2839212"/>
            <a:ext cx="265673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Left to right:  </a:t>
            </a:r>
          </a:p>
        </p:txBody>
      </p:sp>
      <p:pic>
        <p:nvPicPr>
          <p:cNvPr id="10" name="Picture 9" descr="5215752a2994fdf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7025" y="2939796"/>
            <a:ext cx="1530096" cy="256032"/>
          </a:xfrm>
          <a:prstGeom prst="rect">
            <a:avLst/>
          </a:prstGeom>
        </p:spPr>
      </p:pic>
      <p:pic>
        <p:nvPicPr>
          <p:cNvPr id="11" name="Picture 10" descr="1f8367c1c48b434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2310" y="3480816"/>
            <a:ext cx="1554480" cy="25298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15</a:t>
            </a:r>
          </a:p>
        </p:txBody>
      </p:sp>
    </p:spTree>
  </p:cSld>
  <p:clrMapOvr>
    <a:masterClrMapping/>
  </p:clrMapOvr>
</p:sld>
</file>

<file path=ppt/slides/slide1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22</a:t>
            </a:r>
          </a:p>
        </p:txBody>
      </p:sp>
      <p:pic>
        <p:nvPicPr>
          <p:cNvPr id="8" name="Picture 7" descr="2b230be022ca8b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98591" y="2194560"/>
            <a:ext cx="1164336" cy="79552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23</a:t>
            </a:r>
          </a:p>
        </p:txBody>
      </p:sp>
      <p:pic>
        <p:nvPicPr>
          <p:cNvPr id="8" name="Picture 7" descr="0893d505426886e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01639" y="2103120"/>
            <a:ext cx="1158240" cy="79857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022680" y="3226307"/>
            <a:ext cx="99677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Top:  </a:t>
            </a:r>
          </a:p>
        </p:txBody>
      </p:sp>
      <p:pic>
        <p:nvPicPr>
          <p:cNvPr id="10" name="Picture 9" descr="0f7f372429cfcbc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82300" y="3326891"/>
            <a:ext cx="2481072" cy="25603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022680" y="3729227"/>
            <a:ext cx="158327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Bottom:  </a:t>
            </a:r>
          </a:p>
        </p:txBody>
      </p:sp>
      <p:pic>
        <p:nvPicPr>
          <p:cNvPr id="12" name="Picture 11" descr="d59a91b1f76472a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68791" y="3826763"/>
            <a:ext cx="2670048" cy="262128"/>
          </a:xfrm>
          <a:prstGeom prst="rect">
            <a:avLst/>
          </a:prstGeom>
        </p:spPr>
      </p:pic>
      <p:pic>
        <p:nvPicPr>
          <p:cNvPr id="13" name="Picture 12" descr="3d14f1f915bfc61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77544" y="4255007"/>
            <a:ext cx="807720" cy="51511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490728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3/5</a:t>
            </a:r>
          </a:p>
        </p:txBody>
      </p:sp>
    </p:spTree>
  </p:cSld>
  <p:clrMapOvr>
    <a:masterClrMapping/>
  </p:clrMapOvr>
</p:sld>
</file>

<file path=ppt/slides/slide1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24</a:t>
            </a:r>
          </a:p>
        </p:txBody>
      </p:sp>
      <p:pic>
        <p:nvPicPr>
          <p:cNvPr id="8" name="Picture 7" descr="594d57048b4fb9a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87339" y="2229612"/>
            <a:ext cx="1386840" cy="34137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8803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is the value?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146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50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2324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2324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80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238319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25</a:t>
            </a:r>
          </a:p>
        </p:txBody>
      </p:sp>
      <p:pic>
        <p:nvPicPr>
          <p:cNvPr id="8" name="Picture 7" descr="53291355aab2c4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85816" y="2138171"/>
            <a:ext cx="1389888" cy="34137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7889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is the value?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70490" y="3414091"/>
            <a:ext cx="208963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Power first:  </a:t>
            </a:r>
          </a:p>
        </p:txBody>
      </p:sp>
      <p:pic>
        <p:nvPicPr>
          <p:cNvPr id="11" name="Picture 10" descr="6bee3a4a6e96719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22961" y="3513151"/>
            <a:ext cx="880872" cy="2590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270490" y="3917011"/>
            <a:ext cx="249887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Then multiply:  </a:t>
            </a:r>
          </a:p>
        </p:txBody>
      </p:sp>
      <p:pic>
        <p:nvPicPr>
          <p:cNvPr id="13" name="Picture 12" descr="521cfcdc4e4431f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32205" y="4038931"/>
            <a:ext cx="1255776" cy="21336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270490" y="4419931"/>
            <a:ext cx="187746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Then add:  </a:t>
            </a:r>
          </a:p>
        </p:txBody>
      </p:sp>
      <p:pic>
        <p:nvPicPr>
          <p:cNvPr id="15" name="Picture 14" descr="c52f3646b69457b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10795" y="4541851"/>
            <a:ext cx="1399032" cy="21336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77240" y="4991431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B — 50</a:t>
            </a:r>
          </a:p>
        </p:txBody>
      </p:sp>
    </p:spTree>
  </p:cSld>
  <p:clrMapOvr>
    <a:masterClrMapping/>
  </p:clrMapOvr>
</p:sld>
</file>

<file path=ppt/slides/slide1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26</a:t>
            </a:r>
          </a:p>
        </p:txBody>
      </p:sp>
      <p:pic>
        <p:nvPicPr>
          <p:cNvPr id="8" name="Picture 7" descr="266fcce5418af23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86983" y="2194560"/>
            <a:ext cx="987552" cy="7924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2613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is the value?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927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927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35.5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6134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0.5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6134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256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619319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27</a:t>
            </a:r>
          </a:p>
        </p:txBody>
      </p:sp>
      <p:pic>
        <p:nvPicPr>
          <p:cNvPr id="8" name="Picture 7" descr="286b5294f6ed7d8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90032" y="2103120"/>
            <a:ext cx="981455" cy="78943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166871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is the value?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57658" y="3792043"/>
            <a:ext cx="99677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Top:  </a:t>
            </a:r>
          </a:p>
        </p:txBody>
      </p:sp>
      <p:pic>
        <p:nvPicPr>
          <p:cNvPr id="11" name="Picture 10" descr="f5cf47236f59dc7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17277" y="3889579"/>
            <a:ext cx="2389632" cy="26212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457658" y="4294963"/>
            <a:ext cx="158327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Bottom:  </a:t>
            </a:r>
          </a:p>
        </p:txBody>
      </p:sp>
      <p:pic>
        <p:nvPicPr>
          <p:cNvPr id="13" name="Picture 12" descr="b8964d2fa5cae64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03768" y="4397071"/>
            <a:ext cx="697992" cy="252984"/>
          </a:xfrm>
          <a:prstGeom prst="rect">
            <a:avLst/>
          </a:prstGeom>
        </p:spPr>
      </p:pic>
      <p:pic>
        <p:nvPicPr>
          <p:cNvPr id="14" name="Picture 13" descr="e3ce27ebfe1bfdd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12522" y="4919803"/>
            <a:ext cx="1219200" cy="2133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7240" y="5369383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A — 4</a:t>
            </a:r>
          </a:p>
        </p:txBody>
      </p:sp>
    </p:spTree>
  </p:cSld>
  <p:clrMapOvr>
    <a:masterClrMapping/>
  </p:clrMapOvr>
</p:sld>
</file>

<file path=ppt/slides/slide1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28</a:t>
            </a:r>
          </a:p>
        </p:txBody>
      </p:sp>
      <p:pic>
        <p:nvPicPr>
          <p:cNvPr id="8" name="Picture 7" descr="6ce0d9f4982b699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75503" y="2194560"/>
            <a:ext cx="1810512" cy="4114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29</a:t>
            </a:r>
          </a:p>
        </p:txBody>
      </p:sp>
      <p:pic>
        <p:nvPicPr>
          <p:cNvPr id="8" name="Picture 7" descr="74e67f9444e645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73980" y="2103120"/>
            <a:ext cx="1813560" cy="411480"/>
          </a:xfrm>
          <a:prstGeom prst="rect">
            <a:avLst/>
          </a:prstGeom>
        </p:spPr>
      </p:pic>
      <p:pic>
        <p:nvPicPr>
          <p:cNvPr id="9" name="Picture 8" descr="068d9a19700e138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55152" y="2938272"/>
            <a:ext cx="1066800" cy="2590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121952" y="2839212"/>
            <a:ext cx="52343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     (the exponent is on the 2 only)</a:t>
            </a:r>
          </a:p>
        </p:txBody>
      </p:sp>
      <p:pic>
        <p:nvPicPr>
          <p:cNvPr id="11" name="Picture 10" descr="a8317bc2e11e2fe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55152" y="3413759"/>
            <a:ext cx="1115568" cy="313944"/>
          </a:xfrm>
          <a:prstGeom prst="rect">
            <a:avLst/>
          </a:prstGeom>
        </p:spPr>
      </p:pic>
      <p:pic>
        <p:nvPicPr>
          <p:cNvPr id="12" name="Picture 11" descr="ab059e2234c1904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55152" y="3966971"/>
            <a:ext cx="1252728" cy="2133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0</a:t>
            </a:r>
          </a:p>
        </p:txBody>
      </p:sp>
    </p:spTree>
  </p:cSld>
  <p:clrMapOvr>
    <a:masterClrMapping/>
  </p:clrMapOvr>
</p:sld>
</file>

<file path=ppt/slides/slide1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30</a:t>
            </a:r>
          </a:p>
        </p:txBody>
      </p:sp>
      <p:pic>
        <p:nvPicPr>
          <p:cNvPr id="8" name="Picture 7" descr="f06e7d140296346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32603" y="2194560"/>
            <a:ext cx="2496312" cy="66751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31</a:t>
            </a:r>
          </a:p>
        </p:txBody>
      </p:sp>
      <p:pic>
        <p:nvPicPr>
          <p:cNvPr id="8" name="Picture 7" descr="3edde1adf91d2fc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31080" y="2103120"/>
            <a:ext cx="2499360" cy="673608"/>
          </a:xfrm>
          <a:prstGeom prst="rect">
            <a:avLst/>
          </a:prstGeom>
        </p:spPr>
      </p:pic>
      <p:pic>
        <p:nvPicPr>
          <p:cNvPr id="9" name="Picture 8" descr="dcdd245aeaaf1b5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17755" y="3124200"/>
            <a:ext cx="1057656" cy="51511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75411" y="3153156"/>
            <a:ext cx="167094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     and     </a:t>
            </a:r>
          </a:p>
        </p:txBody>
      </p:sp>
      <p:pic>
        <p:nvPicPr>
          <p:cNvPr id="11" name="Picture 10" descr="91dc20afadb1aea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09196" y="3124200"/>
            <a:ext cx="829056" cy="515112"/>
          </a:xfrm>
          <a:prstGeom prst="rect">
            <a:avLst/>
          </a:prstGeom>
        </p:spPr>
      </p:pic>
      <p:pic>
        <p:nvPicPr>
          <p:cNvPr id="12" name="Picture 11" descr="116226914234f12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17755" y="3730752"/>
            <a:ext cx="2569464" cy="515112"/>
          </a:xfrm>
          <a:prstGeom prst="rect">
            <a:avLst/>
          </a:prstGeom>
        </p:spPr>
      </p:pic>
      <p:pic>
        <p:nvPicPr>
          <p:cNvPr id="13" name="Picture 12" descr="ea27676c0bb8583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17755" y="4337304"/>
            <a:ext cx="1481328" cy="51206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4986528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17/6</a:t>
            </a:r>
          </a:p>
        </p:txBody>
      </p:sp>
    </p:spTree>
  </p:cSld>
  <p:clrMapOvr>
    <a:masterClrMapping/>
  </p:clrMapOvr>
</p:sld>
</file>

<file path=ppt/slides/slide1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55986" y="2215896"/>
            <a:ext cx="312668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Roscoe says that  </a:t>
            </a:r>
          </a:p>
        </p:txBody>
      </p:sp>
      <p:pic>
        <p:nvPicPr>
          <p:cNvPr id="9" name="Picture 8" descr="c79d4acb3ae0bdb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5507" y="2194560"/>
            <a:ext cx="1901952" cy="49987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947459" y="2215896"/>
            <a:ext cx="329523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is always positive,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968751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because a square is always positive.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57533" y="3520771"/>
            <a:ext cx="465100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Is he right? Give a value of </a:t>
            </a:r>
          </a:p>
        </p:txBody>
      </p:sp>
      <p:pic>
        <p:nvPicPr>
          <p:cNvPr id="13" name="Picture 12" descr="f14fce7cf077cd0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71381" y="3645739"/>
            <a:ext cx="176784" cy="20726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248165" y="3520771"/>
            <a:ext cx="249298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that settles it.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366591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Write your answer in sentences.</a:t>
            </a:r>
          </a:p>
        </p:txBody>
      </p:sp>
    </p:spTree>
  </p:cSld>
  <p:clrMapOvr>
    <a:masterClrMapping/>
  </p:clrMapOvr>
</p:sld>
</file>

<file path=ppt/slides/slide1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54462" y="2124456"/>
            <a:ext cx="312668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Roscoe says that  </a:t>
            </a:r>
          </a:p>
        </p:txBody>
      </p:sp>
      <p:pic>
        <p:nvPicPr>
          <p:cNvPr id="9" name="Picture 8" descr="349a51316d69c5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3983" y="2103120"/>
            <a:ext cx="1905000" cy="49987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948983" y="2124456"/>
            <a:ext cx="329523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is always positive,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877312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because a square is always positive.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57533" y="3429331"/>
            <a:ext cx="465100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Is he right? Give a value of </a:t>
            </a:r>
          </a:p>
        </p:txBody>
      </p:sp>
      <p:pic>
        <p:nvPicPr>
          <p:cNvPr id="13" name="Picture 12" descr="f14fce7cf077cd0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71381" y="3554299"/>
            <a:ext cx="176784" cy="20726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248165" y="3429331"/>
            <a:ext cx="249298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that settles it.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88076" y="4198951"/>
            <a:ext cx="134217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When </a:t>
            </a:r>
          </a:p>
        </p:txBody>
      </p:sp>
      <p:pic>
        <p:nvPicPr>
          <p:cNvPr id="16" name="Picture 15" descr="da0bec38e3107c3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93095" y="4302583"/>
            <a:ext cx="1036320" cy="249935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229415" y="4198951"/>
            <a:ext cx="60646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:   </a:t>
            </a:r>
          </a:p>
        </p:txBody>
      </p:sp>
      <p:pic>
        <p:nvPicPr>
          <p:cNvPr id="18" name="Picture 17" descr="c90e576750902fb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98723" y="4211143"/>
            <a:ext cx="3477768" cy="432816"/>
          </a:xfrm>
          <a:prstGeom prst="rect">
            <a:avLst/>
          </a:prstGeom>
        </p:spPr>
      </p:pic>
      <p:pic>
        <p:nvPicPr>
          <p:cNvPr id="19" name="Picture 18" descr="ff74c5c7fd2cbb8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042940" y="4825315"/>
            <a:ext cx="868680" cy="3048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3911620" y="4749115"/>
            <a:ext cx="432124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,   and 0 is not positive.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5320615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No — at n = 121 the value is 0</a:t>
            </a:r>
          </a:p>
        </p:txBody>
      </p:sp>
    </p:spTree>
  </p:cSld>
  <p:clrMapOvr>
    <a:masterClrMapping/>
  </p:clrMapOvr>
</p:sld>
</file>

<file path=ppt/slides/slide1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49504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pic>
        <p:nvPicPr>
          <p:cNvPr id="9" name="Picture 8" descr="7297de9a2fe9374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7632" y="1610867"/>
            <a:ext cx="1676400" cy="22555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60120" y="208940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pic>
        <p:nvPicPr>
          <p:cNvPr id="11" name="Picture 10" descr="503ca8bbf5ad037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27632" y="2205227"/>
            <a:ext cx="1167384" cy="22555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60120" y="268376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pic>
        <p:nvPicPr>
          <p:cNvPr id="13" name="Picture 12" descr="fee2d71f7c46e5a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27632" y="2744723"/>
            <a:ext cx="1630680" cy="3352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60120" y="3395471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4.</a:t>
            </a:r>
          </a:p>
        </p:txBody>
      </p:sp>
      <p:pic>
        <p:nvPicPr>
          <p:cNvPr id="15" name="Picture 14" descr="4e620423e0fdea8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27632" y="3300983"/>
            <a:ext cx="780288" cy="64617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60120" y="4107179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5.</a:t>
            </a:r>
          </a:p>
        </p:txBody>
      </p:sp>
      <p:pic>
        <p:nvPicPr>
          <p:cNvPr id="17" name="Picture 16" descr="749d7946d074ee2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27632" y="4168139"/>
            <a:ext cx="1514856" cy="33528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960120" y="4701539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6.</a:t>
            </a:r>
          </a:p>
        </p:txBody>
      </p:sp>
      <p:pic>
        <p:nvPicPr>
          <p:cNvPr id="19" name="Picture 18" descr="16b03c438ff63fe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27632" y="4735067"/>
            <a:ext cx="2215896" cy="390144"/>
          </a:xfrm>
          <a:prstGeom prst="rect">
            <a:avLst/>
          </a:prstGeom>
        </p:spPr>
      </p:pic>
    </p:spTree>
  </p:cSld>
  <p:clrMapOvr>
    <a:masterClrMapping/>
  </p:clrMapOvr>
</p:sld>
</file>

<file path=ppt/slides/slide1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Open IXL and start today's skills.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Work on paper where the question needs work. The answer box does not show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Every skill listed is required, to a SmartScore of 67. Due at the start of the next class.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1A1A1A"/>
                </a:solidFill>
                <a:latin typeface="Lexend"/>
              </a:rPr>
              <a:t>Today's skills — all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Evaluate radical expressions — D8J</a:t>
            </a:r>
          </a:p>
        </p:txBody>
      </p:sp>
    </p:spTree>
  </p:cSld>
  <p:clrMapOvr>
    <a:masterClrMapping/>
  </p:clrMapOvr>
</p:sld>
</file>

<file path=ppt/slides/slide1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488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20" b="0" i="0">
                <a:solidFill>
                  <a:srgbClr val="6B6B6B"/>
                </a:solidFill>
                <a:latin typeface="Lexend"/>
              </a:rPr>
              <a:t>GRADE 7 ACCELERATED  ·  UNIT 4  ·  LESSONS 7–8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5054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229" b="1" i="0">
                <a:solidFill>
                  <a:srgbClr val="1A1A1A"/>
                </a:solidFill>
                <a:latin typeface="Lexend"/>
              </a:rPr>
              <a:t>Real-World Order of Operations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7124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7947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9593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20" b="1" i="0">
                <a:solidFill>
                  <a:srgbClr val="1A1A1A"/>
                </a:solidFill>
                <a:latin typeface="Lexend"/>
              </a:rPr>
              <a:t>MA.8.NSO.1.7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2976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810" b="0" i="0">
                <a:solidFill>
                  <a:srgbClr val="1A1A1A"/>
                </a:solidFill>
                <a:latin typeface="Lexend"/>
              </a:rPr>
              <a:t>I can substitute values into a formula and evaluate it, reading what the situation does rather than hunting for key words.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</a:t>
            </a:r>
          </a:p>
        </p:txBody>
      </p:sp>
      <p:sp>
        <p:nvSpPr>
          <p:cNvPr id="11" name="TextBox 10">
            <a:hlinkClick action="ppaction://hlinksldjump" r:id="rId2"/>
          </p:cNvPr>
          <p:cNvSpPr txBox="1"/>
          <p:nvPr/>
        </p:nvSpPr>
        <p:spPr>
          <a:xfrm>
            <a:off x="9372600" y="201168"/>
            <a:ext cx="201168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40" b="0" i="0">
                <a:solidFill>
                  <a:srgbClr val="6B6B6B"/>
                </a:solidFill>
                <a:latin typeface="Arial"/>
              </a:rPr>
              <a:t>←</a:t>
            </a:r>
            <a:r>
              <a:rPr sz="1140" b="0" i="0">
                <a:solidFill>
                  <a:srgbClr val="6B6B6B"/>
                </a:solidFill>
                <a:latin typeface="Lexend"/>
              </a:rPr>
              <a:t> Contents</a:t>
            </a:r>
          </a:p>
        </p:txBody>
      </p:sp>
    </p:spTree>
  </p:cSld>
  <p:clrMapOvr>
    <a:masterClrMapping/>
  </p:clrMapOvr>
</p:sld>
</file>

<file path=ppt/slides/slide1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67156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</a:t>
            </a:r>
          </a:p>
        </p:txBody>
      </p:sp>
      <p:pic>
        <p:nvPicPr>
          <p:cNvPr id="9" name="Picture 8" descr="a7bbd4c851f1e1a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8921" y="1501140"/>
            <a:ext cx="1484376" cy="3352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74519" y="2052828"/>
            <a:ext cx="68569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</a:t>
            </a:r>
          </a:p>
        </p:txBody>
      </p:sp>
      <p:pic>
        <p:nvPicPr>
          <p:cNvPr id="11" name="Picture 10" descr="f84234db65bcdb1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3059" y="2086356"/>
            <a:ext cx="1578864" cy="3901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874519" y="2729484"/>
            <a:ext cx="29303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Find the value:  </a:t>
            </a:r>
          </a:p>
        </p:txBody>
      </p:sp>
      <p:pic>
        <p:nvPicPr>
          <p:cNvPr id="13" name="Picture 12" descr="6d6fe08af9312c1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7711" y="2688336"/>
            <a:ext cx="768096" cy="53949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874519" y="3406140"/>
            <a:ext cx="211855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Evaluate  </a:t>
            </a:r>
          </a:p>
        </p:txBody>
      </p:sp>
      <p:pic>
        <p:nvPicPr>
          <p:cNvPr id="15" name="Picture 14" descr="236959ea5354d8c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55915" y="3497580"/>
            <a:ext cx="460247" cy="27432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316163" y="3406140"/>
            <a:ext cx="129746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 when  </a:t>
            </a:r>
          </a:p>
        </p:txBody>
      </p:sp>
      <p:pic>
        <p:nvPicPr>
          <p:cNvPr id="17" name="Picture 16" descr="78a344566654b4b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76472" y="3523488"/>
            <a:ext cx="618744" cy="22250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095216" y="3406140"/>
            <a:ext cx="27735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</p:spTree>
  </p:cSld>
  <p:clrMapOvr>
    <a:masterClrMapping/>
  </p:clrMapOvr>
</p:sld>
</file>

<file path=ppt/slides/slide1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67156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</a:t>
            </a:r>
          </a:p>
        </p:txBody>
      </p:sp>
      <p:pic>
        <p:nvPicPr>
          <p:cNvPr id="9" name="Picture 8" descr="a7bbd4c851f1e1a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8921" y="1501140"/>
            <a:ext cx="1484376" cy="3352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441937" y="1440180"/>
            <a:ext cx="4088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2052828"/>
            <a:ext cx="68569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</a:t>
            </a:r>
          </a:p>
        </p:txBody>
      </p:sp>
      <p:pic>
        <p:nvPicPr>
          <p:cNvPr id="12" name="Picture 11" descr="f84234db65bcdb1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3059" y="2086356"/>
            <a:ext cx="1578864" cy="3901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550563" y="2052828"/>
            <a:ext cx="86239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25/2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2729484"/>
            <a:ext cx="29303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Find the value:  </a:t>
            </a:r>
          </a:p>
        </p:txBody>
      </p:sp>
      <p:pic>
        <p:nvPicPr>
          <p:cNvPr id="15" name="Picture 14" descr="6d6fe08af9312c1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7711" y="2688336"/>
            <a:ext cx="768096" cy="53949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984447" y="2665476"/>
            <a:ext cx="75389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4/3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74519" y="3406140"/>
            <a:ext cx="211855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Evaluate  </a:t>
            </a:r>
          </a:p>
        </p:txBody>
      </p:sp>
      <p:pic>
        <p:nvPicPr>
          <p:cNvPr id="18" name="Picture 17" descr="236959ea5354d8c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55915" y="3497580"/>
            <a:ext cx="460247" cy="27432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4316163" y="3406140"/>
            <a:ext cx="129746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 when  </a:t>
            </a:r>
          </a:p>
        </p:txBody>
      </p:sp>
      <p:pic>
        <p:nvPicPr>
          <p:cNvPr id="20" name="Picture 19" descr="78a344566654b4b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76472" y="3523488"/>
            <a:ext cx="618744" cy="222504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095216" y="3406140"/>
            <a:ext cx="27735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84049" y="3406140"/>
            <a:ext cx="55151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18</a:t>
            </a:r>
          </a:p>
        </p:txBody>
      </p:sp>
    </p:spTree>
  </p:cSld>
  <p:clrMapOvr>
    <a:masterClrMapping/>
  </p:clrMapOvr>
</p:sld>
</file>

<file path=ppt/slides/slide1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Vocabulary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46304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0B5394"/>
                </a:solidFill>
                <a:latin typeface="Lexend"/>
              </a:rPr>
              <a:t>formula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997566"/>
            <a:ext cx="487006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a rule written with letters, such as </a:t>
            </a:r>
          </a:p>
        </p:txBody>
      </p:sp>
      <p:pic>
        <p:nvPicPr>
          <p:cNvPr id="10" name="Picture 9" descr="5d0fc710cd4502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5907" y="1892410"/>
            <a:ext cx="1597152" cy="66751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473059" y="1997566"/>
            <a:ext cx="2854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,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2610214"/>
            <a:ext cx="879056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that becomes a number once each letter is replaced by a value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245722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0B5394"/>
                </a:solidFill>
                <a:latin typeface="Lexend"/>
              </a:rPr>
              <a:t>substitute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3675092"/>
            <a:ext cx="10241280" cy="78717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replace a letter with its value — in parentheses, so that a negative value keeps its sign and a power stays attached to the whole value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700016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0B5394"/>
                </a:solidFill>
                <a:latin typeface="Lexend"/>
              </a:rPr>
              <a:t>unit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5129386"/>
            <a:ext cx="10241280" cy="78717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what the answer is counted in: feet, dollars, joules. A real-world answer without a unit is not an answer</a:t>
            </a:r>
          </a:p>
        </p:txBody>
      </p:sp>
    </p:spTree>
  </p:cSld>
  <p:clrMapOvr>
    <a:masterClrMapping/>
  </p:clrMapOvr>
</p:sld>
</file>

<file path=ppt/slides/slide1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I.  Substituting: the value goes in parentheses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4ee9fb59b86866b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66633" y="1993392"/>
            <a:ext cx="1600200" cy="6705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466833" y="2100072"/>
            <a:ext cx="145298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with   </a:t>
            </a:r>
          </a:p>
        </p:txBody>
      </p:sp>
      <p:pic>
        <p:nvPicPr>
          <p:cNvPr id="12" name="Picture 11" descr="c40d2caa36f208b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82656" y="2188464"/>
            <a:ext cx="1124712" cy="28041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907368" y="2100072"/>
            <a:ext cx="13881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and   </a:t>
            </a:r>
          </a:p>
        </p:txBody>
      </p:sp>
      <p:pic>
        <p:nvPicPr>
          <p:cNvPr id="14" name="Picture 13" descr="039a12261cb8388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58348" y="2189988"/>
            <a:ext cx="987552" cy="27736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9145900" y="2100072"/>
            <a:ext cx="2861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:</a:t>
            </a:r>
          </a:p>
        </p:txBody>
      </p:sp>
      <p:pic>
        <p:nvPicPr>
          <p:cNvPr id="16" name="Picture 15" descr="8d85e48358ee9db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82067" y="2938272"/>
            <a:ext cx="5516880" cy="67056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8198947" y="3044952"/>
            <a:ext cx="141766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joules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31531" y="3860292"/>
            <a:ext cx="117362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with   </a:t>
            </a:r>
          </a:p>
        </p:txBody>
      </p:sp>
      <p:pic>
        <p:nvPicPr>
          <p:cNvPr id="19" name="Picture 18" descr="baf1e744513c75c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967997" y="3953256"/>
            <a:ext cx="1024128" cy="271272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3992125" y="3860292"/>
            <a:ext cx="6586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:    </a:t>
            </a:r>
          </a:p>
        </p:txBody>
      </p:sp>
      <p:pic>
        <p:nvPicPr>
          <p:cNvPr id="21" name="Picture 20" descr="37650f0ab64081b1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13587" y="3883152"/>
            <a:ext cx="2410968" cy="41148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924555" y="3860292"/>
            <a:ext cx="185458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,    never   </a:t>
            </a:r>
          </a:p>
        </p:txBody>
      </p:sp>
      <p:pic>
        <p:nvPicPr>
          <p:cNvPr id="23" name="Picture 22" descr="9d75179d4c71dcb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641980" y="3919728"/>
            <a:ext cx="1588008" cy="338328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987552" y="4632960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Substitute in parentheses, then evaluate by the structure — powers before products.</a:t>
            </a:r>
          </a:p>
        </p:txBody>
      </p:sp>
    </p:spTree>
  </p:cSld>
  <p:clrMapOvr>
    <a:masterClrMapping/>
  </p:clrMapOvr>
</p:sld>
</file>

<file path=ppt/slides/slide1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II.  Key words do not decide the operation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2213983" y="1970532"/>
            <a:ext cx="787071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15 dollars plus 4 dollars for each of 6 gigabytes:</a:t>
            </a:r>
          </a:p>
        </p:txBody>
      </p:sp>
      <p:pic>
        <p:nvPicPr>
          <p:cNvPr id="11" name="Picture 10" descr="bbb5fdfab9bb65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6048" y="2708148"/>
            <a:ext cx="2249424" cy="35356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2091939" y="3342132"/>
            <a:ext cx="81148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15 dollars for each of 4 lines, plus 6 dollars of tax:</a:t>
            </a:r>
          </a:p>
        </p:txBody>
      </p:sp>
      <p:pic>
        <p:nvPicPr>
          <p:cNvPr id="13" name="Picture 12" descr="452f0d3dea2c60f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49952" y="4079747"/>
            <a:ext cx="2261616" cy="35356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87552" y="4800600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The same words, the same numbers, different structures. Read the situation.</a:t>
            </a:r>
          </a:p>
        </p:txBody>
      </p:sp>
    </p:spTree>
  </p:cSld>
  <p:clrMapOvr>
    <a:masterClrMapping/>
  </p:clrMapOvr>
</p:sld>
</file>

<file path=ppt/slides/slide1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III.  Round once, at the end — and say the unit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0aa366538d8b589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8372" y="1993392"/>
            <a:ext cx="4690872" cy="47853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929244" y="2004060"/>
            <a:ext cx="113106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feet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86879" y="2723388"/>
            <a:ext cx="500280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rounding the side to 14 first:   </a:t>
            </a:r>
          </a:p>
        </p:txBody>
      </p:sp>
      <p:pic>
        <p:nvPicPr>
          <p:cNvPr id="13" name="Picture 12" descr="54bb3b3bdd6a6a1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52521" y="2775204"/>
            <a:ext cx="1728216" cy="35356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880737" y="2723388"/>
            <a:ext cx="113106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feet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7552" y="3496056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Carry the exact value, round once at the end, and write the unit.</a:t>
            </a:r>
          </a:p>
        </p:txBody>
      </p:sp>
    </p:spTree>
  </p:cSld>
  <p:clrMapOvr>
    <a:masterClrMapping/>
  </p:clrMapOvr>
</p:sld>
</file>

<file path=ppt/slides/slide1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26593" y="1842515"/>
            <a:ext cx="308641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Kinetic energy is  </a:t>
            </a:r>
          </a:p>
        </p:txBody>
      </p:sp>
      <p:pic>
        <p:nvPicPr>
          <p:cNvPr id="9" name="Picture 8" descr="5d0fc710cd4502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849" y="1737360"/>
            <a:ext cx="1597152" cy="66751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273001" y="1842515"/>
            <a:ext cx="29908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,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8310" y="2702052"/>
            <a:ext cx="169427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for mass </a:t>
            </a:r>
          </a:p>
        </p:txBody>
      </p:sp>
      <p:pic>
        <p:nvPicPr>
          <p:cNvPr id="12" name="Picture 11" descr="cdb2d0303764b98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95424" y="2827020"/>
            <a:ext cx="307848" cy="20726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103272" y="2702052"/>
            <a:ext cx="41392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in kilograms and speed </a:t>
            </a:r>
          </a:p>
        </p:txBody>
      </p:sp>
      <p:pic>
        <p:nvPicPr>
          <p:cNvPr id="14" name="Picture 13" descr="ed57ccb980491c8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05314" y="2828544"/>
            <a:ext cx="207264" cy="20421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312578" y="2702052"/>
            <a:ext cx="374779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in meters per second.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19904" y="3433572"/>
            <a:ext cx="100467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Find </a:t>
            </a:r>
          </a:p>
        </p:txBody>
      </p:sp>
      <p:pic>
        <p:nvPicPr>
          <p:cNvPr id="17" name="Picture 16" descr="e17610a9e5f4689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87417" y="3526536"/>
            <a:ext cx="234696" cy="27127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822113" y="3433572"/>
            <a:ext cx="775666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for a car of mass 1,200 kg travelling at 15 m/s.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4370832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Give the answer with its unit.</a:t>
            </a:r>
          </a:p>
        </p:txBody>
      </p:sp>
    </p:spTree>
  </p:cSld>
  <p:clrMapOvr>
    <a:masterClrMapping/>
  </p:clrMapOvr>
</p:sld>
</file>

<file path=ppt/slides/slide1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9</a:t>
            </a:r>
          </a:p>
        </p:txBody>
      </p:sp>
      <p:pic>
        <p:nvPicPr>
          <p:cNvPr id="8" name="Picture 7" descr="593a1a205fd7f58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2965704" cy="670560"/>
          </a:xfrm>
          <a:prstGeom prst="rect">
            <a:avLst/>
          </a:prstGeom>
        </p:spPr>
      </p:pic>
      <p:pic>
        <p:nvPicPr>
          <p:cNvPr id="9" name="Picture 8" descr="6c72b1ad8ee77d5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865120"/>
            <a:ext cx="2700528" cy="670560"/>
          </a:xfrm>
          <a:prstGeom prst="rect">
            <a:avLst/>
          </a:prstGeom>
        </p:spPr>
      </p:pic>
      <p:pic>
        <p:nvPicPr>
          <p:cNvPr id="10" name="Picture 9" descr="7be42c48f704a75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810000"/>
            <a:ext cx="3648456" cy="3535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20768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135,000 joules</a:t>
            </a:r>
          </a:p>
        </p:txBody>
      </p:sp>
    </p:spTree>
  </p:cSld>
  <p:clrMapOvr>
    <a:masterClrMapping/>
  </p:clrMapOvr>
</p:sld>
</file>

<file path=ppt/slides/slide1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79479" y="1790700"/>
            <a:ext cx="100467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Find </a:t>
            </a:r>
          </a:p>
        </p:txBody>
      </p:sp>
      <p:pic>
        <p:nvPicPr>
          <p:cNvPr id="9" name="Picture 8" descr="a14dbba8fe39de2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6991" y="1600200"/>
            <a:ext cx="2002536" cy="8382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349527" y="1790700"/>
            <a:ext cx="95216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for  </a:t>
            </a:r>
          </a:p>
        </p:txBody>
      </p:sp>
      <p:pic>
        <p:nvPicPr>
          <p:cNvPr id="11" name="Picture 10" descr="99d0f397928935d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64535" y="1845564"/>
            <a:ext cx="1685544" cy="34747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850079" y="1790700"/>
            <a:ext cx="178619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kg  and  </a:t>
            </a:r>
          </a:p>
        </p:txBody>
      </p:sp>
      <p:pic>
        <p:nvPicPr>
          <p:cNvPr id="13" name="Picture 12" descr="5038fc82b26adb5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99114" y="1847088"/>
            <a:ext cx="1207008" cy="34442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706122" y="1790700"/>
            <a:ext cx="111307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m/s.</a:t>
            </a:r>
          </a:p>
        </p:txBody>
      </p:sp>
    </p:spTree>
  </p:cSld>
  <p:clrMapOvr>
    <a:masterClrMapping/>
  </p:clrMapOvr>
</p:sld>
</file>

<file path=ppt/slides/slide1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77955" y="1790700"/>
            <a:ext cx="100467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Find </a:t>
            </a:r>
          </a:p>
        </p:txBody>
      </p:sp>
      <p:pic>
        <p:nvPicPr>
          <p:cNvPr id="9" name="Picture 8" descr="b636794ba0bbf4a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5467" y="1600200"/>
            <a:ext cx="1999487" cy="8382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344955" y="1790700"/>
            <a:ext cx="95216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for  </a:t>
            </a:r>
          </a:p>
        </p:txBody>
      </p:sp>
      <p:pic>
        <p:nvPicPr>
          <p:cNvPr id="11" name="Picture 10" descr="28ac43e86d9ee64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59963" y="1845564"/>
            <a:ext cx="1688592" cy="34747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848555" y="1790700"/>
            <a:ext cx="178619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kg  and  </a:t>
            </a:r>
          </a:p>
        </p:txBody>
      </p:sp>
      <p:pic>
        <p:nvPicPr>
          <p:cNvPr id="13" name="Picture 12" descr="e1facf4e099fdd1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97590" y="1847088"/>
            <a:ext cx="1210056" cy="34442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707646" y="1790700"/>
            <a:ext cx="111307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m/s.</a:t>
            </a:r>
          </a:p>
        </p:txBody>
      </p:sp>
      <p:pic>
        <p:nvPicPr>
          <p:cNvPr id="15" name="Picture 14" descr="3762f247991bf7e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18688" y="2886456"/>
            <a:ext cx="2112264" cy="301752"/>
          </a:xfrm>
          <a:prstGeom prst="rect">
            <a:avLst/>
          </a:prstGeom>
        </p:spPr>
      </p:pic>
      <p:pic>
        <p:nvPicPr>
          <p:cNvPr id="16" name="Picture 15" descr="ca71fa474550c76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18688" y="3371088"/>
            <a:ext cx="5836920" cy="60655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61,200 joules</a:t>
            </a:r>
          </a:p>
        </p:txBody>
      </p:sp>
    </p:spTree>
  </p:cSld>
  <p:clrMapOvr>
    <a:masterClrMapping/>
  </p:clrMapOvr>
</p:sld>
</file>

<file path=ppt/slides/slide1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square floor of side 9 feet is carpeted.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276458"/>
            <a:ext cx="1060704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Carpet is 2.89 dollars a square foot and padding is 0.75 dollars a square foot.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244927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Installation is a flat 95 dollars. Find the total cost.</a:t>
            </a:r>
          </a:p>
        </p:txBody>
      </p:sp>
    </p:spTree>
  </p:cSld>
  <p:clrMapOvr>
    <a:masterClrMapping/>
  </p:clrMapOvr>
</p:sld>
</file>

<file path=ppt/slides/slide1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13</a:t>
            </a:r>
          </a:p>
        </p:txBody>
      </p:sp>
      <p:pic>
        <p:nvPicPr>
          <p:cNvPr id="8" name="Picture 7" descr="f0ec63a4d8a0e1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3285744" cy="411480"/>
          </a:xfrm>
          <a:prstGeom prst="rect">
            <a:avLst/>
          </a:prstGeom>
        </p:spPr>
      </p:pic>
      <p:pic>
        <p:nvPicPr>
          <p:cNvPr id="9" name="Picture 8" descr="704c60e1909449b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606040"/>
            <a:ext cx="2499360" cy="353568"/>
          </a:xfrm>
          <a:prstGeom prst="rect">
            <a:avLst/>
          </a:prstGeom>
        </p:spPr>
      </p:pic>
      <p:pic>
        <p:nvPicPr>
          <p:cNvPr id="10" name="Picture 9" descr="12efb6d72685203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233928"/>
            <a:ext cx="3825240" cy="28041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389.84 dollars</a:t>
            </a:r>
          </a:p>
        </p:txBody>
      </p:sp>
    </p:spTree>
  </p:cSld>
  <p:clrMapOvr>
    <a:masterClrMapping/>
  </p:clrMapOvr>
</p:sld>
</file>

<file path=ppt/slides/slide1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square bathroom floor of side 6 feet is tiled.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3929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Tile is 4.25 dollars a square foot and grout is a flat 13.48 dollars.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678396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Find the total cost.</a:t>
            </a:r>
          </a:p>
        </p:txBody>
      </p:sp>
    </p:spTree>
  </p:cSld>
  <p:clrMapOvr>
    <a:masterClrMapping/>
  </p:clrMapOvr>
</p:sld>
</file>

<file path=ppt/slides/slide1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square bathroom floor of side 6 feet is tiled.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3929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Tile is 4.25 dollars a square foot and grout is a flat 13.48 dollars.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678396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Find the total cost.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44369" y="3267787"/>
            <a:ext cx="11778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Area:  </a:t>
            </a:r>
          </a:p>
        </p:txBody>
      </p:sp>
      <p:pic>
        <p:nvPicPr>
          <p:cNvPr id="12" name="Picture 11" descr="80d9c9c061edf5c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85031" y="3365323"/>
            <a:ext cx="868680" cy="2621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244369" y="3770707"/>
            <a:ext cx="98389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Tile:  </a:t>
            </a:r>
          </a:p>
        </p:txBody>
      </p:sp>
      <p:pic>
        <p:nvPicPr>
          <p:cNvPr id="14" name="Picture 13" descr="bdbfbcd24be2c88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91099" y="3892627"/>
            <a:ext cx="1886712" cy="2133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244369" y="4273627"/>
            <a:ext cx="119475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Total:  </a:t>
            </a:r>
          </a:p>
        </p:txBody>
      </p:sp>
      <p:pic>
        <p:nvPicPr>
          <p:cNvPr id="16" name="Picture 15" descr="a731fe54239e13b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01966" y="4395547"/>
            <a:ext cx="2618232" cy="21336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77240" y="4845127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166.48 dollars</a:t>
            </a:r>
          </a:p>
        </p:txBody>
      </p:sp>
    </p:spTree>
  </p:cSld>
  <p:clrMapOvr>
    <a:masterClrMapping/>
  </p:clrMapOvr>
</p:sld>
</file>

<file path=ppt/slides/slide1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37404" y="2171700"/>
            <a:ext cx="180607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Evaluate  </a:t>
            </a:r>
          </a:p>
        </p:txBody>
      </p:sp>
      <p:pic>
        <p:nvPicPr>
          <p:cNvPr id="9" name="Picture 8" descr="011b5debc6280b6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06321" y="2229612"/>
            <a:ext cx="569976" cy="34137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76297" y="2171700"/>
            <a:ext cx="14392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when  </a:t>
            </a:r>
          </a:p>
        </p:txBody>
      </p:sp>
      <p:pic>
        <p:nvPicPr>
          <p:cNvPr id="11" name="Picture 10" descr="808745f769ad109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78433" y="2263140"/>
            <a:ext cx="996696" cy="2743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275129" y="2171700"/>
            <a:ext cx="2861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35880" y="2080260"/>
            <a:ext cx="180607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Evaluate  </a:t>
            </a:r>
          </a:p>
        </p:txBody>
      </p:sp>
      <p:pic>
        <p:nvPicPr>
          <p:cNvPr id="9" name="Picture 8" descr="1f66cf6f8dfc2bd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04797" y="2138171"/>
            <a:ext cx="573024" cy="34137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77821" y="2080260"/>
            <a:ext cx="14392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when  </a:t>
            </a:r>
          </a:p>
        </p:txBody>
      </p:sp>
      <p:pic>
        <p:nvPicPr>
          <p:cNvPr id="11" name="Picture 10" descr="808745f769ad109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79957" y="2171700"/>
            <a:ext cx="996696" cy="2743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276653" y="2080260"/>
            <a:ext cx="2861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pic>
        <p:nvPicPr>
          <p:cNvPr id="13" name="Picture 12" descr="f32b4b5eddd9123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64479" y="2910840"/>
            <a:ext cx="1539240" cy="313944"/>
          </a:xfrm>
          <a:prstGeom prst="rect">
            <a:avLst/>
          </a:prstGeom>
        </p:spPr>
      </p:pic>
      <p:pic>
        <p:nvPicPr>
          <p:cNvPr id="14" name="Picture 13" descr="a8317bc2e11e2fe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64479" y="3413759"/>
            <a:ext cx="1115568" cy="313944"/>
          </a:xfrm>
          <a:prstGeom prst="rect">
            <a:avLst/>
          </a:prstGeom>
        </p:spPr>
      </p:pic>
      <p:pic>
        <p:nvPicPr>
          <p:cNvPr id="15" name="Picture 14" descr="946a1754962a1d8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64479" y="3966971"/>
            <a:ext cx="1161288" cy="21336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12</a:t>
            </a:r>
          </a:p>
        </p:txBody>
      </p:sp>
    </p:spTree>
  </p:cSld>
  <p:clrMapOvr>
    <a:masterClrMapping/>
  </p:clrMapOvr>
</p:sld>
</file>

<file path=ppt/slides/slide1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cyclist has a mass of 70 kilograms and rides at 8 meters per second.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Her bicycle cost 480 dollars.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3424759"/>
            <a:ext cx="286515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Kinetic energy is  </a:t>
            </a:r>
          </a:p>
        </p:txBody>
      </p:sp>
      <p:pic>
        <p:nvPicPr>
          <p:cNvPr id="11" name="Picture 10" descr="0bcb023825e8ebc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62437" y="3382087"/>
            <a:ext cx="1298448" cy="5425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260885" y="3424759"/>
            <a:ext cx="220008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,  for a mass  </a:t>
            </a:r>
          </a:p>
        </p:txBody>
      </p:sp>
      <p:pic>
        <p:nvPicPr>
          <p:cNvPr id="13" name="Picture 12" descr="f4653c4bb82321a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23810" y="3569539"/>
            <a:ext cx="246888" cy="16764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570698" y="3424759"/>
            <a:ext cx="23866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and a speed  </a:t>
            </a:r>
          </a:p>
        </p:txBody>
      </p:sp>
      <p:pic>
        <p:nvPicPr>
          <p:cNvPr id="15" name="Picture 14" descr="f5a2a14a06f9d73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20161" y="3571063"/>
            <a:ext cx="167640" cy="16459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987801" y="3424759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412579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Find her kinetic energy.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4847777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cyclist has a mass of 70 kilograms and rides at 8 meters per second.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Her bicycle cost 480 dollars.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3424759"/>
            <a:ext cx="286515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Kinetic energy is  </a:t>
            </a:r>
          </a:p>
        </p:txBody>
      </p:sp>
      <p:pic>
        <p:nvPicPr>
          <p:cNvPr id="11" name="Picture 10" descr="94474fdbb34e34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62437" y="3382087"/>
            <a:ext cx="1304544" cy="5425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266981" y="3424759"/>
            <a:ext cx="220008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,  for a mass  </a:t>
            </a:r>
          </a:p>
        </p:txBody>
      </p:sp>
      <p:pic>
        <p:nvPicPr>
          <p:cNvPr id="13" name="Picture 12" descr="f4653c4bb82321a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29906" y="3569539"/>
            <a:ext cx="246888" cy="16764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576794" y="3424759"/>
            <a:ext cx="23866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and a speed  </a:t>
            </a:r>
          </a:p>
        </p:txBody>
      </p:sp>
      <p:pic>
        <p:nvPicPr>
          <p:cNvPr id="15" name="Picture 14" descr="f5a2a14a06f9d73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26257" y="3571063"/>
            <a:ext cx="167640" cy="16459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993897" y="3424759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412579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Find her kinetic energy.</a:t>
            </a:r>
          </a:p>
        </p:txBody>
      </p:sp>
      <p:pic>
        <p:nvPicPr>
          <p:cNvPr id="18" name="Picture 17" descr="39c59a038134af7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50563" y="4783769"/>
            <a:ext cx="4770120" cy="606552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77240" y="5527481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2,240 joules</a:t>
            </a:r>
          </a:p>
        </p:txBody>
      </p:sp>
    </p:spTree>
  </p:cSld>
  <p:clrMapOvr>
    <a:masterClrMapping/>
  </p:clrMapOvr>
</p:sld>
</file>

<file path=ppt/slides/slide1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94560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180" b="0" i="0">
                <a:solidFill>
                  <a:srgbClr val="1A1A1A"/>
                </a:solidFill>
                <a:latin typeface="Lexend"/>
              </a:rPr>
              <a:t>Renting a kayak costs 17 dollars plus 9 dollars for each hour.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715768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Find the cost of 3 hours.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03120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180" b="0" i="0">
                <a:solidFill>
                  <a:srgbClr val="1A1A1A"/>
                </a:solidFill>
                <a:latin typeface="Lexend"/>
              </a:rPr>
              <a:t>Renting a kayak costs 17 dollars plus 9 dollars for each hour.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624328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Find the cost of 3 hours.</a:t>
            </a:r>
          </a:p>
        </p:txBody>
      </p:sp>
      <p:pic>
        <p:nvPicPr>
          <p:cNvPr id="10" name="Picture 9" descr="4878fd7dba5b8de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34939" y="3351607"/>
            <a:ext cx="1365504" cy="252984"/>
          </a:xfrm>
          <a:prstGeom prst="rect">
            <a:avLst/>
          </a:prstGeom>
        </p:spPr>
      </p:pic>
      <p:pic>
        <p:nvPicPr>
          <p:cNvPr id="11" name="Picture 10" descr="fcf2b27a5b2a715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34939" y="3891103"/>
            <a:ext cx="1801368" cy="25298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44 dollars</a:t>
            </a:r>
          </a:p>
        </p:txBody>
      </p:sp>
    </p:spTree>
  </p:cSld>
  <p:clrMapOvr>
    <a:masterClrMapping/>
  </p:clrMapOvr>
</p:sld>
</file>

<file path=ppt/slides/slide1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94560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180" b="0" i="0">
                <a:solidFill>
                  <a:srgbClr val="1A1A1A"/>
                </a:solidFill>
                <a:latin typeface="Lexend"/>
              </a:rPr>
              <a:t>A square floor of side 8 feet is tiled at 3.50 dollars a square foot.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715768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Installation is a flat 60 dollars.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290647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Find the total cost.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03120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180" b="0" i="0">
                <a:solidFill>
                  <a:srgbClr val="1A1A1A"/>
                </a:solidFill>
                <a:latin typeface="Lexend"/>
              </a:rPr>
              <a:t>A square floor of side 8 feet is tiled at 3.50 dollars a square foot.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624328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Installation is a flat 60 dollars.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199207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Find the total cost.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99461" y="3824378"/>
            <a:ext cx="11778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Area:  </a:t>
            </a:r>
          </a:p>
        </p:txBody>
      </p:sp>
      <p:pic>
        <p:nvPicPr>
          <p:cNvPr id="12" name="Picture 11" descr="db60fa38d81bcb2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40123" y="3923438"/>
            <a:ext cx="896112" cy="25908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599461" y="4327298"/>
            <a:ext cx="98389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Tile:  </a:t>
            </a:r>
          </a:p>
        </p:txBody>
      </p:sp>
      <p:pic>
        <p:nvPicPr>
          <p:cNvPr id="14" name="Picture 13" descr="dad7cd7587acd82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6191" y="4449218"/>
            <a:ext cx="1935480" cy="2133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599461" y="4830218"/>
            <a:ext cx="119475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Total:  </a:t>
            </a:r>
          </a:p>
        </p:txBody>
      </p:sp>
      <p:pic>
        <p:nvPicPr>
          <p:cNvPr id="16" name="Picture 15" descr="2554c3d382c475f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57058" y="4952138"/>
            <a:ext cx="1905000" cy="21336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77240" y="5401718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284 dollars</a:t>
            </a:r>
          </a:p>
        </p:txBody>
      </p:sp>
    </p:spTree>
  </p:cSld>
  <p:clrMapOvr>
    <a:masterClrMapping/>
  </p:clrMapOvr>
</p:sld>
</file>

<file path=ppt/slides/slide2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35998" y="2299715"/>
            <a:ext cx="180607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Evaluate  </a:t>
            </a:r>
          </a:p>
        </p:txBody>
      </p:sp>
      <p:pic>
        <p:nvPicPr>
          <p:cNvPr id="9" name="Picture 8" descr="afdff26349098bc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4915" y="2194560"/>
            <a:ext cx="990599" cy="66751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195515" y="2299715"/>
            <a:ext cx="14392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when  </a:t>
            </a:r>
          </a:p>
        </p:txBody>
      </p:sp>
      <p:pic>
        <p:nvPicPr>
          <p:cNvPr id="11" name="Picture 10" descr="938dd359498bb54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7650" y="2389632"/>
            <a:ext cx="1149096" cy="27736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646746" y="2299715"/>
            <a:ext cx="12019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and  </a:t>
            </a:r>
          </a:p>
        </p:txBody>
      </p:sp>
      <p:pic>
        <p:nvPicPr>
          <p:cNvPr id="13" name="Picture 12" descr="f632c3e74aa9099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11487" y="2391156"/>
            <a:ext cx="765048" cy="2743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476535" y="2299715"/>
            <a:ext cx="2861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136391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is the value?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380271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180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29400" y="380271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120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448851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360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29400" y="448851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3,600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5494351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34474" y="2209800"/>
            <a:ext cx="180607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Evaluate  </a:t>
            </a:r>
          </a:p>
        </p:txBody>
      </p:sp>
      <p:pic>
        <p:nvPicPr>
          <p:cNvPr id="9" name="Picture 8" descr="d1e305187b6b37f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3391" y="2103120"/>
            <a:ext cx="993648" cy="6705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197039" y="2209800"/>
            <a:ext cx="14392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when  </a:t>
            </a:r>
          </a:p>
        </p:txBody>
      </p:sp>
      <p:pic>
        <p:nvPicPr>
          <p:cNvPr id="11" name="Picture 10" descr="68297ebc4f2432d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9174" y="2299715"/>
            <a:ext cx="1149096" cy="27736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648270" y="2209800"/>
            <a:ext cx="12019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and  </a:t>
            </a:r>
          </a:p>
        </p:txBody>
      </p:sp>
      <p:pic>
        <p:nvPicPr>
          <p:cNvPr id="13" name="Picture 12" descr="f632c3e74aa9099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13011" y="2301240"/>
            <a:ext cx="765048" cy="2743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478059" y="2209800"/>
            <a:ext cx="2861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04799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is the value?</a:t>
            </a:r>
          </a:p>
        </p:txBody>
      </p:sp>
      <p:pic>
        <p:nvPicPr>
          <p:cNvPr id="16" name="Picture 15" descr="1adf52fb3089242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47971" y="3749371"/>
            <a:ext cx="1517904" cy="304800"/>
          </a:xfrm>
          <a:prstGeom prst="rect">
            <a:avLst/>
          </a:prstGeom>
        </p:spPr>
      </p:pic>
      <p:pic>
        <p:nvPicPr>
          <p:cNvPr id="17" name="Picture 16" descr="f5a67ba185f37fd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47971" y="4235527"/>
            <a:ext cx="3578352" cy="60655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77240" y="4979239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A — 180</a:t>
            </a:r>
          </a:p>
        </p:txBody>
      </p:sp>
    </p:spTree>
  </p:cSld>
  <p:clrMapOvr>
    <a:masterClrMapping/>
  </p:clrMapOvr>
</p:sld>
</file>

<file path=ppt/slides/slide2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94560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180" b="0" i="0">
                <a:solidFill>
                  <a:srgbClr val="1A1A1A"/>
                </a:solidFill>
                <a:latin typeface="Lexend"/>
              </a:rPr>
              <a:t>A square patio of side 12 feet is sealed at 1.25 dollars a square foot.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715768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Delivery of the sealer is a flat 38 dollars.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290647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expression gives the total cost?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95696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12(1.25) + 38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95696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12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2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 + 1.25 + 38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64276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12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2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(1.25 + 38)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64276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12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2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(1.25) + 38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648606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03120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180" b="0" i="0">
                <a:solidFill>
                  <a:srgbClr val="1A1A1A"/>
                </a:solidFill>
                <a:latin typeface="Lexend"/>
              </a:rPr>
              <a:t>A square patio of side 12 feet is sealed at 1.25 dollars a square foot.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624328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Delivery of the sealer is a flat 38 dollars.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199207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expression gives the total cost?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07950" y="3824378"/>
            <a:ext cx="110638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Area  </a:t>
            </a:r>
          </a:p>
        </p:txBody>
      </p:sp>
      <p:pic>
        <p:nvPicPr>
          <p:cNvPr id="12" name="Picture 11" descr="d6542a78239188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77174" y="3923438"/>
            <a:ext cx="396240" cy="25908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473414" y="3824378"/>
            <a:ext cx="553164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  square feet, at 1.25 dollars each:   </a:t>
            </a:r>
          </a:p>
        </p:txBody>
      </p:sp>
      <p:pic>
        <p:nvPicPr>
          <p:cNvPr id="14" name="Picture 13" descr="6522b013c381f00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7897" y="3921914"/>
            <a:ext cx="1194816" cy="26212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2107950" y="4327298"/>
            <a:ext cx="48466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The 38 dollars is added once:   </a:t>
            </a:r>
          </a:p>
        </p:txBody>
      </p:sp>
      <p:pic>
        <p:nvPicPr>
          <p:cNvPr id="16" name="Picture 15" descr="107f56fc6415d27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17478" y="4424834"/>
            <a:ext cx="2560320" cy="26212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77240" y="4898798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D — 12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(1.25) + 38</a:t>
            </a:r>
          </a:p>
        </p:txBody>
      </p:sp>
    </p:spTree>
  </p:cSld>
  <p:clrMapOvr>
    <a:masterClrMapping/>
  </p:clrMapOvr>
</p:sld>
</file>

<file path=ppt/slides/slide2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80239" y="2205228"/>
            <a:ext cx="590646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A square garden has 4 sides, each  </a:t>
            </a:r>
          </a:p>
        </p:txBody>
      </p:sp>
      <p:pic>
        <p:nvPicPr>
          <p:cNvPr id="9" name="Picture 8" descr="798a5139adaa76f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9547" y="2194560"/>
            <a:ext cx="1063752" cy="47853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613299" y="2205228"/>
            <a:ext cx="190514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feet long.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947416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Find its perimeter, to the nearest hundredth of a foot.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83287" y="2113788"/>
            <a:ext cx="590646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A square garden has 4 sides, each  </a:t>
            </a:r>
          </a:p>
        </p:txBody>
      </p:sp>
      <p:pic>
        <p:nvPicPr>
          <p:cNvPr id="9" name="Picture 8" descr="d8ed0de82c731b9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2595" y="2103120"/>
            <a:ext cx="1057656" cy="47853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610251" y="2113788"/>
            <a:ext cx="190514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feet long.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855975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Find its perimeter, to the nearest hundredth of a foot.</a:t>
            </a:r>
          </a:p>
        </p:txBody>
      </p:sp>
      <p:pic>
        <p:nvPicPr>
          <p:cNvPr id="12" name="Picture 11" descr="aa26d55f7ae6496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52771" y="3504007"/>
            <a:ext cx="2532888" cy="432816"/>
          </a:xfrm>
          <a:prstGeom prst="rect">
            <a:avLst/>
          </a:prstGeom>
        </p:spPr>
      </p:pic>
      <p:pic>
        <p:nvPicPr>
          <p:cNvPr id="13" name="Picture 12" descr="351ed85fae5af76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52771" y="4144087"/>
            <a:ext cx="2968752" cy="25298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48.99 feet</a:t>
            </a:r>
          </a:p>
        </p:txBody>
      </p:sp>
    </p:spTree>
  </p:cSld>
  <p:clrMapOvr>
    <a:masterClrMapping/>
  </p:clrMapOvr>
</p:sld>
</file>

<file path=ppt/slides/slide2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85509" y="2301240"/>
            <a:ext cx="180607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Evaluate  </a:t>
            </a:r>
          </a:p>
        </p:txBody>
      </p:sp>
      <p:pic>
        <p:nvPicPr>
          <p:cNvPr id="9" name="Picture 8" descr="d07fc0815ebc50d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54426" y="2194560"/>
            <a:ext cx="1033271" cy="6705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187698" y="2301240"/>
            <a:ext cx="14392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when  </a:t>
            </a:r>
          </a:p>
        </p:txBody>
      </p:sp>
      <p:pic>
        <p:nvPicPr>
          <p:cNvPr id="11" name="Picture 10" descr="b10d32bef8baa22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9833" y="2392680"/>
            <a:ext cx="789432" cy="2743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279265" y="2301240"/>
            <a:ext cx="4853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,  </a:t>
            </a:r>
          </a:p>
        </p:txBody>
      </p:sp>
      <p:pic>
        <p:nvPicPr>
          <p:cNvPr id="13" name="Picture 12" descr="f4a366969adde49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7429" y="2385060"/>
            <a:ext cx="801624" cy="28956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429053" y="2301240"/>
            <a:ext cx="4853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,  </a:t>
            </a:r>
          </a:p>
        </p:txBody>
      </p:sp>
      <p:pic>
        <p:nvPicPr>
          <p:cNvPr id="15" name="Picture 14" descr="43fbcf2c2a45ea2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77216" y="2392680"/>
            <a:ext cx="749808" cy="27432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527024" y="2301240"/>
            <a:ext cx="2861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83985" y="2211323"/>
            <a:ext cx="180607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Evaluate  </a:t>
            </a:r>
          </a:p>
        </p:txBody>
      </p:sp>
      <p:pic>
        <p:nvPicPr>
          <p:cNvPr id="9" name="Picture 8" descr="e9fde38d04c0ca8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52902" y="2103120"/>
            <a:ext cx="1030224" cy="67360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183126" y="2211323"/>
            <a:ext cx="14392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when  </a:t>
            </a:r>
          </a:p>
        </p:txBody>
      </p:sp>
      <p:pic>
        <p:nvPicPr>
          <p:cNvPr id="11" name="Picture 10" descr="b10d32bef8baa22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5261" y="2302764"/>
            <a:ext cx="789432" cy="2743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274693" y="2211323"/>
            <a:ext cx="4853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,  </a:t>
            </a:r>
          </a:p>
        </p:txBody>
      </p:sp>
      <p:pic>
        <p:nvPicPr>
          <p:cNvPr id="13" name="Picture 12" descr="723048b2d1c4883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2857" y="2295144"/>
            <a:ext cx="804672" cy="28956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427529" y="2211323"/>
            <a:ext cx="4853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,  </a:t>
            </a:r>
          </a:p>
        </p:txBody>
      </p:sp>
      <p:pic>
        <p:nvPicPr>
          <p:cNvPr id="15" name="Picture 14" descr="848bbba5727756a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75692" y="2302764"/>
            <a:ext cx="752856" cy="27432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528548" y="2211323"/>
            <a:ext cx="2861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41556" y="3101340"/>
            <a:ext cx="11413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Top:  </a:t>
            </a:r>
          </a:p>
        </p:txBody>
      </p:sp>
      <p:pic>
        <p:nvPicPr>
          <p:cNvPr id="18" name="Picture 17" descr="6aa77d3d03b7f4a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45699" y="3176016"/>
            <a:ext cx="2874264" cy="307848"/>
          </a:xfrm>
          <a:prstGeom prst="rect">
            <a:avLst/>
          </a:prstGeom>
        </p:spPr>
      </p:pic>
      <p:pic>
        <p:nvPicPr>
          <p:cNvPr id="19" name="Picture 18" descr="aafef2d9b5795f3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196420" y="3742944"/>
            <a:ext cx="1453896" cy="25298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9</a:t>
            </a:r>
          </a:p>
        </p:txBody>
      </p:sp>
    </p:spTree>
  </p:cSld>
  <p:clrMapOvr>
    <a:masterClrMapping/>
  </p:clrMapOvr>
</p:sld>
</file>

<file path=ppt/slides/slide2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94560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180" b="0" i="0">
                <a:solidFill>
                  <a:srgbClr val="1A1A1A"/>
                </a:solidFill>
                <a:latin typeface="Lexend"/>
              </a:rPr>
              <a:t>One pizza order costs 13 dollars plus 2 dollars for each of 5 toppings.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715768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180" b="0" i="0">
                <a:solidFill>
                  <a:srgbClr val="1A1A1A"/>
                </a:solidFill>
                <a:latin typeface="Lexend"/>
              </a:rPr>
              <a:t>Another costs 13 dollars for each of 2 pizzas, plus 5 dollars for delivery.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236976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180" b="0" i="0">
                <a:solidFill>
                  <a:srgbClr val="1A1A1A"/>
                </a:solidFill>
                <a:latin typeface="Lexend"/>
              </a:rPr>
              <a:t>Find both totals, and say why the key words could not have told you.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Write your answer in sentences.</a:t>
            </a:r>
          </a:p>
        </p:txBody>
      </p:sp>
    </p:spTree>
  </p:cSld>
  <p:clrMapOvr>
    <a:masterClrMapping/>
  </p:clrMapOvr>
</p:sld>
</file>

<file path=ppt/slides/slide2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03120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180" b="0" i="0">
                <a:solidFill>
                  <a:srgbClr val="1A1A1A"/>
                </a:solidFill>
                <a:latin typeface="Lexend"/>
              </a:rPr>
              <a:t>One pizza order costs 13 dollars plus 2 dollars for each of 5 toppings.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624328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180" b="0" i="0">
                <a:solidFill>
                  <a:srgbClr val="1A1A1A"/>
                </a:solidFill>
                <a:latin typeface="Lexend"/>
              </a:rPr>
              <a:t>Another costs 13 dollars for each of 2 pizzas, plus 5 dollars for delivery.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145536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180" b="0" i="0">
                <a:solidFill>
                  <a:srgbClr val="1A1A1A"/>
                </a:solidFill>
                <a:latin typeface="Lexend"/>
              </a:rPr>
              <a:t>Find both totals, and say why the key words could not have told you.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49011" y="3717036"/>
            <a:ext cx="203792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First order:  </a:t>
            </a:r>
          </a:p>
        </p:txBody>
      </p:sp>
      <p:pic>
        <p:nvPicPr>
          <p:cNvPr id="12" name="Picture 11" descr="6c563dd1214e96d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49777" y="3838956"/>
            <a:ext cx="2923032" cy="2133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749011" y="4219956"/>
            <a:ext cx="24900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Second order:  </a:t>
            </a:r>
          </a:p>
        </p:txBody>
      </p:sp>
      <p:pic>
        <p:nvPicPr>
          <p:cNvPr id="14" name="Picture 13" descr="cbdd9db0c6bdb06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01885" y="4341876"/>
            <a:ext cx="2764536" cy="2133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749011" y="4722876"/>
            <a:ext cx="880065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Both say "plus" and "for each". What repeats is different.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5294376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23 dollars and 31 dollars</a:t>
            </a:r>
          </a:p>
        </p:txBody>
      </p:sp>
    </p:spTree>
  </p:cSld>
  <p:clrMapOvr>
    <a:masterClrMapping/>
  </p:clrMapOvr>
</p:sld>
</file>

<file path=ppt/slides/slide2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49504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pic>
        <p:nvPicPr>
          <p:cNvPr id="9" name="Picture 8" descr="8e7af367fc956fb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7632" y="1586484"/>
            <a:ext cx="466344" cy="2743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093976" y="1495044"/>
            <a:ext cx="129746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 when  </a:t>
            </a:r>
          </a:p>
        </p:txBody>
      </p:sp>
      <p:pic>
        <p:nvPicPr>
          <p:cNvPr id="11" name="Picture 10" descr="368514c03b325e8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54284" y="1612391"/>
            <a:ext cx="810768" cy="22250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60120" y="2154936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pic>
        <p:nvPicPr>
          <p:cNvPr id="13" name="Picture 12" descr="76e92664c8540a7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27632" y="2112263"/>
            <a:ext cx="807720" cy="54254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435352" y="2154936"/>
            <a:ext cx="129746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 when  </a:t>
            </a:r>
          </a:p>
        </p:txBody>
      </p:sp>
      <p:pic>
        <p:nvPicPr>
          <p:cNvPr id="15" name="Picture 14" descr="0531a46c557d60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95660" y="2270759"/>
            <a:ext cx="908304" cy="22555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503964" y="2154936"/>
            <a:ext cx="10875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 and  </a:t>
            </a:r>
          </a:p>
        </p:txBody>
      </p:sp>
      <p:pic>
        <p:nvPicPr>
          <p:cNvPr id="17" name="Picture 16" descr="db6b9bf3d6868ca7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54305" y="2273807"/>
            <a:ext cx="649224" cy="21945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960120" y="288188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pic>
        <p:nvPicPr>
          <p:cNvPr id="19" name="Picture 18" descr="2ccaff4dbf2c8eb3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27632" y="2837687"/>
            <a:ext cx="841248" cy="545592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2468880" y="2881883"/>
            <a:ext cx="129746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 when  </a:t>
            </a:r>
          </a:p>
        </p:txBody>
      </p:sp>
      <p:pic>
        <p:nvPicPr>
          <p:cNvPr id="21" name="Picture 20" descr="bd1f822a1acce55c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629188" y="2997707"/>
            <a:ext cx="646176" cy="225552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4275364" y="2881883"/>
            <a:ext cx="4536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,  </a:t>
            </a:r>
          </a:p>
        </p:txBody>
      </p:sp>
      <p:pic>
        <p:nvPicPr>
          <p:cNvPr id="23" name="Picture 22" descr="ca3738318bc6ad64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591805" y="2993135"/>
            <a:ext cx="630936" cy="234696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5222741" y="2881883"/>
            <a:ext cx="4536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,  </a:t>
            </a:r>
          </a:p>
        </p:txBody>
      </p:sp>
      <p:pic>
        <p:nvPicPr>
          <p:cNvPr id="25" name="Picture 24" descr="26463fb98544f316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539182" y="3000755"/>
            <a:ext cx="609600" cy="219456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960120" y="3543299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4.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54480" y="3543299"/>
            <a:ext cx="954401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A square room of side 10 feet is carpeted at 2.65 dollars a square 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54480" y="3982211"/>
            <a:ext cx="809307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foot, with a flat 55 dollars for fitting. Find the total cost.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0120" y="4576571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5.</a:t>
            </a:r>
          </a:p>
        </p:txBody>
      </p:sp>
      <p:pic>
        <p:nvPicPr>
          <p:cNvPr id="30" name="Picture 29" descr="51cdd467e13c212c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627632" y="4631436"/>
            <a:ext cx="1627632" cy="347472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3255264" y="4576571"/>
            <a:ext cx="129746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 when  </a:t>
            </a:r>
          </a:p>
        </p:txBody>
      </p:sp>
      <p:pic>
        <p:nvPicPr>
          <p:cNvPr id="32" name="Picture 31" descr="213bf21424f7f3b9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415572" y="4695444"/>
            <a:ext cx="646176" cy="219456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5061748" y="4576571"/>
            <a:ext cx="10875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 and  </a:t>
            </a:r>
          </a:p>
        </p:txBody>
      </p:sp>
      <p:pic>
        <p:nvPicPr>
          <p:cNvPr id="34" name="Picture 33" descr="393881ab0a530490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012089" y="4657344"/>
            <a:ext cx="612648" cy="295656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960120" y="5170931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6.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554480" y="5170931"/>
            <a:ext cx="985119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A gym charges 25 dollars to join plus 8 dollars for each of 6 classes. 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554480" y="5609844"/>
            <a:ext cx="286116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Find the total cost.</a:t>
            </a:r>
          </a:p>
        </p:txBody>
      </p:sp>
    </p:spTree>
  </p:cSld>
  <p:clrMapOvr>
    <a:masterClrMapping/>
  </p:clrMapOvr>
</p:sld>
</file>

<file path=ppt/slides/slide2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Open IXL and start today's skills.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Work on paper where the question needs work. The answer box does not show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Every skill listed is required, to a SmartScore of 67. Due at the start of the next class.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1A1A1A"/>
                </a:solidFill>
                <a:latin typeface="Lexend"/>
              </a:rPr>
              <a:t>Today's skills — all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Evaluate variable expressions: word problems — DPG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