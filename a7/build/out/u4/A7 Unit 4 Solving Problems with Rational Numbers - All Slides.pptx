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38.xml"/><Relationship Id="rId4" Type="http://schemas.openxmlformats.org/officeDocument/2006/relationships/slide" Target="slide73.xml"/><Relationship Id="rId5" Type="http://schemas.openxmlformats.org/officeDocument/2006/relationships/slide" Target="slide108.xml"/><Relationship Id="rId6" Type="http://schemas.openxmlformats.org/officeDocument/2006/relationships/slide" Target="slide143.xml"/><Relationship Id="rId7" Type="http://schemas.openxmlformats.org/officeDocument/2006/relationships/slide" Target="slide17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image" Target="../media/image88.png"/><Relationship Id="rId4" Type="http://schemas.openxmlformats.org/officeDocument/2006/relationships/image" Target="../media/image89.png"/><Relationship Id="rId5" Type="http://schemas.openxmlformats.org/officeDocument/2006/relationships/image" Target="../media/image90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image" Target="../media/image100.png"/><Relationship Id="rId4" Type="http://schemas.openxmlformats.org/officeDocument/2006/relationships/image" Target="../media/image10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Relationship Id="rId5" Type="http://schemas.openxmlformats.org/officeDocument/2006/relationships/image" Target="../media/image115.png"/><Relationship Id="rId6" Type="http://schemas.openxmlformats.org/officeDocument/2006/relationships/image" Target="../media/image116.png"/><Relationship Id="rId7" Type="http://schemas.openxmlformats.org/officeDocument/2006/relationships/image" Target="../media/image11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image" Target="../media/image124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Relationship Id="rId5" Type="http://schemas.openxmlformats.org/officeDocument/2006/relationships/image" Target="../media/image13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4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Relationship Id="rId4" Type="http://schemas.openxmlformats.org/officeDocument/2006/relationships/image" Target="../media/image153.png"/><Relationship Id="rId5" Type="http://schemas.openxmlformats.org/officeDocument/2006/relationships/image" Target="../media/image154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png"/><Relationship Id="rId3" Type="http://schemas.openxmlformats.org/officeDocument/2006/relationships/image" Target="../media/image7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Relationship Id="rId3" Type="http://schemas.openxmlformats.org/officeDocument/2006/relationships/image" Target="../media/image7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Relationship Id="rId6" Type="http://schemas.openxmlformats.org/officeDocument/2006/relationships/image" Target="../media/image159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64.png"/><Relationship Id="rId4" Type="http://schemas.openxmlformats.org/officeDocument/2006/relationships/image" Target="../media/image165.png"/><Relationship Id="rId5" Type="http://schemas.openxmlformats.org/officeDocument/2006/relationships/image" Target="../media/image166.png"/><Relationship Id="rId6" Type="http://schemas.openxmlformats.org/officeDocument/2006/relationships/image" Target="../media/image167.png"/><Relationship Id="rId7" Type="http://schemas.openxmlformats.org/officeDocument/2006/relationships/image" Target="../media/image168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Relationship Id="rId3" Type="http://schemas.openxmlformats.org/officeDocument/2006/relationships/image" Target="../media/image170.png"/><Relationship Id="rId4" Type="http://schemas.openxmlformats.org/officeDocument/2006/relationships/image" Target="../media/image171.png"/><Relationship Id="rId5" Type="http://schemas.openxmlformats.org/officeDocument/2006/relationships/image" Target="../media/image172.png"/><Relationship Id="rId6" Type="http://schemas.openxmlformats.org/officeDocument/2006/relationships/image" Target="../media/image173.png"/><Relationship Id="rId7" Type="http://schemas.openxmlformats.org/officeDocument/2006/relationships/image" Target="../media/image81.png"/><Relationship Id="rId8" Type="http://schemas.openxmlformats.org/officeDocument/2006/relationships/image" Target="../media/image17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png"/><Relationship Id="rId3" Type="http://schemas.openxmlformats.org/officeDocument/2006/relationships/image" Target="../media/image178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Relationship Id="rId3" Type="http://schemas.openxmlformats.org/officeDocument/2006/relationships/image" Target="../media/image180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Relationship Id="rId3" Type="http://schemas.openxmlformats.org/officeDocument/2006/relationships/image" Target="../media/image18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png"/><Relationship Id="rId3" Type="http://schemas.openxmlformats.org/officeDocument/2006/relationships/image" Target="../media/image184.png"/><Relationship Id="rId4" Type="http://schemas.openxmlformats.org/officeDocument/2006/relationships/image" Target="../media/image185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image" Target="../media/image18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image" Target="../media/image189.png"/><Relationship Id="rId4" Type="http://schemas.openxmlformats.org/officeDocument/2006/relationships/image" Target="../media/image190.png"/><Relationship Id="rId5" Type="http://schemas.openxmlformats.org/officeDocument/2006/relationships/image" Target="../media/image191.png"/><Relationship Id="rId6" Type="http://schemas.openxmlformats.org/officeDocument/2006/relationships/image" Target="../media/image192.png"/><Relationship Id="rId7" Type="http://schemas.openxmlformats.org/officeDocument/2006/relationships/image" Target="../media/image19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png"/><Relationship Id="rId3" Type="http://schemas.openxmlformats.org/officeDocument/2006/relationships/image" Target="../media/image195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Relationship Id="rId4" Type="http://schemas.openxmlformats.org/officeDocument/2006/relationships/image" Target="../media/image19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png"/><Relationship Id="rId3" Type="http://schemas.openxmlformats.org/officeDocument/2006/relationships/image" Target="../media/image200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Relationship Id="rId3" Type="http://schemas.openxmlformats.org/officeDocument/2006/relationships/image" Target="../media/image202.png"/><Relationship Id="rId4" Type="http://schemas.openxmlformats.org/officeDocument/2006/relationships/image" Target="../media/image203.png"/><Relationship Id="rId5" Type="http://schemas.openxmlformats.org/officeDocument/2006/relationships/image" Target="../media/image204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Relationship Id="rId3" Type="http://schemas.openxmlformats.org/officeDocument/2006/relationships/image" Target="../media/image206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png"/><Relationship Id="rId3" Type="http://schemas.openxmlformats.org/officeDocument/2006/relationships/image" Target="../media/image208.png"/><Relationship Id="rId4" Type="http://schemas.openxmlformats.org/officeDocument/2006/relationships/image" Target="../media/image209.png"/><Relationship Id="rId5" Type="http://schemas.openxmlformats.org/officeDocument/2006/relationships/image" Target="../media/image210.png"/><Relationship Id="rId6" Type="http://schemas.openxmlformats.org/officeDocument/2006/relationships/image" Target="../media/image211.png"/><Relationship Id="rId7" Type="http://schemas.openxmlformats.org/officeDocument/2006/relationships/image" Target="../media/image21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png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png"/><Relationship Id="rId3" Type="http://schemas.openxmlformats.org/officeDocument/2006/relationships/image" Target="../media/image22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image" Target="../media/image223.png"/><Relationship Id="rId4" Type="http://schemas.openxmlformats.org/officeDocument/2006/relationships/image" Target="../media/image224.png"/><Relationship Id="rId5" Type="http://schemas.openxmlformats.org/officeDocument/2006/relationships/image" Target="../media/image191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png"/><Relationship Id="rId3" Type="http://schemas.openxmlformats.org/officeDocument/2006/relationships/image" Target="../media/image229.png"/><Relationship Id="rId4" Type="http://schemas.openxmlformats.org/officeDocument/2006/relationships/image" Target="../media/image207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png"/><Relationship Id="rId3" Type="http://schemas.openxmlformats.org/officeDocument/2006/relationships/image" Target="../media/image23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png"/><Relationship Id="rId3" Type="http://schemas.openxmlformats.org/officeDocument/2006/relationships/image" Target="../media/image233.png"/><Relationship Id="rId4" Type="http://schemas.openxmlformats.org/officeDocument/2006/relationships/image" Target="../media/image234.png"/><Relationship Id="rId5" Type="http://schemas.openxmlformats.org/officeDocument/2006/relationships/image" Target="../media/image235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image" Target="../media/image237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image" Target="../media/image239.png"/><Relationship Id="rId4" Type="http://schemas.openxmlformats.org/officeDocument/2006/relationships/image" Target="../media/image240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png"/><Relationship Id="rId3" Type="http://schemas.openxmlformats.org/officeDocument/2006/relationships/image" Target="../media/image242.png"/><Relationship Id="rId4" Type="http://schemas.openxmlformats.org/officeDocument/2006/relationships/image" Target="../media/image243.png"/><Relationship Id="rId5" Type="http://schemas.openxmlformats.org/officeDocument/2006/relationships/image" Target="../media/image244.png"/><Relationship Id="rId6" Type="http://schemas.openxmlformats.org/officeDocument/2006/relationships/image" Target="../media/image245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Relationship Id="rId3" Type="http://schemas.openxmlformats.org/officeDocument/2006/relationships/image" Target="../media/image247.png"/><Relationship Id="rId4" Type="http://schemas.openxmlformats.org/officeDocument/2006/relationships/image" Target="../media/image248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Relationship Id="rId3" Type="http://schemas.openxmlformats.org/officeDocument/2006/relationships/image" Target="../media/image247.png"/><Relationship Id="rId4" Type="http://schemas.openxmlformats.org/officeDocument/2006/relationships/image" Target="../media/image248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Relationship Id="rId4" Type="http://schemas.openxmlformats.org/officeDocument/2006/relationships/image" Target="../media/image251.png"/><Relationship Id="rId5" Type="http://schemas.openxmlformats.org/officeDocument/2006/relationships/image" Target="../media/image252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png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png"/><Relationship Id="rId3" Type="http://schemas.openxmlformats.org/officeDocument/2006/relationships/image" Target="../media/image258.png"/><Relationship Id="rId4" Type="http://schemas.openxmlformats.org/officeDocument/2006/relationships/image" Target="../media/image259.png"/><Relationship Id="rId5" Type="http://schemas.openxmlformats.org/officeDocument/2006/relationships/image" Target="../media/image260.png"/><Relationship Id="rId6" Type="http://schemas.openxmlformats.org/officeDocument/2006/relationships/image" Target="../media/image26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png"/><Relationship Id="rId3" Type="http://schemas.openxmlformats.org/officeDocument/2006/relationships/image" Target="../media/image263.png"/><Relationship Id="rId4" Type="http://schemas.openxmlformats.org/officeDocument/2006/relationships/image" Target="../media/image264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5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6.png"/><Relationship Id="rId3" Type="http://schemas.openxmlformats.org/officeDocument/2006/relationships/image" Target="../media/image254.png"/><Relationship Id="rId4" Type="http://schemas.openxmlformats.org/officeDocument/2006/relationships/image" Target="../media/image267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8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png"/><Relationship Id="rId3" Type="http://schemas.openxmlformats.org/officeDocument/2006/relationships/image" Target="../media/image270.png"/><Relationship Id="rId4" Type="http://schemas.openxmlformats.org/officeDocument/2006/relationships/image" Target="../media/image271.png"/><Relationship Id="rId5" Type="http://schemas.openxmlformats.org/officeDocument/2006/relationships/image" Target="../media/image272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3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4.png"/><Relationship Id="rId3" Type="http://schemas.openxmlformats.org/officeDocument/2006/relationships/image" Target="../media/image275.png"/><Relationship Id="rId4" Type="http://schemas.openxmlformats.org/officeDocument/2006/relationships/image" Target="../media/image276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7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image" Target="../media/image279.png"/><Relationship Id="rId4" Type="http://schemas.openxmlformats.org/officeDocument/2006/relationships/image" Target="../media/image280.png"/><Relationship Id="rId5" Type="http://schemas.openxmlformats.org/officeDocument/2006/relationships/image" Target="../media/image28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png"/><Relationship Id="rId3" Type="http://schemas.openxmlformats.org/officeDocument/2006/relationships/image" Target="../media/image284.png"/><Relationship Id="rId4" Type="http://schemas.openxmlformats.org/officeDocument/2006/relationships/image" Target="../media/image285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6.png"/><Relationship Id="rId3" Type="http://schemas.openxmlformats.org/officeDocument/2006/relationships/image" Target="../media/image28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9.png"/><Relationship Id="rId3" Type="http://schemas.openxmlformats.org/officeDocument/2006/relationships/image" Target="../media/image290.png"/><Relationship Id="rId4" Type="http://schemas.openxmlformats.org/officeDocument/2006/relationships/image" Target="../media/image29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2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png"/><Relationship Id="rId3" Type="http://schemas.openxmlformats.org/officeDocument/2006/relationships/image" Target="../media/image294.png"/><Relationship Id="rId4" Type="http://schemas.openxmlformats.org/officeDocument/2006/relationships/image" Target="../media/image295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6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7.png"/><Relationship Id="rId3" Type="http://schemas.openxmlformats.org/officeDocument/2006/relationships/image" Target="../media/image298.png"/><Relationship Id="rId4" Type="http://schemas.openxmlformats.org/officeDocument/2006/relationships/image" Target="../media/image299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0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png"/><Relationship Id="rId3" Type="http://schemas.openxmlformats.org/officeDocument/2006/relationships/image" Target="../media/image302.png"/><Relationship Id="rId4" Type="http://schemas.openxmlformats.org/officeDocument/2006/relationships/image" Target="../media/image303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png"/><Relationship Id="rId3" Type="http://schemas.openxmlformats.org/officeDocument/2006/relationships/image" Target="../media/image306.png"/><Relationship Id="rId4" Type="http://schemas.openxmlformats.org/officeDocument/2006/relationships/image" Target="../media/image307.png"/><Relationship Id="rId5" Type="http://schemas.openxmlformats.org/officeDocument/2006/relationships/image" Target="../media/image308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9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0.png"/><Relationship Id="rId3" Type="http://schemas.openxmlformats.org/officeDocument/2006/relationships/image" Target="../media/image311.png"/><Relationship Id="rId4" Type="http://schemas.openxmlformats.org/officeDocument/2006/relationships/image" Target="../media/image312.png"/><Relationship Id="rId5" Type="http://schemas.openxmlformats.org/officeDocument/2006/relationships/image" Target="../media/image313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4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png"/><Relationship Id="rId3" Type="http://schemas.openxmlformats.org/officeDocument/2006/relationships/image" Target="../media/image316.png"/><Relationship Id="rId4" Type="http://schemas.openxmlformats.org/officeDocument/2006/relationships/image" Target="../media/image317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png"/><Relationship Id="rId3" Type="http://schemas.openxmlformats.org/officeDocument/2006/relationships/image" Target="../media/image319.png"/><Relationship Id="rId4" Type="http://schemas.openxmlformats.org/officeDocument/2006/relationships/image" Target="../media/image320.png"/><Relationship Id="rId5" Type="http://schemas.openxmlformats.org/officeDocument/2006/relationships/image" Target="../media/image321.png"/><Relationship Id="rId6" Type="http://schemas.openxmlformats.org/officeDocument/2006/relationships/image" Target="../media/image322.png"/><Relationship Id="rId7" Type="http://schemas.openxmlformats.org/officeDocument/2006/relationships/image" Target="../media/image323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4.png"/><Relationship Id="rId3" Type="http://schemas.openxmlformats.org/officeDocument/2006/relationships/image" Target="../media/image325.png"/><Relationship Id="rId4" Type="http://schemas.openxmlformats.org/officeDocument/2006/relationships/image" Target="../media/image326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4.png"/><Relationship Id="rId3" Type="http://schemas.openxmlformats.org/officeDocument/2006/relationships/image" Target="../media/image325.png"/><Relationship Id="rId4" Type="http://schemas.openxmlformats.org/officeDocument/2006/relationships/image" Target="../media/image326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png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1.png"/><Relationship Id="rId3" Type="http://schemas.openxmlformats.org/officeDocument/2006/relationships/image" Target="../media/image332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4.png"/><Relationship Id="rId3" Type="http://schemas.openxmlformats.org/officeDocument/2006/relationships/image" Target="../media/image335.png"/><Relationship Id="rId4" Type="http://schemas.openxmlformats.org/officeDocument/2006/relationships/image" Target="../media/image336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8.png"/><Relationship Id="rId3" Type="http://schemas.openxmlformats.org/officeDocument/2006/relationships/image" Target="../media/image339.png"/><Relationship Id="rId4" Type="http://schemas.openxmlformats.org/officeDocument/2006/relationships/image" Target="../media/image257.png"/><Relationship Id="rId5" Type="http://schemas.openxmlformats.org/officeDocument/2006/relationships/image" Target="../media/image340.png"/><Relationship Id="rId6" Type="http://schemas.openxmlformats.org/officeDocument/2006/relationships/image" Target="../media/image34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2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3.png"/><Relationship Id="rId3" Type="http://schemas.openxmlformats.org/officeDocument/2006/relationships/image" Target="../media/image344.png"/><Relationship Id="rId4" Type="http://schemas.openxmlformats.org/officeDocument/2006/relationships/image" Target="../media/image345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6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7.png"/><Relationship Id="rId3" Type="http://schemas.openxmlformats.org/officeDocument/2006/relationships/image" Target="../media/image348.png"/><Relationship Id="rId4" Type="http://schemas.openxmlformats.org/officeDocument/2006/relationships/image" Target="../media/image349.png"/><Relationship Id="rId5" Type="http://schemas.openxmlformats.org/officeDocument/2006/relationships/image" Target="../media/image350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2.png"/><Relationship Id="rId3" Type="http://schemas.openxmlformats.org/officeDocument/2006/relationships/image" Target="../media/image353.png"/><Relationship Id="rId4" Type="http://schemas.openxmlformats.org/officeDocument/2006/relationships/image" Target="../media/image3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5.png"/><Relationship Id="rId3" Type="http://schemas.openxmlformats.org/officeDocument/2006/relationships/image" Target="../media/image356.png"/><Relationship Id="rId4" Type="http://schemas.openxmlformats.org/officeDocument/2006/relationships/image" Target="../media/image357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8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9.png"/><Relationship Id="rId3" Type="http://schemas.openxmlformats.org/officeDocument/2006/relationships/image" Target="../media/image360.png"/><Relationship Id="rId4" Type="http://schemas.openxmlformats.org/officeDocument/2006/relationships/image" Target="../media/image36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3.png"/><Relationship Id="rId3" Type="http://schemas.openxmlformats.org/officeDocument/2006/relationships/image" Target="../media/image364.png"/><Relationship Id="rId4" Type="http://schemas.openxmlformats.org/officeDocument/2006/relationships/image" Target="../media/image365.png"/><Relationship Id="rId5" Type="http://schemas.openxmlformats.org/officeDocument/2006/relationships/image" Target="../media/image366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7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8.png"/><Relationship Id="rId3" Type="http://schemas.openxmlformats.org/officeDocument/2006/relationships/image" Target="../media/image369.png"/><Relationship Id="rId4" Type="http://schemas.openxmlformats.org/officeDocument/2006/relationships/image" Target="../media/image370.png"/><Relationship Id="rId5" Type="http://schemas.openxmlformats.org/officeDocument/2006/relationships/image" Target="../media/image37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2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3.png"/><Relationship Id="rId3" Type="http://schemas.openxmlformats.org/officeDocument/2006/relationships/image" Target="../media/image374.png"/><Relationship Id="rId4" Type="http://schemas.openxmlformats.org/officeDocument/2006/relationships/image" Target="../media/image375.png"/><Relationship Id="rId5" Type="http://schemas.openxmlformats.org/officeDocument/2006/relationships/image" Target="../media/image37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8.png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2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3.png"/><Relationship Id="rId3" Type="http://schemas.openxmlformats.org/officeDocument/2006/relationships/image" Target="../media/image384.png"/><Relationship Id="rId4" Type="http://schemas.openxmlformats.org/officeDocument/2006/relationships/image" Target="../media/image385.png"/><Relationship Id="rId5" Type="http://schemas.openxmlformats.org/officeDocument/2006/relationships/image" Target="../media/image386.png"/><Relationship Id="rId6" Type="http://schemas.openxmlformats.org/officeDocument/2006/relationships/image" Target="../media/image387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8.png"/><Relationship Id="rId3" Type="http://schemas.openxmlformats.org/officeDocument/2006/relationships/image" Target="../media/image7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9.png"/><Relationship Id="rId3" Type="http://schemas.openxmlformats.org/officeDocument/2006/relationships/image" Target="../media/image7.png"/><Relationship Id="rId4" Type="http://schemas.openxmlformats.org/officeDocument/2006/relationships/image" Target="../media/image390.png"/><Relationship Id="rId5" Type="http://schemas.openxmlformats.org/officeDocument/2006/relationships/image" Target="../media/image391.png"/><Relationship Id="rId6" Type="http://schemas.openxmlformats.org/officeDocument/2006/relationships/image" Target="../media/image39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3.png"/><Relationship Id="rId3" Type="http://schemas.openxmlformats.org/officeDocument/2006/relationships/image" Target="../media/image394.png"/><Relationship Id="rId4" Type="http://schemas.openxmlformats.org/officeDocument/2006/relationships/image" Target="../media/image395.png"/><Relationship Id="rId5" Type="http://schemas.openxmlformats.org/officeDocument/2006/relationships/image" Target="../media/image396.png"/><Relationship Id="rId6" Type="http://schemas.openxmlformats.org/officeDocument/2006/relationships/image" Target="../media/image397.png"/><Relationship Id="rId7" Type="http://schemas.openxmlformats.org/officeDocument/2006/relationships/image" Target="../media/image398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9.png"/><Relationship Id="rId3" Type="http://schemas.openxmlformats.org/officeDocument/2006/relationships/image" Target="../media/image400.png"/><Relationship Id="rId4" Type="http://schemas.openxmlformats.org/officeDocument/2006/relationships/image" Target="../media/image401.png"/><Relationship Id="rId5" Type="http://schemas.openxmlformats.org/officeDocument/2006/relationships/image" Target="../media/image402.png"/><Relationship Id="rId6" Type="http://schemas.openxmlformats.org/officeDocument/2006/relationships/image" Target="../media/image403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9.png"/><Relationship Id="rId3" Type="http://schemas.openxmlformats.org/officeDocument/2006/relationships/image" Target="../media/image400.png"/><Relationship Id="rId4" Type="http://schemas.openxmlformats.org/officeDocument/2006/relationships/image" Target="../media/image401.png"/><Relationship Id="rId5" Type="http://schemas.openxmlformats.org/officeDocument/2006/relationships/image" Target="../media/image402.png"/><Relationship Id="rId6" Type="http://schemas.openxmlformats.org/officeDocument/2006/relationships/image" Target="../media/image403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4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5.png"/><Relationship Id="rId3" Type="http://schemas.openxmlformats.org/officeDocument/2006/relationships/image" Target="../media/image406.png"/><Relationship Id="rId4" Type="http://schemas.openxmlformats.org/officeDocument/2006/relationships/image" Target="../media/image407.png"/><Relationship Id="rId5" Type="http://schemas.openxmlformats.org/officeDocument/2006/relationships/image" Target="../media/image408.png"/><Relationship Id="rId6" Type="http://schemas.openxmlformats.org/officeDocument/2006/relationships/image" Target="../media/image409.png"/><Relationship Id="rId7" Type="http://schemas.openxmlformats.org/officeDocument/2006/relationships/image" Target="../media/image410.png"/><Relationship Id="rId8" Type="http://schemas.openxmlformats.org/officeDocument/2006/relationships/image" Target="../media/image41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2.png"/><Relationship Id="rId3" Type="http://schemas.openxmlformats.org/officeDocument/2006/relationships/image" Target="../media/image4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4.png"/><Relationship Id="rId3" Type="http://schemas.openxmlformats.org/officeDocument/2006/relationships/image" Target="../media/image415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4.png"/><Relationship Id="rId3" Type="http://schemas.openxmlformats.org/officeDocument/2006/relationships/image" Target="../media/image416.png"/><Relationship Id="rId4" Type="http://schemas.openxmlformats.org/officeDocument/2006/relationships/image" Target="../media/image417.png"/><Relationship Id="rId5" Type="http://schemas.openxmlformats.org/officeDocument/2006/relationships/image" Target="../media/image418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9.png"/><Relationship Id="rId3" Type="http://schemas.openxmlformats.org/officeDocument/2006/relationships/image" Target="../media/image420.png"/><Relationship Id="rId4" Type="http://schemas.openxmlformats.org/officeDocument/2006/relationships/image" Target="../media/image42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4.png"/><Relationship Id="rId3" Type="http://schemas.openxmlformats.org/officeDocument/2006/relationships/image" Target="../media/image422.png"/><Relationship Id="rId4" Type="http://schemas.openxmlformats.org/officeDocument/2006/relationships/image" Target="../media/image423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5.png"/><Relationship Id="rId3" Type="http://schemas.openxmlformats.org/officeDocument/2006/relationships/image" Target="../media/image424.png"/><Relationship Id="rId4" Type="http://schemas.openxmlformats.org/officeDocument/2006/relationships/image" Target="../media/image425.png"/><Relationship Id="rId5" Type="http://schemas.openxmlformats.org/officeDocument/2006/relationships/image" Target="../media/image426.png"/><Relationship Id="rId6" Type="http://schemas.openxmlformats.org/officeDocument/2006/relationships/image" Target="../media/image427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8.png"/><Relationship Id="rId3" Type="http://schemas.openxmlformats.org/officeDocument/2006/relationships/image" Target="../media/image429.png"/><Relationship Id="rId4" Type="http://schemas.openxmlformats.org/officeDocument/2006/relationships/image" Target="../media/image430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1.png"/><Relationship Id="rId3" Type="http://schemas.openxmlformats.org/officeDocument/2006/relationships/image" Target="../media/image432.png"/><Relationship Id="rId4" Type="http://schemas.openxmlformats.org/officeDocument/2006/relationships/image" Target="../media/image43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4.png"/><Relationship Id="rId3" Type="http://schemas.openxmlformats.org/officeDocument/2006/relationships/image" Target="../media/image435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6.png"/><Relationship Id="rId3" Type="http://schemas.openxmlformats.org/officeDocument/2006/relationships/image" Target="../media/image435.png"/><Relationship Id="rId4" Type="http://schemas.openxmlformats.org/officeDocument/2006/relationships/image" Target="../media/image437.png"/><Relationship Id="rId5" Type="http://schemas.openxmlformats.org/officeDocument/2006/relationships/image" Target="../media/image380.png"/><Relationship Id="rId6" Type="http://schemas.openxmlformats.org/officeDocument/2006/relationships/image" Target="../media/image438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4.png"/><Relationship Id="rId3" Type="http://schemas.openxmlformats.org/officeDocument/2006/relationships/image" Target="../media/image416.png"/><Relationship Id="rId4" Type="http://schemas.openxmlformats.org/officeDocument/2006/relationships/image" Target="../media/image417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5.png"/><Relationship Id="rId3" Type="http://schemas.openxmlformats.org/officeDocument/2006/relationships/image" Target="../media/image416.png"/><Relationship Id="rId4" Type="http://schemas.openxmlformats.org/officeDocument/2006/relationships/image" Target="../media/image417.png"/><Relationship Id="rId5" Type="http://schemas.openxmlformats.org/officeDocument/2006/relationships/image" Target="../media/image439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0.png"/><Relationship Id="rId3" Type="http://schemas.openxmlformats.org/officeDocument/2006/relationships/image" Target="../media/image44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2.png"/><Relationship Id="rId3" Type="http://schemas.openxmlformats.org/officeDocument/2006/relationships/image" Target="../media/image443.png"/><Relationship Id="rId4" Type="http://schemas.openxmlformats.org/officeDocument/2006/relationships/image" Target="../media/image444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5.png"/><Relationship Id="rId3" Type="http://schemas.openxmlformats.org/officeDocument/2006/relationships/image" Target="../media/image446.png"/><Relationship Id="rId4" Type="http://schemas.openxmlformats.org/officeDocument/2006/relationships/image" Target="../media/image447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8.png"/><Relationship Id="rId3" Type="http://schemas.openxmlformats.org/officeDocument/2006/relationships/image" Target="../media/image449.png"/><Relationship Id="rId4" Type="http://schemas.openxmlformats.org/officeDocument/2006/relationships/image" Target="../media/image447.png"/><Relationship Id="rId5" Type="http://schemas.openxmlformats.org/officeDocument/2006/relationships/image" Target="../media/image450.png"/><Relationship Id="rId6" Type="http://schemas.openxmlformats.org/officeDocument/2006/relationships/image" Target="../media/image45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2.png"/><Relationship Id="rId3" Type="http://schemas.openxmlformats.org/officeDocument/2006/relationships/image" Target="../media/image453.png"/><Relationship Id="rId4" Type="http://schemas.openxmlformats.org/officeDocument/2006/relationships/image" Target="../media/image454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5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6.png"/><Relationship Id="rId3" Type="http://schemas.openxmlformats.org/officeDocument/2006/relationships/image" Target="../media/image457.png"/><Relationship Id="rId4" Type="http://schemas.openxmlformats.org/officeDocument/2006/relationships/image" Target="../media/image458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9.png"/><Relationship Id="rId3" Type="http://schemas.openxmlformats.org/officeDocument/2006/relationships/image" Target="../media/image460.png"/><Relationship Id="rId4" Type="http://schemas.openxmlformats.org/officeDocument/2006/relationships/image" Target="../media/image461.png"/><Relationship Id="rId5" Type="http://schemas.openxmlformats.org/officeDocument/2006/relationships/image" Target="../media/image462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3.png"/><Relationship Id="rId3" Type="http://schemas.openxmlformats.org/officeDocument/2006/relationships/image" Target="../media/image460.png"/><Relationship Id="rId4" Type="http://schemas.openxmlformats.org/officeDocument/2006/relationships/image" Target="../media/image464.png"/><Relationship Id="rId5" Type="http://schemas.openxmlformats.org/officeDocument/2006/relationships/image" Target="../media/image465.png"/><Relationship Id="rId6" Type="http://schemas.openxmlformats.org/officeDocument/2006/relationships/image" Target="../media/image466.png"/><Relationship Id="rId7" Type="http://schemas.openxmlformats.org/officeDocument/2006/relationships/image" Target="../media/image467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8.png"/><Relationship Id="rId3" Type="http://schemas.openxmlformats.org/officeDocument/2006/relationships/image" Target="../media/image469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0.png"/><Relationship Id="rId3" Type="http://schemas.openxmlformats.org/officeDocument/2006/relationships/image" Target="../media/image471.png"/><Relationship Id="rId4" Type="http://schemas.openxmlformats.org/officeDocument/2006/relationships/image" Target="../media/image472.png"/><Relationship Id="rId5" Type="http://schemas.openxmlformats.org/officeDocument/2006/relationships/image" Target="../media/image473.png"/><Relationship Id="rId6" Type="http://schemas.openxmlformats.org/officeDocument/2006/relationships/image" Target="../media/image474.png"/><Relationship Id="rId7" Type="http://schemas.openxmlformats.org/officeDocument/2006/relationships/image" Target="../media/image475.png"/><Relationship Id="rId8" Type="http://schemas.openxmlformats.org/officeDocument/2006/relationships/image" Target="../media/image476.png"/><Relationship Id="rId9" Type="http://schemas.openxmlformats.org/officeDocument/2006/relationships/image" Target="../media/image477.png"/><Relationship Id="rId10" Type="http://schemas.openxmlformats.org/officeDocument/2006/relationships/image" Target="../media/image478.png"/><Relationship Id="rId11" Type="http://schemas.openxmlformats.org/officeDocument/2006/relationships/image" Target="../media/image479.png"/><Relationship Id="rId12" Type="http://schemas.openxmlformats.org/officeDocument/2006/relationships/image" Target="../media/image480.png"/><Relationship Id="rId13" Type="http://schemas.openxmlformats.org/officeDocument/2006/relationships/image" Target="../media/image481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78308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3969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610" b="1" i="0">
                <a:solidFill>
                  <a:srgbClr val="1A1A1A"/>
                </a:solidFill>
                <a:latin typeface="Lexend"/>
              </a:rPr>
              <a:t>Solving Problems with Rational Numbers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34670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42900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703320"/>
            <a:ext cx="106070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6B6B6B"/>
                </a:solidFill>
                <a:latin typeface="Lexend"/>
              </a:rPr>
              <a:t>Six lessons in teaching order  ·  the next slide jumps to each one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— Solving Problems with Rational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Contents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— Solving Problems with Rational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>
            <a:hlinkClick action="ppaction://hlinksldjump" r:id="rId2"/>
          </p:cNvPr>
          <p:cNvSpPr txBox="1"/>
          <p:nvPr/>
        </p:nvSpPr>
        <p:spPr>
          <a:xfrm>
            <a:off x="1143000" y="178308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4.01</a:t>
            </a:r>
          </a:p>
        </p:txBody>
      </p:sp>
      <p:sp>
        <p:nvSpPr>
          <p:cNvPr id="9" name="TextBox 8">
            <a:hlinkClick action="ppaction://hlinksldjump" r:id="rId2"/>
          </p:cNvPr>
          <p:cNvSpPr txBox="1"/>
          <p:nvPr/>
        </p:nvSpPr>
        <p:spPr>
          <a:xfrm>
            <a:off x="2560320" y="178308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Adding and Subtracting in Scientific Notation</a:t>
            </a:r>
          </a:p>
        </p:txBody>
      </p:sp>
      <p:sp>
        <p:nvSpPr>
          <p:cNvPr id="10" name="TextBox 9">
            <a:hlinkClick action="ppaction://hlinksldjump" r:id="rId2"/>
          </p:cNvPr>
          <p:cNvSpPr txBox="1"/>
          <p:nvPr/>
        </p:nvSpPr>
        <p:spPr>
          <a:xfrm>
            <a:off x="9555480" y="178308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43000" y="224028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hlinkClick action="ppaction://hlinksldjump" r:id="rId3"/>
          </p:cNvPr>
          <p:cNvSpPr txBox="1"/>
          <p:nvPr/>
        </p:nvSpPr>
        <p:spPr>
          <a:xfrm>
            <a:off x="1143000" y="2203704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4.02–03</a:t>
            </a:r>
          </a:p>
        </p:txBody>
      </p:sp>
      <p:sp>
        <p:nvSpPr>
          <p:cNvPr id="13" name="TextBox 12">
            <a:hlinkClick action="ppaction://hlinksldjump" r:id="rId3"/>
          </p:cNvPr>
          <p:cNvSpPr txBox="1"/>
          <p:nvPr/>
        </p:nvSpPr>
        <p:spPr>
          <a:xfrm>
            <a:off x="2560320" y="2203704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Multiplying and Dividing in Scientific Notation</a:t>
            </a:r>
          </a:p>
        </p:txBody>
      </p:sp>
      <p:sp>
        <p:nvSpPr>
          <p:cNvPr id="14" name="TextBox 13">
            <a:hlinkClick action="ppaction://hlinksldjump" r:id="rId3"/>
          </p:cNvPr>
          <p:cNvSpPr txBox="1"/>
          <p:nvPr/>
        </p:nvSpPr>
        <p:spPr>
          <a:xfrm>
            <a:off x="9555480" y="2203704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38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43000" y="2660904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hlinkClick action="ppaction://hlinksldjump" r:id="rId4"/>
          </p:cNvPr>
          <p:cNvSpPr txBox="1"/>
          <p:nvPr/>
        </p:nvSpPr>
        <p:spPr>
          <a:xfrm>
            <a:off x="1143000" y="2624328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4.04</a:t>
            </a:r>
          </a:p>
        </p:txBody>
      </p:sp>
      <p:sp>
        <p:nvSpPr>
          <p:cNvPr id="17" name="TextBox 16">
            <a:hlinkClick action="ppaction://hlinksldjump" r:id="rId4"/>
          </p:cNvPr>
          <p:cNvSpPr txBox="1"/>
          <p:nvPr/>
        </p:nvSpPr>
        <p:spPr>
          <a:xfrm>
            <a:off x="2560320" y="2624328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Real-World Problems and Significant Digits</a:t>
            </a:r>
          </a:p>
        </p:txBody>
      </p:sp>
      <p:sp>
        <p:nvSpPr>
          <p:cNvPr id="18" name="TextBox 17">
            <a:hlinkClick action="ppaction://hlinksldjump" r:id="rId4"/>
          </p:cNvPr>
          <p:cNvSpPr txBox="1"/>
          <p:nvPr/>
        </p:nvSpPr>
        <p:spPr>
          <a:xfrm>
            <a:off x="9555480" y="2624328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73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43000" y="3081528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hlinkClick action="ppaction://hlinksldjump" r:id="rId5"/>
          </p:cNvPr>
          <p:cNvSpPr txBox="1"/>
          <p:nvPr/>
        </p:nvSpPr>
        <p:spPr>
          <a:xfrm>
            <a:off x="1143000" y="3044952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4.05</a:t>
            </a:r>
          </a:p>
        </p:txBody>
      </p:sp>
      <p:sp>
        <p:nvSpPr>
          <p:cNvPr id="21" name="TextBox 20">
            <a:hlinkClick action="ppaction://hlinksldjump" r:id="rId5"/>
          </p:cNvPr>
          <p:cNvSpPr txBox="1"/>
          <p:nvPr/>
        </p:nvSpPr>
        <p:spPr>
          <a:xfrm>
            <a:off x="2560320" y="3044952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Evaluating Expressions with Radicals</a:t>
            </a:r>
          </a:p>
        </p:txBody>
      </p:sp>
      <p:sp>
        <p:nvSpPr>
          <p:cNvPr id="22" name="TextBox 21">
            <a:hlinkClick action="ppaction://hlinksldjump" r:id="rId5"/>
          </p:cNvPr>
          <p:cNvSpPr txBox="1"/>
          <p:nvPr/>
        </p:nvSpPr>
        <p:spPr>
          <a:xfrm>
            <a:off x="9555480" y="3044952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108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3502152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action="ppaction://hlinksldjump" r:id="rId6"/>
          </p:cNvPr>
          <p:cNvSpPr txBox="1"/>
          <p:nvPr/>
        </p:nvSpPr>
        <p:spPr>
          <a:xfrm>
            <a:off x="1143000" y="3465576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4.06</a:t>
            </a:r>
          </a:p>
        </p:txBody>
      </p:sp>
      <p:sp>
        <p:nvSpPr>
          <p:cNvPr id="25" name="TextBox 24">
            <a:hlinkClick action="ppaction://hlinksldjump" r:id="rId6"/>
          </p:cNvPr>
          <p:cNvSpPr txBox="1"/>
          <p:nvPr/>
        </p:nvSpPr>
        <p:spPr>
          <a:xfrm>
            <a:off x="2560320" y="3465576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Order of Operations with Radicals</a:t>
            </a:r>
          </a:p>
        </p:txBody>
      </p:sp>
      <p:sp>
        <p:nvSpPr>
          <p:cNvPr id="26" name="TextBox 25">
            <a:hlinkClick action="ppaction://hlinksldjump" r:id="rId6"/>
          </p:cNvPr>
          <p:cNvSpPr txBox="1"/>
          <p:nvPr/>
        </p:nvSpPr>
        <p:spPr>
          <a:xfrm>
            <a:off x="9555480" y="3465576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143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143000" y="3922776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hlinkClick action="ppaction://hlinksldjump" r:id="rId7"/>
          </p:cNvPr>
          <p:cNvSpPr txBox="1"/>
          <p:nvPr/>
        </p:nvSpPr>
        <p:spPr>
          <a:xfrm>
            <a:off x="1143000" y="3886200"/>
            <a:ext cx="132588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1" i="0">
                <a:solidFill>
                  <a:srgbClr val="1A1A1A"/>
                </a:solidFill>
                <a:latin typeface="Lexend"/>
              </a:rPr>
              <a:t>4.07–08</a:t>
            </a:r>
          </a:p>
        </p:txBody>
      </p:sp>
      <p:sp>
        <p:nvSpPr>
          <p:cNvPr id="29" name="TextBox 28">
            <a:hlinkClick action="ppaction://hlinksldjump" r:id="rId7"/>
          </p:cNvPr>
          <p:cNvSpPr txBox="1"/>
          <p:nvPr/>
        </p:nvSpPr>
        <p:spPr>
          <a:xfrm>
            <a:off x="2560320" y="3886200"/>
            <a:ext cx="69494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Real-World Order of Operations</a:t>
            </a:r>
          </a:p>
        </p:txBody>
      </p:sp>
      <p:sp>
        <p:nvSpPr>
          <p:cNvPr id="30" name="TextBox 29">
            <a:hlinkClick action="ppaction://hlinksldjump" r:id="rId7"/>
          </p:cNvPr>
          <p:cNvSpPr txBox="1"/>
          <p:nvPr/>
        </p:nvSpPr>
        <p:spPr>
          <a:xfrm>
            <a:off x="9555480" y="3886200"/>
            <a:ext cx="1463040" cy="40233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610" b="0" i="0">
                <a:solidFill>
                  <a:srgbClr val="6B6B6B"/>
                </a:solidFill>
                <a:latin typeface="Lexend"/>
              </a:rPr>
              <a:t>slide 178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143000" y="4343400"/>
            <a:ext cx="9875519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Adding and Subtracting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add and subtract two numbers written in scientific notation, and write the answer in scientific notation.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8532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 0.00062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44702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times larger is  </a:t>
            </a:r>
          </a:p>
        </p:txBody>
      </p:sp>
      <p:pic>
        <p:nvPicPr>
          <p:cNvPr id="10" name="Picture 9" descr="d51fbdb9eea8fe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574" y="2132274"/>
            <a:ext cx="856765" cy="2634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64340" y="2052828"/>
            <a:ext cx="1188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2" name="Picture 11" descr="a8a2907cf3f341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143" y="2134647"/>
            <a:ext cx="863885" cy="261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80028" y="2052828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c5ba369a2497f7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09322"/>
            <a:ext cx="847272" cy="3726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74519" y="3278124"/>
            <a:ext cx="2773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sum:  </a:t>
            </a:r>
          </a:p>
        </p:txBody>
      </p:sp>
      <p:pic>
        <p:nvPicPr>
          <p:cNvPr id="17" name="Picture 16" descr="0438a9bb4c3d55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197" y="3402663"/>
            <a:ext cx="1253109" cy="2183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58532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Write  0.00062  in scientific notation.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9214" y="1440180"/>
            <a:ext cx="16174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6.2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44702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times larger is  </a:t>
            </a:r>
          </a:p>
        </p:txBody>
      </p:sp>
      <p:pic>
        <p:nvPicPr>
          <p:cNvPr id="11" name="Picture 10" descr="d51fbdb9eea8fe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574" y="2132274"/>
            <a:ext cx="856765" cy="26343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064340" y="2052828"/>
            <a:ext cx="1188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than  </a:t>
            </a:r>
          </a:p>
        </p:txBody>
      </p:sp>
      <p:pic>
        <p:nvPicPr>
          <p:cNvPr id="13" name="Picture 12" descr="a8a2907cf3f341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6143" y="2134647"/>
            <a:ext cx="863885" cy="261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80028" y="2052828"/>
            <a:ext cx="443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34518" y="2052828"/>
            <a:ext cx="1085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7" name="Picture 16" descr="c5ba369a2497f7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709322"/>
            <a:ext cx="847272" cy="37261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63623" y="2665476"/>
            <a:ext cx="5365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278124"/>
            <a:ext cx="27738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sum:  </a:t>
            </a:r>
          </a:p>
        </p:txBody>
      </p:sp>
      <p:pic>
        <p:nvPicPr>
          <p:cNvPr id="20" name="Picture 19" descr="0438a9bb4c3d55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197" y="3402663"/>
            <a:ext cx="1253109" cy="2183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312946" y="3278124"/>
            <a:ext cx="7909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1.69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scientific notation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69550"/>
            <a:ext cx="30323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number written as </a:t>
            </a:r>
          </a:p>
        </p:txBody>
      </p:sp>
      <p:pic>
        <p:nvPicPr>
          <p:cNvPr id="10" name="Picture 9" descr="5c7736c1398d0b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202" y="1991803"/>
            <a:ext cx="844486" cy="2156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82689" y="1869550"/>
            <a:ext cx="2854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54182"/>
            <a:ext cx="11185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where </a:t>
            </a:r>
          </a:p>
        </p:txBody>
      </p:sp>
      <p:pic>
        <p:nvPicPr>
          <p:cNvPr id="13" name="Picture 12" descr="658262df29b49a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363" y="2535459"/>
            <a:ext cx="152098" cy="1566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76462" y="2354182"/>
            <a:ext cx="47741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at least 1 and less than 10 and </a:t>
            </a:r>
          </a:p>
        </p:txBody>
      </p:sp>
      <p:pic>
        <p:nvPicPr>
          <p:cNvPr id="15" name="Picture 14" descr="f14fce7cf077cd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3403" y="2533188"/>
            <a:ext cx="131667" cy="154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45070" y="2354182"/>
            <a:ext cx="19817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an integer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98969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coefficient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96200"/>
            <a:ext cx="16348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factor </a:t>
            </a:r>
          </a:p>
        </p:txBody>
      </p:sp>
      <p:pic>
        <p:nvPicPr>
          <p:cNvPr id="19" name="Picture 18" descr="658262df29b49a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665" y="3577477"/>
            <a:ext cx="152098" cy="15663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792763" y="3396200"/>
            <a:ext cx="6135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in </a:t>
            </a:r>
          </a:p>
        </p:txBody>
      </p:sp>
      <p:pic>
        <p:nvPicPr>
          <p:cNvPr id="21" name="Picture 20" descr="5c7736c1398d0b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116" y="3518454"/>
            <a:ext cx="844486" cy="2156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13602" y="3396200"/>
            <a:ext cx="56882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. In a finished answer it always satisfies </a:t>
            </a:r>
          </a:p>
        </p:txBody>
      </p:sp>
      <p:pic>
        <p:nvPicPr>
          <p:cNvPr id="23" name="Picture 22" descr="bfdcfbaf2cf7af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4700" y="3527534"/>
            <a:ext cx="1148683" cy="2065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" y="40317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common power of ten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61079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matching power that two numbers are written over before they are added or subtracted — the place value they share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power of ten is a place value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874520" y="1993392"/>
          <a:ext cx="8412480" cy="7680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520" b="1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520" b="1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520" b="1" baseline="3000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1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520" b="1" baseline="30000">
                          <a:solidFill>
                            <a:srgbClr val="1A1A1A"/>
                          </a:solidFill>
                          <a:latin typeface="Lexend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ten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hundred thousands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20" b="0">
                          <a:solidFill>
                            <a:srgbClr val="1A1A1A"/>
                          </a:solidFill>
                          <a:latin typeface="Lexend"/>
                        </a:rPr>
                        <a:t>millions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864bf61ed56dc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127" y="3240405"/>
            <a:ext cx="4779264" cy="350520"/>
          </a:xfrm>
          <a:prstGeom prst="rect">
            <a:avLst/>
          </a:prstGeom>
        </p:spPr>
      </p:pic>
      <p:pic>
        <p:nvPicPr>
          <p:cNvPr id="12" name="Picture 11" descr="2417d66e2dd592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3986784"/>
            <a:ext cx="8122920" cy="338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493776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Two numbers can be added only when they carry the same power of ten.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Same power: add or subtract the coefficients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cc98597e79ddb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8604" y="2194560"/>
            <a:ext cx="5544312" cy="414528"/>
          </a:xfrm>
          <a:prstGeom prst="rect">
            <a:avLst/>
          </a:prstGeom>
        </p:spPr>
      </p:pic>
      <p:pic>
        <p:nvPicPr>
          <p:cNvPr id="11" name="Picture 10" descr="a46e16cf656fad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164" y="2993136"/>
            <a:ext cx="7251192" cy="408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9441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Add or subtract the coefficients. The power of ten does not 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67563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Then check the coefficient: if it is not between 1 and 10, the answer is not finished.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Different powers: rewrite one of them first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6f0baaf26a407d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807" y="1993392"/>
            <a:ext cx="3803904" cy="408432"/>
          </a:xfrm>
          <a:prstGeom prst="rect">
            <a:avLst/>
          </a:prstGeom>
        </p:spPr>
      </p:pic>
      <p:pic>
        <p:nvPicPr>
          <p:cNvPr id="11" name="Picture 10" descr="4fc26d98a263c89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052" y="2679192"/>
            <a:ext cx="6757416" cy="405384"/>
          </a:xfrm>
          <a:prstGeom prst="rect">
            <a:avLst/>
          </a:prstGeom>
        </p:spPr>
      </p:pic>
      <p:pic>
        <p:nvPicPr>
          <p:cNvPr id="12" name="Picture 11" descr="ae1a5a7207b817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061" y="3399440"/>
            <a:ext cx="5247703" cy="3595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16765" y="3342132"/>
            <a:ext cx="18545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</a:t>
            </a:r>
          </a:p>
        </p:txBody>
      </p:sp>
      <p:pic>
        <p:nvPicPr>
          <p:cNvPr id="14" name="Picture 13" descr="83c5d338eb6c26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4189" y="3402123"/>
            <a:ext cx="1258268" cy="2977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11480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Rewrite one number so both carry the same power of ten, then add or subtract the coefficients.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532180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Exponent up one, decimal point one place left. The value does not move.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b073017cb63050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103120"/>
            <a:ext cx="3785615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Add. Write the answer in scientific notation.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9f41e57a08380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797296" cy="405384"/>
          </a:xfrm>
          <a:prstGeom prst="rect">
            <a:avLst/>
          </a:prstGeom>
        </p:spPr>
      </p:pic>
      <p:pic>
        <p:nvPicPr>
          <p:cNvPr id="9" name="Picture 8" descr="9886ab42ab881d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99944"/>
            <a:ext cx="3624072" cy="338328"/>
          </a:xfrm>
          <a:prstGeom prst="rect">
            <a:avLst/>
          </a:prstGeom>
        </p:spPr>
      </p:pic>
      <p:pic>
        <p:nvPicPr>
          <p:cNvPr id="10" name="Picture 9" descr="a3c2876c6f516a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12592"/>
            <a:ext cx="221589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1.45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b4cde0a73e6462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772" y="1600200"/>
            <a:ext cx="5141976" cy="505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0908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Add. Write the answer in scientific notation.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6341fce2cb0bbc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248" y="1600200"/>
            <a:ext cx="5145024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Add.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5623" y="3201526"/>
            <a:ext cx="59872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power, so add the fronts:  </a:t>
            </a:r>
          </a:p>
        </p:txBody>
      </p:sp>
      <p:pic>
        <p:nvPicPr>
          <p:cNvPr id="11" name="Picture 10" descr="5b336a90532d52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711" y="3322398"/>
            <a:ext cx="2240184" cy="251364"/>
          </a:xfrm>
          <a:prstGeom prst="rect">
            <a:avLst/>
          </a:prstGeom>
        </p:spPr>
      </p:pic>
      <p:pic>
        <p:nvPicPr>
          <p:cNvPr id="12" name="Picture 11" descr="30762fde1252fc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87" y="3809030"/>
            <a:ext cx="3486912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1.23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bf4da8d69ae35f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903" y="2103120"/>
            <a:ext cx="3791712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Subtract. Write the answer in scientific notation.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f0014276d232b3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505200" cy="341376"/>
          </a:xfrm>
          <a:prstGeom prst="rect">
            <a:avLst/>
          </a:prstGeom>
        </p:spPr>
      </p:pic>
      <p:pic>
        <p:nvPicPr>
          <p:cNvPr id="9" name="Picture 8" descr="934206aface5fa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6050280" cy="414528"/>
          </a:xfrm>
          <a:prstGeom prst="rect">
            <a:avLst/>
          </a:prstGeom>
        </p:spPr>
      </p:pic>
      <p:pic>
        <p:nvPicPr>
          <p:cNvPr id="10" name="Picture 9" descr="5c58ea87206358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24783"/>
            <a:ext cx="577900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6.85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1b8e06632cef40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104" y="1600200"/>
            <a:ext cx="5163312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Subtract. Write the answer in scientific notation.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248bda730bf17b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79" y="1600200"/>
            <a:ext cx="5166360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Subtract.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4513" y="3204574"/>
            <a:ext cx="31549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Match the powers:  </a:t>
            </a:r>
          </a:p>
        </p:txBody>
      </p:sp>
      <p:pic>
        <p:nvPicPr>
          <p:cNvPr id="11" name="Picture 10" descr="5bc38d7f5f1bbf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2309" y="3293156"/>
            <a:ext cx="2914697" cy="261366"/>
          </a:xfrm>
          <a:prstGeom prst="rect">
            <a:avLst/>
          </a:prstGeom>
        </p:spPr>
      </p:pic>
      <p:pic>
        <p:nvPicPr>
          <p:cNvPr id="12" name="Picture 11" descr="bd4649ecf62b8a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9377" y="3845511"/>
            <a:ext cx="2069591" cy="213360"/>
          </a:xfrm>
          <a:prstGeom prst="rect">
            <a:avLst/>
          </a:prstGeom>
        </p:spPr>
      </p:pic>
      <p:pic>
        <p:nvPicPr>
          <p:cNvPr id="13" name="Picture 12" descr="fb181fe42321e2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9377" y="4305759"/>
            <a:ext cx="1362456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78191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5.51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09fad54e403494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524" y="2194560"/>
            <a:ext cx="3776472" cy="405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2a3c75618fa7d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999" y="2103120"/>
            <a:ext cx="3779520" cy="405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41970" y="2839212"/>
            <a:ext cx="59872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power, so add the fronts:  </a:t>
            </a:r>
          </a:p>
        </p:txBody>
      </p:sp>
      <p:pic>
        <p:nvPicPr>
          <p:cNvPr id="10" name="Picture 9" descr="375fe00662e453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2058" y="2960084"/>
            <a:ext cx="2030253" cy="251364"/>
          </a:xfrm>
          <a:prstGeom prst="rect">
            <a:avLst/>
          </a:prstGeom>
        </p:spPr>
      </p:pic>
      <p:pic>
        <p:nvPicPr>
          <p:cNvPr id="11" name="Picture 10" descr="b4ec2c46247ef0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6834" y="3446716"/>
            <a:ext cx="1246632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791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stadium sold  </a:t>
            </a:r>
          </a:p>
        </p:txBody>
      </p:sp>
      <p:pic>
        <p:nvPicPr>
          <p:cNvPr id="9" name="Picture 8" descr="22d45fd8e21928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35" y="1927098"/>
            <a:ext cx="1176337" cy="2724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2773" y="1851660"/>
            <a:ext cx="28658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tickets on Friday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 </a:t>
            </a:r>
          </a:p>
        </p:txBody>
      </p:sp>
      <p:pic>
        <p:nvPicPr>
          <p:cNvPr id="12" name="Picture 11" descr="198fb6ef199374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946" y="2539746"/>
            <a:ext cx="1156525" cy="2724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7472" y="2464308"/>
            <a:ext cx="62846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on Saturday. Each ticket cost 38 dollars.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tickets were sold on the two days?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5791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stadium sold  </a:t>
            </a:r>
          </a:p>
        </p:txBody>
      </p:sp>
      <p:pic>
        <p:nvPicPr>
          <p:cNvPr id="9" name="Picture 8" descr="e7eb40717fc0f1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35" y="1924621"/>
            <a:ext cx="1176337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2773" y="1851660"/>
            <a:ext cx="28658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tickets on Friday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9536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 </a:t>
            </a:r>
          </a:p>
        </p:txBody>
      </p:sp>
      <p:pic>
        <p:nvPicPr>
          <p:cNvPr id="12" name="Picture 11" descr="fbd1eec05c786f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946" y="2537269"/>
            <a:ext cx="1159002" cy="2748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9948" y="2464308"/>
            <a:ext cx="62846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on Saturday. Each ticket cost 38 dollars.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tickets were sold on the two days?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29540" y="3734926"/>
            <a:ext cx="59872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Same power, so add the fronts:  </a:t>
            </a:r>
          </a:p>
        </p:txBody>
      </p:sp>
      <p:pic>
        <p:nvPicPr>
          <p:cNvPr id="16" name="Picture 15" descr="806e43a7c385a4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9628" y="3855798"/>
            <a:ext cx="2052351" cy="251364"/>
          </a:xfrm>
          <a:prstGeom prst="rect">
            <a:avLst/>
          </a:prstGeom>
        </p:spPr>
      </p:pic>
      <p:pic>
        <p:nvPicPr>
          <p:cNvPr id="17" name="Picture 16" descr="3665917b6f2092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4404" y="4342430"/>
            <a:ext cx="1271016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84592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7.7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9a1c5b83d56645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04" y="2194560"/>
            <a:ext cx="3486912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b4e4dff994d3b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5780" y="2103120"/>
            <a:ext cx="3489960" cy="414528"/>
          </a:xfrm>
          <a:prstGeom prst="rect">
            <a:avLst/>
          </a:prstGeom>
        </p:spPr>
      </p:pic>
      <p:pic>
        <p:nvPicPr>
          <p:cNvPr id="9" name="Picture 8" descr="74a99bec27e47c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435" y="2962084"/>
            <a:ext cx="1365504" cy="252984"/>
          </a:xfrm>
          <a:prstGeom prst="rect">
            <a:avLst/>
          </a:prstGeom>
        </p:spPr>
      </p:pic>
      <p:pic>
        <p:nvPicPr>
          <p:cNvPr id="10" name="Picture 9" descr="3dc41426a2cb47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435" y="3446716"/>
            <a:ext cx="3008376" cy="3078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1e4655248ebd17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2712" y="2194560"/>
            <a:ext cx="3816095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6c08936514ac2e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188" y="2103120"/>
            <a:ext cx="3819144" cy="408432"/>
          </a:xfrm>
          <a:prstGeom prst="rect">
            <a:avLst/>
          </a:prstGeom>
        </p:spPr>
      </p:pic>
      <p:pic>
        <p:nvPicPr>
          <p:cNvPr id="9" name="Picture 8" descr="428101046aa75a5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7" y="2955988"/>
            <a:ext cx="2084831" cy="256032"/>
          </a:xfrm>
          <a:prstGeom prst="rect">
            <a:avLst/>
          </a:prstGeom>
        </p:spPr>
      </p:pic>
      <p:pic>
        <p:nvPicPr>
          <p:cNvPr id="10" name="Picture 9" descr="e9dcbdc19c34f0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7" y="3446716"/>
            <a:ext cx="2639568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458ce47e03352d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620" y="2194560"/>
            <a:ext cx="3764279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sum?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3.9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3.9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2.316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2.46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0a5ae3f69ac2c6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6" y="2103120"/>
            <a:ext cx="3767328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sum?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3355" y="3417139"/>
            <a:ext cx="31549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Match the powers:  </a:t>
            </a:r>
          </a:p>
        </p:txBody>
      </p:sp>
      <p:pic>
        <p:nvPicPr>
          <p:cNvPr id="11" name="Picture 10" descr="38a98cc775ba9a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151" y="3505721"/>
            <a:ext cx="2777013" cy="261366"/>
          </a:xfrm>
          <a:prstGeom prst="rect">
            <a:avLst/>
          </a:prstGeom>
        </p:spPr>
      </p:pic>
      <p:pic>
        <p:nvPicPr>
          <p:cNvPr id="12" name="Picture 11" descr="121dee4f34127b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219" y="4058076"/>
            <a:ext cx="2365248" cy="213360"/>
          </a:xfrm>
          <a:prstGeom prst="rect">
            <a:avLst/>
          </a:prstGeom>
        </p:spPr>
      </p:pic>
      <p:pic>
        <p:nvPicPr>
          <p:cNvPr id="13" name="Picture 12" descr="d9fd5fe20052fef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8219" y="4512228"/>
            <a:ext cx="1377696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944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2.316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c56988b1bd434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428" y="2194560"/>
            <a:ext cx="3788664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sum,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12.3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12.3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1.23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1.23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9def6d28be2622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4903" y="2103120"/>
            <a:ext cx="3791712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sum, written in scientific notation?</a:t>
            </a:r>
          </a:p>
        </p:txBody>
      </p:sp>
      <p:pic>
        <p:nvPicPr>
          <p:cNvPr id="10" name="Picture 9" descr="7a92f566b3dc9a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1" y="3536963"/>
            <a:ext cx="2209800" cy="252984"/>
          </a:xfrm>
          <a:prstGeom prst="rect">
            <a:avLst/>
          </a:prstGeom>
        </p:spPr>
      </p:pic>
      <p:pic>
        <p:nvPicPr>
          <p:cNvPr id="11" name="Picture 10" descr="4253edb8e6cb150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851" y="4021595"/>
            <a:ext cx="3209544" cy="3078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1.23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8364ffedb5ab9d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408" y="2194560"/>
            <a:ext cx="4108704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95877dd6e3ac64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883" y="2103120"/>
            <a:ext cx="4111752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21513" y="2839212"/>
            <a:ext cx="31549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Match the powers:  </a:t>
            </a:r>
          </a:p>
        </p:txBody>
      </p:sp>
      <p:pic>
        <p:nvPicPr>
          <p:cNvPr id="10" name="Picture 9" descr="6ede306f727ce1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310" y="2927794"/>
            <a:ext cx="2903029" cy="261366"/>
          </a:xfrm>
          <a:prstGeom prst="rect">
            <a:avLst/>
          </a:prstGeom>
        </p:spPr>
      </p:pic>
      <p:pic>
        <p:nvPicPr>
          <p:cNvPr id="11" name="Picture 10" descr="40578aa67f396b1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377" y="3480149"/>
            <a:ext cx="2066543" cy="213360"/>
          </a:xfrm>
          <a:prstGeom prst="rect">
            <a:avLst/>
          </a:prstGeom>
        </p:spPr>
      </p:pic>
      <p:pic>
        <p:nvPicPr>
          <p:cNvPr id="12" name="Picture 11" descr="859794e45c118a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377" y="3934301"/>
            <a:ext cx="1331976" cy="262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7.16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5f6d6560049ba7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795" y="2194560"/>
            <a:ext cx="5519928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8069" y="2857500"/>
            <a:ext cx="3262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872" y="3031998"/>
            <a:ext cx="143637" cy="1684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57509" y="2857500"/>
            <a:ext cx="453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a7b6204384889c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9272" y="2103120"/>
            <a:ext cx="5522976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8069" y="2769107"/>
            <a:ext cx="3262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872" y="2943605"/>
            <a:ext cx="143637" cy="1684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57509" y="2769107"/>
            <a:ext cx="453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pic>
        <p:nvPicPr>
          <p:cNvPr id="12" name="Picture 11" descr="af0a0edef72ddd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6403" y="3617309"/>
            <a:ext cx="2761488" cy="262128"/>
          </a:xfrm>
          <a:prstGeom prst="rect">
            <a:avLst/>
          </a:prstGeom>
        </p:spPr>
      </p:pic>
      <p:pic>
        <p:nvPicPr>
          <p:cNvPr id="13" name="Picture 12" descr="e0b2ab7a4c26bc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403" y="4168997"/>
            <a:ext cx="1694688" cy="213360"/>
          </a:xfrm>
          <a:prstGeom prst="rect">
            <a:avLst/>
          </a:prstGeom>
        </p:spPr>
      </p:pic>
      <p:pic>
        <p:nvPicPr>
          <p:cNvPr id="14" name="Picture 13" descr="1dcdac54ad1451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6403" y="4671917"/>
            <a:ext cx="2353056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1054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 = 5.7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3065" y="2171700"/>
            <a:ext cx="2314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Devon writes  </a:t>
            </a:r>
          </a:p>
        </p:txBody>
      </p:sp>
      <p:pic>
        <p:nvPicPr>
          <p:cNvPr id="9" name="Picture 8" descr="0a7a4307a87a1a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0841" y="2242185"/>
            <a:ext cx="4534471" cy="3318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65312" y="21717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Name the two mistakes he made, and give the correct sum.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827" y="2080260"/>
            <a:ext cx="2314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Devon writes  </a:t>
            </a:r>
          </a:p>
        </p:txBody>
      </p:sp>
      <p:pic>
        <p:nvPicPr>
          <p:cNvPr id="9" name="Picture 8" descr="595d18b76e1d00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603" y="2145792"/>
            <a:ext cx="4536948" cy="3368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66551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Name the two mistakes he made, and give the correct sum.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54232" y="3414091"/>
            <a:ext cx="87902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powers do not match, and exponents are not added.</a:t>
            </a:r>
          </a:p>
        </p:txBody>
      </p:sp>
      <p:pic>
        <p:nvPicPr>
          <p:cNvPr id="13" name="Picture 12" descr="afb9dc22174bd3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096" y="4006260"/>
            <a:ext cx="2773680" cy="262128"/>
          </a:xfrm>
          <a:prstGeom prst="rect">
            <a:avLst/>
          </a:prstGeom>
        </p:spPr>
      </p:pic>
      <p:pic>
        <p:nvPicPr>
          <p:cNvPr id="14" name="Picture 13" descr="e099433ce822c8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096" y="4555186"/>
            <a:ext cx="2377963" cy="2146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187060" y="4419931"/>
            <a:ext cx="1163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6" name="Picture 15" descr="447aa636a4e8a62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985" y="4510847"/>
            <a:ext cx="1400175" cy="259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99143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6.619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bb51b7cdaedca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57527"/>
            <a:ext cx="3066288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6da4b5382fbcdf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53411"/>
            <a:ext cx="3304032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95d8ded1b0db296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47771"/>
            <a:ext cx="3063240" cy="3291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0bd66daf20240d1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40607"/>
            <a:ext cx="3060192" cy="332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ca328e32445857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3933444"/>
            <a:ext cx="3374136" cy="335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66844"/>
            <a:ext cx="913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20" name="Picture 19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0372" y="4611624"/>
            <a:ext cx="146304" cy="167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76676" y="4466844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2" name="Picture 21" descr="d4634cfd84477cb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626" y="4527804"/>
            <a:ext cx="4541520" cy="3352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1 — Adding and Subtracting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4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Add and subtract numbers written in scientific notation — HUR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LESSONS 2–3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Multiplying and Dividing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multiply and divide two numbers written in scientific notation, and write the answer in scientific notation.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ffd4838a463a73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7045"/>
            <a:ext cx="3087624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156805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1" name="Picture 10" descr="a52f8f8855a860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477035" cy="6194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873430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f8833b322411a1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917277"/>
            <a:ext cx="806926" cy="3726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542589"/>
            <a:ext cx="33832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quotient:  </a:t>
            </a:r>
          </a:p>
        </p:txBody>
      </p:sp>
      <p:pic>
        <p:nvPicPr>
          <p:cNvPr id="15" name="Picture 14" descr="960b9ab8e07f4c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18" y="3508938"/>
            <a:ext cx="431942" cy="52450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ffd4838a463a73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7045"/>
            <a:ext cx="3087624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45185" y="1440180"/>
            <a:ext cx="14365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6.2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56805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2" name="Picture 11" descr="a52f8f8855a860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477035" cy="61943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41587" y="2052828"/>
            <a:ext cx="6821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873430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f8833b322411a1a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917277"/>
            <a:ext cx="806926" cy="37261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23277" y="2873430"/>
            <a:ext cx="5491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42589"/>
            <a:ext cx="33832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quotient:  </a:t>
            </a:r>
          </a:p>
        </p:txBody>
      </p:sp>
      <p:pic>
        <p:nvPicPr>
          <p:cNvPr id="18" name="Picture 17" descr="960b9ab8e07f4c1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18" y="3508938"/>
            <a:ext cx="431942" cy="5245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01200" y="3486078"/>
            <a:ext cx="384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product of powers law</a:t>
            </a:r>
          </a:p>
        </p:txBody>
      </p:sp>
      <p:pic>
        <p:nvPicPr>
          <p:cNvPr id="9" name="Picture 8" descr="50a410785dbdd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91803"/>
            <a:ext cx="2186130" cy="21566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29130" y="1869550"/>
            <a:ext cx="30076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— the law from 3.01,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54182"/>
            <a:ext cx="57641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now doing the work on the powers of 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8969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quotient of powers law</a:t>
            </a:r>
          </a:p>
        </p:txBody>
      </p:sp>
      <p:pic>
        <p:nvPicPr>
          <p:cNvPr id="13" name="Picture 12" descr="5b8488cf2680dc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419060"/>
            <a:ext cx="1620869" cy="52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763869" y="3451525"/>
            <a:ext cx="44544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— top minus bottom, from 3.02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4235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regrouping a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48868"/>
            <a:ext cx="82517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using the commutative and associative properties to write </a:t>
            </a:r>
          </a:p>
        </p:txBody>
      </p:sp>
      <p:pic>
        <p:nvPicPr>
          <p:cNvPr id="17" name="Picture 16" descr="030f336ef028bc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622" y="4634799"/>
            <a:ext cx="2093055" cy="30192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3000" y="5033500"/>
            <a:ext cx="6019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as </a:t>
            </a:r>
          </a:p>
        </p:txBody>
      </p:sp>
      <p:pic>
        <p:nvPicPr>
          <p:cNvPr id="19" name="Picture 18" descr="b19aa5f8730d7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812" y="5119431"/>
            <a:ext cx="1956847" cy="301926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Multiplying: regroup, then use the laws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4f6cc700f631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112" y="2194560"/>
            <a:ext cx="7321295" cy="414528"/>
          </a:xfrm>
          <a:prstGeom prst="rect">
            <a:avLst/>
          </a:prstGeom>
        </p:spPr>
      </p:pic>
      <p:pic>
        <p:nvPicPr>
          <p:cNvPr id="11" name="Picture 10" descr="d894b08558ca6c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5873" y="3027584"/>
            <a:ext cx="968517" cy="30048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04391" y="2970276"/>
            <a:ext cx="1947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 </a:t>
            </a:r>
          </a:p>
        </p:txBody>
      </p:sp>
      <p:pic>
        <p:nvPicPr>
          <p:cNvPr id="13" name="Picture 12" descr="f59bf4b41a85ed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4935" y="3027584"/>
            <a:ext cx="1110710" cy="3004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94411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Multiply the coefficients. Add the exponents — that is the product of powers law, not a new rule.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Dividing: the same move with the quotient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efa08aa797f44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380" y="2194560"/>
            <a:ext cx="5318760" cy="798576"/>
          </a:xfrm>
          <a:prstGeom prst="rect">
            <a:avLst/>
          </a:prstGeom>
        </p:spPr>
      </p:pic>
      <p:pic>
        <p:nvPicPr>
          <p:cNvPr id="11" name="Picture 10" descr="44f28ecf0a9cf8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3377184"/>
            <a:ext cx="5193792" cy="7955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71220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Divide the coefficients. Subtract the exponents, top minus bottom.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Finish the answer — both directions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40551c03da2c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268" y="2194560"/>
            <a:ext cx="6348984" cy="414528"/>
          </a:xfrm>
          <a:prstGeom prst="rect">
            <a:avLst/>
          </a:prstGeom>
        </p:spPr>
      </p:pic>
      <p:pic>
        <p:nvPicPr>
          <p:cNvPr id="11" name="Picture 10" descr="acee3a8d1b6720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580" y="2993136"/>
            <a:ext cx="5928360" cy="801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334256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Every answer ends with a coefficient at least 1 and less than 10.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c7ebac9815df25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103120"/>
            <a:ext cx="3282696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Multiply. Write the answer in scientific notation.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5f7ed4f25353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772656" cy="408432"/>
          </a:xfrm>
          <a:prstGeom prst="rect">
            <a:avLst/>
          </a:prstGeom>
        </p:spPr>
      </p:pic>
      <p:pic>
        <p:nvPicPr>
          <p:cNvPr id="9" name="Picture 8" descr="54ffb222fc56be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2992"/>
            <a:ext cx="1609344" cy="338328"/>
          </a:xfrm>
          <a:prstGeom prst="rect">
            <a:avLst/>
          </a:prstGeom>
        </p:spPr>
      </p:pic>
      <p:pic>
        <p:nvPicPr>
          <p:cNvPr id="10" name="Picture 9" descr="bb053a1b635793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15640"/>
            <a:ext cx="3108960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2.7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a28d7c387e5fd6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027" y="1600200"/>
            <a:ext cx="409346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Multiply. Write the answer in scientific notation.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816312d3d4d789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027" y="1600200"/>
            <a:ext cx="409346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Multiply.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3291" y="3204574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1" name="Picture 10" descr="ea6a661eb9c799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480" y="3342163"/>
            <a:ext cx="1414176" cy="2123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03291" y="3707494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3" name="Picture 12" descr="65dec0c199cc01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1648" y="3796076"/>
            <a:ext cx="1976580" cy="261366"/>
          </a:xfrm>
          <a:prstGeom prst="rect">
            <a:avLst/>
          </a:prstGeom>
        </p:spPr>
      </p:pic>
      <p:pic>
        <p:nvPicPr>
          <p:cNvPr id="14" name="Picture 13" descr="52d05dcb8358be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155" y="4302711"/>
            <a:ext cx="2173224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8191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99e2cda0670996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103120"/>
            <a:ext cx="3163824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747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 Write the answer in scientific notation.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e1f7b5cd77abb9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858512" cy="414528"/>
          </a:xfrm>
          <a:prstGeom prst="rect">
            <a:avLst/>
          </a:prstGeom>
        </p:spPr>
      </p:pic>
      <p:pic>
        <p:nvPicPr>
          <p:cNvPr id="9" name="Picture 8" descr="cef6ad8a508151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9087"/>
            <a:ext cx="3102864" cy="801624"/>
          </a:xfrm>
          <a:prstGeom prst="rect">
            <a:avLst/>
          </a:prstGeom>
        </p:spPr>
      </p:pic>
      <p:pic>
        <p:nvPicPr>
          <p:cNvPr id="10" name="Picture 9" descr="06feb2f012fdd5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85031"/>
            <a:ext cx="3057144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af033f99401fc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047" y="1600200"/>
            <a:ext cx="3773424" cy="1075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9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 Write the answer in scientific notation.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6065c2d5f71d0c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6" y="1600200"/>
            <a:ext cx="3767328" cy="1075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9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5083" y="3768454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1" name="Picture 10" descr="088335619175ea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702" y="3901375"/>
            <a:ext cx="1201816" cy="2123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96519" y="3768454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3" name="Picture 12" descr="9063011fd4a202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9408" y="3857036"/>
            <a:ext cx="1960244" cy="2613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35083" y="4271374"/>
            <a:ext cx="1427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Divide:  </a:t>
            </a:r>
          </a:p>
        </p:txBody>
      </p:sp>
      <p:pic>
        <p:nvPicPr>
          <p:cNvPr id="15" name="Picture 14" descr="e6738f5137934c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478" y="4408963"/>
            <a:ext cx="1211151" cy="2123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36630" y="4271374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7" name="Picture 16" descr="0ffcd1c9127d2e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9519" y="4359956"/>
            <a:ext cx="2009251" cy="261366"/>
          </a:xfrm>
          <a:prstGeom prst="rect">
            <a:avLst/>
          </a:prstGeom>
        </p:spPr>
      </p:pic>
      <p:pic>
        <p:nvPicPr>
          <p:cNvPr id="18" name="Picture 17" descr="28b3729f21e06a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947" y="4860495"/>
            <a:ext cx="957072" cy="2621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34579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71829a44e81d1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823" y="2194560"/>
            <a:ext cx="2785872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9a64fed63dd040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103120"/>
            <a:ext cx="2788920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24294" y="2842259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0" name="Picture 9" descr="66ed94db7950c1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483" y="2977514"/>
            <a:ext cx="991790" cy="2146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24294" y="3345179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2" name="Picture 11" descr="4e53ca6ef94821c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650" y="3433762"/>
            <a:ext cx="1934575" cy="261366"/>
          </a:xfrm>
          <a:prstGeom prst="rect">
            <a:avLst/>
          </a:prstGeom>
        </p:spPr>
      </p:pic>
      <p:pic>
        <p:nvPicPr>
          <p:cNvPr id="13" name="Picture 12" descr="f2052183a017b1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9158" y="3934301"/>
            <a:ext cx="932688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745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makes  </a:t>
            </a:r>
          </a:p>
        </p:txBody>
      </p:sp>
      <p:pic>
        <p:nvPicPr>
          <p:cNvPr id="9" name="Picture 8" descr="06cea9a990494b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791" y="1924621"/>
            <a:ext cx="911351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143" y="1851660"/>
            <a:ext cx="27259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copies per hour.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846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 runs for  </a:t>
            </a:r>
          </a:p>
        </p:txBody>
      </p:sp>
      <p:pic>
        <p:nvPicPr>
          <p:cNvPr id="12" name="Picture 11" descr="ba28393e900a87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888" y="2534793"/>
            <a:ext cx="1136713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8602" y="2464308"/>
            <a:ext cx="548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hours. Paper costs 3 cents a sheet.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copies does it make?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745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makes  </a:t>
            </a:r>
          </a:p>
        </p:txBody>
      </p:sp>
      <p:pic>
        <p:nvPicPr>
          <p:cNvPr id="9" name="Picture 8" descr="7d5296eed19f353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791" y="1924621"/>
            <a:ext cx="913828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6620" y="1851660"/>
            <a:ext cx="27259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copies per hour.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846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 runs for  </a:t>
            </a:r>
          </a:p>
        </p:txBody>
      </p:sp>
      <p:pic>
        <p:nvPicPr>
          <p:cNvPr id="12" name="Picture 11" descr="d9d812d5ce25cf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888" y="2534793"/>
            <a:ext cx="1139190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21078" y="2464308"/>
            <a:ext cx="548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hours. Paper costs 3 cents a sheet.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copies does it make?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4466" y="3734926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6" name="Picture 15" descr="13f318c4be7054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656" y="3872515"/>
            <a:ext cx="1416510" cy="2123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74466" y="4237846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8" name="Picture 17" descr="978c2af6aaa0fe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23" y="4326428"/>
            <a:ext cx="1834229" cy="261366"/>
          </a:xfrm>
          <a:prstGeom prst="rect">
            <a:avLst/>
          </a:prstGeom>
        </p:spPr>
      </p:pic>
      <p:pic>
        <p:nvPicPr>
          <p:cNvPr id="19" name="Picture 18" descr="2a1f3e18aef4b3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9330" y="4826967"/>
            <a:ext cx="2127504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3122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aa8aaa91edd783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94560"/>
            <a:ext cx="1447800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3b2db2bf563f5f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908" y="2103120"/>
            <a:ext cx="1441704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5559" y="3223260"/>
            <a:ext cx="29915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fronts:  </a:t>
            </a:r>
          </a:p>
        </p:txBody>
      </p:sp>
      <p:pic>
        <p:nvPicPr>
          <p:cNvPr id="10" name="Picture 9" descr="2afa0ecaaccf2c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997" y="3358515"/>
            <a:ext cx="1481851" cy="2146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5559" y="3726179"/>
            <a:ext cx="40136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Subtract the exponents:  </a:t>
            </a:r>
          </a:p>
        </p:txBody>
      </p:sp>
      <p:pic>
        <p:nvPicPr>
          <p:cNvPr id="12" name="Picture 11" descr="effc1051f2cab5f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2060" y="3817096"/>
            <a:ext cx="1873900" cy="259032"/>
          </a:xfrm>
          <a:prstGeom prst="rect">
            <a:avLst/>
          </a:prstGeom>
        </p:spPr>
      </p:pic>
      <p:pic>
        <p:nvPicPr>
          <p:cNvPr id="13" name="Picture 12" descr="c6369a2a18532f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0423" y="4321397"/>
            <a:ext cx="847344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8006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ffdc47127232dd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276" y="2194560"/>
            <a:ext cx="1648968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e0912071a11b6e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323" y="2103120"/>
            <a:ext cx="1642872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91211" y="3223260"/>
            <a:ext cx="29915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fronts:  </a:t>
            </a:r>
          </a:p>
        </p:txBody>
      </p:sp>
      <p:pic>
        <p:nvPicPr>
          <p:cNvPr id="10" name="Picture 9" descr="873dff747dac94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649" y="3360848"/>
            <a:ext cx="1869233" cy="2123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91211" y="3726179"/>
            <a:ext cx="40136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Subtract the exponents:  </a:t>
            </a:r>
          </a:p>
        </p:txBody>
      </p:sp>
      <p:pic>
        <p:nvPicPr>
          <p:cNvPr id="12" name="Picture 11" descr="bb59bb17419b6b4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12" y="3814762"/>
            <a:ext cx="2104929" cy="261366"/>
          </a:xfrm>
          <a:prstGeom prst="rect">
            <a:avLst/>
          </a:prstGeom>
        </p:spPr>
      </p:pic>
      <p:pic>
        <p:nvPicPr>
          <p:cNvPr id="13" name="Picture 12" descr="c559c147ffe46a9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6075" y="4324445"/>
            <a:ext cx="2889504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8006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8.2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3853590bf4416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536" y="2194560"/>
            <a:ext cx="2822448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172da9cf6bf1b7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103120"/>
            <a:ext cx="2825496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8459" y="3417139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1" name="Picture 10" descr="08d09ea86a9934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649" y="3554727"/>
            <a:ext cx="1022127" cy="2100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18459" y="3920059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3" name="Picture 12" descr="65dc7db8ffa94a6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816" y="4008641"/>
            <a:ext cx="1946243" cy="261366"/>
          </a:xfrm>
          <a:prstGeom prst="rect">
            <a:avLst/>
          </a:prstGeom>
        </p:spPr>
      </p:pic>
      <p:pic>
        <p:nvPicPr>
          <p:cNvPr id="14" name="Picture 13" descr="10c89d61f9e09d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3323" y="4509180"/>
            <a:ext cx="954023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44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8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16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811d128c9a4cb3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194560"/>
            <a:ext cx="2825496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product,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20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20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d3ea7b9b7f4f76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487" y="2103120"/>
            <a:ext cx="2828544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product,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2133" y="3417139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1" name="Picture 10" descr="85e851d4ab26f9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322" y="3554727"/>
            <a:ext cx="1199483" cy="21235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72133" y="3920059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3" name="Picture 12" descr="0bfdc3409913d1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490" y="4008641"/>
            <a:ext cx="1838896" cy="261366"/>
          </a:xfrm>
          <a:prstGeom prst="rect">
            <a:avLst/>
          </a:prstGeom>
        </p:spPr>
      </p:pic>
      <p:pic>
        <p:nvPicPr>
          <p:cNvPr id="14" name="Picture 13" descr="a7b20829de9c08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6997" y="4509180"/>
            <a:ext cx="2273808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44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c4bdb38362d4e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83" y="2194559"/>
            <a:ext cx="1292352" cy="801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117d387ca555e4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632" y="2103120"/>
            <a:ext cx="1286256" cy="801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38963" y="3229356"/>
            <a:ext cx="29915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fronts:  </a:t>
            </a:r>
          </a:p>
        </p:txBody>
      </p:sp>
      <p:pic>
        <p:nvPicPr>
          <p:cNvPr id="10" name="Picture 9" descr="f8e310da8c2a7a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401" y="3364611"/>
            <a:ext cx="996457" cy="2100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38963" y="3732275"/>
            <a:ext cx="40136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Subtract the exponents:  </a:t>
            </a:r>
          </a:p>
        </p:txBody>
      </p:sp>
      <p:pic>
        <p:nvPicPr>
          <p:cNvPr id="12" name="Picture 11" descr="ff9e89295ad61d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5464" y="3820858"/>
            <a:ext cx="3407092" cy="261366"/>
          </a:xfrm>
          <a:prstGeom prst="rect">
            <a:avLst/>
          </a:prstGeom>
        </p:spPr>
      </p:pic>
      <p:pic>
        <p:nvPicPr>
          <p:cNvPr id="13" name="Picture 12" descr="9b9b4517e7c627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827" y="4321397"/>
            <a:ext cx="917448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806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dfc728df3a4406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194560"/>
            <a:ext cx="3310128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8069" y="3241548"/>
            <a:ext cx="3262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872" y="3416046"/>
            <a:ext cx="143637" cy="1684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57509" y="3241548"/>
            <a:ext cx="453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594e88537557ce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172" y="2103120"/>
            <a:ext cx="3313176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88069" y="3150108"/>
            <a:ext cx="32629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3872" y="3324606"/>
            <a:ext cx="143637" cy="1684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57509" y="3150108"/>
            <a:ext cx="4531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1888" y="3909059"/>
            <a:ext cx="16400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Fronts:  </a:t>
            </a:r>
          </a:p>
        </p:txBody>
      </p:sp>
      <p:pic>
        <p:nvPicPr>
          <p:cNvPr id="13" name="Picture 12" descr="775bb7f5e11f76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4799" y="4029932"/>
            <a:ext cx="1831371" cy="2513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76170" y="3909059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5" name="Picture 14" descr="99f2245ca8eda25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7243" y="4029932"/>
            <a:ext cx="2345150" cy="2513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41888" y="4603289"/>
            <a:ext cx="1601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7" name="Picture 16" descr="973861c4e17ee2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6232" y="4471416"/>
            <a:ext cx="3002565" cy="72094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32952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 = 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7813" y="1741741"/>
            <a:ext cx="8748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For  </a:t>
            </a:r>
          </a:p>
        </p:txBody>
      </p:sp>
      <p:pic>
        <p:nvPicPr>
          <p:cNvPr id="9" name="Picture 8" descr="60ccdbf7926155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488" y="1645920"/>
            <a:ext cx="1263014" cy="6488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8503" y="1741741"/>
            <a:ext cx="26109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Marcus writes  </a:t>
            </a:r>
          </a:p>
        </p:txBody>
      </p:sp>
      <p:pic>
        <p:nvPicPr>
          <p:cNvPr id="11" name="Picture 10" descr="7f9ab9ea310fee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322" y="1814703"/>
            <a:ext cx="1171384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1515" y="2546223"/>
            <a:ext cx="2720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Sara writes  </a:t>
            </a:r>
          </a:p>
        </p:txBody>
      </p:sp>
      <p:pic>
        <p:nvPicPr>
          <p:cNvPr id="13" name="Picture 12" descr="f48b4bb2456d35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4639" y="2616708"/>
            <a:ext cx="1015365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3254883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Name what each one did wrong, and give the correct quotient.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9051" y="1741741"/>
            <a:ext cx="8748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For  </a:t>
            </a:r>
          </a:p>
        </p:txBody>
      </p:sp>
      <p:pic>
        <p:nvPicPr>
          <p:cNvPr id="9" name="Picture 8" descr="eb274165a95bfc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726" y="1645920"/>
            <a:ext cx="1258062" cy="64884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54788" y="1741741"/>
            <a:ext cx="26109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Marcus writes  </a:t>
            </a:r>
          </a:p>
        </p:txBody>
      </p:sp>
      <p:pic>
        <p:nvPicPr>
          <p:cNvPr id="11" name="Picture 10" descr="031963a342c3fd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607" y="1814703"/>
            <a:ext cx="1173861" cy="274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0277" y="2546223"/>
            <a:ext cx="2720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Sara writes  </a:t>
            </a:r>
          </a:p>
        </p:txBody>
      </p:sp>
      <p:pic>
        <p:nvPicPr>
          <p:cNvPr id="13" name="Picture 12" descr="f762cb430573f2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3400" y="2616708"/>
            <a:ext cx="1017841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3254883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Name what each one did wrong, and give the correct quotient.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0736" y="3826383"/>
            <a:ext cx="88572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Marcus subtracted the fronts. Sara added the exponents.</a:t>
            </a:r>
          </a:p>
        </p:txBody>
      </p:sp>
      <p:pic>
        <p:nvPicPr>
          <p:cNvPr id="16" name="Picture 15" descr="9b1aa9fd86bde0f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5600" y="4466891"/>
            <a:ext cx="1493520" cy="21235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69120" y="4329303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8" name="Picture 17" descr="6cba3e2ec22eaa9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2009" y="4417885"/>
            <a:ext cx="1967245" cy="261366"/>
          </a:xfrm>
          <a:prstGeom prst="rect">
            <a:avLst/>
          </a:prstGeom>
        </p:spPr>
      </p:pic>
      <p:pic>
        <p:nvPicPr>
          <p:cNvPr id="19" name="Picture 18" descr="9fe0ce93fe0b7e9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5600" y="4924520"/>
            <a:ext cx="841248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40372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6e0be8365ac4f5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59051"/>
            <a:ext cx="229209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20522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62a20c5f23ea4b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12263"/>
            <a:ext cx="1167384" cy="6431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91541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d61c32ba4971b5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977895"/>
            <a:ext cx="2407920" cy="332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625595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8867f8a3b1816d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532631"/>
            <a:ext cx="1155192" cy="643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445465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b725906188c6ae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358639"/>
            <a:ext cx="1060704" cy="6492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51678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67883"/>
            <a:ext cx="913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20" name="Picture 19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0372" y="5312664"/>
            <a:ext cx="146304" cy="167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76676" y="5167883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2" name="Picture 21" descr="d7bf46933a52690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626" y="5228844"/>
            <a:ext cx="3621024" cy="33528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4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Multiply numbers written in scientific notation — YZU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Divide numbers written in scientific notation — SGT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Problems and Significant Digits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solve a real-world problem with numbers in scientific notation and report the answer with the right number of significant digits.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9ef93e9422ec80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3997"/>
            <a:ext cx="2417064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872c396e107e43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119693"/>
            <a:ext cx="3057144" cy="3322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5859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0.00902  in scientific notation.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278124"/>
            <a:ext cx="63019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Round  4.738  to the nearest hundredth.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9ef93e9422ec80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3997"/>
            <a:ext cx="2417064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74625" y="1440180"/>
            <a:ext cx="14403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1.2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2" name="Picture 11" descr="872c396e107e43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119693"/>
            <a:ext cx="3057144" cy="332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28843" y="2052828"/>
            <a:ext cx="16123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5.89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58599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0.00902  in scientific notation.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5958" y="2665476"/>
            <a:ext cx="18000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9.02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78124"/>
            <a:ext cx="63019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Round  4.738  to the nearest hundredth.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7924" y="3278124"/>
            <a:ext cx="8306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4.74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significant digits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digits of a measurement that carry information: every nonzero digit, every zero between nonzero digits, and a trailing zero only when a decimal point is written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999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leading zero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203580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zero before the first nonzero digit. 0.0047 has two leading zeros and two significant digits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56941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measurement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50531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quantity that was measured, so its last digit is uncertain. A count is not a measurement — 24 students is exactly 24, and 60 seconds in a minute is exact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Which digits are significant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285999" y="1993392"/>
          <a:ext cx="758952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18872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Measurement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Digits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4,207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the middle zero counts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0.0058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leading zeros never count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3.200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trailing zeros count after a decimal 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52,000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no decimal point, so they do not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Multiplying or dividing: count the digits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7e6ff835d857c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716" y="2194560"/>
            <a:ext cx="6038088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26336" y="2967228"/>
            <a:ext cx="82333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2 significant digits and 3, so the answer keeps 2:   </a:t>
            </a:r>
          </a:p>
        </p:txBody>
      </p:sp>
      <p:pic>
        <p:nvPicPr>
          <p:cNvPr id="12" name="Picture 11" descr="723af09f9a41839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2524" y="3029902"/>
            <a:ext cx="1212659" cy="2951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941064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Multiply or divide: the answer takes the smaller of the two significant-digit counts.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Adding or subtracting: a different rule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c84020e548be5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243709"/>
            <a:ext cx="3383280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0000" y="2967228"/>
            <a:ext cx="86586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1,234 stops at the ones place;  5.6 stops at the tenths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8092" y="3762756"/>
            <a:ext cx="61149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so the sum stops at the ones place:   </a:t>
            </a:r>
          </a:p>
        </p:txBody>
      </p:sp>
      <p:pic>
        <p:nvPicPr>
          <p:cNvPr id="13" name="Picture 12" descr="40647922f9acd2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919" y="3820064"/>
            <a:ext cx="2787507" cy="3568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73659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Add or subtract: the answer stops at the leftmost of the two last-digit places.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2728" y="1714500"/>
            <a:ext cx="3819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solar array measures  </a:t>
            </a:r>
          </a:p>
        </p:txBody>
      </p:sp>
      <p:pic>
        <p:nvPicPr>
          <p:cNvPr id="9" name="Picture 8" descr="ff2cbfe6b6afaa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347" y="1784985"/>
            <a:ext cx="1280350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25697" y="1714500"/>
            <a:ext cx="1288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aa26922bd492b4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6764" y="1784985"/>
            <a:ext cx="1124331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01095" y="1714500"/>
            <a:ext cx="734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What is its area?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4513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Give the answer to the correct number of significant digits.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d7b7c5abadb0c1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151120" cy="411480"/>
          </a:xfrm>
          <a:prstGeom prst="rect">
            <a:avLst/>
          </a:prstGeom>
        </p:spPr>
      </p:pic>
      <p:pic>
        <p:nvPicPr>
          <p:cNvPr id="9" name="Picture 8" descr="a08d6ab77e1723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6248400" cy="387096"/>
          </a:xfrm>
          <a:prstGeom prst="rect">
            <a:avLst/>
          </a:prstGeom>
        </p:spPr>
      </p:pic>
      <p:pic>
        <p:nvPicPr>
          <p:cNvPr id="10" name="Picture 9" descr="a93125fbd09b82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67456"/>
            <a:ext cx="4462272" cy="4053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square meters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3353" y="1577340"/>
            <a:ext cx="28566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field measures  </a:t>
            </a:r>
          </a:p>
        </p:txBody>
      </p:sp>
      <p:pic>
        <p:nvPicPr>
          <p:cNvPr id="9" name="Picture 8" descr="44c2bf593fa024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2809" y="1647825"/>
            <a:ext cx="1163955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6764" y="1577340"/>
            <a:ext cx="1288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14b23867f6fdf4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7830" y="1647825"/>
            <a:ext cx="1302639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50469" y="1577340"/>
            <a:ext cx="734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What is its area?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2115" y="1577340"/>
            <a:ext cx="28566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field measures  </a:t>
            </a:r>
          </a:p>
        </p:txBody>
      </p:sp>
      <p:pic>
        <p:nvPicPr>
          <p:cNvPr id="9" name="Picture 8" descr="87a1fbfe2ae1b8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570" y="1647825"/>
            <a:ext cx="1163955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5525" y="1577340"/>
            <a:ext cx="1288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f5dd2a15c5c66d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592" y="1647825"/>
            <a:ext cx="1305115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51707" y="1577340"/>
            <a:ext cx="734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What is its area?</a:t>
            </a:r>
          </a:p>
        </p:txBody>
      </p:sp>
      <p:pic>
        <p:nvPicPr>
          <p:cNvPr id="14" name="Picture 13" descr="df377020efabce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8481" y="3010645"/>
            <a:ext cx="2186606" cy="2146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955087" y="2875390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6" name="Picture 15" descr="1f20c58a7a5bfe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7976" y="2963972"/>
            <a:ext cx="1855231" cy="261366"/>
          </a:xfrm>
          <a:prstGeom prst="rect">
            <a:avLst/>
          </a:prstGeom>
        </p:spPr>
      </p:pic>
      <p:pic>
        <p:nvPicPr>
          <p:cNvPr id="17" name="Picture 16" descr="c8c5f1b26c2cdc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8481" y="3467559"/>
            <a:ext cx="2758440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13617" y="3881230"/>
            <a:ext cx="58493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Keep 2 significant digits (4.6 has 2):   </a:t>
            </a:r>
          </a:p>
        </p:txBody>
      </p:sp>
      <p:pic>
        <p:nvPicPr>
          <p:cNvPr id="19" name="Picture 18" descr="0fcaf31c9964322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5774" y="3974480"/>
            <a:ext cx="1022127" cy="2566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square meters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7036" y="1714500"/>
            <a:ext cx="29736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container holds  </a:t>
            </a:r>
          </a:p>
        </p:txBody>
      </p:sp>
      <p:pic>
        <p:nvPicPr>
          <p:cNvPr id="9" name="Picture 8" descr="14e0b9b3df93fb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490" y="1787461"/>
            <a:ext cx="1448752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82242" y="1714500"/>
            <a:ext cx="32194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cubic feet of liquid.</a:t>
            </a:r>
          </a:p>
        </p:txBody>
      </p:sp>
      <p:pic>
        <p:nvPicPr>
          <p:cNvPr id="11" name="Picture 10" descr="a3b236c4480db3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1" y="2475738"/>
            <a:ext cx="1624584" cy="27241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17585" y="2400300"/>
            <a:ext cx="36880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cubic feet evaporates.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much is left? Give the answer with the correct precision.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7330ec204f7748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358128" cy="280416"/>
          </a:xfrm>
          <a:prstGeom prst="rect">
            <a:avLst/>
          </a:prstGeom>
        </p:spPr>
      </p:pic>
      <p:pic>
        <p:nvPicPr>
          <p:cNvPr id="9" name="Picture 8" descr="bb89500147edd4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74976"/>
            <a:ext cx="3895344" cy="417576"/>
          </a:xfrm>
          <a:prstGeom prst="rect">
            <a:avLst/>
          </a:prstGeom>
        </p:spPr>
      </p:pic>
      <p:pic>
        <p:nvPicPr>
          <p:cNvPr id="10" name="Picture 9" descr="675b2dce7029d49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66871"/>
            <a:ext cx="6041136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3.06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cubic feet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8573" y="1577340"/>
            <a:ext cx="1695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road is  </a:t>
            </a:r>
          </a:p>
        </p:txBody>
      </p:sp>
      <p:pic>
        <p:nvPicPr>
          <p:cNvPr id="9" name="Picture 8" descr="08a04405287c78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35" y="1650301"/>
            <a:ext cx="1317498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4733" y="1577340"/>
            <a:ext cx="14653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4202" y="2263140"/>
            <a:ext cx="1748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section  </a:t>
            </a:r>
          </a:p>
        </p:txBody>
      </p:sp>
      <p:pic>
        <p:nvPicPr>
          <p:cNvPr id="12" name="Picture 11" descr="5e32de29ecd092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669" y="2333625"/>
            <a:ext cx="1322451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68120" y="2263140"/>
            <a:ext cx="3096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 long is repaved.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of the road is not repaved?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335" y="1577340"/>
            <a:ext cx="1695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road is  </a:t>
            </a:r>
          </a:p>
        </p:txBody>
      </p:sp>
      <p:pic>
        <p:nvPicPr>
          <p:cNvPr id="9" name="Picture 8" descr="c2efbce8eea1c4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997" y="1650301"/>
            <a:ext cx="1319974" cy="2748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55972" y="1577340"/>
            <a:ext cx="146537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2964" y="2263140"/>
            <a:ext cx="17486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section  </a:t>
            </a:r>
          </a:p>
        </p:txBody>
      </p:sp>
      <p:pic>
        <p:nvPicPr>
          <p:cNvPr id="12" name="Picture 11" descr="56a45577f708de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431" y="2333625"/>
            <a:ext cx="1324927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69358" y="2263140"/>
            <a:ext cx="30963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 long is repaved.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much of the road is not repaved?</a:t>
            </a:r>
          </a:p>
        </p:txBody>
      </p:sp>
      <p:pic>
        <p:nvPicPr>
          <p:cNvPr id="15" name="Picture 14" descr="df3a7677f047d40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0235" y="3693111"/>
            <a:ext cx="2529840" cy="2682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55371" y="4064110"/>
            <a:ext cx="81879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3,850 stops at the tens place, so round to tens:  3,580</a:t>
            </a:r>
          </a:p>
        </p:txBody>
      </p:sp>
      <p:pic>
        <p:nvPicPr>
          <p:cNvPr id="17" name="Picture 16" descr="e2ff5572229200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0235" y="4656279"/>
            <a:ext cx="2270760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13853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3.58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m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many significant digits are in  0.00470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many significant digits are in  0.00470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40987" y="2728291"/>
            <a:ext cx="5230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Leading zeros do not count:  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0987" y="3231211"/>
            <a:ext cx="7016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4, 7 and the final 0 count:  3 significant digits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670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pond's surface measures  </a:t>
            </a:r>
          </a:p>
        </p:txBody>
      </p:sp>
      <p:pic>
        <p:nvPicPr>
          <p:cNvPr id="9" name="Picture 8" descr="a7946796b3d2e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334" y="1922145"/>
            <a:ext cx="1124331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8665" y="1851660"/>
            <a:ext cx="1288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a6a6c57be53ee6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9731" y="1922145"/>
            <a:ext cx="1129284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69015" y="1851660"/>
            <a:ext cx="734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pond is 3 meters deep.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surface area. Round to the correct number of significant digits.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43670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pond's surface measures  </a:t>
            </a:r>
          </a:p>
        </p:txBody>
      </p:sp>
      <p:pic>
        <p:nvPicPr>
          <p:cNvPr id="9" name="Picture 8" descr="21b219ba43567f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334" y="1922145"/>
            <a:ext cx="1126807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91141" y="1851660"/>
            <a:ext cx="12882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1" name="Picture 10" descr="046ade4f82d7b81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208" y="1922145"/>
            <a:ext cx="1129284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871492" y="1851660"/>
            <a:ext cx="734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pond is 3 meters deep.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the surface area. Round to the correct number of significant digits.</a:t>
            </a:r>
          </a:p>
        </p:txBody>
      </p:sp>
      <p:pic>
        <p:nvPicPr>
          <p:cNvPr id="15" name="Picture 14" descr="44e63c88951851e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001" y="4226002"/>
            <a:ext cx="1822561" cy="21469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95562" y="4090747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7" name="Picture 16" descr="de20136ea86b668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451" y="4179329"/>
            <a:ext cx="1827228" cy="261366"/>
          </a:xfrm>
          <a:prstGeom prst="rect">
            <a:avLst/>
          </a:prstGeom>
        </p:spPr>
      </p:pic>
      <p:pic>
        <p:nvPicPr>
          <p:cNvPr id="18" name="Picture 17" descr="ca43b17f8102147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001" y="4682916"/>
            <a:ext cx="2362200" cy="31089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18137" y="5096587"/>
            <a:ext cx="4209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Keep 2 significant digits:   </a:t>
            </a:r>
          </a:p>
        </p:txBody>
      </p:sp>
      <p:pic>
        <p:nvPicPr>
          <p:cNvPr id="20" name="Picture 19" descr="dbc7cf508525fbf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90917" y="5187503"/>
            <a:ext cx="1054798" cy="259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566808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4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square meters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Two measurements are multiplied. One has 3 significant digits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3417" y="2692908"/>
            <a:ext cx="64393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other has 5. The exact product is  </a:t>
            </a:r>
          </a:p>
        </p:txBody>
      </p:sp>
      <p:pic>
        <p:nvPicPr>
          <p:cNvPr id="10" name="Picture 9" descr="f5a6805642b36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612" y="2768346"/>
            <a:ext cx="1649349" cy="2724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84961" y="269290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015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should the answer be written?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Two measurements are multiplied. One has 3 significant digits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3417" y="2601468"/>
            <a:ext cx="64393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and the other has 5. The exact product is  </a:t>
            </a:r>
          </a:p>
        </p:txBody>
      </p:sp>
      <p:pic>
        <p:nvPicPr>
          <p:cNvPr id="10" name="Picture 9" descr="b41e0e74d05342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612" y="2676906"/>
            <a:ext cx="1649349" cy="2724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984961" y="2601468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01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should the answer be written?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6369" y="3935299"/>
            <a:ext cx="86459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answer keeps the smaller count: 3 significant digits.</a:t>
            </a:r>
          </a:p>
        </p:txBody>
      </p:sp>
      <p:pic>
        <p:nvPicPr>
          <p:cNvPr id="14" name="Picture 13" descr="b41e0e74d05342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233" y="4531469"/>
            <a:ext cx="1554194" cy="25669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35428" y="4438219"/>
            <a:ext cx="21002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becomes   </a:t>
            </a:r>
          </a:p>
        </p:txBody>
      </p:sp>
      <p:pic>
        <p:nvPicPr>
          <p:cNvPr id="16" name="Picture 15" descr="04bd18778892b9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489" y="4531469"/>
            <a:ext cx="1227486" cy="25669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0097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7.41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c7912e820c52de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529" y="2239708"/>
            <a:ext cx="3236785" cy="3343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75314" y="2171700"/>
            <a:ext cx="39848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 meters, both 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the sum with the correct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d295e21d6a5af5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291" y="2148268"/>
            <a:ext cx="3239262" cy="3343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76553" y="2080260"/>
            <a:ext cx="39848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 meters, both measured.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Write the sum with the correct precision.</a:t>
            </a:r>
          </a:p>
        </p:txBody>
      </p:sp>
      <p:pic>
        <p:nvPicPr>
          <p:cNvPr id="11" name="Picture 10" descr="9677988c74c08a0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422" y="3546012"/>
            <a:ext cx="2499360" cy="268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3558" y="3917011"/>
            <a:ext cx="977156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2,500 stops at the hundreds place, so round to hundreds:  3,000</a:t>
            </a:r>
          </a:p>
        </p:txBody>
      </p:sp>
      <p:pic>
        <p:nvPicPr>
          <p:cNvPr id="13" name="Picture 12" descr="1b2a94b567e449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8422" y="4509180"/>
            <a:ext cx="2130552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9143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3.0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m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many significant digits are in  0.03080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How many significant digits are in  0.03080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4399" y="2728291"/>
            <a:ext cx="50404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Leading zeros do not count:  0.0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4399" y="3231211"/>
            <a:ext cx="73898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3, 0, 8 and the final 0 count:  4 significant digits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2817" y="2171700"/>
            <a:ext cx="36094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rectangle measures  </a:t>
            </a:r>
          </a:p>
        </p:txBody>
      </p:sp>
      <p:pic>
        <p:nvPicPr>
          <p:cNvPr id="9" name="Picture 8" descr="bdf46868d006cd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118" y="2242185"/>
            <a:ext cx="1154049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89167" y="2171700"/>
            <a:ext cx="14524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cm by  </a:t>
            </a:r>
          </a:p>
        </p:txBody>
      </p:sp>
      <p:pic>
        <p:nvPicPr>
          <p:cNvPr id="11" name="Picture 10" descr="4ada1bcfda5f9a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441" y="2242185"/>
            <a:ext cx="1332357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36798" y="2171700"/>
            <a:ext cx="899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area, to the correct significant digits?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26.1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cm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cm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cm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2.61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cm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61578" y="2080260"/>
            <a:ext cx="36094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rectangle measures  </a:t>
            </a:r>
          </a:p>
        </p:txBody>
      </p:sp>
      <p:pic>
        <p:nvPicPr>
          <p:cNvPr id="9" name="Picture 8" descr="1aaeee8bfa6e84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880" y="2150745"/>
            <a:ext cx="1156525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90406" y="2080260"/>
            <a:ext cx="14524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cm by  </a:t>
            </a:r>
          </a:p>
        </p:txBody>
      </p:sp>
      <p:pic>
        <p:nvPicPr>
          <p:cNvPr id="11" name="Picture 10" descr="ba0b2a6dbe833f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679" y="2150745"/>
            <a:ext cx="1332357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338036" y="2080260"/>
            <a:ext cx="8990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area, to the correct significant digits?</a:t>
            </a:r>
          </a:p>
        </p:txBody>
      </p:sp>
      <p:pic>
        <p:nvPicPr>
          <p:cNvPr id="14" name="Picture 13" descr="bbac96af5f9ecf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360" y="3549346"/>
            <a:ext cx="2030253" cy="2146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778613" y="3414091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6" name="Picture 15" descr="1f20c58a7a5bfe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502" y="3502673"/>
            <a:ext cx="1855231" cy="261366"/>
          </a:xfrm>
          <a:prstGeom prst="rect">
            <a:avLst/>
          </a:prstGeom>
        </p:spPr>
      </p:pic>
      <p:pic>
        <p:nvPicPr>
          <p:cNvPr id="17" name="Picture 16" descr="35eed8d154d098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8360" y="4006260"/>
            <a:ext cx="2602992" cy="3108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3496" y="4419931"/>
            <a:ext cx="58452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Keep 2 significant digits (6.0 has 2):   </a:t>
            </a:r>
          </a:p>
        </p:txBody>
      </p:sp>
      <p:pic>
        <p:nvPicPr>
          <p:cNvPr id="19" name="Picture 18" descr="1d4326cbde9a9c9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1557" y="4513181"/>
            <a:ext cx="1068800" cy="25669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99143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2.6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cm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0619" y="2171700"/>
            <a:ext cx="22516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travels  </a:t>
            </a:r>
          </a:p>
        </p:txBody>
      </p:sp>
      <p:pic>
        <p:nvPicPr>
          <p:cNvPr id="9" name="Picture 8" descr="b5f5674feeb41d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099" y="2242185"/>
            <a:ext cx="134969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54792" y="2171700"/>
            <a:ext cx="28532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km in  3.0  hours.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What is its average speed, to the right number of significant digits?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0619" y="2080260"/>
            <a:ext cx="22516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car travels  </a:t>
            </a:r>
          </a:p>
        </p:txBody>
      </p:sp>
      <p:pic>
        <p:nvPicPr>
          <p:cNvPr id="9" name="Picture 8" descr="4947c0dc47f86ab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099" y="2150745"/>
            <a:ext cx="134969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54792" y="2080260"/>
            <a:ext cx="28532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km in  3.0  hours.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What is its average speed, to the right number of significant digits?</a:t>
            </a:r>
          </a:p>
        </p:txBody>
      </p:sp>
      <p:pic>
        <p:nvPicPr>
          <p:cNvPr id="12" name="Picture 11" descr="b7f3f89b7670fb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986" y="3498437"/>
            <a:ext cx="1981199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581122" y="3863339"/>
            <a:ext cx="60769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3.0 has 2 significant digits, so keep 2:   </a:t>
            </a:r>
          </a:p>
        </p:txBody>
      </p:sp>
      <p:pic>
        <p:nvPicPr>
          <p:cNvPr id="14" name="Picture 13" descr="21b219ba43567f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932" y="3951922"/>
            <a:ext cx="1061799" cy="2613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1.4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km/h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 measured length times a measured width gives an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7358" y="2746579"/>
            <a:ext cx="6854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of  </a:t>
            </a:r>
          </a:p>
        </p:txBody>
      </p:sp>
      <p:pic>
        <p:nvPicPr>
          <p:cNvPr id="10" name="Picture 9" descr="66c8c788a53acf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648" y="2819540"/>
            <a:ext cx="1131760" cy="2748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07408" y="2746579"/>
            <a:ext cx="42270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. The length measured  </a:t>
            </a:r>
          </a:p>
        </p:txBody>
      </p:sp>
      <p:pic>
        <p:nvPicPr>
          <p:cNvPr id="12" name="Picture 11" descr="e3528be3edfa66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7274" y="2817064"/>
            <a:ext cx="1139190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36464" y="2746579"/>
            <a:ext cx="734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What did the width measure, to two significant digits?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 measured length times a measured width gives an 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26120" y="2655139"/>
            <a:ext cx="6854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of  </a:t>
            </a:r>
          </a:p>
        </p:txBody>
      </p:sp>
      <p:pic>
        <p:nvPicPr>
          <p:cNvPr id="10" name="Picture 9" descr="96dda91be14bb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410" y="2728100"/>
            <a:ext cx="1134237" cy="2748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08647" y="2655139"/>
            <a:ext cx="42270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. The length measured  </a:t>
            </a:r>
          </a:p>
        </p:txBody>
      </p:sp>
      <p:pic>
        <p:nvPicPr>
          <p:cNvPr id="12" name="Picture 11" descr="b0f75faad513fd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512" y="2725624"/>
            <a:ext cx="1139190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237702" y="2655139"/>
            <a:ext cx="7348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What did the width measure, to two significant digits?</a:t>
            </a:r>
          </a:p>
        </p:txBody>
      </p:sp>
      <p:pic>
        <p:nvPicPr>
          <p:cNvPr id="15" name="Picture 14" descr="90203440ac2af9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5977" y="4102699"/>
            <a:ext cx="2377440" cy="3169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291113" y="4528466"/>
            <a:ext cx="44209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Two significant digits:   </a:t>
            </a:r>
          </a:p>
        </p:txBody>
      </p:sp>
      <p:pic>
        <p:nvPicPr>
          <p:cNvPr id="17" name="Picture 16" descr="8973d474b1ce85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4911" y="4591331"/>
            <a:ext cx="1295495" cy="30937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0999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4.0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m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Ellis says: 9,145 has 4 significant digits and 4.8 has 2,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6073" y="2746579"/>
            <a:ext cx="19855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so the sum  </a:t>
            </a:r>
          </a:p>
        </p:txBody>
      </p:sp>
      <p:pic>
        <p:nvPicPr>
          <p:cNvPr id="10" name="Picture 9" descr="9630dac2daa1a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484" y="2864117"/>
            <a:ext cx="1510664" cy="2823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5149" y="2746579"/>
            <a:ext cx="39249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must be written with 2:  </a:t>
            </a:r>
          </a:p>
        </p:txBody>
      </p:sp>
      <p:pic>
        <p:nvPicPr>
          <p:cNvPr id="12" name="Picture 11" descr="ca0b1ffd8d5f75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927" y="2819540"/>
            <a:ext cx="1119378" cy="2748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42305" y="2746579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correct sum.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Ellis says: 9,145 has 4 significant digits and 4.8 has 2,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6073" y="2655139"/>
            <a:ext cx="19855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so the sum  </a:t>
            </a:r>
          </a:p>
        </p:txBody>
      </p:sp>
      <p:pic>
        <p:nvPicPr>
          <p:cNvPr id="10" name="Picture 9" descr="76e99574fb2593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484" y="2770201"/>
            <a:ext cx="1510664" cy="2847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35149" y="2655139"/>
            <a:ext cx="39249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must be written with 2:  </a:t>
            </a:r>
          </a:p>
        </p:txBody>
      </p:sp>
      <p:pic>
        <p:nvPicPr>
          <p:cNvPr id="12" name="Picture 11" descr="4947c6a9376ae7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927" y="2728100"/>
            <a:ext cx="1119378" cy="2748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142305" y="2655139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correct sum.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7221" y="3988970"/>
            <a:ext cx="77200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Adding uses decimal places, not a count of digits.</a:t>
            </a:r>
          </a:p>
        </p:txBody>
      </p:sp>
      <p:pic>
        <p:nvPicPr>
          <p:cNvPr id="16" name="Picture 15" descr="990cd9202cebfca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085" y="4623811"/>
            <a:ext cx="2673096" cy="2682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997221" y="4994810"/>
            <a:ext cx="83042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9,145 stops at the ones place, so round to ones:  9,150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6631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9,150 = 9.150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9019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9019"/>
            <a:ext cx="600178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How many significant digits are in  6,030  grams?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66953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66953"/>
            <a:ext cx="6343588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How many significant digits are in  0.00710  meters?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34888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434888"/>
            <a:ext cx="290142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rectangle measures  </a:t>
            </a:r>
          </a:p>
        </p:txBody>
      </p:sp>
      <p:pic>
        <p:nvPicPr>
          <p:cNvPr id="14" name="Picture 13" descr="7d17691463990a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746" y="2509166"/>
            <a:ext cx="954289" cy="22913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73035" y="2434888"/>
            <a:ext cx="106372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m by  </a:t>
            </a:r>
          </a:p>
        </p:txBody>
      </p:sp>
      <p:pic>
        <p:nvPicPr>
          <p:cNvPr id="16" name="Picture 15" descr="35e387f60425e7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596" y="2509166"/>
            <a:ext cx="1072630" cy="22913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72227" y="2434888"/>
            <a:ext cx="396130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m. Find its area, to the correct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802238"/>
            <a:ext cx="351864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number of significant digits.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270172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20" name="Picture 19" descr="2f8ec9a9220ceb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3323048"/>
            <a:ext cx="2696684" cy="27193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324316" y="3270172"/>
            <a:ext cx="6831265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meters, both measured. Write the sum with the correct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637522"/>
            <a:ext cx="132944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precision.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105457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105457"/>
            <a:ext cx="1826459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 car travels  </a:t>
            </a:r>
          </a:p>
        </p:txBody>
      </p:sp>
      <p:pic>
        <p:nvPicPr>
          <p:cNvPr id="25" name="Picture 24" descr="d28efaf6c4b6b0d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3779" y="4179735"/>
            <a:ext cx="1080184" cy="22913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323963" y="4105457"/>
            <a:ext cx="6869881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km in  4.0  hours. Find its average speed, to the correct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472807"/>
            <a:ext cx="351864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number of significant digits.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940741"/>
            <a:ext cx="548640" cy="37768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81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29" name="Picture 28" descr="f68f597f3be75e8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991100"/>
            <a:ext cx="2913225" cy="27697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40857" y="4940741"/>
            <a:ext cx="6571740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  grams, both measured. Write the difference with the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308092"/>
            <a:ext cx="2233056" cy="377686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correct precision.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4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65836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Add, subtract, multiply, and divide numbers written in scientific notation: word problems — D5S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Evaluating Expressions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evaluate an expression that contains square roots, cube roots and integer exponents.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8747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many significant digits are in  0.0250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0" name="Picture 9" descr="56d20e268514a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059" y="2122741"/>
            <a:ext cx="2404872" cy="3291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2" name="Picture 11" descr="25d82099734b37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709322"/>
            <a:ext cx="806926" cy="3726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278124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4" name="Picture 13" descr="fa7316af9afa4f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405036"/>
            <a:ext cx="1134443" cy="215971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8747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How many significant digits are in  0.0250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60777" y="1440180"/>
            <a:ext cx="384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56d20e268514a0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059" y="2122741"/>
            <a:ext cx="2404872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76571" y="2052828"/>
            <a:ext cx="136535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65476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4" name="Picture 13" descr="25d82099734b37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709322"/>
            <a:ext cx="806926" cy="3726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23277" y="2665476"/>
            <a:ext cx="5700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78124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7" name="Picture 16" descr="fa7316af9afa4f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405036"/>
            <a:ext cx="1134443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606040" y="3278124"/>
            <a:ext cx="38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radical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69550"/>
            <a:ext cx="75151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root symbol together with everything under its bar: </a:t>
            </a:r>
          </a:p>
        </p:txBody>
      </p:sp>
      <p:pic>
        <p:nvPicPr>
          <p:cNvPr id="10" name="Picture 9" descr="7fc2ce39b1027a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0961" y="1921429"/>
            <a:ext cx="622014" cy="3564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2976" y="1869550"/>
            <a:ext cx="17701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 square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54182"/>
            <a:ext cx="919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root, </a:t>
            </a:r>
          </a:p>
        </p:txBody>
      </p:sp>
      <p:pic>
        <p:nvPicPr>
          <p:cNvPr id="13" name="Picture 12" descr="5f7b58e3a97823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786" y="2406061"/>
            <a:ext cx="649255" cy="3564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575041" y="2354182"/>
            <a:ext cx="21407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 cube 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8969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radicand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419060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number under the radical bar. The bar groups it, so whatever is under it is evaluated before the root is taken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439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principal square root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850494"/>
            <a:ext cx="31639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the nonnegative one. </a:t>
            </a:r>
          </a:p>
        </p:txBody>
      </p:sp>
      <p:pic>
        <p:nvPicPr>
          <p:cNvPr id="19" name="Picture 18" descr="66ed9a548d73b0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9838" y="4902373"/>
            <a:ext cx="646985" cy="35640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16824" y="4850494"/>
            <a:ext cx="39348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7 — not −7, and not both,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335126"/>
            <a:ext cx="19851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even though </a:t>
            </a:r>
          </a:p>
        </p:txBody>
      </p:sp>
      <p:pic>
        <p:nvPicPr>
          <p:cNvPr id="22" name="Picture 21" descr="95575338750225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961" y="5416517"/>
            <a:ext cx="626554" cy="30646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617516" y="5335126"/>
            <a:ext cx="15457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is also 49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radical bar is a grouping symbol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f0301447559f26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184" y="2194560"/>
            <a:ext cx="5407152" cy="478536"/>
          </a:xfrm>
          <a:prstGeom prst="rect">
            <a:avLst/>
          </a:prstGeom>
        </p:spPr>
      </p:pic>
      <p:pic>
        <p:nvPicPr>
          <p:cNvPr id="11" name="Picture 10" descr="3737ed6aaf2017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180" y="3057144"/>
            <a:ext cx="3185160" cy="478536"/>
          </a:xfrm>
          <a:prstGeom prst="rect">
            <a:avLst/>
          </a:prstGeom>
        </p:spPr>
      </p:pic>
      <p:pic>
        <p:nvPicPr>
          <p:cNvPr id="12" name="Picture 11" descr="4a07f45d5d9ca5f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0740" y="3919728"/>
            <a:ext cx="2825067" cy="42121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85807" y="3901733"/>
            <a:ext cx="18545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</a:t>
            </a:r>
          </a:p>
        </p:txBody>
      </p:sp>
      <p:pic>
        <p:nvPicPr>
          <p:cNvPr id="14" name="Picture 13" descr="fbd6d5a320033c4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3232" y="4018065"/>
            <a:ext cx="697547" cy="24145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88043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Everything under the bar is evaluated before the root is taken.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Square roots and cube roots are not the same shape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4243ac5c29f50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784" y="2194560"/>
            <a:ext cx="1423416" cy="47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10200" y="2205228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59fd66553504e9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543" y="2194560"/>
            <a:ext cx="1453896" cy="47853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68439" y="2205228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4" name="Picture 13" descr="138d560710ac33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783" y="2194560"/>
            <a:ext cx="1901952" cy="478536"/>
          </a:xfrm>
          <a:prstGeom prst="rect">
            <a:avLst/>
          </a:prstGeom>
        </p:spPr>
      </p:pic>
      <p:pic>
        <p:nvPicPr>
          <p:cNvPr id="15" name="Picture 14" descr="b169188f81dcb70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8596" y="3057144"/>
            <a:ext cx="1246632" cy="7894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65228" y="3227832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7" name="Picture 16" descr="df602f9237f1cb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9571" y="3057144"/>
            <a:ext cx="1673352" cy="79857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7552" y="4395216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An odd root keeps the sign of its radicand. A square root sign never gives a negative value.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Radicals alongside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d5f3f835e2d872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6328" y="2194560"/>
            <a:ext cx="2286000" cy="731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2328" y="2331720"/>
            <a:ext cx="11415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  </a:t>
            </a:r>
          </a:p>
        </p:txBody>
      </p:sp>
      <p:pic>
        <p:nvPicPr>
          <p:cNvPr id="12" name="Picture 11" descr="24b3a5f09066cb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671" y="2306193"/>
            <a:ext cx="3398520" cy="478536"/>
          </a:xfrm>
          <a:prstGeom prst="rect">
            <a:avLst/>
          </a:prstGeom>
        </p:spPr>
      </p:pic>
      <p:pic>
        <p:nvPicPr>
          <p:cNvPr id="13" name="Picture 12" descr="0416a625cfa02c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1232" y="3310127"/>
            <a:ext cx="4639056" cy="673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52323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Finish each piece — the radical, the power — and only then put them together.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5e47ed58306c9a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059" y="2103120"/>
            <a:ext cx="2819400" cy="667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7355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0d6c9f96a3ec0d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630680" cy="673608"/>
          </a:xfrm>
          <a:prstGeom prst="rect">
            <a:avLst/>
          </a:prstGeom>
        </p:spPr>
      </p:pic>
      <p:pic>
        <p:nvPicPr>
          <p:cNvPr id="9" name="Picture 8" descr="3737ed6aaf2017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3185160" cy="478536"/>
          </a:xfrm>
          <a:prstGeom prst="rect">
            <a:avLst/>
          </a:prstGeom>
        </p:spPr>
      </p:pic>
      <p:pic>
        <p:nvPicPr>
          <p:cNvPr id="10" name="Picture 9" descr="48d618d0a819b8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21024"/>
            <a:ext cx="1661160" cy="6675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74573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17/4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b20bcbb3e5acef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163" y="1600200"/>
            <a:ext cx="3441192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43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39a98bd65ba9c0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4735" y="1600200"/>
            <a:ext cx="3432048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43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pic>
        <p:nvPicPr>
          <p:cNvPr id="10" name="Picture 9" descr="6dcdcd24bba745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055" y="3556618"/>
            <a:ext cx="1219200" cy="515112"/>
          </a:xfrm>
          <a:prstGeom prst="rect">
            <a:avLst/>
          </a:prstGeom>
        </p:spPr>
      </p:pic>
      <p:pic>
        <p:nvPicPr>
          <p:cNvPr id="11" name="Picture 10" descr="56c69e6e26de48c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0055" y="4196031"/>
            <a:ext cx="2234184" cy="368808"/>
          </a:xfrm>
          <a:prstGeom prst="rect">
            <a:avLst/>
          </a:prstGeom>
        </p:spPr>
      </p:pic>
      <p:pic>
        <p:nvPicPr>
          <p:cNvPr id="12" name="Picture 11" descr="a96b4c18555835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0055" y="4666090"/>
            <a:ext cx="1399032" cy="515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31836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−17/9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8d7699a30e9dd1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2103120"/>
            <a:ext cx="3447288" cy="4998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059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0e80ddb964149c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822191" cy="478536"/>
          </a:xfrm>
          <a:prstGeom prst="rect">
            <a:avLst/>
          </a:prstGeom>
        </p:spPr>
      </p:pic>
      <p:pic>
        <p:nvPicPr>
          <p:cNvPr id="9" name="Picture 8" descr="a2a1fa108c11dc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73096"/>
            <a:ext cx="3989832" cy="478536"/>
          </a:xfrm>
          <a:prstGeom prst="rect">
            <a:avLst/>
          </a:prstGeom>
        </p:spPr>
      </p:pic>
      <p:pic>
        <p:nvPicPr>
          <p:cNvPr id="10" name="Picture 9" descr="64f4a386edd0098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25952"/>
            <a:ext cx="1972056" cy="2773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0.2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d6d7dee63e8529a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40" y="1600200"/>
            <a:ext cx="4358640" cy="62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27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7e55928de2d14c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9915" y="1600200"/>
            <a:ext cx="4361688" cy="62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279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pic>
        <p:nvPicPr>
          <p:cNvPr id="10" name="Picture 9" descr="3d08e3b9f0cd12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1811" y="3373071"/>
            <a:ext cx="1261872" cy="368808"/>
          </a:xfrm>
          <a:prstGeom prst="rect">
            <a:avLst/>
          </a:prstGeom>
        </p:spPr>
      </p:pic>
      <p:pic>
        <p:nvPicPr>
          <p:cNvPr id="11" name="Picture 10" descr="97af87df177bbd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1811" y="3875991"/>
            <a:ext cx="2438400" cy="368808"/>
          </a:xfrm>
          <a:prstGeom prst="rect">
            <a:avLst/>
          </a:prstGeom>
        </p:spPr>
      </p:pic>
      <p:pic>
        <p:nvPicPr>
          <p:cNvPr id="12" name="Picture 11" descr="dbd85bfcc6699f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811" y="4461207"/>
            <a:ext cx="3087624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89469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ea03e9b9b6d508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268" y="2194560"/>
            <a:ext cx="1014984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6c4a40349de610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315" y="2103120"/>
            <a:ext cx="1008888" cy="478536"/>
          </a:xfrm>
          <a:prstGeom prst="rect">
            <a:avLst/>
          </a:prstGeom>
        </p:spPr>
      </p:pic>
      <p:pic>
        <p:nvPicPr>
          <p:cNvPr id="9" name="Picture 8" descr="ac1e77065a05d7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209" y="3035474"/>
            <a:ext cx="1814798" cy="24860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58007" y="2917364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1" name="Picture 10" descr="5c398753ce4ec6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080" y="2929128"/>
            <a:ext cx="1574482" cy="4336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11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patio has an area of  169  square feet.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Fencing for it costs 12 dollars a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one side of the patio?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patio has an area of  169  square feet.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Fencing for it costs 12 dollars a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527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one side of the patio?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2768" y="3587827"/>
            <a:ext cx="313177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Side × side = 169</a:t>
            </a:r>
          </a:p>
        </p:txBody>
      </p:sp>
      <p:pic>
        <p:nvPicPr>
          <p:cNvPr id="12" name="Picture 11" descr="02c22c2952ba09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632" y="4256529"/>
            <a:ext cx="1864518" cy="2541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62150" y="4138419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4" name="Picture 13" descr="8a48b6ab05ac2a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224" y="4150183"/>
            <a:ext cx="1613154" cy="4336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2101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 feet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33a9e56c707a61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8300" y="2194560"/>
            <a:ext cx="1264920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84e87a07475feb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03120"/>
            <a:ext cx="1258824" cy="478536"/>
          </a:xfrm>
          <a:prstGeom prst="rect">
            <a:avLst/>
          </a:prstGeom>
        </p:spPr>
      </p:pic>
      <p:pic>
        <p:nvPicPr>
          <p:cNvPr id="9" name="Picture 8" descr="b0df40523fe93d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6316" y="3032712"/>
            <a:ext cx="3632358" cy="3176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28675" y="2917364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1" name="Picture 10" descr="c1de8963302adf8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748" y="2929128"/>
            <a:ext cx="1853469" cy="4336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−5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7058abdbd15292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074bb924378dc9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043" y="2103120"/>
            <a:ext cx="1551432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64480" y="2906268"/>
            <a:ext cx="3827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Under the bar first:  </a:t>
            </a:r>
          </a:p>
        </p:txBody>
      </p:sp>
      <p:pic>
        <p:nvPicPr>
          <p:cNvPr id="10" name="Picture 9" descr="f5329d2eda710a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242" y="2969133"/>
            <a:ext cx="2947320" cy="306609"/>
          </a:xfrm>
          <a:prstGeom prst="rect">
            <a:avLst/>
          </a:prstGeom>
        </p:spPr>
      </p:pic>
      <p:pic>
        <p:nvPicPr>
          <p:cNvPr id="11" name="Picture 10" descr="5127a0c173e394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344" y="3468624"/>
            <a:ext cx="1271016" cy="432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0287c1279b1b6e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880" y="2194560"/>
            <a:ext cx="1889760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4741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6137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137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169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995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84.5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9953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0537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627b4a23b9288a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7" y="2103120"/>
            <a:ext cx="1883664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5597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7384" y="3481147"/>
            <a:ext cx="38279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Under the bar first:  </a:t>
            </a:r>
          </a:p>
        </p:txBody>
      </p:sp>
      <p:pic>
        <p:nvPicPr>
          <p:cNvPr id="11" name="Picture 10" descr="6f0e461534c4fd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146" y="3596495"/>
            <a:ext cx="2198751" cy="254126"/>
          </a:xfrm>
          <a:prstGeom prst="rect">
            <a:avLst/>
          </a:prstGeom>
        </p:spPr>
      </p:pic>
      <p:pic>
        <p:nvPicPr>
          <p:cNvPr id="12" name="Picture 11" descr="296c25346e41fa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248" y="4043503"/>
            <a:ext cx="1612392" cy="4328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13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24ebae5e5d757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2194560"/>
            <a:ext cx="1152144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5831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246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−1/4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246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not a real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0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−1/8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10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1/4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1627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3d615a9b7c2dc0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212" y="2103120"/>
            <a:ext cx="1149096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668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pic>
        <p:nvPicPr>
          <p:cNvPr id="10" name="Picture 9" descr="44ca813e0eef5c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179" y="3814903"/>
            <a:ext cx="4053840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52316" y="4678582"/>
            <a:ext cx="9276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so   </a:t>
            </a:r>
          </a:p>
        </p:txBody>
      </p:sp>
      <p:pic>
        <p:nvPicPr>
          <p:cNvPr id="12" name="Picture 11" descr="057b68cb0facbc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795" y="4549471"/>
            <a:ext cx="1787175" cy="7154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40205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−1/4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13bd5897204bf8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591" y="2194560"/>
            <a:ext cx="1926335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e6bc0b83f8afa4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115" y="2103120"/>
            <a:ext cx="1923288" cy="789432"/>
          </a:xfrm>
          <a:prstGeom prst="rect">
            <a:avLst/>
          </a:prstGeom>
        </p:spPr>
      </p:pic>
      <p:pic>
        <p:nvPicPr>
          <p:cNvPr id="9" name="Picture 8" descr="7f97372ca3358ff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698" y="3240023"/>
            <a:ext cx="1157382" cy="71542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46081" y="3369135"/>
            <a:ext cx="19394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    and     </a:t>
            </a:r>
          </a:p>
        </p:txBody>
      </p:sp>
      <p:pic>
        <p:nvPicPr>
          <p:cNvPr id="11" name="Picture 10" descr="814fb0376044ab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382" y="3240023"/>
            <a:ext cx="1325880" cy="715422"/>
          </a:xfrm>
          <a:prstGeom prst="rect">
            <a:avLst/>
          </a:prstGeom>
        </p:spPr>
      </p:pic>
      <p:pic>
        <p:nvPicPr>
          <p:cNvPr id="12" name="Picture 11" descr="27befd5d161272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8698" y="4083462"/>
            <a:ext cx="1350264" cy="6065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82717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4/3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7513eedb387e9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194560"/>
            <a:ext cx="2542032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41217f15035bee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8220" y="2103120"/>
            <a:ext cx="2545080" cy="478536"/>
          </a:xfrm>
          <a:prstGeom prst="rect">
            <a:avLst/>
          </a:prstGeom>
        </p:spPr>
      </p:pic>
      <p:pic>
        <p:nvPicPr>
          <p:cNvPr id="9" name="Picture 8" descr="3837c1f0f17629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999" y="2961989"/>
            <a:ext cx="4651248" cy="368808"/>
          </a:xfrm>
          <a:prstGeom prst="rect">
            <a:avLst/>
          </a:prstGeom>
        </p:spPr>
      </p:pic>
      <p:pic>
        <p:nvPicPr>
          <p:cNvPr id="10" name="Picture 9" descr="a0f3c47d5d7510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99" y="3432047"/>
            <a:ext cx="1584960" cy="569976"/>
          </a:xfrm>
          <a:prstGeom prst="rect">
            <a:avLst/>
          </a:prstGeom>
        </p:spPr>
      </p:pic>
      <p:pic>
        <p:nvPicPr>
          <p:cNvPr id="11" name="Picture 10" descr="894447109a3e5d6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9999" y="4093464"/>
            <a:ext cx="3218688" cy="5730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80364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1/100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9094" y="2171700"/>
            <a:ext cx="2757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Simon says that  </a:t>
            </a:r>
          </a:p>
        </p:txBody>
      </p:sp>
      <p:pic>
        <p:nvPicPr>
          <p:cNvPr id="9" name="Picture 8" descr="a849ea34284e1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485" y="2207514"/>
            <a:ext cx="861821" cy="388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1307" y="2171700"/>
            <a:ext cx="3418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is not a real number,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you cannot take the root of a negative.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332" y="2080260"/>
            <a:ext cx="2757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Simon says that  </a:t>
            </a:r>
          </a:p>
        </p:txBody>
      </p:sp>
      <p:pic>
        <p:nvPicPr>
          <p:cNvPr id="9" name="Picture 8" descr="dc8e0a2c2f29cc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723" y="2116074"/>
            <a:ext cx="859345" cy="388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80069" y="2080260"/>
            <a:ext cx="34182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is not a real number,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you cannot take the root of a negative.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Explain why he is wrong, and give the value.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154" y="3988970"/>
            <a:ext cx="105123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 cube root can be negative: three negatives multiply to a negative.</a:t>
            </a:r>
          </a:p>
        </p:txBody>
      </p:sp>
      <p:pic>
        <p:nvPicPr>
          <p:cNvPr id="14" name="Picture 13" descr="32fe0726ff7037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018" y="4624811"/>
            <a:ext cx="2886694" cy="2683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834712" y="4491890"/>
            <a:ext cx="116308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6" name="Picture 15" descr="06859444d1f0d6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637" y="4547802"/>
            <a:ext cx="1404842" cy="3663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06339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−3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e838230098c649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28572"/>
            <a:ext cx="862584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c2339290e86818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22931"/>
            <a:ext cx="676656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ad02206568954f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17291"/>
            <a:ext cx="1271016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3924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64b69718fca3659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00983"/>
            <a:ext cx="566928" cy="6400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41010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3f6f87e04710f3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134612"/>
            <a:ext cx="1484376" cy="3901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4760976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19" name="Picture 18" descr="07d37168da60879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4718304"/>
            <a:ext cx="2304288" cy="542544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5 — Evaluating Expressions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This skill continues tomorrow: one assignment, due at the start of the class after 4.06.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radical expressions — D8J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Order of Operations with Radicals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evaluate a multi-step expression with rational numbers, exponents and radicals by reading its structure.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380cdbfed5fb5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470469"/>
            <a:ext cx="1118616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690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significant digits are in  1.020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719613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2" name="Picture 11" descr="45dfe0c1090fb1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688336"/>
            <a:ext cx="733353" cy="5197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86399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4" name="Picture 13" descr="8c31237e42b535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513312"/>
            <a:ext cx="1077483" cy="215971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380cdbfed5fb59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470469"/>
            <a:ext cx="1118616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76177" y="1440180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6903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How many significant digits are in  1.020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6387" y="2052828"/>
            <a:ext cx="405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719613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4" name="Picture 13" descr="45dfe0c1090fb1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11" y="2688336"/>
            <a:ext cx="733353" cy="51975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949704" y="2665476"/>
            <a:ext cx="71742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9/4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386399"/>
            <a:ext cx="218559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Evaluate:  </a:t>
            </a:r>
          </a:p>
        </p:txBody>
      </p:sp>
      <p:pic>
        <p:nvPicPr>
          <p:cNvPr id="17" name="Picture 16" descr="8c31237e42b535d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957" y="3513312"/>
            <a:ext cx="1077483" cy="215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49081" y="3386399"/>
            <a:ext cx="3865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grouping symbol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92410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anything that holds part of an expression together and is finished first: parentheses, brackets, the radical bar and the fraction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1733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nested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346704"/>
            <a:ext cx="1024128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one grouping symbol inside another. The innermost one is finished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803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multi-step expression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407407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one that takes more than one operation to evaluate. Everything in this unit takes six steps or fewer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The structure, not a mnemonic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103120" y="1993392"/>
          <a:ext cx="795528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/>
                <a:gridCol w="2743200"/>
                <a:gridCol w="457200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Level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1">
                          <a:solidFill>
                            <a:srgbClr val="1A1A1A"/>
                          </a:solidFill>
                          <a:latin typeface="Lexend"/>
                        </a:rPr>
                        <a:t>What it means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Grouping symbols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( ), [ ], the radical bar, the fraction bar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Powers and roots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the same level as each other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Multiply and divide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Add and subtract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20" b="0">
                          <a:solidFill>
                            <a:srgbClr val="1A1A1A"/>
                          </a:solidFill>
                          <a:latin typeface="Lexend"/>
                        </a:rPr>
                        <a:t>left to right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420624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Innermost grouping symbol first, then out.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Left to right means left to right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201d3ee15bc2b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453" y="2285349"/>
            <a:ext cx="2647997" cy="24414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31450" y="2171700"/>
            <a:ext cx="1947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 never   </a:t>
            </a:r>
          </a:p>
        </p:txBody>
      </p:sp>
      <p:pic>
        <p:nvPicPr>
          <p:cNvPr id="12" name="Picture 11" descr="f0147313abe6d9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994" y="2279983"/>
            <a:ext cx="1336071" cy="244141"/>
          </a:xfrm>
          <a:prstGeom prst="rect">
            <a:avLst/>
          </a:prstGeom>
        </p:spPr>
      </p:pic>
      <p:pic>
        <p:nvPicPr>
          <p:cNvPr id="13" name="Picture 12" descr="0ee3a056470a44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0041" y="3078194"/>
            <a:ext cx="2892139" cy="246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52180" y="2967228"/>
            <a:ext cx="1947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 never   </a:t>
            </a:r>
          </a:p>
        </p:txBody>
      </p:sp>
      <p:pic>
        <p:nvPicPr>
          <p:cNvPr id="15" name="Picture 14" descr="b927c0f461bb71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2724" y="3080877"/>
            <a:ext cx="1338754" cy="24414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87552" y="3941064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Multiplication and division are one level. Addition and subtraction are one level. Left to right, both times.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The fraction bar groups, top and bottom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676b63d56095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372" y="2194560"/>
            <a:ext cx="2398776" cy="792480"/>
          </a:xfrm>
          <a:prstGeom prst="rect">
            <a:avLst/>
          </a:prstGeom>
        </p:spPr>
      </p:pic>
      <p:pic>
        <p:nvPicPr>
          <p:cNvPr id="11" name="Picture 10" descr="fb1e10d5d1f5e9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496" y="3371088"/>
            <a:ext cx="4986528" cy="8473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75792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Finish the numerator and finish the denominator before you divide.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6b6fcd5e7b2e7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607" y="2103120"/>
            <a:ext cx="3956304" cy="4785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8457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04e54fe9a15409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249424" cy="411480"/>
          </a:xfrm>
          <a:prstGeom prst="rect">
            <a:avLst/>
          </a:prstGeom>
        </p:spPr>
      </p:pic>
      <p:pic>
        <p:nvPicPr>
          <p:cNvPr id="9" name="Picture 8" descr="21bef9986283dc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6989064" cy="353568"/>
          </a:xfrm>
          <a:prstGeom prst="rect">
            <a:avLst/>
          </a:prstGeom>
        </p:spPr>
      </p:pic>
      <p:pic>
        <p:nvPicPr>
          <p:cNvPr id="10" name="Picture 9" descr="09e7e44a6e73f25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3928"/>
            <a:ext cx="291084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−1.44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47f83e2b495dac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952" y="1600200"/>
            <a:ext cx="4547616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974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aac90390d93a983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9" y="1600200"/>
            <a:ext cx="4541520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9748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9097" y="3286870"/>
            <a:ext cx="30852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Powers and roots:  </a:t>
            </a:r>
          </a:p>
        </p:txBody>
      </p:sp>
      <p:pic>
        <p:nvPicPr>
          <p:cNvPr id="11" name="Picture 10" descr="7ac03a8924eefb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204" y="3373119"/>
            <a:ext cx="1549527" cy="3150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96731" y="3286870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3" name="Picture 12" descr="14243ac5c29f50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620" y="3342782"/>
            <a:ext cx="1089802" cy="3663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99097" y="3789790"/>
            <a:ext cx="393812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Inside the parentheses:  </a:t>
            </a:r>
          </a:p>
        </p:txBody>
      </p:sp>
      <p:pic>
        <p:nvPicPr>
          <p:cNvPr id="15" name="Picture 14" descr="50cf6f024a53d9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064" y="3925045"/>
            <a:ext cx="2109597" cy="214693"/>
          </a:xfrm>
          <a:prstGeom prst="rect">
            <a:avLst/>
          </a:prstGeom>
        </p:spPr>
      </p:pic>
      <p:pic>
        <p:nvPicPr>
          <p:cNvPr id="16" name="Picture 15" descr="9835c37dc0133d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3961" y="4430727"/>
            <a:ext cx="3514344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6421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9.97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b808d9623aef05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731" y="2103120"/>
            <a:ext cx="2734056" cy="847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533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9aec3c395596e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593848" cy="792480"/>
          </a:xfrm>
          <a:prstGeom prst="rect">
            <a:avLst/>
          </a:prstGeom>
        </p:spPr>
      </p:pic>
      <p:pic>
        <p:nvPicPr>
          <p:cNvPr id="9" name="Picture 8" descr="fd77386a9e66a3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987040"/>
            <a:ext cx="3694176" cy="789432"/>
          </a:xfrm>
          <a:prstGeom prst="rect">
            <a:avLst/>
          </a:prstGeom>
        </p:spPr>
      </p:pic>
      <p:pic>
        <p:nvPicPr>
          <p:cNvPr id="10" name="Picture 9" descr="69a6d692b4cc56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4050791"/>
            <a:ext cx="1895856" cy="67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17855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−1/4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a0165d764fa8474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1481328"/>
            <a:ext cx="3081528" cy="847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315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93f2d6cae19f44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519" y="1481328"/>
            <a:ext cx="3078480" cy="8473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3159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</a:t>
            </a:r>
          </a:p>
        </p:txBody>
      </p:sp>
      <p:pic>
        <p:nvPicPr>
          <p:cNvPr id="10" name="Picture 9" descr="6565c690921d94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803" y="3443842"/>
            <a:ext cx="1810512" cy="609600"/>
          </a:xfrm>
          <a:prstGeom prst="rect">
            <a:avLst/>
          </a:prstGeom>
        </p:spPr>
      </p:pic>
      <p:pic>
        <p:nvPicPr>
          <p:cNvPr id="11" name="Picture 10" descr="a2173ad1551df9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803" y="4144882"/>
            <a:ext cx="3212592" cy="612648"/>
          </a:xfrm>
          <a:prstGeom prst="rect">
            <a:avLst/>
          </a:prstGeom>
        </p:spPr>
      </p:pic>
      <p:pic>
        <p:nvPicPr>
          <p:cNvPr id="12" name="Picture 11" descr="03d6a17384790a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803" y="4848970"/>
            <a:ext cx="1091184" cy="5120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549819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25a7622aecf1eb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287" y="2249805"/>
            <a:ext cx="1456944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36fd5fdafeb181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287" y="2158365"/>
            <a:ext cx="1456944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11631" y="2839212"/>
            <a:ext cx="26567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Left to right:  </a:t>
            </a:r>
          </a:p>
        </p:txBody>
      </p:sp>
      <p:pic>
        <p:nvPicPr>
          <p:cNvPr id="10" name="Picture 9" descr="eeef22e3ceb66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210" y="2957322"/>
            <a:ext cx="1618678" cy="254126"/>
          </a:xfrm>
          <a:prstGeom prst="rect">
            <a:avLst/>
          </a:prstGeom>
        </p:spPr>
      </p:pic>
      <p:pic>
        <p:nvPicPr>
          <p:cNvPr id="11" name="Picture 10" descr="58b50d1f788fe1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495" y="3498532"/>
            <a:ext cx="1478280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54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5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tile has side  </a:t>
            </a:r>
          </a:p>
        </p:txBody>
      </p:sp>
      <p:pic>
        <p:nvPicPr>
          <p:cNvPr id="9" name="Picture 8" descr="25d82099734b37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897" y="1887473"/>
            <a:ext cx="842010" cy="388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4907" y="1851660"/>
            <a:ext cx="2211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diagonal is about 19.8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tile?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35456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tile has side  </a:t>
            </a:r>
          </a:p>
        </p:txBody>
      </p:sp>
      <p:pic>
        <p:nvPicPr>
          <p:cNvPr id="9" name="Picture 8" descr="6003818e495bb7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897" y="1887473"/>
            <a:ext cx="839533" cy="388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2430" y="1851660"/>
            <a:ext cx="22114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diagonal is about 19.8 centimeters.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perimeter of the tile?</a:t>
            </a:r>
          </a:p>
        </p:txBody>
      </p:sp>
      <p:pic>
        <p:nvPicPr>
          <p:cNvPr id="13" name="Picture 12" descr="fe182c84c4bdb5f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5277" y="3684236"/>
            <a:ext cx="1642872" cy="4328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10413" y="4222208"/>
            <a:ext cx="22702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Perimeter:  </a:t>
            </a:r>
          </a:p>
        </p:txBody>
      </p:sp>
      <p:pic>
        <p:nvPicPr>
          <p:cNvPr id="15" name="Picture 14" descr="17f44b5618a9d3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477" y="4337556"/>
            <a:ext cx="1607629" cy="25412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79370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56 centimeters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7d69da8346cb7c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246757"/>
            <a:ext cx="1554480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9dc4fd86eed7f2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2155317"/>
            <a:ext cx="1554480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58589" y="2839212"/>
            <a:ext cx="26567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Left to right:  </a:t>
            </a:r>
          </a:p>
        </p:txBody>
      </p:sp>
      <p:pic>
        <p:nvPicPr>
          <p:cNvPr id="10" name="Picture 9" descr="8d7f8b36a59e9c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68" y="2954559"/>
            <a:ext cx="1524762" cy="254126"/>
          </a:xfrm>
          <a:prstGeom prst="rect">
            <a:avLst/>
          </a:prstGeom>
        </p:spPr>
      </p:pic>
      <p:pic>
        <p:nvPicPr>
          <p:cNvPr id="11" name="Picture 10" descr="1f8367c1c48b43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453" y="3495484"/>
            <a:ext cx="1554480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15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2b230be022ca8b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591" y="2194560"/>
            <a:ext cx="1164336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0893d505426886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798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22871" y="3226307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0" name="Picture 9" descr="abe72144a9717f4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490" y="3317224"/>
            <a:ext cx="2482977" cy="259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22871" y="3729227"/>
            <a:ext cx="15832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Bottom:  </a:t>
            </a:r>
          </a:p>
        </p:txBody>
      </p:sp>
      <p:pic>
        <p:nvPicPr>
          <p:cNvPr id="12" name="Picture 11" descr="c8750695812e336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981" y="3817810"/>
            <a:ext cx="2672000" cy="261366"/>
          </a:xfrm>
          <a:prstGeom prst="rect">
            <a:avLst/>
          </a:prstGeom>
        </p:spPr>
      </p:pic>
      <p:pic>
        <p:nvPicPr>
          <p:cNvPr id="13" name="Picture 12" descr="3d14f1f915bfc6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7735" y="4255007"/>
            <a:ext cx="807720" cy="5151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0728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3/5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594d57048b4fb9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339" y="2194560"/>
            <a:ext cx="1386840" cy="341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53291355aab2c4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2103120"/>
            <a:ext cx="1389888" cy="341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9823" y="3414091"/>
            <a:ext cx="208963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Power first:  </a:t>
            </a:r>
          </a:p>
        </p:txBody>
      </p:sp>
      <p:pic>
        <p:nvPicPr>
          <p:cNvPr id="11" name="Picture 10" descr="39ff18f997e09d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294" y="3500340"/>
            <a:ext cx="877443" cy="2590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69823" y="3917011"/>
            <a:ext cx="24988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Then multiply:  </a:t>
            </a:r>
          </a:p>
        </p:txBody>
      </p:sp>
      <p:pic>
        <p:nvPicPr>
          <p:cNvPr id="13" name="Picture 12" descr="1a56c2424612d0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539" y="4052266"/>
            <a:ext cx="1262491" cy="21469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9823" y="4419931"/>
            <a:ext cx="18774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Then add:  </a:t>
            </a:r>
          </a:p>
        </p:txBody>
      </p:sp>
      <p:pic>
        <p:nvPicPr>
          <p:cNvPr id="15" name="Picture 14" descr="345d1dacfb918c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0128" y="4557519"/>
            <a:ext cx="1400175" cy="2123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99143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50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266fcce5418af2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983" y="2194560"/>
            <a:ext cx="987552" cy="792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261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927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27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35.5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613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613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19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286b5294f6ed7d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032" y="2103120"/>
            <a:ext cx="981455" cy="789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6687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8467" y="3792043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1" name="Picture 10" descr="57304b44759ca8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8087" y="3880625"/>
            <a:ext cx="2387298" cy="2613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58467" y="4294963"/>
            <a:ext cx="15832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Bottom:  </a:t>
            </a:r>
          </a:p>
        </p:txBody>
      </p:sp>
      <p:pic>
        <p:nvPicPr>
          <p:cNvPr id="13" name="Picture 12" descr="8824add34145570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578" y="4385879"/>
            <a:ext cx="702421" cy="256698"/>
          </a:xfrm>
          <a:prstGeom prst="rect">
            <a:avLst/>
          </a:prstGeom>
        </p:spPr>
      </p:pic>
      <p:pic>
        <p:nvPicPr>
          <p:cNvPr id="14" name="Picture 13" descr="e3ce27ebfe1bfd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3331" y="4932852"/>
            <a:ext cx="1219200" cy="2133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5369383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6ce0d9f4982b69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3" y="2194560"/>
            <a:ext cx="1810512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74e67f9444e645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980" y="2103120"/>
            <a:ext cx="1813560" cy="411480"/>
          </a:xfrm>
          <a:prstGeom prst="rect">
            <a:avLst/>
          </a:prstGeom>
        </p:spPr>
      </p:pic>
      <p:pic>
        <p:nvPicPr>
          <p:cNvPr id="9" name="Picture 8" descr="db68b18bfb41eb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6128" y="2925460"/>
            <a:ext cx="1066466" cy="259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22595" y="2839212"/>
            <a:ext cx="5234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  (the exponent is on the 2 only)</a:t>
            </a:r>
          </a:p>
        </p:txBody>
      </p:sp>
      <p:pic>
        <p:nvPicPr>
          <p:cNvPr id="11" name="Picture 10" descr="a8317bc2e11e2fe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6128" y="3431381"/>
            <a:ext cx="1115568" cy="313944"/>
          </a:xfrm>
          <a:prstGeom prst="rect">
            <a:avLst/>
          </a:prstGeom>
        </p:spPr>
      </p:pic>
      <p:pic>
        <p:nvPicPr>
          <p:cNvPr id="12" name="Picture 11" descr="ab059e2234c1904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6128" y="3980021"/>
            <a:ext cx="1252728" cy="2133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f06e7d14029634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03" y="2194560"/>
            <a:ext cx="2496312" cy="667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3edde1adf91d2f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080" y="2103120"/>
            <a:ext cx="2499360" cy="673608"/>
          </a:xfrm>
          <a:prstGeom prst="rect">
            <a:avLst/>
          </a:prstGeom>
        </p:spPr>
      </p:pic>
      <p:pic>
        <p:nvPicPr>
          <p:cNvPr id="9" name="Picture 8" descr="3fa91d29a0671f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946" y="3124200"/>
            <a:ext cx="1061799" cy="5157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0745" y="3153465"/>
            <a:ext cx="167094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  and     </a:t>
            </a:r>
          </a:p>
        </p:txBody>
      </p:sp>
      <p:pic>
        <p:nvPicPr>
          <p:cNvPr id="11" name="Picture 10" descr="8172b02b515cb1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4530" y="3126533"/>
            <a:ext cx="835437" cy="513397"/>
          </a:xfrm>
          <a:prstGeom prst="rect">
            <a:avLst/>
          </a:prstGeom>
        </p:spPr>
      </p:pic>
      <p:pic>
        <p:nvPicPr>
          <p:cNvPr id="12" name="Picture 11" descr="116226914234f1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946" y="3731371"/>
            <a:ext cx="2569464" cy="515112"/>
          </a:xfrm>
          <a:prstGeom prst="rect">
            <a:avLst/>
          </a:prstGeom>
        </p:spPr>
      </p:pic>
      <p:pic>
        <p:nvPicPr>
          <p:cNvPr id="13" name="Picture 12" descr="ea27676c0bb858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8946" y="4337923"/>
            <a:ext cx="1481328" cy="5120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9871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17/6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5069" y="2171700"/>
            <a:ext cx="2902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Roscoe says that  </a:t>
            </a:r>
          </a:p>
        </p:txBody>
      </p:sp>
      <p:pic>
        <p:nvPicPr>
          <p:cNvPr id="9" name="Picture 8" descr="c79d4acb3ae0bd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284" y="2194560"/>
            <a:ext cx="1545336" cy="4061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75620" y="2171700"/>
            <a:ext cx="30579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is always positive,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a square is always positive.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2807" y="3432379"/>
            <a:ext cx="43093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Is he right? Give a value of </a:t>
            </a:r>
          </a:p>
        </p:txBody>
      </p:sp>
      <p:pic>
        <p:nvPicPr>
          <p:cNvPr id="13" name="Picture 12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952" y="3606877"/>
            <a:ext cx="143637" cy="1684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8589" y="3432379"/>
            <a:ext cx="2317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that settles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3830" y="2080260"/>
            <a:ext cx="29023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Roscoe says that  </a:t>
            </a:r>
          </a:p>
        </p:txBody>
      </p:sp>
      <p:pic>
        <p:nvPicPr>
          <p:cNvPr id="9" name="Picture 8" descr="349a51316d69c5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046" y="2103120"/>
            <a:ext cx="1547812" cy="4061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76858" y="2080260"/>
            <a:ext cx="30579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is always positive,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because a square is always positive.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2807" y="3340939"/>
            <a:ext cx="43093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Is he right? Give a value of </a:t>
            </a:r>
          </a:p>
        </p:txBody>
      </p:sp>
      <p:pic>
        <p:nvPicPr>
          <p:cNvPr id="13" name="Picture 12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952" y="3515437"/>
            <a:ext cx="143637" cy="1684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48589" y="3340939"/>
            <a:ext cx="23172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that settles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9600" y="4110987"/>
            <a:ext cx="13421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When </a:t>
            </a:r>
          </a:p>
        </p:txBody>
      </p:sp>
      <p:pic>
        <p:nvPicPr>
          <p:cNvPr id="16" name="Picture 15" descr="9784f3a1f264e1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619" y="4229097"/>
            <a:ext cx="1033081" cy="2486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27701" y="4110987"/>
            <a:ext cx="606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  </a:t>
            </a:r>
          </a:p>
        </p:txBody>
      </p:sp>
      <p:pic>
        <p:nvPicPr>
          <p:cNvPr id="18" name="Picture 17" descr="a4391d9dd133494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7009" y="4122751"/>
            <a:ext cx="3483197" cy="433673"/>
          </a:xfrm>
          <a:prstGeom prst="rect">
            <a:avLst/>
          </a:prstGeom>
        </p:spPr>
      </p:pic>
      <p:pic>
        <p:nvPicPr>
          <p:cNvPr id="19" name="Picture 18" descr="a2ae239b6083298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4464" y="4724445"/>
            <a:ext cx="870108" cy="3093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914572" y="4661580"/>
            <a:ext cx="43212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and 0 is not positive.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3308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at n = 121 the value is 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7297de9a2fe937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610867"/>
            <a:ext cx="1676400" cy="2255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503ca8bbf5ad03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205227"/>
            <a:ext cx="1167384" cy="2255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fee2d71f7c46e5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744723"/>
            <a:ext cx="1630680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39547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4e620423e0fdea8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300983"/>
            <a:ext cx="780288" cy="6461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410717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749d7946d074ee2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168139"/>
            <a:ext cx="1514856" cy="335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470153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pic>
        <p:nvPicPr>
          <p:cNvPr id="19" name="Picture 18" descr="16b03c438ff63fe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4735067"/>
            <a:ext cx="2215896" cy="390144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 6 — Order of Operations with Radicals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4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radical expressions — D8J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LESSONS 7–8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Real-World Order of Operations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substitute values into a formula and evaluate it, reading what the situation does rather than hunting for key words.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  <p:sp>
        <p:nvSpPr>
          <p:cNvPr id="11" name="TextBox 10">
            <a:hlinkClick action="ppaction://hlinksldjump" r:id="rId2"/>
          </p:cNvPr>
          <p:cNvSpPr txBox="1"/>
          <p:nvPr/>
        </p:nvSpPr>
        <p:spPr>
          <a:xfrm>
            <a:off x="9372600" y="201168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40" b="0" i="0">
                <a:solidFill>
                  <a:srgbClr val="6B6B6B"/>
                </a:solidFill>
                <a:latin typeface="Arial"/>
              </a:rPr>
              <a:t>←</a:t>
            </a:r>
            <a:r>
              <a:rPr sz="1140" b="0" i="0">
                <a:solidFill>
                  <a:srgbClr val="6B6B6B"/>
                </a:solidFill>
                <a:latin typeface="Lexend"/>
              </a:rPr>
              <a:t> Contents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a7bbd4c851f1e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3997"/>
            <a:ext cx="148437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1" name="Picture 10" descr="f84234db65bcdb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083117"/>
            <a:ext cx="1578864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718427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55999f3eae65eb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88336"/>
            <a:ext cx="735726" cy="5173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384026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5" name="Picture 14" descr="9999ab29d2b727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458725"/>
            <a:ext cx="441436" cy="2634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97351" y="3384026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7" name="Picture 16" descr="48277941d45974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660" y="3513312"/>
            <a:ext cx="595701" cy="21359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53361" y="3384026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a7bbd4c851f1e1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3997"/>
            <a:ext cx="1484376" cy="335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41937" y="1440180"/>
            <a:ext cx="408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8569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</a:t>
            </a:r>
          </a:p>
        </p:txBody>
      </p:sp>
      <p:pic>
        <p:nvPicPr>
          <p:cNvPr id="12" name="Picture 11" descr="f84234db65bcdb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59" y="2083117"/>
            <a:ext cx="1578864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50563" y="2052828"/>
            <a:ext cx="8623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25/2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718427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55999f3eae65eb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688336"/>
            <a:ext cx="735726" cy="51738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52078" y="2665476"/>
            <a:ext cx="7538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4/3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384026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8" name="Picture 17" descr="9999ab29d2b7274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458725"/>
            <a:ext cx="441436" cy="2634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297351" y="3384026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20" name="Picture 19" descr="48277941d45974d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660" y="3513312"/>
            <a:ext cx="595701" cy="21359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53361" y="3384026"/>
            <a:ext cx="2773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2195" y="3384026"/>
            <a:ext cx="5515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18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912389"/>
            <a:ext cx="48700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a rule written with letters, such as </a:t>
            </a:r>
          </a:p>
        </p:txBody>
      </p:sp>
      <p:pic>
        <p:nvPicPr>
          <p:cNvPr id="10" name="Picture 9" descr="5d0fc710cd450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907" y="1892410"/>
            <a:ext cx="1189545" cy="4971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65453" y="1912389"/>
            <a:ext cx="2854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439859"/>
            <a:ext cx="87905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that becomes a number once each letter is replaced by a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7536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substitute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504738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replace a letter with its value — in parentheses, so that a negative value keeps its sign and a power stays attached to the whole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9661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unit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959031"/>
            <a:ext cx="10241280" cy="78717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what the answer is counted in: feet, dollars, joules. A real-world answer without a unit is not an answer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Substituting: the value goes in parentheses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4ee9fb59b86866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994" y="1993392"/>
            <a:ext cx="1408509" cy="590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97503" y="2059908"/>
            <a:ext cx="14529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with   </a:t>
            </a:r>
          </a:p>
        </p:txBody>
      </p:sp>
      <p:pic>
        <p:nvPicPr>
          <p:cNvPr id="12" name="Picture 11" descr="c40d2caa36f208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327" y="2170874"/>
            <a:ext cx="989980" cy="2468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03308" y="2059908"/>
            <a:ext cx="13881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4" name="Picture 13" descr="039a12261cb8388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287" y="2173557"/>
            <a:ext cx="869251" cy="2441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23539" y="2059908"/>
            <a:ext cx="2861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</a:t>
            </a:r>
          </a:p>
        </p:txBody>
      </p:sp>
      <p:pic>
        <p:nvPicPr>
          <p:cNvPr id="16" name="Picture 15" descr="8d85e48358ee9db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2506" y="2857944"/>
            <a:ext cx="4856003" cy="590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868509" y="2924460"/>
            <a:ext cx="14176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joules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2394" y="3699636"/>
            <a:ext cx="11736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with   </a:t>
            </a:r>
          </a:p>
        </p:txBody>
      </p:sp>
      <p:pic>
        <p:nvPicPr>
          <p:cNvPr id="19" name="Picture 18" descr="baf1e744513c75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8860" y="3813286"/>
            <a:ext cx="901446" cy="2387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170306" y="3699636"/>
            <a:ext cx="6586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:    </a:t>
            </a:r>
          </a:p>
        </p:txBody>
      </p:sp>
      <p:pic>
        <p:nvPicPr>
          <p:cNvPr id="21" name="Picture 20" descr="37650f0ab64081b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1768" y="3754262"/>
            <a:ext cx="2122154" cy="3621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13923" y="3699636"/>
            <a:ext cx="18545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</a:t>
            </a:r>
          </a:p>
        </p:txBody>
      </p:sp>
      <p:pic>
        <p:nvPicPr>
          <p:cNvPr id="23" name="Picture 22" descr="9d75179d4c71dcb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1347" y="3754262"/>
            <a:ext cx="1397777" cy="29779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87552" y="4472305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Substitute in parentheses, then evaluate by the structure — powers before products.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Key words do not decide the operation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13983" y="1970532"/>
            <a:ext cx="78707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15 dollars plus 4 dollars for each of 6 gigabytes:</a:t>
            </a:r>
          </a:p>
        </p:txBody>
      </p:sp>
      <p:pic>
        <p:nvPicPr>
          <p:cNvPr id="11" name="Picture 10" descr="bbb5fdfab9bb65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728341"/>
            <a:ext cx="2249424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91939" y="3342132"/>
            <a:ext cx="81148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15 dollars for each of 4 lines, plus 6 dollars of tax:</a:t>
            </a:r>
          </a:p>
        </p:txBody>
      </p:sp>
      <p:pic>
        <p:nvPicPr>
          <p:cNvPr id="13" name="Picture 12" descr="452f0d3dea2c60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952" y="4099940"/>
            <a:ext cx="2261616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8006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The same words, the same numbers, different structures. Read the situation.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Round once, at the end — and say the unit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aa366538d8b58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336" y="2194560"/>
            <a:ext cx="4128944" cy="4212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48280" y="2176565"/>
            <a:ext cx="1131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feet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0392" y="2976959"/>
            <a:ext cx="50028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rounding the side to 14 first:   </a:t>
            </a:r>
          </a:p>
        </p:txBody>
      </p:sp>
      <p:pic>
        <p:nvPicPr>
          <p:cNvPr id="13" name="Picture 12" descr="54bb3b3bdd6a6a1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6034" y="3082559"/>
            <a:ext cx="1521190" cy="31121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77224" y="2976959"/>
            <a:ext cx="11310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feet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95079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Carry the exact value, round once at the end, and write the unit.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0377" y="1779936"/>
            <a:ext cx="2865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Kinetic energy is  </a:t>
            </a:r>
          </a:p>
        </p:txBody>
      </p:sp>
      <p:pic>
        <p:nvPicPr>
          <p:cNvPr id="9" name="Picture 8" descr="5d0fc710cd450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375" y="1737360"/>
            <a:ext cx="1297686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16061" y="1779936"/>
            <a:ext cx="29224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30828" y="2531173"/>
            <a:ext cx="15801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for mass </a:t>
            </a:r>
          </a:p>
        </p:txBody>
      </p:sp>
      <p:pic>
        <p:nvPicPr>
          <p:cNvPr id="12" name="Picture 11" descr="cdb2d0303764b9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841" y="2705671"/>
            <a:ext cx="250126" cy="16840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23967" y="2531173"/>
            <a:ext cx="38369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kilograms and speed </a:t>
            </a:r>
          </a:p>
        </p:txBody>
      </p:sp>
      <p:pic>
        <p:nvPicPr>
          <p:cNvPr id="14" name="Picture 13" descr="ed57ccb980491c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771" y="2708148"/>
            <a:ext cx="168401" cy="1659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92173" y="2531173"/>
            <a:ext cx="3475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in meters per second.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2803" y="3216973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17" name="Picture 16" descr="e17610a9e5f4689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9219" y="3339465"/>
            <a:ext cx="190690" cy="2204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59909" y="3216973"/>
            <a:ext cx="71759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for a car of mass 1,200 kg travelling at 15 m/s.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0851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Give the answer with its unit.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593a1a205fd7f5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965704" cy="670560"/>
          </a:xfrm>
          <a:prstGeom prst="rect">
            <a:avLst/>
          </a:prstGeom>
        </p:spPr>
      </p:pic>
      <p:pic>
        <p:nvPicPr>
          <p:cNvPr id="9" name="Picture 8" descr="6c72b1ad8ee77d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5120"/>
            <a:ext cx="2700528" cy="670560"/>
          </a:xfrm>
          <a:prstGeom prst="rect">
            <a:avLst/>
          </a:prstGeom>
        </p:spPr>
      </p:pic>
      <p:pic>
        <p:nvPicPr>
          <p:cNvPr id="10" name="Picture 9" descr="7be42c48f704a7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810000"/>
            <a:ext cx="3648456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2076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135,000 joules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9174" y="1642776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9" name="Picture 8" descr="5d0fc710cd450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590" y="1600200"/>
            <a:ext cx="1297686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3276" y="1642776"/>
            <a:ext cx="8950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for  </a:t>
            </a:r>
          </a:p>
        </p:txBody>
      </p:sp>
      <p:pic>
        <p:nvPicPr>
          <p:cNvPr id="11" name="Picture 10" descr="ffb5ee49e4e6db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183" y="1765268"/>
            <a:ext cx="1099566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0749" y="1642776"/>
            <a:ext cx="16647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kg  and  </a:t>
            </a:r>
          </a:p>
        </p:txBody>
      </p:sp>
      <p:pic>
        <p:nvPicPr>
          <p:cNvPr id="13" name="Picture 12" descr="fcf34a7dd0413e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8339" y="1762791"/>
            <a:ext cx="787527" cy="2228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65866" y="1642776"/>
            <a:ext cx="1043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m/s.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936" y="1644015"/>
            <a:ext cx="94357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9" name="Picture 8" descr="4ee9fb59b86866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352" y="1600200"/>
            <a:ext cx="1300162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94514" y="1644015"/>
            <a:ext cx="8950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for  </a:t>
            </a:r>
          </a:p>
        </p:txBody>
      </p:sp>
      <p:pic>
        <p:nvPicPr>
          <p:cNvPr id="11" name="Picture 10" descr="68a8df29f71021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2422" y="1766506"/>
            <a:ext cx="1099566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51988" y="1644015"/>
            <a:ext cx="16647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kg  and  </a:t>
            </a:r>
          </a:p>
        </p:txBody>
      </p:sp>
      <p:pic>
        <p:nvPicPr>
          <p:cNvPr id="13" name="Picture 12" descr="9a2812485007914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9577" y="1764030"/>
            <a:ext cx="787527" cy="2228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767104" y="1644015"/>
            <a:ext cx="1043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m/s.</a:t>
            </a:r>
          </a:p>
        </p:txBody>
      </p:sp>
      <p:pic>
        <p:nvPicPr>
          <p:cNvPr id="15" name="Picture 14" descr="3762f247991bf7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2534602"/>
            <a:ext cx="2112264" cy="301752"/>
          </a:xfrm>
          <a:prstGeom prst="rect">
            <a:avLst/>
          </a:prstGeom>
        </p:spPr>
      </p:pic>
      <p:pic>
        <p:nvPicPr>
          <p:cNvPr id="16" name="Picture 15" descr="ca71fa474550c7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18688" y="3031997"/>
            <a:ext cx="5836920" cy="606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61,200 joules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square floor of side 9 feet is carpeted.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76458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Carpet is 2.89 dollars a square foot and padding is 0.75 dollars a square foot.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492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Installation is a flat 95 dollars. Find the total cost.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f0ec63a4d8a0e1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285744" cy="411480"/>
          </a:xfrm>
          <a:prstGeom prst="rect">
            <a:avLst/>
          </a:prstGeom>
        </p:spPr>
      </p:pic>
      <p:pic>
        <p:nvPicPr>
          <p:cNvPr id="9" name="Picture 8" descr="704c60e1909449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2499360" cy="353568"/>
          </a:xfrm>
          <a:prstGeom prst="rect">
            <a:avLst/>
          </a:prstGeom>
        </p:spPr>
      </p:pic>
      <p:pic>
        <p:nvPicPr>
          <p:cNvPr id="10" name="Picture 9" descr="12efb6d7268520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3928"/>
            <a:ext cx="3825240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389.84 dollars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square bathroom floor of side 6 feet is tiled.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Tile is 4.25 dollars a square foot and grout is a flat 13.48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square bathroom floor of side 6 feet is tiled.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Tile is 4.25 dollars a square foot and grout is a flat 13.48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83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45131" y="3267787"/>
            <a:ext cx="1177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Area:  </a:t>
            </a:r>
          </a:p>
        </p:txBody>
      </p:sp>
      <p:pic>
        <p:nvPicPr>
          <p:cNvPr id="12" name="Picture 11" descr="030c2bd87e10b7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793" y="3356369"/>
            <a:ext cx="865774" cy="2613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45131" y="3770707"/>
            <a:ext cx="9838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Tile:  </a:t>
            </a:r>
          </a:p>
        </p:txBody>
      </p:sp>
      <p:pic>
        <p:nvPicPr>
          <p:cNvPr id="14" name="Picture 13" descr="24cf65e451cd10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1861" y="3905962"/>
            <a:ext cx="1887902" cy="2146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45131" y="4273627"/>
            <a:ext cx="11947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Total:  </a:t>
            </a:r>
          </a:p>
        </p:txBody>
      </p:sp>
      <p:pic>
        <p:nvPicPr>
          <p:cNvPr id="16" name="Picture 15" descr="2dabb82215e595d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2728" y="4408882"/>
            <a:ext cx="2615993" cy="21469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4512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166.48 dollars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5958" y="2171700"/>
            <a:ext cx="1683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011b5debc6280b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981" y="2242185"/>
            <a:ext cx="463105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05087" y="2171700"/>
            <a:ext cx="1344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808745f769ad1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604" y="2291715"/>
            <a:ext cx="809815" cy="2228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22420" y="21717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4720" y="2080260"/>
            <a:ext cx="1683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1f66cf6f8dfc2bd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743" y="2150745"/>
            <a:ext cx="465582" cy="277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06325" y="2080260"/>
            <a:ext cx="1344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808745f769ad10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843" y="2200275"/>
            <a:ext cx="809815" cy="2228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23658" y="20802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pic>
        <p:nvPicPr>
          <p:cNvPr id="13" name="Picture 12" descr="f32b4b5eddd912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479" y="2928461"/>
            <a:ext cx="1539240" cy="313944"/>
          </a:xfrm>
          <a:prstGeom prst="rect">
            <a:avLst/>
          </a:prstGeom>
        </p:spPr>
      </p:pic>
      <p:pic>
        <p:nvPicPr>
          <p:cNvPr id="14" name="Picture 13" descr="a8317bc2e11e2fe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479" y="3431381"/>
            <a:ext cx="1115568" cy="313944"/>
          </a:xfrm>
          <a:prstGeom prst="rect">
            <a:avLst/>
          </a:prstGeom>
        </p:spPr>
      </p:pic>
      <p:pic>
        <p:nvPicPr>
          <p:cNvPr id="15" name="Picture 14" descr="946a1754962a1d8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479" y="3980021"/>
            <a:ext cx="1161288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12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cyclist has a mass of 70 kilograms and rides at 8 meters per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Her bicycle cost 480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424664"/>
            <a:ext cx="2865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Kinetic energy is  </a:t>
            </a:r>
          </a:p>
        </p:txBody>
      </p:sp>
      <p:pic>
        <p:nvPicPr>
          <p:cNvPr id="11" name="Picture 10" descr="5d0fc710cd450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37" y="3382087"/>
            <a:ext cx="1297686" cy="5423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60123" y="3424664"/>
            <a:ext cx="2200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for a mass  </a:t>
            </a:r>
          </a:p>
        </p:txBody>
      </p:sp>
      <p:pic>
        <p:nvPicPr>
          <p:cNvPr id="13" name="Picture 12" descr="cdb2d0303764b9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3048" y="3599162"/>
            <a:ext cx="250126" cy="1684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73175" y="3424664"/>
            <a:ext cx="2386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and a speed  </a:t>
            </a:r>
          </a:p>
        </p:txBody>
      </p:sp>
      <p:pic>
        <p:nvPicPr>
          <p:cNvPr id="15" name="Picture 14" descr="ed57ccb980491c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638" y="3601638"/>
            <a:ext cx="168401" cy="165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91040" y="3424664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2560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her kinetic energy.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475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cyclist has a mass of 70 kilograms and rides at 8 meters per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Her bicycle cost 480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425902"/>
            <a:ext cx="2865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Kinetic energy is  </a:t>
            </a:r>
          </a:p>
        </p:txBody>
      </p:sp>
      <p:pic>
        <p:nvPicPr>
          <p:cNvPr id="11" name="Picture 10" descr="4ee9fb59b86866b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37" y="3382087"/>
            <a:ext cx="1300162" cy="54483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62600" y="3425902"/>
            <a:ext cx="22000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for a mass  </a:t>
            </a:r>
          </a:p>
        </p:txBody>
      </p:sp>
      <p:pic>
        <p:nvPicPr>
          <p:cNvPr id="13" name="Picture 12" descr="cdb2d0303764b9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525" y="3600400"/>
            <a:ext cx="250126" cy="1684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75651" y="3425902"/>
            <a:ext cx="2386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and a speed  </a:t>
            </a:r>
          </a:p>
        </p:txBody>
      </p:sp>
      <p:pic>
        <p:nvPicPr>
          <p:cNvPr id="15" name="Picture 14" descr="ed57ccb980491c8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5114" y="3602876"/>
            <a:ext cx="168401" cy="1659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93516" y="3425902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28085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Find her kinetic energy.</a:t>
            </a:r>
          </a:p>
        </p:txBody>
      </p:sp>
      <p:pic>
        <p:nvPicPr>
          <p:cNvPr id="18" name="Picture 17" descr="39c59a038134af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0563" y="4786055"/>
            <a:ext cx="4770120" cy="6065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52976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2,240 joules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Renting a kayak costs 17 dollars plus 9 dollars for each hour.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cost of 3 hours.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Renting a kayak costs 17 dollars plus 9 dollars for each hour.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cost of 3 hours.</a:t>
            </a:r>
          </a:p>
        </p:txBody>
      </p:sp>
      <p:pic>
        <p:nvPicPr>
          <p:cNvPr id="10" name="Picture 9" descr="4878fd7dba5b8de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4939" y="3369323"/>
            <a:ext cx="1365504" cy="252984"/>
          </a:xfrm>
          <a:prstGeom prst="rect">
            <a:avLst/>
          </a:prstGeom>
        </p:spPr>
      </p:pic>
      <p:pic>
        <p:nvPicPr>
          <p:cNvPr id="11" name="Picture 10" descr="fcf2b27a5b2a71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4939" y="3902723"/>
            <a:ext cx="1801368" cy="252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44 dollars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floor of side 8 feet is tiled at 3.50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Installation is a flat 60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floor of side 8 feet is tiled at 3.50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Installation is a flat 60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1009" y="3824378"/>
            <a:ext cx="117782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Area:  </a:t>
            </a:r>
          </a:p>
        </p:txBody>
      </p:sp>
      <p:pic>
        <p:nvPicPr>
          <p:cNvPr id="12" name="Picture 11" descr="c7c93517f0e2c3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671" y="3912961"/>
            <a:ext cx="893778" cy="259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01009" y="4327298"/>
            <a:ext cx="98389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Tile:  </a:t>
            </a:r>
          </a:p>
        </p:txBody>
      </p:sp>
      <p:pic>
        <p:nvPicPr>
          <p:cNvPr id="14" name="Picture 13" descr="d34fe4cc863321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739" y="4462553"/>
            <a:ext cx="1934575" cy="2146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01009" y="4830218"/>
            <a:ext cx="11947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Total:  </a:t>
            </a:r>
          </a:p>
        </p:txBody>
      </p:sp>
      <p:pic>
        <p:nvPicPr>
          <p:cNvPr id="16" name="Picture 15" descr="ac2fcdbdf825fb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8606" y="4965473"/>
            <a:ext cx="1904238" cy="21469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54017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284 dollars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8187" y="2237136"/>
            <a:ext cx="1683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afdff26349098b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4211" y="2194560"/>
            <a:ext cx="804862" cy="542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9073" y="2237136"/>
            <a:ext cx="1344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938dd359498bb5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591" y="2359628"/>
            <a:ext cx="933640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50231" y="2237136"/>
            <a:ext cx="11255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3" name="Picture 12" descr="f632c3e74aa909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589" y="2362104"/>
            <a:ext cx="621601" cy="2228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60190" y="2237136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11233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67755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67755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36335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363352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3,600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69192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6949" y="2146935"/>
            <a:ext cx="1683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d1e305187b6b37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973" y="2103120"/>
            <a:ext cx="807339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0312" y="2146935"/>
            <a:ext cx="1344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68297ebc4f2432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829" y="2269426"/>
            <a:ext cx="933640" cy="2253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51470" y="2146935"/>
            <a:ext cx="112551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3" name="Picture 12" descr="f632c3e74aa909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827" y="2271903"/>
            <a:ext cx="621601" cy="2228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61429" y="2146935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92226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value?</a:t>
            </a:r>
          </a:p>
        </p:txBody>
      </p:sp>
      <p:pic>
        <p:nvPicPr>
          <p:cNvPr id="16" name="Picture 15" descr="1adf52fb308924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7971" y="3615449"/>
            <a:ext cx="1517904" cy="304800"/>
          </a:xfrm>
          <a:prstGeom prst="rect">
            <a:avLst/>
          </a:prstGeom>
        </p:spPr>
      </p:pic>
      <p:pic>
        <p:nvPicPr>
          <p:cNvPr id="17" name="Picture 16" descr="f5a67ba185f37fd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971" y="4109797"/>
            <a:ext cx="3578352" cy="6065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85350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180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patio of side 12 feet is sealed at 1.25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Delivery of the sealer is a flat 38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06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gives the total cost?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12(1.25) + 38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569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 + 1.25 + 38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(1.25 + 38)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42766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(1.25) + 38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4860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 square patio of side 12 feet is sealed at 1.25 dollars a square foot.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Delivery of the sealer is a flat 38 dollars.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992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gives the total cost?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8974" y="3824378"/>
            <a:ext cx="11063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  </a:t>
            </a:r>
          </a:p>
        </p:txBody>
      </p:sp>
      <p:pic>
        <p:nvPicPr>
          <p:cNvPr id="12" name="Picture 11" descr="8267fb8fcdfcb9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198" y="3910627"/>
            <a:ext cx="392049" cy="259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0247" y="3824378"/>
            <a:ext cx="5531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square feet, at 1.25 dollars each:   </a:t>
            </a:r>
          </a:p>
        </p:txBody>
      </p:sp>
      <p:pic>
        <p:nvPicPr>
          <p:cNvPr id="14" name="Picture 13" descr="7b1b2eac3aeeeb7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4730" y="3912961"/>
            <a:ext cx="1187815" cy="2613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8974" y="4327298"/>
            <a:ext cx="48466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The 38 dollars is added once:   </a:t>
            </a:r>
          </a:p>
        </p:txBody>
      </p:sp>
      <p:pic>
        <p:nvPicPr>
          <p:cNvPr id="16" name="Picture 15" descr="ce65cf9872ebd84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502" y="4415881"/>
            <a:ext cx="2557653" cy="2613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77240" y="489879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12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2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(1.25) + 38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4344" y="2171700"/>
            <a:ext cx="5468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garden has 4 sides, each  </a:t>
            </a:r>
          </a:p>
        </p:txBody>
      </p:sp>
      <p:pic>
        <p:nvPicPr>
          <p:cNvPr id="9" name="Picture 8" descr="798a5139adaa76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332" y="2207514"/>
            <a:ext cx="864298" cy="388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59631" y="2171700"/>
            <a:ext cx="1774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feet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its perimeter, to the nearest hundredth of a foot.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6820" y="2080260"/>
            <a:ext cx="5468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square garden has 4 sides, each  </a:t>
            </a:r>
          </a:p>
        </p:txBody>
      </p:sp>
      <p:pic>
        <p:nvPicPr>
          <p:cNvPr id="9" name="Picture 8" descr="d8ed0de82c731b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809" y="2116074"/>
            <a:ext cx="859345" cy="38881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57154" y="2080260"/>
            <a:ext cx="1774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feet long.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Find its perimeter, to the nearest hundredth of a foot.</a:t>
            </a:r>
          </a:p>
        </p:txBody>
      </p:sp>
      <p:pic>
        <p:nvPicPr>
          <p:cNvPr id="12" name="Picture 11" descr="aa26d55f7ae649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771" y="3436951"/>
            <a:ext cx="2532888" cy="432816"/>
          </a:xfrm>
          <a:prstGeom prst="rect">
            <a:avLst/>
          </a:prstGeom>
        </p:spPr>
      </p:pic>
      <p:pic>
        <p:nvPicPr>
          <p:cNvPr id="13" name="Picture 12" descr="351ed85fae5af7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771" y="4094747"/>
            <a:ext cx="2968752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48.99 feet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4744" y="2238375"/>
            <a:ext cx="1683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d07fc0815ebc50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767" y="2194560"/>
            <a:ext cx="839533" cy="544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20301" y="2238375"/>
            <a:ext cx="1344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b10d32bef8baa2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818" y="2363343"/>
            <a:ext cx="641413" cy="2228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69232" y="2238375"/>
            <a:ext cx="4640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3" name="Picture 12" descr="f4a366969adde4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6164" y="2350960"/>
            <a:ext cx="651319" cy="2352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47483" y="2238375"/>
            <a:ext cx="4640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5" name="Picture 14" descr="43fbcf2c2a45ea2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4415" y="2363343"/>
            <a:ext cx="609219" cy="222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83634" y="2238375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3506" y="2148173"/>
            <a:ext cx="16831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Evaluate  </a:t>
            </a:r>
          </a:p>
        </p:txBody>
      </p:sp>
      <p:pic>
        <p:nvPicPr>
          <p:cNvPr id="9" name="Picture 8" descr="e9fde38d04c0ca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529" y="2103120"/>
            <a:ext cx="837057" cy="54730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16586" y="2148173"/>
            <a:ext cx="134467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b10d32bef8baa2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104" y="2273141"/>
            <a:ext cx="641413" cy="2228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165517" y="2148173"/>
            <a:ext cx="4640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3" name="Picture 12" descr="723048b2d1c488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2449" y="2260758"/>
            <a:ext cx="653796" cy="23526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46245" y="2148173"/>
            <a:ext cx="4640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15" name="Picture 14" descr="848bbba5727756a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3177" y="2273141"/>
            <a:ext cx="611695" cy="2228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84872" y="2148173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2318" y="2975038"/>
            <a:ext cx="11413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8" name="Picture 17" descr="e81a928ba8ce6df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6461" y="3035141"/>
            <a:ext cx="2872740" cy="309372"/>
          </a:xfrm>
          <a:prstGeom prst="rect">
            <a:avLst/>
          </a:prstGeom>
        </p:spPr>
      </p:pic>
      <p:pic>
        <p:nvPicPr>
          <p:cNvPr id="19" name="Picture 18" descr="aafef2d9b5795f3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7182" y="3631310"/>
            <a:ext cx="1453896" cy="2529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One pizza order costs 13 dollars plus 2 dollars for each of 5 toppings.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1576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Another costs 13 dollars for each of 2 pizzas, plus 5 dollars for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3697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Find both totals, and say why the key words could not have told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One pizza order costs 13 dollars plus 2 dollars for each of 5 toppings.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24328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Another costs 13 dollars for each of 2 pizzas, plus 5 dollars for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4553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Find both totals, and say why the key words could not have told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49011" y="3717036"/>
            <a:ext cx="20379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First order:  </a:t>
            </a:r>
          </a:p>
        </p:txBody>
      </p:sp>
      <p:pic>
        <p:nvPicPr>
          <p:cNvPr id="12" name="Picture 11" descr="db2cb275f08ab7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9777" y="3854624"/>
            <a:ext cx="2919364" cy="2123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749011" y="4219956"/>
            <a:ext cx="24900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Second order:  </a:t>
            </a:r>
          </a:p>
        </p:txBody>
      </p:sp>
      <p:pic>
        <p:nvPicPr>
          <p:cNvPr id="14" name="Picture 13" descr="ecde91c60d696d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1885" y="4355211"/>
            <a:ext cx="2760678" cy="21469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49011" y="4722876"/>
            <a:ext cx="88006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Both say "plus" and "for each". What repeats is different.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9437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23 dollars and 31 dollars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8e7af367fc956f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86484"/>
            <a:ext cx="466344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93976" y="1495044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1" name="Picture 10" descr="368514c03b325e8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284" y="1612391"/>
            <a:ext cx="810768" cy="222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154936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3" name="Picture 12" descr="76e92664c8540a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112263"/>
            <a:ext cx="807720" cy="5425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35352" y="2154936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15" name="Picture 14" descr="0531a46c557d60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660" y="2270759"/>
            <a:ext cx="908304" cy="22555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03964" y="2154936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17" name="Picture 16" descr="db6b9bf3d6868ca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305" y="2273807"/>
            <a:ext cx="649224" cy="2194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28818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9" name="Picture 18" descr="2ccaff4dbf2c8eb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7632" y="2837687"/>
            <a:ext cx="841248" cy="5455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468880" y="2881883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21" name="Picture 20" descr="bd1f822a1acce55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9188" y="2997707"/>
            <a:ext cx="646176" cy="22555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275364" y="2881883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3" name="Picture 22" descr="ca3738318bc6ad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1805" y="2993135"/>
            <a:ext cx="630936" cy="2346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22741" y="2881883"/>
            <a:ext cx="4536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,  </a:t>
            </a:r>
          </a:p>
        </p:txBody>
      </p:sp>
      <p:pic>
        <p:nvPicPr>
          <p:cNvPr id="25" name="Picture 24" descr="26463fb98544f31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39182" y="3000755"/>
            <a:ext cx="609600" cy="21945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60120" y="3543299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543299"/>
            <a:ext cx="95440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square room of side 10 feet is carpeted at 2.65 dollars a square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982211"/>
            <a:ext cx="80930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foot, with a flat 55 dollars for fitting. Find the total cost.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7657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30" name="Picture 29" descr="51cdd467e13c212c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27632" y="4631436"/>
            <a:ext cx="1627632" cy="34747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255264" y="4576571"/>
            <a:ext cx="12974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when  </a:t>
            </a:r>
          </a:p>
        </p:txBody>
      </p:sp>
      <p:pic>
        <p:nvPicPr>
          <p:cNvPr id="32" name="Picture 31" descr="213bf21424f7f3b9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5572" y="4695444"/>
            <a:ext cx="646176" cy="2194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61748" y="4576571"/>
            <a:ext cx="10875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and  </a:t>
            </a:r>
          </a:p>
        </p:txBody>
      </p:sp>
      <p:pic>
        <p:nvPicPr>
          <p:cNvPr id="34" name="Picture 33" descr="393881ab0a53049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12089" y="4657344"/>
            <a:ext cx="612648" cy="29565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60120" y="517093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5170931"/>
            <a:ext cx="98511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 gym charges 25 dollars to join plus 8 dollars for each of 6 classes.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4480" y="5609844"/>
            <a:ext cx="2861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total cost.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7–8 — Real-World Order of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by the unit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variable expressions: word problems — DPG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