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37.xml"/><Relationship Id="rId4" Type="http://schemas.openxmlformats.org/officeDocument/2006/relationships/slide" Target="slide71.xml"/><Relationship Id="rId5" Type="http://schemas.openxmlformats.org/officeDocument/2006/relationships/slide" Target="slide105.xml"/><Relationship Id="rId6" Type="http://schemas.openxmlformats.org/officeDocument/2006/relationships/slide" Target="slide139.xml"/><Relationship Id="rId7" Type="http://schemas.openxmlformats.org/officeDocument/2006/relationships/slide" Target="slide17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image" Target="../media/image4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5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image" Target="../media/image55.png"/><Relationship Id="rId4" Type="http://schemas.openxmlformats.org/officeDocument/2006/relationships/image" Target="../media/image5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Relationship Id="rId5" Type="http://schemas.openxmlformats.org/officeDocument/2006/relationships/image" Target="../media/image6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63.png"/><Relationship Id="rId4" Type="http://schemas.openxmlformats.org/officeDocument/2006/relationships/image" Target="../media/image65.png"/><Relationship Id="rId5" Type="http://schemas.openxmlformats.org/officeDocument/2006/relationships/image" Target="../media/image66.png"/><Relationship Id="rId6" Type="http://schemas.openxmlformats.org/officeDocument/2006/relationships/image" Target="../media/image6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5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Relationship Id="rId3" Type="http://schemas.openxmlformats.org/officeDocument/2006/relationships/image" Target="../media/image71.png"/><Relationship Id="rId4" Type="http://schemas.openxmlformats.org/officeDocument/2006/relationships/image" Target="../media/image72.png"/><Relationship Id="rId5" Type="http://schemas.openxmlformats.org/officeDocument/2006/relationships/image" Target="../media/image73.png"/><Relationship Id="rId6" Type="http://schemas.openxmlformats.org/officeDocument/2006/relationships/image" Target="../media/image74.png"/><Relationship Id="rId7" Type="http://schemas.openxmlformats.org/officeDocument/2006/relationships/image" Target="../media/image75.png"/><Relationship Id="rId8" Type="http://schemas.openxmlformats.org/officeDocument/2006/relationships/image" Target="../media/image7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Relationship Id="rId3" Type="http://schemas.openxmlformats.org/officeDocument/2006/relationships/image" Target="../media/image78.png"/><Relationship Id="rId4" Type="http://schemas.openxmlformats.org/officeDocument/2006/relationships/image" Target="../media/image79.png"/><Relationship Id="rId5" Type="http://schemas.openxmlformats.org/officeDocument/2006/relationships/image" Target="../media/image8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Relationship Id="rId3" Type="http://schemas.openxmlformats.org/officeDocument/2006/relationships/image" Target="../media/image78.png"/><Relationship Id="rId4" Type="http://schemas.openxmlformats.org/officeDocument/2006/relationships/image" Target="../media/image79.png"/><Relationship Id="rId5" Type="http://schemas.openxmlformats.org/officeDocument/2006/relationships/image" Target="../media/image80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Relationship Id="rId3" Type="http://schemas.openxmlformats.org/officeDocument/2006/relationships/image" Target="../media/image82.png"/><Relationship Id="rId4" Type="http://schemas.openxmlformats.org/officeDocument/2006/relationships/image" Target="../media/image8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image" Target="../media/image8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Relationship Id="rId3" Type="http://schemas.openxmlformats.org/officeDocument/2006/relationships/image" Target="../media/image87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Relationship Id="rId3" Type="http://schemas.openxmlformats.org/officeDocument/2006/relationships/image" Target="../media/image90.png"/><Relationship Id="rId4" Type="http://schemas.openxmlformats.org/officeDocument/2006/relationships/image" Target="../media/image9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Relationship Id="rId3" Type="http://schemas.openxmlformats.org/officeDocument/2006/relationships/image" Target="../media/image94.png"/><Relationship Id="rId4" Type="http://schemas.openxmlformats.org/officeDocument/2006/relationships/image" Target="../media/image95.png"/><Relationship Id="rId5" Type="http://schemas.openxmlformats.org/officeDocument/2006/relationships/image" Target="../media/image9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8.png"/><Relationship Id="rId3" Type="http://schemas.openxmlformats.org/officeDocument/2006/relationships/image" Target="../media/image99.png"/><Relationship Id="rId4" Type="http://schemas.openxmlformats.org/officeDocument/2006/relationships/image" Target="../media/image100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2.png"/><Relationship Id="rId3" Type="http://schemas.openxmlformats.org/officeDocument/2006/relationships/image" Target="../media/image103.png"/><Relationship Id="rId4" Type="http://schemas.openxmlformats.org/officeDocument/2006/relationships/image" Target="../media/image104.png"/><Relationship Id="rId5" Type="http://schemas.openxmlformats.org/officeDocument/2006/relationships/image" Target="../media/image105.png"/><Relationship Id="rId6" Type="http://schemas.openxmlformats.org/officeDocument/2006/relationships/image" Target="../media/image106.png"/><Relationship Id="rId7" Type="http://schemas.openxmlformats.org/officeDocument/2006/relationships/image" Target="../media/image107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9.png"/><Relationship Id="rId3" Type="http://schemas.openxmlformats.org/officeDocument/2006/relationships/image" Target="../media/image110.png"/><Relationship Id="rId4" Type="http://schemas.openxmlformats.org/officeDocument/2006/relationships/image" Target="../media/image111.png"/><Relationship Id="rId5" Type="http://schemas.openxmlformats.org/officeDocument/2006/relationships/image" Target="../media/image11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3.png"/><Relationship Id="rId3" Type="http://schemas.openxmlformats.org/officeDocument/2006/relationships/image" Target="../media/image114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5.png"/><Relationship Id="rId3" Type="http://schemas.openxmlformats.org/officeDocument/2006/relationships/image" Target="../media/image116.png"/><Relationship Id="rId4" Type="http://schemas.openxmlformats.org/officeDocument/2006/relationships/image" Target="../media/image117.png"/><Relationship Id="rId5" Type="http://schemas.openxmlformats.org/officeDocument/2006/relationships/image" Target="../media/image118.png"/><Relationship Id="rId6" Type="http://schemas.openxmlformats.org/officeDocument/2006/relationships/image" Target="../media/image119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0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Relationship Id="rId3" Type="http://schemas.openxmlformats.org/officeDocument/2006/relationships/image" Target="../media/image122.png"/><Relationship Id="rId4" Type="http://schemas.openxmlformats.org/officeDocument/2006/relationships/image" Target="../media/image123.png"/><Relationship Id="rId5" Type="http://schemas.openxmlformats.org/officeDocument/2006/relationships/image" Target="../media/image124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5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6.png"/><Relationship Id="rId3" Type="http://schemas.openxmlformats.org/officeDocument/2006/relationships/image" Target="../media/image127.png"/><Relationship Id="rId4" Type="http://schemas.openxmlformats.org/officeDocument/2006/relationships/image" Target="../media/image128.png"/><Relationship Id="rId5" Type="http://schemas.openxmlformats.org/officeDocument/2006/relationships/image" Target="../media/image129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0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1.png"/><Relationship Id="rId3" Type="http://schemas.openxmlformats.org/officeDocument/2006/relationships/image" Target="../media/image132.png"/><Relationship Id="rId4" Type="http://schemas.openxmlformats.org/officeDocument/2006/relationships/image" Target="../media/image111.png"/><Relationship Id="rId5" Type="http://schemas.openxmlformats.org/officeDocument/2006/relationships/image" Target="../media/image112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3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4.png"/><Relationship Id="rId3" Type="http://schemas.openxmlformats.org/officeDocument/2006/relationships/image" Target="../media/image135.png"/><Relationship Id="rId4" Type="http://schemas.openxmlformats.org/officeDocument/2006/relationships/image" Target="../media/image136.png"/><Relationship Id="rId5" Type="http://schemas.openxmlformats.org/officeDocument/2006/relationships/image" Target="../media/image137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8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9.png"/><Relationship Id="rId3" Type="http://schemas.openxmlformats.org/officeDocument/2006/relationships/image" Target="../media/image140.png"/><Relationship Id="rId4" Type="http://schemas.openxmlformats.org/officeDocument/2006/relationships/image" Target="../media/image141.png"/><Relationship Id="rId5" Type="http://schemas.openxmlformats.org/officeDocument/2006/relationships/image" Target="../media/image142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3.png"/><Relationship Id="rId3" Type="http://schemas.openxmlformats.org/officeDocument/2006/relationships/image" Target="../media/image63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4.png"/><Relationship Id="rId3" Type="http://schemas.openxmlformats.org/officeDocument/2006/relationships/image" Target="../media/image63.png"/><Relationship Id="rId4" Type="http://schemas.openxmlformats.org/officeDocument/2006/relationships/image" Target="../media/image145.png"/><Relationship Id="rId5" Type="http://schemas.openxmlformats.org/officeDocument/2006/relationships/image" Target="../media/image146.png"/><Relationship Id="rId6" Type="http://schemas.openxmlformats.org/officeDocument/2006/relationships/image" Target="../media/image147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8.png"/><Relationship Id="rId3" Type="http://schemas.openxmlformats.org/officeDocument/2006/relationships/image" Target="../media/image149.png"/><Relationship Id="rId4" Type="http://schemas.openxmlformats.org/officeDocument/2006/relationships/image" Target="../media/image150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1.png"/><Relationship Id="rId3" Type="http://schemas.openxmlformats.org/officeDocument/2006/relationships/image" Target="../media/image152.png"/><Relationship Id="rId4" Type="http://schemas.openxmlformats.org/officeDocument/2006/relationships/image" Target="../media/image153.png"/><Relationship Id="rId5" Type="http://schemas.openxmlformats.org/officeDocument/2006/relationships/image" Target="../media/image154.png"/><Relationship Id="rId6" Type="http://schemas.openxmlformats.org/officeDocument/2006/relationships/image" Target="../media/image155.png"/><Relationship Id="rId7" Type="http://schemas.openxmlformats.org/officeDocument/2006/relationships/image" Target="../media/image156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7.png"/><Relationship Id="rId3" Type="http://schemas.openxmlformats.org/officeDocument/2006/relationships/image" Target="../media/image158.png"/><Relationship Id="rId4" Type="http://schemas.openxmlformats.org/officeDocument/2006/relationships/image" Target="../media/image159.png"/><Relationship Id="rId5" Type="http://schemas.openxmlformats.org/officeDocument/2006/relationships/image" Target="../media/image160.png"/><Relationship Id="rId6" Type="http://schemas.openxmlformats.org/officeDocument/2006/relationships/image" Target="../media/image161.png"/><Relationship Id="rId7" Type="http://schemas.openxmlformats.org/officeDocument/2006/relationships/image" Target="../media/image75.png"/><Relationship Id="rId8" Type="http://schemas.openxmlformats.org/officeDocument/2006/relationships/image" Target="../media/image162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3.png"/><Relationship Id="rId3" Type="http://schemas.openxmlformats.org/officeDocument/2006/relationships/image" Target="../media/image164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3.png"/><Relationship Id="rId3" Type="http://schemas.openxmlformats.org/officeDocument/2006/relationships/image" Target="../media/image164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5.png"/><Relationship Id="rId3" Type="http://schemas.openxmlformats.org/officeDocument/2006/relationships/image" Target="../media/image166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7.png"/><Relationship Id="rId3" Type="http://schemas.openxmlformats.org/officeDocument/2006/relationships/image" Target="../media/image168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9.png"/><Relationship Id="rId3" Type="http://schemas.openxmlformats.org/officeDocument/2006/relationships/image" Target="../media/image170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1.png"/><Relationship Id="rId3" Type="http://schemas.openxmlformats.org/officeDocument/2006/relationships/image" Target="../media/image172.png"/><Relationship Id="rId4" Type="http://schemas.openxmlformats.org/officeDocument/2006/relationships/image" Target="../media/image173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4.png"/><Relationship Id="rId3" Type="http://schemas.openxmlformats.org/officeDocument/2006/relationships/image" Target="../media/image175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6.png"/><Relationship Id="rId3" Type="http://schemas.openxmlformats.org/officeDocument/2006/relationships/image" Target="../media/image177.png"/><Relationship Id="rId4" Type="http://schemas.openxmlformats.org/officeDocument/2006/relationships/image" Target="../media/image178.png"/><Relationship Id="rId5" Type="http://schemas.openxmlformats.org/officeDocument/2006/relationships/image" Target="../media/image179.png"/><Relationship Id="rId6" Type="http://schemas.openxmlformats.org/officeDocument/2006/relationships/image" Target="../media/image180.png"/><Relationship Id="rId7" Type="http://schemas.openxmlformats.org/officeDocument/2006/relationships/image" Target="../media/image18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2.png"/><Relationship Id="rId3" Type="http://schemas.openxmlformats.org/officeDocument/2006/relationships/image" Target="../media/image183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4.png"/><Relationship Id="rId3" Type="http://schemas.openxmlformats.org/officeDocument/2006/relationships/image" Target="../media/image185.png"/><Relationship Id="rId4" Type="http://schemas.openxmlformats.org/officeDocument/2006/relationships/image" Target="../media/image186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7.png"/><Relationship Id="rId3" Type="http://schemas.openxmlformats.org/officeDocument/2006/relationships/image" Target="../media/image188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9.png"/><Relationship Id="rId3" Type="http://schemas.openxmlformats.org/officeDocument/2006/relationships/image" Target="../media/image190.png"/><Relationship Id="rId4" Type="http://schemas.openxmlformats.org/officeDocument/2006/relationships/image" Target="../media/image191.png"/><Relationship Id="rId5" Type="http://schemas.openxmlformats.org/officeDocument/2006/relationships/image" Target="../media/image192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3.png"/><Relationship Id="rId3" Type="http://schemas.openxmlformats.org/officeDocument/2006/relationships/image" Target="../media/image194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5.png"/><Relationship Id="rId3" Type="http://schemas.openxmlformats.org/officeDocument/2006/relationships/image" Target="../media/image196.png"/><Relationship Id="rId4" Type="http://schemas.openxmlformats.org/officeDocument/2006/relationships/image" Target="../media/image197.png"/><Relationship Id="rId5" Type="http://schemas.openxmlformats.org/officeDocument/2006/relationships/image" Target="../media/image198.png"/><Relationship Id="rId6" Type="http://schemas.openxmlformats.org/officeDocument/2006/relationships/image" Target="../media/image199.png"/><Relationship Id="rId7" Type="http://schemas.openxmlformats.org/officeDocument/2006/relationships/image" Target="../media/image200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2.png"/><Relationship Id="rId3" Type="http://schemas.openxmlformats.org/officeDocument/2006/relationships/image" Target="../media/image203.png"/><Relationship Id="rId4" Type="http://schemas.openxmlformats.org/officeDocument/2006/relationships/image" Target="../media/image204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5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6.png"/><Relationship Id="rId3" Type="http://schemas.openxmlformats.org/officeDocument/2006/relationships/image" Target="../media/image207.png"/><Relationship Id="rId4" Type="http://schemas.openxmlformats.org/officeDocument/2006/relationships/image" Target="../media/image208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9.png"/><Relationship Id="rId3" Type="http://schemas.openxmlformats.org/officeDocument/2006/relationships/image" Target="../media/image210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1.png"/><Relationship Id="rId3" Type="http://schemas.openxmlformats.org/officeDocument/2006/relationships/image" Target="../media/image212.png"/><Relationship Id="rId4" Type="http://schemas.openxmlformats.org/officeDocument/2006/relationships/image" Target="../media/image213.png"/><Relationship Id="rId5" Type="http://schemas.openxmlformats.org/officeDocument/2006/relationships/image" Target="../media/image179.png"/><Relationship Id="rId6" Type="http://schemas.openxmlformats.org/officeDocument/2006/relationships/image" Target="../media/image214.png"/><Relationship Id="rId7" Type="http://schemas.openxmlformats.org/officeDocument/2006/relationships/image" Target="../media/image215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6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7.png"/><Relationship Id="rId3" Type="http://schemas.openxmlformats.org/officeDocument/2006/relationships/image" Target="../media/image218.png"/><Relationship Id="rId4" Type="http://schemas.openxmlformats.org/officeDocument/2006/relationships/image" Target="../media/image219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0.png"/><Relationship Id="rId3" Type="http://schemas.openxmlformats.org/officeDocument/2006/relationships/image" Target="../media/image221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2.png"/><Relationship Id="rId3" Type="http://schemas.openxmlformats.org/officeDocument/2006/relationships/image" Target="../media/image223.png"/><Relationship Id="rId4" Type="http://schemas.openxmlformats.org/officeDocument/2006/relationships/image" Target="../media/image224.png"/><Relationship Id="rId5" Type="http://schemas.openxmlformats.org/officeDocument/2006/relationships/image" Target="../media/image225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6.png"/><Relationship Id="rId3" Type="http://schemas.openxmlformats.org/officeDocument/2006/relationships/image" Target="../media/image227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8.png"/><Relationship Id="rId3" Type="http://schemas.openxmlformats.org/officeDocument/2006/relationships/image" Target="../media/image229.png"/><Relationship Id="rId4" Type="http://schemas.openxmlformats.org/officeDocument/2006/relationships/image" Target="../media/image230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1.png"/><Relationship Id="rId3" Type="http://schemas.openxmlformats.org/officeDocument/2006/relationships/image" Target="../media/image232.png"/><Relationship Id="rId4" Type="http://schemas.openxmlformats.org/officeDocument/2006/relationships/image" Target="../media/image233.png"/><Relationship Id="rId5" Type="http://schemas.openxmlformats.org/officeDocument/2006/relationships/image" Target="../media/image234.png"/><Relationship Id="rId6" Type="http://schemas.openxmlformats.org/officeDocument/2006/relationships/image" Target="../media/image235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6.png"/><Relationship Id="rId3" Type="http://schemas.openxmlformats.org/officeDocument/2006/relationships/image" Target="../media/image237.png"/><Relationship Id="rId4" Type="http://schemas.openxmlformats.org/officeDocument/2006/relationships/image" Target="../media/image238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6.png"/><Relationship Id="rId3" Type="http://schemas.openxmlformats.org/officeDocument/2006/relationships/image" Target="../media/image237.png"/><Relationship Id="rId4" Type="http://schemas.openxmlformats.org/officeDocument/2006/relationships/image" Target="../media/image238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9.png"/><Relationship Id="rId3" Type="http://schemas.openxmlformats.org/officeDocument/2006/relationships/image" Target="../media/image240.png"/><Relationship Id="rId4" Type="http://schemas.openxmlformats.org/officeDocument/2006/relationships/image" Target="../media/image241.png"/><Relationship Id="rId5" Type="http://schemas.openxmlformats.org/officeDocument/2006/relationships/image" Target="../media/image242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3.png"/><Relationship Id="rId3" Type="http://schemas.openxmlformats.org/officeDocument/2006/relationships/image" Target="../media/image244.png"/><Relationship Id="rId4" Type="http://schemas.openxmlformats.org/officeDocument/2006/relationships/image" Target="../media/image245.png"/><Relationship Id="rId5" Type="http://schemas.openxmlformats.org/officeDocument/2006/relationships/image" Target="../media/image246.png"/><Relationship Id="rId6" Type="http://schemas.openxmlformats.org/officeDocument/2006/relationships/image" Target="../media/image247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8.png"/><Relationship Id="rId3" Type="http://schemas.openxmlformats.org/officeDocument/2006/relationships/image" Target="../media/image249.png"/><Relationship Id="rId4" Type="http://schemas.openxmlformats.org/officeDocument/2006/relationships/image" Target="../media/image250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1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2.png"/><Relationship Id="rId3" Type="http://schemas.openxmlformats.org/officeDocument/2006/relationships/image" Target="../media/image240.png"/><Relationship Id="rId4" Type="http://schemas.openxmlformats.org/officeDocument/2006/relationships/image" Target="../media/image253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4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5.png"/><Relationship Id="rId3" Type="http://schemas.openxmlformats.org/officeDocument/2006/relationships/image" Target="../media/image256.png"/><Relationship Id="rId4" Type="http://schemas.openxmlformats.org/officeDocument/2006/relationships/image" Target="../media/image257.png"/><Relationship Id="rId5" Type="http://schemas.openxmlformats.org/officeDocument/2006/relationships/image" Target="../media/image258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9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0.png"/><Relationship Id="rId3" Type="http://schemas.openxmlformats.org/officeDocument/2006/relationships/image" Target="../media/image261.png"/><Relationship Id="rId4" Type="http://schemas.openxmlformats.org/officeDocument/2006/relationships/image" Target="../media/image262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3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4.png"/><Relationship Id="rId3" Type="http://schemas.openxmlformats.org/officeDocument/2006/relationships/image" Target="../media/image265.png"/><Relationship Id="rId4" Type="http://schemas.openxmlformats.org/officeDocument/2006/relationships/image" Target="../media/image266.png"/><Relationship Id="rId5" Type="http://schemas.openxmlformats.org/officeDocument/2006/relationships/image" Target="../media/image267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8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9.png"/><Relationship Id="rId3" Type="http://schemas.openxmlformats.org/officeDocument/2006/relationships/image" Target="../media/image270.png"/><Relationship Id="rId4" Type="http://schemas.openxmlformats.org/officeDocument/2006/relationships/image" Target="../media/image271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2.png"/><Relationship Id="rId3" Type="http://schemas.openxmlformats.org/officeDocument/2006/relationships/image" Target="../media/image273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4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5.png"/><Relationship Id="rId3" Type="http://schemas.openxmlformats.org/officeDocument/2006/relationships/image" Target="../media/image276.png"/><Relationship Id="rId4" Type="http://schemas.openxmlformats.org/officeDocument/2006/relationships/image" Target="../media/image277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8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9.png"/><Relationship Id="rId3" Type="http://schemas.openxmlformats.org/officeDocument/2006/relationships/image" Target="../media/image280.png"/><Relationship Id="rId4" Type="http://schemas.openxmlformats.org/officeDocument/2006/relationships/image" Target="../media/image281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2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3.png"/><Relationship Id="rId3" Type="http://schemas.openxmlformats.org/officeDocument/2006/relationships/image" Target="../media/image284.png"/><Relationship Id="rId4" Type="http://schemas.openxmlformats.org/officeDocument/2006/relationships/image" Target="../media/image281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5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6.png"/><Relationship Id="rId3" Type="http://schemas.openxmlformats.org/officeDocument/2006/relationships/image" Target="../media/image287.png"/><Relationship Id="rId4" Type="http://schemas.openxmlformats.org/officeDocument/2006/relationships/image" Target="../media/image288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9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0.png"/><Relationship Id="rId3" Type="http://schemas.openxmlformats.org/officeDocument/2006/relationships/image" Target="../media/image291.png"/><Relationship Id="rId4" Type="http://schemas.openxmlformats.org/officeDocument/2006/relationships/image" Target="../media/image292.png"/><Relationship Id="rId5" Type="http://schemas.openxmlformats.org/officeDocument/2006/relationships/image" Target="../media/image293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4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5.png"/><Relationship Id="rId3" Type="http://schemas.openxmlformats.org/officeDocument/2006/relationships/image" Target="../media/image296.png"/><Relationship Id="rId4" Type="http://schemas.openxmlformats.org/officeDocument/2006/relationships/image" Target="../media/image297.png"/><Relationship Id="rId5" Type="http://schemas.openxmlformats.org/officeDocument/2006/relationships/image" Target="../media/image298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9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0.png"/><Relationship Id="rId3" Type="http://schemas.openxmlformats.org/officeDocument/2006/relationships/image" Target="../media/image301.png"/><Relationship Id="rId4" Type="http://schemas.openxmlformats.org/officeDocument/2006/relationships/image" Target="../media/image302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3.png"/><Relationship Id="rId3" Type="http://schemas.openxmlformats.org/officeDocument/2006/relationships/image" Target="../media/image304.png"/><Relationship Id="rId4" Type="http://schemas.openxmlformats.org/officeDocument/2006/relationships/image" Target="../media/image305.png"/><Relationship Id="rId5" Type="http://schemas.openxmlformats.org/officeDocument/2006/relationships/image" Target="../media/image306.png"/><Relationship Id="rId6" Type="http://schemas.openxmlformats.org/officeDocument/2006/relationships/image" Target="../media/image307.png"/><Relationship Id="rId7" Type="http://schemas.openxmlformats.org/officeDocument/2006/relationships/image" Target="../media/image308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9.png"/><Relationship Id="rId3" Type="http://schemas.openxmlformats.org/officeDocument/2006/relationships/image" Target="../media/image310.png"/><Relationship Id="rId4" Type="http://schemas.openxmlformats.org/officeDocument/2006/relationships/image" Target="../media/image311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9.png"/><Relationship Id="rId3" Type="http://schemas.openxmlformats.org/officeDocument/2006/relationships/image" Target="../media/image310.png"/><Relationship Id="rId4" Type="http://schemas.openxmlformats.org/officeDocument/2006/relationships/image" Target="../media/image311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2.png"/><Relationship Id="rId3" Type="http://schemas.openxmlformats.org/officeDocument/2006/relationships/image" Target="../media/image313.png"/><Relationship Id="rId4" Type="http://schemas.openxmlformats.org/officeDocument/2006/relationships/image" Target="../media/image314.png"/><Relationship Id="rId5" Type="http://schemas.openxmlformats.org/officeDocument/2006/relationships/image" Target="../media/image315.pn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6.png"/><Relationship Id="rId3" Type="http://schemas.openxmlformats.org/officeDocument/2006/relationships/image" Target="../media/image317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8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9.png"/><Relationship Id="rId3" Type="http://schemas.openxmlformats.org/officeDocument/2006/relationships/image" Target="../media/image320.png"/><Relationship Id="rId4" Type="http://schemas.openxmlformats.org/officeDocument/2006/relationships/image" Target="../media/image321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2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3.png"/><Relationship Id="rId3" Type="http://schemas.openxmlformats.org/officeDocument/2006/relationships/image" Target="../media/image324.png"/><Relationship Id="rId4" Type="http://schemas.openxmlformats.org/officeDocument/2006/relationships/image" Target="../media/image325.png"/><Relationship Id="rId5" Type="http://schemas.openxmlformats.org/officeDocument/2006/relationships/image" Target="../media/image326.png"/><Relationship Id="rId6" Type="http://schemas.openxmlformats.org/officeDocument/2006/relationships/image" Target="../media/image327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8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9.png"/><Relationship Id="rId3" Type="http://schemas.openxmlformats.org/officeDocument/2006/relationships/image" Target="../media/image330.png"/><Relationship Id="rId4" Type="http://schemas.openxmlformats.org/officeDocument/2006/relationships/image" Target="../media/image331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2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3.png"/><Relationship Id="rId3" Type="http://schemas.openxmlformats.org/officeDocument/2006/relationships/image" Target="../media/image334.png"/><Relationship Id="rId4" Type="http://schemas.openxmlformats.org/officeDocument/2006/relationships/image" Target="../media/image335.png"/><Relationship Id="rId5" Type="http://schemas.openxmlformats.org/officeDocument/2006/relationships/image" Target="../media/image336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7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8.png"/><Relationship Id="rId3" Type="http://schemas.openxmlformats.org/officeDocument/2006/relationships/image" Target="../media/image339.png"/><Relationship Id="rId4" Type="http://schemas.openxmlformats.org/officeDocument/2006/relationships/image" Target="../media/image340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7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1.png"/><Relationship Id="rId3" Type="http://schemas.openxmlformats.org/officeDocument/2006/relationships/image" Target="../media/image342.png"/><Relationship Id="rId4" Type="http://schemas.openxmlformats.org/officeDocument/2006/relationships/image" Target="../media/image343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4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4.png"/><Relationship Id="rId3" Type="http://schemas.openxmlformats.org/officeDocument/2006/relationships/image" Target="../media/image345.png"/><Relationship Id="rId4" Type="http://schemas.openxmlformats.org/officeDocument/2006/relationships/image" Target="../media/image346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7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8.png"/><Relationship Id="rId3" Type="http://schemas.openxmlformats.org/officeDocument/2006/relationships/image" Target="../media/image349.png"/><Relationship Id="rId4" Type="http://schemas.openxmlformats.org/officeDocument/2006/relationships/image" Target="../media/image350.png"/><Relationship Id="rId5" Type="http://schemas.openxmlformats.org/officeDocument/2006/relationships/image" Target="../media/image351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2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3.png"/><Relationship Id="rId3" Type="http://schemas.openxmlformats.org/officeDocument/2006/relationships/image" Target="../media/image354.png"/><Relationship Id="rId4" Type="http://schemas.openxmlformats.org/officeDocument/2006/relationships/image" Target="../media/image355.png"/><Relationship Id="rId5" Type="http://schemas.openxmlformats.org/officeDocument/2006/relationships/image" Target="../media/image356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7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8.png"/><Relationship Id="rId3" Type="http://schemas.openxmlformats.org/officeDocument/2006/relationships/image" Target="../media/image359.png"/><Relationship Id="rId4" Type="http://schemas.openxmlformats.org/officeDocument/2006/relationships/image" Target="../media/image360.png"/><Relationship Id="rId5" Type="http://schemas.openxmlformats.org/officeDocument/2006/relationships/image" Target="../media/image361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2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3.png"/><Relationship Id="rId3" Type="http://schemas.openxmlformats.org/officeDocument/2006/relationships/image" Target="../media/image364.png"/><Relationship Id="rId4" Type="http://schemas.openxmlformats.org/officeDocument/2006/relationships/image" Target="../media/image365.png"/><Relationship Id="rId5" Type="http://schemas.openxmlformats.org/officeDocument/2006/relationships/image" Target="../media/image366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7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8.png"/><Relationship Id="rId3" Type="http://schemas.openxmlformats.org/officeDocument/2006/relationships/image" Target="../media/image369.png"/><Relationship Id="rId4" Type="http://schemas.openxmlformats.org/officeDocument/2006/relationships/image" Target="../media/image370.png"/><Relationship Id="rId5" Type="http://schemas.openxmlformats.org/officeDocument/2006/relationships/image" Target="../media/image371.png"/><Relationship Id="rId6" Type="http://schemas.openxmlformats.org/officeDocument/2006/relationships/image" Target="../media/image372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3.png"/><Relationship Id="rId3" Type="http://schemas.openxmlformats.org/officeDocument/2006/relationships/image" Target="../media/image63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4.png"/><Relationship Id="rId3" Type="http://schemas.openxmlformats.org/officeDocument/2006/relationships/image" Target="../media/image63.png"/><Relationship Id="rId4" Type="http://schemas.openxmlformats.org/officeDocument/2006/relationships/image" Target="../media/image375.png"/><Relationship Id="rId5" Type="http://schemas.openxmlformats.org/officeDocument/2006/relationships/image" Target="../media/image376.png"/><Relationship Id="rId6" Type="http://schemas.openxmlformats.org/officeDocument/2006/relationships/image" Target="../media/image377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8.png"/><Relationship Id="rId3" Type="http://schemas.openxmlformats.org/officeDocument/2006/relationships/image" Target="../media/image379.png"/><Relationship Id="rId4" Type="http://schemas.openxmlformats.org/officeDocument/2006/relationships/image" Target="../media/image380.png"/><Relationship Id="rId5" Type="http://schemas.openxmlformats.org/officeDocument/2006/relationships/image" Target="../media/image381.png"/><Relationship Id="rId6" Type="http://schemas.openxmlformats.org/officeDocument/2006/relationships/image" Target="../media/image382.png"/><Relationship Id="rId7" Type="http://schemas.openxmlformats.org/officeDocument/2006/relationships/image" Target="../media/image383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4.png"/><Relationship Id="rId3" Type="http://schemas.openxmlformats.org/officeDocument/2006/relationships/image" Target="../media/image385.png"/><Relationship Id="rId4" Type="http://schemas.openxmlformats.org/officeDocument/2006/relationships/image" Target="../media/image386.png"/><Relationship Id="rId5" Type="http://schemas.openxmlformats.org/officeDocument/2006/relationships/image" Target="../media/image387.png"/><Relationship Id="rId6" Type="http://schemas.openxmlformats.org/officeDocument/2006/relationships/image" Target="../media/image388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4.png"/><Relationship Id="rId3" Type="http://schemas.openxmlformats.org/officeDocument/2006/relationships/image" Target="../media/image385.png"/><Relationship Id="rId4" Type="http://schemas.openxmlformats.org/officeDocument/2006/relationships/image" Target="../media/image386.png"/><Relationship Id="rId5" Type="http://schemas.openxmlformats.org/officeDocument/2006/relationships/image" Target="../media/image387.png"/><Relationship Id="rId6" Type="http://schemas.openxmlformats.org/officeDocument/2006/relationships/image" Target="../media/image388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9.png"/><Relationship Id="rId3" Type="http://schemas.openxmlformats.org/officeDocument/2006/relationships/image" Target="../media/image390.png"/><Relationship Id="rId4" Type="http://schemas.openxmlformats.org/officeDocument/2006/relationships/image" Target="../media/image391.png"/><Relationship Id="rId5" Type="http://schemas.openxmlformats.org/officeDocument/2006/relationships/image" Target="../media/image392.png"/><Relationship Id="rId6" Type="http://schemas.openxmlformats.org/officeDocument/2006/relationships/image" Target="../media/image393.png"/><Relationship Id="rId7" Type="http://schemas.openxmlformats.org/officeDocument/2006/relationships/image" Target="../media/image394.png"/><Relationship Id="rId8" Type="http://schemas.openxmlformats.org/officeDocument/2006/relationships/image" Target="../media/image395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6.png"/><Relationship Id="rId3" Type="http://schemas.openxmlformats.org/officeDocument/2006/relationships/image" Target="../media/image397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8.png"/><Relationship Id="rId3" Type="http://schemas.openxmlformats.org/officeDocument/2006/relationships/image" Target="../media/image399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0.png"/><Relationship Id="rId3" Type="http://schemas.openxmlformats.org/officeDocument/2006/relationships/image" Target="../media/image401.png"/><Relationship Id="rId4" Type="http://schemas.openxmlformats.org/officeDocument/2006/relationships/image" Target="../media/image402.png"/><Relationship Id="rId5" Type="http://schemas.openxmlformats.org/officeDocument/2006/relationships/image" Target="../media/image403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4.png"/><Relationship Id="rId3" Type="http://schemas.openxmlformats.org/officeDocument/2006/relationships/image" Target="../media/image405.png"/><Relationship Id="rId4" Type="http://schemas.openxmlformats.org/officeDocument/2006/relationships/image" Target="../media/image406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7.png"/><Relationship Id="rId3" Type="http://schemas.openxmlformats.org/officeDocument/2006/relationships/image" Target="../media/image408.png"/><Relationship Id="rId4" Type="http://schemas.openxmlformats.org/officeDocument/2006/relationships/image" Target="../media/image409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0.png"/><Relationship Id="rId3" Type="http://schemas.openxmlformats.org/officeDocument/2006/relationships/image" Target="../media/image411.png"/><Relationship Id="rId4" Type="http://schemas.openxmlformats.org/officeDocument/2006/relationships/image" Target="../media/image412.png"/><Relationship Id="rId5" Type="http://schemas.openxmlformats.org/officeDocument/2006/relationships/image" Target="../media/image413.png"/><Relationship Id="rId6" Type="http://schemas.openxmlformats.org/officeDocument/2006/relationships/image" Target="../media/image414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5.png"/><Relationship Id="rId3" Type="http://schemas.openxmlformats.org/officeDocument/2006/relationships/image" Target="../media/image416.png"/><Relationship Id="rId4" Type="http://schemas.openxmlformats.org/officeDocument/2006/relationships/image" Target="../media/image417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8.png"/><Relationship Id="rId3" Type="http://schemas.openxmlformats.org/officeDocument/2006/relationships/image" Target="../media/image419.png"/><Relationship Id="rId4" Type="http://schemas.openxmlformats.org/officeDocument/2006/relationships/image" Target="../media/image420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1.png"/><Relationship Id="rId3" Type="http://schemas.openxmlformats.org/officeDocument/2006/relationships/image" Target="../media/image422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3.png"/><Relationship Id="rId3" Type="http://schemas.openxmlformats.org/officeDocument/2006/relationships/image" Target="../media/image422.png"/><Relationship Id="rId4" Type="http://schemas.openxmlformats.org/officeDocument/2006/relationships/image" Target="../media/image424.png"/><Relationship Id="rId5" Type="http://schemas.openxmlformats.org/officeDocument/2006/relationships/image" Target="../media/image365.png"/><Relationship Id="rId6" Type="http://schemas.openxmlformats.org/officeDocument/2006/relationships/image" Target="../media/image425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6.png"/><Relationship Id="rId3" Type="http://schemas.openxmlformats.org/officeDocument/2006/relationships/image" Target="../media/image427.png"/><Relationship Id="rId4" Type="http://schemas.openxmlformats.org/officeDocument/2006/relationships/image" Target="../media/image428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9.png"/><Relationship Id="rId3" Type="http://schemas.openxmlformats.org/officeDocument/2006/relationships/image" Target="../media/image427.png"/><Relationship Id="rId4" Type="http://schemas.openxmlformats.org/officeDocument/2006/relationships/image" Target="../media/image428.png"/><Relationship Id="rId5" Type="http://schemas.openxmlformats.org/officeDocument/2006/relationships/image" Target="../media/image430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1.png"/><Relationship Id="rId3" Type="http://schemas.openxmlformats.org/officeDocument/2006/relationships/image" Target="../media/image432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3.png"/><Relationship Id="rId3" Type="http://schemas.openxmlformats.org/officeDocument/2006/relationships/image" Target="../media/image434.png"/><Relationship Id="rId4" Type="http://schemas.openxmlformats.org/officeDocument/2006/relationships/image" Target="../media/image435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6.png"/><Relationship Id="rId3" Type="http://schemas.openxmlformats.org/officeDocument/2006/relationships/image" Target="../media/image437.png"/><Relationship Id="rId4" Type="http://schemas.openxmlformats.org/officeDocument/2006/relationships/image" Target="../media/image438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9.png"/><Relationship Id="rId3" Type="http://schemas.openxmlformats.org/officeDocument/2006/relationships/image" Target="../media/image440.png"/><Relationship Id="rId4" Type="http://schemas.openxmlformats.org/officeDocument/2006/relationships/image" Target="../media/image438.png"/><Relationship Id="rId5" Type="http://schemas.openxmlformats.org/officeDocument/2006/relationships/image" Target="../media/image441.png"/><Relationship Id="rId6" Type="http://schemas.openxmlformats.org/officeDocument/2006/relationships/image" Target="../media/image442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3.png"/><Relationship Id="rId3" Type="http://schemas.openxmlformats.org/officeDocument/2006/relationships/image" Target="../media/image444.png"/><Relationship Id="rId4" Type="http://schemas.openxmlformats.org/officeDocument/2006/relationships/image" Target="../media/image445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6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7.png"/><Relationship Id="rId3" Type="http://schemas.openxmlformats.org/officeDocument/2006/relationships/image" Target="../media/image448.png"/><Relationship Id="rId4" Type="http://schemas.openxmlformats.org/officeDocument/2006/relationships/image" Target="../media/image449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0.png"/><Relationship Id="rId3" Type="http://schemas.openxmlformats.org/officeDocument/2006/relationships/image" Target="../media/image451.png"/><Relationship Id="rId4" Type="http://schemas.openxmlformats.org/officeDocument/2006/relationships/image" Target="../media/image452.png"/><Relationship Id="rId5" Type="http://schemas.openxmlformats.org/officeDocument/2006/relationships/image" Target="../media/image453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4.png"/><Relationship Id="rId3" Type="http://schemas.openxmlformats.org/officeDocument/2006/relationships/image" Target="../media/image451.png"/><Relationship Id="rId4" Type="http://schemas.openxmlformats.org/officeDocument/2006/relationships/image" Target="../media/image455.png"/><Relationship Id="rId5" Type="http://schemas.openxmlformats.org/officeDocument/2006/relationships/image" Target="../media/image456.png"/><Relationship Id="rId6" Type="http://schemas.openxmlformats.org/officeDocument/2006/relationships/image" Target="../media/image457.png"/><Relationship Id="rId7" Type="http://schemas.openxmlformats.org/officeDocument/2006/relationships/image" Target="../media/image458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9.png"/><Relationship Id="rId3" Type="http://schemas.openxmlformats.org/officeDocument/2006/relationships/image" Target="../media/image460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1.png"/><Relationship Id="rId3" Type="http://schemas.openxmlformats.org/officeDocument/2006/relationships/image" Target="../media/image462.png"/><Relationship Id="rId4" Type="http://schemas.openxmlformats.org/officeDocument/2006/relationships/image" Target="../media/image463.png"/><Relationship Id="rId5" Type="http://schemas.openxmlformats.org/officeDocument/2006/relationships/image" Target="../media/image464.png"/><Relationship Id="rId6" Type="http://schemas.openxmlformats.org/officeDocument/2006/relationships/image" Target="../media/image465.png"/><Relationship Id="rId7" Type="http://schemas.openxmlformats.org/officeDocument/2006/relationships/image" Target="../media/image466.png"/><Relationship Id="rId8" Type="http://schemas.openxmlformats.org/officeDocument/2006/relationships/image" Target="../media/image467.png"/><Relationship Id="rId9" Type="http://schemas.openxmlformats.org/officeDocument/2006/relationships/image" Target="../media/image468.png"/><Relationship Id="rId10" Type="http://schemas.openxmlformats.org/officeDocument/2006/relationships/image" Target="../media/image469.png"/><Relationship Id="rId11" Type="http://schemas.openxmlformats.org/officeDocument/2006/relationships/image" Target="../media/image470.png"/><Relationship Id="rId12" Type="http://schemas.openxmlformats.org/officeDocument/2006/relationships/image" Target="../media/image471.png"/><Relationship Id="rId13" Type="http://schemas.openxmlformats.org/officeDocument/2006/relationships/image" Target="../media/image472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78308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13969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610" b="1" i="0">
                <a:solidFill>
                  <a:srgbClr val="1A1A1A"/>
                </a:solidFill>
                <a:latin typeface="Lexend"/>
              </a:rPr>
              <a:t>Solving Problems with Rational Numbers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34670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42900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703320"/>
            <a:ext cx="106070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6B6B6B"/>
                </a:solidFill>
                <a:latin typeface="Lexend"/>
              </a:rPr>
              <a:t>Six lessons in teaching order  ·  the next slide jumps to each one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— Solving Problems with Rational Numbers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Contents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— Solving Problems with Rational Numbers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>
            <a:hlinkClick action="ppaction://hlinksldjump" r:id="rId2"/>
          </p:cNvPr>
          <p:cNvSpPr txBox="1"/>
          <p:nvPr/>
        </p:nvSpPr>
        <p:spPr>
          <a:xfrm>
            <a:off x="1143000" y="178308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4.01</a:t>
            </a:r>
          </a:p>
        </p:txBody>
      </p:sp>
      <p:sp>
        <p:nvSpPr>
          <p:cNvPr id="9" name="TextBox 8">
            <a:hlinkClick action="ppaction://hlinksldjump" r:id="rId2"/>
          </p:cNvPr>
          <p:cNvSpPr txBox="1"/>
          <p:nvPr/>
        </p:nvSpPr>
        <p:spPr>
          <a:xfrm>
            <a:off x="2560320" y="178308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Adding and Subtracting in Scientific Notation</a:t>
            </a:r>
          </a:p>
        </p:txBody>
      </p:sp>
      <p:sp>
        <p:nvSpPr>
          <p:cNvPr id="10" name="TextBox 9">
            <a:hlinkClick action="ppaction://hlinksldjump" r:id="rId2"/>
          </p:cNvPr>
          <p:cNvSpPr txBox="1"/>
          <p:nvPr/>
        </p:nvSpPr>
        <p:spPr>
          <a:xfrm>
            <a:off x="9555480" y="178308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143000" y="224028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hlinkClick action="ppaction://hlinksldjump" r:id="rId3"/>
          </p:cNvPr>
          <p:cNvSpPr txBox="1"/>
          <p:nvPr/>
        </p:nvSpPr>
        <p:spPr>
          <a:xfrm>
            <a:off x="1143000" y="2203704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4.02–03</a:t>
            </a:r>
          </a:p>
        </p:txBody>
      </p:sp>
      <p:sp>
        <p:nvSpPr>
          <p:cNvPr id="13" name="TextBox 12">
            <a:hlinkClick action="ppaction://hlinksldjump" r:id="rId3"/>
          </p:cNvPr>
          <p:cNvSpPr txBox="1"/>
          <p:nvPr/>
        </p:nvSpPr>
        <p:spPr>
          <a:xfrm>
            <a:off x="2560320" y="2203704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Multiplying and Dividing in Scientific Notation</a:t>
            </a:r>
          </a:p>
        </p:txBody>
      </p:sp>
      <p:sp>
        <p:nvSpPr>
          <p:cNvPr id="14" name="TextBox 13">
            <a:hlinkClick action="ppaction://hlinksldjump" r:id="rId3"/>
          </p:cNvPr>
          <p:cNvSpPr txBox="1"/>
          <p:nvPr/>
        </p:nvSpPr>
        <p:spPr>
          <a:xfrm>
            <a:off x="9555480" y="2203704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37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43000" y="2660904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hlinkClick action="ppaction://hlinksldjump" r:id="rId4"/>
          </p:cNvPr>
          <p:cNvSpPr txBox="1"/>
          <p:nvPr/>
        </p:nvSpPr>
        <p:spPr>
          <a:xfrm>
            <a:off x="1143000" y="2624328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4.04</a:t>
            </a:r>
          </a:p>
        </p:txBody>
      </p:sp>
      <p:sp>
        <p:nvSpPr>
          <p:cNvPr id="17" name="TextBox 16">
            <a:hlinkClick action="ppaction://hlinksldjump" r:id="rId4"/>
          </p:cNvPr>
          <p:cNvSpPr txBox="1"/>
          <p:nvPr/>
        </p:nvSpPr>
        <p:spPr>
          <a:xfrm>
            <a:off x="2560320" y="2624328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Real-World Problems and Significant Digits</a:t>
            </a:r>
          </a:p>
        </p:txBody>
      </p:sp>
      <p:sp>
        <p:nvSpPr>
          <p:cNvPr id="18" name="TextBox 17">
            <a:hlinkClick action="ppaction://hlinksldjump" r:id="rId4"/>
          </p:cNvPr>
          <p:cNvSpPr txBox="1"/>
          <p:nvPr/>
        </p:nvSpPr>
        <p:spPr>
          <a:xfrm>
            <a:off x="9555480" y="2624328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71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43000" y="3081528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hlinkClick action="ppaction://hlinksldjump" r:id="rId5"/>
          </p:cNvPr>
          <p:cNvSpPr txBox="1"/>
          <p:nvPr/>
        </p:nvSpPr>
        <p:spPr>
          <a:xfrm>
            <a:off x="1143000" y="3044952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4.05</a:t>
            </a:r>
          </a:p>
        </p:txBody>
      </p:sp>
      <p:sp>
        <p:nvSpPr>
          <p:cNvPr id="21" name="TextBox 20">
            <a:hlinkClick action="ppaction://hlinksldjump" r:id="rId5"/>
          </p:cNvPr>
          <p:cNvSpPr txBox="1"/>
          <p:nvPr/>
        </p:nvSpPr>
        <p:spPr>
          <a:xfrm>
            <a:off x="2560320" y="3044952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Evaluating Expressions with Radicals</a:t>
            </a:r>
          </a:p>
        </p:txBody>
      </p:sp>
      <p:sp>
        <p:nvSpPr>
          <p:cNvPr id="22" name="TextBox 21">
            <a:hlinkClick action="ppaction://hlinksldjump" r:id="rId5"/>
          </p:cNvPr>
          <p:cNvSpPr txBox="1"/>
          <p:nvPr/>
        </p:nvSpPr>
        <p:spPr>
          <a:xfrm>
            <a:off x="9555480" y="3044952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105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43000" y="3502152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hlinkClick action="ppaction://hlinksldjump" r:id="rId6"/>
          </p:cNvPr>
          <p:cNvSpPr txBox="1"/>
          <p:nvPr/>
        </p:nvSpPr>
        <p:spPr>
          <a:xfrm>
            <a:off x="1143000" y="3465576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4.06</a:t>
            </a:r>
          </a:p>
        </p:txBody>
      </p:sp>
      <p:sp>
        <p:nvSpPr>
          <p:cNvPr id="25" name="TextBox 24">
            <a:hlinkClick action="ppaction://hlinksldjump" r:id="rId6"/>
          </p:cNvPr>
          <p:cNvSpPr txBox="1"/>
          <p:nvPr/>
        </p:nvSpPr>
        <p:spPr>
          <a:xfrm>
            <a:off x="2560320" y="3465576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Order of Operations with Radicals</a:t>
            </a:r>
          </a:p>
        </p:txBody>
      </p:sp>
      <p:sp>
        <p:nvSpPr>
          <p:cNvPr id="26" name="TextBox 25">
            <a:hlinkClick action="ppaction://hlinksldjump" r:id="rId6"/>
          </p:cNvPr>
          <p:cNvSpPr txBox="1"/>
          <p:nvPr/>
        </p:nvSpPr>
        <p:spPr>
          <a:xfrm>
            <a:off x="9555480" y="3465576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139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143000" y="3922776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hlinkClick action="ppaction://hlinksldjump" r:id="rId7"/>
          </p:cNvPr>
          <p:cNvSpPr txBox="1"/>
          <p:nvPr/>
        </p:nvSpPr>
        <p:spPr>
          <a:xfrm>
            <a:off x="1143000" y="388620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4.07–08</a:t>
            </a:r>
          </a:p>
        </p:txBody>
      </p:sp>
      <p:sp>
        <p:nvSpPr>
          <p:cNvPr id="29" name="TextBox 28">
            <a:hlinkClick action="ppaction://hlinksldjump" r:id="rId7"/>
          </p:cNvPr>
          <p:cNvSpPr txBox="1"/>
          <p:nvPr/>
        </p:nvSpPr>
        <p:spPr>
          <a:xfrm>
            <a:off x="2560320" y="388620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Real-World Order of Operations</a:t>
            </a:r>
          </a:p>
        </p:txBody>
      </p:sp>
      <p:sp>
        <p:nvSpPr>
          <p:cNvPr id="30" name="TextBox 29">
            <a:hlinkClick action="ppaction://hlinksldjump" r:id="rId7"/>
          </p:cNvPr>
          <p:cNvSpPr txBox="1"/>
          <p:nvPr/>
        </p:nvSpPr>
        <p:spPr>
          <a:xfrm>
            <a:off x="9555480" y="388620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173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143000" y="434340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Adding and Subtracting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add and subtract two numbers written in scientific notation, and write the answer in scientific notation.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8532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 0.00062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44702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many times larger is  </a:t>
            </a:r>
          </a:p>
        </p:txBody>
      </p:sp>
      <p:pic>
        <p:nvPicPr>
          <p:cNvPr id="10" name="Picture 9" descr="322d90d803ad0d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7574" y="2145792"/>
            <a:ext cx="896112" cy="2712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03686" y="2052828"/>
            <a:ext cx="1188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2" name="Picture 11" descr="91469e0de639e7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5489" y="2145792"/>
            <a:ext cx="899160" cy="2712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54649" y="2052828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f53f316f2160c0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699004"/>
            <a:ext cx="886968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278124"/>
            <a:ext cx="27738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sum:  </a:t>
            </a:r>
          </a:p>
        </p:txBody>
      </p:sp>
      <p:pic>
        <p:nvPicPr>
          <p:cNvPr id="17" name="Picture 16" descr="bd88d4ecf7738e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1197" y="3393948"/>
            <a:ext cx="1307592" cy="2255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8532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 0.00062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9214" y="1440180"/>
            <a:ext cx="16174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6.2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-4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2828"/>
            <a:ext cx="44702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many times larger is  </a:t>
            </a:r>
          </a:p>
        </p:txBody>
      </p:sp>
      <p:pic>
        <p:nvPicPr>
          <p:cNvPr id="11" name="Picture 10" descr="322d90d803ad0d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7574" y="2145792"/>
            <a:ext cx="896112" cy="2712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103686" y="2052828"/>
            <a:ext cx="1188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3" name="Picture 12" descr="91469e0de639e7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5489" y="2145792"/>
            <a:ext cx="899160" cy="2712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054649" y="2052828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09139" y="2052828"/>
            <a:ext cx="1085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7" name="Picture 16" descr="f53f316f2160c0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699004"/>
            <a:ext cx="886968" cy="3901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103319" y="2665476"/>
            <a:ext cx="5365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278124"/>
            <a:ext cx="27738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sum:  </a:t>
            </a:r>
          </a:p>
        </p:txBody>
      </p:sp>
      <p:pic>
        <p:nvPicPr>
          <p:cNvPr id="20" name="Picture 19" descr="bd88d4ecf7738e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1197" y="3393948"/>
            <a:ext cx="1307592" cy="22555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67429" y="3278124"/>
            <a:ext cx="7909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1.69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 power of ten is a place value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874520" y="1993392"/>
          <a:ext cx="841248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520" b="1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520" b="1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520" b="1" baseline="3000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520" b="1" baseline="30000">
                          <a:solidFill>
                            <a:srgbClr val="1A1A1A"/>
                          </a:solidFill>
                          <a:latin typeface="Lexend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thousands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ten thousands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hundred thousands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millions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864bf61ed56dc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1127" y="3020568"/>
            <a:ext cx="4779264" cy="350520"/>
          </a:xfrm>
          <a:prstGeom prst="rect">
            <a:avLst/>
          </a:prstGeom>
        </p:spPr>
      </p:pic>
      <p:pic>
        <p:nvPicPr>
          <p:cNvPr id="12" name="Picture 11" descr="2417d66e2dd592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9300" y="3712464"/>
            <a:ext cx="8122920" cy="338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442569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Two numbers can be added only when they carry the same power of ten.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Same power: add or subtract the coefficients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cc98597e79ddb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8604" y="1993392"/>
            <a:ext cx="5544312" cy="414528"/>
          </a:xfrm>
          <a:prstGeom prst="rect">
            <a:avLst/>
          </a:prstGeom>
        </p:spPr>
      </p:pic>
      <p:pic>
        <p:nvPicPr>
          <p:cNvPr id="11" name="Picture 10" descr="a46e16cf656fad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5164" y="2683763"/>
            <a:ext cx="7251192" cy="408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432047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Add or subtract the coefficients. The power of ten does not change.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416356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Then check the coefficient: if it is not between 1 and 10, the answer is not finished.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Different powers: rewrite one of them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6f0baaf26a407d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8807" y="1994916"/>
            <a:ext cx="3803904" cy="408432"/>
          </a:xfrm>
          <a:prstGeom prst="rect">
            <a:avLst/>
          </a:prstGeom>
        </p:spPr>
      </p:pic>
      <p:pic>
        <p:nvPicPr>
          <p:cNvPr id="11" name="Picture 10" descr="4fc26d98a263c89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2052" y="2682240"/>
            <a:ext cx="6757416" cy="405384"/>
          </a:xfrm>
          <a:prstGeom prst="rect">
            <a:avLst/>
          </a:prstGeom>
        </p:spPr>
      </p:pic>
      <p:pic>
        <p:nvPicPr>
          <p:cNvPr id="12" name="Picture 11" descr="ae1a5a7207b8178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6347" y="3366516"/>
            <a:ext cx="5961888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88235" y="3342132"/>
            <a:ext cx="18545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never   </a:t>
            </a:r>
          </a:p>
        </p:txBody>
      </p:sp>
      <p:pic>
        <p:nvPicPr>
          <p:cNvPr id="14" name="Picture 13" descr="83c5d338eb6c267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5660" y="3401568"/>
            <a:ext cx="1429512" cy="3383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1148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Rewrite one number so both carry the same power of ten, then add or subtract the coefficients.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532180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Exponent up one, decimal point one place left. The value does not move.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b073017cb63050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7952" y="2104643"/>
            <a:ext cx="3785615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Add. Write the answer in scientific notation.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29f41e57a08380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797296" cy="405384"/>
          </a:xfrm>
          <a:prstGeom prst="rect">
            <a:avLst/>
          </a:prstGeom>
        </p:spPr>
      </p:pic>
      <p:pic>
        <p:nvPicPr>
          <p:cNvPr id="9" name="Picture 8" descr="9886ab42ab881d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99944"/>
            <a:ext cx="3624072" cy="338328"/>
          </a:xfrm>
          <a:prstGeom prst="rect">
            <a:avLst/>
          </a:prstGeom>
        </p:spPr>
      </p:pic>
      <p:pic>
        <p:nvPicPr>
          <p:cNvPr id="10" name="Picture 9" descr="a3c2876c6f516a7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12592"/>
            <a:ext cx="2215896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1.45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b4cde0a73e6462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9772" y="1600200"/>
            <a:ext cx="5141976" cy="505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090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Add. Write the answer in scientific notation.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6341fce2cb0bbc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8248" y="1600200"/>
            <a:ext cx="5145024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21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Add.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35576" y="3201526"/>
            <a:ext cx="59872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Same power, so add the fronts:  </a:t>
            </a:r>
          </a:p>
        </p:txBody>
      </p:sp>
      <p:pic>
        <p:nvPicPr>
          <p:cNvPr id="11" name="Picture 10" descr="bcb34fa03e0895f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5663" y="3303634"/>
            <a:ext cx="2240280" cy="252984"/>
          </a:xfrm>
          <a:prstGeom prst="rect">
            <a:avLst/>
          </a:prstGeom>
        </p:spPr>
      </p:pic>
      <p:pic>
        <p:nvPicPr>
          <p:cNvPr id="12" name="Picture 11" descr="30762fde1252fce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0440" y="3817222"/>
            <a:ext cx="3486912" cy="30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1.23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bf4da8d69ae35f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4903" y="2104643"/>
            <a:ext cx="3791712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Subtract. Write the answer in scientific notation.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f0014276d232b3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505200" cy="341376"/>
          </a:xfrm>
          <a:prstGeom prst="rect">
            <a:avLst/>
          </a:prstGeom>
        </p:spPr>
      </p:pic>
      <p:pic>
        <p:nvPicPr>
          <p:cNvPr id="9" name="Picture 8" descr="934206aface5fa5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6050280" cy="414528"/>
          </a:xfrm>
          <a:prstGeom prst="rect">
            <a:avLst/>
          </a:prstGeom>
        </p:spPr>
      </p:pic>
      <p:pic>
        <p:nvPicPr>
          <p:cNvPr id="10" name="Picture 9" descr="5c58ea87206358f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24783"/>
            <a:ext cx="5779008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6.85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1b8e06632cef40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9104" y="1600200"/>
            <a:ext cx="5163312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5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Subtract. Write the answer in scientific notation.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248bda730bf17b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7579" y="1600200"/>
            <a:ext cx="5166360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5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Subtract.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13393" y="3204574"/>
            <a:ext cx="31549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Match the powers:  </a:t>
            </a:r>
          </a:p>
        </p:txBody>
      </p:sp>
      <p:pic>
        <p:nvPicPr>
          <p:cNvPr id="11" name="Picture 10" descr="9ce2865529b18e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1190" y="3302110"/>
            <a:ext cx="2913888" cy="262128"/>
          </a:xfrm>
          <a:prstGeom prst="rect">
            <a:avLst/>
          </a:prstGeom>
        </p:spPr>
      </p:pic>
      <p:pic>
        <p:nvPicPr>
          <p:cNvPr id="12" name="Picture 11" descr="bd4649ecf62b8ad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8257" y="3829414"/>
            <a:ext cx="2069591" cy="213360"/>
          </a:xfrm>
          <a:prstGeom prst="rect">
            <a:avLst/>
          </a:prstGeom>
        </p:spPr>
      </p:pic>
      <p:pic>
        <p:nvPicPr>
          <p:cNvPr id="13" name="Picture 12" descr="fb181fe42321e2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68257" y="4310998"/>
            <a:ext cx="1362456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78191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5.51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09fad54e403494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2524" y="2197608"/>
            <a:ext cx="3776472" cy="4053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2a3c75618fa7d5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0999" y="2106168"/>
            <a:ext cx="3779520" cy="4053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42256" y="2839212"/>
            <a:ext cx="59872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Same power, so add the fronts:  </a:t>
            </a:r>
          </a:p>
        </p:txBody>
      </p:sp>
      <p:pic>
        <p:nvPicPr>
          <p:cNvPr id="10" name="Picture 9" descr="691fe688d72e9d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2343" y="2941320"/>
            <a:ext cx="2026920" cy="252984"/>
          </a:xfrm>
          <a:prstGeom prst="rect">
            <a:avLst/>
          </a:prstGeom>
        </p:spPr>
      </p:pic>
      <p:pic>
        <p:nvPicPr>
          <p:cNvPr id="11" name="Picture 10" descr="b4ec2c46247ef02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7120" y="3454908"/>
            <a:ext cx="1246632" cy="30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5791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stadium sold  </a:t>
            </a:r>
          </a:p>
        </p:txBody>
      </p:sp>
      <p:pic>
        <p:nvPicPr>
          <p:cNvPr id="9" name="Picture 8" descr="5243cc360be291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6435" y="1944623"/>
            <a:ext cx="1173480" cy="271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49915" y="1851660"/>
            <a:ext cx="28658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tickets on Friday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 </a:t>
            </a:r>
          </a:p>
        </p:txBody>
      </p:sp>
      <p:pic>
        <p:nvPicPr>
          <p:cNvPr id="12" name="Picture 11" descr="5ce3a6a6b398a3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0946" y="2557272"/>
            <a:ext cx="1152144" cy="2712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03090" y="2464308"/>
            <a:ext cx="62846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on Saturday. Each ticket cost 38 dollars.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tickets were sold on the two days?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5791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stadium sold  </a:t>
            </a:r>
          </a:p>
        </p:txBody>
      </p:sp>
      <p:pic>
        <p:nvPicPr>
          <p:cNvPr id="9" name="Picture 8" descr="a8bb2f17f73fb1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6435" y="1943100"/>
            <a:ext cx="1173480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49915" y="1851660"/>
            <a:ext cx="28658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tickets on Friday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 </a:t>
            </a:r>
          </a:p>
        </p:txBody>
      </p:sp>
      <p:pic>
        <p:nvPicPr>
          <p:cNvPr id="12" name="Picture 11" descr="ca70dd33a6d37a9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0946" y="2555748"/>
            <a:ext cx="1155192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06138" y="2464308"/>
            <a:ext cx="62846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on Saturday. Each ticket cost 38 dollars.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tickets were sold on the two days?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30064" y="3734926"/>
            <a:ext cx="59872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Same power, so add the fronts:  </a:t>
            </a:r>
          </a:p>
        </p:txBody>
      </p:sp>
      <p:pic>
        <p:nvPicPr>
          <p:cNvPr id="16" name="Picture 15" descr="884fc76005d8767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0151" y="3837034"/>
            <a:ext cx="2057400" cy="252984"/>
          </a:xfrm>
          <a:prstGeom prst="rect">
            <a:avLst/>
          </a:prstGeom>
        </p:spPr>
      </p:pic>
      <p:pic>
        <p:nvPicPr>
          <p:cNvPr id="17" name="Picture 16" descr="3665917b6f2092c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4928" y="4350622"/>
            <a:ext cx="1271016" cy="304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84592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7.7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8c04d76b961c1c9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5780" y="2197608"/>
            <a:ext cx="3489960" cy="4053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d250897723b649d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4255" y="2106168"/>
            <a:ext cx="3493008" cy="405384"/>
          </a:xfrm>
          <a:prstGeom prst="rect">
            <a:avLst/>
          </a:prstGeom>
        </p:spPr>
      </p:pic>
      <p:pic>
        <p:nvPicPr>
          <p:cNvPr id="9" name="Picture 8" descr="c38ae5169a7919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0099" y="2939796"/>
            <a:ext cx="1380744" cy="256032"/>
          </a:xfrm>
          <a:prstGeom prst="rect">
            <a:avLst/>
          </a:prstGeom>
        </p:spPr>
      </p:pic>
      <p:pic>
        <p:nvPicPr>
          <p:cNvPr id="10" name="Picture 9" descr="5cb78aa020bc084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0099" y="3454908"/>
            <a:ext cx="3051048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1e4655248ebd17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96083"/>
            <a:ext cx="3816095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6c08936514ac2e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1188" y="2104643"/>
            <a:ext cx="3819144" cy="408432"/>
          </a:xfrm>
          <a:prstGeom prst="rect">
            <a:avLst/>
          </a:prstGeom>
        </p:spPr>
      </p:pic>
      <p:pic>
        <p:nvPicPr>
          <p:cNvPr id="9" name="Picture 8" descr="428101046aa75a5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887" y="2939796"/>
            <a:ext cx="2084831" cy="256032"/>
          </a:xfrm>
          <a:prstGeom prst="rect">
            <a:avLst/>
          </a:prstGeom>
        </p:spPr>
      </p:pic>
      <p:pic>
        <p:nvPicPr>
          <p:cNvPr id="10" name="Picture 9" descr="e9dcbdc19c34f0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8887" y="3454908"/>
            <a:ext cx="2639568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00675f3b4cff738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1668" y="2196083"/>
            <a:ext cx="3758184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sum?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4.7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4.7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3.413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3.53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be676fcb052be6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0144" y="2104643"/>
            <a:ext cx="3761232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sum?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1785" y="3414091"/>
            <a:ext cx="31549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Match the powers:  </a:t>
            </a:r>
          </a:p>
        </p:txBody>
      </p:sp>
      <p:pic>
        <p:nvPicPr>
          <p:cNvPr id="11" name="Picture 10" descr="c61c1bacc44cde4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9582" y="3514675"/>
            <a:ext cx="2743200" cy="256032"/>
          </a:xfrm>
          <a:prstGeom prst="rect">
            <a:avLst/>
          </a:prstGeom>
        </p:spPr>
      </p:pic>
      <p:pic>
        <p:nvPicPr>
          <p:cNvPr id="12" name="Picture 11" descr="a4dc9a96cb3f319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6649" y="4038931"/>
            <a:ext cx="2389632" cy="213360"/>
          </a:xfrm>
          <a:prstGeom prst="rect">
            <a:avLst/>
          </a:prstGeom>
        </p:spPr>
      </p:pic>
      <p:pic>
        <p:nvPicPr>
          <p:cNvPr id="13" name="Picture 12" descr="c561023f683a97a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56649" y="4520515"/>
            <a:ext cx="1392936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99143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3.413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c56988b1bd4342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6428" y="2196083"/>
            <a:ext cx="3788664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sum,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12.3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12.3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1.23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1.23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9def6d28be26225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4903" y="2103120"/>
            <a:ext cx="3791712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9196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sum, written in scientific notation?</a:t>
            </a:r>
          </a:p>
        </p:txBody>
      </p:sp>
      <p:pic>
        <p:nvPicPr>
          <p:cNvPr id="10" name="Picture 9" descr="7a92f566b3dc9a9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0851" y="3519247"/>
            <a:ext cx="2209800" cy="252984"/>
          </a:xfrm>
          <a:prstGeom prst="rect">
            <a:avLst/>
          </a:prstGeom>
        </p:spPr>
      </p:pic>
      <p:pic>
        <p:nvPicPr>
          <p:cNvPr id="11" name="Picture 10" descr="4253edb8e6cb150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0851" y="4031311"/>
            <a:ext cx="3209544" cy="3078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1.23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8364ffedb5ab9d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6408" y="2194560"/>
            <a:ext cx="4108704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95877dd6e3ac64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4883" y="2103120"/>
            <a:ext cx="4111752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19489" y="2839212"/>
            <a:ext cx="31549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Match the powers:  </a:t>
            </a:r>
          </a:p>
        </p:txBody>
      </p:sp>
      <p:pic>
        <p:nvPicPr>
          <p:cNvPr id="10" name="Picture 9" descr="2c3b2befdb898d6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7286" y="2936748"/>
            <a:ext cx="2904744" cy="262128"/>
          </a:xfrm>
          <a:prstGeom prst="rect">
            <a:avLst/>
          </a:prstGeom>
        </p:spPr>
      </p:pic>
      <p:pic>
        <p:nvPicPr>
          <p:cNvPr id="11" name="Picture 10" descr="40578aa67f396b1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4353" y="3464052"/>
            <a:ext cx="2066543" cy="213360"/>
          </a:xfrm>
          <a:prstGeom prst="rect">
            <a:avLst/>
          </a:prstGeom>
        </p:spPr>
      </p:pic>
      <p:pic>
        <p:nvPicPr>
          <p:cNvPr id="12" name="Picture 11" descr="859794e45c118a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74353" y="3942588"/>
            <a:ext cx="1331976" cy="2621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7.16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5f6d6560049ba7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0795" y="2196083"/>
            <a:ext cx="5519928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34140" y="2857500"/>
            <a:ext cx="35174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What is the value of </a:t>
            </a:r>
          </a:p>
        </p:txBody>
      </p:sp>
      <p:pic>
        <p:nvPicPr>
          <p:cNvPr id="10" name="Picture 9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4421" y="2982468"/>
            <a:ext cx="176784" cy="2072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91205" y="285750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a7b6204384889c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9272" y="2103120"/>
            <a:ext cx="5522976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34140" y="2769107"/>
            <a:ext cx="35174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What is the value of </a:t>
            </a:r>
          </a:p>
        </p:txBody>
      </p:sp>
      <p:pic>
        <p:nvPicPr>
          <p:cNvPr id="10" name="Picture 9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4421" y="2894075"/>
            <a:ext cx="176784" cy="2072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91205" y="2769107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pic>
        <p:nvPicPr>
          <p:cNvPr id="12" name="Picture 11" descr="af0a0edef72ddd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6403" y="3625595"/>
            <a:ext cx="2761488" cy="262128"/>
          </a:xfrm>
          <a:prstGeom prst="rect">
            <a:avLst/>
          </a:prstGeom>
        </p:spPr>
      </p:pic>
      <p:pic>
        <p:nvPicPr>
          <p:cNvPr id="13" name="Picture 12" descr="e0b2ab7a4c26bc0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6403" y="4152899"/>
            <a:ext cx="1694688" cy="213360"/>
          </a:xfrm>
          <a:prstGeom prst="rect">
            <a:avLst/>
          </a:prstGeom>
        </p:spPr>
      </p:pic>
      <p:pic>
        <p:nvPicPr>
          <p:cNvPr id="14" name="Picture 13" descr="1dcdac54ad1451b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6403" y="4655819"/>
            <a:ext cx="2353056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51054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 = 5.7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43833" y="2171700"/>
            <a:ext cx="24902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Devon writes  </a:t>
            </a:r>
          </a:p>
        </p:txBody>
      </p:sp>
      <p:pic>
        <p:nvPicPr>
          <p:cNvPr id="9" name="Picture 8" descr="0ba8039e008417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6956" y="2196083"/>
            <a:ext cx="5571744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968700" y="21717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Name the two mistakes he made, and give the correct sum.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42309" y="2080260"/>
            <a:ext cx="24902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Devon writes  </a:t>
            </a:r>
          </a:p>
        </p:txBody>
      </p:sp>
      <p:pic>
        <p:nvPicPr>
          <p:cNvPr id="9" name="Picture 8" descr="f9b73d3410d61f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5432" y="2104643"/>
            <a:ext cx="5574792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970224" y="208026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Name the two mistakes he made, and give the correct sum.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54232" y="3414091"/>
            <a:ext cx="87902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powers do not match, and exponents are not added.</a:t>
            </a:r>
          </a:p>
        </p:txBody>
      </p:sp>
      <p:pic>
        <p:nvPicPr>
          <p:cNvPr id="13" name="Picture 12" descr="c61c1bacc44cde4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9096" y="4017595"/>
            <a:ext cx="2743200" cy="256032"/>
          </a:xfrm>
          <a:prstGeom prst="rect">
            <a:avLst/>
          </a:prstGeom>
        </p:spPr>
      </p:pic>
      <p:pic>
        <p:nvPicPr>
          <p:cNvPr id="14" name="Picture 13" descr="a4dc9a96cb3f319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9096" y="4541851"/>
            <a:ext cx="2389632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198728" y="4419931"/>
            <a:ext cx="11630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6" name="Picture 15" descr="c561023f683a97a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24653" y="4520515"/>
            <a:ext cx="1392936" cy="2560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99143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3.413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8bb51b7cdaedca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57527"/>
            <a:ext cx="3066288" cy="3322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1" name="Picture 10" descr="6da4b5382fbcdf2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153411"/>
            <a:ext cx="3304032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3" name="Picture 12" descr="95d8ded1b0db296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747771"/>
            <a:ext cx="3063240" cy="3291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5" name="Picture 14" descr="0bd66daf20240d1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340607"/>
            <a:ext cx="3060192" cy="3322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17" name="Picture 16" descr="ca328e32445857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3933444"/>
            <a:ext cx="3374136" cy="3352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446684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466844"/>
            <a:ext cx="913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20" name="Picture 19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30372" y="4611624"/>
            <a:ext cx="146304" cy="167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476676" y="4466844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2" name="Picture 21" descr="d4634cfd84477cb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81626" y="4527804"/>
            <a:ext cx="4541520" cy="33528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Add and subtract numbers written in scientific notation — HUR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LESSONS 2–3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Multiplying and Dividing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multiply and divide two numbers written in scientific notation, and write the answer in scientific notation.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ffd4838a463a73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2664"/>
            <a:ext cx="3087624" cy="3322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170176"/>
            <a:ext cx="3678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Write as one power:  </a:t>
            </a:r>
          </a:p>
        </p:txBody>
      </p:sp>
      <p:pic>
        <p:nvPicPr>
          <p:cNvPr id="11" name="Picture 10" descr="164f8cc20815187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911" y="2075688"/>
            <a:ext cx="499871" cy="6461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900172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3" name="Picture 12" descr="1cd87bae707e9a4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933700"/>
            <a:ext cx="844296" cy="3901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579876"/>
            <a:ext cx="33832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quotient:  </a:t>
            </a:r>
          </a:p>
        </p:txBody>
      </p:sp>
      <p:pic>
        <p:nvPicPr>
          <p:cNvPr id="15" name="Picture 14" descr="fe7c9d77350b9ea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0618" y="3535680"/>
            <a:ext cx="451104" cy="545592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ffd4838a463a73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2664"/>
            <a:ext cx="3087624" cy="3322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45185" y="1440180"/>
            <a:ext cx="14365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6.2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170176"/>
            <a:ext cx="3678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Write as one power:  </a:t>
            </a:r>
          </a:p>
        </p:txBody>
      </p:sp>
      <p:pic>
        <p:nvPicPr>
          <p:cNvPr id="12" name="Picture 11" descr="164f8cc20815187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911" y="2075688"/>
            <a:ext cx="499871" cy="6461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64423" y="2052828"/>
            <a:ext cx="6821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900172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1cd87bae707e9a4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933700"/>
            <a:ext cx="844296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60647" y="2900172"/>
            <a:ext cx="5491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579876"/>
            <a:ext cx="33832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quotient:  </a:t>
            </a:r>
          </a:p>
        </p:txBody>
      </p:sp>
      <p:pic>
        <p:nvPicPr>
          <p:cNvPr id="18" name="Picture 17" descr="fe7c9d77350b9ea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0618" y="3535680"/>
            <a:ext cx="451104" cy="5455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120362" y="3512820"/>
            <a:ext cx="3841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Multiplying: regroup, then use the laws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24f6cc700f6311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112" y="1993392"/>
            <a:ext cx="7321295" cy="414528"/>
          </a:xfrm>
          <a:prstGeom prst="rect">
            <a:avLst/>
          </a:prstGeom>
        </p:spPr>
      </p:pic>
      <p:pic>
        <p:nvPicPr>
          <p:cNvPr id="11" name="Picture 10" descr="d894b08558ca6ca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4387" y="2717292"/>
            <a:ext cx="1100328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94715" y="2659380"/>
            <a:ext cx="19477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never    </a:t>
            </a:r>
          </a:p>
        </p:txBody>
      </p:sp>
      <p:pic>
        <p:nvPicPr>
          <p:cNvPr id="13" name="Picture 12" descr="f59bf4b41a85edb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5260" y="2717292"/>
            <a:ext cx="1261872" cy="341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3432047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Multiply the coefficients. Add the exponents — that is the product of powers law, not a new rule.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Dividing: the same move with the quotient law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efa08aa797f44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1380" y="1993392"/>
            <a:ext cx="5318760" cy="798576"/>
          </a:xfrm>
          <a:prstGeom prst="rect">
            <a:avLst/>
          </a:prstGeom>
        </p:spPr>
      </p:pic>
      <p:pic>
        <p:nvPicPr>
          <p:cNvPr id="11" name="Picture 10" descr="44f28ecf0a9cf88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3864" y="3066288"/>
            <a:ext cx="5193792" cy="7955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420014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Divide the coefficients. Subtract the exponents, top minus bottom.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Finish the answer — both directions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40551c03da2cd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6268" y="1993392"/>
            <a:ext cx="6348984" cy="414528"/>
          </a:xfrm>
          <a:prstGeom prst="rect">
            <a:avLst/>
          </a:prstGeom>
        </p:spPr>
      </p:pic>
      <p:pic>
        <p:nvPicPr>
          <p:cNvPr id="11" name="Picture 10" descr="acee3a8d1b6720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6580" y="2682240"/>
            <a:ext cx="5928360" cy="8016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822191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Every answer ends with a coefficient at least 1 and less than 10.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c7ebac9815df25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9412" y="2104643"/>
            <a:ext cx="3282696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Multiply. Write the answer in scientific notation.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25f7ed4f25353c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772656" cy="408432"/>
          </a:xfrm>
          <a:prstGeom prst="rect">
            <a:avLst/>
          </a:prstGeom>
        </p:spPr>
      </p:pic>
      <p:pic>
        <p:nvPicPr>
          <p:cNvPr id="9" name="Picture 8" descr="54ffb222fc56be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2992"/>
            <a:ext cx="1609344" cy="338328"/>
          </a:xfrm>
          <a:prstGeom prst="rect">
            <a:avLst/>
          </a:prstGeom>
        </p:spPr>
      </p:pic>
      <p:pic>
        <p:nvPicPr>
          <p:cNvPr id="10" name="Picture 9" descr="bb053a1b6357935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15640"/>
            <a:ext cx="3108960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2.7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a28d7c387e5fd6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4027" y="1600200"/>
            <a:ext cx="4093464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5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Multiply. Write the answer in scientific notation.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816312d3d4d789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4027" y="1600200"/>
            <a:ext cx="4093464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5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Multiply.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2505" y="3204574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1" name="Picture 10" descr="04263b59ab134a8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5695" y="3326494"/>
            <a:ext cx="1414272" cy="213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02505" y="3707494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3" name="Picture 12" descr="2e6e8e2b001e1a7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0862" y="3805030"/>
            <a:ext cx="1981199" cy="262128"/>
          </a:xfrm>
          <a:prstGeom prst="rect">
            <a:avLst/>
          </a:prstGeom>
        </p:spPr>
      </p:pic>
      <p:pic>
        <p:nvPicPr>
          <p:cNvPr id="14" name="Picture 13" descr="52d05dcb8358be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7369" y="4310998"/>
            <a:ext cx="2173224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78191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99e2cda0670996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8848" y="2103120"/>
            <a:ext cx="3163824" cy="868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747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 Write the answer in scientific notation.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e1f7b5cd77abb9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858512" cy="414528"/>
          </a:xfrm>
          <a:prstGeom prst="rect">
            <a:avLst/>
          </a:prstGeom>
        </p:spPr>
      </p:pic>
      <p:pic>
        <p:nvPicPr>
          <p:cNvPr id="9" name="Picture 8" descr="cef6ad8a508151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9087"/>
            <a:ext cx="3102864" cy="801624"/>
          </a:xfrm>
          <a:prstGeom prst="rect">
            <a:avLst/>
          </a:prstGeom>
        </p:spPr>
      </p:pic>
      <p:pic>
        <p:nvPicPr>
          <p:cNvPr id="10" name="Picture 9" descr="06feb2f012fdd55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85031"/>
            <a:ext cx="3057144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af033f99401fce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4047" y="1600200"/>
            <a:ext cx="3773424" cy="1075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790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 Write the answer in scientific notation.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6065c2d5f71d0c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7096" y="1600200"/>
            <a:ext cx="3767328" cy="1075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790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34773" y="3768454"/>
            <a:ext cx="996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1" name="Picture 10" descr="a056522f38be10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4393" y="3891898"/>
            <a:ext cx="1203960" cy="2103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98353" y="3768454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3" name="Picture 12" descr="d07cb81e712af36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1242" y="3865990"/>
            <a:ext cx="1965960" cy="262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234773" y="4271374"/>
            <a:ext cx="1427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Divide:  </a:t>
            </a:r>
          </a:p>
        </p:txBody>
      </p:sp>
      <p:pic>
        <p:nvPicPr>
          <p:cNvPr id="15" name="Picture 14" descr="5bba082eb9d2489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5169" y="4393294"/>
            <a:ext cx="1213104" cy="213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738273" y="4271374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7" name="Picture 16" descr="256bb6140aa7aee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21162" y="4368910"/>
            <a:ext cx="2011680" cy="262128"/>
          </a:xfrm>
          <a:prstGeom prst="rect">
            <a:avLst/>
          </a:prstGeom>
        </p:spPr>
      </p:pic>
      <p:pic>
        <p:nvPicPr>
          <p:cNvPr id="18" name="Picture 17" descr="28b3729f21e06ae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89637" y="4871830"/>
            <a:ext cx="957072" cy="2621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534579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0b9390ce3cc094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632" y="2197608"/>
            <a:ext cx="2810256" cy="4053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8f72ce73375c8b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4108" y="2104643"/>
            <a:ext cx="2813304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561941" y="2839212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0" name="Picture 9" descr="3b9f7aa917f3bc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5131" y="2961132"/>
            <a:ext cx="996696" cy="213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561941" y="3342132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2" name="Picture 11" descr="e3276e3a1387ee5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0298" y="3439667"/>
            <a:ext cx="1862328" cy="262128"/>
          </a:xfrm>
          <a:prstGeom prst="rect">
            <a:avLst/>
          </a:prstGeom>
        </p:spPr>
      </p:pic>
      <p:pic>
        <p:nvPicPr>
          <p:cNvPr id="13" name="Picture 12" descr="1c75541c26ca220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6805" y="3942588"/>
            <a:ext cx="841248" cy="262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9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7455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printer makes  </a:t>
            </a:r>
          </a:p>
        </p:txBody>
      </p:sp>
      <p:pic>
        <p:nvPicPr>
          <p:cNvPr id="9" name="Picture 8" descr="63d362095a3f34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2791" y="1944623"/>
            <a:ext cx="911352" cy="271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54143" y="1851660"/>
            <a:ext cx="27259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copies per hour.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18846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 runs for  </a:t>
            </a:r>
          </a:p>
        </p:txBody>
      </p:sp>
      <p:pic>
        <p:nvPicPr>
          <p:cNvPr id="12" name="Picture 11" descr="9fc66bb1f34c49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1888" y="2554224"/>
            <a:ext cx="1136904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18792" y="2464308"/>
            <a:ext cx="54811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hours. Paper costs 3 cents a sheet.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copies does it make?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7455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printer makes  </a:t>
            </a:r>
          </a:p>
        </p:txBody>
      </p:sp>
      <p:pic>
        <p:nvPicPr>
          <p:cNvPr id="9" name="Picture 8" descr="e21453500b5879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2791" y="1944623"/>
            <a:ext cx="914400" cy="271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57191" y="1851660"/>
            <a:ext cx="27259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copies per hour.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18846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 runs for  </a:t>
            </a:r>
          </a:p>
        </p:txBody>
      </p:sp>
      <p:pic>
        <p:nvPicPr>
          <p:cNvPr id="12" name="Picture 11" descr="dcfe01e2266e7d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1888" y="2554224"/>
            <a:ext cx="1143000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24888" y="2464308"/>
            <a:ext cx="54811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hours. Paper costs 3 cents a sheet.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copies does it make?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72609" y="3734926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6" name="Picture 15" descr="4841b499496deb7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5799" y="3856846"/>
            <a:ext cx="1417320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572609" y="4237846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8" name="Picture 17" descr="a2fcaba2a23dd20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0966" y="4335382"/>
            <a:ext cx="1840991" cy="262128"/>
          </a:xfrm>
          <a:prstGeom prst="rect">
            <a:avLst/>
          </a:prstGeom>
        </p:spPr>
      </p:pic>
      <p:pic>
        <p:nvPicPr>
          <p:cNvPr id="19" name="Picture 18" descr="2a1f3e18aef4b3d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7473" y="4838302"/>
            <a:ext cx="2127504" cy="2621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531226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aa8aaa91edd783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6859" y="2194560"/>
            <a:ext cx="1447800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3b2db2bf563f5f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9908" y="2103120"/>
            <a:ext cx="1441704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3725" y="3223260"/>
            <a:ext cx="29915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fronts:  </a:t>
            </a:r>
          </a:p>
        </p:txBody>
      </p:sp>
      <p:pic>
        <p:nvPicPr>
          <p:cNvPr id="10" name="Picture 9" descr="68d052e64ee558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8163" y="3345180"/>
            <a:ext cx="1481328" cy="213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203725" y="3726179"/>
            <a:ext cx="40136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Subtract the exponents:  </a:t>
            </a:r>
          </a:p>
        </p:txBody>
      </p:sp>
      <p:pic>
        <p:nvPicPr>
          <p:cNvPr id="12" name="Picture 11" descr="93ba4e388683b6a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0226" y="3826763"/>
            <a:ext cx="1880616" cy="256032"/>
          </a:xfrm>
          <a:prstGeom prst="rect">
            <a:avLst/>
          </a:prstGeom>
        </p:spPr>
      </p:pic>
      <p:pic>
        <p:nvPicPr>
          <p:cNvPr id="13" name="Picture 12" descr="c6369a2a18532f7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58589" y="4329683"/>
            <a:ext cx="847344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8006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2a802e9bc79b28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267" y="2194560"/>
            <a:ext cx="1776984" cy="798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a13b79c4b3b988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3792" y="2103120"/>
            <a:ext cx="1773936" cy="801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48277" y="3229356"/>
            <a:ext cx="29915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fronts:  </a:t>
            </a:r>
          </a:p>
        </p:txBody>
      </p:sp>
      <p:pic>
        <p:nvPicPr>
          <p:cNvPr id="10" name="Picture 9" descr="d5a4b760a6c3fb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2715" y="3351276"/>
            <a:ext cx="1840991" cy="213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048277" y="3732275"/>
            <a:ext cx="40136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Subtract the exponents:  </a:t>
            </a:r>
          </a:p>
        </p:txBody>
      </p:sp>
      <p:pic>
        <p:nvPicPr>
          <p:cNvPr id="12" name="Picture 11" descr="aac9d927f81bb7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4778" y="3829812"/>
            <a:ext cx="2191512" cy="262128"/>
          </a:xfrm>
          <a:prstGeom prst="rect">
            <a:avLst/>
          </a:prstGeom>
        </p:spPr>
      </p:pic>
      <p:pic>
        <p:nvPicPr>
          <p:cNvPr id="13" name="Picture 12" descr="1e24bf9c6552dd3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3141" y="4332732"/>
            <a:ext cx="2855976" cy="262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806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5.3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-3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030f336ef028bc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632" y="2197608"/>
            <a:ext cx="2810256" cy="4053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product?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7b4d89c05f0f21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4108" y="2104643"/>
            <a:ext cx="2813304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product?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1941" y="3414091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1" name="Picture 10" descr="ad6a10c37df82b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5131" y="3536011"/>
            <a:ext cx="990599" cy="213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61941" y="3917011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3" name="Picture 12" descr="e3276e3a1387ee5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0298" y="4014547"/>
            <a:ext cx="1862328" cy="262128"/>
          </a:xfrm>
          <a:prstGeom prst="rect">
            <a:avLst/>
          </a:prstGeom>
        </p:spPr>
      </p:pic>
      <p:pic>
        <p:nvPicPr>
          <p:cNvPr id="14" name="Picture 13" descr="1c75541c26ca220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6805" y="4517467"/>
            <a:ext cx="841248" cy="2621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99143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6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811d128c9a4cb3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2196083"/>
            <a:ext cx="2825496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product,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20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20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d3ea7b9b7f4f76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6487" y="2103120"/>
            <a:ext cx="2828544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9196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product,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72609" y="3417139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1" name="Picture 10" descr="95ecba0795db8e3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5799" y="3539059"/>
            <a:ext cx="1197864" cy="213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72609" y="3920059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3" name="Picture 12" descr="d8f8e59949bbed4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0966" y="4017595"/>
            <a:ext cx="1840991" cy="262128"/>
          </a:xfrm>
          <a:prstGeom prst="rect">
            <a:avLst/>
          </a:prstGeom>
        </p:spPr>
      </p:pic>
      <p:pic>
        <p:nvPicPr>
          <p:cNvPr id="14" name="Picture 13" descr="a7b20829de9c08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27473" y="4520515"/>
            <a:ext cx="2273808" cy="2621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9944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10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931110f4c672e9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0011" y="2194560"/>
            <a:ext cx="1301496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7b155a9c422bff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1536" y="2103120"/>
            <a:ext cx="1298448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17341" y="3223260"/>
            <a:ext cx="29915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fronts:  </a:t>
            </a:r>
          </a:p>
        </p:txBody>
      </p:sp>
      <p:pic>
        <p:nvPicPr>
          <p:cNvPr id="10" name="Picture 9" descr="c05e3185268918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1779" y="3345180"/>
            <a:ext cx="996696" cy="213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417341" y="3726179"/>
            <a:ext cx="40136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Subtract the exponents:  </a:t>
            </a:r>
          </a:p>
        </p:txBody>
      </p:sp>
      <p:pic>
        <p:nvPicPr>
          <p:cNvPr id="12" name="Picture 11" descr="6fb71a276e50135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3842" y="3823716"/>
            <a:ext cx="3453384" cy="262128"/>
          </a:xfrm>
          <a:prstGeom prst="rect">
            <a:avLst/>
          </a:prstGeom>
        </p:spPr>
      </p:pic>
      <p:pic>
        <p:nvPicPr>
          <p:cNvPr id="13" name="Picture 12" descr="c4122c07f8250b6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72205" y="4326636"/>
            <a:ext cx="917448" cy="262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8006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dfc728df3a4406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5696" y="2194560"/>
            <a:ext cx="3310128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34140" y="3241548"/>
            <a:ext cx="35174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What is the value of </a:t>
            </a:r>
          </a:p>
        </p:txBody>
      </p:sp>
      <p:pic>
        <p:nvPicPr>
          <p:cNvPr id="10" name="Picture 9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4421" y="3366516"/>
            <a:ext cx="176784" cy="2072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91205" y="3241548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594e88537557ce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4172" y="2103120"/>
            <a:ext cx="3313176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34140" y="3150108"/>
            <a:ext cx="35174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What is the value of </a:t>
            </a:r>
          </a:p>
        </p:txBody>
      </p:sp>
      <p:pic>
        <p:nvPicPr>
          <p:cNvPr id="10" name="Picture 9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4421" y="3275076"/>
            <a:ext cx="176784" cy="2072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91205" y="3150108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40887" y="3909059"/>
            <a:ext cx="16400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Fronts:  </a:t>
            </a:r>
          </a:p>
        </p:txBody>
      </p:sp>
      <p:pic>
        <p:nvPicPr>
          <p:cNvPr id="13" name="Picture 12" descr="e920add2c6370e5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3799" y="4011168"/>
            <a:ext cx="1834896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978695" y="3909059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5" name="Picture 14" descr="8691e6c5c0ab487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9768" y="4011168"/>
            <a:ext cx="2346960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40887" y="4602480"/>
            <a:ext cx="16015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Check:  </a:t>
            </a:r>
          </a:p>
        </p:txBody>
      </p:sp>
      <p:pic>
        <p:nvPicPr>
          <p:cNvPr id="17" name="Picture 16" descr="dedb3e2327f40b6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05232" y="4471416"/>
            <a:ext cx="3002280" cy="7193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3279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 = 2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8731" y="1815084"/>
            <a:ext cx="9301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For  </a:t>
            </a:r>
          </a:p>
        </p:txBody>
      </p:sp>
      <p:pic>
        <p:nvPicPr>
          <p:cNvPr id="9" name="Picture 8" descr="e3c0f930fcb43c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1758" y="1645920"/>
            <a:ext cx="1481328" cy="795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63086" y="1815084"/>
            <a:ext cx="28112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Marcus writes  </a:t>
            </a:r>
          </a:p>
        </p:txBody>
      </p:sp>
      <p:pic>
        <p:nvPicPr>
          <p:cNvPr id="11" name="Picture 10" descr="201859fe582e568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7180" y="1876044"/>
            <a:ext cx="1435608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071916" y="2692908"/>
            <a:ext cx="2929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and Sara writes  </a:t>
            </a:r>
          </a:p>
        </p:txBody>
      </p:sp>
      <p:pic>
        <p:nvPicPr>
          <p:cNvPr id="13" name="Picture 12" descr="af7ef3b3737f0a4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4307" y="2750819"/>
            <a:ext cx="1225296" cy="341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3401568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Name what each one did wrong, and give the correct quotient.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1779" y="1816608"/>
            <a:ext cx="9301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For  </a:t>
            </a:r>
          </a:p>
        </p:txBody>
      </p:sp>
      <p:pic>
        <p:nvPicPr>
          <p:cNvPr id="9" name="Picture 8" descr="727390f8bf62070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4806" y="1645920"/>
            <a:ext cx="1475232" cy="7985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60038" y="1816608"/>
            <a:ext cx="28112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Marcus writes  </a:t>
            </a:r>
          </a:p>
        </p:txBody>
      </p:sp>
      <p:pic>
        <p:nvPicPr>
          <p:cNvPr id="11" name="Picture 10" descr="9573c279596073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4132" y="1877568"/>
            <a:ext cx="1435608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070392" y="2695956"/>
            <a:ext cx="2929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and Sara writes  </a:t>
            </a:r>
          </a:p>
        </p:txBody>
      </p:sp>
      <p:pic>
        <p:nvPicPr>
          <p:cNvPr id="13" name="Picture 12" descr="efd4e5357231d28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2783" y="2753868"/>
            <a:ext cx="1228344" cy="341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3404616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Name what each one did wrong, and give the correct quotient.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20736" y="3976115"/>
            <a:ext cx="88572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Marcus subtracted the fronts. Sara added the exponents.</a:t>
            </a:r>
          </a:p>
        </p:txBody>
      </p:sp>
      <p:pic>
        <p:nvPicPr>
          <p:cNvPr id="16" name="Picture 15" descr="da3880d22447243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5600" y="4600956"/>
            <a:ext cx="1496568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272168" y="4479035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8" name="Picture 17" descr="7db60f7f6057b18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55057" y="4576572"/>
            <a:ext cx="1892807" cy="262128"/>
          </a:xfrm>
          <a:prstGeom prst="rect">
            <a:avLst/>
          </a:prstGeom>
        </p:spPr>
      </p:pic>
      <p:pic>
        <p:nvPicPr>
          <p:cNvPr id="19" name="Picture 18" descr="b42c305db1deb8a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75600" y="5082539"/>
            <a:ext cx="838200" cy="25603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555345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6e0be8365ac4f5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59051"/>
            <a:ext cx="229209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2205227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1" name="Picture 10" descr="62a20c5f23ea4b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112263"/>
            <a:ext cx="1167384" cy="6431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91541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3" name="Picture 12" descr="d61c32ba4971b5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977895"/>
            <a:ext cx="2407920" cy="3322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625595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5" name="Picture 14" descr="8867f8a3b1816d8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532631"/>
            <a:ext cx="1155192" cy="6431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445465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17" name="Picture 16" descr="b725906188c6ae1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358639"/>
            <a:ext cx="1060704" cy="64922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51678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167883"/>
            <a:ext cx="913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20" name="Picture 19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30372" y="5312664"/>
            <a:ext cx="146304" cy="167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476676" y="5167883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2" name="Picture 21" descr="d7bf46933a52690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81626" y="5228844"/>
            <a:ext cx="3621024" cy="33528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Multiply numbers written in scientific notation — YZU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Divide numbers written in scientific notation — SGT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Real-World Problems and Significant Digits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solve a real-world problem with numbers in scientific notation and report the answer with the right number of significant digits.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9ef93e9422ec80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1140"/>
            <a:ext cx="2417064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1" name="Picture 10" descr="872c396e107e43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059" y="2115312"/>
            <a:ext cx="3057144" cy="3322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665476"/>
            <a:ext cx="58599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Write  0.00902  in scientific notation.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3278124"/>
            <a:ext cx="63019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Round  4.738  to the nearest hundredth.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9ef93e9422ec80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1140"/>
            <a:ext cx="2417064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74625" y="1440180"/>
            <a:ext cx="1440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1.2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2" name="Picture 11" descr="872c396e107e43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059" y="2115312"/>
            <a:ext cx="3057144" cy="3322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28843" y="2052828"/>
            <a:ext cx="16123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5.89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58599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Write  0.00902  in scientific notation.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45958" y="2665476"/>
            <a:ext cx="18000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9.02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-3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278124"/>
            <a:ext cx="63019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Round  4.738  to the nearest hundredth.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87924" y="3278124"/>
            <a:ext cx="8306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4.74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Which digits are significant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285999" y="1993392"/>
          <a:ext cx="7589520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188720"/>
                <a:gridCol w="43891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Measurement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Digits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Why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4,207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the middle zero counts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0.0058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leading zeros never count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3.200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trailing zeros count after a decimal point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52,000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no decimal point, so they do not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Multiplying or dividing: count the digits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c7e6ff835d857c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1716" y="1993392"/>
            <a:ext cx="6038088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43817" y="2656332"/>
            <a:ext cx="82333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2 significant digits and 3, so the answer keeps 2:   </a:t>
            </a:r>
          </a:p>
        </p:txBody>
      </p:sp>
      <p:pic>
        <p:nvPicPr>
          <p:cNvPr id="12" name="Picture 11" descr="723af09f9a41839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0006" y="2717292"/>
            <a:ext cx="1377696" cy="3352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4290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Multiply or divide: the answer takes the smaller of the two significant-digit counts.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Adding or subtracting: a different rule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ac84020e548be5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2023872"/>
            <a:ext cx="3383280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20000" y="2656332"/>
            <a:ext cx="86586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1,234 stops at the ones place;  5.6 stops at the tenths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410" y="3342132"/>
            <a:ext cx="6114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so the sum stops at the ones place:   </a:t>
            </a:r>
          </a:p>
        </p:txBody>
      </p:sp>
      <p:pic>
        <p:nvPicPr>
          <p:cNvPr id="13" name="Picture 12" descr="40647922f9acd2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6237" y="3368040"/>
            <a:ext cx="3166872" cy="4053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1148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Add or subtract: the answer stops at the leftmost of the two last-digit places.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68053" y="1714500"/>
            <a:ext cx="41205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solar array measures  </a:t>
            </a:r>
          </a:p>
        </p:txBody>
      </p:sp>
      <p:pic>
        <p:nvPicPr>
          <p:cNvPr id="9" name="Picture 8" descr="ff2cbfe6b6afaa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1411" y="1772412"/>
            <a:ext cx="1575816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27227" y="1714500"/>
            <a:ext cx="1378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aa26922bd492b4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8215" y="1772412"/>
            <a:ext cx="1383792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52007" y="1714500"/>
            <a:ext cx="778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4688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What is its area?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908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Give the answer to the correct number of significant digits.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d7b7c5abadb0c1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151120" cy="411480"/>
          </a:xfrm>
          <a:prstGeom prst="rect">
            <a:avLst/>
          </a:prstGeom>
        </p:spPr>
      </p:pic>
      <p:pic>
        <p:nvPicPr>
          <p:cNvPr id="9" name="Picture 8" descr="a08d6ab77e17239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6248400" cy="387096"/>
          </a:xfrm>
          <a:prstGeom prst="rect">
            <a:avLst/>
          </a:prstGeom>
        </p:spPr>
      </p:pic>
      <p:pic>
        <p:nvPicPr>
          <p:cNvPr id="10" name="Picture 9" descr="a93125fbd09b82b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67456"/>
            <a:ext cx="4462272" cy="4053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square meters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70625" y="1583436"/>
            <a:ext cx="30771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field measures  </a:t>
            </a:r>
          </a:p>
        </p:txBody>
      </p:sp>
      <p:pic>
        <p:nvPicPr>
          <p:cNvPr id="9" name="Picture 8" descr="1645c9c47acde3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0639" y="1600200"/>
            <a:ext cx="1792224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02863" y="1583436"/>
            <a:ext cx="1378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debdcb1f492603f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3851" y="1600200"/>
            <a:ext cx="2005584" cy="423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49435" y="1583436"/>
            <a:ext cx="778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3439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What is its area?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69101" y="1583436"/>
            <a:ext cx="30771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field measures  </a:t>
            </a:r>
          </a:p>
        </p:txBody>
      </p:sp>
      <p:pic>
        <p:nvPicPr>
          <p:cNvPr id="9" name="Picture 8" descr="19219eb587cce9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15" y="1600200"/>
            <a:ext cx="1792224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01339" y="1583436"/>
            <a:ext cx="1378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acda4b72b75ce9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2327" y="1600200"/>
            <a:ext cx="2008632" cy="423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50959" y="1583436"/>
            <a:ext cx="778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3439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What is its area?</a:t>
            </a:r>
          </a:p>
        </p:txBody>
      </p:sp>
      <p:pic>
        <p:nvPicPr>
          <p:cNvPr id="14" name="Picture 13" descr="94a8240adc6e96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5957" y="3055222"/>
            <a:ext cx="2185416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951373" y="2933302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6" name="Picture 15" descr="6dc7d095c18b426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4261" y="3030838"/>
            <a:ext cx="1859280" cy="262128"/>
          </a:xfrm>
          <a:prstGeom prst="rect">
            <a:avLst/>
          </a:prstGeom>
        </p:spPr>
      </p:pic>
      <p:pic>
        <p:nvPicPr>
          <p:cNvPr id="17" name="Picture 16" descr="c8c5f1b26c2cdc8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65957" y="3509374"/>
            <a:ext cx="2758440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711093" y="3939142"/>
            <a:ext cx="58493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Keep 2 significant digits (4.6 has 2):   </a:t>
            </a:r>
          </a:p>
        </p:txBody>
      </p:sp>
      <p:pic>
        <p:nvPicPr>
          <p:cNvPr id="19" name="Picture 18" descr="7eec2dad996b77d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3250" y="4039726"/>
            <a:ext cx="1030224" cy="25603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square meters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89331" y="1714500"/>
            <a:ext cx="32038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container holds  </a:t>
            </a:r>
          </a:p>
        </p:txBody>
      </p:sp>
      <p:pic>
        <p:nvPicPr>
          <p:cNvPr id="9" name="Picture 8" descr="14e0b9b3df93fb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5985" y="1773936"/>
            <a:ext cx="1783080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39065" y="1714500"/>
            <a:ext cx="34702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cubic feet of liquid.</a:t>
            </a:r>
          </a:p>
        </p:txBody>
      </p:sp>
      <p:pic>
        <p:nvPicPr>
          <p:cNvPr id="11" name="Picture 10" descr="a3b236c4480db3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0625" y="2506980"/>
            <a:ext cx="1999487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160113" y="2446020"/>
            <a:ext cx="39779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cubic feet evaporates.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much is left? Give the answer with the correct precision.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7330ec204f7748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358128" cy="280416"/>
          </a:xfrm>
          <a:prstGeom prst="rect">
            <a:avLst/>
          </a:prstGeom>
        </p:spPr>
      </p:pic>
      <p:pic>
        <p:nvPicPr>
          <p:cNvPr id="9" name="Picture 8" descr="bb89500147edd4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4976"/>
            <a:ext cx="3895344" cy="417576"/>
          </a:xfrm>
          <a:prstGeom prst="rect">
            <a:avLst/>
          </a:prstGeom>
        </p:spPr>
      </p:pic>
      <p:pic>
        <p:nvPicPr>
          <p:cNvPr id="10" name="Picture 9" descr="675b2dce7029d49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166871"/>
            <a:ext cx="6041136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3.06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cubic feet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09636" y="1581912"/>
            <a:ext cx="18196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road is  </a:t>
            </a:r>
          </a:p>
        </p:txBody>
      </p:sp>
      <p:pic>
        <p:nvPicPr>
          <p:cNvPr id="9" name="Picture 8" descr="7085e71197c76ea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141" y="1600200"/>
            <a:ext cx="2026920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19061" y="1581912"/>
            <a:ext cx="15699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93031" y="2324100"/>
            <a:ext cx="18768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section  </a:t>
            </a:r>
          </a:p>
        </p:txBody>
      </p:sp>
      <p:pic>
        <p:nvPicPr>
          <p:cNvPr id="12" name="Picture 11" descr="8ca2d2fd49f849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2686" y="2340864"/>
            <a:ext cx="2036064" cy="4236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68750" y="2324100"/>
            <a:ext cx="33368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long is repaved.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08457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much of the road is not repaved?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08112" y="1581912"/>
            <a:ext cx="18196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road is  </a:t>
            </a:r>
          </a:p>
        </p:txBody>
      </p:sp>
      <p:pic>
        <p:nvPicPr>
          <p:cNvPr id="9" name="Picture 8" descr="792d949c5a21a6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0617" y="1600200"/>
            <a:ext cx="2029968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20585" y="1581912"/>
            <a:ext cx="15699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91507" y="2324100"/>
            <a:ext cx="18768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section  </a:t>
            </a:r>
          </a:p>
        </p:txBody>
      </p:sp>
      <p:pic>
        <p:nvPicPr>
          <p:cNvPr id="12" name="Picture 11" descr="b395e7df8785e0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1162" y="2340864"/>
            <a:ext cx="2039112" cy="4236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70274" y="2324100"/>
            <a:ext cx="33368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long is repaved.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08457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much of the road is not repaved?</a:t>
            </a:r>
          </a:p>
        </p:txBody>
      </p:sp>
      <p:pic>
        <p:nvPicPr>
          <p:cNvPr id="15" name="Picture 14" descr="df3a7677f047d40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10235" y="3768454"/>
            <a:ext cx="2529840" cy="2682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055371" y="4176886"/>
            <a:ext cx="81879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3,850 stops at the tens place, so round to tens:  3,580</a:t>
            </a:r>
          </a:p>
        </p:txBody>
      </p:sp>
      <p:pic>
        <p:nvPicPr>
          <p:cNvPr id="17" name="Picture 16" descr="e2ff5572229200e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10235" y="4752958"/>
            <a:ext cx="2270760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25130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3.58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many significant digits are in  0.00470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many significant digits are in  0.00470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40987" y="2728291"/>
            <a:ext cx="52306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Leading zeros do not count:  0.00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0987" y="3231211"/>
            <a:ext cx="70167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4, 7 and the final 0 count:  3 significant digits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3670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pond's surface measures  </a:t>
            </a:r>
          </a:p>
        </p:txBody>
      </p:sp>
      <p:pic>
        <p:nvPicPr>
          <p:cNvPr id="9" name="Picture 8" descr="cb6705e7e3c134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4334" y="1941575"/>
            <a:ext cx="1130808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95142" y="1851660"/>
            <a:ext cx="1288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fe2d8d13976231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6208" y="1941575"/>
            <a:ext cx="1127760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873968" y="1851660"/>
            <a:ext cx="734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pond is 3 meters deep.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surface area. Round to the correct number of significant digits.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3670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pond's surface measures  </a:t>
            </a:r>
          </a:p>
        </p:txBody>
      </p:sp>
      <p:pic>
        <p:nvPicPr>
          <p:cNvPr id="9" name="Picture 8" descr="14e1bd54084a46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4334" y="1941575"/>
            <a:ext cx="1130808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95142" y="1851660"/>
            <a:ext cx="1288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5ace9ec4312072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6208" y="1941575"/>
            <a:ext cx="1127760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873968" y="1851660"/>
            <a:ext cx="734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pond is 3 meters deep.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surface area. Round to the correct number of significant digits.</a:t>
            </a:r>
          </a:p>
        </p:txBody>
      </p:sp>
      <p:pic>
        <p:nvPicPr>
          <p:cNvPr id="15" name="Picture 14" descr="0dcb6b3604aaf1a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1929" y="4212667"/>
            <a:ext cx="1825752" cy="213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97681" y="4090747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7" name="Picture 16" descr="a732557401dc8ad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0570" y="4188283"/>
            <a:ext cx="1831848" cy="262128"/>
          </a:xfrm>
          <a:prstGeom prst="rect">
            <a:avLst/>
          </a:prstGeom>
        </p:spPr>
      </p:pic>
      <p:pic>
        <p:nvPicPr>
          <p:cNvPr id="18" name="Picture 17" descr="ca43b17f8102147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1929" y="4666819"/>
            <a:ext cx="2362200" cy="3108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17065" y="5096587"/>
            <a:ext cx="42099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Keep 2 significant digits:   </a:t>
            </a:r>
          </a:p>
        </p:txBody>
      </p:sp>
      <p:pic>
        <p:nvPicPr>
          <p:cNvPr id="20" name="Picture 19" descr="018e3913f4d433d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89846" y="5197171"/>
            <a:ext cx="1057656" cy="2560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566808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square meters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Two measurements are multiplied. One has 3 significant digits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0585" y="2692908"/>
            <a:ext cx="69585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and the other has 5. The exact product is  </a:t>
            </a:r>
          </a:p>
        </p:txBody>
      </p:sp>
      <p:pic>
        <p:nvPicPr>
          <p:cNvPr id="10" name="Picture 9" descr="f5a6805642b360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1980" y="2753867"/>
            <a:ext cx="2029968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431948" y="2692908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015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should the answer be written?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Two measurements are multiplied. One has 3 significant digits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0585" y="2601468"/>
            <a:ext cx="69585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and the other has 5. The exact product is  </a:t>
            </a:r>
          </a:p>
        </p:txBody>
      </p:sp>
      <p:pic>
        <p:nvPicPr>
          <p:cNvPr id="10" name="Picture 9" descr="b41e0e74d05342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1980" y="2662428"/>
            <a:ext cx="2029968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431948" y="2601468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101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should the answer be written?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6369" y="3935299"/>
            <a:ext cx="86459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answer keeps the smaller count: 3 significant digits.</a:t>
            </a:r>
          </a:p>
        </p:txBody>
      </p:sp>
      <p:pic>
        <p:nvPicPr>
          <p:cNvPr id="14" name="Picture 13" descr="40ace4bdf802fb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1233" y="4538803"/>
            <a:ext cx="1557528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438761" y="4438219"/>
            <a:ext cx="21002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becomes   </a:t>
            </a:r>
          </a:p>
        </p:txBody>
      </p:sp>
      <p:pic>
        <p:nvPicPr>
          <p:cNvPr id="16" name="Picture 15" descr="ecdbdf53729bbd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1823" y="4538803"/>
            <a:ext cx="1231392" cy="2560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00971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7.41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c7912e820c52de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7740" y="2194560"/>
            <a:ext cx="3983736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91476" y="2171700"/>
            <a:ext cx="42994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meters, both measured.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the sum with the correct precision.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d295e21d6a5af5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6216" y="2103120"/>
            <a:ext cx="3986784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93000" y="2080260"/>
            <a:ext cx="42994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meters, both measured.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the sum with the correct precision.</a:t>
            </a:r>
          </a:p>
        </p:txBody>
      </p:sp>
      <p:pic>
        <p:nvPicPr>
          <p:cNvPr id="11" name="Picture 10" descr="9677988c74c08a0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422" y="3508579"/>
            <a:ext cx="2499360" cy="2682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63558" y="3917011"/>
            <a:ext cx="97715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2,500 stops at the hundreds place, so round to hundreds:  3,000</a:t>
            </a:r>
          </a:p>
        </p:txBody>
      </p:sp>
      <p:pic>
        <p:nvPicPr>
          <p:cNvPr id="13" name="Picture 12" descr="1b2a94b567e449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8422" y="4493083"/>
            <a:ext cx="2130552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99143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3.0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many significant digits are in  0.03080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many significant digits are in  0.03080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54399" y="2728291"/>
            <a:ext cx="50404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Leading zeros do not count:  0.0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4399" y="3231211"/>
            <a:ext cx="73898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3, 0, 8 and the final 0 count:  4 significant digits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3716" y="2171700"/>
            <a:ext cx="38928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rectangle measures  </a:t>
            </a:r>
          </a:p>
        </p:txBody>
      </p:sp>
      <p:pic>
        <p:nvPicPr>
          <p:cNvPr id="9" name="Picture 8" descr="bdf46868d006cd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9372" y="2229612"/>
            <a:ext cx="1420368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29740" y="2171700"/>
            <a:ext cx="15560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cm by  </a:t>
            </a:r>
          </a:p>
        </p:txBody>
      </p:sp>
      <p:pic>
        <p:nvPicPr>
          <p:cNvPr id="11" name="Picture 10" descr="4ada1bcfda5f9a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8624" y="2229612"/>
            <a:ext cx="1639824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88448" y="2171700"/>
            <a:ext cx="9565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area, to the correct significant digits?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26.1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2.6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2.6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2.61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2192" y="2080260"/>
            <a:ext cx="38928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rectangle measures  </a:t>
            </a:r>
          </a:p>
        </p:txBody>
      </p:sp>
      <p:pic>
        <p:nvPicPr>
          <p:cNvPr id="9" name="Picture 8" descr="1aaeee8bfa6e84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7848" y="2138171"/>
            <a:ext cx="1423416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31264" y="2080260"/>
            <a:ext cx="15560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cm by  </a:t>
            </a:r>
          </a:p>
        </p:txBody>
      </p:sp>
      <p:pic>
        <p:nvPicPr>
          <p:cNvPr id="11" name="Picture 10" descr="ba0b2a6dbe833f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0148" y="2138171"/>
            <a:ext cx="1639824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89972" y="2080260"/>
            <a:ext cx="9565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area, to the correct significant digits?</a:t>
            </a:r>
          </a:p>
        </p:txBody>
      </p:sp>
      <p:pic>
        <p:nvPicPr>
          <p:cNvPr id="14" name="Picture 13" descr="7be216ecf24c5d8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6669" y="3536011"/>
            <a:ext cx="2029968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76637" y="3414091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6" name="Picture 15" descr="6dc7d095c18b426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59526" y="3511627"/>
            <a:ext cx="1859280" cy="262128"/>
          </a:xfrm>
          <a:prstGeom prst="rect">
            <a:avLst/>
          </a:prstGeom>
        </p:spPr>
      </p:pic>
      <p:pic>
        <p:nvPicPr>
          <p:cNvPr id="17" name="Picture 16" descr="35eed8d154d098e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6669" y="3990163"/>
            <a:ext cx="2602992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91805" y="4419931"/>
            <a:ext cx="58452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Keep 2 significant digits (6.0 has 2):   </a:t>
            </a:r>
          </a:p>
        </p:txBody>
      </p:sp>
      <p:pic>
        <p:nvPicPr>
          <p:cNvPr id="19" name="Picture 18" descr="9b8a502d8aaa20e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99866" y="4520515"/>
            <a:ext cx="1069848" cy="25603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99143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2.6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39605" y="2171700"/>
            <a:ext cx="24218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car travels  </a:t>
            </a:r>
          </a:p>
        </p:txBody>
      </p:sp>
      <p:pic>
        <p:nvPicPr>
          <p:cNvPr id="9" name="Picture 8" descr="b5f5674feeb41d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4287" y="2229612"/>
            <a:ext cx="1661160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5447" y="2171700"/>
            <a:ext cx="3073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km in  3.0  hours.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What is its average speed, to the right number of significant digits?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39605" y="2080260"/>
            <a:ext cx="24218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car travels  </a:t>
            </a:r>
          </a:p>
        </p:txBody>
      </p:sp>
      <p:pic>
        <p:nvPicPr>
          <p:cNvPr id="9" name="Picture 8" descr="4947c0dc47f86ab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4287" y="2138171"/>
            <a:ext cx="1661160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5447" y="2080260"/>
            <a:ext cx="3073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km in  3.0  hours.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What is its average speed, to the right number of significant digits?</a:t>
            </a:r>
          </a:p>
        </p:txBody>
      </p:sp>
      <p:pic>
        <p:nvPicPr>
          <p:cNvPr id="12" name="Picture 11" descr="b7f3f89b7670fb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5366" y="3482340"/>
            <a:ext cx="1981199" cy="213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580502" y="3863339"/>
            <a:ext cx="60769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3.0 has 2 significant digits, so keep 2:   </a:t>
            </a:r>
          </a:p>
        </p:txBody>
      </p:sp>
      <p:pic>
        <p:nvPicPr>
          <p:cNvPr id="14" name="Picture 13" descr="a617e99eac0e996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0313" y="3960876"/>
            <a:ext cx="1063752" cy="2621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1.4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km/h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measured length times a measured width gives an area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56207" y="2746579"/>
            <a:ext cx="7250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of  </a:t>
            </a:r>
          </a:p>
        </p:txBody>
      </p:sp>
      <p:pic>
        <p:nvPicPr>
          <p:cNvPr id="10" name="Picture 9" descr="66c8c788a53acf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4112" y="2806015"/>
            <a:ext cx="1392936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837048" y="2746579"/>
            <a:ext cx="45618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</a:t>
            </a:r>
            <a:r>
              <a:rPr sz="247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470" b="0" i="0">
                <a:solidFill>
                  <a:srgbClr val="1A1A1A"/>
                </a:solidFill>
                <a:latin typeface="Lexend"/>
              </a:rPr>
              <a:t>. The length measured  </a:t>
            </a:r>
          </a:p>
        </p:txBody>
      </p:sp>
      <p:pic>
        <p:nvPicPr>
          <p:cNvPr id="12" name="Picture 11" descr="e3528be3edfa66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1773" y="2804491"/>
            <a:ext cx="1402080" cy="341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63853" y="2746579"/>
            <a:ext cx="778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What did the width measure, to two significant digits?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measured length times a measured width gives an area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54683" y="2655139"/>
            <a:ext cx="7250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of  </a:t>
            </a:r>
          </a:p>
        </p:txBody>
      </p:sp>
      <p:pic>
        <p:nvPicPr>
          <p:cNvPr id="10" name="Picture 9" descr="96dda91be14bb1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2588" y="2714575"/>
            <a:ext cx="1395984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838572" y="2655139"/>
            <a:ext cx="45618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</a:t>
            </a:r>
            <a:r>
              <a:rPr sz="247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470" b="0" i="0">
                <a:solidFill>
                  <a:srgbClr val="1A1A1A"/>
                </a:solidFill>
                <a:latin typeface="Lexend"/>
              </a:rPr>
              <a:t>. The length measured  </a:t>
            </a:r>
          </a:p>
        </p:txBody>
      </p:sp>
      <p:pic>
        <p:nvPicPr>
          <p:cNvPr id="12" name="Picture 11" descr="b0f75faad513fd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3297" y="2713051"/>
            <a:ext cx="1402080" cy="341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65377" y="2655139"/>
            <a:ext cx="778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What did the width measure, to two significant digits?</a:t>
            </a:r>
          </a:p>
        </p:txBody>
      </p:sp>
      <p:pic>
        <p:nvPicPr>
          <p:cNvPr id="15" name="Picture 14" descr="90203440ac2af94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6025" y="4059074"/>
            <a:ext cx="2377440" cy="3169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291161" y="4528466"/>
            <a:ext cx="44209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Two significant digits:   </a:t>
            </a:r>
          </a:p>
        </p:txBody>
      </p:sp>
      <p:pic>
        <p:nvPicPr>
          <p:cNvPr id="17" name="Picture 16" descr="83b7c76269977cf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74958" y="4604666"/>
            <a:ext cx="1301496" cy="304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09996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4.0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Ellis says: 1,234 has 4 significant digits and 5.6 has 2,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5004" y="2746579"/>
            <a:ext cx="21335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so the sum  </a:t>
            </a:r>
          </a:p>
        </p:txBody>
      </p:sp>
      <p:pic>
        <p:nvPicPr>
          <p:cNvPr id="10" name="Picture 9" descr="6cd48108d25e51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1386" y="2801443"/>
            <a:ext cx="1798320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79706" y="2746579"/>
            <a:ext cx="42347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must be written with 2:  </a:t>
            </a:r>
          </a:p>
        </p:txBody>
      </p:sp>
      <p:pic>
        <p:nvPicPr>
          <p:cNvPr id="12" name="Picture 11" descr="ebc5deb6b2afefa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7265" y="2806015"/>
            <a:ext cx="1350264" cy="338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27529" y="2746579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he is wrong, and give the correct sum.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Ellis says: 1,234 has 4 significant digits and 5.6 has 2,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5004" y="2655139"/>
            <a:ext cx="21335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so the sum  </a:t>
            </a:r>
          </a:p>
        </p:txBody>
      </p:sp>
      <p:pic>
        <p:nvPicPr>
          <p:cNvPr id="10" name="Picture 9" descr="a72db1300e8221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1386" y="2708479"/>
            <a:ext cx="1795272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76658" y="2655139"/>
            <a:ext cx="42347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must be written with 2:  </a:t>
            </a:r>
          </a:p>
        </p:txBody>
      </p:sp>
      <p:pic>
        <p:nvPicPr>
          <p:cNvPr id="12" name="Picture 11" descr="127604dc103a684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4217" y="2714575"/>
            <a:ext cx="1353312" cy="338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27529" y="2655139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he is wrong, and give the correct sum.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99219" y="3988970"/>
            <a:ext cx="77200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Adding uses decimal places, not a count of digits.</a:t>
            </a:r>
          </a:p>
        </p:txBody>
      </p:sp>
      <p:pic>
        <p:nvPicPr>
          <p:cNvPr id="16" name="Picture 15" descr="d1e6d085c4e19a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4083" y="4586378"/>
            <a:ext cx="2596896" cy="2682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999219" y="4994810"/>
            <a:ext cx="8300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1,234 stops at the ones place, so round to ones:  1,240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56631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1,240 = 1.240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9019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9019"/>
            <a:ext cx="6001785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How many significant digits are in  6,030  grams?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966953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966953"/>
            <a:ext cx="634358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How many significant digits are in  0.00710  meters?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434888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434888"/>
            <a:ext cx="290142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rectangle measures  </a:t>
            </a:r>
          </a:p>
        </p:txBody>
      </p:sp>
      <p:pic>
        <p:nvPicPr>
          <p:cNvPr id="14" name="Picture 13" descr="7d17691463990a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746" y="2509166"/>
            <a:ext cx="954289" cy="22913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273035" y="2434888"/>
            <a:ext cx="106372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6" name="Picture 15" descr="35e387f60425e7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596" y="2509166"/>
            <a:ext cx="1072630" cy="22913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272227" y="2434888"/>
            <a:ext cx="396130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m. Find its area, to the correct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2802238"/>
            <a:ext cx="351864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number of significant digits.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270172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20" name="Picture 19" descr="2f8ec9a9220ceb3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3323048"/>
            <a:ext cx="2696684" cy="27193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324316" y="3270172"/>
            <a:ext cx="6831265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meters, both measured. Write the sum with the correct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637522"/>
            <a:ext cx="132944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precision.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105457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105457"/>
            <a:ext cx="182645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car travels  </a:t>
            </a:r>
          </a:p>
        </p:txBody>
      </p:sp>
      <p:pic>
        <p:nvPicPr>
          <p:cNvPr id="25" name="Picture 24" descr="d28efaf6c4b6b0d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3779" y="4179735"/>
            <a:ext cx="1080184" cy="22913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323963" y="4105457"/>
            <a:ext cx="686988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km in  4.0  hours. Find its average speed, to the correct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472807"/>
            <a:ext cx="351864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number of significant digits.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940741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pic>
        <p:nvPicPr>
          <p:cNvPr id="29" name="Picture 28" descr="f68f597f3be75e8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991100"/>
            <a:ext cx="2913225" cy="27697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540857" y="4940741"/>
            <a:ext cx="657174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grams, both measured. Write the difference with the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5308092"/>
            <a:ext cx="223305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correct precision.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Add, subtract, multiply, and divide numbers written in scientific notation: word problems — D5S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Evaluating Expressions with Radicals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evaluate an expression that contains square roots, cube roots and integer exponents.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8747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How many significant digits are in  0.0250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0" name="Picture 9" descr="56d20e268514a0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059" y="2116836"/>
            <a:ext cx="2404872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2" name="Picture 11" descr="97c530a75d29d3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711" y="2699004"/>
            <a:ext cx="844296" cy="3901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278124"/>
            <a:ext cx="21855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Evaluate:  </a:t>
            </a:r>
          </a:p>
        </p:txBody>
      </p:sp>
      <p:pic>
        <p:nvPicPr>
          <p:cNvPr id="14" name="Picture 13" descr="b791e832d65b0b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957" y="3393948"/>
            <a:ext cx="1182624" cy="225552"/>
          </a:xfrm>
          <a:prstGeom prst="rect">
            <a:avLst/>
          </a:prstGeom>
        </p:spPr>
      </p:pic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8747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How many significant digits are in  0.0250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60777" y="1440180"/>
            <a:ext cx="3841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1" name="Picture 10" descr="56d20e268514a0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059" y="2116836"/>
            <a:ext cx="2404872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376571" y="2052828"/>
            <a:ext cx="13653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-3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4" name="Picture 13" descr="97c530a75d29d3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711" y="2699004"/>
            <a:ext cx="844296" cy="3901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0647" y="2665476"/>
            <a:ext cx="5700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278124"/>
            <a:ext cx="21855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Evaluate:  </a:t>
            </a:r>
          </a:p>
        </p:txBody>
      </p:sp>
      <p:pic>
        <p:nvPicPr>
          <p:cNvPr id="17" name="Picture 16" descr="b791e832d65b0b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957" y="3393948"/>
            <a:ext cx="1182624" cy="2255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654221" y="3278124"/>
            <a:ext cx="3865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radical bar is a grouping symbol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f0301447559f26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7184" y="1993392"/>
            <a:ext cx="5407152" cy="478536"/>
          </a:xfrm>
          <a:prstGeom prst="rect">
            <a:avLst/>
          </a:prstGeom>
        </p:spPr>
      </p:pic>
      <p:pic>
        <p:nvPicPr>
          <p:cNvPr id="11" name="Picture 10" descr="3737ed6aaf2017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8180" y="2746248"/>
            <a:ext cx="3185160" cy="478536"/>
          </a:xfrm>
          <a:prstGeom prst="rect">
            <a:avLst/>
          </a:prstGeom>
        </p:spPr>
      </p:pic>
      <p:pic>
        <p:nvPicPr>
          <p:cNvPr id="12" name="Picture 11" descr="4a07f45d5d9ca5f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1035" y="3499104"/>
            <a:ext cx="3209544" cy="4785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30579" y="3509772"/>
            <a:ext cx="18545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never   </a:t>
            </a:r>
          </a:p>
        </p:txBody>
      </p:sp>
      <p:pic>
        <p:nvPicPr>
          <p:cNvPr id="14" name="Picture 13" descr="fbd6d5a320033c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48004" y="3601212"/>
            <a:ext cx="792480" cy="274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31596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Everything under the bar is evaluated before the root is taken.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Square roots and cube roots are not the same shape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4243ac5c29f50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6784" y="1993392"/>
            <a:ext cx="1423416" cy="4785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10200" y="2004060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59fd66553504e9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4543" y="1993392"/>
            <a:ext cx="1453896" cy="4785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568439" y="2004060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4" name="Picture 13" descr="138d560710ac33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2783" y="1993392"/>
            <a:ext cx="1901952" cy="478536"/>
          </a:xfrm>
          <a:prstGeom prst="rect">
            <a:avLst/>
          </a:prstGeom>
        </p:spPr>
      </p:pic>
      <p:pic>
        <p:nvPicPr>
          <p:cNvPr id="15" name="Picture 14" descr="b169188f81dcb70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8596" y="2750820"/>
            <a:ext cx="1246632" cy="7894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65228" y="2916936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7" name="Picture 16" descr="df602f9237f1cbd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9571" y="2746248"/>
            <a:ext cx="1673352" cy="7985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87552" y="388315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An odd root keeps the sign of its radicand. A square root sign never gives a negative value.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Radicals alongside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d5f3f835e2d872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6328" y="1993392"/>
            <a:ext cx="2286000" cy="731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2328" y="2130552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24b3a5f09066cb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6671" y="2119884"/>
            <a:ext cx="3398520" cy="478536"/>
          </a:xfrm>
          <a:prstGeom prst="rect">
            <a:avLst/>
          </a:prstGeom>
        </p:spPr>
      </p:pic>
      <p:pic>
        <p:nvPicPr>
          <p:cNvPr id="13" name="Picture 12" descr="0416a625cfa02c4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1232" y="2999232"/>
            <a:ext cx="4639056" cy="673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01116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Finish each piece — the radical, the power — and only then put them together.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5e47ed58306c9a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1059" y="2103120"/>
            <a:ext cx="2819400" cy="6675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7355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0d6c9f96a3ec0d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630680" cy="673608"/>
          </a:xfrm>
          <a:prstGeom prst="rect">
            <a:avLst/>
          </a:prstGeom>
        </p:spPr>
      </p:pic>
      <p:pic>
        <p:nvPicPr>
          <p:cNvPr id="9" name="Picture 8" descr="3737ed6aaf2017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8168"/>
            <a:ext cx="3185160" cy="478536"/>
          </a:xfrm>
          <a:prstGeom prst="rect">
            <a:avLst/>
          </a:prstGeom>
        </p:spPr>
      </p:pic>
      <p:pic>
        <p:nvPicPr>
          <p:cNvPr id="10" name="Picture 9" descr="48d618d0a819b8c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21024"/>
            <a:ext cx="1661160" cy="6675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74573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17/4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b20bcbb3e5acef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0163" y="1600200"/>
            <a:ext cx="3441192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443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39a98bd65ba9c0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4735" y="1600200"/>
            <a:ext cx="3432048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443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  <p:pic>
        <p:nvPicPr>
          <p:cNvPr id="10" name="Picture 9" descr="6dcdcd24bba745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0055" y="3556618"/>
            <a:ext cx="1219200" cy="515112"/>
          </a:xfrm>
          <a:prstGeom prst="rect">
            <a:avLst/>
          </a:prstGeom>
        </p:spPr>
      </p:pic>
      <p:pic>
        <p:nvPicPr>
          <p:cNvPr id="11" name="Picture 10" descr="56c69e6e26de48c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0055" y="4184506"/>
            <a:ext cx="2234184" cy="368808"/>
          </a:xfrm>
          <a:prstGeom prst="rect">
            <a:avLst/>
          </a:prstGeom>
        </p:spPr>
      </p:pic>
      <p:pic>
        <p:nvPicPr>
          <p:cNvPr id="12" name="Picture 11" descr="a96b4c18555835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0055" y="4666090"/>
            <a:ext cx="1399032" cy="5151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31836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−17/9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8d7699a30e9dd1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7116" y="2103120"/>
            <a:ext cx="3447288" cy="4998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059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0e80ddb964149c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822191" cy="478536"/>
          </a:xfrm>
          <a:prstGeom prst="rect">
            <a:avLst/>
          </a:prstGeom>
        </p:spPr>
      </p:pic>
      <p:pic>
        <p:nvPicPr>
          <p:cNvPr id="9" name="Picture 8" descr="a2a1fa108c11dcc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73096"/>
            <a:ext cx="3989832" cy="478536"/>
          </a:xfrm>
          <a:prstGeom prst="rect">
            <a:avLst/>
          </a:prstGeom>
        </p:spPr>
      </p:pic>
      <p:pic>
        <p:nvPicPr>
          <p:cNvPr id="10" name="Picture 9" descr="64f4a386edd009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425952"/>
            <a:ext cx="1972056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0.2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d6d7dee63e8529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1440" y="1600200"/>
            <a:ext cx="4358640" cy="624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279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7e55928de2d14c9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9915" y="1600200"/>
            <a:ext cx="4361688" cy="624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279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  <p:pic>
        <p:nvPicPr>
          <p:cNvPr id="10" name="Picture 9" descr="3d08e3b9f0cd12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1811" y="3361546"/>
            <a:ext cx="1261872" cy="368808"/>
          </a:xfrm>
          <a:prstGeom prst="rect">
            <a:avLst/>
          </a:prstGeom>
        </p:spPr>
      </p:pic>
      <p:pic>
        <p:nvPicPr>
          <p:cNvPr id="11" name="Picture 10" descr="97af87df177bbd2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1811" y="3864466"/>
            <a:ext cx="2438400" cy="368808"/>
          </a:xfrm>
          <a:prstGeom prst="rect">
            <a:avLst/>
          </a:prstGeom>
        </p:spPr>
      </p:pic>
      <p:pic>
        <p:nvPicPr>
          <p:cNvPr id="12" name="Picture 11" descr="dbd85bfcc6699fc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1811" y="4445110"/>
            <a:ext cx="3087624" cy="213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89469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ea03e9b9b6d508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3268" y="2194560"/>
            <a:ext cx="1014984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6c4a40349de610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6315" y="2103120"/>
            <a:ext cx="1008888" cy="478536"/>
          </a:xfrm>
          <a:prstGeom prst="rect">
            <a:avLst/>
          </a:prstGeom>
        </p:spPr>
      </p:pic>
      <p:pic>
        <p:nvPicPr>
          <p:cNvPr id="9" name="Picture 8" descr="e345b1c8704f7bb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399" y="3020568"/>
            <a:ext cx="1819656" cy="24993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0055" y="2916936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1" name="Picture 10" descr="ca3e1ca339eb783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1128" y="2929128"/>
            <a:ext cx="1572768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11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square patio has an area of  169  square feet.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Fencing for it costs 12 dollars a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one side of the patio?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square patio has an area of  169  square feet.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Fencing for it costs 12 dollars a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one side of the patio?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39815" y="3587827"/>
            <a:ext cx="3131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Side × side = 169</a:t>
            </a:r>
          </a:p>
        </p:txBody>
      </p:sp>
      <p:pic>
        <p:nvPicPr>
          <p:cNvPr id="12" name="Picture 11" descr="389a35c8a60827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679" y="4238575"/>
            <a:ext cx="1868424" cy="256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63103" y="4137991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4" name="Picture 13" descr="296c25346e41fa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4176" y="4150183"/>
            <a:ext cx="1612392" cy="4328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72015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13 feet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33a9e56c707a61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8300" y="2194560"/>
            <a:ext cx="1264920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84e87a07475feb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1347" y="2103120"/>
            <a:ext cx="1258824" cy="478536"/>
          </a:xfrm>
          <a:prstGeom prst="rect">
            <a:avLst/>
          </a:prstGeom>
        </p:spPr>
      </p:pic>
      <p:pic>
        <p:nvPicPr>
          <p:cNvPr id="9" name="Picture 8" descr="6b0304793847f9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935" y="2987040"/>
            <a:ext cx="3630168" cy="3169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25103" y="2916936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1" name="Picture 10" descr="754dfe5956abcf1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6176" y="2929128"/>
            <a:ext cx="1853184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−5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7058abdbd15292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1996" y="2194560"/>
            <a:ext cx="1557528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074bb924378dc9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5043" y="2103120"/>
            <a:ext cx="1551432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63194" y="2906268"/>
            <a:ext cx="38279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Under the bar first:  </a:t>
            </a:r>
          </a:p>
        </p:txBody>
      </p:sp>
      <p:pic>
        <p:nvPicPr>
          <p:cNvPr id="10" name="Picture 9" descr="5105a5010efd45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3957" y="2982468"/>
            <a:ext cx="2944368" cy="304800"/>
          </a:xfrm>
          <a:prstGeom prst="rect">
            <a:avLst/>
          </a:prstGeom>
        </p:spPr>
      </p:pic>
      <p:pic>
        <p:nvPicPr>
          <p:cNvPr id="11" name="Picture 10" descr="5127a0c173e3949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8058" y="3468623"/>
            <a:ext cx="1271016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9180b5fd8586da4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1" y="2194560"/>
            <a:ext cx="1408176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4741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6137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6137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995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995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0537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af6863b3a9216d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9720" y="2103120"/>
            <a:ext cx="1402080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5597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42898" y="3481147"/>
            <a:ext cx="38279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Under the bar first:  </a:t>
            </a:r>
          </a:p>
        </p:txBody>
      </p:sp>
      <p:pic>
        <p:nvPicPr>
          <p:cNvPr id="11" name="Picture 10" descr="bf2df4e3775dcca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3661" y="3581731"/>
            <a:ext cx="1584960" cy="256032"/>
          </a:xfrm>
          <a:prstGeom prst="rect">
            <a:avLst/>
          </a:prstGeom>
        </p:spPr>
      </p:pic>
      <p:pic>
        <p:nvPicPr>
          <p:cNvPr id="12" name="Picture 11" descr="5127a0c173e3949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7762" y="4043503"/>
            <a:ext cx="1271016" cy="4328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5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65ed02bc6c30ad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3643" y="2194560"/>
            <a:ext cx="1094232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4741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6137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−4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6137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not a real number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995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−8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995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0537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c05f88468ec8db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5167" y="2103120"/>
            <a:ext cx="1091184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5597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pic>
        <p:nvPicPr>
          <p:cNvPr id="10" name="Picture 9" descr="fcf33c76384f23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6187" y="3560395"/>
            <a:ext cx="3538728" cy="320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44915" y="3491815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2" name="Picture 11" descr="8c7dac3379df93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5988" y="3504007"/>
            <a:ext cx="1725168" cy="4328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−4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a2c664b248cf7d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9783" y="2194560"/>
            <a:ext cx="1901952" cy="792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69810e14e0abf5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1308" y="2103120"/>
            <a:ext cx="1898904" cy="789432"/>
          </a:xfrm>
          <a:prstGeom prst="rect">
            <a:avLst/>
          </a:prstGeom>
        </p:spPr>
      </p:pic>
      <p:pic>
        <p:nvPicPr>
          <p:cNvPr id="9" name="Picture 8" descr="d5959474f07c9a8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3081" y="3240023"/>
            <a:ext cx="1133856" cy="716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36937" y="3369563"/>
            <a:ext cx="19394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    and     </a:t>
            </a:r>
          </a:p>
        </p:txBody>
      </p:sp>
      <p:pic>
        <p:nvPicPr>
          <p:cNvPr id="11" name="Picture 10" descr="3da34b52f30f55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9238" y="3240023"/>
            <a:ext cx="1316736" cy="716280"/>
          </a:xfrm>
          <a:prstGeom prst="rect">
            <a:avLst/>
          </a:prstGeom>
        </p:spPr>
      </p:pic>
      <p:pic>
        <p:nvPicPr>
          <p:cNvPr id="12" name="Picture 11" descr="bf4ec778f3c995c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3081" y="4084320"/>
            <a:ext cx="1310640" cy="6065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82803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2/3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00016760c7ea4b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1851" y="2194560"/>
            <a:ext cx="2337816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4328986b534c43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8803" y="2103120"/>
            <a:ext cx="2343912" cy="478536"/>
          </a:xfrm>
          <a:prstGeom prst="rect">
            <a:avLst/>
          </a:prstGeom>
        </p:spPr>
      </p:pic>
      <p:pic>
        <p:nvPicPr>
          <p:cNvPr id="9" name="Picture 8" descr="95835d2aa1fdf8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7743" y="2950464"/>
            <a:ext cx="4175760" cy="368808"/>
          </a:xfrm>
          <a:prstGeom prst="rect">
            <a:avLst/>
          </a:prstGeom>
        </p:spPr>
      </p:pic>
      <p:pic>
        <p:nvPicPr>
          <p:cNvPr id="10" name="Picture 9" descr="b2bdb283546f2e9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7743" y="3432047"/>
            <a:ext cx="1149096" cy="515112"/>
          </a:xfrm>
          <a:prstGeom prst="rect">
            <a:avLst/>
          </a:prstGeom>
        </p:spPr>
      </p:pic>
      <p:pic>
        <p:nvPicPr>
          <p:cNvPr id="11" name="Picture 10" descr="092197a6c2e194d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7743" y="4038599"/>
            <a:ext cx="2319528" cy="5151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908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1/25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59886" y="2205228"/>
            <a:ext cx="29697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Simon says that  </a:t>
            </a:r>
          </a:p>
        </p:txBody>
      </p:sp>
      <p:pic>
        <p:nvPicPr>
          <p:cNvPr id="9" name="Picture 8" descr="a849ea34284e1e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443" y="2194560"/>
            <a:ext cx="1060704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53147" y="2205228"/>
            <a:ext cx="36856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is not a real number,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4741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because you cannot take the root of a negative.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2229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he is wrong, and give the value.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61410" y="2113788"/>
            <a:ext cx="29697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Simon says that  </a:t>
            </a:r>
          </a:p>
        </p:txBody>
      </p:sp>
      <p:pic>
        <p:nvPicPr>
          <p:cNvPr id="9" name="Picture 8" descr="dc8e0a2c2f29ccd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3967" y="2103120"/>
            <a:ext cx="1057656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51623" y="2113788"/>
            <a:ext cx="36856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is not a real number,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5597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because you cannot take the root of a negative.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3085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he is wrong, and give the value.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3154" y="4056026"/>
            <a:ext cx="105123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 cube root can be negative: three negatives multiply to a negative.</a:t>
            </a:r>
          </a:p>
        </p:txBody>
      </p:sp>
      <p:pic>
        <p:nvPicPr>
          <p:cNvPr id="14" name="Picture 13" descr="cbf83985c3ed1e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018" y="4654958"/>
            <a:ext cx="2889504" cy="2651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837522" y="4558946"/>
            <a:ext cx="11630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6" name="Picture 15" descr="590e54612c7e6e6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3447" y="4603142"/>
            <a:ext cx="1405128" cy="3688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13044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−3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e838230098c649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28572"/>
            <a:ext cx="862584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1" name="Picture 10" descr="58c968e8bf18d1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122931"/>
            <a:ext cx="862584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3" name="Picture 12" descr="ad02206568954f6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717291"/>
            <a:ext cx="1271016" cy="3901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3924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5" name="Picture 14" descr="64b69718fca3659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300983"/>
            <a:ext cx="566928" cy="640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41010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17" name="Picture 16" descr="3f6f87e04710f31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134612"/>
            <a:ext cx="1484376" cy="3901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4760976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pic>
        <p:nvPicPr>
          <p:cNvPr id="19" name="Picture 18" descr="07d37168da60879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4718304"/>
            <a:ext cx="2304288" cy="542544"/>
          </a:xfrm>
          <a:prstGeom prst="rect">
            <a:avLst/>
          </a:prstGeom>
        </p:spPr>
      </p:pic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This skill continues tomorrow: one assignment, due at the start of the class after 4.06.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radical expressions — D8J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Order of Operations with Radicals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evaluate a multi-step expression with rational numbers, exponents and radicals by reading its structure.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380cdbfed5fb59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473708"/>
            <a:ext cx="1118616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66903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many significant digits are in  1.020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731008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2" name="Picture 11" descr="f3c8135f85cfec4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711" y="2688336"/>
            <a:ext cx="765048" cy="5425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409188"/>
            <a:ext cx="21855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Evaluate:  </a:t>
            </a:r>
          </a:p>
        </p:txBody>
      </p:sp>
      <p:pic>
        <p:nvPicPr>
          <p:cNvPr id="14" name="Picture 13" descr="8de25ca1bc5f4d4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957" y="3525012"/>
            <a:ext cx="1127760" cy="225552"/>
          </a:xfrm>
          <a:prstGeom prst="rect">
            <a:avLst/>
          </a:prstGeom>
        </p:spPr>
      </p:pic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380cdbfed5fb59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473708"/>
            <a:ext cx="1118616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76177" y="1440180"/>
            <a:ext cx="4050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66903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many significant digits are in  1.020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6387" y="2052828"/>
            <a:ext cx="4050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731008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4" name="Picture 13" descr="f3c8135f85cfec4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711" y="2688336"/>
            <a:ext cx="765048" cy="5425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981399" y="2665476"/>
            <a:ext cx="7174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9/4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409188"/>
            <a:ext cx="21855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Evaluate:  </a:t>
            </a:r>
          </a:p>
        </p:txBody>
      </p:sp>
      <p:pic>
        <p:nvPicPr>
          <p:cNvPr id="17" name="Picture 16" descr="8de25ca1bc5f4d4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957" y="3525012"/>
            <a:ext cx="1127760" cy="2255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599357" y="3409188"/>
            <a:ext cx="3865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structure, not a mnemonic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103120" y="1993392"/>
          <a:ext cx="7955280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0080"/>
                <a:gridCol w="2743200"/>
                <a:gridCol w="457200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Level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What it means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Grouping symbols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( ), [ ], the radical bar, the fraction bar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Powers and roots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the same level as each 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Multiply and divide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left to right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Add and subtract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left to right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87552" y="420624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Innermost grouping symbol first, then out.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Left to right means left to right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2201d3ee15bc2ba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2347" y="2060448"/>
            <a:ext cx="3008376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20723" y="1970532"/>
            <a:ext cx="19477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 never   </a:t>
            </a:r>
          </a:p>
        </p:txBody>
      </p:sp>
      <p:pic>
        <p:nvPicPr>
          <p:cNvPr id="12" name="Picture 11" descr="f0147313abe6d96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1268" y="2060448"/>
            <a:ext cx="1517904" cy="277368"/>
          </a:xfrm>
          <a:prstGeom prst="rect">
            <a:avLst/>
          </a:prstGeom>
        </p:spPr>
      </p:pic>
      <p:pic>
        <p:nvPicPr>
          <p:cNvPr id="13" name="Picture 12" descr="0ee3a056470a442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72139" y="2744724"/>
            <a:ext cx="3285744" cy="2804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57883" y="2656332"/>
            <a:ext cx="19477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 never   </a:t>
            </a:r>
          </a:p>
        </p:txBody>
      </p:sp>
      <p:pic>
        <p:nvPicPr>
          <p:cNvPr id="15" name="Picture 14" descr="b927c0f461bb714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8428" y="2746248"/>
            <a:ext cx="1520952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4290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Multiplication and division are one level. Addition and subtraction are one level. Left to right, both times.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The fraction bar groups, top and bottom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b676b63d56095f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1372" y="1993392"/>
            <a:ext cx="2398776" cy="792480"/>
          </a:xfrm>
          <a:prstGeom prst="rect">
            <a:avLst/>
          </a:prstGeom>
        </p:spPr>
      </p:pic>
      <p:pic>
        <p:nvPicPr>
          <p:cNvPr id="11" name="Picture 10" descr="fb1e10d5d1f5e97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7496" y="3060192"/>
            <a:ext cx="4986528" cy="8473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424586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Finish the numerator and finish the denominator before you divide.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6b6fcd5e7b2e72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2607" y="2103120"/>
            <a:ext cx="3956304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8457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04e54fe9a15409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249424" cy="411480"/>
          </a:xfrm>
          <a:prstGeom prst="rect">
            <a:avLst/>
          </a:prstGeom>
        </p:spPr>
      </p:pic>
      <p:pic>
        <p:nvPicPr>
          <p:cNvPr id="9" name="Picture 8" descr="21bef9986283dc4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6989064" cy="353568"/>
          </a:xfrm>
          <a:prstGeom prst="rect">
            <a:avLst/>
          </a:prstGeom>
        </p:spPr>
      </p:pic>
      <p:pic>
        <p:nvPicPr>
          <p:cNvPr id="10" name="Picture 9" descr="09e7e44a6e73f25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33928"/>
            <a:ext cx="2910840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−1.44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47f83e2b495dac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6952" y="1600200"/>
            <a:ext cx="4547616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974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aac90390d93a983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999" y="1600200"/>
            <a:ext cx="4541520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974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5478" y="3286870"/>
            <a:ext cx="30852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Powers and roots:  </a:t>
            </a:r>
          </a:p>
        </p:txBody>
      </p:sp>
      <p:pic>
        <p:nvPicPr>
          <p:cNvPr id="11" name="Picture 10" descr="f6d02763ee13a4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3584" y="3358498"/>
            <a:ext cx="1548384" cy="3139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191968" y="3286870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3" name="Picture 12" descr="954e49d4ca9d857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4857" y="3331066"/>
            <a:ext cx="1091184" cy="3688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695478" y="3789790"/>
            <a:ext cx="39381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Inside the parentheses:  </a:t>
            </a:r>
          </a:p>
        </p:txBody>
      </p:sp>
      <p:pic>
        <p:nvPicPr>
          <p:cNvPr id="15" name="Picture 14" descr="e7c4e03b1a07431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6444" y="3911710"/>
            <a:ext cx="2109216" cy="213360"/>
          </a:xfrm>
          <a:prstGeom prst="rect">
            <a:avLst/>
          </a:prstGeom>
        </p:spPr>
      </p:pic>
      <p:pic>
        <p:nvPicPr>
          <p:cNvPr id="16" name="Picture 15" descr="9835c37dc0133d2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50342" y="4414630"/>
            <a:ext cx="3514344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86421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9.97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b808d9623aef05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3731" y="2103120"/>
            <a:ext cx="2734056" cy="8473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533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9aec3c395596e3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593848" cy="792480"/>
          </a:xfrm>
          <a:prstGeom prst="rect">
            <a:avLst/>
          </a:prstGeom>
        </p:spPr>
      </p:pic>
      <p:pic>
        <p:nvPicPr>
          <p:cNvPr id="9" name="Picture 8" descr="fd77386a9e66a33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87040"/>
            <a:ext cx="3694176" cy="789432"/>
          </a:xfrm>
          <a:prstGeom prst="rect">
            <a:avLst/>
          </a:prstGeom>
        </p:spPr>
      </p:pic>
      <p:pic>
        <p:nvPicPr>
          <p:cNvPr id="10" name="Picture 9" descr="69a6d692b4cc56e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50791"/>
            <a:ext cx="1895856" cy="670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17855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−1/4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a0165d764fa847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9996" y="1481328"/>
            <a:ext cx="3081528" cy="8473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3159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93f2d6cae19f44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1519" y="1481328"/>
            <a:ext cx="3078480" cy="8473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3159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  <p:pic>
        <p:nvPicPr>
          <p:cNvPr id="10" name="Picture 9" descr="6565c690921d94d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7803" y="3443842"/>
            <a:ext cx="1810512" cy="609600"/>
          </a:xfrm>
          <a:prstGeom prst="rect">
            <a:avLst/>
          </a:prstGeom>
        </p:spPr>
      </p:pic>
      <p:pic>
        <p:nvPicPr>
          <p:cNvPr id="11" name="Picture 10" descr="a2173ad1551df9c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7803" y="4144882"/>
            <a:ext cx="3212592" cy="612648"/>
          </a:xfrm>
          <a:prstGeom prst="rect">
            <a:avLst/>
          </a:prstGeom>
        </p:spPr>
      </p:pic>
      <p:pic>
        <p:nvPicPr>
          <p:cNvPr id="12" name="Picture 11" descr="03d6a17384790a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7803" y="4848970"/>
            <a:ext cx="1091184" cy="5120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49819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8c31237e42b535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8863" y="2261616"/>
            <a:ext cx="1383792" cy="2773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0cd271b4ffb079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8863" y="2170175"/>
            <a:ext cx="1383792" cy="2773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26026" y="2839212"/>
            <a:ext cx="26567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Left to right:  </a:t>
            </a:r>
          </a:p>
        </p:txBody>
      </p:sp>
      <p:pic>
        <p:nvPicPr>
          <p:cNvPr id="10" name="Picture 9" descr="2908f8b1131494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5605" y="2941320"/>
            <a:ext cx="1389888" cy="252984"/>
          </a:xfrm>
          <a:prstGeom prst="rect">
            <a:avLst/>
          </a:prstGeom>
        </p:spPr>
      </p:pic>
      <p:pic>
        <p:nvPicPr>
          <p:cNvPr id="11" name="Picture 10" descr="be3a0b78acc2ca7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0890" y="3482340"/>
            <a:ext cx="1127760" cy="24993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456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square tile has side  </a:t>
            </a:r>
          </a:p>
        </p:txBody>
      </p:sp>
      <p:pic>
        <p:nvPicPr>
          <p:cNvPr id="9" name="Picture 8" descr="97c530a75d29d3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2897" y="1885187"/>
            <a:ext cx="844296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7193" y="1851660"/>
            <a:ext cx="22114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diagonal is about 19.8 centimeters.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perimeter of the tile?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456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square tile has side  </a:t>
            </a:r>
          </a:p>
        </p:txBody>
      </p:sp>
      <p:pic>
        <p:nvPicPr>
          <p:cNvPr id="9" name="Picture 8" descr="8dd3731dd90336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2897" y="1885187"/>
            <a:ext cx="838200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1097" y="1851660"/>
            <a:ext cx="22114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diagonal is about 19.8 centimeters.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perimeter of the tile?</a:t>
            </a:r>
          </a:p>
        </p:txBody>
      </p:sp>
      <p:pic>
        <p:nvPicPr>
          <p:cNvPr id="13" name="Picture 12" descr="fe182c84c4bdb5f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467" y="3684236"/>
            <a:ext cx="1642872" cy="4328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12603" y="4222208"/>
            <a:ext cx="22702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Perimeter:  </a:t>
            </a:r>
          </a:p>
        </p:txBody>
      </p:sp>
      <p:pic>
        <p:nvPicPr>
          <p:cNvPr id="15" name="Picture 14" descr="b92290561e20c8b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5668" y="4322792"/>
            <a:ext cx="1609344" cy="2560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79370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56 centimeters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599215668496d9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0471" y="2261616"/>
            <a:ext cx="1560576" cy="2773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599215668496d9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0471" y="2170175"/>
            <a:ext cx="1560576" cy="2773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2310" y="2839212"/>
            <a:ext cx="26567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Left to right:  </a:t>
            </a:r>
          </a:p>
        </p:txBody>
      </p:sp>
      <p:pic>
        <p:nvPicPr>
          <p:cNvPr id="10" name="Picture 9" descr="ed3cc0ad086b14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1889" y="2939796"/>
            <a:ext cx="1417320" cy="256032"/>
          </a:xfrm>
          <a:prstGeom prst="rect">
            <a:avLst/>
          </a:prstGeom>
        </p:spPr>
      </p:pic>
      <p:pic>
        <p:nvPicPr>
          <p:cNvPr id="11" name="Picture 10" descr="2f02af02afef75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7174" y="3479291"/>
            <a:ext cx="1210056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0e3ec2124e9cdb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7067" y="2194560"/>
            <a:ext cx="1167384" cy="792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cbba9a177d472da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8591" y="2103120"/>
            <a:ext cx="1164336" cy="792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03452" y="3220212"/>
            <a:ext cx="996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0" name="Picture 9" descr="e89a91682f16b5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3072" y="3320795"/>
            <a:ext cx="2036064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03452" y="3723131"/>
            <a:ext cx="15832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Bottom:  </a:t>
            </a:r>
          </a:p>
        </p:txBody>
      </p:sp>
      <p:pic>
        <p:nvPicPr>
          <p:cNvPr id="12" name="Picture 11" descr="2d871f17c6a6883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49563" y="3820668"/>
            <a:ext cx="2511552" cy="262128"/>
          </a:xfrm>
          <a:prstGeom prst="rect">
            <a:avLst/>
          </a:prstGeom>
        </p:spPr>
      </p:pic>
      <p:pic>
        <p:nvPicPr>
          <p:cNvPr id="13" name="Picture 12" descr="cf247a514e7944c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58316" y="4248912"/>
            <a:ext cx="633984" cy="5151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90118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1/3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594d57048b4fb9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7339" y="2229612"/>
            <a:ext cx="1386840" cy="3413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146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53291355aab2c4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5816" y="2138171"/>
            <a:ext cx="1389888" cy="3413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70490" y="3414091"/>
            <a:ext cx="20896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Power first:  </a:t>
            </a:r>
          </a:p>
        </p:txBody>
      </p:sp>
      <p:pic>
        <p:nvPicPr>
          <p:cNvPr id="11" name="Picture 10" descr="6bee3a4a6e9671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2961" y="3513151"/>
            <a:ext cx="880872" cy="259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270490" y="3917011"/>
            <a:ext cx="24988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Then multiply:  </a:t>
            </a:r>
          </a:p>
        </p:txBody>
      </p:sp>
      <p:pic>
        <p:nvPicPr>
          <p:cNvPr id="13" name="Picture 12" descr="521cfcdc4e4431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2205" y="4038931"/>
            <a:ext cx="1255776" cy="2133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70490" y="4419931"/>
            <a:ext cx="18774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Then add:  </a:t>
            </a:r>
          </a:p>
        </p:txBody>
      </p:sp>
      <p:pic>
        <p:nvPicPr>
          <p:cNvPr id="15" name="Picture 14" descr="c52f3646b69457b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0795" y="4541851"/>
            <a:ext cx="1399032" cy="213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99143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50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266fcce5418af2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6983" y="2194560"/>
            <a:ext cx="987552" cy="792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61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927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927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35.5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13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13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19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286b5294f6ed7d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0032" y="2103120"/>
            <a:ext cx="981455" cy="789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6687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7658" y="3792043"/>
            <a:ext cx="996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1" name="Picture 10" descr="f5cf47236f59dc7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7277" y="3889579"/>
            <a:ext cx="2389632" cy="2621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457658" y="4294963"/>
            <a:ext cx="15832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Bottom:  </a:t>
            </a:r>
          </a:p>
        </p:txBody>
      </p:sp>
      <p:pic>
        <p:nvPicPr>
          <p:cNvPr id="13" name="Picture 12" descr="b8964d2fa5cae64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3768" y="4397071"/>
            <a:ext cx="697992" cy="252984"/>
          </a:xfrm>
          <a:prstGeom prst="rect">
            <a:avLst/>
          </a:prstGeom>
        </p:spPr>
      </p:pic>
      <p:pic>
        <p:nvPicPr>
          <p:cNvPr id="14" name="Picture 13" descr="e3ce27ebfe1bfd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2522" y="4919803"/>
            <a:ext cx="1219200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536938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4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6ce0d9f4982b69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5503" y="2194560"/>
            <a:ext cx="1810512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74e67f9444e645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3980" y="2103120"/>
            <a:ext cx="1813560" cy="411480"/>
          </a:xfrm>
          <a:prstGeom prst="rect">
            <a:avLst/>
          </a:prstGeom>
        </p:spPr>
      </p:pic>
      <p:pic>
        <p:nvPicPr>
          <p:cNvPr id="9" name="Picture 8" descr="068d9a19700e13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5152" y="2938272"/>
            <a:ext cx="1066800" cy="259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21952" y="2839212"/>
            <a:ext cx="5234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  (the exponent is on the 2 only)</a:t>
            </a:r>
          </a:p>
        </p:txBody>
      </p:sp>
      <p:pic>
        <p:nvPicPr>
          <p:cNvPr id="11" name="Picture 10" descr="a8317bc2e11e2fe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5152" y="3413759"/>
            <a:ext cx="1115568" cy="313944"/>
          </a:xfrm>
          <a:prstGeom prst="rect">
            <a:avLst/>
          </a:prstGeom>
        </p:spPr>
      </p:pic>
      <p:pic>
        <p:nvPicPr>
          <p:cNvPr id="12" name="Picture 11" descr="ab059e2234c1904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5152" y="3966971"/>
            <a:ext cx="1252728" cy="213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f06e7d140296346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2603" y="2194560"/>
            <a:ext cx="2496312" cy="6675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3edde1adf91d2f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1080" y="2103120"/>
            <a:ext cx="2499360" cy="673608"/>
          </a:xfrm>
          <a:prstGeom prst="rect">
            <a:avLst/>
          </a:prstGeom>
        </p:spPr>
      </p:pic>
      <p:pic>
        <p:nvPicPr>
          <p:cNvPr id="9" name="Picture 8" descr="dcdd245aeaaf1b5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7755" y="3124200"/>
            <a:ext cx="1057656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75411" y="3153156"/>
            <a:ext cx="1670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  and     </a:t>
            </a:r>
          </a:p>
        </p:txBody>
      </p:sp>
      <p:pic>
        <p:nvPicPr>
          <p:cNvPr id="11" name="Picture 10" descr="91dc20afadb1aea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9196" y="3124200"/>
            <a:ext cx="829056" cy="515112"/>
          </a:xfrm>
          <a:prstGeom prst="rect">
            <a:avLst/>
          </a:prstGeom>
        </p:spPr>
      </p:pic>
      <p:pic>
        <p:nvPicPr>
          <p:cNvPr id="12" name="Picture 11" descr="116226914234f12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7755" y="3730752"/>
            <a:ext cx="2569464" cy="515112"/>
          </a:xfrm>
          <a:prstGeom prst="rect">
            <a:avLst/>
          </a:prstGeom>
        </p:spPr>
      </p:pic>
      <p:pic>
        <p:nvPicPr>
          <p:cNvPr id="13" name="Picture 12" descr="ea27676c0bb8583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7755" y="4337304"/>
            <a:ext cx="1481328" cy="5120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98652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17/6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5986" y="2215896"/>
            <a:ext cx="31266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Roscoe says that  </a:t>
            </a:r>
          </a:p>
        </p:txBody>
      </p:sp>
      <p:pic>
        <p:nvPicPr>
          <p:cNvPr id="9" name="Picture 8" descr="c79d4acb3ae0bd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5507" y="2194560"/>
            <a:ext cx="1901952" cy="4998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47459" y="2215896"/>
            <a:ext cx="32952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is always positive,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6875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because a square is always positive.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57533" y="3520771"/>
            <a:ext cx="46510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Is he right? Give a value of </a:t>
            </a:r>
          </a:p>
        </p:txBody>
      </p:sp>
      <p:pic>
        <p:nvPicPr>
          <p:cNvPr id="13" name="Picture 12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1381" y="3645739"/>
            <a:ext cx="176784" cy="2072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48165" y="3520771"/>
            <a:ext cx="24929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that settles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6659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4462" y="2124456"/>
            <a:ext cx="31266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Roscoe says that  </a:t>
            </a:r>
          </a:p>
        </p:txBody>
      </p:sp>
      <p:pic>
        <p:nvPicPr>
          <p:cNvPr id="9" name="Picture 8" descr="349a51316d69c5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3983" y="2103120"/>
            <a:ext cx="1905000" cy="4998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48983" y="2124456"/>
            <a:ext cx="32952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is always positive,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7731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because a square is always positive.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57533" y="3429331"/>
            <a:ext cx="46510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Is he right? Give a value of </a:t>
            </a:r>
          </a:p>
        </p:txBody>
      </p:sp>
      <p:pic>
        <p:nvPicPr>
          <p:cNvPr id="13" name="Picture 12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1381" y="3554299"/>
            <a:ext cx="176784" cy="2072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48165" y="3429331"/>
            <a:ext cx="24929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that settles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88076" y="4198951"/>
            <a:ext cx="13421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When </a:t>
            </a:r>
          </a:p>
        </p:txBody>
      </p:sp>
      <p:pic>
        <p:nvPicPr>
          <p:cNvPr id="16" name="Picture 15" descr="da0bec38e3107c3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3095" y="4302583"/>
            <a:ext cx="1036320" cy="24993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229415" y="4198951"/>
            <a:ext cx="606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  </a:t>
            </a:r>
          </a:p>
        </p:txBody>
      </p:sp>
      <p:pic>
        <p:nvPicPr>
          <p:cNvPr id="18" name="Picture 17" descr="c90e576750902fb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98723" y="4211143"/>
            <a:ext cx="3477768" cy="432816"/>
          </a:xfrm>
          <a:prstGeom prst="rect">
            <a:avLst/>
          </a:prstGeom>
        </p:spPr>
      </p:pic>
      <p:pic>
        <p:nvPicPr>
          <p:cNvPr id="19" name="Picture 18" descr="ff74c5c7fd2cbb8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2940" y="4825315"/>
            <a:ext cx="868680" cy="3048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911620" y="4749115"/>
            <a:ext cx="43212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and 0 is not positive.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320615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at n = 121 the value is 0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7297de9a2fe937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610867"/>
            <a:ext cx="1676400" cy="2255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1" name="Picture 10" descr="503ca8bbf5ad037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205227"/>
            <a:ext cx="1167384" cy="225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3" name="Picture 12" descr="fee2d71f7c46e5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744723"/>
            <a:ext cx="1630680" cy="335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39547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5" name="Picture 14" descr="4e620423e0fdea8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300983"/>
            <a:ext cx="780288" cy="6461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4107179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17" name="Picture 16" descr="749d7946d074ee2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168139"/>
            <a:ext cx="1514856" cy="3352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4701539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pic>
        <p:nvPicPr>
          <p:cNvPr id="19" name="Picture 18" descr="16b03c438ff63fe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4735067"/>
            <a:ext cx="2215896" cy="390144"/>
          </a:xfrm>
          <a:prstGeom prst="rect">
            <a:avLst/>
          </a:prstGeom>
        </p:spPr>
      </p:pic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radical expressions — D8J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LESSONS 7–8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Real-World Order of Operations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substitute values into a formula and evaluate it, reading what the situation does rather than hunting for key words.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a7bbd4c851f1e1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1140"/>
            <a:ext cx="1484376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1" name="Picture 10" descr="f84234db65bcdb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059" y="2086356"/>
            <a:ext cx="1578864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729484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3" name="Picture 12" descr="6d6fe08af9312c1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688336"/>
            <a:ext cx="768096" cy="5394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406140"/>
            <a:ext cx="2118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  </a:t>
            </a:r>
          </a:p>
        </p:txBody>
      </p:sp>
      <p:pic>
        <p:nvPicPr>
          <p:cNvPr id="15" name="Picture 14" descr="236959ea5354d8c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5915" y="3497580"/>
            <a:ext cx="460247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316163" y="3406140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7" name="Picture 16" descr="78a344566654b4b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76472" y="3523488"/>
            <a:ext cx="618744" cy="22250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95216" y="3406140"/>
            <a:ext cx="2773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a7bbd4c851f1e1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1140"/>
            <a:ext cx="1484376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41937" y="1440180"/>
            <a:ext cx="4088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2" name="Picture 11" descr="f84234db65bcdb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059" y="2086356"/>
            <a:ext cx="1578864" cy="3901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50563" y="2052828"/>
            <a:ext cx="8623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25/2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729484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6d6fe08af9312c1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688336"/>
            <a:ext cx="768096" cy="5394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84447" y="2665476"/>
            <a:ext cx="7538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4/3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406140"/>
            <a:ext cx="2118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  </a:t>
            </a:r>
          </a:p>
        </p:txBody>
      </p:sp>
      <p:pic>
        <p:nvPicPr>
          <p:cNvPr id="18" name="Picture 17" descr="236959ea5354d8c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5915" y="3497580"/>
            <a:ext cx="460247" cy="2743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316163" y="3406140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20" name="Picture 19" descr="78a344566654b4b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76472" y="3523488"/>
            <a:ext cx="618744" cy="22250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95216" y="3406140"/>
            <a:ext cx="2773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049" y="3406140"/>
            <a:ext cx="5515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18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Substituting: the value goes in parentheses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4ee9fb59b86866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6633" y="1993392"/>
            <a:ext cx="1600200" cy="670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66833" y="2100072"/>
            <a:ext cx="1452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with   </a:t>
            </a:r>
          </a:p>
        </p:txBody>
      </p:sp>
      <p:pic>
        <p:nvPicPr>
          <p:cNvPr id="12" name="Picture 11" descr="c40d2caa36f208b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2656" y="2188464"/>
            <a:ext cx="1124712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07368" y="2100072"/>
            <a:ext cx="13881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4" name="Picture 13" descr="039a12261cb8388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8348" y="2189988"/>
            <a:ext cx="987552" cy="2773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145900" y="2100072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:</a:t>
            </a:r>
          </a:p>
        </p:txBody>
      </p:sp>
      <p:pic>
        <p:nvPicPr>
          <p:cNvPr id="16" name="Picture 15" descr="8d85e48358ee9db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2067" y="2938272"/>
            <a:ext cx="5516880" cy="6705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198947" y="3044952"/>
            <a:ext cx="14176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joules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31531" y="3860292"/>
            <a:ext cx="11736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with   </a:t>
            </a:r>
          </a:p>
        </p:txBody>
      </p:sp>
      <p:pic>
        <p:nvPicPr>
          <p:cNvPr id="19" name="Picture 18" descr="baf1e744513c75c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67997" y="3953256"/>
            <a:ext cx="1024128" cy="27127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992125" y="3860292"/>
            <a:ext cx="658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:    </a:t>
            </a:r>
          </a:p>
        </p:txBody>
      </p:sp>
      <p:pic>
        <p:nvPicPr>
          <p:cNvPr id="21" name="Picture 20" descr="37650f0ab64081b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13587" y="3883152"/>
            <a:ext cx="2410968" cy="4114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924555" y="3860292"/>
            <a:ext cx="18545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never   </a:t>
            </a:r>
          </a:p>
        </p:txBody>
      </p:sp>
      <p:pic>
        <p:nvPicPr>
          <p:cNvPr id="23" name="Picture 22" descr="9d75179d4c71dcb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41980" y="3919728"/>
            <a:ext cx="1588008" cy="3383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87552" y="463296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Substitute in parentheses, then evaluate by the structure — powers before products.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Key words do not decide the operation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213983" y="1970532"/>
            <a:ext cx="78707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15 dollars plus 4 dollars for each of 6 gigabytes:</a:t>
            </a:r>
          </a:p>
        </p:txBody>
      </p:sp>
      <p:pic>
        <p:nvPicPr>
          <p:cNvPr id="11" name="Picture 10" descr="bbb5fdfab9bb65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48" y="2708148"/>
            <a:ext cx="2249424" cy="353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091939" y="3342132"/>
            <a:ext cx="81148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15 dollars for each of 4 lines, plus 6 dollars of tax:</a:t>
            </a:r>
          </a:p>
        </p:txBody>
      </p:sp>
      <p:pic>
        <p:nvPicPr>
          <p:cNvPr id="13" name="Picture 12" descr="452f0d3dea2c60f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9952" y="4079747"/>
            <a:ext cx="2261616" cy="3535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8006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same words, the same numbers, different structures. Read the situation.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Round once, at the end — and say the unit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aa366538d8b58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8372" y="1993392"/>
            <a:ext cx="4690872" cy="4785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929244" y="2004060"/>
            <a:ext cx="1131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feet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879" y="2723388"/>
            <a:ext cx="50028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rounding the side to 14 first:   </a:t>
            </a:r>
          </a:p>
        </p:txBody>
      </p:sp>
      <p:pic>
        <p:nvPicPr>
          <p:cNvPr id="13" name="Picture 12" descr="54bb3b3bdd6a6a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2521" y="2775204"/>
            <a:ext cx="1728216" cy="3535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880737" y="2723388"/>
            <a:ext cx="1131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feet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349605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Carry the exact value, round once at the end, and write the unit.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26593" y="1842515"/>
            <a:ext cx="30864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Kinetic energy is  </a:t>
            </a:r>
          </a:p>
        </p:txBody>
      </p:sp>
      <p:pic>
        <p:nvPicPr>
          <p:cNvPr id="9" name="Picture 8" descr="5d0fc710cd4502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849" y="1737360"/>
            <a:ext cx="1597152" cy="6675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73001" y="1842515"/>
            <a:ext cx="2990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8310" y="2702052"/>
            <a:ext cx="16942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for mass </a:t>
            </a:r>
          </a:p>
        </p:txBody>
      </p:sp>
      <p:pic>
        <p:nvPicPr>
          <p:cNvPr id="12" name="Picture 11" descr="cdb2d0303764b98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5424" y="2827020"/>
            <a:ext cx="307848" cy="2072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103272" y="2702052"/>
            <a:ext cx="41392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in kilograms and speed </a:t>
            </a:r>
          </a:p>
        </p:txBody>
      </p:sp>
      <p:pic>
        <p:nvPicPr>
          <p:cNvPr id="14" name="Picture 13" descr="ed57ccb980491c8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5314" y="2828544"/>
            <a:ext cx="207264" cy="2042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12578" y="2702052"/>
            <a:ext cx="37477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in meters per second.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19904" y="3433572"/>
            <a:ext cx="10046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17" name="Picture 16" descr="e17610a9e5f468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87417" y="3526536"/>
            <a:ext cx="234696" cy="27127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822113" y="3433572"/>
            <a:ext cx="77566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for a car of mass 1,200 kg travelling at 15 m/s.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37083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Give the answer with its unit.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593a1a205fd7f5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65704" cy="670560"/>
          </a:xfrm>
          <a:prstGeom prst="rect">
            <a:avLst/>
          </a:prstGeom>
        </p:spPr>
      </p:pic>
      <p:pic>
        <p:nvPicPr>
          <p:cNvPr id="9" name="Picture 8" descr="6c72b1ad8ee77d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5120"/>
            <a:ext cx="2700528" cy="670560"/>
          </a:xfrm>
          <a:prstGeom prst="rect">
            <a:avLst/>
          </a:prstGeom>
        </p:spPr>
      </p:pic>
      <p:pic>
        <p:nvPicPr>
          <p:cNvPr id="10" name="Picture 9" descr="7be42c48f704a75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810000"/>
            <a:ext cx="3648456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2076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135,000 joules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79479" y="1790700"/>
            <a:ext cx="10046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9" name="Picture 8" descr="a14dbba8fe39de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6991" y="1600200"/>
            <a:ext cx="2002536" cy="838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49527" y="1790700"/>
            <a:ext cx="9521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for  </a:t>
            </a:r>
          </a:p>
        </p:txBody>
      </p:sp>
      <p:pic>
        <p:nvPicPr>
          <p:cNvPr id="11" name="Picture 10" descr="99d0f397928935d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4535" y="1845564"/>
            <a:ext cx="1685544" cy="347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0079" y="1790700"/>
            <a:ext cx="1786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kg  and  </a:t>
            </a:r>
          </a:p>
        </p:txBody>
      </p:sp>
      <p:pic>
        <p:nvPicPr>
          <p:cNvPr id="13" name="Picture 12" descr="5038fc82b26adb5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9114" y="1847088"/>
            <a:ext cx="1207008" cy="3444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706122" y="1790700"/>
            <a:ext cx="11130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m/s.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77955" y="1790700"/>
            <a:ext cx="10046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9" name="Picture 8" descr="b636794ba0bbf4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5467" y="1600200"/>
            <a:ext cx="1999487" cy="838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44955" y="1790700"/>
            <a:ext cx="9521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for  </a:t>
            </a:r>
          </a:p>
        </p:txBody>
      </p:sp>
      <p:pic>
        <p:nvPicPr>
          <p:cNvPr id="11" name="Picture 10" descr="28ac43e86d9ee64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9963" y="1845564"/>
            <a:ext cx="1688592" cy="347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48555" y="1790700"/>
            <a:ext cx="1786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kg  and  </a:t>
            </a:r>
          </a:p>
        </p:txBody>
      </p:sp>
      <p:pic>
        <p:nvPicPr>
          <p:cNvPr id="13" name="Picture 12" descr="e1facf4e099fdd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7590" y="1847088"/>
            <a:ext cx="1210056" cy="3444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707646" y="1790700"/>
            <a:ext cx="11130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m/s.</a:t>
            </a:r>
          </a:p>
        </p:txBody>
      </p:sp>
      <p:pic>
        <p:nvPicPr>
          <p:cNvPr id="15" name="Picture 14" descr="3762f247991bf7e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18688" y="2886456"/>
            <a:ext cx="2112264" cy="301752"/>
          </a:xfrm>
          <a:prstGeom prst="rect">
            <a:avLst/>
          </a:prstGeom>
        </p:spPr>
      </p:pic>
      <p:pic>
        <p:nvPicPr>
          <p:cNvPr id="16" name="Picture 15" descr="ca71fa474550c76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18688" y="3371088"/>
            <a:ext cx="5836920" cy="6065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61,200 joules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square floor of side 9 feet is carpeted.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76458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Carpet is 2.89 dollars a square foot and padding is 0.75 dollars a square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492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Installation is a flat 95 dollars. Find the total cost.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f0ec63a4d8a0e1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285744" cy="411480"/>
          </a:xfrm>
          <a:prstGeom prst="rect">
            <a:avLst/>
          </a:prstGeom>
        </p:spPr>
      </p:pic>
      <p:pic>
        <p:nvPicPr>
          <p:cNvPr id="9" name="Picture 8" descr="704c60e1909449b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2499360" cy="353568"/>
          </a:xfrm>
          <a:prstGeom prst="rect">
            <a:avLst/>
          </a:prstGeom>
        </p:spPr>
      </p:pic>
      <p:pic>
        <p:nvPicPr>
          <p:cNvPr id="10" name="Picture 9" descr="12efb6d72685203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33928"/>
            <a:ext cx="3825240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389.84 dollars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square bathroom floor of side 6 feet is tiled.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Tile is 4.25 dollars a square foot and grout is a flat 13.48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83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total cost.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square bathroom floor of side 6 feet is tiled.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Tile is 4.25 dollars a square foot and grout is a flat 13.48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83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total cost.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44369" y="3267787"/>
            <a:ext cx="11778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Area:  </a:t>
            </a:r>
          </a:p>
        </p:txBody>
      </p:sp>
      <p:pic>
        <p:nvPicPr>
          <p:cNvPr id="12" name="Picture 11" descr="80d9c9c061edf5c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5031" y="3365323"/>
            <a:ext cx="868680" cy="2621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44369" y="3770707"/>
            <a:ext cx="9838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Tile:  </a:t>
            </a:r>
          </a:p>
        </p:txBody>
      </p:sp>
      <p:pic>
        <p:nvPicPr>
          <p:cNvPr id="14" name="Picture 13" descr="bdbfbcd24be2c8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1099" y="3892627"/>
            <a:ext cx="1886712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244369" y="4273627"/>
            <a:ext cx="11947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Total:  </a:t>
            </a:r>
          </a:p>
        </p:txBody>
      </p:sp>
      <p:pic>
        <p:nvPicPr>
          <p:cNvPr id="16" name="Picture 15" descr="a731fe54239e13b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1966" y="4395547"/>
            <a:ext cx="2618232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84512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166.48 dollars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37404" y="2171700"/>
            <a:ext cx="18060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011b5debc6280b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6321" y="2229612"/>
            <a:ext cx="569976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76297" y="2171700"/>
            <a:ext cx="1439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808745f769ad10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8433" y="2263140"/>
            <a:ext cx="996696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75129" y="21717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35880" y="2080260"/>
            <a:ext cx="18060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1f66cf6f8dfc2b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4797" y="2138171"/>
            <a:ext cx="573024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77821" y="2080260"/>
            <a:ext cx="1439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808745f769ad10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9957" y="2171700"/>
            <a:ext cx="996696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76653" y="208026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f32b4b5eddd9123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4479" y="2910840"/>
            <a:ext cx="1539240" cy="313944"/>
          </a:xfrm>
          <a:prstGeom prst="rect">
            <a:avLst/>
          </a:prstGeom>
        </p:spPr>
      </p:pic>
      <p:pic>
        <p:nvPicPr>
          <p:cNvPr id="14" name="Picture 13" descr="a8317bc2e11e2fe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64479" y="3413759"/>
            <a:ext cx="1115568" cy="313944"/>
          </a:xfrm>
          <a:prstGeom prst="rect">
            <a:avLst/>
          </a:prstGeom>
        </p:spPr>
      </p:pic>
      <p:pic>
        <p:nvPicPr>
          <p:cNvPr id="15" name="Picture 14" descr="946a1754962a1d8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4479" y="3966971"/>
            <a:ext cx="1161288" cy="213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cyclist has a mass of 70 kilograms and rides at 8 meters per second.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Her bicycle cost 480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424759"/>
            <a:ext cx="28651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Kinetic energy is  </a:t>
            </a:r>
          </a:p>
        </p:txBody>
      </p:sp>
      <p:pic>
        <p:nvPicPr>
          <p:cNvPr id="11" name="Picture 10" descr="0bcb023825e8ebc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437" y="3382087"/>
            <a:ext cx="1298448" cy="5425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60885" y="3424759"/>
            <a:ext cx="22000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 for a mass  </a:t>
            </a:r>
          </a:p>
        </p:txBody>
      </p:sp>
      <p:pic>
        <p:nvPicPr>
          <p:cNvPr id="13" name="Picture 12" descr="f4653c4bb82321a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3810" y="3569539"/>
            <a:ext cx="246888" cy="167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570698" y="3424759"/>
            <a:ext cx="2386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and a speed  </a:t>
            </a:r>
          </a:p>
        </p:txBody>
      </p:sp>
      <p:pic>
        <p:nvPicPr>
          <p:cNvPr id="15" name="Picture 14" descr="f5a2a14a06f9d7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0161" y="3571063"/>
            <a:ext cx="167640" cy="1645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987801" y="3424759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2579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her kinetic energy.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4777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cyclist has a mass of 70 kilograms and rides at 8 meters per second.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Her bicycle cost 480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424759"/>
            <a:ext cx="28651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Kinetic energy is  </a:t>
            </a:r>
          </a:p>
        </p:txBody>
      </p:sp>
      <p:pic>
        <p:nvPicPr>
          <p:cNvPr id="11" name="Picture 10" descr="94474fdbb34e34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437" y="3382087"/>
            <a:ext cx="1304544" cy="5425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66981" y="3424759"/>
            <a:ext cx="22000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 for a mass  </a:t>
            </a:r>
          </a:p>
        </p:txBody>
      </p:sp>
      <p:pic>
        <p:nvPicPr>
          <p:cNvPr id="13" name="Picture 12" descr="f4653c4bb82321a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9906" y="3569539"/>
            <a:ext cx="246888" cy="167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576794" y="3424759"/>
            <a:ext cx="2386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and a speed  </a:t>
            </a:r>
          </a:p>
        </p:txBody>
      </p:sp>
      <p:pic>
        <p:nvPicPr>
          <p:cNvPr id="15" name="Picture 14" descr="f5a2a14a06f9d7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6257" y="3571063"/>
            <a:ext cx="167640" cy="1645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993897" y="3424759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2579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her kinetic energy.</a:t>
            </a:r>
          </a:p>
        </p:txBody>
      </p:sp>
      <p:pic>
        <p:nvPicPr>
          <p:cNvPr id="18" name="Picture 17" descr="39c59a038134af7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50563" y="4783769"/>
            <a:ext cx="4770120" cy="6065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552748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2,240 joules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plan costs 15 dollars plus 4 dollars for each gigabyte.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the cost of 6 gigabytes.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plan costs 15 dollars plus 4 dollars for each gigabyte.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the cost of 6 gigabytes.</a:t>
            </a:r>
          </a:p>
        </p:txBody>
      </p:sp>
      <p:pic>
        <p:nvPicPr>
          <p:cNvPr id="10" name="Picture 9" descr="d6367224d1a034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4083" y="3405278"/>
            <a:ext cx="1423416" cy="252984"/>
          </a:xfrm>
          <a:prstGeom prst="rect">
            <a:avLst/>
          </a:prstGeom>
        </p:spPr>
      </p:pic>
      <p:pic>
        <p:nvPicPr>
          <p:cNvPr id="11" name="Picture 10" descr="83ec447ebad373f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4083" y="3944774"/>
            <a:ext cx="1783080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39 dollars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 square floor of side 8 feet is tiled at 3.50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157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Installation is a flat 60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906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the total cost.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 square floor of side 8 feet is tiled at 3.50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243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Installation is a flat 60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992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the total cost.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9461" y="3824378"/>
            <a:ext cx="11778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Area:  </a:t>
            </a:r>
          </a:p>
        </p:txBody>
      </p:sp>
      <p:pic>
        <p:nvPicPr>
          <p:cNvPr id="12" name="Picture 11" descr="db60fa38d81bcb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0123" y="3923438"/>
            <a:ext cx="896112" cy="2590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99461" y="4327298"/>
            <a:ext cx="9838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Tile:  </a:t>
            </a:r>
          </a:p>
        </p:txBody>
      </p:sp>
      <p:pic>
        <p:nvPicPr>
          <p:cNvPr id="14" name="Picture 13" descr="dad7cd7587acd8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6191" y="4449218"/>
            <a:ext cx="1935480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99461" y="4830218"/>
            <a:ext cx="11947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Total:  </a:t>
            </a:r>
          </a:p>
        </p:txBody>
      </p:sp>
      <p:pic>
        <p:nvPicPr>
          <p:cNvPr id="16" name="Picture 15" descr="2554c3d382c475f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7058" y="4952138"/>
            <a:ext cx="1905000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40171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284 dollars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35998" y="2299715"/>
            <a:ext cx="18060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afdff26349098b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4915" y="2194560"/>
            <a:ext cx="990599" cy="6675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95515" y="2299715"/>
            <a:ext cx="1439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938dd359498bb5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7650" y="2389632"/>
            <a:ext cx="1149096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46746" y="2299715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3" name="Picture 12" descr="f632c3e74aa9099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1487" y="2391156"/>
            <a:ext cx="765048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476535" y="2299715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13639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8027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8027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44885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4885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3,600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49435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34474" y="2209800"/>
            <a:ext cx="18060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d1e305187b6b37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391" y="2103120"/>
            <a:ext cx="993648" cy="67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97039" y="2209800"/>
            <a:ext cx="1439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68297ebc4f2432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9174" y="2299715"/>
            <a:ext cx="1149096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48270" y="2209800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3" name="Picture 12" descr="f632c3e74aa9099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3011" y="2301240"/>
            <a:ext cx="765048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478059" y="22098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04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pic>
        <p:nvPicPr>
          <p:cNvPr id="16" name="Picture 15" descr="1adf52fb3089242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7971" y="3749371"/>
            <a:ext cx="1517904" cy="304800"/>
          </a:xfrm>
          <a:prstGeom prst="rect">
            <a:avLst/>
          </a:prstGeom>
        </p:spPr>
      </p:pic>
      <p:pic>
        <p:nvPicPr>
          <p:cNvPr id="17" name="Picture 16" descr="f5a67ba185f37fd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47971" y="4235527"/>
            <a:ext cx="3578352" cy="6065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97923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180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 square patio of side 12 feet is sealed at 1.25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157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Delivery of the sealer is a flat 38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906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gives the total cost?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9569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12(1.25) + 38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9569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+ 1.25 + 38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427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(1.25 + 38)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427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(1.25) + 38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4860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 square patio of side 12 feet is sealed at 1.25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243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Delivery of the sealer is a flat 38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992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gives the total cost?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7950" y="3824378"/>
            <a:ext cx="11063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Area  </a:t>
            </a:r>
          </a:p>
        </p:txBody>
      </p:sp>
      <p:pic>
        <p:nvPicPr>
          <p:cNvPr id="12" name="Picture 11" descr="d6542a78239188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7174" y="3923438"/>
            <a:ext cx="396240" cy="2590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473414" y="3824378"/>
            <a:ext cx="5531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square feet, at 1.25 dollars each:   </a:t>
            </a:r>
          </a:p>
        </p:txBody>
      </p:sp>
      <p:pic>
        <p:nvPicPr>
          <p:cNvPr id="14" name="Picture 13" descr="6522b013c381f0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7897" y="3921914"/>
            <a:ext cx="1194816" cy="2621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07950" y="4327298"/>
            <a:ext cx="48466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38 dollars is added once:   </a:t>
            </a:r>
          </a:p>
        </p:txBody>
      </p:sp>
      <p:pic>
        <p:nvPicPr>
          <p:cNvPr id="16" name="Picture 15" descr="107f56fc6415d27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7478" y="4424834"/>
            <a:ext cx="2560320" cy="2621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89879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12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(1.25) + 38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41720" y="2205228"/>
            <a:ext cx="55499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fence runs along 6 sides, each  </a:t>
            </a:r>
          </a:p>
        </p:txBody>
      </p:sp>
      <p:pic>
        <p:nvPicPr>
          <p:cNvPr id="9" name="Picture 8" descr="750d442da50ecc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538" y="2194560"/>
            <a:ext cx="1097280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51818" y="2205228"/>
            <a:ext cx="19051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feet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4741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its total length, to the nearest hundredth of a foot.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44768" y="2113788"/>
            <a:ext cx="55499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fence runs along 6 sides, each  </a:t>
            </a:r>
          </a:p>
        </p:txBody>
      </p:sp>
      <p:pic>
        <p:nvPicPr>
          <p:cNvPr id="9" name="Picture 8" descr="9fb9dd87cc4e7f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7586" y="2103120"/>
            <a:ext cx="1091184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48770" y="2113788"/>
            <a:ext cx="19051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feet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5597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its total length, to the nearest hundredth of a foot.</a:t>
            </a:r>
          </a:p>
        </p:txBody>
      </p:sp>
      <p:pic>
        <p:nvPicPr>
          <p:cNvPr id="12" name="Picture 11" descr="53d1d92fd3181f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8680" y="3504007"/>
            <a:ext cx="2526792" cy="432816"/>
          </a:xfrm>
          <a:prstGeom prst="rect">
            <a:avLst/>
          </a:prstGeom>
        </p:spPr>
      </p:pic>
      <p:pic>
        <p:nvPicPr>
          <p:cNvPr id="13" name="Picture 12" descr="61dd79c9e3470da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8680" y="4142563"/>
            <a:ext cx="2913888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84.85 feet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85509" y="2301240"/>
            <a:ext cx="18060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d07fc0815ebc50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4426" y="2194560"/>
            <a:ext cx="1033271" cy="67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87698" y="2301240"/>
            <a:ext cx="1439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b10d32bef8baa2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9833" y="2392680"/>
            <a:ext cx="789432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79265" y="2301240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3" name="Picture 12" descr="f4a366969adde4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7429" y="2385060"/>
            <a:ext cx="801624" cy="2895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29053" y="2301240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5" name="Picture 14" descr="43fbcf2c2a45ea2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7216" y="2392680"/>
            <a:ext cx="749808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527024" y="230124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83985" y="2211323"/>
            <a:ext cx="18060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e9fde38d04c0ca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2902" y="2103120"/>
            <a:ext cx="1030224" cy="673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83126" y="2211323"/>
            <a:ext cx="1439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b10d32bef8baa2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5261" y="2302764"/>
            <a:ext cx="789432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74693" y="2211323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3" name="Picture 12" descr="723048b2d1c488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2857" y="2295144"/>
            <a:ext cx="804672" cy="2895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27529" y="2211323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5" name="Picture 14" descr="848bbba5727756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5692" y="2302764"/>
            <a:ext cx="752856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528548" y="2211323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41556" y="3101340"/>
            <a:ext cx="11413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8" name="Picture 17" descr="6aa77d3d03b7f4a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45699" y="3176016"/>
            <a:ext cx="2874264" cy="307848"/>
          </a:xfrm>
          <a:prstGeom prst="rect">
            <a:avLst/>
          </a:prstGeom>
        </p:spPr>
      </p:pic>
      <p:pic>
        <p:nvPicPr>
          <p:cNvPr id="19" name="Picture 18" descr="aafef2d9b5795f3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96420" y="3742944"/>
            <a:ext cx="1453896" cy="25298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 plan costs 15 dollars plus 4 dollars for each of 6 gigabytes.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15768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Another costs 15 dollars for each of 4 lines, plus 6 dollars of tax.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36976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Find both totals, and say why the key words could not have told you.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 plan costs 15 dollars plus 4 dollars for each of 6 gigabytes.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24328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Another costs 15 dollars for each of 4 lines, plus 6 dollars of tax.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45536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Find both totals, and say why the key words could not have told you.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49011" y="3717036"/>
            <a:ext cx="18753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First plan:  </a:t>
            </a:r>
          </a:p>
        </p:txBody>
      </p:sp>
      <p:pic>
        <p:nvPicPr>
          <p:cNvPr id="12" name="Picture 11" descr="9c06497c855717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7168" y="3838956"/>
            <a:ext cx="2983992" cy="213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749011" y="4219956"/>
            <a:ext cx="23274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Second plan:  </a:t>
            </a:r>
          </a:p>
        </p:txBody>
      </p:sp>
      <p:pic>
        <p:nvPicPr>
          <p:cNvPr id="14" name="Picture 13" descr="328175c9b0fe13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9276" y="4341876"/>
            <a:ext cx="2843784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49011" y="4722876"/>
            <a:ext cx="88006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Both say "plus" and "for each". What repeats is different.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29437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39 dollars and 66 dollars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8e7af367fc956f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86484"/>
            <a:ext cx="466344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093976" y="1495044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368514c03b325e8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284" y="1612391"/>
            <a:ext cx="810768" cy="222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154936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3" name="Picture 12" descr="76e92664c8540a7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112263"/>
            <a:ext cx="807720" cy="5425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435352" y="2154936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5" name="Picture 14" descr="0531a46c557d60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5660" y="2270759"/>
            <a:ext cx="908304" cy="2255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03964" y="2154936"/>
            <a:ext cx="1087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7" name="Picture 16" descr="db6b9bf3d6868ca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4305" y="2273807"/>
            <a:ext cx="649224" cy="21945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28818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9" name="Picture 18" descr="2ccaff4dbf2c8eb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2837687"/>
            <a:ext cx="841248" cy="54559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468880" y="2881883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21" name="Picture 20" descr="bd1f822a1acce55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29188" y="2997707"/>
            <a:ext cx="646176" cy="22555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275364" y="2881883"/>
            <a:ext cx="453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3" name="Picture 22" descr="ca3738318bc6ad6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91805" y="2993135"/>
            <a:ext cx="630936" cy="23469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222741" y="2881883"/>
            <a:ext cx="453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5" name="Picture 24" descr="26463fb98544f31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39182" y="3000755"/>
            <a:ext cx="609600" cy="21945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60120" y="3543299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3543299"/>
            <a:ext cx="9544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square room of side 10 feet is carpeted at 2.65 dollars a square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3982211"/>
            <a:ext cx="80930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foot, with a flat 55 dollars for fitting. Find the total cost.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57657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30" name="Picture 29" descr="51cdd467e13c212c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27632" y="4631436"/>
            <a:ext cx="1627632" cy="34747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255264" y="4576571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32" name="Picture 31" descr="213bf21424f7f3b9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15572" y="4695444"/>
            <a:ext cx="646176" cy="21945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061748" y="4576571"/>
            <a:ext cx="1087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34" name="Picture 33" descr="393881ab0a530490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12089" y="4657344"/>
            <a:ext cx="612648" cy="29565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60120" y="517093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54480" y="5170931"/>
            <a:ext cx="9851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gym charges 25 dollars to join plus 8 dollars for each of 6 classes.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54480" y="5609844"/>
            <a:ext cx="28611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total cost.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variable expressions: word problems — DPG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