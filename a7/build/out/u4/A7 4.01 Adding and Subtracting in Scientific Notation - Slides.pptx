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Adding and Subtracting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add and subtract two numbers written in scientific notation, and write the answer in scientific notation.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8532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 0.00062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44702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times larger is  </a:t>
            </a:r>
          </a:p>
        </p:txBody>
      </p:sp>
      <p:pic>
        <p:nvPicPr>
          <p:cNvPr id="10" name="Picture 9" descr="322d90d803ad0d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574" y="2145792"/>
            <a:ext cx="896112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03686" y="2052828"/>
            <a:ext cx="1188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2" name="Picture 11" descr="91469e0de639e7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489" y="2145792"/>
            <a:ext cx="899160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4649" y="2052828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f53f316f2160c0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99004"/>
            <a:ext cx="886968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2773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sum:  </a:t>
            </a:r>
          </a:p>
        </p:txBody>
      </p:sp>
      <p:pic>
        <p:nvPicPr>
          <p:cNvPr id="17" name="Picture 16" descr="bd88d4ecf7738e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197" y="3393948"/>
            <a:ext cx="1307592" cy="2255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8532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 0.00062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9214" y="1440180"/>
            <a:ext cx="1617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6.2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44702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times larger is  </a:t>
            </a:r>
          </a:p>
        </p:txBody>
      </p:sp>
      <p:pic>
        <p:nvPicPr>
          <p:cNvPr id="11" name="Picture 10" descr="322d90d803ad0d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574" y="2145792"/>
            <a:ext cx="896112" cy="2712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03686" y="2052828"/>
            <a:ext cx="1188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3" name="Picture 12" descr="91469e0de639e7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489" y="2145792"/>
            <a:ext cx="899160" cy="271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4649" y="2052828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9139" y="2052828"/>
            <a:ext cx="1085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7" name="Picture 16" descr="f53f316f2160c0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99004"/>
            <a:ext cx="886968" cy="390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03319" y="2665476"/>
            <a:ext cx="5365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78124"/>
            <a:ext cx="2773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sum:  </a:t>
            </a:r>
          </a:p>
        </p:txBody>
      </p:sp>
      <p:pic>
        <p:nvPicPr>
          <p:cNvPr id="20" name="Picture 19" descr="bd88d4ecf7738e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197" y="3393948"/>
            <a:ext cx="1307592" cy="2255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67429" y="3278124"/>
            <a:ext cx="7909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1.69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scientific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69550"/>
            <a:ext cx="30323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number written as </a:t>
            </a:r>
          </a:p>
        </p:txBody>
      </p:sp>
      <p:pic>
        <p:nvPicPr>
          <p:cNvPr id="10" name="Picture 9" descr="5c7736c1398d0b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202" y="1953370"/>
            <a:ext cx="1133856" cy="289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2058" y="1869550"/>
            <a:ext cx="2854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54182"/>
            <a:ext cx="11185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where </a:t>
            </a:r>
          </a:p>
        </p:txBody>
      </p:sp>
      <p:pic>
        <p:nvPicPr>
          <p:cNvPr id="13" name="Picture 12" descr="658262df29b49a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363" y="2477626"/>
            <a:ext cx="204216" cy="2103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28579" y="2354182"/>
            <a:ext cx="4774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at least 1 and less than 10 and </a:t>
            </a:r>
          </a:p>
        </p:txBody>
      </p:sp>
      <p:pic>
        <p:nvPicPr>
          <p:cNvPr id="15" name="Picture 14" descr="f14fce7cf077cd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520" y="2479150"/>
            <a:ext cx="176784" cy="207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42304" y="2354182"/>
            <a:ext cx="19817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an integer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coefficient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96200"/>
            <a:ext cx="16348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factor </a:t>
            </a:r>
          </a:p>
        </p:txBody>
      </p:sp>
      <p:pic>
        <p:nvPicPr>
          <p:cNvPr id="19" name="Picture 18" descr="658262df29b49a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665" y="3519644"/>
            <a:ext cx="204216" cy="2103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44881" y="3396200"/>
            <a:ext cx="6135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in </a:t>
            </a:r>
          </a:p>
        </p:txBody>
      </p:sp>
      <p:pic>
        <p:nvPicPr>
          <p:cNvPr id="21" name="Picture 20" descr="5c7736c1398d0b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233" y="3480020"/>
            <a:ext cx="1133856" cy="289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55089" y="3396200"/>
            <a:ext cx="2744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80832"/>
            <a:ext cx="55453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In a finished answer it always satisfies </a:t>
            </a:r>
          </a:p>
        </p:txBody>
      </p:sp>
      <p:pic>
        <p:nvPicPr>
          <p:cNvPr id="24" name="Picture 23" descr="bfdcfbaf2cf7af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171" y="3970748"/>
            <a:ext cx="1542288" cy="277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45163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common power of 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945711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matching power that two numbers are written over before they are added or subtracted — the place value they share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power of ten is a place value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74520" y="1993392"/>
          <a:ext cx="841248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520" b="1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520" b="1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520" b="1" baseline="3000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520" b="1" baseline="30000">
                          <a:solidFill>
                            <a:srgbClr val="1A1A1A"/>
                          </a:solidFill>
                          <a:latin typeface="Lexend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ten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hundred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millions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64bf61ed56dc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127" y="3020568"/>
            <a:ext cx="4779264" cy="350520"/>
          </a:xfrm>
          <a:prstGeom prst="rect">
            <a:avLst/>
          </a:prstGeom>
        </p:spPr>
      </p:pic>
      <p:pic>
        <p:nvPicPr>
          <p:cNvPr id="12" name="Picture 11" descr="2417d66e2dd592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3712464"/>
            <a:ext cx="8122920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442569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Two numbers can be added only when they carry the same power of 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Same power: add or subtract the 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cc98597e79ddb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604" y="1993392"/>
            <a:ext cx="5544312" cy="414528"/>
          </a:xfrm>
          <a:prstGeom prst="rect">
            <a:avLst/>
          </a:prstGeom>
        </p:spPr>
      </p:pic>
      <p:pic>
        <p:nvPicPr>
          <p:cNvPr id="11" name="Picture 10" descr="a46e16cf656fad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164" y="2683763"/>
            <a:ext cx="7251192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4320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Add or subtract the coefficients. The power of ten does not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16356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Then check the coefficient: if it is not between 1 and 10, the answer is not finished.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Different powers: rewrite one of them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f0baaf26a407d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7" y="1994916"/>
            <a:ext cx="3803904" cy="408432"/>
          </a:xfrm>
          <a:prstGeom prst="rect">
            <a:avLst/>
          </a:prstGeom>
        </p:spPr>
      </p:pic>
      <p:pic>
        <p:nvPicPr>
          <p:cNvPr id="11" name="Picture 10" descr="4fc26d98a263c8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052" y="2682240"/>
            <a:ext cx="6757416" cy="405384"/>
          </a:xfrm>
          <a:prstGeom prst="rect">
            <a:avLst/>
          </a:prstGeom>
        </p:spPr>
      </p:pic>
      <p:pic>
        <p:nvPicPr>
          <p:cNvPr id="12" name="Picture 11" descr="ae1a5a7207b817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347" y="3366516"/>
            <a:ext cx="596188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88235" y="3342132"/>
            <a:ext cx="18545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</a:t>
            </a:r>
          </a:p>
        </p:txBody>
      </p:sp>
      <p:pic>
        <p:nvPicPr>
          <p:cNvPr id="14" name="Picture 13" descr="83c5d338eb6c26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5660" y="3401568"/>
            <a:ext cx="1429512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1148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Rewrite one number so both carry the same power of ten, then add or subtract the coefficients.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2180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Exponent up one, decimal point one place left. The value does not move.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073017cb63050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104643"/>
            <a:ext cx="3785615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Add. Write the answer in scientific notation.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9f41e57a08380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797296" cy="405384"/>
          </a:xfrm>
          <a:prstGeom prst="rect">
            <a:avLst/>
          </a:prstGeom>
        </p:spPr>
      </p:pic>
      <p:pic>
        <p:nvPicPr>
          <p:cNvPr id="9" name="Picture 8" descr="9886ab42ab881d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9944"/>
            <a:ext cx="3624072" cy="338328"/>
          </a:xfrm>
          <a:prstGeom prst="rect">
            <a:avLst/>
          </a:prstGeom>
        </p:spPr>
      </p:pic>
      <p:pic>
        <p:nvPicPr>
          <p:cNvPr id="10" name="Picture 9" descr="a3c2876c6f516a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12592"/>
            <a:ext cx="221589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1.45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4cde0a73e6462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772" y="1600200"/>
            <a:ext cx="5141976" cy="505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090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Add. Write the answer in scientific notation.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6341fce2cb0bbc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248" y="1600200"/>
            <a:ext cx="5145024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Add.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5576" y="3201526"/>
            <a:ext cx="59872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power, so add the fronts:  </a:t>
            </a:r>
          </a:p>
        </p:txBody>
      </p:sp>
      <p:pic>
        <p:nvPicPr>
          <p:cNvPr id="11" name="Picture 10" descr="bcb34fa03e0895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663" y="3303634"/>
            <a:ext cx="2240280" cy="252984"/>
          </a:xfrm>
          <a:prstGeom prst="rect">
            <a:avLst/>
          </a:prstGeom>
        </p:spPr>
      </p:pic>
      <p:pic>
        <p:nvPicPr>
          <p:cNvPr id="12" name="Picture 11" descr="30762fde1252fc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40" y="3817222"/>
            <a:ext cx="3486912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1.23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bf4da8d69ae35f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903" y="2104643"/>
            <a:ext cx="3791712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Subtract. Write the answer in scientific notation.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f0014276d232b3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505200" cy="341376"/>
          </a:xfrm>
          <a:prstGeom prst="rect">
            <a:avLst/>
          </a:prstGeom>
        </p:spPr>
      </p:pic>
      <p:pic>
        <p:nvPicPr>
          <p:cNvPr id="9" name="Picture 8" descr="934206aface5fa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6050280" cy="414528"/>
          </a:xfrm>
          <a:prstGeom prst="rect">
            <a:avLst/>
          </a:prstGeom>
        </p:spPr>
      </p:pic>
      <p:pic>
        <p:nvPicPr>
          <p:cNvPr id="10" name="Picture 9" descr="5c58ea87206358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4783"/>
            <a:ext cx="577900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6.85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1b8e06632cef40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104" y="1600200"/>
            <a:ext cx="5163312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Subtract. Write the answer in scientific notation.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248bda730bf17b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79" y="1600200"/>
            <a:ext cx="5166360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Subtract.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3393" y="3204574"/>
            <a:ext cx="31549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Match the powers:  </a:t>
            </a:r>
          </a:p>
        </p:txBody>
      </p:sp>
      <p:pic>
        <p:nvPicPr>
          <p:cNvPr id="11" name="Picture 10" descr="9ce2865529b18e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190" y="3302110"/>
            <a:ext cx="2913888" cy="262128"/>
          </a:xfrm>
          <a:prstGeom prst="rect">
            <a:avLst/>
          </a:prstGeom>
        </p:spPr>
      </p:pic>
      <p:pic>
        <p:nvPicPr>
          <p:cNvPr id="12" name="Picture 11" descr="bd4649ecf62b8a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257" y="3829414"/>
            <a:ext cx="2069591" cy="213360"/>
          </a:xfrm>
          <a:prstGeom prst="rect">
            <a:avLst/>
          </a:prstGeom>
        </p:spPr>
      </p:pic>
      <p:pic>
        <p:nvPicPr>
          <p:cNvPr id="13" name="Picture 12" descr="fb181fe42321e2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257" y="4310998"/>
            <a:ext cx="1362456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78191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5.51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09fad54e40349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524" y="2197608"/>
            <a:ext cx="3776472" cy="405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2a3c75618fa7d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99" y="2106168"/>
            <a:ext cx="3779520" cy="405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42256" y="2839212"/>
            <a:ext cx="59872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power, so add the fronts:  </a:t>
            </a:r>
          </a:p>
        </p:txBody>
      </p:sp>
      <p:pic>
        <p:nvPicPr>
          <p:cNvPr id="10" name="Picture 9" descr="691fe688d72e9d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343" y="2941320"/>
            <a:ext cx="2026920" cy="252984"/>
          </a:xfrm>
          <a:prstGeom prst="rect">
            <a:avLst/>
          </a:prstGeom>
        </p:spPr>
      </p:pic>
      <p:pic>
        <p:nvPicPr>
          <p:cNvPr id="11" name="Picture 10" descr="b4ec2c46247ef0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120" y="3454908"/>
            <a:ext cx="1246632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791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stadium sold  </a:t>
            </a:r>
          </a:p>
        </p:txBody>
      </p:sp>
      <p:pic>
        <p:nvPicPr>
          <p:cNvPr id="9" name="Picture 8" descr="5243cc360be29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35" y="1944623"/>
            <a:ext cx="1173480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9915" y="1851660"/>
            <a:ext cx="28658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tickets on Friday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 </a:t>
            </a:r>
          </a:p>
        </p:txBody>
      </p:sp>
      <p:pic>
        <p:nvPicPr>
          <p:cNvPr id="12" name="Picture 11" descr="5ce3a6a6b398a3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946" y="2557272"/>
            <a:ext cx="1152144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3090" y="2464308"/>
            <a:ext cx="62846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on Saturday. Each ticket cost 38 dollars.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tickets were sold on the two days?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791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stadium sold  </a:t>
            </a:r>
          </a:p>
        </p:txBody>
      </p:sp>
      <p:pic>
        <p:nvPicPr>
          <p:cNvPr id="9" name="Picture 8" descr="a8bb2f17f73fb1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35" y="1943100"/>
            <a:ext cx="117348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9915" y="1851660"/>
            <a:ext cx="28658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tickets on Friday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 </a:t>
            </a:r>
          </a:p>
        </p:txBody>
      </p:sp>
      <p:pic>
        <p:nvPicPr>
          <p:cNvPr id="12" name="Picture 11" descr="ca70dd33a6d37a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946" y="2555748"/>
            <a:ext cx="1155192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6138" y="2464308"/>
            <a:ext cx="62846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on Saturday. Each ticket cost 38 dollars.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tickets were sold on the two days?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064" y="3734926"/>
            <a:ext cx="59872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power, so add the fronts:  </a:t>
            </a:r>
          </a:p>
        </p:txBody>
      </p:sp>
      <p:pic>
        <p:nvPicPr>
          <p:cNvPr id="16" name="Picture 15" descr="884fc76005d876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151" y="3837034"/>
            <a:ext cx="2057400" cy="252984"/>
          </a:xfrm>
          <a:prstGeom prst="rect">
            <a:avLst/>
          </a:prstGeom>
        </p:spPr>
      </p:pic>
      <p:pic>
        <p:nvPicPr>
          <p:cNvPr id="17" name="Picture 16" descr="3665917b6f2092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928" y="4350622"/>
            <a:ext cx="1271016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9a1c5b83d56645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04" y="2196083"/>
            <a:ext cx="3486912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b4e4dff994d3b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780" y="2103120"/>
            <a:ext cx="3489960" cy="414528"/>
          </a:xfrm>
          <a:prstGeom prst="rect">
            <a:avLst/>
          </a:prstGeom>
        </p:spPr>
      </p:pic>
      <p:pic>
        <p:nvPicPr>
          <p:cNvPr id="9" name="Picture 8" descr="74a99bec27e47c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435" y="2944368"/>
            <a:ext cx="1365504" cy="252984"/>
          </a:xfrm>
          <a:prstGeom prst="rect">
            <a:avLst/>
          </a:prstGeom>
        </p:spPr>
      </p:pic>
      <p:pic>
        <p:nvPicPr>
          <p:cNvPr id="10" name="Picture 9" descr="3dc41426a2cb47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35" y="3456431"/>
            <a:ext cx="3008376" cy="3078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1e4655248ebd17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6083"/>
            <a:ext cx="3816095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6c08936514ac2e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4643"/>
            <a:ext cx="3819144" cy="408432"/>
          </a:xfrm>
          <a:prstGeom prst="rect">
            <a:avLst/>
          </a:prstGeom>
        </p:spPr>
      </p:pic>
      <p:pic>
        <p:nvPicPr>
          <p:cNvPr id="9" name="Picture 8" descr="428101046aa75a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7" y="2939796"/>
            <a:ext cx="2084831" cy="256032"/>
          </a:xfrm>
          <a:prstGeom prst="rect">
            <a:avLst/>
          </a:prstGeom>
        </p:spPr>
      </p:pic>
      <p:pic>
        <p:nvPicPr>
          <p:cNvPr id="10" name="Picture 9" descr="e9dcbdc19c34f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7" y="3454908"/>
            <a:ext cx="2639568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458ce47e03352d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620" y="2196083"/>
            <a:ext cx="3764279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sum?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3.9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3.9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2.316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2.46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0a5ae3f69ac2c6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6" y="2103120"/>
            <a:ext cx="3767328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sum?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1973" y="3417139"/>
            <a:ext cx="31549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Match the powers:  </a:t>
            </a:r>
          </a:p>
        </p:txBody>
      </p:sp>
      <p:pic>
        <p:nvPicPr>
          <p:cNvPr id="11" name="Picture 10" descr="27f7e9522e6b32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770" y="3514675"/>
            <a:ext cx="2782824" cy="262128"/>
          </a:xfrm>
          <a:prstGeom prst="rect">
            <a:avLst/>
          </a:prstGeom>
        </p:spPr>
      </p:pic>
      <p:pic>
        <p:nvPicPr>
          <p:cNvPr id="12" name="Picture 11" descr="121dee4f34127b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837" y="4041979"/>
            <a:ext cx="2365248" cy="213360"/>
          </a:xfrm>
          <a:prstGeom prst="rect">
            <a:avLst/>
          </a:prstGeom>
        </p:spPr>
      </p:pic>
      <p:pic>
        <p:nvPicPr>
          <p:cNvPr id="13" name="Picture 12" descr="d9fd5fe20052fe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837" y="4520515"/>
            <a:ext cx="1377696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2.316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c56988b1bd434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428" y="2196083"/>
            <a:ext cx="3788664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sum,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12.3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12.3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1.23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1.23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9def6d28be2622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903" y="2103120"/>
            <a:ext cx="3791712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sum, written in scientific notation?</a:t>
            </a:r>
          </a:p>
        </p:txBody>
      </p:sp>
      <p:pic>
        <p:nvPicPr>
          <p:cNvPr id="10" name="Picture 9" descr="7a92f566b3dc9a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1" y="3519247"/>
            <a:ext cx="2209800" cy="252984"/>
          </a:xfrm>
          <a:prstGeom prst="rect">
            <a:avLst/>
          </a:prstGeom>
        </p:spPr>
      </p:pic>
      <p:pic>
        <p:nvPicPr>
          <p:cNvPr id="11" name="Picture 10" descr="4253edb8e6cb15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851" y="4031311"/>
            <a:ext cx="3209544" cy="307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1.23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8364ffedb5ab9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408" y="2194560"/>
            <a:ext cx="4108704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95877dd6e3ac64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883" y="2103120"/>
            <a:ext cx="4111752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19489" y="2839212"/>
            <a:ext cx="31549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Match the powers:  </a:t>
            </a:r>
          </a:p>
        </p:txBody>
      </p:sp>
      <p:pic>
        <p:nvPicPr>
          <p:cNvPr id="10" name="Picture 9" descr="2c3b2befdb898d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286" y="2936748"/>
            <a:ext cx="2904744" cy="262128"/>
          </a:xfrm>
          <a:prstGeom prst="rect">
            <a:avLst/>
          </a:prstGeom>
        </p:spPr>
      </p:pic>
      <p:pic>
        <p:nvPicPr>
          <p:cNvPr id="11" name="Picture 10" descr="40578aa67f396b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353" y="3464052"/>
            <a:ext cx="2066543" cy="213360"/>
          </a:xfrm>
          <a:prstGeom prst="rect">
            <a:avLst/>
          </a:prstGeom>
        </p:spPr>
      </p:pic>
      <p:pic>
        <p:nvPicPr>
          <p:cNvPr id="12" name="Picture 11" descr="859794e45c118a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353" y="3942588"/>
            <a:ext cx="1331976" cy="262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7.16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5f6d6560049ba7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795" y="2196083"/>
            <a:ext cx="5519928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34140" y="2857500"/>
            <a:ext cx="3517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421" y="2982468"/>
            <a:ext cx="176784" cy="207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1205" y="285750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a7b6204384889c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2103120"/>
            <a:ext cx="5522976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34140" y="2769107"/>
            <a:ext cx="3517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421" y="2894075"/>
            <a:ext cx="176784" cy="207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1205" y="2769107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pic>
        <p:nvPicPr>
          <p:cNvPr id="12" name="Picture 11" descr="af0a0edef72ddd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03" y="3625595"/>
            <a:ext cx="2761488" cy="262128"/>
          </a:xfrm>
          <a:prstGeom prst="rect">
            <a:avLst/>
          </a:prstGeom>
        </p:spPr>
      </p:pic>
      <p:pic>
        <p:nvPicPr>
          <p:cNvPr id="13" name="Picture 12" descr="e0b2ab7a4c26bc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403" y="4152899"/>
            <a:ext cx="1694688" cy="213360"/>
          </a:xfrm>
          <a:prstGeom prst="rect">
            <a:avLst/>
          </a:prstGeom>
        </p:spPr>
      </p:pic>
      <p:pic>
        <p:nvPicPr>
          <p:cNvPr id="14" name="Picture 13" descr="1dcdac54ad1451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403" y="4655819"/>
            <a:ext cx="2353056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1054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 = 5.7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9261" y="2171700"/>
            <a:ext cx="2490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Devon writes  </a:t>
            </a:r>
          </a:p>
        </p:txBody>
      </p:sp>
      <p:pic>
        <p:nvPicPr>
          <p:cNvPr id="9" name="Picture 8" descr="0a7a4307a87a1a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384" y="2196083"/>
            <a:ext cx="558088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73272" y="21717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Name the two mistakes he made, and give the correct sum.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7737" y="2081783"/>
            <a:ext cx="2490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Devon writes  </a:t>
            </a:r>
          </a:p>
        </p:txBody>
      </p:sp>
      <p:pic>
        <p:nvPicPr>
          <p:cNvPr id="9" name="Picture 8" descr="595d18b76e1d00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860" y="2103120"/>
            <a:ext cx="558393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74796" y="2081783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Name the two mistakes he made, and give the correct sum.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4232" y="3417139"/>
            <a:ext cx="8790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powers do not match, and exponents are not added.</a:t>
            </a:r>
          </a:p>
        </p:txBody>
      </p:sp>
      <p:pic>
        <p:nvPicPr>
          <p:cNvPr id="13" name="Picture 12" descr="afb9dc22174bd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096" y="4017595"/>
            <a:ext cx="2773680" cy="262128"/>
          </a:xfrm>
          <a:prstGeom prst="rect">
            <a:avLst/>
          </a:prstGeom>
        </p:spPr>
      </p:pic>
      <p:pic>
        <p:nvPicPr>
          <p:cNvPr id="14" name="Picture 13" descr="0920ee9ba6d56a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096" y="4544899"/>
            <a:ext cx="2380488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89584" y="4422979"/>
            <a:ext cx="1163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6" name="Picture 15" descr="5bab4917e6b979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509" y="4523563"/>
            <a:ext cx="1399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6.619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bb51b7cdaedc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57527"/>
            <a:ext cx="3066288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6da4b5382fbcdf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53411"/>
            <a:ext cx="3304032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95d8ded1b0db296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47771"/>
            <a:ext cx="3063240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0bd66daf20240d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40607"/>
            <a:ext cx="3060192" cy="332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ca328e32445857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3933444"/>
            <a:ext cx="3374136" cy="335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66844"/>
            <a:ext cx="913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20" name="Picture 19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0372" y="4611624"/>
            <a:ext cx="146304" cy="167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76676" y="4466844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2" name="Picture 21" descr="d4634cfd84477c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626" y="4527804"/>
            <a:ext cx="4541520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Add and subtract numbers written in scientific notation — HUR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