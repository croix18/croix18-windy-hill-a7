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substitute values into a formula and evaluate it, reading what the situation does rather than hunting for key words.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you read an expression's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expression arrives wrapped in a sentence — and the sentence is not a list of key words.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1554480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397252"/>
            <a:ext cx="158800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0586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8376"/>
            <a:ext cx="780288" cy="5577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74446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6" name="Picture 15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834384"/>
            <a:ext cx="432816" cy="277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60611" y="374446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8" name="Picture 17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858768"/>
            <a:ext cx="621792" cy="228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74005" y="374446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821180"/>
            <a:ext cx="1554480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61085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397252"/>
            <a:ext cx="158800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00819" y="237286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25/2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0586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8376"/>
            <a:ext cx="780288" cy="5577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31227" y="298551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4446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9" name="Picture 18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834384"/>
            <a:ext cx="432816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60611" y="374446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21" name="Picture 20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858768"/>
            <a:ext cx="621792" cy="228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74005" y="374446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1880" y="374446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Substituting: the value goes in parentheses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adc02d1493e5a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665" y="2340864"/>
            <a:ext cx="1557528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23193" y="2449068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3" name="Picture 12" descr="c5ae5c8435316f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888" y="2534412"/>
            <a:ext cx="1082040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92928" y="2449068"/>
            <a:ext cx="1403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5" name="Picture 14" descr="93a35f9de365dd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9202" y="2535936"/>
            <a:ext cx="966216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5418" y="244906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7" name="Picture 16" descr="d74aec1c3ec8a8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5734" y="3288792"/>
            <a:ext cx="5285232" cy="673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70966" y="3396996"/>
            <a:ext cx="1441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joules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0315" y="4213859"/>
            <a:ext cx="1233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with   </a:t>
            </a:r>
          </a:p>
        </p:txBody>
      </p:sp>
      <p:pic>
        <p:nvPicPr>
          <p:cNvPr id="20" name="Picture 19" descr="470a2cb670592e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6159" y="4302251"/>
            <a:ext cx="1063752" cy="28041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919911" y="4213859"/>
            <a:ext cx="6967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    </a:t>
            </a:r>
          </a:p>
        </p:txBody>
      </p:sp>
      <p:pic>
        <p:nvPicPr>
          <p:cNvPr id="22" name="Picture 21" descr="8b91d3b79ed4a5f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9482" y="4239767"/>
            <a:ext cx="2484120" cy="4053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63602" y="4213859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24" name="Picture 23" descr="e047b6631084f98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6516" y="4271771"/>
            <a:ext cx="1694688" cy="3413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87552" y="498652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problems.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Key words do not decide the operation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219924" y="2318004"/>
            <a:ext cx="78588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plus 4 dollars for each of 6 gigabytes:</a:t>
            </a:r>
          </a:p>
        </p:txBody>
      </p:sp>
      <p:pic>
        <p:nvPicPr>
          <p:cNvPr id="12" name="Picture 11" descr="df4025967bb63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764" y="3057144"/>
            <a:ext cx="22219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46180" y="3689604"/>
            <a:ext cx="82063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for each of 4 lines, plus 6 dollars of tax:</a:t>
            </a:r>
          </a:p>
        </p:txBody>
      </p:sp>
      <p:pic>
        <p:nvPicPr>
          <p:cNvPr id="14" name="Picture 13" descr="d2efbf0da391d0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716" y="4428744"/>
            <a:ext cx="2228088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51480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19481ee0e1540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339" y="2340864"/>
            <a:ext cx="4690872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0211" y="2363724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7423" y="3095244"/>
            <a:ext cx="5087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rounding the side to 14 first:   </a:t>
            </a:r>
          </a:p>
        </p:txBody>
      </p:sp>
      <p:pic>
        <p:nvPicPr>
          <p:cNvPr id="13" name="Picture 12" descr="e6ef06ed6a80f4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920" y="3148584"/>
            <a:ext cx="166420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12128" y="3095244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8679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formula with a power in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21151" y="2211323"/>
            <a:ext cx="3131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0" name="Picture 9" descr="69f338afbe2042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452" y="2103120"/>
            <a:ext cx="1554480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69932" y="221132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9706" y="3073908"/>
            <a:ext cx="16747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mass </a:t>
            </a:r>
          </a:p>
        </p:txBody>
      </p:sp>
      <p:pic>
        <p:nvPicPr>
          <p:cNvPr id="13" name="Picture 12" descr="24e87f5600a7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71" y="3211068"/>
            <a:ext cx="28346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090735" y="3073908"/>
            <a:ext cx="41655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kilograms and speed </a:t>
            </a:r>
          </a:p>
        </p:txBody>
      </p:sp>
      <p:pic>
        <p:nvPicPr>
          <p:cNvPr id="15" name="Picture 14" descr="fcb4fcf2c8052f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086" y="3208020"/>
            <a:ext cx="167640" cy="1889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6726" y="3073908"/>
            <a:ext cx="3742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metres per second.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9688" y="3805427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8" name="Picture 17" descr="c3de325f2afb27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8676" y="3899915"/>
            <a:ext cx="295656" cy="2682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884332" y="3805427"/>
            <a:ext cx="77546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a car of mass 1,200 kg travelling at 15 m/s.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426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d75f9c90e035e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6080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2080" y="2028444"/>
            <a:ext cx="617219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substitute, each value in parentheses</a:t>
            </a:r>
          </a:p>
        </p:txBody>
      </p:sp>
      <p:pic>
        <p:nvPicPr>
          <p:cNvPr id="11" name="Picture 10" descr="97f8b90e9d71c5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618232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04232" y="297637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power first — it belongs to the 15 alone</a:t>
            </a:r>
          </a:p>
        </p:txBody>
      </p:sp>
      <p:pic>
        <p:nvPicPr>
          <p:cNvPr id="13" name="Picture 12" descr="a0f52d5d0e25fc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6096"/>
            <a:ext cx="351739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03392" y="3762756"/>
            <a:ext cx="55808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then the products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238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135,000 joules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8372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0" name="Picture 9" descr="87c9946de92fdd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60" y="2194560"/>
            <a:ext cx="1941576" cy="8503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2" name="Picture 11" descr="2af650365bdc2c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4" name="Picture 13" descr="363ced5d02a269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3960" cy="3566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687638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5324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0" name="Picture 9" descr="ccc487dd163a74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312" y="2194560"/>
            <a:ext cx="1944623" cy="8503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2" name="Picture 11" descr="5bea3106422a07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4" name="Picture 13" descr="412fe3e32d9c15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7008" cy="3566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690686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649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425 times 144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61,200 joules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cost with a rate and a flat fee.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floor of side 9 feet is carpeted.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4221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Carpet is 2.89 dollars a square foot and padding is 0.75 dollars a square foot.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068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8a80bd66be46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27832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13831" y="1894332"/>
            <a:ext cx="58704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area times the per-square-foot prices, then the flat fee</a:t>
            </a:r>
          </a:p>
        </p:txBody>
      </p:sp>
      <p:pic>
        <p:nvPicPr>
          <p:cNvPr id="11" name="Picture 10" descr="01bf3bc2e6345c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2484120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70120" y="254660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area and the rate, each finished</a:t>
            </a:r>
          </a:p>
        </p:txBody>
      </p:sp>
      <p:pic>
        <p:nvPicPr>
          <p:cNvPr id="13" name="Picture 12" descr="6a57c082688f8b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3745992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1992" y="3142488"/>
            <a:ext cx="53522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multiply, then add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1185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36(4.25) then add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5999" y="217170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8b9f54f367bfb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3662" y="2229612"/>
            <a:ext cx="530352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4014" y="217170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0c0822ea9a5c4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332" y="2260092"/>
            <a:ext cx="1063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5084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Substitute in parentheses.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4475" y="208026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dfb9a8ed903d4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2138" y="2138171"/>
            <a:ext cx="533400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5538" y="208026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2a9ba365712c43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856" y="2168652"/>
            <a:ext cx="1063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6608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31804" y="2171700"/>
            <a:ext cx="3076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cyclist of mass  </a:t>
            </a:r>
          </a:p>
        </p:txBody>
      </p:sp>
      <p:pic>
        <p:nvPicPr>
          <p:cNvPr id="10" name="Picture 9" descr="cf577f11d8a35f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784" y="2260092"/>
            <a:ext cx="10820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2824" y="2171700"/>
            <a:ext cx="2325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rides at  </a:t>
            </a:r>
          </a:p>
        </p:txBody>
      </p:sp>
      <p:pic>
        <p:nvPicPr>
          <p:cNvPr id="12" name="Picture 11" descr="e9f90958d544e0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1351" y="2258568"/>
            <a:ext cx="752856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94207" y="2171700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117" y="3563443"/>
            <a:ext cx="4265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her kinetic energy,  </a:t>
            </a:r>
          </a:p>
        </p:txBody>
      </p:sp>
      <p:pic>
        <p:nvPicPr>
          <p:cNvPr id="16" name="Picture 15" descr="69f338afbe2042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2486" y="3455239"/>
            <a:ext cx="1554480" cy="673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36966" y="356344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54032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24959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Substitute in parentheses.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31804" y="2080260"/>
            <a:ext cx="3076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cyclist of mass  </a:t>
            </a:r>
          </a:p>
        </p:txBody>
      </p:sp>
      <p:pic>
        <p:nvPicPr>
          <p:cNvPr id="10" name="Picture 9" descr="cf577f11d8a35f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784" y="2168652"/>
            <a:ext cx="10820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2824" y="2080260"/>
            <a:ext cx="2325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rides at  </a:t>
            </a:r>
          </a:p>
        </p:txBody>
      </p:sp>
      <p:pic>
        <p:nvPicPr>
          <p:cNvPr id="12" name="Picture 11" descr="e9f90958d544e0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1351" y="2167127"/>
            <a:ext cx="752856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94207" y="2080260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2593" y="3472003"/>
            <a:ext cx="4265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her kinetic energy,  </a:t>
            </a:r>
          </a:p>
        </p:txBody>
      </p:sp>
      <p:pic>
        <p:nvPicPr>
          <p:cNvPr id="16" name="Picture 15" descr="0adc02d1493e5a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0962" y="3363799"/>
            <a:ext cx="1557528" cy="673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38490" y="347200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35744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35 times 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8896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2,240 joules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What happens six times?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15 + 4(6)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price depends on the area?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19806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64(3.50) + 60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284 dollars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7790" y="2302764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0c3f0450f52693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453" y="2194560"/>
            <a:ext cx="890016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85469" y="2302764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2787" y="2391156"/>
            <a:ext cx="108204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04827" y="230276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4" name="Picture 13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6533" y="2391156"/>
            <a:ext cx="746760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23293" y="2302764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142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004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6266" y="2211323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9a895d34bc456d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929" y="2103120"/>
            <a:ext cx="893064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86993" y="2211323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311" y="2299715"/>
            <a:ext cx="108204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06351" y="2211323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4" name="Picture 13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8057" y="2299715"/>
            <a:ext cx="746760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24817" y="221132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5104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4090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180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(1.25) + 38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571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12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6309" y="2217420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10" name="Picture 9" descr="68e9635cc791ae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310" y="2194560"/>
            <a:ext cx="10515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38870" y="2217420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Round once, at the end.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0881" y="2125979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10" name="Picture 9" descr="12e2a7d6e4336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882" y="2103120"/>
            <a:ext cx="1042415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34298" y="2125979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50095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 × 14.1421…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84.85 feet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0603" y="229362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63c59621754cfc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94560"/>
            <a:ext cx="993648" cy="655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1914" y="229362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0fd02e8179cc96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232" y="2386584"/>
            <a:ext cx="774192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8342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4" name="Picture 13" descr="90e8bcce6a738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8428" y="2380487"/>
            <a:ext cx="783336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3176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6" name="Picture 15" descr="07fcb1bbd55c69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380487"/>
            <a:ext cx="74371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540480" y="22936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top first.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0603" y="2200655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10" name="Picture 9" descr="e228efb5a3a6a7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03120"/>
            <a:ext cx="987552" cy="652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65818" y="2200655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2" name="Picture 11" descr="9ac445d0700059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136" y="2293620"/>
            <a:ext cx="77724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80376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4" name="Picture 13" descr="d05130d66ecf91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5380" y="2287524"/>
            <a:ext cx="786384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31764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6" name="Picture 15" descr="23b44b96e08919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287524"/>
            <a:ext cx="74371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540480" y="2200655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07543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45 over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The same three numbers, the same words.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71246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39 and 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 and 66 dollars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