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4  ·  LESSONS 7–8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Real-World Order of Operations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substitute values into a formula and evaluate it, reading what the situation does rather than hunting for key words.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you read an expression's 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 expression arrives wrapped in a sentence — and the sentence is not a list of key words.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a3bfe14101224a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821180"/>
            <a:ext cx="1554480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2" name="Picture 11" descr="a627cc56d12410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71" y="2397252"/>
            <a:ext cx="1588008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05866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4" name="Picture 13" descr="ab0a0f8a819bef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08376"/>
            <a:ext cx="780288" cy="5577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744468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16" name="Picture 15" descr="0059e34534483f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834384"/>
            <a:ext cx="432816" cy="2773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360611" y="3744468"/>
            <a:ext cx="13287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8" name="Picture 17" descr="8be73e21dbd6851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2213" y="3858768"/>
            <a:ext cx="621792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74005" y="3744468"/>
            <a:ext cx="2963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a3bfe14101224a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821180"/>
            <a:ext cx="1554480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61085" y="176022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3" name="Picture 12" descr="a627cc56d12410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71" y="2397252"/>
            <a:ext cx="1588008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00819" y="2372868"/>
            <a:ext cx="8296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25/2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05866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6" name="Picture 15" descr="ab0a0f8a819bef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08376"/>
            <a:ext cx="780288" cy="5577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31227" y="2985516"/>
            <a:ext cx="6518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4/3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744468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19" name="Picture 18" descr="0059e34534483f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834384"/>
            <a:ext cx="432816" cy="2773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60611" y="3744468"/>
            <a:ext cx="13287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21" name="Picture 20" descr="8be73e21dbd6851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2213" y="3858768"/>
            <a:ext cx="621792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74005" y="3744468"/>
            <a:ext cx="2963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1880" y="3744468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both lines.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Substituting: the value goes in parentheses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0adc02d1493e5a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665" y="2340864"/>
            <a:ext cx="1557528" cy="673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23193" y="2449068"/>
            <a:ext cx="15248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with   </a:t>
            </a:r>
          </a:p>
        </p:txBody>
      </p:sp>
      <p:pic>
        <p:nvPicPr>
          <p:cNvPr id="13" name="Picture 12" descr="c5ae5c8435316f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888" y="2534412"/>
            <a:ext cx="1082040" cy="286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92928" y="2449068"/>
            <a:ext cx="14034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and   </a:t>
            </a:r>
          </a:p>
        </p:txBody>
      </p:sp>
      <p:pic>
        <p:nvPicPr>
          <p:cNvPr id="15" name="Picture 14" descr="93a35f9de365dd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202" y="2535936"/>
            <a:ext cx="966216" cy="2834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25418" y="2449068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</a:t>
            </a:r>
          </a:p>
        </p:txBody>
      </p:sp>
      <p:pic>
        <p:nvPicPr>
          <p:cNvPr id="17" name="Picture 16" descr="d74aec1c3ec8a8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5734" y="3288792"/>
            <a:ext cx="5285232" cy="673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70966" y="3396996"/>
            <a:ext cx="14419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joules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0315" y="4213859"/>
            <a:ext cx="1233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with   </a:t>
            </a:r>
          </a:p>
        </p:txBody>
      </p:sp>
      <p:pic>
        <p:nvPicPr>
          <p:cNvPr id="20" name="Picture 19" descr="470a2cb670592e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6159" y="4302251"/>
            <a:ext cx="1063752" cy="28041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919911" y="4213859"/>
            <a:ext cx="6967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    </a:t>
            </a:r>
          </a:p>
        </p:txBody>
      </p:sp>
      <p:pic>
        <p:nvPicPr>
          <p:cNvPr id="22" name="Picture 21" descr="8b91d3b79ed4a5f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9482" y="4239767"/>
            <a:ext cx="2484120" cy="4053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63602" y="4213859"/>
            <a:ext cx="18800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  never   </a:t>
            </a:r>
          </a:p>
        </p:txBody>
      </p:sp>
      <p:pic>
        <p:nvPicPr>
          <p:cNvPr id="24" name="Picture 23" descr="e047b6631084f98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6516" y="4271771"/>
            <a:ext cx="1694688" cy="3413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87552" y="4986528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Substitute in parentheses, then evaluate by the structure — powers before products.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both problems.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Key words do not decide the operation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19924" y="2318004"/>
            <a:ext cx="78588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15 dollars plus 4 dollars for each of 6 gigabytes:</a:t>
            </a:r>
          </a:p>
        </p:txBody>
      </p:sp>
      <p:pic>
        <p:nvPicPr>
          <p:cNvPr id="12" name="Picture 11" descr="df4025967bb63d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764" y="3057144"/>
            <a:ext cx="2221992" cy="35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46180" y="3689604"/>
            <a:ext cx="82063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15 dollars for each of 4 lines, plus 6 dollars of tax:</a:t>
            </a:r>
          </a:p>
        </p:txBody>
      </p:sp>
      <p:pic>
        <p:nvPicPr>
          <p:cNvPr id="14" name="Picture 13" descr="d2efbf0da391d0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716" y="4428744"/>
            <a:ext cx="2228088" cy="35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514807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same words, the same numbers, different structures. Read the situation.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Round once, at the end — and say the unit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919481ee0e1540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339" y="2340864"/>
            <a:ext cx="4690872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50211" y="2363724"/>
            <a:ext cx="10891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feet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97423" y="3095244"/>
            <a:ext cx="50876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rounding the side to 14 first:   </a:t>
            </a:r>
          </a:p>
        </p:txBody>
      </p:sp>
      <p:pic>
        <p:nvPicPr>
          <p:cNvPr id="13" name="Picture 12" descr="e6ef06ed6a80f4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920" y="3148584"/>
            <a:ext cx="1664208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12128" y="3095244"/>
            <a:ext cx="10891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feet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86791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Carry the exact value, round once at the end, and write the unit.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formula with a power in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21151" y="2211323"/>
            <a:ext cx="31314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Kinetic energy is  </a:t>
            </a:r>
          </a:p>
        </p:txBody>
      </p:sp>
      <p:pic>
        <p:nvPicPr>
          <p:cNvPr id="10" name="Picture 9" descr="69f338afbe2042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452" y="2103120"/>
            <a:ext cx="1554480" cy="673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69932" y="2211323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8839" y="3073908"/>
            <a:ext cx="16747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for mass </a:t>
            </a:r>
          </a:p>
        </p:txBody>
      </p:sp>
      <p:pic>
        <p:nvPicPr>
          <p:cNvPr id="13" name="Picture 12" descr="24e87f5600a7b6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404" y="3211068"/>
            <a:ext cx="283464" cy="182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89868" y="3073908"/>
            <a:ext cx="41655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in kilograms and speed </a:t>
            </a:r>
          </a:p>
        </p:txBody>
      </p:sp>
      <p:pic>
        <p:nvPicPr>
          <p:cNvPr id="15" name="Picture 14" descr="fcb4fcf2c8052fb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219" y="3208020"/>
            <a:ext cx="167640" cy="188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85859" y="3073908"/>
            <a:ext cx="37439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in meters per second.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9688" y="3805427"/>
            <a:ext cx="10661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</a:t>
            </a:r>
          </a:p>
        </p:txBody>
      </p:sp>
      <p:pic>
        <p:nvPicPr>
          <p:cNvPr id="18" name="Picture 17" descr="c3de325f2afb27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8676" y="3899915"/>
            <a:ext cx="295656" cy="2682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884332" y="3805427"/>
            <a:ext cx="77546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for a car of mass 1,200 kg travelling at 15 m/s.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426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Give the answer with its unit.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d75f9c90e035e1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26080" cy="673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12080" y="2028444"/>
            <a:ext cx="617219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substitute, each value in parentheses</a:t>
            </a:r>
          </a:p>
        </p:txBody>
      </p:sp>
      <p:pic>
        <p:nvPicPr>
          <p:cNvPr id="11" name="Picture 10" descr="97f8b90e9d71c5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8168"/>
            <a:ext cx="2618232" cy="673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04232" y="297637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power first — it belongs to the 15 alone</a:t>
            </a:r>
          </a:p>
        </p:txBody>
      </p:sp>
      <p:pic>
        <p:nvPicPr>
          <p:cNvPr id="13" name="Picture 12" descr="a0f52d5d0e25fc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816096"/>
            <a:ext cx="3517392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03392" y="3762756"/>
            <a:ext cx="558088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then the 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2381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135,000 joules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8372" y="2391156"/>
            <a:ext cx="10661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</a:t>
            </a:r>
          </a:p>
        </p:txBody>
      </p:sp>
      <p:pic>
        <p:nvPicPr>
          <p:cNvPr id="10" name="Picture 9" descr="87c9946de92fdd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360" y="2194560"/>
            <a:ext cx="1941576" cy="8503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08936" y="2391156"/>
            <a:ext cx="9420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for  </a:t>
            </a:r>
          </a:p>
        </p:txBody>
      </p:sp>
      <p:pic>
        <p:nvPicPr>
          <p:cNvPr id="12" name="Picture 11" descr="2af650365bdc2c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874" y="2439924"/>
            <a:ext cx="1606296" cy="3596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20170" y="2391156"/>
            <a:ext cx="1800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kg  and  </a:t>
            </a:r>
          </a:p>
        </p:txBody>
      </p:sp>
      <p:pic>
        <p:nvPicPr>
          <p:cNvPr id="14" name="Picture 13" descr="363ced5d02a269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3678" y="2441448"/>
            <a:ext cx="1203960" cy="3566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87638" y="2391156"/>
            <a:ext cx="1072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m/s.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5324" y="2391156"/>
            <a:ext cx="10661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</a:t>
            </a:r>
          </a:p>
        </p:txBody>
      </p:sp>
      <p:pic>
        <p:nvPicPr>
          <p:cNvPr id="10" name="Picture 9" descr="ccc487dd163a74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312" y="2194560"/>
            <a:ext cx="1944623" cy="8503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08936" y="2391156"/>
            <a:ext cx="9420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for  </a:t>
            </a:r>
          </a:p>
        </p:txBody>
      </p:sp>
      <p:pic>
        <p:nvPicPr>
          <p:cNvPr id="12" name="Picture 11" descr="5bea3106422a07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874" y="2439924"/>
            <a:ext cx="1606296" cy="3596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20170" y="2391156"/>
            <a:ext cx="1800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kg  and  </a:t>
            </a:r>
          </a:p>
        </p:txBody>
      </p:sp>
      <p:pic>
        <p:nvPicPr>
          <p:cNvPr id="14" name="Picture 13" descr="412fe3e32d9c15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3678" y="2441448"/>
            <a:ext cx="1207008" cy="3566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90686" y="2391156"/>
            <a:ext cx="1072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m/s.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6499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425 times 144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61,200 joules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cost with a rate and a flat fee.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square floor of side 9 feet is carpeted.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42218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Carpet is 2.89 dollars a square foot and padding is 0.75 dollars a square foot.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068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Installation is a flat 95 dollars. Find the total cost.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88a80bd66be46d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227832" cy="4053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13831" y="1894332"/>
            <a:ext cx="5870448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area times the per-square-foot prices, then the flat fee</a:t>
            </a:r>
          </a:p>
        </p:txBody>
      </p:sp>
      <p:pic>
        <p:nvPicPr>
          <p:cNvPr id="11" name="Picture 10" descr="01bf3bc2e6345c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99944"/>
            <a:ext cx="2484120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70120" y="2546604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area and the rate, each finished</a:t>
            </a:r>
          </a:p>
        </p:txBody>
      </p:sp>
      <p:pic>
        <p:nvPicPr>
          <p:cNvPr id="13" name="Picture 12" descr="6a57c082688f8b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24783"/>
            <a:ext cx="3745992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31992" y="3142488"/>
            <a:ext cx="535228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multiply, then add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389.84 dollars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square bathroom floor of side 6 feet is tiled.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336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Tile is 4.25 dollars a square foot and grout is a flat 13.48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7275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Find the total cost.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square bathroom floor of side 6 feet is tiled.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336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Tile is 4.25 dollars a square foot and grout is a flat 13.48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7275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Find the total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11855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36(4.25) then add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166.48 dollars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5999" y="2171700"/>
            <a:ext cx="1864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Evaluate  </a:t>
            </a:r>
          </a:p>
        </p:txBody>
      </p:sp>
      <p:pic>
        <p:nvPicPr>
          <p:cNvPr id="10" name="Picture 9" descr="8b9f54f367bfb1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3662" y="2229612"/>
            <a:ext cx="530352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24014" y="2171700"/>
            <a:ext cx="1474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2" name="Picture 11" descr="0c0822ea9a5c4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332" y="2260092"/>
            <a:ext cx="1063752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5084" y="21717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Substitute in parentheses.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4475" y="2080260"/>
            <a:ext cx="1864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Evaluate  </a:t>
            </a:r>
          </a:p>
        </p:txBody>
      </p:sp>
      <p:pic>
        <p:nvPicPr>
          <p:cNvPr id="10" name="Picture 9" descr="dfb9a8ed903d42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138" y="2138171"/>
            <a:ext cx="533400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25538" y="2080260"/>
            <a:ext cx="1474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2" name="Picture 11" descr="2a9ba365712c43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856" y="2168652"/>
            <a:ext cx="1063752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6608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3(−2)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28557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cyclist of mass  </a:t>
            </a:r>
          </a:p>
        </p:txBody>
      </p:sp>
      <p:pic>
        <p:nvPicPr>
          <p:cNvPr id="10" name="Picture 9" descr="e1d72257cbc0a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032" y="1964435"/>
            <a:ext cx="877824" cy="231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30856" y="1851660"/>
            <a:ext cx="21630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kg rides at  </a:t>
            </a:r>
          </a:p>
        </p:txBody>
      </p:sp>
      <p:pic>
        <p:nvPicPr>
          <p:cNvPr id="12" name="Picture 11" descr="aa5cd635672dcd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734" y="1965960"/>
            <a:ext cx="609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66334" y="1851660"/>
            <a:ext cx="10064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m/s.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Her bicycle cost 480 dollars.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71986"/>
            <a:ext cx="4437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Find her kinetic energy,  </a:t>
            </a:r>
          </a:p>
        </p:txBody>
      </p:sp>
      <p:pic>
        <p:nvPicPr>
          <p:cNvPr id="16" name="Picture 15" descr="8419d3078da366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4291" y="3026266"/>
            <a:ext cx="1261872" cy="548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96163" y="3071986"/>
            <a:ext cx="3001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28557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cyclist of mass  </a:t>
            </a:r>
          </a:p>
        </p:txBody>
      </p:sp>
      <p:pic>
        <p:nvPicPr>
          <p:cNvPr id="10" name="Picture 9" descr="996cd0b9dd16e7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032" y="1964435"/>
            <a:ext cx="883920" cy="231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36952" y="1851660"/>
            <a:ext cx="21630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kg rides at  </a:t>
            </a:r>
          </a:p>
        </p:txBody>
      </p:sp>
      <p:pic>
        <p:nvPicPr>
          <p:cNvPr id="12" name="Picture 11" descr="f7f7478f3b1d3c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830" y="1965960"/>
            <a:ext cx="612648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75478" y="1851660"/>
            <a:ext cx="10064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m/s.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Her bicycle cost 480 dollars.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73510"/>
            <a:ext cx="4437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Find her kinetic energy,  </a:t>
            </a:r>
          </a:p>
        </p:txBody>
      </p:sp>
      <p:pic>
        <p:nvPicPr>
          <p:cNvPr id="16" name="Picture 15" descr="2b860bf135a1b0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4291" y="3026266"/>
            <a:ext cx="1261872" cy="5516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96163" y="3073510"/>
            <a:ext cx="3001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87056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35 times 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2,240 joules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plan costs 15 dollars plus 4 dollars for each gigabyte.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694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Find the cost of 6 gigabytes.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What happens six times?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plan costs 15 dollars plus 4 dollars for each gigabyte.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Find the cost of 6 gigabytes.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985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15 + 4(6)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39 dollars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 square floor of side 8 feet is tiled at 3.50 dollars a square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157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Installation is a flat 60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9064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Find the total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price depends on the area?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 square floor of side 8 feet is tiled at 3.50 dollars a square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243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Installation is a flat 60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992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Find the total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19806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64(3.50) + 60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284 dollars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7790" y="2302764"/>
            <a:ext cx="1864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Evaluate  </a:t>
            </a:r>
          </a:p>
        </p:txBody>
      </p:sp>
      <p:pic>
        <p:nvPicPr>
          <p:cNvPr id="10" name="Picture 9" descr="0c3f0450f52693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453" y="2194560"/>
            <a:ext cx="890016" cy="673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85469" y="2302764"/>
            <a:ext cx="1474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2" name="Picture 11" descr="2effa420194315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787" y="2391156"/>
            <a:ext cx="1082040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04827" y="2302764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4" name="Picture 13" descr="d8c25bd356e9b5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6533" y="2391156"/>
            <a:ext cx="746760" cy="2804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423293" y="2302764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4248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808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808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494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494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3,600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0044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6266" y="2211323"/>
            <a:ext cx="1864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Evaluate  </a:t>
            </a:r>
          </a:p>
        </p:txBody>
      </p:sp>
      <p:pic>
        <p:nvPicPr>
          <p:cNvPr id="10" name="Picture 9" descr="9a895d34bc456d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929" y="2103120"/>
            <a:ext cx="893064" cy="673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86993" y="2211323"/>
            <a:ext cx="1474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2" name="Picture 11" descr="2effa420194315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311" y="2299715"/>
            <a:ext cx="1082040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06351" y="2211323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4" name="Picture 13" descr="d8c25bd356e9b5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8057" y="2299715"/>
            <a:ext cx="746760" cy="2804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424817" y="2211323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05104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7173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7173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4031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4031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3,600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0900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180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 square patio of side 12 feet is sealed at 1.25 dollars a square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157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Delivery of the sealer is a flat 38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9064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gives the total cost?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9569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12(1.25) + 38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9569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+ 1.25 + 38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6427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(1.25 + 38)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6427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(1.25) + 38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4860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 square patio of side 12 feet is sealed at 1.25 dollars a square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243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Delivery of the sealer is a flat 38 dollars.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992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gives the total cost?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8655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12(1.25) + 38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8655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+ 1.25 + 38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5513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(1.25 + 38)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55132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12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(1.25) + 38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5716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12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(1.25) + 38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6309" y="2217420"/>
            <a:ext cx="55381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fence runs along 6 sides, each  </a:t>
            </a:r>
          </a:p>
        </p:txBody>
      </p:sp>
      <p:pic>
        <p:nvPicPr>
          <p:cNvPr id="10" name="Picture 9" descr="68e9635cc791ae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310" y="2194560"/>
            <a:ext cx="1051560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38870" y="2217420"/>
            <a:ext cx="1873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feet long.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Find its total length, to the nearest hundredth of a foot.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Round once, at the end.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0881" y="2125979"/>
            <a:ext cx="55381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fence runs along 6 sides, each  </a:t>
            </a:r>
          </a:p>
        </p:txBody>
      </p:sp>
      <p:pic>
        <p:nvPicPr>
          <p:cNvPr id="10" name="Picture 9" descr="12e2a7d6e43363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882" y="2103120"/>
            <a:ext cx="1042415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34298" y="2125979"/>
            <a:ext cx="1873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feet long.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5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Find its total length, to the nearest hundredth of a foot.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50095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6 × 14.1421…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84.85 feet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0603" y="2293620"/>
            <a:ext cx="1864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Evaluate  </a:t>
            </a:r>
          </a:p>
        </p:txBody>
      </p:sp>
      <p:pic>
        <p:nvPicPr>
          <p:cNvPr id="10" name="Picture 9" descr="63c59621754cfc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266" y="2194560"/>
            <a:ext cx="993648" cy="655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71914" y="2293620"/>
            <a:ext cx="1474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2" name="Picture 11" descr="0fd02e8179cc96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232" y="2386584"/>
            <a:ext cx="774192" cy="2712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83424" y="2293620"/>
            <a:ext cx="5021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</a:t>
            </a:r>
          </a:p>
        </p:txBody>
      </p:sp>
      <p:pic>
        <p:nvPicPr>
          <p:cNvPr id="14" name="Picture 13" descr="90e8bcce6a7389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428" y="2380487"/>
            <a:ext cx="783336" cy="283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31764" y="2293620"/>
            <a:ext cx="5021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</a:t>
            </a:r>
          </a:p>
        </p:txBody>
      </p:sp>
      <p:pic>
        <p:nvPicPr>
          <p:cNvPr id="16" name="Picture 15" descr="07fcb1bbd55c69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6768" y="2380487"/>
            <a:ext cx="743712" cy="2834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40480" y="229362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the top first.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0603" y="2200655"/>
            <a:ext cx="1864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Evaluate  </a:t>
            </a:r>
          </a:p>
        </p:txBody>
      </p:sp>
      <p:pic>
        <p:nvPicPr>
          <p:cNvPr id="10" name="Picture 9" descr="e228efb5a3a6a7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266" y="2103120"/>
            <a:ext cx="987552" cy="652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65818" y="2200655"/>
            <a:ext cx="1474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when  </a:t>
            </a:r>
          </a:p>
        </p:txBody>
      </p:sp>
      <p:pic>
        <p:nvPicPr>
          <p:cNvPr id="12" name="Picture 11" descr="9ac445d0700059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136" y="2293620"/>
            <a:ext cx="777240" cy="2712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80376" y="2200655"/>
            <a:ext cx="5021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</a:t>
            </a:r>
          </a:p>
        </p:txBody>
      </p:sp>
      <p:pic>
        <p:nvPicPr>
          <p:cNvPr id="14" name="Picture 13" descr="d05130d66ecf91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5380" y="2287524"/>
            <a:ext cx="786384" cy="283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31764" y="2200655"/>
            <a:ext cx="5021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</a:t>
            </a:r>
          </a:p>
        </p:txBody>
      </p:sp>
      <p:pic>
        <p:nvPicPr>
          <p:cNvPr id="16" name="Picture 15" descr="23b44b96e08919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6768" y="2287524"/>
            <a:ext cx="743712" cy="2834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40480" y="2200655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07543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45 over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 plan costs 15 dollars plus 4 dollars for each of 6 gigabytes.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15768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Another costs 15 dollars for each of 4 lines, plus 6 dollars of tax.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36976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Find both totals, and say why the key words could not have told you.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The same three numbers, the same words.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 plan costs 15 dollars plus 4 dollars for each of 6 gigabytes.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24328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Another costs 15 dollars for each of 4 lines, plus 6 dollars of tax.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45536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Find both totals, and say why the key words could not have told you.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712464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39 and 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39 dollars and 66 dollars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7–8 — Real-World 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variable expressions: word problems — DPG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