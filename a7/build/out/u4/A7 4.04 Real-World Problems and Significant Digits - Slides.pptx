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17.png"/><Relationship Id="rId6" Type="http://schemas.openxmlformats.org/officeDocument/2006/relationships/image" Target="../media/image52.png"/><Relationship Id="rId7" Type="http://schemas.openxmlformats.org/officeDocument/2006/relationships/image" Target="../media/image5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Relationship Id="rId4" Type="http://schemas.openxmlformats.org/officeDocument/2006/relationships/image" Target="../media/image6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Relationship Id="rId4" Type="http://schemas.openxmlformats.org/officeDocument/2006/relationships/image" Target="../media/image71.png"/><Relationship Id="rId5" Type="http://schemas.openxmlformats.org/officeDocument/2006/relationships/image" Target="../media/image72.png"/><Relationship Id="rId6" Type="http://schemas.openxmlformats.org/officeDocument/2006/relationships/image" Target="../media/image7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Problems and Significant Digits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solve a real-world problem with numbers in scientific notation and report the answer with the right number of significant digits.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9ef93e9422ec80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1140"/>
            <a:ext cx="2417064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872c396e107e43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115312"/>
            <a:ext cx="3057144" cy="3322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5859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0.00902  in scientific notation.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278124"/>
            <a:ext cx="63019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Round  4.738  to the nearest hundredth.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9ef93e9422ec80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1140"/>
            <a:ext cx="2417064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74625" y="1440180"/>
            <a:ext cx="1440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1.2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2" name="Picture 11" descr="872c396e107e43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115312"/>
            <a:ext cx="3057144" cy="3322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28843" y="2052828"/>
            <a:ext cx="16123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5.89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5859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0.00902  in scientific notation.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5958" y="2665476"/>
            <a:ext cx="18000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9.02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78124"/>
            <a:ext cx="63019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Round  4.738  to the nearest hundredth.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87924" y="3278124"/>
            <a:ext cx="8306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4.74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Which digits are significant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285999" y="1993392"/>
          <a:ext cx="758952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188720"/>
                <a:gridCol w="4389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Measurement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Digits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Why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4,207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the middle zero counts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0.0058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leading zeros never count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3.200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trailing zeros count after a decimal point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52,000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no decimal point, so they do not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Multiplying or dividing: count the digits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7e6ff835d857c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1716" y="1993392"/>
            <a:ext cx="6038088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43817" y="2656332"/>
            <a:ext cx="82333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2 significant digits and 3, so the answer keeps 2:   </a:t>
            </a:r>
          </a:p>
        </p:txBody>
      </p:sp>
      <p:pic>
        <p:nvPicPr>
          <p:cNvPr id="12" name="Picture 11" descr="723af09f9a4183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0006" y="2717292"/>
            <a:ext cx="1377696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Multiply or divide: the answer takes the smaller of the two significant-digit counts.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Adding or subtracting: a different rule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c84020e548be5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2023872"/>
            <a:ext cx="3383280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20000" y="2656332"/>
            <a:ext cx="86586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1,234 stops at the ones place;  5.6 stops at the tenths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410" y="3342132"/>
            <a:ext cx="6114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so the sum stops at the ones place:   </a:t>
            </a:r>
          </a:p>
        </p:txBody>
      </p:sp>
      <p:pic>
        <p:nvPicPr>
          <p:cNvPr id="13" name="Picture 12" descr="40647922f9acd2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6237" y="3368040"/>
            <a:ext cx="3166872" cy="4053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1148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Add or subtract: the answer stops at the leftmost of the two last-digit places.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8053" y="1714500"/>
            <a:ext cx="4120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solar array measures  </a:t>
            </a:r>
          </a:p>
        </p:txBody>
      </p:sp>
      <p:pic>
        <p:nvPicPr>
          <p:cNvPr id="9" name="Picture 8" descr="ff2cbfe6b6afaa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1411" y="1772412"/>
            <a:ext cx="1575816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27227" y="1714500"/>
            <a:ext cx="1378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aa26922bd492b4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8215" y="1772412"/>
            <a:ext cx="1383792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52007" y="1714500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688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What is its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908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Give the answer to the correct number of significant digits.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d7b7c5abadb0c1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151120" cy="411480"/>
          </a:xfrm>
          <a:prstGeom prst="rect">
            <a:avLst/>
          </a:prstGeom>
        </p:spPr>
      </p:pic>
      <p:pic>
        <p:nvPicPr>
          <p:cNvPr id="9" name="Picture 8" descr="7cbf666cf8e124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5455920" cy="387096"/>
          </a:xfrm>
          <a:prstGeom prst="rect">
            <a:avLst/>
          </a:prstGeom>
        </p:spPr>
      </p:pic>
      <p:pic>
        <p:nvPicPr>
          <p:cNvPr id="10" name="Picture 9" descr="a0e46ac6ee16d3e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67456"/>
            <a:ext cx="4602480" cy="405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square meters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70625" y="1583436"/>
            <a:ext cx="30771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field measures  </a:t>
            </a:r>
          </a:p>
        </p:txBody>
      </p:sp>
      <p:pic>
        <p:nvPicPr>
          <p:cNvPr id="9" name="Picture 8" descr="1645c9c47acde3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0639" y="1600200"/>
            <a:ext cx="179222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02863" y="1583436"/>
            <a:ext cx="1378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debdcb1f492603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3851" y="1600200"/>
            <a:ext cx="2005584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49435" y="1583436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343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What is its area?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69101" y="1583436"/>
            <a:ext cx="30771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field measures  </a:t>
            </a:r>
          </a:p>
        </p:txBody>
      </p:sp>
      <p:pic>
        <p:nvPicPr>
          <p:cNvPr id="9" name="Picture 8" descr="19219eb587cce9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15" y="1600200"/>
            <a:ext cx="179222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01339" y="1583436"/>
            <a:ext cx="1378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acda4b72b75ce9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2327" y="1600200"/>
            <a:ext cx="2008632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50959" y="1583436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343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What is its area?</a:t>
            </a:r>
          </a:p>
        </p:txBody>
      </p:sp>
      <p:pic>
        <p:nvPicPr>
          <p:cNvPr id="14" name="Picture 13" descr="94a8240adc6e96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5957" y="3055222"/>
            <a:ext cx="2185416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951373" y="2933302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6" name="Picture 15" descr="6dc7d095c18b426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4261" y="3030838"/>
            <a:ext cx="1859280" cy="262128"/>
          </a:xfrm>
          <a:prstGeom prst="rect">
            <a:avLst/>
          </a:prstGeom>
        </p:spPr>
      </p:pic>
      <p:pic>
        <p:nvPicPr>
          <p:cNvPr id="17" name="Picture 16" descr="c8c5f1b26c2cdc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65957" y="3509374"/>
            <a:ext cx="2758440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11093" y="3939142"/>
            <a:ext cx="58493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Keep 2 significant digits (4.6 has 2):   </a:t>
            </a:r>
          </a:p>
        </p:txBody>
      </p:sp>
      <p:pic>
        <p:nvPicPr>
          <p:cNvPr id="19" name="Picture 18" descr="7eec2dad996b77d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3250" y="4039726"/>
            <a:ext cx="1030224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square meters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9331" y="1714500"/>
            <a:ext cx="32038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container holds  </a:t>
            </a:r>
          </a:p>
        </p:txBody>
      </p:sp>
      <p:pic>
        <p:nvPicPr>
          <p:cNvPr id="9" name="Picture 8" descr="14e0b9b3df93fb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5985" y="1773936"/>
            <a:ext cx="1783080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39065" y="1714500"/>
            <a:ext cx="34702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cubic feet of liquid.</a:t>
            </a:r>
          </a:p>
        </p:txBody>
      </p:sp>
      <p:pic>
        <p:nvPicPr>
          <p:cNvPr id="11" name="Picture 10" descr="a3b236c4480db3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0625" y="2506980"/>
            <a:ext cx="1999487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60113" y="2446020"/>
            <a:ext cx="39779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cubic feet evaporates.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much is left? Give the answer with the correct precision.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7330ec204f7748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358128" cy="280416"/>
          </a:xfrm>
          <a:prstGeom prst="rect">
            <a:avLst/>
          </a:prstGeom>
        </p:spPr>
      </p:pic>
      <p:pic>
        <p:nvPicPr>
          <p:cNvPr id="9" name="Picture 8" descr="4fefc32bca2ec8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4276344" cy="417576"/>
          </a:xfrm>
          <a:prstGeom prst="rect">
            <a:avLst/>
          </a:prstGeom>
        </p:spPr>
      </p:pic>
      <p:pic>
        <p:nvPicPr>
          <p:cNvPr id="10" name="Picture 9" descr="6b86362e5b517e0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66871"/>
            <a:ext cx="6184392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3.06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cubic feet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9636" y="1581912"/>
            <a:ext cx="18196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road is  </a:t>
            </a:r>
          </a:p>
        </p:txBody>
      </p:sp>
      <p:pic>
        <p:nvPicPr>
          <p:cNvPr id="9" name="Picture 8" descr="7085e71197c76e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141" y="1600200"/>
            <a:ext cx="202692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19061" y="1581912"/>
            <a:ext cx="15699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3031" y="2324100"/>
            <a:ext cx="1876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section  </a:t>
            </a:r>
          </a:p>
        </p:txBody>
      </p:sp>
      <p:pic>
        <p:nvPicPr>
          <p:cNvPr id="12" name="Picture 11" descr="8ca2d2fd49f849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2686" y="2340864"/>
            <a:ext cx="2036064" cy="4236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68750" y="2324100"/>
            <a:ext cx="33368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long is repaved.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845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of the road is not repaved?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8112" y="1581912"/>
            <a:ext cx="18196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road is  </a:t>
            </a:r>
          </a:p>
        </p:txBody>
      </p:sp>
      <p:pic>
        <p:nvPicPr>
          <p:cNvPr id="9" name="Picture 8" descr="792d949c5a21a6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0617" y="1600200"/>
            <a:ext cx="2029968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20585" y="1581912"/>
            <a:ext cx="15699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1507" y="2324100"/>
            <a:ext cx="1876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section  </a:t>
            </a:r>
          </a:p>
        </p:txBody>
      </p:sp>
      <p:pic>
        <p:nvPicPr>
          <p:cNvPr id="12" name="Picture 11" descr="b395e7df8785e0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1162" y="2340864"/>
            <a:ext cx="2039112" cy="4236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70274" y="2324100"/>
            <a:ext cx="33368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long is repaved.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845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of the road is not repaved?</a:t>
            </a:r>
          </a:p>
        </p:txBody>
      </p:sp>
      <p:pic>
        <p:nvPicPr>
          <p:cNvPr id="15" name="Picture 14" descr="df3a7677f047d40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0235" y="3768454"/>
            <a:ext cx="2529840" cy="2682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55371" y="4176886"/>
            <a:ext cx="81879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3,850 stops at the tens place, so round to tens:  3,580</a:t>
            </a:r>
          </a:p>
        </p:txBody>
      </p:sp>
      <p:pic>
        <p:nvPicPr>
          <p:cNvPr id="17" name="Picture 16" descr="e2ff5572229200e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10235" y="4752958"/>
            <a:ext cx="2270760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25130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3.58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0.00470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0.00470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0987" y="2728291"/>
            <a:ext cx="52306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Leading zeros do not count:  0.00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0987" y="3231211"/>
            <a:ext cx="7016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4, 7 and the final 0 count:  3 significant digits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670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pond's surface measures  </a:t>
            </a:r>
          </a:p>
        </p:txBody>
      </p:sp>
      <p:pic>
        <p:nvPicPr>
          <p:cNvPr id="9" name="Picture 8" descr="cb6705e7e3c134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4334" y="1941575"/>
            <a:ext cx="113080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95142" y="1851660"/>
            <a:ext cx="1288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fe2d8d13976231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6208" y="1941575"/>
            <a:ext cx="112776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73968" y="1851660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pond is 3 meters deep.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surface area. Round to the correct number of significant digits.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670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pond's surface measures  </a:t>
            </a:r>
          </a:p>
        </p:txBody>
      </p:sp>
      <p:pic>
        <p:nvPicPr>
          <p:cNvPr id="9" name="Picture 8" descr="14e1bd54084a46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4334" y="1941575"/>
            <a:ext cx="113080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95142" y="1851660"/>
            <a:ext cx="1288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5ace9ec4312072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6208" y="1941575"/>
            <a:ext cx="112776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73968" y="1851660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pond is 3 meters deep.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surface area. Round to the correct number of significant digits.</a:t>
            </a:r>
          </a:p>
        </p:txBody>
      </p:sp>
      <p:pic>
        <p:nvPicPr>
          <p:cNvPr id="15" name="Picture 14" descr="0dcb6b3604aaf1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1929" y="4212667"/>
            <a:ext cx="1825752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97681" y="4090747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7" name="Picture 16" descr="a732557401dc8ad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0570" y="4188283"/>
            <a:ext cx="1831848" cy="262128"/>
          </a:xfrm>
          <a:prstGeom prst="rect">
            <a:avLst/>
          </a:prstGeom>
        </p:spPr>
      </p:pic>
      <p:pic>
        <p:nvPicPr>
          <p:cNvPr id="18" name="Picture 17" descr="ca43b17f8102147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1929" y="4666819"/>
            <a:ext cx="2362200" cy="3108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17065" y="5096587"/>
            <a:ext cx="4209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Keep 2 significant digits:   </a:t>
            </a:r>
          </a:p>
        </p:txBody>
      </p:sp>
      <p:pic>
        <p:nvPicPr>
          <p:cNvPr id="20" name="Picture 19" descr="018e3913f4d433d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9846" y="5197171"/>
            <a:ext cx="1057656" cy="256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566808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square meters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Two measurements are multiplied. One has 3 significant digits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0585" y="2692908"/>
            <a:ext cx="69585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and the other has 5. The exact product is  </a:t>
            </a:r>
          </a:p>
        </p:txBody>
      </p:sp>
      <p:pic>
        <p:nvPicPr>
          <p:cNvPr id="10" name="Picture 9" descr="f5a6805642b36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1980" y="2753867"/>
            <a:ext cx="2029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31948" y="2692908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015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should the answer be written?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Two measurements are multiplied. One has 3 significant digits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0585" y="2601468"/>
            <a:ext cx="69585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and the other has 5. The exact product is  </a:t>
            </a:r>
          </a:p>
        </p:txBody>
      </p:sp>
      <p:pic>
        <p:nvPicPr>
          <p:cNvPr id="10" name="Picture 9" descr="b41e0e74d05342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1980" y="2662428"/>
            <a:ext cx="2029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31948" y="2601468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101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should the answer be written?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6369" y="3935299"/>
            <a:ext cx="8645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answer keeps the smaller count: 3 significant digits.</a:t>
            </a:r>
          </a:p>
        </p:txBody>
      </p:sp>
      <p:pic>
        <p:nvPicPr>
          <p:cNvPr id="14" name="Picture 13" descr="40ace4bdf802fb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1233" y="4538803"/>
            <a:ext cx="1557528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38761" y="4438219"/>
            <a:ext cx="21002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becomes   </a:t>
            </a:r>
          </a:p>
        </p:txBody>
      </p:sp>
      <p:pic>
        <p:nvPicPr>
          <p:cNvPr id="16" name="Picture 15" descr="ecdbdf53729bbd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1823" y="4538803"/>
            <a:ext cx="1231392" cy="256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0097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7.41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c7912e820c52de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740" y="2194560"/>
            <a:ext cx="3983736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91476" y="2171700"/>
            <a:ext cx="42994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meters, both measured.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sum with the correct precision.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d295e21d6a5af5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6216" y="2103120"/>
            <a:ext cx="398678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93000" y="2080260"/>
            <a:ext cx="42994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meters, both measured.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sum with the correct precision.</a:t>
            </a:r>
          </a:p>
        </p:txBody>
      </p:sp>
      <p:pic>
        <p:nvPicPr>
          <p:cNvPr id="11" name="Picture 10" descr="9677988c74c08a0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422" y="3508579"/>
            <a:ext cx="2499360" cy="2682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63558" y="3917011"/>
            <a:ext cx="97715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2,500 stops at the hundreds place, so round to hundreds:  3,000</a:t>
            </a:r>
          </a:p>
        </p:txBody>
      </p:sp>
      <p:pic>
        <p:nvPicPr>
          <p:cNvPr id="13" name="Picture 12" descr="1b2a94b567e449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422" y="4493083"/>
            <a:ext cx="2130552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3.0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0.03080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0.03080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54399" y="2728291"/>
            <a:ext cx="50404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Leading zeros do not count:  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4399" y="3231211"/>
            <a:ext cx="7389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3, 0, 8 and the final 0 count:  4 significant digits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3716" y="2171700"/>
            <a:ext cx="3892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rectangle measures  </a:t>
            </a:r>
          </a:p>
        </p:txBody>
      </p:sp>
      <p:pic>
        <p:nvPicPr>
          <p:cNvPr id="9" name="Picture 8" descr="bdf46868d006cd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9372" y="2229612"/>
            <a:ext cx="1420368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29740" y="2171700"/>
            <a:ext cx="1556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cm by  </a:t>
            </a:r>
          </a:p>
        </p:txBody>
      </p:sp>
      <p:pic>
        <p:nvPicPr>
          <p:cNvPr id="11" name="Picture 10" descr="4ada1bcfda5f9a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8624" y="2229612"/>
            <a:ext cx="1639824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88448" y="2171700"/>
            <a:ext cx="9565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area, to the correct significant digits?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26.1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2.61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2192" y="2080260"/>
            <a:ext cx="3892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rectangle measures  </a:t>
            </a:r>
          </a:p>
        </p:txBody>
      </p:sp>
      <p:pic>
        <p:nvPicPr>
          <p:cNvPr id="9" name="Picture 8" descr="1aaeee8bfa6e84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7848" y="2138171"/>
            <a:ext cx="1423416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31264" y="2080260"/>
            <a:ext cx="1556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cm by  </a:t>
            </a:r>
          </a:p>
        </p:txBody>
      </p:sp>
      <p:pic>
        <p:nvPicPr>
          <p:cNvPr id="11" name="Picture 10" descr="ba0b2a6dbe833f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0148" y="2138171"/>
            <a:ext cx="1639824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89972" y="2080260"/>
            <a:ext cx="9565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area, to the correct significant digits?</a:t>
            </a:r>
          </a:p>
        </p:txBody>
      </p:sp>
      <p:pic>
        <p:nvPicPr>
          <p:cNvPr id="14" name="Picture 13" descr="7be216ecf24c5d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6669" y="3536011"/>
            <a:ext cx="2029968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76637" y="3414091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6" name="Picture 15" descr="6dc7d095c18b426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9526" y="3511627"/>
            <a:ext cx="1859280" cy="262128"/>
          </a:xfrm>
          <a:prstGeom prst="rect">
            <a:avLst/>
          </a:prstGeom>
        </p:spPr>
      </p:pic>
      <p:pic>
        <p:nvPicPr>
          <p:cNvPr id="17" name="Picture 16" descr="35eed8d154d098e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6669" y="3990163"/>
            <a:ext cx="2602992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1805" y="4419931"/>
            <a:ext cx="58452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Keep 2 significant digits (6.0 has 2):   </a:t>
            </a:r>
          </a:p>
        </p:txBody>
      </p:sp>
      <p:pic>
        <p:nvPicPr>
          <p:cNvPr id="19" name="Picture 18" descr="9b8a502d8aaa20e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99866" y="4520515"/>
            <a:ext cx="1069848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2.6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9605" y="2171700"/>
            <a:ext cx="2421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car travels  </a:t>
            </a:r>
          </a:p>
        </p:txBody>
      </p:sp>
      <p:pic>
        <p:nvPicPr>
          <p:cNvPr id="9" name="Picture 8" descr="b5f5674feeb41d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287" y="2229612"/>
            <a:ext cx="166116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5447" y="2171700"/>
            <a:ext cx="3073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km in  3.0  hours.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What is its average speed, to the right number of significant digits?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9605" y="2080260"/>
            <a:ext cx="2421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car travels  </a:t>
            </a:r>
          </a:p>
        </p:txBody>
      </p:sp>
      <p:pic>
        <p:nvPicPr>
          <p:cNvPr id="9" name="Picture 8" descr="4947c0dc47f86ab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287" y="2138171"/>
            <a:ext cx="166116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5447" y="2080260"/>
            <a:ext cx="3073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km in  3.0  hours.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What is its average speed, to the right number of significant digits?</a:t>
            </a:r>
          </a:p>
        </p:txBody>
      </p:sp>
      <p:pic>
        <p:nvPicPr>
          <p:cNvPr id="12" name="Picture 11" descr="b7f3f89b7670fb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5366" y="3482340"/>
            <a:ext cx="1981199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580502" y="3863339"/>
            <a:ext cx="60769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3.0 has 2 significant digits, so keep 2:   </a:t>
            </a:r>
          </a:p>
        </p:txBody>
      </p:sp>
      <p:pic>
        <p:nvPicPr>
          <p:cNvPr id="14" name="Picture 13" descr="a617e99eac0e99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0313" y="3960876"/>
            <a:ext cx="1063752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1.4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km/h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measured length times a measured width gives an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56207" y="2746579"/>
            <a:ext cx="7250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of  </a:t>
            </a:r>
          </a:p>
        </p:txBody>
      </p:sp>
      <p:pic>
        <p:nvPicPr>
          <p:cNvPr id="10" name="Picture 9" descr="66c8c788a53acf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112" y="2806015"/>
            <a:ext cx="1392936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37048" y="2746579"/>
            <a:ext cx="45618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</a:t>
            </a:r>
            <a:r>
              <a:rPr sz="247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470" b="0" i="0">
                <a:solidFill>
                  <a:srgbClr val="1A1A1A"/>
                </a:solidFill>
                <a:latin typeface="Lexend"/>
              </a:rPr>
              <a:t>. The length measured  </a:t>
            </a:r>
          </a:p>
        </p:txBody>
      </p:sp>
      <p:pic>
        <p:nvPicPr>
          <p:cNvPr id="12" name="Picture 11" descr="e3528be3edfa66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1773" y="2804491"/>
            <a:ext cx="1402080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63853" y="2746579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What did the width measure, to two significant digits?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measured length times a measured width gives an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54683" y="2655139"/>
            <a:ext cx="7250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of  </a:t>
            </a:r>
          </a:p>
        </p:txBody>
      </p:sp>
      <p:pic>
        <p:nvPicPr>
          <p:cNvPr id="10" name="Picture 9" descr="96dda91be14bb1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2588" y="2714575"/>
            <a:ext cx="1395984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38572" y="2655139"/>
            <a:ext cx="45618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</a:t>
            </a:r>
            <a:r>
              <a:rPr sz="247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470" b="0" i="0">
                <a:solidFill>
                  <a:srgbClr val="1A1A1A"/>
                </a:solidFill>
                <a:latin typeface="Lexend"/>
              </a:rPr>
              <a:t>. The length measured  </a:t>
            </a:r>
          </a:p>
        </p:txBody>
      </p:sp>
      <p:pic>
        <p:nvPicPr>
          <p:cNvPr id="12" name="Picture 11" descr="b0f75faad513fd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3297" y="2713051"/>
            <a:ext cx="1402080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65377" y="2655139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What did the width measure, to two significant digits?</a:t>
            </a:r>
          </a:p>
        </p:txBody>
      </p:sp>
      <p:pic>
        <p:nvPicPr>
          <p:cNvPr id="15" name="Picture 14" descr="90203440ac2af9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025" y="4059074"/>
            <a:ext cx="2377440" cy="3169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91161" y="4528466"/>
            <a:ext cx="44209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Two significant digits:   </a:t>
            </a:r>
          </a:p>
        </p:txBody>
      </p:sp>
      <p:pic>
        <p:nvPicPr>
          <p:cNvPr id="17" name="Picture 16" descr="83b7c76269977cf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4958" y="4604666"/>
            <a:ext cx="1301496" cy="304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0999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4.0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Ellis says: 1,234 has 4 significant digits and 5.6 has 2,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5004" y="2746579"/>
            <a:ext cx="21335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so the sum  </a:t>
            </a:r>
          </a:p>
        </p:txBody>
      </p:sp>
      <p:pic>
        <p:nvPicPr>
          <p:cNvPr id="10" name="Picture 9" descr="6cd48108d25e51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1386" y="2801443"/>
            <a:ext cx="1798320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79706" y="2746579"/>
            <a:ext cx="42347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must be written with 2:  </a:t>
            </a:r>
          </a:p>
        </p:txBody>
      </p:sp>
      <p:pic>
        <p:nvPicPr>
          <p:cNvPr id="12" name="Picture 11" descr="ebc5deb6b2afef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7265" y="2806015"/>
            <a:ext cx="1350264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27529" y="2746579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correct sum.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Ellis says: 1,234 has 4 significant digits and 5.6 has 2,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5004" y="2655139"/>
            <a:ext cx="21335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so the sum  </a:t>
            </a:r>
          </a:p>
        </p:txBody>
      </p:sp>
      <p:pic>
        <p:nvPicPr>
          <p:cNvPr id="10" name="Picture 9" descr="a72db1300e8221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1386" y="2708479"/>
            <a:ext cx="179527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76658" y="2655139"/>
            <a:ext cx="42347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must be written with 2:  </a:t>
            </a:r>
          </a:p>
        </p:txBody>
      </p:sp>
      <p:pic>
        <p:nvPicPr>
          <p:cNvPr id="12" name="Picture 11" descr="127604dc103a68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4217" y="2714575"/>
            <a:ext cx="1353312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27529" y="2655139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correct sum.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9219" y="3988970"/>
            <a:ext cx="77200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Adding uses decimal places, not a count of digits.</a:t>
            </a:r>
          </a:p>
        </p:txBody>
      </p:sp>
      <p:pic>
        <p:nvPicPr>
          <p:cNvPr id="16" name="Picture 15" descr="d1e6d085c4e19a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4083" y="4586378"/>
            <a:ext cx="2596896" cy="2682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999219" y="4994810"/>
            <a:ext cx="8300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1,234 stops at the ones place, so round to ones:  1,240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6631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1,240 = 1.240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901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9019"/>
            <a:ext cx="600178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How many significant digits are in  6,030  grams?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966953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966953"/>
            <a:ext cx="634358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How many significant digits are in  0.00710  meters?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434888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434888"/>
            <a:ext cx="290142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rectangle measures  </a:t>
            </a:r>
          </a:p>
        </p:txBody>
      </p:sp>
      <p:pic>
        <p:nvPicPr>
          <p:cNvPr id="14" name="Picture 13" descr="7d17691463990a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746" y="2509166"/>
            <a:ext cx="954289" cy="22913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273035" y="2434888"/>
            <a:ext cx="106372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6" name="Picture 15" descr="35e387f60425e7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596" y="2509166"/>
            <a:ext cx="1072630" cy="22913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72227" y="2434888"/>
            <a:ext cx="396130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m. Find its area, to the correct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802238"/>
            <a:ext cx="35186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number of significant digits.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270172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20" name="Picture 19" descr="2f8ec9a9220ceb3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3323048"/>
            <a:ext cx="2696684" cy="27193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324316" y="3270172"/>
            <a:ext cx="683126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meters, both measured. Write the sum with the correct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637522"/>
            <a:ext cx="13294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precision.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105457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105457"/>
            <a:ext cx="182645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car travels  </a:t>
            </a:r>
          </a:p>
        </p:txBody>
      </p:sp>
      <p:pic>
        <p:nvPicPr>
          <p:cNvPr id="25" name="Picture 24" descr="d28efaf6c4b6b0d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3779" y="4179735"/>
            <a:ext cx="1080184" cy="22913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323963" y="4105457"/>
            <a:ext cx="686988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km in  4.0  hours. Find its average speed, to the correct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472807"/>
            <a:ext cx="35186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number of significant digits.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940741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29" name="Picture 28" descr="f68f597f3be75e8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991100"/>
            <a:ext cx="2913225" cy="27697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540857" y="4940741"/>
            <a:ext cx="65717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grams, both measured. Write the difference with the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308092"/>
            <a:ext cx="223305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correct precision.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Add, subtract, multiply, and divide numbers written in scientific notation: word problems — D5S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