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17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real-world problem with numbers in scientific notation and report the answer with the right number of significant digits.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5312"/>
            <a:ext cx="3057144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1140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74625" y="1440180"/>
            <a:ext cx="144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5312"/>
            <a:ext cx="3057144" cy="332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8843" y="2052828"/>
            <a:ext cx="1612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5.89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5958" y="2665476"/>
            <a:ext cx="1800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9.02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7924" y="3278124"/>
            <a:ext cx="8306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4.74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digits of a measurement that carry information: every nonzero digit, every zero between nonzero digits, and a trailing zero only when a decimal point is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leading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zero before the first nonzero digit. 0.0047 has two leading zeros and two significant digits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quantity that was measured, so its last digit is uncertain. A count is not a measurement — 24 students is exactly 24, and 60 seconds in a minute is exact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Which digits are significant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5999" y="1993392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7e6ff835d857c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716" y="1993392"/>
            <a:ext cx="603808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817" y="2656332"/>
            <a:ext cx="8233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2 significant digits and 3, so the answer keeps 2:   </a:t>
            </a:r>
          </a:p>
        </p:txBody>
      </p:sp>
      <p:pic>
        <p:nvPicPr>
          <p:cNvPr id="12" name="Picture 11" descr="723af09f9a418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006" y="2717292"/>
            <a:ext cx="137769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Adding or subtracting: a different rule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c84020e548be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23872"/>
            <a:ext cx="338328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0000" y="2656332"/>
            <a:ext cx="8658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1,234 stops at the ones place;  5.6 stops at the tenths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410" y="3342132"/>
            <a:ext cx="6114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stops at the ones place:   </a:t>
            </a:r>
          </a:p>
        </p:txBody>
      </p:sp>
      <p:pic>
        <p:nvPicPr>
          <p:cNvPr id="13" name="Picture 12" descr="40647922f9acd2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237" y="3368040"/>
            <a:ext cx="3166872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1148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8053" y="1714500"/>
            <a:ext cx="4120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solar array measures  </a:t>
            </a:r>
          </a:p>
        </p:txBody>
      </p:sp>
      <p:pic>
        <p:nvPicPr>
          <p:cNvPr id="9" name="Picture 8" descr="ff2cbfe6b6afaa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411" y="1772412"/>
            <a:ext cx="157581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7227" y="1714500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a26922bd492b4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215" y="1772412"/>
            <a:ext cx="1383792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52007" y="1714500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7b7c5abadb0c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11480"/>
          </a:xfrm>
          <a:prstGeom prst="rect">
            <a:avLst/>
          </a:prstGeom>
        </p:spPr>
      </p:pic>
      <p:pic>
        <p:nvPicPr>
          <p:cNvPr id="9" name="Picture 8" descr="a08d6ab77e1723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248400" cy="387096"/>
          </a:xfrm>
          <a:prstGeom prst="rect">
            <a:avLst/>
          </a:prstGeom>
        </p:spPr>
      </p:pic>
      <p:pic>
        <p:nvPicPr>
          <p:cNvPr id="10" name="Picture 9" descr="a93125fbd09b82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67456"/>
            <a:ext cx="4462272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0625" y="1583436"/>
            <a:ext cx="3077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1645c9c47acde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39" y="1600200"/>
            <a:ext cx="17922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2863" y="1583436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debdcb1f492603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51" y="1600200"/>
            <a:ext cx="2005584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9435" y="1583436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43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9101" y="1583436"/>
            <a:ext cx="3077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19219eb587cce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15" y="1600200"/>
            <a:ext cx="17922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1339" y="1583436"/>
            <a:ext cx="137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cda4b72b75ce9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327" y="1600200"/>
            <a:ext cx="2008632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50959" y="1583436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43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pic>
        <p:nvPicPr>
          <p:cNvPr id="14" name="Picture 13" descr="94a8240adc6e96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957" y="3055222"/>
            <a:ext cx="218541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1373" y="2933302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6dc7d095c18b42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261" y="3030838"/>
            <a:ext cx="1859280" cy="262128"/>
          </a:xfrm>
          <a:prstGeom prst="rect">
            <a:avLst/>
          </a:prstGeom>
        </p:spPr>
      </p:pic>
      <p:pic>
        <p:nvPicPr>
          <p:cNvPr id="17" name="Picture 16" descr="c8c5f1b26c2cd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957" y="3509374"/>
            <a:ext cx="275844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11093" y="3939142"/>
            <a:ext cx="58493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(4.6 has 2):   </a:t>
            </a:r>
          </a:p>
        </p:txBody>
      </p:sp>
      <p:pic>
        <p:nvPicPr>
          <p:cNvPr id="19" name="Picture 18" descr="7eec2dad996b77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250" y="4039726"/>
            <a:ext cx="1030224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9331" y="1714500"/>
            <a:ext cx="3203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container holds  </a:t>
            </a:r>
          </a:p>
        </p:txBody>
      </p:sp>
      <p:pic>
        <p:nvPicPr>
          <p:cNvPr id="9" name="Picture 8" descr="14e0b9b3df93fb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985" y="1773936"/>
            <a:ext cx="178308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9065" y="1714500"/>
            <a:ext cx="3470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cubic feet of liquid.</a:t>
            </a:r>
          </a:p>
        </p:txBody>
      </p:sp>
      <p:pic>
        <p:nvPicPr>
          <p:cNvPr id="11" name="Picture 10" descr="a3b236c4480db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625" y="2506980"/>
            <a:ext cx="1999487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60113" y="2446020"/>
            <a:ext cx="3977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cubic feet evaporates.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330ec204f774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358128" cy="280416"/>
          </a:xfrm>
          <a:prstGeom prst="rect">
            <a:avLst/>
          </a:prstGeom>
        </p:spPr>
      </p:pic>
      <p:pic>
        <p:nvPicPr>
          <p:cNvPr id="9" name="Picture 8" descr="bb89500147edd4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895344" cy="417576"/>
          </a:xfrm>
          <a:prstGeom prst="rect">
            <a:avLst/>
          </a:prstGeom>
        </p:spPr>
      </p:pic>
      <p:pic>
        <p:nvPicPr>
          <p:cNvPr id="10" name="Picture 9" descr="675b2dce7029d4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6871"/>
            <a:ext cx="604113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cubic feet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9636" y="1581912"/>
            <a:ext cx="1819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7085e71197c76e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141" y="1600200"/>
            <a:ext cx="202692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061" y="1581912"/>
            <a:ext cx="1569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3031" y="2324100"/>
            <a:ext cx="1876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8ca2d2fd49f849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86" y="2340864"/>
            <a:ext cx="2036064" cy="423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8750" y="2324100"/>
            <a:ext cx="333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8112" y="1581912"/>
            <a:ext cx="1819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792d949c5a21a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617" y="1600200"/>
            <a:ext cx="2029968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0585" y="1581912"/>
            <a:ext cx="1569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1507" y="2324100"/>
            <a:ext cx="1876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b395e7df8785e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62" y="2340864"/>
            <a:ext cx="2039112" cy="423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70274" y="2324100"/>
            <a:ext cx="333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  <p:pic>
        <p:nvPicPr>
          <p:cNvPr id="15" name="Picture 14" descr="df3a7677f047d4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235" y="3768454"/>
            <a:ext cx="2529840" cy="268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55371" y="4176886"/>
            <a:ext cx="818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3,850 stops at the tens place, so round to tens:  3,580</a:t>
            </a:r>
          </a:p>
        </p:txBody>
      </p:sp>
      <p:pic>
        <p:nvPicPr>
          <p:cNvPr id="17" name="Picture 16" descr="e2ff5572229200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235" y="4752958"/>
            <a:ext cx="227076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5130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3.58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0987" y="2728291"/>
            <a:ext cx="5230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987" y="3231211"/>
            <a:ext cx="7016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4, 7 and the final 0 count:  3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cb6705e7e3c13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41575"/>
            <a:ext cx="113080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5142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fe2d8d1397623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208" y="1941575"/>
            <a:ext cx="112776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73968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14e1bd54084a4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41575"/>
            <a:ext cx="113080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5142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5ace9ec4312072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208" y="1941575"/>
            <a:ext cx="112776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73968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pic>
        <p:nvPicPr>
          <p:cNvPr id="15" name="Picture 14" descr="0dcb6b3604aaf1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929" y="4212667"/>
            <a:ext cx="1825752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7681" y="4090747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a732557401dc8a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570" y="4188283"/>
            <a:ext cx="1831848" cy="262128"/>
          </a:xfrm>
          <a:prstGeom prst="rect">
            <a:avLst/>
          </a:prstGeom>
        </p:spPr>
      </p:pic>
      <p:pic>
        <p:nvPicPr>
          <p:cNvPr id="18" name="Picture 17" descr="ca43b17f810214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929" y="4666819"/>
            <a:ext cx="2362200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17065" y="5096587"/>
            <a:ext cx="4209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digits:   </a:t>
            </a:r>
          </a:p>
        </p:txBody>
      </p:sp>
      <p:pic>
        <p:nvPicPr>
          <p:cNvPr id="20" name="Picture 19" descr="018e3913f4d433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846" y="5197171"/>
            <a:ext cx="1057656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66808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0585" y="2692908"/>
            <a:ext cx="69585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f5a6805642b36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980" y="2753867"/>
            <a:ext cx="2029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31948" y="269290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0585" y="2601468"/>
            <a:ext cx="69585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b41e0e74d0534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980" y="2662428"/>
            <a:ext cx="2029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31948" y="260146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369" y="3935299"/>
            <a:ext cx="864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answer keeps the smaller count: 3 significant digits.</a:t>
            </a:r>
          </a:p>
        </p:txBody>
      </p:sp>
      <p:pic>
        <p:nvPicPr>
          <p:cNvPr id="14" name="Picture 13" descr="40ace4bdf802fb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33" y="4538803"/>
            <a:ext cx="1557528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8761" y="4438219"/>
            <a:ext cx="2100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becomes   </a:t>
            </a:r>
          </a:p>
        </p:txBody>
      </p:sp>
      <p:pic>
        <p:nvPicPr>
          <p:cNvPr id="16" name="Picture 15" descr="ecdbdf53729bb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823" y="4538803"/>
            <a:ext cx="123139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0097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7912e820c52de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740" y="2194560"/>
            <a:ext cx="398373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1476" y="2171700"/>
            <a:ext cx="4299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295e21d6a5af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16" y="2103120"/>
            <a:ext cx="3986784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3000" y="2080260"/>
            <a:ext cx="4299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pic>
        <p:nvPicPr>
          <p:cNvPr id="11" name="Picture 10" descr="9677988c74c08a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22" y="3508579"/>
            <a:ext cx="2499360" cy="268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3558" y="3917011"/>
            <a:ext cx="9771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2,500 stops at the hundreds place, so round to hundreds:  3,000</a:t>
            </a:r>
          </a:p>
        </p:txBody>
      </p:sp>
      <p:pic>
        <p:nvPicPr>
          <p:cNvPr id="13" name="Picture 12" descr="1b2a94b567e4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422" y="4493083"/>
            <a:ext cx="2130552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4399" y="2728291"/>
            <a:ext cx="50404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4399" y="3231211"/>
            <a:ext cx="7389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 0, 8 and the final 0 count:  4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3716" y="2171700"/>
            <a:ext cx="3892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bdf46868d006cd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372" y="2229612"/>
            <a:ext cx="1420368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9740" y="2171700"/>
            <a:ext cx="155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4ada1bcfda5f9a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24" y="2229612"/>
            <a:ext cx="16398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8448" y="2171700"/>
            <a:ext cx="956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2192" y="2080260"/>
            <a:ext cx="38928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1aaeee8bfa6e8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848" y="2138171"/>
            <a:ext cx="1423416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31264" y="2080260"/>
            <a:ext cx="1556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ba0b2a6dbe833f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148" y="2138171"/>
            <a:ext cx="16398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9972" y="2080260"/>
            <a:ext cx="956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pic>
        <p:nvPicPr>
          <p:cNvPr id="14" name="Picture 13" descr="7be216ecf24c5d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669" y="3536011"/>
            <a:ext cx="202996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6637" y="3414091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6dc7d095c18b42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526" y="3511627"/>
            <a:ext cx="1859280" cy="262128"/>
          </a:xfrm>
          <a:prstGeom prst="rect">
            <a:avLst/>
          </a:prstGeom>
        </p:spPr>
      </p:pic>
      <p:pic>
        <p:nvPicPr>
          <p:cNvPr id="17" name="Picture 16" descr="35eed8d154d098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6669" y="3990163"/>
            <a:ext cx="2602992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1805" y="4419931"/>
            <a:ext cx="5845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(6.0 has 2):   </a:t>
            </a:r>
          </a:p>
        </p:txBody>
      </p:sp>
      <p:pic>
        <p:nvPicPr>
          <p:cNvPr id="19" name="Picture 18" descr="9b8a502d8aaa20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866" y="4520515"/>
            <a:ext cx="10698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2.6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05" y="2171700"/>
            <a:ext cx="2421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b5f5674feeb41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87" y="2229612"/>
            <a:ext cx="166116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5447" y="2171700"/>
            <a:ext cx="3073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05" y="2080260"/>
            <a:ext cx="2421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4947c0dc47f86a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87" y="2138171"/>
            <a:ext cx="166116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5447" y="2080260"/>
            <a:ext cx="3073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pic>
        <p:nvPicPr>
          <p:cNvPr id="12" name="Picture 11" descr="b7f3f89b7670f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66" y="3482340"/>
            <a:ext cx="1981199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0502" y="3863339"/>
            <a:ext cx="6076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3.0 has 2 significant digits, so keep 2:   </a:t>
            </a:r>
          </a:p>
        </p:txBody>
      </p:sp>
      <p:pic>
        <p:nvPicPr>
          <p:cNvPr id="14" name="Picture 13" descr="a617e99eac0e99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313" y="3960876"/>
            <a:ext cx="1063752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km/h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07" y="2746579"/>
            <a:ext cx="7250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66c8c788a53ac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12" y="2806015"/>
            <a:ext cx="139293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7048" y="2746579"/>
            <a:ext cx="45618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47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47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e3528be3edfa6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773" y="2804491"/>
            <a:ext cx="14020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3853" y="2746579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4683" y="2655139"/>
            <a:ext cx="7250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96dda91be14bb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88" y="2714575"/>
            <a:ext cx="139598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8572" y="2655139"/>
            <a:ext cx="45618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47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47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b0f75faad513f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297" y="2713051"/>
            <a:ext cx="14020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5377" y="2655139"/>
            <a:ext cx="7786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pic>
        <p:nvPicPr>
          <p:cNvPr id="15" name="Picture 14" descr="90203440ac2af9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025" y="4059074"/>
            <a:ext cx="23774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61" y="4528466"/>
            <a:ext cx="44209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Two significant digits:   </a:t>
            </a:r>
          </a:p>
        </p:txBody>
      </p:sp>
      <p:pic>
        <p:nvPicPr>
          <p:cNvPr id="17" name="Picture 16" descr="83b7c76269977c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958" y="4604666"/>
            <a:ext cx="130149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0999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808" y="2746579"/>
            <a:ext cx="21335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9630dac2daa1a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90" y="2801443"/>
            <a:ext cx="1859280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96470" y="2746579"/>
            <a:ext cx="42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ca0b1ffd8d5f7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029" y="2806015"/>
            <a:ext cx="1377696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71725" y="274657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808" y="2655139"/>
            <a:ext cx="21335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76e99574fb259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90" y="2708479"/>
            <a:ext cx="185928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96470" y="2655139"/>
            <a:ext cx="42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4947c6a9376ae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029" y="2714575"/>
            <a:ext cx="1377696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71725" y="265513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7221" y="3988970"/>
            <a:ext cx="77200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Adding uses decimal places, not a count of digits.</a:t>
            </a:r>
          </a:p>
        </p:txBody>
      </p:sp>
      <p:pic>
        <p:nvPicPr>
          <p:cNvPr id="16" name="Picture 15" descr="990cd9202cebfc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85" y="4586378"/>
            <a:ext cx="2673096" cy="2682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7221" y="4994810"/>
            <a:ext cx="83042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9,145 stops at the ones place, so round to ones:  9,150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663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9,150 = 9.150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600178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6,030  grams?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6953"/>
            <a:ext cx="63435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0.00710  meters?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34888"/>
            <a:ext cx="29014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14" name="Picture 13" descr="7d17691463990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46" y="2509166"/>
            <a:ext cx="954289" cy="2291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3035" y="2434888"/>
            <a:ext cx="10637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6" name="Picture 15" descr="35e387f60425e7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96" y="2509166"/>
            <a:ext cx="1072630" cy="2291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72227" y="2434888"/>
            <a:ext cx="396130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m. Find its area, to the correct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02238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7017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20" name="Picture 19" descr="2f8ec9a9220ceb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323048"/>
            <a:ext cx="2696684" cy="2719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4316" y="3270172"/>
            <a:ext cx="683126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meters, both measured. Write the sum with the correct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37522"/>
            <a:ext cx="13294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precision.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05457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05457"/>
            <a:ext cx="182645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25" name="Picture 24" descr="d28efaf6c4b6b0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79" y="4179735"/>
            <a:ext cx="1080184" cy="2291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23963" y="4105457"/>
            <a:ext cx="686988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km in  4.0  hours. Find its average speed, to the correct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472807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4074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9" name="Picture 28" descr="f68f597f3be75e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991100"/>
            <a:ext cx="2913225" cy="2769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40857" y="4940741"/>
            <a:ext cx="65717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grams, both measured. Write the difference with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08092"/>
            <a:ext cx="223305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correct precision.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