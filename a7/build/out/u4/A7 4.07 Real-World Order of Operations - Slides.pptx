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substitute values into a formula and evaluate it, reading what the situation does rather than hunting for key words.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3997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3117"/>
            <a:ext cx="157886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718427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55999f3eae65eb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35726" cy="5173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8402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5" name="Picture 14" descr="9999ab29d2b72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58725"/>
            <a:ext cx="441436" cy="2634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97351" y="338402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7" name="Picture 16" descr="48277941d45974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660" y="3513312"/>
            <a:ext cx="595701" cy="2135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53361" y="3384026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3997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41937" y="1440180"/>
            <a:ext cx="408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3117"/>
            <a:ext cx="157886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0563" y="2052828"/>
            <a:ext cx="862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25/2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18427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55999f3eae65eb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35726" cy="5173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52078" y="2665476"/>
            <a:ext cx="75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38402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8" name="Picture 17" descr="9999ab29d2b72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58725"/>
            <a:ext cx="441436" cy="2634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7351" y="338402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0" name="Picture 19" descr="48277941d45974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660" y="3513312"/>
            <a:ext cx="595701" cy="21359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53361" y="3384026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2195" y="3384026"/>
            <a:ext cx="5515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12389"/>
            <a:ext cx="4870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rule written with letters, such as </a:t>
            </a:r>
          </a:p>
        </p:txBody>
      </p:sp>
      <p:pic>
        <p:nvPicPr>
          <p:cNvPr id="10" name="Picture 9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907" y="1892410"/>
            <a:ext cx="1189545" cy="4971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65453" y="1912389"/>
            <a:ext cx="2854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39859"/>
            <a:ext cx="87905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that becomes a number once each letter is replaced by a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7536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substitute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04738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replace a letter with its value — in parentheses, so that a negative value keeps its sign and a power stays attached to the whole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966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959031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what the answer is counted in: feet, dollars, joules. A real-world answer without a unit is not an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Substituting: the value goes in parentheses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994" y="1993392"/>
            <a:ext cx="1408509" cy="590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97503" y="2059908"/>
            <a:ext cx="1452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with   </a:t>
            </a:r>
          </a:p>
        </p:txBody>
      </p:sp>
      <p:pic>
        <p:nvPicPr>
          <p:cNvPr id="12" name="Picture 11" descr="c40d2caa36f208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327" y="2170874"/>
            <a:ext cx="989980" cy="246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03308" y="2059908"/>
            <a:ext cx="13881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4" name="Picture 13" descr="039a12261cb838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287" y="2173557"/>
            <a:ext cx="869251" cy="2441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23539" y="2059908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6" name="Picture 15" descr="8d85e48358ee9d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506" y="2857944"/>
            <a:ext cx="4856003" cy="590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68509" y="2924460"/>
            <a:ext cx="14176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joules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2394" y="3699636"/>
            <a:ext cx="11736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with   </a:t>
            </a:r>
          </a:p>
        </p:txBody>
      </p:sp>
      <p:pic>
        <p:nvPicPr>
          <p:cNvPr id="19" name="Picture 18" descr="baf1e744513c7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8860" y="3813286"/>
            <a:ext cx="901446" cy="238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70306" y="3699636"/>
            <a:ext cx="658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    </a:t>
            </a:r>
          </a:p>
        </p:txBody>
      </p:sp>
      <p:pic>
        <p:nvPicPr>
          <p:cNvPr id="21" name="Picture 20" descr="37650f0ab64081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768" y="3754262"/>
            <a:ext cx="2122154" cy="3621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13923" y="3699636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23" name="Picture 22" descr="9d75179d4c71dc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1347" y="3754262"/>
            <a:ext cx="1397777" cy="2977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7552" y="4472305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Key words do not decide the operation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13983" y="1970532"/>
            <a:ext cx="78707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plus 4 dollars for each of 6 gigabytes:</a:t>
            </a:r>
          </a:p>
        </p:txBody>
      </p:sp>
      <p:pic>
        <p:nvPicPr>
          <p:cNvPr id="11" name="Picture 10" descr="bbb5fdfab9bb6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728341"/>
            <a:ext cx="224942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91939" y="3342132"/>
            <a:ext cx="81148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for each of 4 lines, plus 6 dollars of tax:</a:t>
            </a:r>
          </a:p>
        </p:txBody>
      </p:sp>
      <p:pic>
        <p:nvPicPr>
          <p:cNvPr id="13" name="Picture 12" descr="452f0d3dea2c60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952" y="4099940"/>
            <a:ext cx="2261616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06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aa366538d8b5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336" y="2194560"/>
            <a:ext cx="4128944" cy="4212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8280" y="2176565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0392" y="2976959"/>
            <a:ext cx="50028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rounding the side to 14 first:   </a:t>
            </a:r>
          </a:p>
        </p:txBody>
      </p:sp>
      <p:pic>
        <p:nvPicPr>
          <p:cNvPr id="13" name="Picture 12" descr="54bb3b3bdd6a6a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034" y="3082559"/>
            <a:ext cx="1521190" cy="3112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77224" y="2976959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95079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0377" y="1779936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9" name="Picture 8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75" y="1737360"/>
            <a:ext cx="1297686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16061" y="1779936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0828" y="2531173"/>
            <a:ext cx="1580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for mass </a:t>
            </a:r>
          </a:p>
        </p:txBody>
      </p:sp>
      <p:pic>
        <p:nvPicPr>
          <p:cNvPr id="12" name="Picture 11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841" y="2705671"/>
            <a:ext cx="250126" cy="1684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23967" y="2531173"/>
            <a:ext cx="3836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kilograms and speed </a:t>
            </a:r>
          </a:p>
        </p:txBody>
      </p:sp>
      <p:pic>
        <p:nvPicPr>
          <p:cNvPr id="14" name="Picture 13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771" y="2708148"/>
            <a:ext cx="168401" cy="165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92173" y="2531173"/>
            <a:ext cx="3475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meters per second.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2803" y="3216973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7" name="Picture 16" descr="e17610a9e5f468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219" y="3339465"/>
            <a:ext cx="190690" cy="2204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59909" y="3216973"/>
            <a:ext cx="71759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for a car of mass 1,200 kg travelling at 15 m/s.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0851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93a1a205fd7f5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670560"/>
          </a:xfrm>
          <a:prstGeom prst="rect">
            <a:avLst/>
          </a:prstGeom>
        </p:spPr>
      </p:pic>
      <p:pic>
        <p:nvPicPr>
          <p:cNvPr id="9" name="Picture 8" descr="6c72b1ad8ee77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700528" cy="670560"/>
          </a:xfrm>
          <a:prstGeom prst="rect">
            <a:avLst/>
          </a:prstGeom>
        </p:spPr>
      </p:pic>
      <p:pic>
        <p:nvPicPr>
          <p:cNvPr id="10" name="Picture 9" descr="7be42c48f704a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364845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07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135,000 joules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9174" y="1642776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590" y="1600200"/>
            <a:ext cx="1297686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3276" y="1642776"/>
            <a:ext cx="895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ffb5ee49e4e6db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183" y="1765268"/>
            <a:ext cx="1099566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0749" y="1642776"/>
            <a:ext cx="1664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fcf34a7dd0413e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339" y="1762791"/>
            <a:ext cx="787527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65866" y="1642776"/>
            <a:ext cx="1043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936" y="1644015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352" y="1600200"/>
            <a:ext cx="1300162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4514" y="1644015"/>
            <a:ext cx="895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68a8df29f71021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422" y="1766506"/>
            <a:ext cx="1099566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1988" y="1644015"/>
            <a:ext cx="1664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9a281248500791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577" y="1764030"/>
            <a:ext cx="787527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67104" y="1644015"/>
            <a:ext cx="1043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  <p:pic>
        <p:nvPicPr>
          <p:cNvPr id="15" name="Picture 14" descr="3762f247991bf7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534602"/>
            <a:ext cx="2112264" cy="301752"/>
          </a:xfrm>
          <a:prstGeom prst="rect">
            <a:avLst/>
          </a:prstGeom>
        </p:spPr>
      </p:pic>
      <p:pic>
        <p:nvPicPr>
          <p:cNvPr id="16" name="Picture 15" descr="ca71fa474550c7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3031997"/>
            <a:ext cx="5836920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61,200 joules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floor of side 9 feet is carpeted.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Carpet is 2.89 dollars a square foot and padding is 0.75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49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0ec63a4d8a0e1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85744" cy="411480"/>
          </a:xfrm>
          <a:prstGeom prst="rect">
            <a:avLst/>
          </a:prstGeom>
        </p:spPr>
      </p:pic>
      <p:pic>
        <p:nvPicPr>
          <p:cNvPr id="9" name="Picture 8" descr="704c60e190944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2499360" cy="353568"/>
          </a:xfrm>
          <a:prstGeom prst="rect">
            <a:avLst/>
          </a:prstGeom>
        </p:spPr>
      </p:pic>
      <p:pic>
        <p:nvPicPr>
          <p:cNvPr id="10" name="Picture 9" descr="12efb6d7268520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38252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5131" y="3267787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030c2bd87e10b7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793" y="3356369"/>
            <a:ext cx="865774" cy="2613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45131" y="3770707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24cf65e451cd1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61" y="3905962"/>
            <a:ext cx="1887902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45131" y="4273627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2dabb82215e595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728" y="4408882"/>
            <a:ext cx="2615993" cy="21469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12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58" y="2171700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011b5debc6280b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981" y="2242185"/>
            <a:ext cx="463105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5087" y="2171700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604" y="2291715"/>
            <a:ext cx="809815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22420" y="21717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4720" y="2080260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1f66cf6f8dfc2b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743" y="2150745"/>
            <a:ext cx="46558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6325" y="2080260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843" y="2200275"/>
            <a:ext cx="809815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23658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32b4b5eddd91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79" y="2928461"/>
            <a:ext cx="1539240" cy="313944"/>
          </a:xfrm>
          <a:prstGeom prst="rect">
            <a:avLst/>
          </a:prstGeom>
        </p:spPr>
      </p:pic>
      <p:pic>
        <p:nvPicPr>
          <p:cNvPr id="14" name="Picture 13" descr="a8317bc2e11e2f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479" y="3431381"/>
            <a:ext cx="1115568" cy="313944"/>
          </a:xfrm>
          <a:prstGeom prst="rect">
            <a:avLst/>
          </a:prstGeom>
        </p:spPr>
      </p:pic>
      <p:pic>
        <p:nvPicPr>
          <p:cNvPr id="15" name="Picture 14" descr="946a1754962a1d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479" y="3980021"/>
            <a:ext cx="1161288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4664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297686" cy="5423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0123" y="3424664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048" y="3599162"/>
            <a:ext cx="250126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3175" y="3424664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38" y="3601638"/>
            <a:ext cx="168401" cy="165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91040" y="342466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560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75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5902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300162" cy="5448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2600" y="3425902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525" y="3600400"/>
            <a:ext cx="250126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5651" y="3425902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114" y="3602876"/>
            <a:ext cx="168401" cy="165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93516" y="3425902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8085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pic>
        <p:nvPicPr>
          <p:cNvPr id="18" name="Picture 17" descr="39c59a038134af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563" y="4786055"/>
            <a:ext cx="4770120" cy="6065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2976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2,240 joules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pic>
        <p:nvPicPr>
          <p:cNvPr id="10" name="Picture 9" descr="4878fd7dba5b8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369323"/>
            <a:ext cx="1365504" cy="252984"/>
          </a:xfrm>
          <a:prstGeom prst="rect">
            <a:avLst/>
          </a:prstGeom>
        </p:spPr>
      </p:pic>
      <p:pic>
        <p:nvPicPr>
          <p:cNvPr id="11" name="Picture 10" descr="fcf2b27a5b2a71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3902723"/>
            <a:ext cx="180136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dollars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1009" y="3824378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c7c93517f0e2c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671" y="3912961"/>
            <a:ext cx="893778" cy="259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1009" y="4327298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d34fe4cc863321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39" y="4462553"/>
            <a:ext cx="1934575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01009" y="4830218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ac2fcdbdf825fb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606" y="4965473"/>
            <a:ext cx="1904238" cy="21469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4017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284 dollars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8187" y="2237136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afdff26349098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11" y="2194560"/>
            <a:ext cx="804862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9073" y="2237136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938dd359498bb5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591" y="2359628"/>
            <a:ext cx="933640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0231" y="2237136"/>
            <a:ext cx="1125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589" y="2362104"/>
            <a:ext cx="621601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0190" y="223713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1123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775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775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3633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3633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691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6949" y="2146935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1e305187b6b37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973" y="2103120"/>
            <a:ext cx="807339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0312" y="2146935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68297ebc4f2432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29" y="2269426"/>
            <a:ext cx="933640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1470" y="2146935"/>
            <a:ext cx="1125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827" y="2271903"/>
            <a:ext cx="621601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1429" y="2146935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2226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6" name="Picture 15" descr="1adf52fb308924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971" y="3615449"/>
            <a:ext cx="1517904" cy="304800"/>
          </a:xfrm>
          <a:prstGeom prst="rect">
            <a:avLst/>
          </a:prstGeom>
        </p:spPr>
      </p:pic>
      <p:pic>
        <p:nvPicPr>
          <p:cNvPr id="17" name="Picture 16" descr="f5a67ba185f37f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1" y="4109797"/>
            <a:ext cx="3578352" cy="606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5350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12(1.25) + 38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+ 1.25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 + 38)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(1.25) + 38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8974" y="3824378"/>
            <a:ext cx="110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  </a:t>
            </a:r>
          </a:p>
        </p:txBody>
      </p:sp>
      <p:pic>
        <p:nvPicPr>
          <p:cNvPr id="12" name="Picture 11" descr="8267fb8fcdfcb9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98" y="3910627"/>
            <a:ext cx="392049" cy="259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0247" y="3824378"/>
            <a:ext cx="5531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square feet, at 1.25 dollars each:   </a:t>
            </a:r>
          </a:p>
        </p:txBody>
      </p:sp>
      <p:pic>
        <p:nvPicPr>
          <p:cNvPr id="14" name="Picture 13" descr="7b1b2eac3aeeeb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730" y="3912961"/>
            <a:ext cx="1187815" cy="2613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8974" y="4327298"/>
            <a:ext cx="48466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38 dollars is added once:   </a:t>
            </a:r>
          </a:p>
        </p:txBody>
      </p:sp>
      <p:pic>
        <p:nvPicPr>
          <p:cNvPr id="16" name="Picture 15" descr="ce65cf9872ebd8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502" y="4415881"/>
            <a:ext cx="2557653" cy="2613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9879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(1.25) + 38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344" y="2171700"/>
            <a:ext cx="546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798a5139adaa76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332" y="2207514"/>
            <a:ext cx="864298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59631" y="2171700"/>
            <a:ext cx="1774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820" y="2080260"/>
            <a:ext cx="546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d8ed0de82c731b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809" y="2116074"/>
            <a:ext cx="859345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57154" y="2080260"/>
            <a:ext cx="1774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pic>
        <p:nvPicPr>
          <p:cNvPr id="12" name="Picture 11" descr="aa26d55f7ae649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1" y="3436951"/>
            <a:ext cx="2532888" cy="432816"/>
          </a:xfrm>
          <a:prstGeom prst="rect">
            <a:avLst/>
          </a:prstGeom>
        </p:spPr>
      </p:pic>
      <p:pic>
        <p:nvPicPr>
          <p:cNvPr id="13" name="Picture 12" descr="351ed85fae5af7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771" y="4094747"/>
            <a:ext cx="296875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48.99 feet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4744" y="2238375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07fc0815ebc50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767" y="2194560"/>
            <a:ext cx="839533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20301" y="2238375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18" y="2363343"/>
            <a:ext cx="641413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9232" y="2238375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f4a366969adde4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164" y="2350960"/>
            <a:ext cx="651319" cy="2352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47483" y="2238375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43fbcf2c2a45ea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415" y="2363343"/>
            <a:ext cx="609219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83634" y="2238375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3506" y="2148173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e9fde38d04c0ca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529" y="2103120"/>
            <a:ext cx="837057" cy="5473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6586" y="2148173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104" y="2273141"/>
            <a:ext cx="641413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5517" y="2148173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723048b2d1c488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449" y="2260758"/>
            <a:ext cx="653796" cy="2352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46245" y="2148173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848bbba5727756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177" y="2273141"/>
            <a:ext cx="611695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84872" y="2148173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318" y="2975038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8" name="Picture 17" descr="e81a928ba8ce6d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6461" y="3035141"/>
            <a:ext cx="2872740" cy="309372"/>
          </a:xfrm>
          <a:prstGeom prst="rect">
            <a:avLst/>
          </a:prstGeom>
        </p:spPr>
      </p:pic>
      <p:pic>
        <p:nvPicPr>
          <p:cNvPr id="19" name="Picture 18" descr="aafef2d9b5795f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7182" y="3631310"/>
            <a:ext cx="1453896" cy="2529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9011" y="3717036"/>
            <a:ext cx="2037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First order:  </a:t>
            </a:r>
          </a:p>
        </p:txBody>
      </p:sp>
      <p:pic>
        <p:nvPicPr>
          <p:cNvPr id="12" name="Picture 11" descr="db2cb275f08ab7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777" y="3854624"/>
            <a:ext cx="2919364" cy="212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49011" y="4219956"/>
            <a:ext cx="2490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Second order:  </a:t>
            </a:r>
          </a:p>
        </p:txBody>
      </p:sp>
      <p:pic>
        <p:nvPicPr>
          <p:cNvPr id="14" name="Picture 13" descr="ecde91c60d696d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885" y="4355211"/>
            <a:ext cx="2760678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49011" y="4722876"/>
            <a:ext cx="88006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Both say "plus" and "for each". What repeats is different.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9437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23 dollars and 31 dollars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e7af367fc956f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86484"/>
            <a:ext cx="46634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93976" y="1495044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368514c03b325e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284" y="1612391"/>
            <a:ext cx="810768" cy="222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15493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3" name="Picture 12" descr="76e92664c8540a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112263"/>
            <a:ext cx="807720" cy="5425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35352" y="215493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5" name="Picture 14" descr="0531a46c557d60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60" y="2270759"/>
            <a:ext cx="908304" cy="225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03964" y="215493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7" name="Picture 16" descr="db6b9bf3d6868ca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05" y="2273807"/>
            <a:ext cx="649224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2881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9" name="Picture 18" descr="2ccaff4dbf2c8e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2837687"/>
            <a:ext cx="841248" cy="545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68880" y="2881883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1" name="Picture 20" descr="bd1f822a1acce5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188" y="2997707"/>
            <a:ext cx="646176" cy="2255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75364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ca3738318bc6ad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1805" y="2993135"/>
            <a:ext cx="630936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22741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5" name="Picture 24" descr="26463fb98544f3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182" y="3000755"/>
            <a:ext cx="609600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20" y="354329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43299"/>
            <a:ext cx="9544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square room of side 10 feet is carpeted at 2.65 dollars a square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982211"/>
            <a:ext cx="80930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foot, with a flat 55 dollars for fitting. Find the total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65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30" name="Picture 29" descr="51cdd467e13c212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7632" y="4631436"/>
            <a:ext cx="162763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55264" y="4576571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32" name="Picture 31" descr="213bf21424f7f3b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5572" y="4695444"/>
            <a:ext cx="64617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61748" y="4576571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34" name="Picture 33" descr="393881ab0a53049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2089" y="4657344"/>
            <a:ext cx="612648" cy="2956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0120" y="517093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170931"/>
            <a:ext cx="9851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gym charges 25 dollars to join plus 8 dollars for each of 6 classes.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609844"/>
            <a:ext cx="2861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