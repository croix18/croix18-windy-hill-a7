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37.xml"/><Relationship Id="rId4" Type="http://schemas.openxmlformats.org/officeDocument/2006/relationships/slide" Target="slide71.xml"/><Relationship Id="rId5" Type="http://schemas.openxmlformats.org/officeDocument/2006/relationships/slide" Target="slide105.xml"/><Relationship Id="rId6" Type="http://schemas.openxmlformats.org/officeDocument/2006/relationships/slide" Target="slide139.xml"/><Relationship Id="rId7" Type="http://schemas.openxmlformats.org/officeDocument/2006/relationships/slide" Target="slide17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Relationship Id="rId4" Type="http://schemas.openxmlformats.org/officeDocument/2006/relationships/image" Target="../media/image6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image" Target="../media/image7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image" Target="../media/image4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image" Target="../media/image4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Relationship Id="rId3" Type="http://schemas.openxmlformats.org/officeDocument/2006/relationships/image" Target="../media/image88.png"/><Relationship Id="rId4" Type="http://schemas.openxmlformats.org/officeDocument/2006/relationships/image" Target="../media/image8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Relationship Id="rId3" Type="http://schemas.openxmlformats.org/officeDocument/2006/relationships/image" Target="../media/image91.png"/><Relationship Id="rId4" Type="http://schemas.openxmlformats.org/officeDocument/2006/relationships/image" Target="../media/image9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Relationship Id="rId3" Type="http://schemas.openxmlformats.org/officeDocument/2006/relationships/image" Target="../media/image94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Relationship Id="rId3" Type="http://schemas.openxmlformats.org/officeDocument/2006/relationships/image" Target="../media/image94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Relationship Id="rId3" Type="http://schemas.openxmlformats.org/officeDocument/2006/relationships/image" Target="../media/image96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Relationship Id="rId3" Type="http://schemas.openxmlformats.org/officeDocument/2006/relationships/image" Target="../media/image98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Relationship Id="rId3" Type="http://schemas.openxmlformats.org/officeDocument/2006/relationships/image" Target="../media/image100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Relationship Id="rId3" Type="http://schemas.openxmlformats.org/officeDocument/2006/relationships/image" Target="../media/image102.png"/><Relationship Id="rId4" Type="http://schemas.openxmlformats.org/officeDocument/2006/relationships/image" Target="../media/image103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Relationship Id="rId3" Type="http://schemas.openxmlformats.org/officeDocument/2006/relationships/image" Target="../media/image105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png"/><Relationship Id="rId3" Type="http://schemas.openxmlformats.org/officeDocument/2006/relationships/image" Target="../media/image107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Relationship Id="rId3" Type="http://schemas.openxmlformats.org/officeDocument/2006/relationships/image" Target="../media/image109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Relationship Id="rId3" Type="http://schemas.openxmlformats.org/officeDocument/2006/relationships/image" Target="../media/image111.png"/><Relationship Id="rId4" Type="http://schemas.openxmlformats.org/officeDocument/2006/relationships/image" Target="../media/image11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3.png"/><Relationship Id="rId3" Type="http://schemas.openxmlformats.org/officeDocument/2006/relationships/image" Target="../media/image114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Relationship Id="rId3" Type="http://schemas.openxmlformats.org/officeDocument/2006/relationships/image" Target="../media/image116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7.png"/><Relationship Id="rId3" Type="http://schemas.openxmlformats.org/officeDocument/2006/relationships/image" Target="../media/image11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Relationship Id="rId3" Type="http://schemas.openxmlformats.org/officeDocument/2006/relationships/image" Target="../media/image120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Relationship Id="rId3" Type="http://schemas.openxmlformats.org/officeDocument/2006/relationships/image" Target="../media/image126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Relationship Id="rId3" Type="http://schemas.openxmlformats.org/officeDocument/2006/relationships/image" Target="../media/image128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9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Relationship Id="rId3" Type="http://schemas.openxmlformats.org/officeDocument/2006/relationships/image" Target="../media/image132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Relationship Id="rId3" Type="http://schemas.openxmlformats.org/officeDocument/2006/relationships/image" Target="../media/image134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5.png"/><Relationship Id="rId3" Type="http://schemas.openxmlformats.org/officeDocument/2006/relationships/image" Target="../media/image136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Relationship Id="rId3" Type="http://schemas.openxmlformats.org/officeDocument/2006/relationships/image" Target="../media/image138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9.png"/><Relationship Id="rId3" Type="http://schemas.openxmlformats.org/officeDocument/2006/relationships/image" Target="../media/image140.png"/><Relationship Id="rId4" Type="http://schemas.openxmlformats.org/officeDocument/2006/relationships/image" Target="../media/image141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9.png"/><Relationship Id="rId3" Type="http://schemas.openxmlformats.org/officeDocument/2006/relationships/image" Target="../media/image140.png"/><Relationship Id="rId4" Type="http://schemas.openxmlformats.org/officeDocument/2006/relationships/image" Target="../media/image141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2.png"/><Relationship Id="rId3" Type="http://schemas.openxmlformats.org/officeDocument/2006/relationships/image" Target="../media/image143.png"/><Relationship Id="rId4" Type="http://schemas.openxmlformats.org/officeDocument/2006/relationships/image" Target="../media/image144.png"/><Relationship Id="rId5" Type="http://schemas.openxmlformats.org/officeDocument/2006/relationships/image" Target="../media/image145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6.png"/><Relationship Id="rId3" Type="http://schemas.openxmlformats.org/officeDocument/2006/relationships/image" Target="../media/image147.png"/><Relationship Id="rId4" Type="http://schemas.openxmlformats.org/officeDocument/2006/relationships/image" Target="../media/image148.png"/><Relationship Id="rId5" Type="http://schemas.openxmlformats.org/officeDocument/2006/relationships/image" Target="../media/image149.png"/><Relationship Id="rId6" Type="http://schemas.openxmlformats.org/officeDocument/2006/relationships/image" Target="../media/image150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1.png"/><Relationship Id="rId3" Type="http://schemas.openxmlformats.org/officeDocument/2006/relationships/image" Target="../media/image152.png"/><Relationship Id="rId4" Type="http://schemas.openxmlformats.org/officeDocument/2006/relationships/image" Target="../media/image153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4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5.png"/><Relationship Id="rId3" Type="http://schemas.openxmlformats.org/officeDocument/2006/relationships/image" Target="../media/image143.png"/><Relationship Id="rId4" Type="http://schemas.openxmlformats.org/officeDocument/2006/relationships/image" Target="../media/image156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7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8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9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0.png"/><Relationship Id="rId3" Type="http://schemas.openxmlformats.org/officeDocument/2006/relationships/image" Target="../media/image161.png"/><Relationship Id="rId4" Type="http://schemas.openxmlformats.org/officeDocument/2006/relationships/image" Target="../media/image162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3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4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5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6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7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8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3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4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6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7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8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0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Relationship Id="rId3" Type="http://schemas.openxmlformats.org/officeDocument/2006/relationships/image" Target="../media/image182.png"/><Relationship Id="rId4" Type="http://schemas.openxmlformats.org/officeDocument/2006/relationships/image" Target="../media/image183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Relationship Id="rId3" Type="http://schemas.openxmlformats.org/officeDocument/2006/relationships/image" Target="../media/image182.png"/><Relationship Id="rId4" Type="http://schemas.openxmlformats.org/officeDocument/2006/relationships/image" Target="../media/image183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4.png"/><Relationship Id="rId3" Type="http://schemas.openxmlformats.org/officeDocument/2006/relationships/image" Target="../media/image185.png"/><Relationship Id="rId4" Type="http://schemas.openxmlformats.org/officeDocument/2006/relationships/image" Target="../media/image186.png"/><Relationship Id="rId5" Type="http://schemas.openxmlformats.org/officeDocument/2006/relationships/image" Target="../media/image187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Relationship Id="rId3" Type="http://schemas.openxmlformats.org/officeDocument/2006/relationships/image" Target="../media/image189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0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1.png"/><Relationship Id="rId3" Type="http://schemas.openxmlformats.org/officeDocument/2006/relationships/image" Target="../media/image192.png"/><Relationship Id="rId4" Type="http://schemas.openxmlformats.org/officeDocument/2006/relationships/image" Target="../media/image193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4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5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7.png"/><Relationship Id="rId3" Type="http://schemas.openxmlformats.org/officeDocument/2006/relationships/image" Target="../media/image198.png"/><Relationship Id="rId4" Type="http://schemas.openxmlformats.org/officeDocument/2006/relationships/image" Target="../media/image199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0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2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3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4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6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7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8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9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0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1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2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3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4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5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6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7.png"/><Relationship Id="rId3" Type="http://schemas.openxmlformats.org/officeDocument/2006/relationships/image" Target="../media/image42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8.png"/><Relationship Id="rId3" Type="http://schemas.openxmlformats.org/officeDocument/2006/relationships/image" Target="../media/image42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9.png"/><Relationship Id="rId3" Type="http://schemas.openxmlformats.org/officeDocument/2006/relationships/image" Target="../media/image220.png"/><Relationship Id="rId4" Type="http://schemas.openxmlformats.org/officeDocument/2006/relationships/image" Target="../media/image221.png"/><Relationship Id="rId5" Type="http://schemas.openxmlformats.org/officeDocument/2006/relationships/image" Target="../media/image222.png"/><Relationship Id="rId6" Type="http://schemas.openxmlformats.org/officeDocument/2006/relationships/image" Target="../media/image223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9.png"/><Relationship Id="rId3" Type="http://schemas.openxmlformats.org/officeDocument/2006/relationships/image" Target="../media/image220.png"/><Relationship Id="rId4" Type="http://schemas.openxmlformats.org/officeDocument/2006/relationships/image" Target="../media/image221.png"/><Relationship Id="rId5" Type="http://schemas.openxmlformats.org/officeDocument/2006/relationships/image" Target="../media/image222.png"/><Relationship Id="rId6" Type="http://schemas.openxmlformats.org/officeDocument/2006/relationships/image" Target="../media/image223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4.png"/><Relationship Id="rId3" Type="http://schemas.openxmlformats.org/officeDocument/2006/relationships/image" Target="../media/image225.png"/><Relationship Id="rId4" Type="http://schemas.openxmlformats.org/officeDocument/2006/relationships/image" Target="../media/image226.png"/><Relationship Id="rId5" Type="http://schemas.openxmlformats.org/officeDocument/2006/relationships/image" Target="../media/image227.png"/><Relationship Id="rId6" Type="http://schemas.openxmlformats.org/officeDocument/2006/relationships/image" Target="../media/image228.png"/><Relationship Id="rId7" Type="http://schemas.openxmlformats.org/officeDocument/2006/relationships/image" Target="../media/image229.png"/><Relationship Id="rId8" Type="http://schemas.openxmlformats.org/officeDocument/2006/relationships/image" Target="../media/image230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1.png"/><Relationship Id="rId3" Type="http://schemas.openxmlformats.org/officeDocument/2006/relationships/image" Target="../media/image232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3.png"/><Relationship Id="rId3" Type="http://schemas.openxmlformats.org/officeDocument/2006/relationships/image" Target="../media/image234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5.png"/><Relationship Id="rId3" Type="http://schemas.openxmlformats.org/officeDocument/2006/relationships/image" Target="../media/image236.png"/><Relationship Id="rId4" Type="http://schemas.openxmlformats.org/officeDocument/2006/relationships/image" Target="../media/image237.png"/><Relationship Id="rId5" Type="http://schemas.openxmlformats.org/officeDocument/2006/relationships/image" Target="../media/image238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9.png"/><Relationship Id="rId3" Type="http://schemas.openxmlformats.org/officeDocument/2006/relationships/image" Target="../media/image240.png"/><Relationship Id="rId4" Type="http://schemas.openxmlformats.org/officeDocument/2006/relationships/image" Target="../media/image241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2.png"/><Relationship Id="rId3" Type="http://schemas.openxmlformats.org/officeDocument/2006/relationships/image" Target="../media/image243.png"/><Relationship Id="rId4" Type="http://schemas.openxmlformats.org/officeDocument/2006/relationships/image" Target="../media/image244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5.png"/><Relationship Id="rId3" Type="http://schemas.openxmlformats.org/officeDocument/2006/relationships/image" Target="../media/image246.png"/><Relationship Id="rId4" Type="http://schemas.openxmlformats.org/officeDocument/2006/relationships/image" Target="../media/image24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8.png"/><Relationship Id="rId3" Type="http://schemas.openxmlformats.org/officeDocument/2006/relationships/image" Target="../media/image249.png"/><Relationship Id="rId4" Type="http://schemas.openxmlformats.org/officeDocument/2006/relationships/image" Target="../media/image250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Relationship Id="rId3" Type="http://schemas.openxmlformats.org/officeDocument/2006/relationships/image" Target="../media/image252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3.png"/><Relationship Id="rId3" Type="http://schemas.openxmlformats.org/officeDocument/2006/relationships/image" Target="../media/image254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5.png"/><Relationship Id="rId3" Type="http://schemas.openxmlformats.org/officeDocument/2006/relationships/image" Target="../media/image256.png"/><Relationship Id="rId4" Type="http://schemas.openxmlformats.org/officeDocument/2006/relationships/image" Target="../media/image257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8.png"/><Relationship Id="rId3" Type="http://schemas.openxmlformats.org/officeDocument/2006/relationships/image" Target="../media/image256.png"/><Relationship Id="rId4" Type="http://schemas.openxmlformats.org/officeDocument/2006/relationships/image" Target="../media/image257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9.png"/><Relationship Id="rId3" Type="http://schemas.openxmlformats.org/officeDocument/2006/relationships/image" Target="../media/image260.png"/><Relationship Id="rId4" Type="http://schemas.openxmlformats.org/officeDocument/2006/relationships/image" Target="../media/image261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2.png"/><Relationship Id="rId3" Type="http://schemas.openxmlformats.org/officeDocument/2006/relationships/image" Target="../media/image260.png"/><Relationship Id="rId4" Type="http://schemas.openxmlformats.org/officeDocument/2006/relationships/image" Target="../media/image261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3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4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5.png"/><Relationship Id="rId3" Type="http://schemas.openxmlformats.org/officeDocument/2006/relationships/image" Target="../media/image266.png"/><Relationship Id="rId4" Type="http://schemas.openxmlformats.org/officeDocument/2006/relationships/image" Target="../media/image267.png"/><Relationship Id="rId5" Type="http://schemas.openxmlformats.org/officeDocument/2006/relationships/image" Target="../media/image268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9.png"/><Relationship Id="rId3" Type="http://schemas.openxmlformats.org/officeDocument/2006/relationships/image" Target="../media/image270.png"/><Relationship Id="rId4" Type="http://schemas.openxmlformats.org/officeDocument/2006/relationships/image" Target="../media/image271.png"/><Relationship Id="rId5" Type="http://schemas.openxmlformats.org/officeDocument/2006/relationships/image" Target="../media/image272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78308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13969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800" b="1" i="0">
                <a:solidFill>
                  <a:srgbClr val="1A1A1A"/>
                </a:solidFill>
                <a:latin typeface="Century Schoolbook"/>
              </a:rPr>
              <a:t>Solving Problems with Rational Numbers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34670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42900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703320"/>
            <a:ext cx="106070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Six lessons in teaching order  ·  the next slide jumps to each 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— Solving Problems with Rational Numbers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Contents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Click a lesson to jump to it. Each lesson numbers its slides from 1, as its Teacher Edition does.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— Solving Problems with Rational Numbers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>
            <a:hlinkClick action="ppaction://hlinksldjump" r:id="rId2"/>
          </p:cNvPr>
          <p:cNvSpPr txBox="1"/>
          <p:nvPr/>
        </p:nvSpPr>
        <p:spPr>
          <a:xfrm>
            <a:off x="1143000" y="178308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4.01</a:t>
            </a:r>
          </a:p>
        </p:txBody>
      </p:sp>
      <p:sp>
        <p:nvSpPr>
          <p:cNvPr id="10" name="TextBox 9">
            <a:hlinkClick action="ppaction://hlinksldjump" r:id="rId2"/>
          </p:cNvPr>
          <p:cNvSpPr txBox="1"/>
          <p:nvPr/>
        </p:nvSpPr>
        <p:spPr>
          <a:xfrm>
            <a:off x="2560320" y="178308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Adding and Subtracting in Scientific Notation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555480" y="178308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3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43000" y="224028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hlinkClick action="ppaction://hlinksldjump" r:id="rId3"/>
          </p:cNvPr>
          <p:cNvSpPr txBox="1"/>
          <p:nvPr/>
        </p:nvSpPr>
        <p:spPr>
          <a:xfrm>
            <a:off x="1143000" y="220370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4.02–03</a:t>
            </a:r>
          </a:p>
        </p:txBody>
      </p:sp>
      <p:sp>
        <p:nvSpPr>
          <p:cNvPr id="14" name="TextBox 13">
            <a:hlinkClick action="ppaction://hlinksldjump" r:id="rId3"/>
          </p:cNvPr>
          <p:cNvSpPr txBox="1"/>
          <p:nvPr/>
        </p:nvSpPr>
        <p:spPr>
          <a:xfrm>
            <a:off x="2560320" y="220370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Multiplying and Dividing in Scientific Notation</a:t>
            </a:r>
          </a:p>
        </p:txBody>
      </p:sp>
      <p:sp>
        <p:nvSpPr>
          <p:cNvPr id="15" name="TextBox 14">
            <a:hlinkClick action="ppaction://hlinksldjump" r:id="rId3"/>
          </p:cNvPr>
          <p:cNvSpPr txBox="1"/>
          <p:nvPr/>
        </p:nvSpPr>
        <p:spPr>
          <a:xfrm>
            <a:off x="9555480" y="220370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37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43000" y="266090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hlinkClick action="ppaction://hlinksldjump" r:id="rId4"/>
          </p:cNvPr>
          <p:cNvSpPr txBox="1"/>
          <p:nvPr/>
        </p:nvSpPr>
        <p:spPr>
          <a:xfrm>
            <a:off x="1143000" y="262432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4.04</a:t>
            </a:r>
          </a:p>
        </p:txBody>
      </p:sp>
      <p:sp>
        <p:nvSpPr>
          <p:cNvPr id="18" name="TextBox 17">
            <a:hlinkClick action="ppaction://hlinksldjump" r:id="rId4"/>
          </p:cNvPr>
          <p:cNvSpPr txBox="1"/>
          <p:nvPr/>
        </p:nvSpPr>
        <p:spPr>
          <a:xfrm>
            <a:off x="2560320" y="262432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Real-World Problems and Significant Digits</a:t>
            </a:r>
          </a:p>
        </p:txBody>
      </p:sp>
      <p:sp>
        <p:nvSpPr>
          <p:cNvPr id="19" name="TextBox 18">
            <a:hlinkClick action="ppaction://hlinksldjump" r:id="rId4"/>
          </p:cNvPr>
          <p:cNvSpPr txBox="1"/>
          <p:nvPr/>
        </p:nvSpPr>
        <p:spPr>
          <a:xfrm>
            <a:off x="9555480" y="262432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71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143000" y="308152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hlinkClick action="ppaction://hlinksldjump" r:id="rId5"/>
          </p:cNvPr>
          <p:cNvSpPr txBox="1"/>
          <p:nvPr/>
        </p:nvSpPr>
        <p:spPr>
          <a:xfrm>
            <a:off x="1143000" y="304495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4.05</a:t>
            </a:r>
          </a:p>
        </p:txBody>
      </p:sp>
      <p:sp>
        <p:nvSpPr>
          <p:cNvPr id="22" name="TextBox 21">
            <a:hlinkClick action="ppaction://hlinksldjump" r:id="rId5"/>
          </p:cNvPr>
          <p:cNvSpPr txBox="1"/>
          <p:nvPr/>
        </p:nvSpPr>
        <p:spPr>
          <a:xfrm>
            <a:off x="2560320" y="304495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Evaluating Expressions with Radicals</a:t>
            </a:r>
          </a:p>
        </p:txBody>
      </p:sp>
      <p:sp>
        <p:nvSpPr>
          <p:cNvPr id="23" name="TextBox 22">
            <a:hlinkClick action="ppaction://hlinksldjump" r:id="rId5"/>
          </p:cNvPr>
          <p:cNvSpPr txBox="1"/>
          <p:nvPr/>
        </p:nvSpPr>
        <p:spPr>
          <a:xfrm>
            <a:off x="9555480" y="304495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105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143000" y="350215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hlinkClick action="ppaction://hlinksldjump" r:id="rId6"/>
          </p:cNvPr>
          <p:cNvSpPr txBox="1"/>
          <p:nvPr/>
        </p:nvSpPr>
        <p:spPr>
          <a:xfrm>
            <a:off x="1143000" y="346557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4.06</a:t>
            </a:r>
          </a:p>
        </p:txBody>
      </p:sp>
      <p:sp>
        <p:nvSpPr>
          <p:cNvPr id="26" name="TextBox 25">
            <a:hlinkClick action="ppaction://hlinksldjump" r:id="rId6"/>
          </p:cNvPr>
          <p:cNvSpPr txBox="1"/>
          <p:nvPr/>
        </p:nvSpPr>
        <p:spPr>
          <a:xfrm>
            <a:off x="2560320" y="346557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Order of Operations with Radicals</a:t>
            </a:r>
          </a:p>
        </p:txBody>
      </p:sp>
      <p:sp>
        <p:nvSpPr>
          <p:cNvPr id="27" name="TextBox 26">
            <a:hlinkClick action="ppaction://hlinksldjump" r:id="rId6"/>
          </p:cNvPr>
          <p:cNvSpPr txBox="1"/>
          <p:nvPr/>
        </p:nvSpPr>
        <p:spPr>
          <a:xfrm>
            <a:off x="9555480" y="346557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139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43000" y="392277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hlinkClick action="ppaction://hlinksldjump" r:id="rId7"/>
          </p:cNvPr>
          <p:cNvSpPr txBox="1"/>
          <p:nvPr/>
        </p:nvSpPr>
        <p:spPr>
          <a:xfrm>
            <a:off x="1143000" y="388620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4.07–08</a:t>
            </a:r>
          </a:p>
        </p:txBody>
      </p:sp>
      <p:sp>
        <p:nvSpPr>
          <p:cNvPr id="30" name="TextBox 29">
            <a:hlinkClick action="ppaction://hlinksldjump" r:id="rId7"/>
          </p:cNvPr>
          <p:cNvSpPr txBox="1"/>
          <p:nvPr/>
        </p:nvSpPr>
        <p:spPr>
          <a:xfrm>
            <a:off x="2560320" y="388620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Real-World Order of Operations</a:t>
            </a:r>
          </a:p>
        </p:txBody>
      </p:sp>
      <p:sp>
        <p:nvSpPr>
          <p:cNvPr id="31" name="TextBox 30">
            <a:hlinkClick action="ppaction://hlinksldjump" r:id="rId7"/>
          </p:cNvPr>
          <p:cNvSpPr txBox="1"/>
          <p:nvPr/>
        </p:nvSpPr>
        <p:spPr>
          <a:xfrm>
            <a:off x="9555480" y="388620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173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143000" y="434340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Adding and Subtracting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add and subtract two numbers written in scientific notation, and write the answer in scientific notation.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Last unit you learned to write numbers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you add and subtract them — the powers must match.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5991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0.00062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372868"/>
            <a:ext cx="4573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How many times larger is  </a:t>
            </a:r>
          </a:p>
        </p:txBody>
      </p:sp>
      <p:pic>
        <p:nvPicPr>
          <p:cNvPr id="11" name="Picture 10" descr="6e4449454b7e3e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0464" y="2461260"/>
            <a:ext cx="890016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00480" y="2372868"/>
            <a:ext cx="12241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3" name="Picture 12" descr="7da0da260d230a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7436" y="2458212"/>
            <a:ext cx="905256" cy="286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192692" y="2372868"/>
            <a:ext cx="433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6" name="Picture 15" descr="c100c4232230d0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009900"/>
            <a:ext cx="853440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874519" y="3598164"/>
            <a:ext cx="28989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Find the sum:  </a:t>
            </a:r>
          </a:p>
        </p:txBody>
      </p:sp>
      <p:pic>
        <p:nvPicPr>
          <p:cNvPr id="18" name="Picture 17" descr="bdc1cddc07790a7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6285" y="3706368"/>
            <a:ext cx="1298448" cy="24079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5991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0.00062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7504" y="1760220"/>
            <a:ext cx="15461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6.2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372868"/>
            <a:ext cx="4573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How many times larger is  </a:t>
            </a:r>
          </a:p>
        </p:txBody>
      </p:sp>
      <p:pic>
        <p:nvPicPr>
          <p:cNvPr id="12" name="Picture 11" descr="6e4449454b7e3e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0464" y="2461260"/>
            <a:ext cx="890016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00480" y="2372868"/>
            <a:ext cx="12241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4" name="Picture 13" descr="7da0da260d230a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7436" y="2458212"/>
            <a:ext cx="905256" cy="2865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192692" y="2372868"/>
            <a:ext cx="433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38027" y="2372868"/>
            <a:ext cx="1007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298551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8" name="Picture 17" descr="c100c4232230d0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009900"/>
            <a:ext cx="853440" cy="40843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04379" y="2985516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3598164"/>
            <a:ext cx="28989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Find the sum:  </a:t>
            </a:r>
          </a:p>
        </p:txBody>
      </p:sp>
      <p:pic>
        <p:nvPicPr>
          <p:cNvPr id="21" name="Picture 20" descr="bdc1cddc07790a7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6285" y="3706368"/>
            <a:ext cx="1298448" cy="24079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83373" y="3598164"/>
            <a:ext cx="8218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1.69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A power of ten is a place value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874520" y="2340864"/>
          <a:ext cx="841248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6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6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6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6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ten 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hundred 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millions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2" name="Picture 11" descr="f39e13154060a8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1523" y="3375660"/>
            <a:ext cx="4538472" cy="335280"/>
          </a:xfrm>
          <a:prstGeom prst="rect">
            <a:avLst/>
          </a:prstGeom>
        </p:spPr>
      </p:pic>
      <p:pic>
        <p:nvPicPr>
          <p:cNvPr id="13" name="Picture 12" descr="09bdd4fb912377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9675" y="4050791"/>
            <a:ext cx="8202168" cy="3566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77316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Two numbers can be added only when they carry the same power of ten.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Same power: add or subtract the coefficients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f1eddec5041a2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644" y="2340864"/>
            <a:ext cx="5666232" cy="411480"/>
          </a:xfrm>
          <a:prstGeom prst="rect">
            <a:avLst/>
          </a:prstGeom>
        </p:spPr>
      </p:pic>
      <p:pic>
        <p:nvPicPr>
          <p:cNvPr id="11" name="Picture 10" descr="84f16e9d72a5ca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9048" y="3028188"/>
            <a:ext cx="7583424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77647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Add or subtract the coefficients. The power of ten does not change.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50799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Then check the coefficient: if it is not between 1 and 10, the answer is not finished.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Different powers: rewrite one of them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efa01ffb8792c2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340864"/>
            <a:ext cx="3819144" cy="411480"/>
          </a:xfrm>
          <a:prstGeom prst="rect">
            <a:avLst/>
          </a:prstGeom>
        </p:spPr>
      </p:pic>
      <p:pic>
        <p:nvPicPr>
          <p:cNvPr id="11" name="Picture 10" descr="cfbb3562680e85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7668" y="3026664"/>
            <a:ext cx="6806184" cy="411480"/>
          </a:xfrm>
          <a:prstGeom prst="rect">
            <a:avLst/>
          </a:prstGeom>
        </p:spPr>
      </p:pic>
      <p:pic>
        <p:nvPicPr>
          <p:cNvPr id="12" name="Picture 11" descr="783fbc1bfea8bc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6359" y="3712464"/>
            <a:ext cx="6065520" cy="411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531879" y="3689604"/>
            <a:ext cx="18800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never   </a:t>
            </a:r>
          </a:p>
        </p:txBody>
      </p:sp>
      <p:pic>
        <p:nvPicPr>
          <p:cNvPr id="14" name="Picture 13" descr="23b08f458fe34a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4792" y="3742944"/>
            <a:ext cx="1420368" cy="350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46227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Rewrite one number so both carry the same power of ten, then add or subtract the coefficients.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66928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Exponent up one, decimal point one place left. The value does not move.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power, and the answer is not finished.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b322f8f789aa08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06168"/>
            <a:ext cx="3816095" cy="4053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Add. Write the answer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78e26f3a087b33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864352" cy="4023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50352" y="1892808"/>
            <a:ext cx="323392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same power: add the coefficients</a:t>
            </a:r>
          </a:p>
        </p:txBody>
      </p:sp>
      <p:pic>
        <p:nvPicPr>
          <p:cNvPr id="11" name="Picture 10" descr="1cb28e2e28999f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6896"/>
            <a:ext cx="3642360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28360" y="2543556"/>
            <a:ext cx="545591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14.5 is not less than 10: point one place left, exponent up one</a:t>
            </a:r>
          </a:p>
        </p:txBody>
      </p:sp>
      <p:pic>
        <p:nvPicPr>
          <p:cNvPr id="13" name="Picture 12" descr="ce53c7f1db8afdc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21735"/>
            <a:ext cx="1978152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64152" y="3160775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 in standard form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1.45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2ae36fee79b20f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3383" y="2194560"/>
            <a:ext cx="5254752" cy="5120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dab37c3d4cb37a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1860" y="2194560"/>
            <a:ext cx="5257800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29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12.3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then repair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1.23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Different powers, and a subtraction.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4549981a84cc89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03120"/>
            <a:ext cx="3816095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205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Subtract. Write the answer in scientific notation.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0ba903ac78fff3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483864" cy="353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69864" y="1868424"/>
            <a:ext cx="561441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rewrite over 10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pic>
        <p:nvPicPr>
          <p:cNvPr id="11" name="Picture 10" descr="aed5738787927d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6071616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57616" y="2525268"/>
            <a:ext cx="302666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same power: subtract the coefficients</a:t>
            </a:r>
          </a:p>
        </p:txBody>
      </p:sp>
      <p:pic>
        <p:nvPicPr>
          <p:cNvPr id="13" name="Picture 12" descr="7c3a73d2cb750c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3928"/>
            <a:ext cx="5349240" cy="3383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635240" y="3174492"/>
            <a:ext cx="374903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 in standard form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6.85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e4f0a8415ed569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3383" y="2194560"/>
            <a:ext cx="5254752" cy="5181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6ee0cf26c6675a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1860" y="2194560"/>
            <a:ext cx="5257800" cy="52120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3580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0.09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comes off 5.6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5.51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3cd7ad48ef74b5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4560"/>
            <a:ext cx="3816095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Same power.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2e4a44f0bcfa93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103120"/>
            <a:ext cx="3819144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add the coefficients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7.3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2626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stadium sold  </a:t>
            </a:r>
          </a:p>
        </p:txBody>
      </p:sp>
      <p:pic>
        <p:nvPicPr>
          <p:cNvPr id="10" name="Picture 9" descr="3a4ce939f4597d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3705" y="1937003"/>
            <a:ext cx="1161288" cy="286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84993" y="1851660"/>
            <a:ext cx="2897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tickets on Friday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64308"/>
            <a:ext cx="9524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and  </a:t>
            </a:r>
          </a:p>
        </p:txBody>
      </p:sp>
      <p:pic>
        <p:nvPicPr>
          <p:cNvPr id="13" name="Picture 12" descr="cf4775b41686db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9737" y="2549652"/>
            <a:ext cx="1152144" cy="286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01881" y="2464308"/>
            <a:ext cx="6354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on Saturday. Each ticket cost 38 dollars.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tickets were sold on the two days?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2626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stadium sold  </a:t>
            </a:r>
          </a:p>
        </p:txBody>
      </p:sp>
      <p:pic>
        <p:nvPicPr>
          <p:cNvPr id="10" name="Picture 9" descr="6c4bcb516da5e5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3705" y="1938527"/>
            <a:ext cx="1164336" cy="283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88041" y="1851660"/>
            <a:ext cx="2897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tickets on Friday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64308"/>
            <a:ext cx="9524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and  </a:t>
            </a:r>
          </a:p>
        </p:txBody>
      </p:sp>
      <p:pic>
        <p:nvPicPr>
          <p:cNvPr id="13" name="Picture 12" descr="959b0ab7310b42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9737" y="2551176"/>
            <a:ext cx="1155192" cy="283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04929" y="2464308"/>
            <a:ext cx="6354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on Saturday. Each ticket cost 38 dollars.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tickets were sold on the two days?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73035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4.2 + 3.5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7.7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01e04974dac9eb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2439" y="2194560"/>
            <a:ext cx="3596640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Finish the answer.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d662bd9034d4b28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0916" y="2103120"/>
            <a:ext cx="3599688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13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is not finished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340f3053f5991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4560"/>
            <a:ext cx="3816095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Finish the answer.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2450f0cef92f51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104643"/>
            <a:ext cx="3819144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0.7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8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is not finished either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d60eac1f99916e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4560"/>
            <a:ext cx="3816095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sum?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4.7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4.7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3.413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3.53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41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f420607bc24c70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103120"/>
            <a:ext cx="3819144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sum?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4.7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4.7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3.413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3.53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3.413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f600c7d1ad07bb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4560"/>
            <a:ext cx="3816095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sum, written in scientific notation?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1.23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1.23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41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11c6b03d538cb7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103120"/>
            <a:ext cx="3819144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sum, written in scientific notation?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1.23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1.23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1.23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7996c8675edf51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2194560"/>
            <a:ext cx="4206240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one of them first.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0150b4a7c88f61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115" y="2104643"/>
            <a:ext cx="4209288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6.4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0.64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7.16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cbd13eb8faf9a4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2507" y="2194560"/>
            <a:ext cx="5556504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7100" y="2860547"/>
            <a:ext cx="3546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</a:t>
            </a:r>
          </a:p>
        </p:txBody>
      </p:sp>
      <p:pic>
        <p:nvPicPr>
          <p:cNvPr id="11" name="Picture 10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6567" y="2997707"/>
            <a:ext cx="19202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18591" y="2860547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the answer over 10</a:t>
            </a:r>
            <a:r>
              <a:rPr sz="1900" b="0" i="1" baseline="30000">
                <a:solidFill>
                  <a:srgbClr val="6B6B6B"/>
                </a:solidFill>
                <a:latin typeface="Century Schoolbook"/>
              </a:rPr>
              <a:t>6</a:t>
            </a:r>
            <a:r>
              <a:rPr sz="1900" b="0" i="1">
                <a:solidFill>
                  <a:srgbClr val="6B6B6B"/>
                </a:solidFill>
                <a:latin typeface="Century Schoolbook"/>
              </a:rPr>
              <a:t> first.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98fdf47dd4ead5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0984" y="2103120"/>
            <a:ext cx="5559552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7100" y="2766060"/>
            <a:ext cx="3546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</a:t>
            </a:r>
          </a:p>
        </p:txBody>
      </p:sp>
      <p:pic>
        <p:nvPicPr>
          <p:cNvPr id="11" name="Picture 10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6567" y="2903220"/>
            <a:ext cx="19202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18591" y="27660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5204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1.02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7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10.2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5.7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73846" y="2173224"/>
            <a:ext cx="25234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Devon writes  </a:t>
            </a:r>
          </a:p>
        </p:txBody>
      </p:sp>
      <p:pic>
        <p:nvPicPr>
          <p:cNvPr id="10" name="Picture 9" descr="82e722a216f1ae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0149" y="2194560"/>
            <a:ext cx="5657088" cy="4145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017237" y="2173224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Name the two mistakes he made, and give the correct sum.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Two mistakes, then the sum.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72322" y="2080260"/>
            <a:ext cx="25234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Devon writes  </a:t>
            </a:r>
          </a:p>
        </p:txBody>
      </p:sp>
      <p:pic>
        <p:nvPicPr>
          <p:cNvPr id="10" name="Picture 9" descr="6a5bd63b1555e6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8625" y="2103120"/>
            <a:ext cx="5660136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018761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Name the two mistakes he made, and give the correct sum.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4095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one mistake in the coefficients, one in the exponents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3.413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Add and subtract numbers written in scientific notation — HUR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LESSONS 2–3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Multiplying and Dividing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multiply and divide two numbers written in scientific notation, and write the answer in scientific notation.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powers of ten had to match before you could add.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 powers of ten do not have to match at all.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7655f1be3ef338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821180"/>
            <a:ext cx="3099816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500884"/>
            <a:ext cx="3704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2" name="Picture 11" descr="911d175e683476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165" y="2395728"/>
            <a:ext cx="469392" cy="6675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24154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d68e6e8f02f1f5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265932"/>
            <a:ext cx="853440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930396"/>
            <a:ext cx="3474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Find the quotient:  </a:t>
            </a:r>
          </a:p>
        </p:txBody>
      </p:sp>
      <p:pic>
        <p:nvPicPr>
          <p:cNvPr id="16" name="Picture 15" descr="57c14efe4619570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1575" y="3877056"/>
            <a:ext cx="417576" cy="56388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7655f1be3ef338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821180"/>
            <a:ext cx="3099816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6421" y="1760220"/>
            <a:ext cx="14594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6.2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500884"/>
            <a:ext cx="3704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3" name="Picture 12" descr="911d175e683476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165" y="2395728"/>
            <a:ext cx="469392" cy="667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60197" y="2372868"/>
            <a:ext cx="6525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4154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6" name="Picture 15" descr="d68e6e8f02f1f5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265932"/>
            <a:ext cx="853440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04379" y="3241548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930396"/>
            <a:ext cx="3474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Find the quotient:  </a:t>
            </a:r>
          </a:p>
        </p:txBody>
      </p:sp>
      <p:pic>
        <p:nvPicPr>
          <p:cNvPr id="19" name="Picture 18" descr="57c14efe4619570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1575" y="3877056"/>
            <a:ext cx="417576" cy="563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77791" y="3854196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both lines.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Multiplying: regroup, then use the laws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3d98347d24a5e7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4683" y="2340864"/>
            <a:ext cx="7312152" cy="411480"/>
          </a:xfrm>
          <a:prstGeom prst="rect">
            <a:avLst/>
          </a:prstGeom>
        </p:spPr>
      </p:pic>
      <p:pic>
        <p:nvPicPr>
          <p:cNvPr id="12" name="Picture 11" descr="cac393ebd07bcf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1941" y="3058668"/>
            <a:ext cx="1115568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87509" y="3003804"/>
            <a:ext cx="1977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never    </a:t>
            </a:r>
          </a:p>
        </p:txBody>
      </p:sp>
      <p:pic>
        <p:nvPicPr>
          <p:cNvPr id="14" name="Picture 13" descr="d56fc73065e54a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7706" y="3057144"/>
            <a:ext cx="1261872" cy="350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377647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Multiply the coefficients. Add the exponents — that is the product of powers law, not a new rule.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Dividing: the same move with the quotient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a3a168722c51c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4616" y="2340864"/>
            <a:ext cx="5352288" cy="819912"/>
          </a:xfrm>
          <a:prstGeom prst="rect">
            <a:avLst/>
          </a:prstGeom>
        </p:spPr>
      </p:pic>
      <p:pic>
        <p:nvPicPr>
          <p:cNvPr id="11" name="Picture 10" descr="a2db9260e26591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8040" y="3435095"/>
            <a:ext cx="5425440" cy="822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59638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Subtract the exponents, top minus bottom.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Finish the answer — both directions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c79c2afc3e471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788" y="2340864"/>
            <a:ext cx="6409944" cy="411480"/>
          </a:xfrm>
          <a:prstGeom prst="rect">
            <a:avLst/>
          </a:prstGeom>
        </p:spPr>
      </p:pic>
      <p:pic>
        <p:nvPicPr>
          <p:cNvPr id="11" name="Picture 10" descr="6e3a2fa74bbe54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9044" y="3026664"/>
            <a:ext cx="6123432" cy="822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18795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Every answer ends with a coefficient at least 1 and less than 10.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Multiplying, and the answer needs finishing.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7b4ae14dd86922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5696" y="2103120"/>
            <a:ext cx="3310128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Multiply. Write the answer in scientific notation.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255f5ba7a254ef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769608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55608" y="1895856"/>
            <a:ext cx="232867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regroup</a:t>
            </a:r>
          </a:p>
        </p:txBody>
      </p:sp>
      <p:pic>
        <p:nvPicPr>
          <p:cNvPr id="11" name="Picture 10" descr="6f84424baa8324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2992"/>
            <a:ext cx="1652016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38016" y="255117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the coefficients, add the exponents</a:t>
            </a:r>
          </a:p>
        </p:txBody>
      </p:sp>
      <p:pic>
        <p:nvPicPr>
          <p:cNvPr id="13" name="Picture 12" descr="faf479a8541eeb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0880"/>
            <a:ext cx="3166872" cy="353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52872" y="3179064"/>
            <a:ext cx="593140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27 is not less than 10: point one place left, exponent up 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2.7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945d13953f7af1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2691" y="2194560"/>
            <a:ext cx="4136136" cy="51816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02a20b9238011d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1168" y="2194560"/>
            <a:ext cx="4139183" cy="52120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3580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then repair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Multiplication and division in one expression.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d048c7fc436d66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1896" y="2103120"/>
            <a:ext cx="3157728" cy="8869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9300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 Write the answer in scientific notation.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6b3f0849106cd4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861560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47560" y="1897380"/>
            <a:ext cx="42367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top, regrouped</a:t>
            </a:r>
          </a:p>
        </p:txBody>
      </p:sp>
      <p:pic>
        <p:nvPicPr>
          <p:cNvPr id="11" name="Picture 10" descr="1c6ad9425b8dfd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3139440" cy="8260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25440" y="2790444"/>
            <a:ext cx="595883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divide the coefficients, subtract the exponents</a:t>
            </a:r>
          </a:p>
        </p:txBody>
      </p:sp>
      <p:pic>
        <p:nvPicPr>
          <p:cNvPr id="13" name="Picture 12" descr="6aefb1689d23fb3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706368"/>
            <a:ext cx="3133344" cy="353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19344" y="3654552"/>
            <a:ext cx="596493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finish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d9eedbeb2084bf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7284" y="2194560"/>
            <a:ext cx="3806952" cy="1109472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914658bc6d4d66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807" y="2194560"/>
            <a:ext cx="3803904" cy="1109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6240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24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8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a47a82f506d1e5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94560"/>
            <a:ext cx="2810256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Multiply the fronts, add the backs.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31fb752d70c627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108" y="2103120"/>
            <a:ext cx="2813304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· 2 and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2824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printer makes  </a:t>
            </a:r>
          </a:p>
        </p:txBody>
      </p:sp>
      <p:pic>
        <p:nvPicPr>
          <p:cNvPr id="10" name="Picture 9" descr="813d8c54303748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007" y="1938527"/>
            <a:ext cx="902208" cy="283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4215" y="1851660"/>
            <a:ext cx="27288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copies per hour.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64308"/>
            <a:ext cx="1927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 runs for  </a:t>
            </a:r>
          </a:p>
        </p:txBody>
      </p:sp>
      <p:pic>
        <p:nvPicPr>
          <p:cNvPr id="13" name="Picture 12" descr="39bd69d20e0cfe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4522" y="2551176"/>
            <a:ext cx="1155192" cy="283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79714" y="2464308"/>
            <a:ext cx="54883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hours. Paper costs 3 cents a sheet.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copies does it make?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2824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printer makes  </a:t>
            </a:r>
          </a:p>
        </p:txBody>
      </p:sp>
      <p:pic>
        <p:nvPicPr>
          <p:cNvPr id="10" name="Picture 9" descr="00df9fb5b7ec9f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007" y="1938527"/>
            <a:ext cx="905256" cy="283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7263" y="1851660"/>
            <a:ext cx="27288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copies per hour.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64308"/>
            <a:ext cx="1927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 runs for  </a:t>
            </a:r>
          </a:p>
        </p:txBody>
      </p:sp>
      <p:pic>
        <p:nvPicPr>
          <p:cNvPr id="13" name="Picture 12" descr="a80742e4b94b4b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4522" y="2551176"/>
            <a:ext cx="1155192" cy="283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79714" y="2464308"/>
            <a:ext cx="54883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hours. Paper costs 3 cents a sheet.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copies does it make?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73035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10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then finish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f43a30d4653d07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194560"/>
            <a:ext cx="1463040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Top minus bottom.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f69d270b84b836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0764" y="2103120"/>
            <a:ext cx="1459992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461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9.6 ÷ 1.2 and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8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÷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854a4a598c6527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7028" y="2194560"/>
            <a:ext cx="1807464" cy="8260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Finish the answer.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8bc77f296de0cf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8552" y="2103120"/>
            <a:ext cx="1804416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461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0.53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is not finished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5.3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c0f8266fbc7965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94560"/>
            <a:ext cx="2810256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product?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41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64c6147c2ce0e2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108" y="2103120"/>
            <a:ext cx="2813304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product?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6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f125fe26b9d135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94560"/>
            <a:ext cx="2810256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product, written in scientific notation?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41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ffd33f95921b24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108" y="2103120"/>
            <a:ext cx="2813304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product, written in scientific notation?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e525d712acf4b1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103" y="2194560"/>
            <a:ext cx="1353312" cy="8260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Top minus bottom, and the bottom is negative.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dd4e224a7fe9f3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7152" y="2103120"/>
            <a:ext cx="1347216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461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8 − (−4) =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cf1acb8271e6df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1" y="2194560"/>
            <a:ext cx="3328416" cy="819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7100" y="3265931"/>
            <a:ext cx="3546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</a:t>
            </a:r>
          </a:p>
        </p:txBody>
      </p:sp>
      <p:pic>
        <p:nvPicPr>
          <p:cNvPr id="11" name="Picture 10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6567" y="3403091"/>
            <a:ext cx="19202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18591" y="3265931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Look at the coefficients alone.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49829e386e3352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5028" y="2103120"/>
            <a:ext cx="3331464" cy="816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7100" y="3171444"/>
            <a:ext cx="3546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</a:t>
            </a:r>
          </a:p>
        </p:txBody>
      </p:sp>
      <p:pic>
        <p:nvPicPr>
          <p:cNvPr id="11" name="Picture 10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6567" y="3308604"/>
            <a:ext cx="19202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18591" y="3171444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92582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8.4 ÷ n = 4.2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8140" y="2378964"/>
            <a:ext cx="954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For  </a:t>
            </a:r>
          </a:p>
        </p:txBody>
      </p:sp>
      <p:pic>
        <p:nvPicPr>
          <p:cNvPr id="10" name="Picture 9" descr="497afcee60275d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5751" y="2194560"/>
            <a:ext cx="1463040" cy="8260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18791" y="2378964"/>
            <a:ext cx="29213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Marcus writes  </a:t>
            </a:r>
          </a:p>
        </p:txBody>
      </p:sp>
      <p:pic>
        <p:nvPicPr>
          <p:cNvPr id="12" name="Picture 11" descr="a61c108a2c4f32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3011" y="2430780"/>
            <a:ext cx="1420368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34964" y="3272028"/>
            <a:ext cx="2985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Sara writes  </a:t>
            </a:r>
          </a:p>
        </p:txBody>
      </p:sp>
      <p:pic>
        <p:nvPicPr>
          <p:cNvPr id="14" name="Picture 13" descr="5029bb2e4362f2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2971" y="3325367"/>
            <a:ext cx="1243584" cy="350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3980687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Name what each one did wrong, and give the correct quotient.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3905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123688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Each one got exactly one half right.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9664" y="2284475"/>
            <a:ext cx="954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For  </a:t>
            </a:r>
          </a:p>
        </p:txBody>
      </p:sp>
      <p:pic>
        <p:nvPicPr>
          <p:cNvPr id="10" name="Picture 9" descr="11453e40830bd3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275" y="2103120"/>
            <a:ext cx="1459992" cy="819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17267" y="2284475"/>
            <a:ext cx="29213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Marcus writes  </a:t>
            </a:r>
          </a:p>
        </p:txBody>
      </p:sp>
      <p:pic>
        <p:nvPicPr>
          <p:cNvPr id="12" name="Picture 11" descr="9220e587e3708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1487" y="2336291"/>
            <a:ext cx="1420368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33440" y="3174491"/>
            <a:ext cx="2985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Sara writes  </a:t>
            </a:r>
          </a:p>
        </p:txBody>
      </p:sp>
      <p:pic>
        <p:nvPicPr>
          <p:cNvPr id="14" name="Picture 13" descr="6afd167257bcd6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1447" y="3227831"/>
            <a:ext cx="1246632" cy="350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3883151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Name what each one did wrong, and give the correct quotient.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45008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one wrong in front, one wrong behind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1816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Multiply numbers written in scientific notation — YZU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Divide numbers written in scientific notation — SGT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Real-World Problems and Significant Digits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solve a real-world problem with numbers in scientific notation and report the answer with the right number of significant digits.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you multiplied and divided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 numbers are measurements, each with limits.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aa1e7ea664b07d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821180"/>
            <a:ext cx="244144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2" name="Picture 11" descr="8ddd66cd0c0fdc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433828"/>
            <a:ext cx="3099816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2985516"/>
            <a:ext cx="59977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Write  0.00902  in scientific notation.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598164"/>
            <a:ext cx="6461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Round  4.738  to the nearest hundredth.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aa1e7ea664b07d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821180"/>
            <a:ext cx="244144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48053" y="1760220"/>
            <a:ext cx="1451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1.2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3" name="Picture 12" descr="8ddd66cd0c0fdc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433828"/>
            <a:ext cx="3099816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12627" y="2372868"/>
            <a:ext cx="16371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5.89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59977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Write  0.00902  in scientific notation.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3709" y="2985516"/>
            <a:ext cx="17436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9.02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598164"/>
            <a:ext cx="6461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Round  4.738  to the nearest hundredth.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47623" y="3598164"/>
            <a:ext cx="829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4.74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Which digits are significant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285999" y="2340864"/>
          <a:ext cx="758952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188720"/>
                <a:gridCol w="4389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Measurement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Digits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Why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4,207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the middle zero counts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0.0058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leading zeros never count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3.200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trailing zeros count after a decimal point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52,000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no decimal point, so they do not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Multiplying or dividing: count the digits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3a738e44a54142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3428" y="2340864"/>
            <a:ext cx="6074664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05746" y="3003804"/>
            <a:ext cx="8306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2 significant digits and 3, so the answer keeps 2:   </a:t>
            </a:r>
          </a:p>
        </p:txBody>
      </p:sp>
      <p:pic>
        <p:nvPicPr>
          <p:cNvPr id="12" name="Picture 11" descr="46d10cc3baed6a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5029" y="3055620"/>
            <a:ext cx="1380744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77647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Multiply or divide: the answer takes the smaller of the two significant-digit counts.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all three lines.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Adding or subtracting: a different rule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b19428082cb99c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643" y="2377440"/>
            <a:ext cx="338023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794714" y="3003804"/>
            <a:ext cx="87092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1,234 stops at the ones place;  5.6 stops at the tenths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1688" y="3689604"/>
            <a:ext cx="60785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so the sum stops at the ones place:   </a:t>
            </a:r>
          </a:p>
        </p:txBody>
      </p:sp>
      <p:pic>
        <p:nvPicPr>
          <p:cNvPr id="14" name="Picture 13" descr="4090bfd67d1032c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3063" y="3718560"/>
            <a:ext cx="3096768" cy="3992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46227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Add or subtract: the answer stops at the leftmost of the two last-digit places.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product of two measurements.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9368" y="2080260"/>
            <a:ext cx="4175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solar array measures  </a:t>
            </a:r>
          </a:p>
        </p:txBody>
      </p:sp>
      <p:pic>
        <p:nvPicPr>
          <p:cNvPr id="10" name="Picture 9" descr="7ad9bfb61548f8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7447" y="2135124"/>
            <a:ext cx="1594104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41551" y="2080260"/>
            <a:ext cx="13817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2" name="Picture 11" descr="82188a05fd74b5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6108" y="2133599"/>
            <a:ext cx="1389888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996" y="2080260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346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What is its area?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5661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Give the answer to the correct number of significant digits.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8831760cab574e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151120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37120" y="1895856"/>
            <a:ext cx="394716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in full</a:t>
            </a:r>
          </a:p>
        </p:txBody>
      </p:sp>
      <p:pic>
        <p:nvPicPr>
          <p:cNvPr id="11" name="Picture 10" descr="30f7ea4290ce65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2992"/>
            <a:ext cx="5010912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96912" y="2557272"/>
            <a:ext cx="408736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answer keeps 2</a:t>
            </a:r>
          </a:p>
        </p:txBody>
      </p:sp>
      <p:pic>
        <p:nvPicPr>
          <p:cNvPr id="13" name="Picture 12" descr="ae705d3f714a20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43072"/>
            <a:ext cx="45171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03136" y="3215640"/>
            <a:ext cx="458114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round once, at the 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square meters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28695" y="2186940"/>
            <a:ext cx="31014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field measures  </a:t>
            </a:r>
          </a:p>
        </p:txBody>
      </p:sp>
      <p:pic>
        <p:nvPicPr>
          <p:cNvPr id="10" name="Picture 9" descr="d18dbc9ddd0d98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2969" y="2194560"/>
            <a:ext cx="1786128" cy="44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79097" y="2186940"/>
            <a:ext cx="13817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2" name="Picture 11" descr="e2afadd128af9c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3653" y="2194560"/>
            <a:ext cx="2033015" cy="441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756669" y="2186940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56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What is its area?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27171" y="2185415"/>
            <a:ext cx="31014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field measures  </a:t>
            </a:r>
          </a:p>
        </p:txBody>
      </p:sp>
      <p:pic>
        <p:nvPicPr>
          <p:cNvPr id="10" name="Picture 9" descr="2ea2d2cafb1884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1445" y="2194560"/>
            <a:ext cx="1789176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80621" y="2185415"/>
            <a:ext cx="13817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2" name="Picture 11" descr="798bb70a13d738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5177" y="2194560"/>
            <a:ext cx="2033015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758193" y="2185415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535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What is its area?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9261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108,100, kept to two significant digits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square meters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difference of two measurements.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73513" y="2080260"/>
            <a:ext cx="32456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container holds  </a:t>
            </a:r>
          </a:p>
        </p:txBody>
      </p:sp>
      <p:pic>
        <p:nvPicPr>
          <p:cNvPr id="10" name="Picture 9" descr="2cd8b9426e7270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1977" y="2133599"/>
            <a:ext cx="1804416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86393" y="2080260"/>
            <a:ext cx="34387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cubic feet of liquid.</a:t>
            </a:r>
          </a:p>
        </p:txBody>
      </p:sp>
      <p:pic>
        <p:nvPicPr>
          <p:cNvPr id="12" name="Picture 11" descr="96c6bbe36750af3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7029" y="2863596"/>
            <a:ext cx="2008632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25661" y="2811780"/>
            <a:ext cx="38559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cubic feet evaporates.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49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How much is left? Give the answer with the correct precision.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799fbcd94df551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946648" cy="289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32648" y="1836420"/>
            <a:ext cx="315163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subtract in full</a:t>
            </a:r>
          </a:p>
        </p:txBody>
      </p:sp>
      <p:pic>
        <p:nvPicPr>
          <p:cNvPr id="11" name="Picture 10" descr="22b44a67be12e9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84120"/>
            <a:ext cx="3867912" cy="4297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53912" y="2470404"/>
            <a:ext cx="523036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leftmost last-digit place</a:t>
            </a:r>
          </a:p>
        </p:txBody>
      </p:sp>
      <p:pic>
        <p:nvPicPr>
          <p:cNvPr id="13" name="Picture 12" descr="4629515b15c2b4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88207"/>
            <a:ext cx="5955792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41792" y="3134868"/>
            <a:ext cx="314248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round there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3.06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cubic feet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88002" y="2183892"/>
            <a:ext cx="18504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road is  </a:t>
            </a:r>
          </a:p>
        </p:txBody>
      </p:sp>
      <p:pic>
        <p:nvPicPr>
          <p:cNvPr id="10" name="Picture 9" descr="6fe96bec245088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1310" y="2194560"/>
            <a:ext cx="2011680" cy="43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12990" y="2183892"/>
            <a:ext cx="15976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3365" y="2942844"/>
            <a:ext cx="18826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section  </a:t>
            </a:r>
          </a:p>
        </p:txBody>
      </p:sp>
      <p:pic>
        <p:nvPicPr>
          <p:cNvPr id="13" name="Picture 12" descr="e7c28ca8c59a9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855" y="2950464"/>
            <a:ext cx="2033015" cy="441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71871" y="2942844"/>
            <a:ext cx="3333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long is repaved.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71246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How much of the road is not repaved?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88002" y="2183892"/>
            <a:ext cx="18504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road is  </a:t>
            </a:r>
          </a:p>
        </p:txBody>
      </p:sp>
      <p:pic>
        <p:nvPicPr>
          <p:cNvPr id="10" name="Picture 9" descr="8579fbd842756a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1310" y="2194560"/>
            <a:ext cx="2011680" cy="43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12990" y="2183892"/>
            <a:ext cx="15976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3365" y="2941320"/>
            <a:ext cx="18826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section  </a:t>
            </a:r>
          </a:p>
        </p:txBody>
      </p:sp>
      <p:pic>
        <p:nvPicPr>
          <p:cNvPr id="13" name="Picture 12" descr="522cffef3ffba4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855" y="2950464"/>
            <a:ext cx="2033015" cy="4389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71871" y="2941320"/>
            <a:ext cx="3333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long is repaved.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7094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How much of the road is not repaved?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24851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3,576, stopped at the tens place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97049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3.58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significant digits are in  0.00470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Leading zeros, then trailing zeros.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significant digits are in  0.00470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237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4, 7 and the last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43524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pond's surface measures  </a:t>
            </a:r>
          </a:p>
        </p:txBody>
      </p:sp>
      <p:pic>
        <p:nvPicPr>
          <p:cNvPr id="10" name="Picture 9" descr="69f46df5ecb064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681" y="1938527"/>
            <a:ext cx="1127760" cy="283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77441" y="1851660"/>
            <a:ext cx="1291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2" name="Picture 11" descr="dd823fb368db84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1917" y="1937003"/>
            <a:ext cx="1127760" cy="2865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59677" y="1851660"/>
            <a:ext cx="7669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pond is 3 meters deep.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Find the surface area. Round to the correct number of significant digits.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43524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pond's surface measures  </a:t>
            </a:r>
          </a:p>
        </p:txBody>
      </p:sp>
      <p:pic>
        <p:nvPicPr>
          <p:cNvPr id="10" name="Picture 9" descr="877de329d13d7e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681" y="1938527"/>
            <a:ext cx="1127760" cy="283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77441" y="1851660"/>
            <a:ext cx="1291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2" name="Picture 11" descr="98384e6b1ba1215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1917" y="1938527"/>
            <a:ext cx="1130808" cy="283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62725" y="1851660"/>
            <a:ext cx="7669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pond is 3 meters deep.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Find the surface area. Round to the correct number of significant digits.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8617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11,900, kept to two digits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1769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square meters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Two measurements are multiplied. One has 3 significant digits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1793" y="2692908"/>
            <a:ext cx="69977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the other has 5. The exact product is  </a:t>
            </a:r>
          </a:p>
        </p:txBody>
      </p:sp>
      <p:pic>
        <p:nvPicPr>
          <p:cNvPr id="11" name="Picture 10" descr="f1f759a641dda94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370" y="2744724"/>
            <a:ext cx="2026920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439290" y="2692908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015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should the answer be written?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count wins?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Two measurements are multiplied. One has 3 significant digits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1793" y="2601468"/>
            <a:ext cx="69977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the other has 5. The exact product is  </a:t>
            </a:r>
          </a:p>
        </p:txBody>
      </p:sp>
      <p:pic>
        <p:nvPicPr>
          <p:cNvPr id="11" name="Picture 10" descr="b1203184ca7f2d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370" y="2653284"/>
            <a:ext cx="2026920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439290" y="2601468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101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should the answer be written?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93072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smaller count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7.41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3f644ac48482c8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9302" y="2194560"/>
            <a:ext cx="4020312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09614" y="2171700"/>
            <a:ext cx="42997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meters, both measured.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sum with the correct precision.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Where does each one's last digit sit?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da2ed7f30b8d3f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778" y="2104643"/>
            <a:ext cx="4023360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11138" y="2080260"/>
            <a:ext cx="42997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meters, both measured.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sum with the correct precision.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4095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2,500 stops at the hundreds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3.0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significant digits are in  0.03080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significant digits are in  0.03080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3414" y="2171700"/>
            <a:ext cx="3903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rectangle measures  </a:t>
            </a:r>
          </a:p>
        </p:txBody>
      </p:sp>
      <p:pic>
        <p:nvPicPr>
          <p:cNvPr id="10" name="Picture 9" descr="64bbdc30301628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9466" y="2226564"/>
            <a:ext cx="142341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42882" y="2171700"/>
            <a:ext cx="15371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cm by  </a:t>
            </a:r>
          </a:p>
        </p:txBody>
      </p:sp>
      <p:pic>
        <p:nvPicPr>
          <p:cNvPr id="12" name="Picture 11" descr="feb742ea3ba69b7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2830" y="2226564"/>
            <a:ext cx="1633728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776558" y="2171700"/>
            <a:ext cx="9687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area, to the correct significant digits?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26.1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1890" y="2080260"/>
            <a:ext cx="3903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rectangle measures  </a:t>
            </a:r>
          </a:p>
        </p:txBody>
      </p:sp>
      <p:pic>
        <p:nvPicPr>
          <p:cNvPr id="10" name="Picture 9" descr="2040ebaec58d50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7942" y="2135124"/>
            <a:ext cx="1426464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44406" y="2080260"/>
            <a:ext cx="15371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cm by  </a:t>
            </a:r>
          </a:p>
        </p:txBody>
      </p:sp>
      <p:pic>
        <p:nvPicPr>
          <p:cNvPr id="12" name="Picture 11" descr="7f74096cc598f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4354" y="2135124"/>
            <a:ext cx="1633728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778082" y="2080260"/>
            <a:ext cx="9687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area, to the correct significant digits?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26.1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2.6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 cm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2.6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cm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53822" y="2171700"/>
            <a:ext cx="24563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car travels  </a:t>
            </a:r>
          </a:p>
        </p:txBody>
      </p:sp>
      <p:pic>
        <p:nvPicPr>
          <p:cNvPr id="10" name="Picture 9" descr="a0c3ce9052e643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2972" y="2226564"/>
            <a:ext cx="1633728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06700" y="2171700"/>
            <a:ext cx="3238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km in  3.0  hours.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What is its average speed, to the right number of significant digits?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Count both measurements.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53822" y="2080260"/>
            <a:ext cx="24563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car travels  </a:t>
            </a:r>
          </a:p>
        </p:txBody>
      </p:sp>
      <p:pic>
        <p:nvPicPr>
          <p:cNvPr id="10" name="Picture 9" descr="cb8dbdba9896eb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2972" y="2135124"/>
            <a:ext cx="1633728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06700" y="2080260"/>
            <a:ext cx="3238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km in  3.0  hours.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What is its average speed, to the right number of significant digits?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35584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140 exactly, kept to two digits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1.4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km/h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measured length times a measured width gives an 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97016" y="2746579"/>
            <a:ext cx="6964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of  </a:t>
            </a:r>
          </a:p>
        </p:txBody>
      </p:sp>
      <p:pic>
        <p:nvPicPr>
          <p:cNvPr id="11" name="Picture 10" descr="56b3c95944d229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6273" y="2799919"/>
            <a:ext cx="1408176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764449" y="2746579"/>
            <a:ext cx="46620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</a:t>
            </a:r>
            <a:r>
              <a:rPr sz="26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600" b="0" i="0">
                <a:solidFill>
                  <a:srgbClr val="1A1A1A"/>
                </a:solidFill>
                <a:latin typeface="Century Schoolbook"/>
              </a:rPr>
              <a:t>. The length measured  </a:t>
            </a:r>
          </a:p>
        </p:txBody>
      </p:sp>
      <p:pic>
        <p:nvPicPr>
          <p:cNvPr id="13" name="Picture 12" descr="05f1b129363955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9316" y="2799919"/>
            <a:ext cx="1399032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88348" y="2746579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What did the width measure, to two significant digits?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Divide, then count.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measured length times a measured width gives an 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95492" y="2655139"/>
            <a:ext cx="6964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of  </a:t>
            </a:r>
          </a:p>
        </p:txBody>
      </p:sp>
      <p:pic>
        <p:nvPicPr>
          <p:cNvPr id="11" name="Picture 10" descr="7257295b37188a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4749" y="2708479"/>
            <a:ext cx="1411224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765973" y="2655139"/>
            <a:ext cx="46620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</a:t>
            </a:r>
            <a:r>
              <a:rPr sz="26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600" b="0" i="0">
                <a:solidFill>
                  <a:srgbClr val="1A1A1A"/>
                </a:solidFill>
                <a:latin typeface="Century Schoolbook"/>
              </a:rPr>
              <a:t>. The length measured  </a:t>
            </a:r>
          </a:p>
        </p:txBody>
      </p:sp>
      <p:pic>
        <p:nvPicPr>
          <p:cNvPr id="13" name="Picture 12" descr="94cb33e082284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0840" y="2708479"/>
            <a:ext cx="1399032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89872" y="2655139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What did the width measure, to two significant digits?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9843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3,600 ÷ 90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159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4.0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Ellis says: 1,234 has 4 significant digits and 5.6 has 2,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5728" y="2746579"/>
            <a:ext cx="21468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so the sum  </a:t>
            </a:r>
          </a:p>
        </p:txBody>
      </p:sp>
      <p:pic>
        <p:nvPicPr>
          <p:cNvPr id="11" name="Picture 10" descr="705d48a90c77f2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462" y="2806015"/>
            <a:ext cx="176479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60254" y="2746579"/>
            <a:ext cx="4401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must be written with 2:  </a:t>
            </a:r>
          </a:p>
        </p:txBody>
      </p:sp>
      <p:pic>
        <p:nvPicPr>
          <p:cNvPr id="13" name="Picture 12" descr="1a57ee4fc40528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4611" y="2799919"/>
            <a:ext cx="1380744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705355" y="2746579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he is wrong, and give the correct sum.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rule is for which operation?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Ellis says: 1,234 has 4 significant digits and 5.6 has 2,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5728" y="2655139"/>
            <a:ext cx="21468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so the sum  </a:t>
            </a:r>
          </a:p>
        </p:txBody>
      </p:sp>
      <p:pic>
        <p:nvPicPr>
          <p:cNvPr id="11" name="Picture 10" descr="a825a716d0b1ce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462" y="2714575"/>
            <a:ext cx="176479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60254" y="2655139"/>
            <a:ext cx="4401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must be written with 2:  </a:t>
            </a:r>
          </a:p>
        </p:txBody>
      </p:sp>
      <p:pic>
        <p:nvPicPr>
          <p:cNvPr id="13" name="Picture 12" descr="1d3c8ee25f946d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4611" y="2708479"/>
            <a:ext cx="1380744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705355" y="2655139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he is wrong, and give the correct sum.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9843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products count digits; sums count places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159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1,240 = 1.240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Add, subtract, multiply, and divide numbers written in scientific notation: word problems — D5S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Evaluating Expressions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evaluate an expression that contains square roots, cube roots and integer exponents.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every number was a measurement.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 radical returns — its bar is a grouping symbol.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6984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How many significant digits are in  0.0250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37286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1" name="Picture 10" descr="ca17b323d889e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4171" y="2432304"/>
            <a:ext cx="244144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98551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3" name="Picture 12" descr="9fe57fc54286b2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3009900"/>
            <a:ext cx="853440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598164"/>
            <a:ext cx="2276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Evaluate:  </a:t>
            </a:r>
          </a:p>
        </p:txBody>
      </p:sp>
      <p:pic>
        <p:nvPicPr>
          <p:cNvPr id="15" name="Picture 14" descr="72275cc2b2ecb2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3878" y="3710940"/>
            <a:ext cx="1155192" cy="231648"/>
          </a:xfrm>
          <a:prstGeom prst="rect">
            <a:avLst/>
          </a:prstGeom>
        </p:spPr>
      </p:pic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6984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How many significant digits are in  0.0250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70958" y="176022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37286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2" name="Picture 11" descr="ca17b323d889e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4171" y="2432304"/>
            <a:ext cx="2441448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54259" y="2372868"/>
            <a:ext cx="13021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8551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5" name="Picture 14" descr="9fe57fc54286b2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3009900"/>
            <a:ext cx="853440" cy="408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204379" y="2985516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598164"/>
            <a:ext cx="2276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Evaluate:  </a:t>
            </a:r>
          </a:p>
        </p:txBody>
      </p:sp>
      <p:pic>
        <p:nvPicPr>
          <p:cNvPr id="18" name="Picture 17" descr="72275cc2b2ecb2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3878" y="3710940"/>
            <a:ext cx="1155192" cy="2316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717710" y="3598164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all three lines.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radical bar is a grouping symbol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6f10aaba5b6e76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7268" y="2340864"/>
            <a:ext cx="5586984" cy="502920"/>
          </a:xfrm>
          <a:prstGeom prst="rect">
            <a:avLst/>
          </a:prstGeom>
        </p:spPr>
      </p:pic>
      <p:pic>
        <p:nvPicPr>
          <p:cNvPr id="12" name="Picture 11" descr="0f750478274c69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2459" y="3118104"/>
            <a:ext cx="3276600" cy="502920"/>
          </a:xfrm>
          <a:prstGeom prst="rect">
            <a:avLst/>
          </a:prstGeom>
        </p:spPr>
      </p:pic>
      <p:pic>
        <p:nvPicPr>
          <p:cNvPr id="13" name="Picture 12" descr="38c1b22d8ba50cd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1715" y="3895344"/>
            <a:ext cx="3294888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66603" y="3918204"/>
            <a:ext cx="18800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never   </a:t>
            </a:r>
          </a:p>
        </p:txBody>
      </p:sp>
      <p:pic>
        <p:nvPicPr>
          <p:cNvPr id="15" name="Picture 14" descr="af23067c54651ce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9516" y="4002024"/>
            <a:ext cx="780288" cy="2895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73659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Everything under the bar is evaluated before the root is taken.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Square roots and cube roots are not the same shape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1ccef74cf5a6c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3132" y="2340864"/>
            <a:ext cx="1420368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33500" y="236372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099a845693bde0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492" y="2340864"/>
            <a:ext cx="143256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12051" y="236372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a0a2abe2b8b88c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8043" y="2340864"/>
            <a:ext cx="1990344" cy="502920"/>
          </a:xfrm>
          <a:prstGeom prst="rect">
            <a:avLst/>
          </a:prstGeom>
        </p:spPr>
      </p:pic>
      <p:pic>
        <p:nvPicPr>
          <p:cNvPr id="15" name="Picture 14" descr="5dc53ddc22961e1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7292" y="3122676"/>
            <a:ext cx="1289304" cy="8138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56596" y="330098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7" name="Picture 16" descr="0b3fc4acebe111b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2587" y="3118104"/>
            <a:ext cx="1691640" cy="8229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87552" y="427939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An odd root keeps the sign of its radicand. A square root sign never gives a negative value.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Radicals alongside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344afa7466e491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9304" y="2340864"/>
            <a:ext cx="2374392" cy="7406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13696" y="2482596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32485dda09a645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9687" y="2459736"/>
            <a:ext cx="3462528" cy="502920"/>
          </a:xfrm>
          <a:prstGeom prst="rect">
            <a:avLst/>
          </a:prstGeom>
        </p:spPr>
      </p:pic>
      <p:pic>
        <p:nvPicPr>
          <p:cNvPr id="13" name="Picture 12" descr="1c083a55a6db1a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0752" y="3355848"/>
            <a:ext cx="4700016" cy="685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37997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Finish each piece — the radical, the power — and only then put them together.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power and a radical in one expression.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9bb1c8a15b2d7b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3148" y="2103120"/>
            <a:ext cx="2935224" cy="6766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826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888f9d60545f0d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685544" cy="6766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71544" y="202996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square the whole base, sign included</a:t>
            </a:r>
          </a:p>
        </p:txBody>
      </p:sp>
      <p:pic>
        <p:nvPicPr>
          <p:cNvPr id="11" name="Picture 10" descr="0f750478274c69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71215"/>
            <a:ext cx="327660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62600" y="2894075"/>
            <a:ext cx="582167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finish under the bar, then take the root</a:t>
            </a:r>
          </a:p>
        </p:txBody>
      </p:sp>
      <p:pic>
        <p:nvPicPr>
          <p:cNvPr id="13" name="Picture 12" descr="bdab02e30458e0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48455"/>
            <a:ext cx="1655064" cy="67970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941064" y="3759707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combine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8535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17/4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951716e95210ea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0728" y="2194560"/>
            <a:ext cx="3560064" cy="859536"/>
          </a:xfrm>
          <a:prstGeom prst="rect">
            <a:avLst/>
          </a:prstGeom>
        </p:spPr>
      </p:pic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b80aa591255586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3775" y="2194560"/>
            <a:ext cx="3553968" cy="859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74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1/9 minus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−17/9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radical inside a product.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47530fef4a5f2d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4444" y="2103120"/>
            <a:ext cx="3532632" cy="53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394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922b0a873b8b5f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745992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1992" y="1943100"/>
            <a:ext cx="535228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two innermost pieces</a:t>
            </a:r>
          </a:p>
        </p:txBody>
      </p:sp>
      <p:pic>
        <p:nvPicPr>
          <p:cNvPr id="11" name="Picture 10" descr="eb44f304539690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97480"/>
            <a:ext cx="3849624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35624" y="2720340"/>
            <a:ext cx="524865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root, then the product</a:t>
            </a:r>
          </a:p>
        </p:txBody>
      </p:sp>
      <p:pic>
        <p:nvPicPr>
          <p:cNvPr id="13" name="Picture 12" descr="1e8b8e5b31eeb1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74720"/>
            <a:ext cx="1990344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76344" y="338632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subtract last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0.2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98a08d8a76531a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288" y="2194560"/>
            <a:ext cx="4504944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03f17111b774a6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6763" y="2194560"/>
            <a:ext cx="4507992" cy="661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760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−2 plus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bba822fb928b22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4979" y="2194560"/>
            <a:ext cx="105156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What times itself?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a01c60804f5366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1" y="2103120"/>
            <a:ext cx="1042415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2607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11 · 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11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square patio has an area of  169  square feet.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Fencing for it costs 12 dollars a foot.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long is one side of the patio?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square patio has an area of  169  square feet.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Fencing for it costs 12 dollars a foot.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long is one side of the patio?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58325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√169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13 feet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a4ee34a66ada29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2194560"/>
            <a:ext cx="132588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What number, three times?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e9ce12ee5f035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0867" y="2103120"/>
            <a:ext cx="1319784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2607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(−5)(−5)(−5)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−5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3f127ed15696cd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4563" y="2194560"/>
            <a:ext cx="1612392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Finish under the bar first.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e42a74bac5138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7612" y="2103120"/>
            <a:ext cx="1606296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2607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8 + 17 = 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3abe49e5e12103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2194560"/>
            <a:ext cx="144780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718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38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38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323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323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3297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3c30f316583cb1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1432" y="2103120"/>
            <a:ext cx="1438656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803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383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5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6e1bf63989c69b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9928" y="2194560"/>
            <a:ext cx="1121664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718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38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38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not a real number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323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323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3297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e2d33019ea26f9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1452" y="2103120"/>
            <a:ext cx="1118616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803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−4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not a real number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383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−4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a9ee2603fdcbc1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3019" y="2194560"/>
            <a:ext cx="1935480" cy="813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Top and bottom each get the root.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641b2a864f99c5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6068" y="2103120"/>
            <a:ext cx="1929384" cy="819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4307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1/3 and 1/3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2/3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2ee0db6a490ede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5087" y="2194560"/>
            <a:ext cx="2371344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Finish each piece, then multiply.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a56781a24b5677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5087" y="2103120"/>
            <a:ext cx="2371344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2607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5 times one hundred twenty-fifth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1/25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2364" y="2217420"/>
            <a:ext cx="29984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Simon says that  </a:t>
            </a:r>
          </a:p>
        </p:txBody>
      </p:sp>
      <p:pic>
        <p:nvPicPr>
          <p:cNvPr id="10" name="Picture 9" descr="81cf9889817873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675" y="2194560"/>
            <a:ext cx="1121664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5339" y="2217420"/>
            <a:ext cx="3750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not a real number,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718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you cannot take the root of a negative.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466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he is wrong, and give the value.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root is he thinking of?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3888" y="2125979"/>
            <a:ext cx="29984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Simon says that  </a:t>
            </a:r>
          </a:p>
        </p:txBody>
      </p:sp>
      <p:pic>
        <p:nvPicPr>
          <p:cNvPr id="10" name="Picture 9" descr="1d8dbae4078985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5199" y="2103120"/>
            <a:ext cx="1118616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815" y="2125979"/>
            <a:ext cx="3750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not a real number,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you cannot take the root of a negative.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he is wrong, and give the value.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07583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a cube root is not a square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0735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−3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This skill continues tomorrow: one assignment, due at the start of the class after 4.06.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radical expressions — D8J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Order of Operations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evaluate a multi-step expression with rational numbers, exponents and radicals by reading its structure.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radical bar grouped whatever sat under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Today: all the grouping symbols — structure sets the order.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535c314b8c201a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784604"/>
            <a:ext cx="1143000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68127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How many significant digits are in  1.020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057144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3" name="Picture 12" descr="70fd4f7c195b27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3008376"/>
            <a:ext cx="795528" cy="5547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741420"/>
            <a:ext cx="2276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Evaluate:  </a:t>
            </a:r>
          </a:p>
        </p:txBody>
      </p:sp>
      <p:pic>
        <p:nvPicPr>
          <p:cNvPr id="15" name="Picture 14" descr="9720c4bedb33ef6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3878" y="3854196"/>
            <a:ext cx="1088136" cy="231648"/>
          </a:xfrm>
          <a:prstGeom prst="rect">
            <a:avLst/>
          </a:prstGeom>
        </p:spPr>
      </p:pic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535c314b8c201a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784604"/>
            <a:ext cx="1143000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49605" y="176022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68127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How many significant digits are in  1.020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791" y="2372868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057144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5" name="Picture 14" descr="70fd4f7c195b27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3008376"/>
            <a:ext cx="795528" cy="5547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46467" y="2985516"/>
            <a:ext cx="65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9/4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741420"/>
            <a:ext cx="2276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Evaluate:  </a:t>
            </a:r>
          </a:p>
        </p:txBody>
      </p:sp>
      <p:pic>
        <p:nvPicPr>
          <p:cNvPr id="18" name="Picture 17" descr="9720c4bedb33ef6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3878" y="3854196"/>
            <a:ext cx="1088136" cy="2316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50654" y="374142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structure, not a mnemonic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103120" y="2340864"/>
          <a:ext cx="795528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0080"/>
                <a:gridCol w="274320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Level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What it means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Grouping symbols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( ), [ ], the radical bar, the fraction bar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Powers and roots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the same level as each 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Multiply and divide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Add and subtract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87552" y="455371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Innermost grouping symbol first, then out.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Left to right means left to right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e75470b2ad78cf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8001" y="2406396"/>
            <a:ext cx="2962656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90657" y="2318004"/>
            <a:ext cx="1977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 never   </a:t>
            </a:r>
          </a:p>
        </p:txBody>
      </p:sp>
      <p:pic>
        <p:nvPicPr>
          <p:cNvPr id="12" name="Picture 11" descr="0c14e80cd2eaab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0854" y="2403348"/>
            <a:ext cx="1502664" cy="286512"/>
          </a:xfrm>
          <a:prstGeom prst="rect">
            <a:avLst/>
          </a:prstGeom>
        </p:spPr>
      </p:pic>
      <p:pic>
        <p:nvPicPr>
          <p:cNvPr id="13" name="Picture 12" descr="c6cb11828cf708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2261" y="3084576"/>
            <a:ext cx="3343656" cy="2956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65917" y="3003804"/>
            <a:ext cx="1977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 never   </a:t>
            </a:r>
          </a:p>
        </p:txBody>
      </p:sp>
      <p:pic>
        <p:nvPicPr>
          <p:cNvPr id="15" name="Picture 14" descr="3d97c3435e5f926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6114" y="3092196"/>
            <a:ext cx="1533144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77647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Multiplication and division are one level. Addition and subtraction are one level. Left to right, both times.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fraction bar groups,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52b1d3b1e5b1c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4796" y="2340864"/>
            <a:ext cx="2471928" cy="810768"/>
          </a:xfrm>
          <a:prstGeom prst="rect">
            <a:avLst/>
          </a:prstGeom>
        </p:spPr>
      </p:pic>
      <p:pic>
        <p:nvPicPr>
          <p:cNvPr id="11" name="Picture 10" descr="ffadcec50e54c83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4532" y="3425952"/>
            <a:ext cx="5172456" cy="8717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63600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Finish the numerator and finish the denominator before you divide.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grouping symbol inside a grouping symbol.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4b1ef9fa2dcb4d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8036" y="2103120"/>
            <a:ext cx="3965448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089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353dd49f16316f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231136" cy="4053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17136" y="189433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innermost: the power inside the parentheses</a:t>
            </a:r>
          </a:p>
        </p:txBody>
      </p:sp>
      <p:pic>
        <p:nvPicPr>
          <p:cNvPr id="11" name="Picture 10" descr="340b208cd1f743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9944"/>
            <a:ext cx="6973824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59824" y="2546604"/>
            <a:ext cx="212445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finish the parentheses, then multiply</a:t>
            </a:r>
          </a:p>
        </p:txBody>
      </p:sp>
      <p:pic>
        <p:nvPicPr>
          <p:cNvPr id="13" name="Picture 12" descr="90bf680791a0f6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24783"/>
            <a:ext cx="2944368" cy="2956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30368" y="3144011"/>
            <a:ext cx="615391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cube root is 5; add last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−1.44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dcc7e91a07786a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1523" y="2194560"/>
            <a:ext cx="4538472" cy="630936"/>
          </a:xfrm>
          <a:prstGeom prst="rect">
            <a:avLst/>
          </a:prstGeom>
        </p:spPr>
      </p:pic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7d9dafa919c33a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4571" y="2194560"/>
            <a:ext cx="4532376" cy="6309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455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3(0.99) + 7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9.97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fraction bar and a radical in one expression.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9657b87afa13d5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1727" y="2103120"/>
            <a:ext cx="2798064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777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184a5d14892d37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676144" cy="810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62144" y="2097024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numerator and denominator, each finished</a:t>
            </a:r>
          </a:p>
        </p:txBody>
      </p:sp>
      <p:pic>
        <p:nvPicPr>
          <p:cNvPr id="11" name="Picture 10" descr="d857c92eedcaec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05328"/>
            <a:ext cx="3627120" cy="813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13120" y="3183636"/>
            <a:ext cx="547115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under the bar, then the root</a:t>
            </a:r>
          </a:p>
        </p:txBody>
      </p:sp>
      <p:pic>
        <p:nvPicPr>
          <p:cNvPr id="13" name="Picture 12" descr="72e6766a18ceae4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93464"/>
            <a:ext cx="1984248" cy="67970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70248" y="420471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subtract last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303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−1/4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c8e5417f2d59a8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9747" y="2194560"/>
            <a:ext cx="4002024" cy="1085088"/>
          </a:xfrm>
          <a:prstGeom prst="rect">
            <a:avLst/>
          </a:prstGeom>
        </p:spPr>
      </p:pic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7dacaa3a652d27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1271" y="2194560"/>
            <a:ext cx="3998975" cy="10881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6027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a half plus a half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6f2b5e6da5da13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199" y="2260092"/>
            <a:ext cx="1341120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Left to right.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2fd862883ce8c3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199" y="2168652"/>
            <a:ext cx="1341120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12 ÷ 3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36063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square tile has side  </a:t>
            </a:r>
          </a:p>
        </p:txBody>
      </p:sp>
      <p:pic>
        <p:nvPicPr>
          <p:cNvPr id="10" name="Picture 9" descr="9fe57fc54286b2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591" y="1876043"/>
            <a:ext cx="853440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57031" y="1851660"/>
            <a:ext cx="22338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Its diagonal is about 19.8 centimeters.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perimeter of the tile?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36063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square tile has side  </a:t>
            </a:r>
          </a:p>
        </p:txBody>
      </p:sp>
      <p:pic>
        <p:nvPicPr>
          <p:cNvPr id="10" name="Picture 9" descr="538eaa100b231b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591" y="1876043"/>
            <a:ext cx="847344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50935" y="1851660"/>
            <a:ext cx="22338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Its diagonal is about 19.8 centimeters.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perimeter of the tile?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65680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 sides of 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56 centimeters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0bd57d1fcf1bcf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187" y="2253996"/>
            <a:ext cx="1533144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Left to right.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e06ac948f72f4e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187" y="2164080"/>
            <a:ext cx="1533144" cy="289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10 − 4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9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4a8f8f45b07cb5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2495" y="2194560"/>
            <a:ext cx="1176528" cy="816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Finish the top and the bottom.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19aa5c3e206c11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03120"/>
            <a:ext cx="1173480" cy="810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3392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over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1/3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0e9d178742cadf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59" y="2223516"/>
            <a:ext cx="1371600" cy="353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146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d34694b9b55f63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59" y="2133599"/>
            <a:ext cx="1371600" cy="35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146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50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076eeeb065b720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4604" y="2194560"/>
            <a:ext cx="972311" cy="804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7355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398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398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35.5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256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256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151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db4460c0abb0f5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7" y="2103120"/>
            <a:ext cx="969264" cy="801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7906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453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453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35.5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311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311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3702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d135167dce315e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687" y="2196083"/>
            <a:ext cx="1914144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What is each exponent attached to?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43cce3e34e7bfb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2164" y="2106168"/>
            <a:ext cx="1917192" cy="4053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−4 and +4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cafb332c72f7d8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503" y="2194560"/>
            <a:ext cx="2572512" cy="6766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Inside first.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11864b2915a669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2980" y="2103120"/>
            <a:ext cx="2575560" cy="6766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9981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one eighth plus one ninth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17/6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1691" y="2232660"/>
            <a:ext cx="30681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Roscoe says that  </a:t>
            </a:r>
          </a:p>
        </p:txBody>
      </p:sp>
      <p:pic>
        <p:nvPicPr>
          <p:cNvPr id="10" name="Picture 9" descr="71ab7e8131bab8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2679" y="2194560"/>
            <a:ext cx="1969008" cy="533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41687" y="2232660"/>
            <a:ext cx="331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always positive,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00228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a square is always positive.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3913" y="3554299"/>
            <a:ext cx="46413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Is he right? Give a value of </a:t>
            </a:r>
          </a:p>
        </p:txBody>
      </p:sp>
      <p:pic>
        <p:nvPicPr>
          <p:cNvPr id="14" name="Picture 13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8114" y="3691459"/>
            <a:ext cx="19202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10138" y="3554299"/>
            <a:ext cx="25746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that settles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4001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84751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Try to make the inside zero.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1691" y="2139696"/>
            <a:ext cx="30681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Roscoe says that  </a:t>
            </a:r>
          </a:p>
        </p:txBody>
      </p:sp>
      <p:pic>
        <p:nvPicPr>
          <p:cNvPr id="10" name="Picture 9" descr="3cbcfcb0399747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2679" y="2103120"/>
            <a:ext cx="1969008" cy="5303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41687" y="2139696"/>
            <a:ext cx="331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always positive,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0779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a square is always positive.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3913" y="3459811"/>
            <a:ext cx="46413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Is he right? Give a value of </a:t>
            </a:r>
          </a:p>
        </p:txBody>
      </p:sp>
      <p:pic>
        <p:nvPicPr>
          <p:cNvPr id="14" name="Picture 13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8114" y="3596971"/>
            <a:ext cx="19202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10138" y="3459811"/>
            <a:ext cx="25746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that settles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21419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never negative is not the same as always positive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94571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at n = 121 the value is 0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radical expressions — D8J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LESSONS 7–8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Real-World Order of Operations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substitute values into a formula and evaluate it, reading what the situation does rather than hunting for key words.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you read an expression's structure.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 expression is in a sentence — not in key words.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a3bfe14101224a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821180"/>
            <a:ext cx="1554480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2" name="Picture 11" descr="a627cc56d124109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397252"/>
            <a:ext cx="158800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0586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ab0a0f8a819bef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008376"/>
            <a:ext cx="780288" cy="5577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744468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6" name="Picture 15" descr="0059e34534483f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834384"/>
            <a:ext cx="432816" cy="2773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360611" y="3744468"/>
            <a:ext cx="13287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8" name="Picture 17" descr="8be73e21dbd6851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52213" y="3858768"/>
            <a:ext cx="621792" cy="228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74005" y="3744468"/>
            <a:ext cx="2963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a3bfe14101224a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821180"/>
            <a:ext cx="1554480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61085" y="176022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3" name="Picture 12" descr="a627cc56d124109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397252"/>
            <a:ext cx="158800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00819" y="2372868"/>
            <a:ext cx="829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25/2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0586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6" name="Picture 15" descr="ab0a0f8a819bef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008376"/>
            <a:ext cx="780288" cy="5577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31227" y="2985516"/>
            <a:ext cx="65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4/3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744468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9" name="Picture 18" descr="0059e34534483f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834384"/>
            <a:ext cx="432816" cy="2773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360611" y="3744468"/>
            <a:ext cx="13287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21" name="Picture 20" descr="8be73e21dbd6851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52213" y="3858768"/>
            <a:ext cx="621792" cy="2286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174005" y="3744468"/>
            <a:ext cx="2963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1880" y="3744468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18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both lines.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Substituting: the value goes in parentheses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0adc02d1493e5a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5665" y="2340864"/>
            <a:ext cx="1557528" cy="673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23193" y="2449068"/>
            <a:ext cx="15248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with   </a:t>
            </a:r>
          </a:p>
        </p:txBody>
      </p:sp>
      <p:pic>
        <p:nvPicPr>
          <p:cNvPr id="13" name="Picture 12" descr="c5ae5c8435316f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888" y="2534412"/>
            <a:ext cx="1082040" cy="286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92928" y="2449068"/>
            <a:ext cx="14034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and   </a:t>
            </a:r>
          </a:p>
        </p:txBody>
      </p:sp>
      <p:pic>
        <p:nvPicPr>
          <p:cNvPr id="15" name="Picture 14" descr="93a35f9de365dd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9202" y="2535936"/>
            <a:ext cx="966216" cy="283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25418" y="2449068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7" name="Picture 16" descr="d74aec1c3ec8a8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85734" y="3288792"/>
            <a:ext cx="5285232" cy="673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70966" y="3396996"/>
            <a:ext cx="1441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joules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0315" y="4213859"/>
            <a:ext cx="1233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with   </a:t>
            </a:r>
          </a:p>
        </p:txBody>
      </p:sp>
      <p:pic>
        <p:nvPicPr>
          <p:cNvPr id="20" name="Picture 19" descr="470a2cb670592e0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56159" y="4302251"/>
            <a:ext cx="1063752" cy="28041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919911" y="4213859"/>
            <a:ext cx="6967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    </a:t>
            </a:r>
          </a:p>
        </p:txBody>
      </p:sp>
      <p:pic>
        <p:nvPicPr>
          <p:cNvPr id="22" name="Picture 21" descr="8b91d3b79ed4a5f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79482" y="4239767"/>
            <a:ext cx="2484120" cy="40538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963602" y="4213859"/>
            <a:ext cx="18800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never   </a:t>
            </a:r>
          </a:p>
        </p:txBody>
      </p:sp>
      <p:pic>
        <p:nvPicPr>
          <p:cNvPr id="24" name="Picture 23" descr="e047b6631084f98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06516" y="4271771"/>
            <a:ext cx="1694688" cy="34137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87552" y="498652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Substitute in parentheses, then evaluate by the structure — powers before products.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both problems.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Key words do not decide the operation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219924" y="2318004"/>
            <a:ext cx="78588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15 dollars plus 4 dollars for each of 6 gigabytes:</a:t>
            </a:r>
          </a:p>
        </p:txBody>
      </p:sp>
      <p:pic>
        <p:nvPicPr>
          <p:cNvPr id="12" name="Picture 11" descr="df4025967bb63d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9764" y="3057144"/>
            <a:ext cx="2221992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046180" y="3689604"/>
            <a:ext cx="82063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15 dollars for each of 4 lines, plus 6 dollars of tax:</a:t>
            </a:r>
          </a:p>
        </p:txBody>
      </p:sp>
      <p:pic>
        <p:nvPicPr>
          <p:cNvPr id="14" name="Picture 13" descr="d2efbf0da391d0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6716" y="4428744"/>
            <a:ext cx="2228088" cy="350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514807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same words, the same numbers, different structures. Read the situation.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Round once, at the end — and say the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19481ee0e1540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9339" y="2340864"/>
            <a:ext cx="4690872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50211" y="2363724"/>
            <a:ext cx="1089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feet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97423" y="3095244"/>
            <a:ext cx="50876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rounding the side to 14 first:   </a:t>
            </a:r>
          </a:p>
        </p:txBody>
      </p:sp>
      <p:pic>
        <p:nvPicPr>
          <p:cNvPr id="13" name="Picture 12" descr="e6ef06ed6a80f4a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920" y="3148584"/>
            <a:ext cx="1664208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912128" y="3095244"/>
            <a:ext cx="1089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feet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386791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Carry the exact value, round once at the end, and write the unit.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formula with a power in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21151" y="2211323"/>
            <a:ext cx="31314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Kinetic energy is  </a:t>
            </a:r>
          </a:p>
        </p:txBody>
      </p:sp>
      <p:pic>
        <p:nvPicPr>
          <p:cNvPr id="10" name="Picture 9" descr="69f338afbe2042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5452" y="2103120"/>
            <a:ext cx="1554480" cy="673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69932" y="2211323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8839" y="3073908"/>
            <a:ext cx="16747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for mass </a:t>
            </a:r>
          </a:p>
        </p:txBody>
      </p:sp>
      <p:pic>
        <p:nvPicPr>
          <p:cNvPr id="13" name="Picture 12" descr="24e87f5600a7b6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6404" y="3211068"/>
            <a:ext cx="28346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089868" y="3073908"/>
            <a:ext cx="41655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in kilograms and speed </a:t>
            </a:r>
          </a:p>
        </p:txBody>
      </p:sp>
      <p:pic>
        <p:nvPicPr>
          <p:cNvPr id="15" name="Picture 14" descr="fcb4fcf2c8052fb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219" y="3208020"/>
            <a:ext cx="167640" cy="1889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285859" y="3073908"/>
            <a:ext cx="37439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in meters per second.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9688" y="3805427"/>
            <a:ext cx="1066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</a:t>
            </a:r>
          </a:p>
        </p:txBody>
      </p:sp>
      <p:pic>
        <p:nvPicPr>
          <p:cNvPr id="18" name="Picture 17" descr="c3de325f2afb27e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88676" y="3899915"/>
            <a:ext cx="295656" cy="26822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884332" y="3805427"/>
            <a:ext cx="77546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for a car of mass 1,200 kg travelling at 15 m/s.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7426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Give the answer with its unit.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d75f9c90e035e1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26080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12080" y="2028444"/>
            <a:ext cx="617219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substitute, each value in parentheses</a:t>
            </a:r>
          </a:p>
        </p:txBody>
      </p:sp>
      <p:pic>
        <p:nvPicPr>
          <p:cNvPr id="11" name="Picture 10" descr="97f8b90e9d71c5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2618232" cy="673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904232" y="297637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power first — it belongs to the 15 alone</a:t>
            </a:r>
          </a:p>
        </p:txBody>
      </p:sp>
      <p:pic>
        <p:nvPicPr>
          <p:cNvPr id="13" name="Picture 12" descr="a0f52d5d0e25fc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16096"/>
            <a:ext cx="3517392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803392" y="3762756"/>
            <a:ext cx="558088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then the products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2381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135,000 joules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8372" y="2391156"/>
            <a:ext cx="1066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</a:t>
            </a:r>
          </a:p>
        </p:txBody>
      </p:sp>
      <p:pic>
        <p:nvPicPr>
          <p:cNvPr id="10" name="Picture 9" descr="87c9946de92fdd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7360" y="2194560"/>
            <a:ext cx="1941576" cy="8503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08936" y="2391156"/>
            <a:ext cx="9420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for  </a:t>
            </a:r>
          </a:p>
        </p:txBody>
      </p:sp>
      <p:pic>
        <p:nvPicPr>
          <p:cNvPr id="12" name="Picture 11" descr="2af650365bdc2c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874" y="2439924"/>
            <a:ext cx="1606296" cy="3596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20170" y="2391156"/>
            <a:ext cx="1800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kg  and  </a:t>
            </a:r>
          </a:p>
        </p:txBody>
      </p:sp>
      <p:pic>
        <p:nvPicPr>
          <p:cNvPr id="14" name="Picture 13" descr="363ced5d02a269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3678" y="2441448"/>
            <a:ext cx="1203960" cy="3566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687638" y="2391156"/>
            <a:ext cx="1072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m/s.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5324" y="2391156"/>
            <a:ext cx="1066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</a:t>
            </a:r>
          </a:p>
        </p:txBody>
      </p:sp>
      <p:pic>
        <p:nvPicPr>
          <p:cNvPr id="10" name="Picture 9" descr="ccc487dd163a74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4312" y="2194560"/>
            <a:ext cx="1944623" cy="8503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08936" y="2391156"/>
            <a:ext cx="9420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for  </a:t>
            </a:r>
          </a:p>
        </p:txBody>
      </p:sp>
      <p:pic>
        <p:nvPicPr>
          <p:cNvPr id="12" name="Picture 11" descr="5bea3106422a07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874" y="2439924"/>
            <a:ext cx="1606296" cy="3596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20170" y="2391156"/>
            <a:ext cx="1800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kg  and  </a:t>
            </a:r>
          </a:p>
        </p:txBody>
      </p:sp>
      <p:pic>
        <p:nvPicPr>
          <p:cNvPr id="14" name="Picture 13" descr="412fe3e32d9c15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3678" y="2441448"/>
            <a:ext cx="1207008" cy="3566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690686" y="2391156"/>
            <a:ext cx="1072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m/s.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36499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425 times 144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61,200 joules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cost with a rate and a flat fee.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square floor of side 9 feet is carpeted.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42218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Carpet is 2.89 dollars a square foot and padding is 0.75 dollars a square foot.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61068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Installation is a flat 95 dollars. Find the total cost.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88a80bd66be46d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227832" cy="4053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13831" y="1894332"/>
            <a:ext cx="587044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area times the per-square-foot prices, then the flat fee</a:t>
            </a:r>
          </a:p>
        </p:txBody>
      </p:sp>
      <p:pic>
        <p:nvPicPr>
          <p:cNvPr id="11" name="Picture 10" descr="01bf3bc2e6345c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9944"/>
            <a:ext cx="2484120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70120" y="2546604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area and the rate, each finished</a:t>
            </a:r>
          </a:p>
        </p:txBody>
      </p:sp>
      <p:pic>
        <p:nvPicPr>
          <p:cNvPr id="13" name="Picture 12" descr="6a57c082688f8b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24783"/>
            <a:ext cx="3745992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31992" y="3142488"/>
            <a:ext cx="535228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multiply, then add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389.84 dollars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square bathroom floor of side 6 feet is tiled.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Tile is 4.25 dollars a square foot and grout is a flat 13.48 dollars.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727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Find the total cost.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square bathroom floor of side 6 feet is tiled.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Tile is 4.25 dollars a square foot and grout is a flat 13.48 dollars.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727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Find the total cost.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811855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36(4.25) then add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166.48 dollars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5999" y="2171700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10" name="Picture 9" descr="8b9f54f367bfb1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3662" y="2229612"/>
            <a:ext cx="530352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4014" y="2171700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2" name="Picture 11" descr="0c0822ea9a5c40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332" y="2260092"/>
            <a:ext cx="1063752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25084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Substitute in parentheses.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4475" y="2080260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10" name="Picture 9" descr="dfb9a8ed903d42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2138" y="2138171"/>
            <a:ext cx="533400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5538" y="2080260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2" name="Picture 11" descr="2a9ba365712c43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2856" y="2168652"/>
            <a:ext cx="1063752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26608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3(−2)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12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cyclist has a mass of 70 kilograms and rides at 8 meters per second.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Her bicycle cost 480 dollars.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27807"/>
            <a:ext cx="2906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Kinetic energy is  </a:t>
            </a:r>
          </a:p>
        </p:txBody>
      </p:sp>
      <p:pic>
        <p:nvPicPr>
          <p:cNvPr id="12" name="Picture 11" descr="8419d3078da366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3988" y="3382087"/>
            <a:ext cx="1261872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65860" y="3427807"/>
            <a:ext cx="2190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,  for a mass  </a:t>
            </a:r>
          </a:p>
        </p:txBody>
      </p:sp>
      <p:pic>
        <p:nvPicPr>
          <p:cNvPr id="14" name="Picture 13" descr="38ea68753f0734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9556" y="3581731"/>
            <a:ext cx="231648" cy="1493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551204" y="3427807"/>
            <a:ext cx="23349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and a speed  </a:t>
            </a:r>
          </a:p>
        </p:txBody>
      </p:sp>
      <p:pic>
        <p:nvPicPr>
          <p:cNvPr id="16" name="Picture 15" descr="17f1143b444dcf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49038" y="3580207"/>
            <a:ext cx="137160" cy="152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886198" y="3427807"/>
            <a:ext cx="300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131895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Find her kinetic energy.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85387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cyclist has a mass of 70 kilograms and rides at 8 meters per second.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Her bicycle cost 480 dollars.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29331"/>
            <a:ext cx="2906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Kinetic energy is  </a:t>
            </a:r>
          </a:p>
        </p:txBody>
      </p:sp>
      <p:pic>
        <p:nvPicPr>
          <p:cNvPr id="12" name="Picture 11" descr="2b860bf135a1b0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3988" y="3382087"/>
            <a:ext cx="1261872" cy="5516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65860" y="3429331"/>
            <a:ext cx="2190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,  for a mass  </a:t>
            </a:r>
          </a:p>
        </p:txBody>
      </p:sp>
      <p:pic>
        <p:nvPicPr>
          <p:cNvPr id="14" name="Picture 13" descr="38ea68753f0734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9556" y="3583255"/>
            <a:ext cx="231648" cy="1493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551204" y="3429331"/>
            <a:ext cx="23349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and a speed  </a:t>
            </a:r>
          </a:p>
        </p:txBody>
      </p:sp>
      <p:pic>
        <p:nvPicPr>
          <p:cNvPr id="16" name="Picture 15" descr="17f1143b444dcf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49038" y="3581731"/>
            <a:ext cx="137160" cy="152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886198" y="3429331"/>
            <a:ext cx="300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134943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Find her kinetic energy.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76548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35 times 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9700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2,240 joules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plan costs 15 dollars plus 4 dollars for each gigabyte.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the cost of 6 gigabytes.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What happens six times?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plan costs 15 dollars plus 4 dollars for each gigabyte.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the cost of 6 gigabytes.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2985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15 + 4(6)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39 dollars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square floor of side 8 feet is tiled at 3.50 dollars a square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Installation is a flat 60 dollars.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the total cost.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price depends on the area?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square floor of side 8 feet is tiled at 3.50 dollars a square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Installation is a flat 60 dollars.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the total cost.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819806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64(3.50) + 60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284 dollars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7790" y="2302764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10" name="Picture 9" descr="0c3f0450f52693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5453" y="2194560"/>
            <a:ext cx="890016" cy="673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85469" y="2302764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2" name="Picture 11" descr="2effa420194315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2787" y="2391156"/>
            <a:ext cx="1082040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04827" y="2302764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4" name="Picture 13" descr="d8c25bd356e9b5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6533" y="2391156"/>
            <a:ext cx="746760" cy="2804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423293" y="2302764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14248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808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180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808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4494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494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3,600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50044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6266" y="2211323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10" name="Picture 9" descr="9a895d34bc456d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3929" y="2103120"/>
            <a:ext cx="893064" cy="673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86993" y="2211323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2" name="Picture 11" descr="2effa420194315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311" y="2299715"/>
            <a:ext cx="1082040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06351" y="2211323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4" name="Picture 13" descr="d8c25bd356e9b5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8057" y="2299715"/>
            <a:ext cx="746760" cy="2804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424817" y="2211323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05104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7173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180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7173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44031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4031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3,600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40900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180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square patio of side 12 feet is sealed at 1.25 dollars a square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Delivery of the sealer is a flat 38 dollars.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gives the total cost?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12(1.25) + 38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+ 1.25 + 38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(1.25 + 38)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(1.25) + 38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64860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square patio of side 12 feet is sealed at 1.25 dollars a square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Delivery of the sealer is a flat 38 dollars.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gives the total cost?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8655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12(1.25) + 38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8655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+ 1.25 + 38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45513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(1.25 + 38)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5513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12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(1.25) + 38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5571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12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(1.25) + 38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6309" y="2217420"/>
            <a:ext cx="5538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fence runs along 6 sides, each  </a:t>
            </a:r>
          </a:p>
        </p:txBody>
      </p:sp>
      <p:pic>
        <p:nvPicPr>
          <p:cNvPr id="10" name="Picture 9" descr="68e9635cc791ae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7310" y="2194560"/>
            <a:ext cx="105156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438870" y="2217420"/>
            <a:ext cx="1873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feet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718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its total length, to the nearest hundredth of a foot.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Round once, at the end.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0881" y="2125979"/>
            <a:ext cx="5538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fence runs along 6 sides, each  </a:t>
            </a:r>
          </a:p>
        </p:txBody>
      </p:sp>
      <p:pic>
        <p:nvPicPr>
          <p:cNvPr id="10" name="Picture 9" descr="12e2a7d6e43363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882" y="2103120"/>
            <a:ext cx="1042415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434298" y="2125979"/>
            <a:ext cx="1873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feet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its total length, to the nearest hundredth of a foot.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50095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6 × 14.1421…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84.85 feet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50603" y="2293620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10" name="Picture 9" descr="63c59621754cfc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266" y="2194560"/>
            <a:ext cx="993648" cy="655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71914" y="2293620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2" name="Picture 11" descr="0fd02e8179cc96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232" y="2386584"/>
            <a:ext cx="774192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83424" y="2293620"/>
            <a:ext cx="5021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</a:t>
            </a:r>
          </a:p>
        </p:txBody>
      </p:sp>
      <p:pic>
        <p:nvPicPr>
          <p:cNvPr id="14" name="Picture 13" descr="90e8bcce6a7389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8428" y="2380487"/>
            <a:ext cx="783336" cy="2834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431764" y="2293620"/>
            <a:ext cx="5021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</a:t>
            </a:r>
          </a:p>
        </p:txBody>
      </p:sp>
      <p:pic>
        <p:nvPicPr>
          <p:cNvPr id="16" name="Picture 15" descr="07fcb1bbd55c69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6768" y="2380487"/>
            <a:ext cx="743712" cy="2834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540480" y="229362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Finish the top first.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50603" y="2200655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10" name="Picture 9" descr="e228efb5a3a6a7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266" y="2103120"/>
            <a:ext cx="987552" cy="652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65818" y="2200655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2" name="Picture 11" descr="9ac445d0700059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3136" y="2293620"/>
            <a:ext cx="777240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80376" y="2200655"/>
            <a:ext cx="5021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</a:t>
            </a:r>
          </a:p>
        </p:txBody>
      </p:sp>
      <p:pic>
        <p:nvPicPr>
          <p:cNvPr id="14" name="Picture 13" descr="d05130d66ecf91c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5380" y="2287524"/>
            <a:ext cx="786384" cy="2834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431764" y="2200655"/>
            <a:ext cx="5021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</a:t>
            </a:r>
          </a:p>
        </p:txBody>
      </p:sp>
      <p:pic>
        <p:nvPicPr>
          <p:cNvPr id="16" name="Picture 15" descr="23b44b96e08919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6768" y="2287524"/>
            <a:ext cx="743712" cy="2834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540480" y="2200655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07543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45 over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9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plan costs 15 dollars plus 4 dollars for each of 6 gigabytes.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1576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Another costs 15 dollars for each of 4 lines, plus 6 dollars of tax.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3697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Find both totals, and say why the key words could not have told you.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The same three numbers, the same words.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plan costs 15 dollars plus 4 dollars for each of 6 gigabytes.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2432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Another costs 15 dollars for each of 4 lines, plus 6 dollars of tax.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4553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Find both totals, and say why the key words could not have told you.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71246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39 and 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39 dollars and 66 dollars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variable expressions: word problems — DPG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