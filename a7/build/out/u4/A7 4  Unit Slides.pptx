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7.xml"/><Relationship Id="rId4" Type="http://schemas.openxmlformats.org/officeDocument/2006/relationships/slide" Target="slide71.xml"/><Relationship Id="rId5" Type="http://schemas.openxmlformats.org/officeDocument/2006/relationships/slide" Target="slide105.xml"/><Relationship Id="rId6" Type="http://schemas.openxmlformats.org/officeDocument/2006/relationships/slide" Target="slide139.xml"/><Relationship Id="rId7" Type="http://schemas.openxmlformats.org/officeDocument/2006/relationships/slide" Target="slide17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4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4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Relationship Id="rId3" Type="http://schemas.openxmlformats.org/officeDocument/2006/relationships/image" Target="../media/image143.png"/><Relationship Id="rId4" Type="http://schemas.openxmlformats.org/officeDocument/2006/relationships/image" Target="../media/image15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Relationship Id="rId4" Type="http://schemas.openxmlformats.org/officeDocument/2006/relationships/image" Target="../media/image186.png"/><Relationship Id="rId5" Type="http://schemas.openxmlformats.org/officeDocument/2006/relationships/image" Target="../media/image187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Relationship Id="rId3" Type="http://schemas.openxmlformats.org/officeDocument/2006/relationships/image" Target="../media/image4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4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Relationship Id="rId3" Type="http://schemas.openxmlformats.org/officeDocument/2006/relationships/image" Target="../media/image220.png"/><Relationship Id="rId4" Type="http://schemas.openxmlformats.org/officeDocument/2006/relationships/image" Target="../media/image221.png"/><Relationship Id="rId5" Type="http://schemas.openxmlformats.org/officeDocument/2006/relationships/image" Target="../media/image222.png"/><Relationship Id="rId6" Type="http://schemas.openxmlformats.org/officeDocument/2006/relationships/image" Target="../media/image223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Relationship Id="rId3" Type="http://schemas.openxmlformats.org/officeDocument/2006/relationships/image" Target="../media/image220.png"/><Relationship Id="rId4" Type="http://schemas.openxmlformats.org/officeDocument/2006/relationships/image" Target="../media/image221.png"/><Relationship Id="rId5" Type="http://schemas.openxmlformats.org/officeDocument/2006/relationships/image" Target="../media/image222.png"/><Relationship Id="rId6" Type="http://schemas.openxmlformats.org/officeDocument/2006/relationships/image" Target="../media/image223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png"/><Relationship Id="rId3" Type="http://schemas.openxmlformats.org/officeDocument/2006/relationships/image" Target="../media/image232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Relationship Id="rId3" Type="http://schemas.openxmlformats.org/officeDocument/2006/relationships/image" Target="../media/image236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Relationship Id="rId4" Type="http://schemas.openxmlformats.org/officeDocument/2006/relationships/image" Target="../media/image24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Relationship Id="rId3" Type="http://schemas.openxmlformats.org/officeDocument/2006/relationships/image" Target="../media/image243.png"/><Relationship Id="rId4" Type="http://schemas.openxmlformats.org/officeDocument/2006/relationships/image" Target="../media/image244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Relationship Id="rId3" Type="http://schemas.openxmlformats.org/officeDocument/2006/relationships/image" Target="../media/image246.png"/><Relationship Id="rId4" Type="http://schemas.openxmlformats.org/officeDocument/2006/relationships/image" Target="../media/image24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Relationship Id="rId3" Type="http://schemas.openxmlformats.org/officeDocument/2006/relationships/image" Target="../media/image259.png"/><Relationship Id="rId4" Type="http://schemas.openxmlformats.org/officeDocument/2006/relationships/image" Target="../media/image260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png"/><Relationship Id="rId3" Type="http://schemas.openxmlformats.org/officeDocument/2006/relationships/image" Target="../media/image262.png"/><Relationship Id="rId4" Type="http://schemas.openxmlformats.org/officeDocument/2006/relationships/image" Target="../media/image263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Relationship Id="rId3" Type="http://schemas.openxmlformats.org/officeDocument/2006/relationships/image" Target="../media/image262.png"/><Relationship Id="rId4" Type="http://schemas.openxmlformats.org/officeDocument/2006/relationships/image" Target="../media/image263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Relationship Id="rId3" Type="http://schemas.openxmlformats.org/officeDocument/2006/relationships/image" Target="../media/image272.png"/><Relationship Id="rId4" Type="http://schemas.openxmlformats.org/officeDocument/2006/relationships/image" Target="../media/image273.png"/><Relationship Id="rId5" Type="http://schemas.openxmlformats.org/officeDocument/2006/relationships/image" Target="../media/image274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 i="0">
                <a:solidFill>
                  <a:srgbClr val="1A1A1A"/>
                </a:solidFill>
                <a:latin typeface="Century Schoolbook"/>
              </a:rPr>
              <a:t>Solving Problems with Rational Numbers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Six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— Solving Problems with Rational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Click a lesson to jump to it. Each lesson numbers its slides from 1, as its Teacher Edition does.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— Solving Problems with Rational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4.01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Adding and Subtracting in Scientific Notation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4.02–03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Multiplying and Dividing in Scientific Notation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4.04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Real-World Problems and Significant Digits</a:t>
            </a:r>
          </a:p>
        </p:txBody>
      </p:sp>
      <p:sp>
        <p:nvSpPr>
          <p:cNvPr id="19" name="TextBox 18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71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4.05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Evaluating Expressions with Radicals</a:t>
            </a:r>
          </a:p>
        </p:txBody>
      </p: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4.06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Order of Operations with Radicals</a:t>
            </a:r>
          </a:p>
        </p:txBody>
      </p:sp>
      <p:sp>
        <p:nvSpPr>
          <p:cNvPr id="27" name="TextBox 26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139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4.07–08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Real-World Order of Operations</a:t>
            </a:r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173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Adding and Subtracting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add and subtract two numbers written in scientific notation, and write the answer in scientific notation.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Last unit you learned to write numbers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you put two of them together — and the powers of ten have to match first.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99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0.00062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4573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times larger is  </a:t>
            </a:r>
          </a:p>
        </p:txBody>
      </p:sp>
      <p:pic>
        <p:nvPicPr>
          <p:cNvPr id="11" name="Picture 10" descr="6e4449454b7e3e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461260"/>
            <a:ext cx="890016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480" y="2372868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3" name="Picture 12" descr="7da0da260d230a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36" y="2458212"/>
            <a:ext cx="905256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92692" y="23728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c100c4232230d0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74519" y="3598164"/>
            <a:ext cx="2898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sum:  </a:t>
            </a:r>
          </a:p>
        </p:txBody>
      </p:sp>
      <p:pic>
        <p:nvPicPr>
          <p:cNvPr id="18" name="Picture 17" descr="bdc1cddc07790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85" y="3706368"/>
            <a:ext cx="1298448" cy="2407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99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0.00062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7504" y="1760220"/>
            <a:ext cx="1546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4573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times larger is  </a:t>
            </a:r>
          </a:p>
        </p:txBody>
      </p:sp>
      <p:pic>
        <p:nvPicPr>
          <p:cNvPr id="12" name="Picture 11" descr="6e4449454b7e3e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461260"/>
            <a:ext cx="890016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480" y="2372868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4" name="Picture 13" descr="7da0da260d230a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36" y="2458212"/>
            <a:ext cx="905256" cy="286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92692" y="23728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8027" y="2372868"/>
            <a:ext cx="100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8" name="Picture 17" descr="c100c4232230d0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598164"/>
            <a:ext cx="2898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sum:  </a:t>
            </a:r>
          </a:p>
        </p:txBody>
      </p:sp>
      <p:pic>
        <p:nvPicPr>
          <p:cNvPr id="21" name="Picture 20" descr="bdc1cddc07790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85" y="3706368"/>
            <a:ext cx="1298448" cy="2407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83373" y="3598164"/>
            <a:ext cx="8218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1.69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of ten is a place value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874520" y="2340864"/>
          <a:ext cx="841248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ten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hundred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millions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f39e13154060a8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23" y="3375660"/>
            <a:ext cx="4538472" cy="335280"/>
          </a:xfrm>
          <a:prstGeom prst="rect">
            <a:avLst/>
          </a:prstGeom>
        </p:spPr>
      </p:pic>
      <p:pic>
        <p:nvPicPr>
          <p:cNvPr id="13" name="Picture 12" descr="09bdd4fb912377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5" y="4050791"/>
            <a:ext cx="8202168" cy="356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7731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Two numbers can be added only when they carry the same power of 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Same power: add or subtract the 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f1eddec5041a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44" y="2340864"/>
            <a:ext cx="5666232" cy="411480"/>
          </a:xfrm>
          <a:prstGeom prst="rect">
            <a:avLst/>
          </a:prstGeom>
        </p:spPr>
      </p:pic>
      <p:pic>
        <p:nvPicPr>
          <p:cNvPr id="11" name="Picture 10" descr="84f16e9d72a5c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48" y="3028188"/>
            <a:ext cx="7583424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7764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 or subtract the coefficients. The power of ten does not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5079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check the coefficient: if it is not between 1 and 10, the answer is not finished.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powers: rewrite one of them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fa01ffb8792c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340864"/>
            <a:ext cx="3819144" cy="411480"/>
          </a:xfrm>
          <a:prstGeom prst="rect">
            <a:avLst/>
          </a:prstGeom>
        </p:spPr>
      </p:pic>
      <p:pic>
        <p:nvPicPr>
          <p:cNvPr id="11" name="Picture 10" descr="cfbb3562680e85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668" y="3026664"/>
            <a:ext cx="6806184" cy="411480"/>
          </a:xfrm>
          <a:prstGeom prst="rect">
            <a:avLst/>
          </a:prstGeom>
        </p:spPr>
      </p:pic>
      <p:pic>
        <p:nvPicPr>
          <p:cNvPr id="12" name="Picture 11" descr="783fbc1bfea8b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359" y="3712464"/>
            <a:ext cx="606552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31879" y="3689604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14" name="Picture 13" descr="23b08f458fe34a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4792" y="3742944"/>
            <a:ext cx="1420368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622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Rewrite one number so both carry the same power of ten, then add or subtract the coefficients.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66928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 up one, decimal point one place left. The value does not 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power, and the answer is not finished.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b322f8f789aa0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06168"/>
            <a:ext cx="3816095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78e26f3a087b33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864352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0352" y="1892808"/>
            <a:ext cx="32339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power: add the coefficients</a:t>
            </a:r>
          </a:p>
        </p:txBody>
      </p:sp>
      <p:pic>
        <p:nvPicPr>
          <p:cNvPr id="11" name="Picture 10" descr="1cb28e2e28999f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6896"/>
            <a:ext cx="3642360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8360" y="2543556"/>
            <a:ext cx="54559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14.5 is not less than 10: point one place left, exponent up one</a:t>
            </a:r>
          </a:p>
        </p:txBody>
      </p:sp>
      <p:pic>
        <p:nvPicPr>
          <p:cNvPr id="13" name="Picture 12" descr="ce53c7f1db8afd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1735"/>
            <a:ext cx="197815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4152" y="3160775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 in standard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1.45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2ae36fee79b20f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83" y="2194560"/>
            <a:ext cx="5254752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dab37c3d4cb37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94560"/>
            <a:ext cx="525780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Different powers, and a subtraction.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549981a84cc89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0312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05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0ba903ac78fff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8386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9864" y="1868424"/>
            <a:ext cx="56144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rewrite over 10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pic>
        <p:nvPicPr>
          <p:cNvPr id="11" name="Picture 10" descr="aed5738787927d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6071616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57616" y="2525268"/>
            <a:ext cx="30266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power: subtract the coefficients</a:t>
            </a:r>
          </a:p>
        </p:txBody>
      </p:sp>
      <p:pic>
        <p:nvPicPr>
          <p:cNvPr id="13" name="Picture 12" descr="7c3a73d2cb750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5349240" cy="338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3174492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 in standard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6.85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e4f0a8415ed569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83" y="2194560"/>
            <a:ext cx="5254752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6ee0cf26c6675a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94560"/>
            <a:ext cx="5257800" cy="521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58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0.09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comes off 5.6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5.51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3cd7ad48ef74b5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e4a44f0bcfa9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add the coefficients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626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 sold  </a:t>
            </a:r>
          </a:p>
        </p:txBody>
      </p:sp>
      <p:pic>
        <p:nvPicPr>
          <p:cNvPr id="10" name="Picture 9" descr="3a4ce939f4597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705" y="1937003"/>
            <a:ext cx="1161288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84993" y="1851660"/>
            <a:ext cx="2897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tickets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952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and  </a:t>
            </a:r>
          </a:p>
        </p:txBody>
      </p:sp>
      <p:pic>
        <p:nvPicPr>
          <p:cNvPr id="13" name="Picture 12" descr="cf4775b41686db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37" y="2549652"/>
            <a:ext cx="1152144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1881" y="2464308"/>
            <a:ext cx="6354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on Saturday. Each ticket cost 38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tickets were sold on the two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626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 sold  </a:t>
            </a:r>
          </a:p>
        </p:txBody>
      </p:sp>
      <p:pic>
        <p:nvPicPr>
          <p:cNvPr id="10" name="Picture 9" descr="6c4bcb516da5e5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705" y="1938527"/>
            <a:ext cx="1164336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88041" y="1851660"/>
            <a:ext cx="2897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tickets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952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and  </a:t>
            </a:r>
          </a:p>
        </p:txBody>
      </p:sp>
      <p:pic>
        <p:nvPicPr>
          <p:cNvPr id="13" name="Picture 12" descr="959b0ab7310b42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37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4929" y="2464308"/>
            <a:ext cx="6354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on Saturday. Each ticket cost 38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tickets were sold on the two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35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4.2 + 3.5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01e04974dac9eb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439" y="2194560"/>
            <a:ext cx="3596640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d662bd9034d4b2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916" y="2103120"/>
            <a:ext cx="3599688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40f3053f5991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450f0cef92f51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4643"/>
            <a:ext cx="3819144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 either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d60eac1f99916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3.413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3.53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420607bc24c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3.413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3.53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3.413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600c7d1ad07bb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11c6b03d538cb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1.23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1.23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7996c8675edf5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194560"/>
            <a:ext cx="420624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one of them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0150b4a7c88f61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15" y="2104643"/>
            <a:ext cx="420928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6.4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0.64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7.16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bd13eb8faf9a4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507" y="2194560"/>
            <a:ext cx="5556504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2860547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2997707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2860547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the answer over 10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 first.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98fdf47dd4ead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103120"/>
            <a:ext cx="555955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2766060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2903220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27660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1.02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10.2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5.7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846" y="2173224"/>
            <a:ext cx="2523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Devon writes  </a:t>
            </a:r>
          </a:p>
        </p:txBody>
      </p:sp>
      <p:pic>
        <p:nvPicPr>
          <p:cNvPr id="10" name="Picture 9" descr="82e722a216f1a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49" y="2194560"/>
            <a:ext cx="5657088" cy="414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17237" y="2173224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Name the two mistakes he made, and give the correct 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Two mistakes, then the sum.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2322" y="2080260"/>
            <a:ext cx="2523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Devon writes  </a:t>
            </a:r>
          </a:p>
        </p:txBody>
      </p:sp>
      <p:pic>
        <p:nvPicPr>
          <p:cNvPr id="10" name="Picture 9" descr="6a5bd63b1555e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25" y="2103120"/>
            <a:ext cx="566013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1876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Name the two mistakes he made, and give the correct 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mistake in the coefficients, one in the exponents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3.413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Add and subtract numbers written in scientific notation — HUR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Multiplying and Dividing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two numbers written in scientific notation, and write the answer in scientific notation.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powers of ten had to match before you could add.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do not have to match at all — and they can be as far apart as they like.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7655f1be3ef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3099816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500884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911d175e68347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469392" cy="667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4154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68e6e8f02f1f5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265932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930396"/>
            <a:ext cx="3474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quotient:  </a:t>
            </a:r>
          </a:p>
        </p:txBody>
      </p:sp>
      <p:pic>
        <p:nvPicPr>
          <p:cNvPr id="16" name="Picture 15" descr="57c14efe461957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575" y="3877056"/>
            <a:ext cx="417576" cy="5638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7655f1be3ef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3099816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06421" y="1760220"/>
            <a:ext cx="14594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00884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3" name="Picture 12" descr="911d175e68347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469392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0197" y="2372868"/>
            <a:ext cx="6525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4154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68e6e8f02f1f5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265932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4379" y="324154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30396"/>
            <a:ext cx="3474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quotient:  </a:t>
            </a:r>
          </a:p>
        </p:txBody>
      </p:sp>
      <p:pic>
        <p:nvPicPr>
          <p:cNvPr id="19" name="Picture 18" descr="57c14efe461957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575" y="3877056"/>
            <a:ext cx="417576" cy="563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7791" y="385419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Multiplying: regroup, then use the laws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3d98347d24a5e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683" y="2340864"/>
            <a:ext cx="7312152" cy="411480"/>
          </a:xfrm>
          <a:prstGeom prst="rect">
            <a:avLst/>
          </a:prstGeom>
        </p:spPr>
      </p:pic>
      <p:pic>
        <p:nvPicPr>
          <p:cNvPr id="12" name="Picture 11" descr="cac393ebd07bcf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41" y="3058668"/>
            <a:ext cx="111556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87509" y="30038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 </a:t>
            </a:r>
          </a:p>
        </p:txBody>
      </p:sp>
      <p:pic>
        <p:nvPicPr>
          <p:cNvPr id="14" name="Picture 13" descr="d56fc73065e54a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706" y="3057144"/>
            <a:ext cx="1261872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— that is the product of powers law, not a new rule.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Dividing: the same move with the quotient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a3a168722c51c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616" y="2340864"/>
            <a:ext cx="5352288" cy="819912"/>
          </a:xfrm>
          <a:prstGeom prst="rect">
            <a:avLst/>
          </a:prstGeom>
        </p:spPr>
      </p:pic>
      <p:pic>
        <p:nvPicPr>
          <p:cNvPr id="11" name="Picture 10" descr="a2db9260e26591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040" y="3435095"/>
            <a:ext cx="542544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5963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exponents, top minus bottom.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Finish the answer — both directions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c79c2afc3e471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788" y="2340864"/>
            <a:ext cx="6409944" cy="411480"/>
          </a:xfrm>
          <a:prstGeom prst="rect">
            <a:avLst/>
          </a:prstGeom>
        </p:spPr>
      </p:pic>
      <p:pic>
        <p:nvPicPr>
          <p:cNvPr id="11" name="Picture 10" descr="6e3a2fa74bbe54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044" y="3026664"/>
            <a:ext cx="6123432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187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Every answer ends with a coefficient at least 1 and less than 10.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Multiplying, and the answer needs finishing.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7b4ae14dd86922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03120"/>
            <a:ext cx="3310128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255f5ba7a254ef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76960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5608" y="1895856"/>
            <a:ext cx="232867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regroup</a:t>
            </a:r>
          </a:p>
        </p:txBody>
      </p:sp>
      <p:pic>
        <p:nvPicPr>
          <p:cNvPr id="11" name="Picture 10" descr="6f84424baa83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1652016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8016" y="255117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coefficients, add the exponents</a:t>
            </a:r>
          </a:p>
        </p:txBody>
      </p:sp>
      <p:pic>
        <p:nvPicPr>
          <p:cNvPr id="13" name="Picture 12" descr="faf479a8541eeb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0880"/>
            <a:ext cx="3166872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2872" y="3179064"/>
            <a:ext cx="593140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27 is not less than 10: point one place left, exponent up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945d13953f7af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91" y="2194560"/>
            <a:ext cx="4136136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2a20b9238011d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168" y="2194560"/>
            <a:ext cx="4139183" cy="521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58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Multiplication and division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d048c7fc436d6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896" y="2103120"/>
            <a:ext cx="3157728" cy="886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930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6b3f0849106cd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6156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7560" y="1897380"/>
            <a:ext cx="4236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top, regrouped</a:t>
            </a:r>
          </a:p>
        </p:txBody>
      </p:sp>
      <p:pic>
        <p:nvPicPr>
          <p:cNvPr id="11" name="Picture 10" descr="1c6ad9425b8dfd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3139440" cy="8260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5440" y="2790444"/>
            <a:ext cx="59588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the coefficients, subtract the exponents</a:t>
            </a:r>
          </a:p>
        </p:txBody>
      </p:sp>
      <p:pic>
        <p:nvPicPr>
          <p:cNvPr id="13" name="Picture 12" descr="6aefb1689d23f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706368"/>
            <a:ext cx="3133344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19344" y="3654552"/>
            <a:ext cx="596493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d9eedbeb2084bf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284" y="2194560"/>
            <a:ext cx="3806952" cy="11094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914658bc6d4d6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7" y="2194560"/>
            <a:ext cx="3803904" cy="1109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240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8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a47a82f506d1e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Multiply the fronts, add the backs.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31fb752d70c62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· 2 and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24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printer makes  </a:t>
            </a:r>
          </a:p>
        </p:txBody>
      </p:sp>
      <p:pic>
        <p:nvPicPr>
          <p:cNvPr id="10" name="Picture 9" descr="813d8c5430374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07" y="1938527"/>
            <a:ext cx="902208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4215" y="1851660"/>
            <a:ext cx="27288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copies per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1927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 runs for  </a:t>
            </a:r>
          </a:p>
        </p:txBody>
      </p:sp>
      <p:pic>
        <p:nvPicPr>
          <p:cNvPr id="13" name="Picture 12" descr="39bd69d20e0cf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22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79714" y="2464308"/>
            <a:ext cx="5488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hours. Paper costs 3 cents a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copies does it make?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24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printer makes  </a:t>
            </a:r>
          </a:p>
        </p:txBody>
      </p:sp>
      <p:pic>
        <p:nvPicPr>
          <p:cNvPr id="10" name="Picture 9" descr="00df9fb5b7ec9f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07" y="1938527"/>
            <a:ext cx="905256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7263" y="1851660"/>
            <a:ext cx="27288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copies per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1927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 runs for  </a:t>
            </a:r>
          </a:p>
        </p:txBody>
      </p:sp>
      <p:pic>
        <p:nvPicPr>
          <p:cNvPr id="13" name="Picture 12" descr="a80742e4b94b4b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22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79714" y="2464308"/>
            <a:ext cx="5488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hours. Paper costs 3 cents a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copies does it make?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35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finish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f43a30d4653d0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94560"/>
            <a:ext cx="146304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minus bottom.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f69d270b84b83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2103120"/>
            <a:ext cx="1459992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9.6 ÷ 1.2 and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854a4a598c652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028" y="2194560"/>
            <a:ext cx="1807464" cy="826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8bc77f296de0c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552" y="2103120"/>
            <a:ext cx="1804416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c0f8266fbc7965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64c6147c2ce0e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125fe26b9d13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ffd33f95921b2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e525d712acf4b1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826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minus bottom, and the bottom is negative.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dd4e224a7fe9f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52" y="2103120"/>
            <a:ext cx="1347216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8 − (−4) =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f1acb8271e6df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1" y="2194560"/>
            <a:ext cx="3328416" cy="819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3265931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3403091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3265931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coefficients alone.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49829e386e3352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028" y="2103120"/>
            <a:ext cx="333146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3171444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3308604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3171444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2582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8.4 ÷ n = 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8140" y="2378964"/>
            <a:ext cx="954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 </a:t>
            </a:r>
          </a:p>
        </p:txBody>
      </p:sp>
      <p:pic>
        <p:nvPicPr>
          <p:cNvPr id="10" name="Picture 9" descr="497afcee60275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751" y="2194560"/>
            <a:ext cx="1463040" cy="8260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8791" y="2378964"/>
            <a:ext cx="2921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Marcus writes  </a:t>
            </a:r>
          </a:p>
        </p:txBody>
      </p:sp>
      <p:pic>
        <p:nvPicPr>
          <p:cNvPr id="12" name="Picture 11" descr="a61c108a2c4f32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011" y="2430780"/>
            <a:ext cx="142036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34964" y="3272028"/>
            <a:ext cx="2985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Sara writes  </a:t>
            </a:r>
          </a:p>
        </p:txBody>
      </p:sp>
      <p:pic>
        <p:nvPicPr>
          <p:cNvPr id="14" name="Picture 13" descr="5029bb2e4362f2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971" y="3325367"/>
            <a:ext cx="1243584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980687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Name what each one did wrong, and give the correct quotient.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3905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3688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Each one got exactly one half right.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9664" y="2284475"/>
            <a:ext cx="954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 </a:t>
            </a:r>
          </a:p>
        </p:txBody>
      </p:sp>
      <p:pic>
        <p:nvPicPr>
          <p:cNvPr id="10" name="Picture 9" descr="11453e40830bd3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275" y="2103120"/>
            <a:ext cx="1459992" cy="819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7267" y="2284475"/>
            <a:ext cx="2921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Marcus writes  </a:t>
            </a:r>
          </a:p>
        </p:txBody>
      </p:sp>
      <p:pic>
        <p:nvPicPr>
          <p:cNvPr id="12" name="Picture 11" descr="9220e587e3708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487" y="2336291"/>
            <a:ext cx="142036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33440" y="3174491"/>
            <a:ext cx="2985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Sara writes  </a:t>
            </a:r>
          </a:p>
        </p:txBody>
      </p:sp>
      <p:pic>
        <p:nvPicPr>
          <p:cNvPr id="14" name="Picture 13" descr="6afd167257bcd6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447" y="3227831"/>
            <a:ext cx="1246632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883151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Name what each one did wrong, and give the correct quotient.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5008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wrong in front, one wrong behind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81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numbers written in scientific notation — YZU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numbers written in scientific notation — SGT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Real-World Problems and Significant Digits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solve a real-world problem with numbers in scientific notation and report the answer with the right number of significant digits.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you multiplied and divided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numbers are measurements — and a measurement only knows so much.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a1e7ea664b07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244144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8ddd66cd0c0fd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433828"/>
            <a:ext cx="3099816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5997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Write  0.00902  in scientific notation.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98164"/>
            <a:ext cx="6461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Round  4.738  to the nearest hundredth.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a1e7ea664b07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244144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8053" y="1760220"/>
            <a:ext cx="1451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8ddd66cd0c0fd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433828"/>
            <a:ext cx="3099816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12627" y="2372868"/>
            <a:ext cx="16371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5.89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5997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Write  0.00902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709" y="2985516"/>
            <a:ext cx="17436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9.02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8164"/>
            <a:ext cx="6461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Round  4.738  to the nearest hundredth.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7623" y="3598164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Which digits are significant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5999" y="2340864"/>
          <a:ext cx="7589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1887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Measurement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Digits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4,207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the middle zero 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0.0058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leading zeros never 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3.200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trailing zeros count after a decimal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52,000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no decimal point, so they do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Multiplying or dividing: count the digits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a738e44a54142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28" y="2340864"/>
            <a:ext cx="607466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5746" y="3003804"/>
            <a:ext cx="8306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2 significant digits and 3, so the answer keeps 2:   </a:t>
            </a:r>
          </a:p>
        </p:txBody>
      </p:sp>
      <p:pic>
        <p:nvPicPr>
          <p:cNvPr id="12" name="Picture 11" descr="46d10cc3baed6a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029" y="3055620"/>
            <a:ext cx="138074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or divide: the answer takes the smaller of the two significant-digit counts.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all three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Adding or subtracting: a different rule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19428082cb99c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43" y="2377440"/>
            <a:ext cx="338023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94714" y="3003804"/>
            <a:ext cx="87092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1,234 stops at the ones place;  5.6 stops at the tenths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1688" y="3689604"/>
            <a:ext cx="60785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stops at the ones place:   </a:t>
            </a:r>
          </a:p>
        </p:txBody>
      </p:sp>
      <p:pic>
        <p:nvPicPr>
          <p:cNvPr id="14" name="Picture 13" descr="4090bfd67d1032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063" y="3718560"/>
            <a:ext cx="3096768" cy="3992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622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 or subtract: the answer stops at the leftmost of the two last-digit places.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product of two measurements.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68" y="2080260"/>
            <a:ext cx="4175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solar array measures  </a:t>
            </a:r>
          </a:p>
        </p:txBody>
      </p:sp>
      <p:pic>
        <p:nvPicPr>
          <p:cNvPr id="10" name="Picture 9" descr="7ad9bfb61548f8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447" y="2135124"/>
            <a:ext cx="159410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41551" y="2080260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82188a05fd74b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08" y="2133599"/>
            <a:ext cx="1389888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996" y="2080260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566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Give the answer to the correct number of significant digits.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831760cab574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5112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37120" y="1895856"/>
            <a:ext cx="3947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in full</a:t>
            </a:r>
          </a:p>
        </p:txBody>
      </p:sp>
      <p:pic>
        <p:nvPicPr>
          <p:cNvPr id="11" name="Picture 10" descr="30f7ea4290ce6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5010912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6912" y="2557272"/>
            <a:ext cx="4087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answer keeps 2</a:t>
            </a:r>
          </a:p>
        </p:txBody>
      </p:sp>
      <p:pic>
        <p:nvPicPr>
          <p:cNvPr id="13" name="Picture 12" descr="ae705d3f714a2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43072"/>
            <a:ext cx="45171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03136" y="3215640"/>
            <a:ext cx="458114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round once, at the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695" y="2186940"/>
            <a:ext cx="3101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field measures  </a:t>
            </a:r>
          </a:p>
        </p:txBody>
      </p:sp>
      <p:pic>
        <p:nvPicPr>
          <p:cNvPr id="10" name="Picture 9" descr="d18dbc9ddd0d9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969" y="2194560"/>
            <a:ext cx="1786128" cy="44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9097" y="2186940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e2afadd128af9c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653" y="2194560"/>
            <a:ext cx="2033015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6669" y="2186940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6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7171" y="2185415"/>
            <a:ext cx="3101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field measures  </a:t>
            </a:r>
          </a:p>
        </p:txBody>
      </p:sp>
      <p:pic>
        <p:nvPicPr>
          <p:cNvPr id="10" name="Picture 9" descr="2ea2d2cafb1884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445" y="2194560"/>
            <a:ext cx="1789176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621" y="2185415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798bb70a13d738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177" y="2194560"/>
            <a:ext cx="2033015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8193" y="2185415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9261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108,100, kept to two significant digits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difference of two measurements.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513" y="2080260"/>
            <a:ext cx="32456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container holds  </a:t>
            </a:r>
          </a:p>
        </p:txBody>
      </p:sp>
      <p:pic>
        <p:nvPicPr>
          <p:cNvPr id="10" name="Picture 9" descr="2cd8b9426e72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77" y="2133599"/>
            <a:ext cx="180441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86393" y="2080260"/>
            <a:ext cx="3438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cubic feet of liquid.</a:t>
            </a:r>
          </a:p>
        </p:txBody>
      </p:sp>
      <p:pic>
        <p:nvPicPr>
          <p:cNvPr id="12" name="Picture 11" descr="96c6bbe36750af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29" y="2863596"/>
            <a:ext cx="2008632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25661" y="2811780"/>
            <a:ext cx="3855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cubic feet evaporates.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How much is left? Give the answer with the correct precision.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799fbcd94df55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946648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2648" y="1836420"/>
            <a:ext cx="315163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in full</a:t>
            </a:r>
          </a:p>
        </p:txBody>
      </p:sp>
      <p:pic>
        <p:nvPicPr>
          <p:cNvPr id="11" name="Picture 10" descr="22b44a67be12e9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84120"/>
            <a:ext cx="3867912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912" y="2470404"/>
            <a:ext cx="5230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leftmost last-digit place</a:t>
            </a:r>
          </a:p>
        </p:txBody>
      </p:sp>
      <p:pic>
        <p:nvPicPr>
          <p:cNvPr id="13" name="Picture 12" descr="4629515b15c2b4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88207"/>
            <a:ext cx="595579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1792" y="3134868"/>
            <a:ext cx="31424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round there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cubic feet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002" y="2183892"/>
            <a:ext cx="18504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road is  </a:t>
            </a:r>
          </a:p>
        </p:txBody>
      </p:sp>
      <p:pic>
        <p:nvPicPr>
          <p:cNvPr id="10" name="Picture 9" descr="6fe96bec24508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10" y="2194560"/>
            <a:ext cx="2011680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2990" y="2183892"/>
            <a:ext cx="15976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365" y="2942844"/>
            <a:ext cx="18826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section  </a:t>
            </a:r>
          </a:p>
        </p:txBody>
      </p:sp>
      <p:pic>
        <p:nvPicPr>
          <p:cNvPr id="13" name="Picture 12" descr="e7c28ca8c59a9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55" y="2950464"/>
            <a:ext cx="2033015" cy="44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1871" y="2942844"/>
            <a:ext cx="3333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 is repaved.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How much of the road is not repaved?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002" y="2183892"/>
            <a:ext cx="18504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road is  </a:t>
            </a:r>
          </a:p>
        </p:txBody>
      </p:sp>
      <p:pic>
        <p:nvPicPr>
          <p:cNvPr id="10" name="Picture 9" descr="8579fbd842756a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10" y="2194560"/>
            <a:ext cx="2011680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2990" y="2183892"/>
            <a:ext cx="15976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365" y="2941320"/>
            <a:ext cx="18826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section  </a:t>
            </a:r>
          </a:p>
        </p:txBody>
      </p:sp>
      <p:pic>
        <p:nvPicPr>
          <p:cNvPr id="13" name="Picture 12" descr="522cffef3ffba4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55" y="2950464"/>
            <a:ext cx="2033015" cy="438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1871" y="2941320"/>
            <a:ext cx="3333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 is repaved.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94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How much of the road is not repaved?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4851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3,576, stopped at the tens 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7049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0.00470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Leading zeros, then trailing zeros.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0.00470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4, 7 and the last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43524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pond's surface measures  </a:t>
            </a:r>
          </a:p>
        </p:txBody>
      </p:sp>
      <p:pic>
        <p:nvPicPr>
          <p:cNvPr id="10" name="Picture 9" descr="69f46df5ecb064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81" y="1938527"/>
            <a:ext cx="112776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7441" y="1851660"/>
            <a:ext cx="1291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dd823fb368db84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17" y="1937003"/>
            <a:ext cx="1127760" cy="286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59677" y="1851660"/>
            <a:ext cx="766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pond is 3 meters deep.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the surface area. Round to the correct number of significant digits.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43524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pond's surface measures  </a:t>
            </a:r>
          </a:p>
        </p:txBody>
      </p:sp>
      <p:pic>
        <p:nvPicPr>
          <p:cNvPr id="10" name="Picture 9" descr="877de329d13d7e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81" y="1938527"/>
            <a:ext cx="112776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7441" y="1851660"/>
            <a:ext cx="1291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98384e6b1ba121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17" y="1938527"/>
            <a:ext cx="1130808" cy="283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2725" y="1851660"/>
            <a:ext cx="766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pond is 3 meters deep.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the surface area. Round to the correct number of significant digits.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861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11,900, kept to two digits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76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Two measurements are multiplied. One has 3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1793" y="2692908"/>
            <a:ext cx="6997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the other has 5. The exact product is  </a:t>
            </a:r>
          </a:p>
        </p:txBody>
      </p:sp>
      <p:pic>
        <p:nvPicPr>
          <p:cNvPr id="11" name="Picture 10" descr="f1f759a641dda9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70" y="2744724"/>
            <a:ext cx="202692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290" y="269290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015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should the answer be written?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count wins?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Two measurements are multiplied. One has 3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1793" y="2601468"/>
            <a:ext cx="6997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the other has 5. The exact product is  </a:t>
            </a:r>
          </a:p>
        </p:txBody>
      </p:sp>
      <p:pic>
        <p:nvPicPr>
          <p:cNvPr id="11" name="Picture 10" descr="b1203184ca7f2d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70" y="2653284"/>
            <a:ext cx="202692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290" y="260146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should the answer be written?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307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smaller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7.41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f644ac48482c8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02" y="2194560"/>
            <a:ext cx="402031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9614" y="2171700"/>
            <a:ext cx="4299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meters, both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sum with the correct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Where does each one's last digit sit?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da2ed7f30b8d3f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78" y="2104643"/>
            <a:ext cx="402336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11138" y="2080260"/>
            <a:ext cx="4299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meters, both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sum with the correct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2,500 stops at the hundreds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0.03080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0.03080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414" y="2171700"/>
            <a:ext cx="3903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rectangle measures  </a:t>
            </a:r>
          </a:p>
        </p:txBody>
      </p:sp>
      <p:pic>
        <p:nvPicPr>
          <p:cNvPr id="10" name="Picture 9" descr="64bbdc3030162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466" y="2226564"/>
            <a:ext cx="142341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2882" y="2171700"/>
            <a:ext cx="1537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 by  </a:t>
            </a:r>
          </a:p>
        </p:txBody>
      </p:sp>
      <p:pic>
        <p:nvPicPr>
          <p:cNvPr id="12" name="Picture 11" descr="feb742ea3ba69b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830" y="2226564"/>
            <a:ext cx="163372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76558" y="2171700"/>
            <a:ext cx="9687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area, to the correct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1890" y="2080260"/>
            <a:ext cx="3903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rectangle measures  </a:t>
            </a:r>
          </a:p>
        </p:txBody>
      </p:sp>
      <p:pic>
        <p:nvPicPr>
          <p:cNvPr id="10" name="Picture 9" descr="2040ebaec58d50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942" y="2135124"/>
            <a:ext cx="142646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4406" y="2080260"/>
            <a:ext cx="1537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 by  </a:t>
            </a:r>
          </a:p>
        </p:txBody>
      </p:sp>
      <p:pic>
        <p:nvPicPr>
          <p:cNvPr id="12" name="Picture 11" descr="7f74096cc598f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354" y="2135124"/>
            <a:ext cx="163372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78082" y="2080260"/>
            <a:ext cx="9687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area, to the correct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2.6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 cm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2.6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cm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3822" y="2171700"/>
            <a:ext cx="2456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car travels  </a:t>
            </a:r>
          </a:p>
        </p:txBody>
      </p:sp>
      <p:pic>
        <p:nvPicPr>
          <p:cNvPr id="10" name="Picture 9" descr="a0c3ce9052e643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72" y="2226564"/>
            <a:ext cx="163372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6700" y="2171700"/>
            <a:ext cx="3238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km in  3.0 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What is its average speed, to the right number of significant digits?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Count both measurements.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3822" y="2080260"/>
            <a:ext cx="2456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car travels  </a:t>
            </a:r>
          </a:p>
        </p:txBody>
      </p:sp>
      <p:pic>
        <p:nvPicPr>
          <p:cNvPr id="10" name="Picture 9" descr="cb8dbdba9896e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72" y="2135124"/>
            <a:ext cx="163372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6700" y="2080260"/>
            <a:ext cx="3238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km in  3.0 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What is its average speed, to the right number of significant digits?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558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140 exactly, kept to two digits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km/h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measured length times a measured width gives an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7016" y="2746579"/>
            <a:ext cx="6964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of  </a:t>
            </a:r>
          </a:p>
        </p:txBody>
      </p:sp>
      <p:pic>
        <p:nvPicPr>
          <p:cNvPr id="11" name="Picture 10" descr="56b3c95944d229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73" y="2799919"/>
            <a:ext cx="140817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4449" y="2746579"/>
            <a:ext cx="46620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</a:t>
            </a:r>
            <a:r>
              <a:rPr sz="26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600" b="0" i="0">
                <a:solidFill>
                  <a:srgbClr val="1A1A1A"/>
                </a:solidFill>
                <a:latin typeface="Century Schoolbook"/>
              </a:rPr>
              <a:t>. The length measured  </a:t>
            </a:r>
          </a:p>
        </p:txBody>
      </p:sp>
      <p:pic>
        <p:nvPicPr>
          <p:cNvPr id="13" name="Picture 12" descr="05f1b129363955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316" y="2799919"/>
            <a:ext cx="139903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8348" y="2746579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did the width measure, to two significant digits?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Divide, then count.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measured length times a measured width gives an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5492" y="2655139"/>
            <a:ext cx="6964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of  </a:t>
            </a:r>
          </a:p>
        </p:txBody>
      </p:sp>
      <p:pic>
        <p:nvPicPr>
          <p:cNvPr id="11" name="Picture 10" descr="7257295b37188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749" y="2708479"/>
            <a:ext cx="141122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5973" y="2655139"/>
            <a:ext cx="46620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</a:t>
            </a:r>
            <a:r>
              <a:rPr sz="26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600" b="0" i="0">
                <a:solidFill>
                  <a:srgbClr val="1A1A1A"/>
                </a:solidFill>
                <a:latin typeface="Century Schoolbook"/>
              </a:rPr>
              <a:t>. The length measured  </a:t>
            </a:r>
          </a:p>
        </p:txBody>
      </p:sp>
      <p:pic>
        <p:nvPicPr>
          <p:cNvPr id="13" name="Picture 12" descr="94cb33e082284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840" y="2708479"/>
            <a:ext cx="139903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9872" y="2655139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did the width measure, to two significant digits?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3,600 ÷ 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4.0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Ellis says: 1,234 has 4 significant digits and 5.6 has 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728" y="2746579"/>
            <a:ext cx="21468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 </a:t>
            </a:r>
          </a:p>
        </p:txBody>
      </p:sp>
      <p:pic>
        <p:nvPicPr>
          <p:cNvPr id="11" name="Picture 10" descr="705d48a90c77f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2" y="2806015"/>
            <a:ext cx="176479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0254" y="2746579"/>
            <a:ext cx="4401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must be written with 2:  </a:t>
            </a:r>
          </a:p>
        </p:txBody>
      </p:sp>
      <p:pic>
        <p:nvPicPr>
          <p:cNvPr id="13" name="Picture 12" descr="1a57ee4fc4052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11" y="2799919"/>
            <a:ext cx="1380744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5355" y="2746579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correct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rule is for which operation?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Ellis says: 1,234 has 4 significant digits and 5.6 has 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728" y="2655139"/>
            <a:ext cx="21468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 </a:t>
            </a:r>
          </a:p>
        </p:txBody>
      </p:sp>
      <p:pic>
        <p:nvPicPr>
          <p:cNvPr id="11" name="Picture 10" descr="a825a716d0b1c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2" y="2714575"/>
            <a:ext cx="176479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0254" y="2655139"/>
            <a:ext cx="4401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must be written with 2:  </a:t>
            </a:r>
          </a:p>
        </p:txBody>
      </p:sp>
      <p:pic>
        <p:nvPicPr>
          <p:cNvPr id="13" name="Picture 12" descr="1d3c8ee25f946d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11" y="2708479"/>
            <a:ext cx="1380744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5355" y="2655139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correct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products count digits; sums count places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1,240 = 1.240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Add, subtract, multiply, and divide numbers written in scientific notation: word problems — D5S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Expressions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that contains square roots, cube roots and integer exponents.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every number was a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radical sign comes back — and its bar is a grouping symbol.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984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How many significant digits are in  0.0250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1" name="Picture 10" descr="ca17b323d889e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1" y="2432304"/>
            <a:ext cx="244144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9fe57fc54286b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598164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5" name="Picture 14" descr="72275cc2b2ecb2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710940"/>
            <a:ext cx="1155192" cy="23164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984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How many significant digits are in  0.0250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0958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ca17b323d889e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1" y="2432304"/>
            <a:ext cx="2441448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54259" y="2372868"/>
            <a:ext cx="1302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9fe57fc54286b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8164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8" name="Picture 17" descr="72275cc2b2ecb2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710940"/>
            <a:ext cx="1155192" cy="2316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7710" y="359816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all three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radical bar is a grouping symbol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6f10aaba5b6e76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340864"/>
            <a:ext cx="5586984" cy="502920"/>
          </a:xfrm>
          <a:prstGeom prst="rect">
            <a:avLst/>
          </a:prstGeom>
        </p:spPr>
      </p:pic>
      <p:pic>
        <p:nvPicPr>
          <p:cNvPr id="12" name="Picture 11" descr="0f750478274c69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459" y="3118104"/>
            <a:ext cx="3276600" cy="502920"/>
          </a:xfrm>
          <a:prstGeom prst="rect">
            <a:avLst/>
          </a:prstGeom>
        </p:spPr>
      </p:pic>
      <p:pic>
        <p:nvPicPr>
          <p:cNvPr id="13" name="Picture 12" descr="38c1b22d8ba50c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715" y="3895344"/>
            <a:ext cx="3294888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6603" y="3918204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15" name="Picture 14" descr="af23067c54651c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516" y="4002024"/>
            <a:ext cx="780288" cy="289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73659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Everything under the bar is evaluated before the root is taken.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Square roots and cube roots are not the same shape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1ccef74cf5a6c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32" y="2340864"/>
            <a:ext cx="1420368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3500" y="23637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099a845693bde0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2340864"/>
            <a:ext cx="143256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2051" y="23637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a0a2abe2b8b88c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43" y="2340864"/>
            <a:ext cx="1990344" cy="502920"/>
          </a:xfrm>
          <a:prstGeom prst="rect">
            <a:avLst/>
          </a:prstGeom>
        </p:spPr>
      </p:pic>
      <p:pic>
        <p:nvPicPr>
          <p:cNvPr id="15" name="Picture 14" descr="5dc53ddc22961e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292" y="3122676"/>
            <a:ext cx="1289304" cy="8138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56596" y="330098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7" name="Picture 16" descr="0b3fc4acebe111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587" y="3118104"/>
            <a:ext cx="1691640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42793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An odd root keeps the sign of its radicand. A square root sign never gives a negative value.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Radicals alongside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44afa7466e491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304" y="2340864"/>
            <a:ext cx="2374392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13696" y="24825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32485dda09a64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687" y="2459736"/>
            <a:ext cx="3462528" cy="502920"/>
          </a:xfrm>
          <a:prstGeom prst="rect">
            <a:avLst/>
          </a:prstGeom>
        </p:spPr>
      </p:pic>
      <p:pic>
        <p:nvPicPr>
          <p:cNvPr id="13" name="Picture 12" descr="1c083a55a6db1a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3355848"/>
            <a:ext cx="4700016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37997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Finish each piece — the radical, the power — and only then put them together.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power and a radical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bb1c8a15b2d7b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2103120"/>
            <a:ext cx="29352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88f9d60545f0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68554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1544" y="20299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square the whole base, sign included</a:t>
            </a:r>
          </a:p>
        </p:txBody>
      </p:sp>
      <p:pic>
        <p:nvPicPr>
          <p:cNvPr id="11" name="Picture 10" descr="0f750478274c69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327660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62600" y="2894075"/>
            <a:ext cx="58216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 under the bar, then take the root</a:t>
            </a:r>
          </a:p>
        </p:txBody>
      </p:sp>
      <p:pic>
        <p:nvPicPr>
          <p:cNvPr id="13" name="Picture 12" descr="bdab02e30458e0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48455"/>
            <a:ext cx="1655064" cy="67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41064" y="3759707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8535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17/4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951716e95210e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728" y="2194560"/>
            <a:ext cx="3560064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80aa59125558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775" y="2194560"/>
            <a:ext cx="3553968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4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1/9 minus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−17/9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radical inside a product.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7530fef4a5f2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03120"/>
            <a:ext cx="3532632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394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922b0a873b8b5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45992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1992" y="1943100"/>
            <a:ext cx="53522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two innermost pieces</a:t>
            </a:r>
          </a:p>
        </p:txBody>
      </p:sp>
      <p:pic>
        <p:nvPicPr>
          <p:cNvPr id="11" name="Picture 10" descr="eb44f304539690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97480"/>
            <a:ext cx="3849624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35624" y="2720340"/>
            <a:ext cx="52486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root, then the product</a:t>
            </a:r>
          </a:p>
        </p:txBody>
      </p:sp>
      <p:pic>
        <p:nvPicPr>
          <p:cNvPr id="13" name="Picture 12" descr="1e8b8e5b31eeb1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74720"/>
            <a:ext cx="1990344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6344" y="338632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0.2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8a08d8a76531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288" y="2194560"/>
            <a:ext cx="4504944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03f17111b774a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3" y="2194560"/>
            <a:ext cx="4507992" cy="661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760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−2 plus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bba822fb928b2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79" y="2194560"/>
            <a:ext cx="105156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times itself?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a01c60804f5366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1" y="2103120"/>
            <a:ext cx="1042415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11 ·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patio has an area of  169  square feet.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Fencing for it costs 12 dollars a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long is one side of the patio?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patio has an area of  169  square feet.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Fencing for it costs 12 dollars a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long is one side of the patio?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832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√169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13 feet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a4ee34a66ada29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94560"/>
            <a:ext cx="132588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number, three times?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9ce12ee5f035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03120"/>
            <a:ext cx="131978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(−5)(−5)(−5)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f127ed15696cd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563" y="2194560"/>
            <a:ext cx="1612392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under the bar first.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42a74bac5138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12" y="2103120"/>
            <a:ext cx="160629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+ 17 =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3abe49e5e12103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97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3c30f316583cb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32" y="2103120"/>
            <a:ext cx="143865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6e1bf63989c69b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28" y="2194560"/>
            <a:ext cx="112166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not a real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97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e2d33019ea26f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452" y="2103120"/>
            <a:ext cx="111861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−4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not a real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−4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a9ee2603fdcbc1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019" y="2194560"/>
            <a:ext cx="1935480" cy="813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and bottom each get the root.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641b2a864f99c5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2103120"/>
            <a:ext cx="1929384" cy="819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30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1/3 and 1/3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2/3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2ee0db6a490ede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7" y="2194560"/>
            <a:ext cx="237134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each piece, then multiply.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a56781a24b5677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7" y="2103120"/>
            <a:ext cx="237134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 times one hundred twenty-fifth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1/25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364" y="2217420"/>
            <a:ext cx="29984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Simon says that  </a:t>
            </a:r>
          </a:p>
        </p:txBody>
      </p:sp>
      <p:pic>
        <p:nvPicPr>
          <p:cNvPr id="10" name="Picture 9" descr="81cf988981787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675" y="2194560"/>
            <a:ext cx="1121664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5339" y="2217420"/>
            <a:ext cx="375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not a real number,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you cannot take the root of a negative.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66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root is he thinking of?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3888" y="2125979"/>
            <a:ext cx="29984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Simon says that  </a:t>
            </a:r>
          </a:p>
        </p:txBody>
      </p:sp>
      <p:pic>
        <p:nvPicPr>
          <p:cNvPr id="10" name="Picture 9" descr="1d8dbae4078985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199" y="2103120"/>
            <a:ext cx="1118616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815" y="2125979"/>
            <a:ext cx="375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not a real number,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you cannot take the root of a negative.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7583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cube root is not a square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73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This skill continues tomorrow: one assignment, due at the start of the class after 4.06.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radical expressions — D8J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Order of Operations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 multi-step expression with rational numbers, exponents and radicals by reading its 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radical bar grouped whatever sat under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every grouping symbol at once — and the order comes from the structure, not from a mnemonic.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535c314b8c201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114300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6812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significant digits are in  1.020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05714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70fd4f7c195b2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8376"/>
            <a:ext cx="795528" cy="554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741420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5" name="Picture 14" descr="9720c4bedb33e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854196"/>
            <a:ext cx="1088136" cy="231648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535c314b8c201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114300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49605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6812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significant digits are in  1.020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791" y="2372868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5714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70fd4f7c195b2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8376"/>
            <a:ext cx="795528" cy="5547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6467" y="2985516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41420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8" name="Picture 17" descr="9720c4bedb33e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854196"/>
            <a:ext cx="1088136" cy="2316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50654" y="37414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structure, not a mnemonic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03120" y="2340864"/>
          <a:ext cx="7955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Grouping symbols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( ), [ ], the radical bar, the fraction 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Powers and roots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the same level as each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Multiply and divide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Add and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4553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Innermost grouping symbol first, then out.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Left to right means left to 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75470b2ad78cf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001" y="2406396"/>
            <a:ext cx="2962656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0657" y="23180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 never   </a:t>
            </a:r>
          </a:p>
        </p:txBody>
      </p:sp>
      <p:pic>
        <p:nvPicPr>
          <p:cNvPr id="12" name="Picture 11" descr="0c14e80cd2eaab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854" y="2403348"/>
            <a:ext cx="1502664" cy="286512"/>
          </a:xfrm>
          <a:prstGeom prst="rect">
            <a:avLst/>
          </a:prstGeom>
        </p:spPr>
      </p:pic>
      <p:pic>
        <p:nvPicPr>
          <p:cNvPr id="13" name="Picture 12" descr="c6cb11828cf70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261" y="3084576"/>
            <a:ext cx="3343656" cy="295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65917" y="30038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 never   </a:t>
            </a:r>
          </a:p>
        </p:txBody>
      </p:sp>
      <p:pic>
        <p:nvPicPr>
          <p:cNvPr id="15" name="Picture 14" descr="3d97c3435e5f92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114" y="3092196"/>
            <a:ext cx="153314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Multiplication and division are one level. Addition and subtraction are one level. Left to right, both times.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fraction bar groups,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52b1d3b1e5b1c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796" y="2340864"/>
            <a:ext cx="2471928" cy="810768"/>
          </a:xfrm>
          <a:prstGeom prst="rect">
            <a:avLst/>
          </a:prstGeom>
        </p:spPr>
      </p:pic>
      <p:pic>
        <p:nvPicPr>
          <p:cNvPr id="11" name="Picture 10" descr="ffadcec50e54c8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532" y="3425952"/>
            <a:ext cx="5172456" cy="8717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6360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Finish the numerator and finish the denominator before you divide.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grouping symbol inside a grouping symbol.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4b1ef9fa2dcb4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036" y="2103120"/>
            <a:ext cx="3965448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08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53dd49f16316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31136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7136" y="18943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innermost: the power inside the parentheses</a:t>
            </a:r>
          </a:p>
        </p:txBody>
      </p:sp>
      <p:pic>
        <p:nvPicPr>
          <p:cNvPr id="11" name="Picture 10" descr="340b208cd1f743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697382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9824" y="2546604"/>
            <a:ext cx="21244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 the parentheses, then multiply</a:t>
            </a:r>
          </a:p>
        </p:txBody>
      </p:sp>
      <p:pic>
        <p:nvPicPr>
          <p:cNvPr id="13" name="Picture 12" descr="90bf680791a0f6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2944368" cy="295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0368" y="3144011"/>
            <a:ext cx="615391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cube root is 5; add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−1.44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dcc7e91a07786a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23" y="2194560"/>
            <a:ext cx="4538472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7d9dafa919c33a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571" y="2194560"/>
            <a:ext cx="4532376" cy="63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455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3(0.99) + 7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9.97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fraction bar and a radical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9657b87afa13d5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7" y="2103120"/>
            <a:ext cx="2798064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777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84a5d14892d3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676144" cy="810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62144" y="209702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numerator and denominator, each finished</a:t>
            </a:r>
          </a:p>
        </p:txBody>
      </p:sp>
      <p:pic>
        <p:nvPicPr>
          <p:cNvPr id="11" name="Picture 10" descr="d857c92eedcaec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5328"/>
            <a:ext cx="3627120" cy="813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13120" y="3183636"/>
            <a:ext cx="54711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under the bar, then the root</a:t>
            </a:r>
          </a:p>
        </p:txBody>
      </p:sp>
      <p:pic>
        <p:nvPicPr>
          <p:cNvPr id="13" name="Picture 12" descr="72e6766a18ceae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93464"/>
            <a:ext cx="1984248" cy="67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0248" y="4204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03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−1/4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8e5417f2d59a8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47" y="2194560"/>
            <a:ext cx="4002024" cy="1085088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7dacaa3a652d2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271" y="2194560"/>
            <a:ext cx="3998975" cy="1088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027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half plus a 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6f2b5e6da5da13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260092"/>
            <a:ext cx="134112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Left to right.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fd862883ce8c3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168652"/>
            <a:ext cx="134112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12 ÷ 3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6063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tile has side  </a:t>
            </a:r>
          </a:p>
        </p:txBody>
      </p:sp>
      <p:pic>
        <p:nvPicPr>
          <p:cNvPr id="10" name="Picture 9" descr="9fe57fc54286b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591" y="1876043"/>
            <a:ext cx="85344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7031" y="1851660"/>
            <a:ext cx="22338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diagonal is about 19.8 centimeters.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perimeter of the tile?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6063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tile has side  </a:t>
            </a:r>
          </a:p>
        </p:txBody>
      </p:sp>
      <p:pic>
        <p:nvPicPr>
          <p:cNvPr id="10" name="Picture 9" descr="538eaa100b231b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591" y="1876043"/>
            <a:ext cx="847344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0935" y="1851660"/>
            <a:ext cx="22338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diagonal is about 19.8 centimeters.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perimeter of the tile?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680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sides of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56 centimeters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0bd57d1fcf1bc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87" y="2253996"/>
            <a:ext cx="1533144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Left to right.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06ac948f72f4e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87" y="2164080"/>
            <a:ext cx="1533144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10 − 4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a8f8f45b07cb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495" y="2194560"/>
            <a:ext cx="1176528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top and the bottom.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19aa5c3e206c11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03120"/>
            <a:ext cx="1173480" cy="810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39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over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1/3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0e9d178742cadf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9" y="2223516"/>
            <a:ext cx="1371600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d34694b9b55f63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9" y="2133599"/>
            <a:ext cx="137160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076eeeb065b72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355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398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398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56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56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151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db4460c0abb0f5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03120"/>
            <a:ext cx="969264" cy="801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790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453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453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11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11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70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d135167dce315e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687" y="2196083"/>
            <a:ext cx="1914144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is each exponent attached to?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43cce3e34e7bfb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164" y="2106168"/>
            <a:ext cx="1917192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and 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afb332c72f7d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503" y="2194560"/>
            <a:ext cx="257251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Inside first.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11864b2915a66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03120"/>
            <a:ext cx="2575560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0998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eighth plus one ninth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17/6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1691" y="2232660"/>
            <a:ext cx="3068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Roscoe says that  </a:t>
            </a:r>
          </a:p>
        </p:txBody>
      </p:sp>
      <p:pic>
        <p:nvPicPr>
          <p:cNvPr id="10" name="Picture 9" descr="71ab7e8131bab8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79" y="2194560"/>
            <a:ext cx="1969008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1687" y="2232660"/>
            <a:ext cx="331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always positive,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022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a square is always positive.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3913" y="3554299"/>
            <a:ext cx="4641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Is he right? Give a value of </a:t>
            </a:r>
          </a:p>
        </p:txBody>
      </p:sp>
      <p:pic>
        <p:nvPicPr>
          <p:cNvPr id="14" name="Picture 13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4" y="3691459"/>
            <a:ext cx="19202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0138" y="3554299"/>
            <a:ext cx="25746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that settles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001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84751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Try to make the inside zero.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1691" y="2139696"/>
            <a:ext cx="3068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Roscoe says that  </a:t>
            </a:r>
          </a:p>
        </p:txBody>
      </p:sp>
      <p:pic>
        <p:nvPicPr>
          <p:cNvPr id="10" name="Picture 9" descr="3cbcfcb039974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79" y="2103120"/>
            <a:ext cx="1969008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1687" y="2139696"/>
            <a:ext cx="331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always positive,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a square is always positive.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3913" y="3459811"/>
            <a:ext cx="4641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Is he right? Give a value of </a:t>
            </a:r>
          </a:p>
        </p:txBody>
      </p:sp>
      <p:pic>
        <p:nvPicPr>
          <p:cNvPr id="14" name="Picture 13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4" y="3596971"/>
            <a:ext cx="19202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0138" y="3459811"/>
            <a:ext cx="25746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that settles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1419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never negative is not the same as always 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4571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at n = 121 the value is 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radical expressions — D8J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Real-World Order of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substitute values into a formula and evaluate it, reading what the situation does rather than hunting for key 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you read an expression's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expression arrives wrapped in a sentence — and the sentence is not a list of key words.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3bfe14101224a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1554480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a627cc56d1241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158800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0586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ab0a0f8a819bef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8376"/>
            <a:ext cx="780288" cy="5577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74446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6" name="Picture 15" descr="0059e34534483f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834384"/>
            <a:ext cx="432816" cy="277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60611" y="3744468"/>
            <a:ext cx="1328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8" name="Picture 17" descr="8be73e21dbd685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13" y="3858768"/>
            <a:ext cx="621792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74005" y="3744468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3bfe14101224a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1554480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1085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a627cc56d1241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158800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00819" y="237286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586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ab0a0f8a819bef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8376"/>
            <a:ext cx="780288" cy="5577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31227" y="2985516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4446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9" name="Picture 18" descr="0059e34534483f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834384"/>
            <a:ext cx="432816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0611" y="3744468"/>
            <a:ext cx="1328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21" name="Picture 20" descr="8be73e21dbd685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13" y="3858768"/>
            <a:ext cx="621792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4005" y="3744468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1880" y="374446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Substituting: the value goes in parentheses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adc02d1493e5a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665" y="2340864"/>
            <a:ext cx="1557528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23193" y="2449068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3" name="Picture 12" descr="c5ae5c8435316f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888" y="2534412"/>
            <a:ext cx="1082040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92928" y="2449068"/>
            <a:ext cx="1403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5" name="Picture 14" descr="93a35f9de365d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202" y="2535936"/>
            <a:ext cx="966216" cy="283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5418" y="244906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7" name="Picture 16" descr="d74aec1c3ec8a8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734" y="3288792"/>
            <a:ext cx="5285232" cy="673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70966" y="3396996"/>
            <a:ext cx="1441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joules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0315" y="4213859"/>
            <a:ext cx="1233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with   </a:t>
            </a:r>
          </a:p>
        </p:txBody>
      </p:sp>
      <p:pic>
        <p:nvPicPr>
          <p:cNvPr id="20" name="Picture 19" descr="470a2cb670592e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6159" y="4302251"/>
            <a:ext cx="1063752" cy="2804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19911" y="4213859"/>
            <a:ext cx="6967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    </a:t>
            </a:r>
          </a:p>
        </p:txBody>
      </p:sp>
      <p:pic>
        <p:nvPicPr>
          <p:cNvPr id="22" name="Picture 21" descr="8b91d3b79ed4a5f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9482" y="4239767"/>
            <a:ext cx="2484120" cy="4053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63602" y="4213859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24" name="Picture 23" descr="e047b6631084f9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6516" y="4271771"/>
            <a:ext cx="1694688" cy="3413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7552" y="498652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Substitute in parentheses, then evaluate by the structure — powers before products.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problems.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Key words do not decide the operation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19924" y="2318004"/>
            <a:ext cx="78588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15 dollars plus 4 dollars for each of 6 gigabytes:</a:t>
            </a:r>
          </a:p>
        </p:txBody>
      </p:sp>
      <p:pic>
        <p:nvPicPr>
          <p:cNvPr id="12" name="Picture 11" descr="df4025967bb63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3057144"/>
            <a:ext cx="22219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6180" y="3689604"/>
            <a:ext cx="82063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15 dollars for each of 4 lines, plus 6 dollars of tax:</a:t>
            </a:r>
          </a:p>
        </p:txBody>
      </p:sp>
      <p:pic>
        <p:nvPicPr>
          <p:cNvPr id="14" name="Picture 13" descr="d2efbf0da391d0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716" y="4428744"/>
            <a:ext cx="2228088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51480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same words, the same numbers, different structures. Read the situation.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Round once, at the end — and say the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19481ee0e1540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339" y="2340864"/>
            <a:ext cx="4690872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0211" y="2363724"/>
            <a:ext cx="1089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7423" y="3095244"/>
            <a:ext cx="5087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rounding the side to 14 first:   </a:t>
            </a:r>
          </a:p>
        </p:txBody>
      </p:sp>
      <p:pic>
        <p:nvPicPr>
          <p:cNvPr id="13" name="Picture 12" descr="e6ef06ed6a80f4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20" y="3148584"/>
            <a:ext cx="1664208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12128" y="3095244"/>
            <a:ext cx="1089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feet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679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Carry the exact value, round once at the end, and write the unit.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formula with a power in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151" y="2211323"/>
            <a:ext cx="3131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Kinetic energy is  </a:t>
            </a:r>
          </a:p>
        </p:txBody>
      </p:sp>
      <p:pic>
        <p:nvPicPr>
          <p:cNvPr id="10" name="Picture 9" descr="69f338afbe2042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452" y="2103120"/>
            <a:ext cx="1554480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69932" y="2211323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8839" y="3073908"/>
            <a:ext cx="16747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mass </a:t>
            </a:r>
          </a:p>
        </p:txBody>
      </p:sp>
      <p:pic>
        <p:nvPicPr>
          <p:cNvPr id="13" name="Picture 12" descr="24e87f5600a7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404" y="3211068"/>
            <a:ext cx="28346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89868" y="3073908"/>
            <a:ext cx="41655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in kilograms and speed </a:t>
            </a:r>
          </a:p>
        </p:txBody>
      </p:sp>
      <p:pic>
        <p:nvPicPr>
          <p:cNvPr id="15" name="Picture 14" descr="fcb4fcf2c8052f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219" y="3208020"/>
            <a:ext cx="167640" cy="188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85859" y="3073908"/>
            <a:ext cx="37439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in meters per second.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9688" y="3805427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8" name="Picture 17" descr="c3de325f2afb27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676" y="3899915"/>
            <a:ext cx="295656" cy="2682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84332" y="3805427"/>
            <a:ext cx="77546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a car of mass 1,200 kg travelling at 15 m/s.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426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Give the answer with its unit.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75f9c90e035e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6080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2028444"/>
            <a:ext cx="617219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substitute, each value in parentheses</a:t>
            </a:r>
          </a:p>
        </p:txBody>
      </p:sp>
      <p:pic>
        <p:nvPicPr>
          <p:cNvPr id="11" name="Picture 10" descr="97f8b90e9d71c5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2618232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04232" y="297637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power first — it belongs to the 15 alone</a:t>
            </a:r>
          </a:p>
        </p:txBody>
      </p:sp>
      <p:pic>
        <p:nvPicPr>
          <p:cNvPr id="13" name="Picture 12" descr="a0f52d5d0e25f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6096"/>
            <a:ext cx="351739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03392" y="3762756"/>
            <a:ext cx="55808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then the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238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135,000 joules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8372" y="2391156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0" name="Picture 9" descr="87c9946de92fdd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360" y="2194560"/>
            <a:ext cx="1941576" cy="85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8936" y="2391156"/>
            <a:ext cx="9420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 </a:t>
            </a:r>
          </a:p>
        </p:txBody>
      </p:sp>
      <p:pic>
        <p:nvPicPr>
          <p:cNvPr id="12" name="Picture 11" descr="2af650365bdc2c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74" y="2439924"/>
            <a:ext cx="1606296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0170" y="2391156"/>
            <a:ext cx="1800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kg  and  </a:t>
            </a:r>
          </a:p>
        </p:txBody>
      </p:sp>
      <p:pic>
        <p:nvPicPr>
          <p:cNvPr id="14" name="Picture 13" descr="363ced5d02a269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78" y="2441448"/>
            <a:ext cx="1203960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87638" y="2391156"/>
            <a:ext cx="107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5324" y="2391156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0" name="Picture 9" descr="ccc487dd163a74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12" y="2194560"/>
            <a:ext cx="1944623" cy="85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8936" y="2391156"/>
            <a:ext cx="9420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 </a:t>
            </a:r>
          </a:p>
        </p:txBody>
      </p:sp>
      <p:pic>
        <p:nvPicPr>
          <p:cNvPr id="12" name="Picture 11" descr="5bea3106422a07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74" y="2439924"/>
            <a:ext cx="1606296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0170" y="2391156"/>
            <a:ext cx="1800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kg  and  </a:t>
            </a:r>
          </a:p>
        </p:txBody>
      </p:sp>
      <p:pic>
        <p:nvPicPr>
          <p:cNvPr id="14" name="Picture 13" descr="412fe3e32d9c15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78" y="2441448"/>
            <a:ext cx="1207008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0686" y="2391156"/>
            <a:ext cx="107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649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425 times 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61,200 joules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cost with a rate and a flat fee.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floor of side 9 feet is carpeted.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42218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Carpet is 2.89 dollars a square foot and padding is 0.75 dollars a square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068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Installation is a flat 95 dollars. Find the total cost.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8a80bd66be46d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27832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13831" y="1894332"/>
            <a:ext cx="587044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area times the per-square-foot prices, then the flat fee</a:t>
            </a:r>
          </a:p>
        </p:txBody>
      </p:sp>
      <p:pic>
        <p:nvPicPr>
          <p:cNvPr id="11" name="Picture 10" descr="01bf3bc2e6345c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2484120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70120" y="254660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area and the rate, each finished</a:t>
            </a:r>
          </a:p>
        </p:txBody>
      </p:sp>
      <p:pic>
        <p:nvPicPr>
          <p:cNvPr id="13" name="Picture 12" descr="6a57c082688f8b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3745992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1992" y="3142488"/>
            <a:ext cx="53522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multiply, then 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389.84 dollars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bathroom floor of side 6 feet is tiled.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Tile is 4.25 dollars a square foot and grout is a flat 13.48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bathroom floor of side 6 feet is tiled.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Tile is 4.25 dollars a square foot and grout is a flat 13.48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185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36(4.25) then 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166.48 dollars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5999" y="217170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8b9f54f367bfb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662" y="2229612"/>
            <a:ext cx="53035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4014" y="217170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0c0822ea9a5c4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332" y="2260092"/>
            <a:ext cx="1063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5084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Substitute in parentheses.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4475" y="208026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dfb9a8ed903d42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138" y="2138171"/>
            <a:ext cx="533400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5538" y="208026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a9ba365712c43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856" y="2168652"/>
            <a:ext cx="1063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6608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557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cyclist of mass  </a:t>
            </a:r>
          </a:p>
        </p:txBody>
      </p:sp>
      <p:pic>
        <p:nvPicPr>
          <p:cNvPr id="10" name="Picture 9" descr="e1d72257cbc0a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032" y="1964435"/>
            <a:ext cx="877824" cy="23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0856" y="1851660"/>
            <a:ext cx="21630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kg rides at  </a:t>
            </a:r>
          </a:p>
        </p:txBody>
      </p:sp>
      <p:pic>
        <p:nvPicPr>
          <p:cNvPr id="12" name="Picture 11" descr="aa5cd635672dcd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734" y="1965960"/>
            <a:ext cx="609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66334" y="1851660"/>
            <a:ext cx="10064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Her bicycle cost 480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71986"/>
            <a:ext cx="4437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her kinetic energy,  </a:t>
            </a:r>
          </a:p>
        </p:txBody>
      </p:sp>
      <p:pic>
        <p:nvPicPr>
          <p:cNvPr id="16" name="Picture 15" descr="8419d3078da36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291" y="3026266"/>
            <a:ext cx="1261872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96163" y="3071986"/>
            <a:ext cx="300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557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cyclist of mass  </a:t>
            </a:r>
          </a:p>
        </p:txBody>
      </p:sp>
      <p:pic>
        <p:nvPicPr>
          <p:cNvPr id="10" name="Picture 9" descr="996cd0b9dd16e7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032" y="1964435"/>
            <a:ext cx="883920" cy="23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6952" y="1851660"/>
            <a:ext cx="21630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kg rides at  </a:t>
            </a:r>
          </a:p>
        </p:txBody>
      </p:sp>
      <p:pic>
        <p:nvPicPr>
          <p:cNvPr id="12" name="Picture 11" descr="f7f7478f3b1d3c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830" y="1965960"/>
            <a:ext cx="612648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75478" y="1851660"/>
            <a:ext cx="10064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Her bicycle cost 480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73510"/>
            <a:ext cx="4437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her kinetic energy,  </a:t>
            </a:r>
          </a:p>
        </p:txBody>
      </p:sp>
      <p:pic>
        <p:nvPicPr>
          <p:cNvPr id="16" name="Picture 15" descr="2b860bf135a1b0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291" y="3026266"/>
            <a:ext cx="1261872" cy="5516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96163" y="3073510"/>
            <a:ext cx="300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7056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35 times 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2,240 joules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plan costs 15 dollars plus 4 dollars for each gigabyte.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cost of 6 gigabytes.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happens six times?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plan costs 15 dollars plus 4 dollars for each gigabyte.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cost of 6 gigabytes.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15 + 4(6)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39 dollars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floor of side 8 feet is tiled at 3.50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Installation is a flat 60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price depends on the area?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floor of side 8 feet is tiled at 3.50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Installation is a flat 60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19806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64(3.50) + 60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284 dollars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7790" y="2302764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0c3f0450f52693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453" y="2194560"/>
            <a:ext cx="89001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5469" y="2302764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effa42019431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87" y="2391156"/>
            <a:ext cx="108204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4827" y="230276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4" name="Picture 13" descr="d8c25bd356e9b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533" y="2391156"/>
            <a:ext cx="746760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3293" y="2302764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42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08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08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94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94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04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6266" y="2211323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9a895d34bc456d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929" y="2103120"/>
            <a:ext cx="893064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6993" y="2211323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effa42019431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311" y="2299715"/>
            <a:ext cx="108204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6351" y="2211323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4" name="Picture 13" descr="d8c25bd356e9b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057" y="2299715"/>
            <a:ext cx="746760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4817" y="2211323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5104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173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7173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031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031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090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180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patio of side 12 feet is sealed at 1.25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Delivery of the sealer is a flat 38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gives the total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12(1.25)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+ 1.25 + 38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 + 38)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(1.25)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4860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patio of side 12 feet is sealed at 1.25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Delivery of the sealer is a flat 38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gives the total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8655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12(1.25)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655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+ 1.25 + 38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5513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 + 38)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513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(1.25)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571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12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(1.25) + 38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6309" y="2217420"/>
            <a:ext cx="5538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fence runs along 6 sides, each  </a:t>
            </a:r>
          </a:p>
        </p:txBody>
      </p:sp>
      <p:pic>
        <p:nvPicPr>
          <p:cNvPr id="10" name="Picture 9" descr="68e9635cc791ae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310" y="2194560"/>
            <a:ext cx="105156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38870" y="2217420"/>
            <a:ext cx="1873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feet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its total length, to the nearest hundredth of a foot.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Round once, at the end.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0881" y="2125979"/>
            <a:ext cx="5538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fence runs along 6 sides, each  </a:t>
            </a:r>
          </a:p>
        </p:txBody>
      </p:sp>
      <p:pic>
        <p:nvPicPr>
          <p:cNvPr id="10" name="Picture 9" descr="12e2a7d6e4336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882" y="2103120"/>
            <a:ext cx="1042415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34298" y="2125979"/>
            <a:ext cx="1873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feet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its total length, to the nearest hundredth of a foot.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0095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 × 14.1421…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84.85 feet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603" y="229362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63c59621754cfc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6" y="2194560"/>
            <a:ext cx="993648" cy="655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1914" y="229362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0fd02e8179cc96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32" y="2386584"/>
            <a:ext cx="774192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83424" y="2293620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4" name="Picture 13" descr="90e8bcce6a738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428" y="2380487"/>
            <a:ext cx="783336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1764" y="2293620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6" name="Picture 15" descr="07fcb1bbd55c69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68" y="2380487"/>
            <a:ext cx="74371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40480" y="22936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top first.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603" y="2200655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e228efb5a3a6a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6" y="2103120"/>
            <a:ext cx="987552" cy="652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65818" y="2200655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9ac445d0700059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136" y="2293620"/>
            <a:ext cx="77724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80376" y="2200655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4" name="Picture 13" descr="d05130d66ecf91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380" y="2287524"/>
            <a:ext cx="786384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1764" y="2200655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6" name="Picture 15" descr="23b44b96e08919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68" y="2287524"/>
            <a:ext cx="74371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40480" y="2200655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7543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45 over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plan costs 15 dollars plus 4 dollars for each of 6 gigabytes.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Another costs 15 dollars for each of 4 lines, plus 6 dollars of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Find both totals, and say why the key words could not have told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The same three numbers, the same words.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plan costs 15 dollars plus 4 dollars for each of 6 gigabytes.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Another costs 15 dollars for each of 4 lines, plus 6 dollars of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Find both totals, and say why the key words could not have told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1246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39 and 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39 dollars and 66 dollars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variable expressions: word problems — 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