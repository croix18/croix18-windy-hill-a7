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4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4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Relationship Id="rId3" Type="http://schemas.openxmlformats.org/officeDocument/2006/relationships/image" Target="../media/image1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143.png"/><Relationship Id="rId4" Type="http://schemas.openxmlformats.org/officeDocument/2006/relationships/image" Target="../media/image15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198.png"/><Relationship Id="rId4" Type="http://schemas.openxmlformats.org/officeDocument/2006/relationships/image" Target="../media/image19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Relationship Id="rId3" Type="http://schemas.openxmlformats.org/officeDocument/2006/relationships/image" Target="../media/image4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4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Relationship Id="rId4" Type="http://schemas.openxmlformats.org/officeDocument/2006/relationships/image" Target="../media/image222.png"/><Relationship Id="rId5" Type="http://schemas.openxmlformats.org/officeDocument/2006/relationships/image" Target="../media/image223.png"/><Relationship Id="rId6" Type="http://schemas.openxmlformats.org/officeDocument/2006/relationships/image" Target="../media/image22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Relationship Id="rId4" Type="http://schemas.openxmlformats.org/officeDocument/2006/relationships/image" Target="../media/image222.png"/><Relationship Id="rId5" Type="http://schemas.openxmlformats.org/officeDocument/2006/relationships/image" Target="../media/image223.png"/><Relationship Id="rId6" Type="http://schemas.openxmlformats.org/officeDocument/2006/relationships/image" Target="../media/image22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Relationship Id="rId6" Type="http://schemas.openxmlformats.org/officeDocument/2006/relationships/image" Target="../media/image229.png"/><Relationship Id="rId7" Type="http://schemas.openxmlformats.org/officeDocument/2006/relationships/image" Target="../media/image230.png"/><Relationship Id="rId8" Type="http://schemas.openxmlformats.org/officeDocument/2006/relationships/image" Target="../media/image23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238.png"/><Relationship Id="rId5" Type="http://schemas.openxmlformats.org/officeDocument/2006/relationships/image" Target="../media/image23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241.png"/><Relationship Id="rId4" Type="http://schemas.openxmlformats.org/officeDocument/2006/relationships/image" Target="../media/image24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247.png"/><Relationship Id="rId4" Type="http://schemas.openxmlformats.org/officeDocument/2006/relationships/image" Target="../media/image248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Relationship Id="rId3" Type="http://schemas.openxmlformats.org/officeDocument/2006/relationships/image" Target="../media/image25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Relationship Id="rId3" Type="http://schemas.openxmlformats.org/officeDocument/2006/relationships/image" Target="../media/image25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Relationship Id="rId3" Type="http://schemas.openxmlformats.org/officeDocument/2006/relationships/image" Target="../media/image257.png"/><Relationship Id="rId4" Type="http://schemas.openxmlformats.org/officeDocument/2006/relationships/image" Target="../media/image23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Relationship Id="rId3" Type="http://schemas.openxmlformats.org/officeDocument/2006/relationships/image" Target="../media/image257.png"/><Relationship Id="rId4" Type="http://schemas.openxmlformats.org/officeDocument/2006/relationships/image" Target="../media/image225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image" Target="../media/image26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Relationship Id="rId3" Type="http://schemas.openxmlformats.org/officeDocument/2006/relationships/image" Target="../media/image259.png"/><Relationship Id="rId4" Type="http://schemas.openxmlformats.org/officeDocument/2006/relationships/image" Target="../media/image260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Relationship Id="rId5" Type="http://schemas.openxmlformats.org/officeDocument/2006/relationships/image" Target="../media/image27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Click a lesson to jump to it. Each lesson numbers its slides from 1, as its Teacher Edition does.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4.02–03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4.04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sp>
        <p:nvSpPr>
          <p:cNvPr id="19" name="TextBox 18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4.05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4.06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sp>
        <p:nvSpPr>
          <p:cNvPr id="27" name="TextBox 26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139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4.07–08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sp>
        <p:nvSpPr>
          <p:cNvPr id="31" name="TextBox 30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learned to write numbers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two of them together — and the powers of ten have to match first.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46126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00480" y="237286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45821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2692" y="23728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74519" y="359816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8" name="Picture 17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70636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7504" y="1760220"/>
            <a:ext cx="1546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2" name="Picture 11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461260"/>
            <a:ext cx="8900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480" y="237286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4" name="Picture 13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458212"/>
            <a:ext cx="905256" cy="286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92692" y="23728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027" y="2372868"/>
            <a:ext cx="100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8" name="Picture 17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59816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1" name="Picture 20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706368"/>
            <a:ext cx="1298448" cy="24079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83373" y="3598164"/>
            <a:ext cx="82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74520" y="2340864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f39e13154060a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375660"/>
            <a:ext cx="4538472" cy="335280"/>
          </a:xfrm>
          <a:prstGeom prst="rect">
            <a:avLst/>
          </a:prstGeom>
        </p:spPr>
      </p:pic>
      <p:pic>
        <p:nvPicPr>
          <p:cNvPr id="13" name="Picture 12" descr="09bdd4fb91237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4050791"/>
            <a:ext cx="8202168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773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eddec5041a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44" y="2340864"/>
            <a:ext cx="5666232" cy="411480"/>
          </a:xfrm>
          <a:prstGeom prst="rect">
            <a:avLst/>
          </a:prstGeom>
        </p:spPr>
      </p:pic>
      <p:pic>
        <p:nvPicPr>
          <p:cNvPr id="11" name="Picture 10" descr="84f16e9d72a5c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048" y="3028188"/>
            <a:ext cx="7583424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5079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fa01ffb8792c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340864"/>
            <a:ext cx="3819144" cy="411480"/>
          </a:xfrm>
          <a:prstGeom prst="rect">
            <a:avLst/>
          </a:prstGeom>
        </p:spPr>
      </p:pic>
      <p:pic>
        <p:nvPicPr>
          <p:cNvPr id="11" name="Picture 10" descr="cfbb3562680e85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3026664"/>
            <a:ext cx="6806184" cy="411480"/>
          </a:xfrm>
          <a:prstGeom prst="rect">
            <a:avLst/>
          </a:prstGeom>
        </p:spPr>
      </p:pic>
      <p:pic>
        <p:nvPicPr>
          <p:cNvPr id="12" name="Picture 11" descr="783fbc1bfea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359" y="3712464"/>
            <a:ext cx="606552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31879" y="3689604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23b08f458fe34a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4792" y="3742944"/>
            <a:ext cx="142036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6692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power, and the answer is not finished.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8e26f3a087b3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4352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50352" y="1892808"/>
            <a:ext cx="3233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add the coefficients</a:t>
            </a:r>
          </a:p>
        </p:txBody>
      </p:sp>
      <p:pic>
        <p:nvPicPr>
          <p:cNvPr id="11" name="Picture 10" descr="1cb28e2e28999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6896"/>
            <a:ext cx="364236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8360" y="2543556"/>
            <a:ext cx="54559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14.5 is not less than 10: point one place left, exponent up one</a:t>
            </a:r>
          </a:p>
        </p:txBody>
      </p:sp>
      <p:pic>
        <p:nvPicPr>
          <p:cNvPr id="13" name="Picture 12" descr="ce53c7f1db8afd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1735"/>
            <a:ext cx="197815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4152" y="31607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ab37c3d4cb37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Different powers, and a subtraction.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0ba903ac78fff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386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9864" y="1868424"/>
            <a:ext cx="56144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rewrite over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pic>
        <p:nvPicPr>
          <p:cNvPr id="11" name="Picture 10" descr="aed5738787927d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57616" y="2525268"/>
            <a:ext cx="30266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subtract the coefficients</a:t>
            </a:r>
          </a:p>
        </p:txBody>
      </p:sp>
      <p:pic>
        <p:nvPicPr>
          <p:cNvPr id="13" name="Picture 12" descr="7c3a73d2cb750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5349240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35240" y="3174492"/>
            <a:ext cx="3749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6ee0cf26c6675a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212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58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0.09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comes off 5.6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e4a44f0bcfa9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add the coefficients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6727" y="2171700"/>
            <a:ext cx="2827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a93ebd6024c356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7291" y="2225040"/>
            <a:ext cx="143256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851" y="2171700"/>
            <a:ext cx="3122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7529" y="2857500"/>
            <a:ext cx="1014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ec31129b2b046b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668" y="2910840"/>
            <a:ext cx="142036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5036" y="2857500"/>
            <a:ext cx="6866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8251" y="2080260"/>
            <a:ext cx="2827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2964bfefdede6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815" y="2132076"/>
            <a:ext cx="142951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8327" y="2080260"/>
            <a:ext cx="3122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7529" y="2766060"/>
            <a:ext cx="1014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c6d077b225e06a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668" y="2817876"/>
            <a:ext cx="1420368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5036" y="2766060"/>
            <a:ext cx="6866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+ 3.5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d662bd9034d4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916" y="2103120"/>
            <a:ext cx="359968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450f0cef92f5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 either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420607bc24c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1c6b03d538cb7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one of them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150b4a7c88f6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104643"/>
            <a:ext cx="42092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6.4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0.64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2860547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97707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2860547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the answer over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 first.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98fdf47dd4ead5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103120"/>
            <a:ext cx="55595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2766060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03220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27660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1.02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10.2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3846" y="2173224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49" y="2194560"/>
            <a:ext cx="5657088" cy="41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17237" y="217322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mistakes, then the sum.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2322" y="2080260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6a5bd63b1555e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25" y="2103120"/>
            <a:ext cx="566013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1876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mistake in the coefficients, one in the exponents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powers of ten had to match before you could add.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do not have to match at all — and they can be as far apart as they like.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6" name="Picture 15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6421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0197" y="237286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32415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9" name="Picture 18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7791" y="385419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2340864"/>
            <a:ext cx="7312152" cy="411480"/>
          </a:xfrm>
          <a:prstGeom prst="rect">
            <a:avLst/>
          </a:prstGeom>
        </p:spPr>
      </p:pic>
      <p:pic>
        <p:nvPicPr>
          <p:cNvPr id="12" name="Picture 11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3058668"/>
            <a:ext cx="111556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7509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4" name="Picture 13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3057144"/>
            <a:ext cx="126187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2340864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435095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5963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2340864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3026664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Multiplying, and the answer needs finishing.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5608" y="1895856"/>
            <a:ext cx="23286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</a:t>
            </a:r>
          </a:p>
        </p:txBody>
      </p:sp>
      <p:pic>
        <p:nvPicPr>
          <p:cNvPr id="11" name="Picture 10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38016" y="25511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coefficients, add the exponents</a:t>
            </a:r>
          </a:p>
        </p:txBody>
      </p:sp>
      <p:pic>
        <p:nvPicPr>
          <p:cNvPr id="13" name="Picture 12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52872" y="3179064"/>
            <a:ext cx="59314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27 is not less than 10: point one place left, exponent up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58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Multiplication and division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7560" y="1897380"/>
            <a:ext cx="4236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top, regrouped</a:t>
            </a:r>
          </a:p>
        </p:txBody>
      </p:sp>
      <p:pic>
        <p:nvPicPr>
          <p:cNvPr id="11" name="Picture 10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25440" y="2790444"/>
            <a:ext cx="59588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the coefficients, subtract the exponents</a:t>
            </a:r>
          </a:p>
        </p:txBody>
      </p:sp>
      <p:pic>
        <p:nvPicPr>
          <p:cNvPr id="13" name="Picture 12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19344" y="3654552"/>
            <a:ext cx="59649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40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Multiply the fronts, add the backs.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9526" y="2171700"/>
            <a:ext cx="30425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bbf6963a68a00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957" y="2225040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90525" y="2171700"/>
            <a:ext cx="2938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5585" y="2857500"/>
            <a:ext cx="2070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0a0363f6ab46a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596" y="291236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65060" y="2857500"/>
            <a:ext cx="5928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Rate times time.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9526" y="2080260"/>
            <a:ext cx="30425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112c6d7561d1ce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957" y="2133599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90525" y="2080260"/>
            <a:ext cx="2938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5585" y="2766060"/>
            <a:ext cx="2070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5f24531f1f0318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596" y="282092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65060" y="2766060"/>
            <a:ext cx="5928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9.6 ÷ 1.2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bottom, and the bottom is negative.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8 − (−4) =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coefficients alone.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92582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8.4 ÷ n = 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368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Each one got exactly one half right.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5008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wrong in front, one wrong behind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81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multiplied and divided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numbers are measurements — and a measurement only knows so much.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053" y="176022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12627" y="237286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3709" y="298551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623" y="359816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285999" y="2340864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2340864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3003804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3055620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377440"/>
            <a:ext cx="338023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94714" y="3003804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1688" y="3689604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4" name="Picture 13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718560"/>
            <a:ext cx="3096768" cy="3992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product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68" y="208026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10" name="Picture 9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2135124"/>
            <a:ext cx="159410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1551" y="208026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996" y="208026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566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37120" y="1895856"/>
            <a:ext cx="3947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in full</a:t>
            </a:r>
          </a:p>
        </p:txBody>
      </p:sp>
      <p:pic>
        <p:nvPicPr>
          <p:cNvPr id="11" name="Picture 10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6912" y="2557272"/>
            <a:ext cx="4087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answer keeps 2</a:t>
            </a:r>
          </a:p>
        </p:txBody>
      </p:sp>
      <p:pic>
        <p:nvPicPr>
          <p:cNvPr id="13" name="Picture 12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136" y="3215640"/>
            <a:ext cx="45811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once, at the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92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108,100, kept to two significant digits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difference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3513" y="208026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10" name="Picture 9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2133599"/>
            <a:ext cx="18044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86393" y="208026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2" name="Picture 11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863596"/>
            <a:ext cx="200863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5661" y="281178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2648" y="1836420"/>
            <a:ext cx="315163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in full</a:t>
            </a:r>
          </a:p>
        </p:txBody>
      </p:sp>
      <p:pic>
        <p:nvPicPr>
          <p:cNvPr id="11" name="Picture 10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912" y="2470404"/>
            <a:ext cx="5230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leftmost last-digit place</a:t>
            </a:r>
          </a:p>
        </p:txBody>
      </p:sp>
      <p:pic>
        <p:nvPicPr>
          <p:cNvPr id="13" name="Picture 12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41792" y="3134868"/>
            <a:ext cx="31424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485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3,576, stopped at the tens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Leading zeros, then trailing zeros.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4, 7 and the last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8837" y="2171700"/>
            <a:ext cx="4697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ba81893977cc2e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147" y="222656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02083" y="217170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11dc73e4b84c6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639" y="2225040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6527" y="217170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digits each.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0361" y="2080260"/>
            <a:ext cx="4697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ca87a5b7cdff05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0671" y="213512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03607" y="208026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39148797183f8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163" y="2133599"/>
            <a:ext cx="1386840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5003" y="208026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11,900, kept to two digits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count wins?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smaller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70" y="219456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10482" y="2171700"/>
            <a:ext cx="4298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Where does each one's last digit sit?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646" y="2104643"/>
            <a:ext cx="402336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12006" y="2080260"/>
            <a:ext cx="4298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2,500 stops at the hundreds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Count both measurements.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140 exactly, kept to two digits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Divide, then count.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3,600 ÷ 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rule is for which operation?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products count digits; sums count 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number was a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radical sign comes back — and its bar is a grouping symbol.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0958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54259" y="237286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7710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2340864"/>
            <a:ext cx="5586984" cy="502920"/>
          </a:xfrm>
          <a:prstGeom prst="rect">
            <a:avLst/>
          </a:prstGeom>
        </p:spPr>
      </p:pic>
      <p:pic>
        <p:nvPicPr>
          <p:cNvPr id="12" name="Picture 11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3118104"/>
            <a:ext cx="3276600" cy="502920"/>
          </a:xfrm>
          <a:prstGeom prst="rect">
            <a:avLst/>
          </a:prstGeom>
        </p:spPr>
      </p:pic>
      <p:pic>
        <p:nvPicPr>
          <p:cNvPr id="13" name="Picture 12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895344"/>
            <a:ext cx="3294888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6603" y="3918204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5" name="Picture 14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4002024"/>
            <a:ext cx="780288" cy="289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2340864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2340864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2340864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3122676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330098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3118104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2793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2340864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4825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459736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355848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7997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1544" y="2029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square the whole base, sign included</a:t>
            </a:r>
          </a:p>
        </p:txBody>
      </p:sp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62600" y="2894075"/>
            <a:ext cx="5821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under the bar, then take the root</a:t>
            </a:r>
          </a:p>
        </p:txBody>
      </p:sp>
      <p:pic>
        <p:nvPicPr>
          <p:cNvPr id="13" name="Picture 12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41064" y="375970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combine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4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1/9 minus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radical inside a product.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1992" y="1943100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two innermost pieces</a:t>
            </a:r>
          </a:p>
        </p:txBody>
      </p:sp>
      <p:pic>
        <p:nvPicPr>
          <p:cNvPr id="11" name="Picture 10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35624" y="2720340"/>
            <a:ext cx="52486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root, then the product</a:t>
            </a:r>
          </a:p>
        </p:txBody>
      </p:sp>
      <p:pic>
        <p:nvPicPr>
          <p:cNvPr id="13" name="Picture 12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6344" y="3386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−2 plus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times itself?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 square's side is the root of its area.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√169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number, three times?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(−5)(−5)(−5)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under the bar first.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+ 17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and bottom each get the root.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30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1/3 and 1/3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each piece, then multiply.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times one hundred twenty-fifth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root is he thinking of?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cube root is not a square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radical bar grouped whatever sat under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every grouping symbol at once — and the order comes from the structure, not from a mnemonic.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4960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791" y="237286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646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50654" y="37414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03120" y="2340864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4553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406396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23180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403348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3084576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3092196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2340864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425952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6360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grouping symbol inside a grouping symbol.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7136" y="18943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innermost: the power inside the parentheses</a:t>
            </a:r>
          </a:p>
        </p:txBody>
      </p:sp>
      <p:pic>
        <p:nvPicPr>
          <p:cNvPr id="11" name="Picture 10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9824" y="2546604"/>
            <a:ext cx="21244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the parentheses, then multiply</a:t>
            </a:r>
          </a:p>
        </p:txBody>
      </p:sp>
      <p:pic>
        <p:nvPicPr>
          <p:cNvPr id="13" name="Picture 12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0368" y="3144011"/>
            <a:ext cx="6153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cube root is 5; add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45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3(0.99) + 7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fraction bar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62144" y="209702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numerator and denominator, each finished</a:t>
            </a:r>
          </a:p>
        </p:txBody>
      </p:sp>
      <p:pic>
        <p:nvPicPr>
          <p:cNvPr id="11" name="Picture 10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13120" y="3183636"/>
            <a:ext cx="54711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under the bar, then the root</a:t>
            </a:r>
          </a:p>
        </p:txBody>
      </p:sp>
      <p:pic>
        <p:nvPicPr>
          <p:cNvPr id="13" name="Picture 12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248" y="4204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2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half plus a half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 ÷ 3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7164" y="2217420"/>
            <a:ext cx="3889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ae9cca3e3cb96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333" y="219456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50893" y="2217420"/>
            <a:ext cx="24006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diagonal is about 19.8 centimetres.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side, then the perimeter.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736" y="2125979"/>
            <a:ext cx="3889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7a82a4f80dc024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905" y="2103120"/>
            <a:ext cx="1042415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46321" y="2125979"/>
            <a:ext cx="24006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diagonal is about 19.8 centimetres.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sides of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centimetres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10 − 4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and the bottom.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39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over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is each exponent attached to?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and +4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Inside first.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998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eighth plus one ninth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84751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Try to make the inside zero.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141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never negative is not the same as always positive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457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read an expression's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expression arrives wrapped in a sentence — and the sentence is not a list of key words.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8" name="Picture 17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08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081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3122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1" name="Picture 20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1880" y="374446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2340864"/>
            <a:ext cx="1557528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23193" y="2449068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3" name="Picture 12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534412"/>
            <a:ext cx="1082040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92928" y="2449068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5" name="Picture 14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535936"/>
            <a:ext cx="96621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5418" y="24490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7" name="Picture 16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3288792"/>
            <a:ext cx="5285232" cy="673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70966" y="3396996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0315" y="4213859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20" name="Picture 19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4302251"/>
            <a:ext cx="1063752" cy="2804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19911" y="4213859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2" name="Picture 21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4239767"/>
            <a:ext cx="2484120" cy="4053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63602" y="4213859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4" name="Picture 23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4271771"/>
            <a:ext cx="1694688" cy="3413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7552" y="49865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problems.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19924" y="2318004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2" name="Picture 11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3057144"/>
            <a:ext cx="22219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46180" y="3689604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4" name="Picture 13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428744"/>
            <a:ext cx="222808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51480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2340864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36372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3095244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3148584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309524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867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formula with a power in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1151" y="221132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0" name="Picture 9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2103120"/>
            <a:ext cx="1554480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69932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9706" y="307390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3" name="Picture 12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71" y="3211068"/>
            <a:ext cx="28346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90735" y="307390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5" name="Picture 14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086" y="3208020"/>
            <a:ext cx="167640" cy="1889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726" y="3073908"/>
            <a:ext cx="3742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metres per second.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9688" y="3805427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8" name="Picture 17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899915"/>
            <a:ext cx="295656" cy="2682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884332" y="3805427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42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2080" y="2028444"/>
            <a:ext cx="617219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substitute, each value in parentheses</a:t>
            </a:r>
          </a:p>
        </p:txBody>
      </p:sp>
      <p:pic>
        <p:nvPicPr>
          <p:cNvPr id="11" name="Picture 10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04232" y="29763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power first — it belongs to the 15 alone</a:t>
            </a:r>
          </a:p>
        </p:txBody>
      </p:sp>
      <p:pic>
        <p:nvPicPr>
          <p:cNvPr id="13" name="Picture 12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03392" y="3762756"/>
            <a:ext cx="5580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then the 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649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425 times 144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cost with a rate and a flat fee.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4221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068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13831" y="1894332"/>
            <a:ext cx="58704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area times the per-square-foot prices, then the flat fee</a:t>
            </a:r>
          </a:p>
        </p:txBody>
      </p:sp>
      <p:pic>
        <p:nvPicPr>
          <p:cNvPr id="11" name="Picture 10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0120" y="25466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area and the rate, each finished</a:t>
            </a:r>
          </a:p>
        </p:txBody>
      </p:sp>
      <p:pic>
        <p:nvPicPr>
          <p:cNvPr id="13" name="Picture 12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1992" y="3142488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multiply, then 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1185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36(4.25) then add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1804" y="2171700"/>
            <a:ext cx="3076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cyclist of mass  </a:t>
            </a:r>
          </a:p>
        </p:txBody>
      </p:sp>
      <p:pic>
        <p:nvPicPr>
          <p:cNvPr id="10" name="Picture 9" descr="cf577f11d8a35f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784" y="2260092"/>
            <a:ext cx="10820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2824" y="2171700"/>
            <a:ext cx="2325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rides at  </a:t>
            </a:r>
          </a:p>
        </p:txBody>
      </p:sp>
      <p:pic>
        <p:nvPicPr>
          <p:cNvPr id="12" name="Picture 11" descr="e9f90958d544e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351" y="2258568"/>
            <a:ext cx="752856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94207" y="2171700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117" y="3563443"/>
            <a:ext cx="4265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her kinetic energy,  </a:t>
            </a:r>
          </a:p>
        </p:txBody>
      </p:sp>
      <p:pic>
        <p:nvPicPr>
          <p:cNvPr id="16" name="Picture 15" descr="69f338afbe2042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2486" y="3455239"/>
            <a:ext cx="1554480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6966" y="356344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4032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24959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1804" y="2080260"/>
            <a:ext cx="3076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cyclist of mass  </a:t>
            </a:r>
          </a:p>
        </p:txBody>
      </p:sp>
      <p:pic>
        <p:nvPicPr>
          <p:cNvPr id="10" name="Picture 9" descr="cf577f11d8a35f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784" y="2168652"/>
            <a:ext cx="10820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2824" y="2080260"/>
            <a:ext cx="2325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rides at  </a:t>
            </a:r>
          </a:p>
        </p:txBody>
      </p:sp>
      <p:pic>
        <p:nvPicPr>
          <p:cNvPr id="12" name="Picture 11" descr="e9f90958d544e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351" y="2167127"/>
            <a:ext cx="752856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94207" y="2080260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2593" y="3472003"/>
            <a:ext cx="4265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her kinetic energy,  </a:t>
            </a:r>
          </a:p>
        </p:txBody>
      </p:sp>
      <p:pic>
        <p:nvPicPr>
          <p:cNvPr id="16" name="Picture 15" descr="0adc02d1493e5a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62" y="3363799"/>
            <a:ext cx="1557528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8490" y="347200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357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35 times 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8896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happens six times?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15 + 4(6)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price depends on the area?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1980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64(3.50) + 60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Round once, at the end.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009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 × 14.1421…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first.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0754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45 over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The same three numbers, the same words.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39 and 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