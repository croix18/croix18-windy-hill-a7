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96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image" Target="../media/image1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Relationship Id="rId3" Type="http://schemas.openxmlformats.org/officeDocument/2006/relationships/image" Target="../media/image24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openxmlformats.org/officeDocument/2006/relationships/image" Target="../media/image3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png"/><Relationship Id="rId4" Type="http://schemas.openxmlformats.org/officeDocument/2006/relationships/image" Target="../media/image34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1691640"/>
            <a:ext cx="10607040" cy="347472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500" b="0" i="0">
                <a:solidFill>
                  <a:srgbClr val="6B6B6B"/>
                </a:solidFill>
                <a:latin typeface="Century Schoolbook"/>
              </a:rPr>
              <a:t>GRADE 7 ACCELERATED  ·  UNIT 4  ·  LESSONS 2–3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048256"/>
            <a:ext cx="10607040" cy="10058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3400" b="1" i="0">
                <a:solidFill>
                  <a:srgbClr val="1A1A1A"/>
                </a:solidFill>
                <a:latin typeface="Century Schoolbook"/>
              </a:rPr>
              <a:t>Multiplying and Dividing in Scientific Notation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3291840" y="3255264"/>
            <a:ext cx="55778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3291840" y="3337560"/>
            <a:ext cx="55778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50215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600" b="1" i="0">
                <a:solidFill>
                  <a:srgbClr val="1A1A1A"/>
                </a:solidFill>
                <a:latin typeface="Century Schoolbook"/>
              </a:rPr>
              <a:t>MA.8.NSO.1.5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840480"/>
            <a:ext cx="10607040" cy="7315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1A1A1A"/>
                </a:solidFill>
                <a:latin typeface="Century Schoolbook"/>
              </a:rPr>
              <a:t>I can multiply and divide two numbers written in scientific notation, and write the answer in scientific notation.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2377440" y="4736592"/>
            <a:ext cx="7406640" cy="1051560"/>
          </a:xfrm>
          <a:prstGeom prst="rect">
            <a:avLst/>
          </a:prstGeom>
          <a:solidFill>
            <a:srgbClr val="F2F2F0"/>
          </a:solidFill>
          <a:ln w="9525">
            <a:solidFill>
              <a:srgbClr val="BFBFB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606040" y="4892040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0" i="1">
                <a:solidFill>
                  <a:srgbClr val="6B6B6B"/>
                </a:solidFill>
                <a:latin typeface="Century Schoolbook"/>
              </a:rPr>
              <a:t>Yesterday the powers of ten had to match before you could add.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06040" y="5276088"/>
            <a:ext cx="69494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700" b="1" i="0">
                <a:solidFill>
                  <a:srgbClr val="1A1A1A"/>
                </a:solidFill>
                <a:latin typeface="Century Schoolbook"/>
              </a:rPr>
              <a:t>Today they do not have to match at all — and they can be as far apart as they like.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On your own. Four minutes. No notes.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969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132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74519" y="2415540"/>
            <a:ext cx="4159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2" name="Picture 11" descr="c3319779916042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64" y="2395728"/>
            <a:ext cx="329184" cy="49682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874519" y="3070860"/>
            <a:ext cx="3551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4" name="Picture 13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296" y="3095244"/>
            <a:ext cx="853440" cy="408432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874519" y="3691128"/>
            <a:ext cx="40076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6" name="Picture 15" descr="c24fdd83adec10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972" y="3706368"/>
            <a:ext cx="292608" cy="4267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Warm-Up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19" y="1760220"/>
            <a:ext cx="969771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1.   </a:t>
            </a:r>
          </a:p>
        </p:txBody>
      </p:sp>
      <p:pic>
        <p:nvPicPr>
          <p:cNvPr id="10" name="Picture 9" descr="7655f1be3ef338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7132" y="1821180"/>
            <a:ext cx="3099816" cy="335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355587" y="1760220"/>
            <a:ext cx="173507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6.2 × 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415540"/>
            <a:ext cx="415950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2.   Write as one power:  </a:t>
            </a:r>
          </a:p>
        </p:txBody>
      </p:sp>
      <p:pic>
        <p:nvPicPr>
          <p:cNvPr id="13" name="Picture 12" descr="c3319779916042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96864" y="2395728"/>
            <a:ext cx="329184" cy="4968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74688" y="2372868"/>
            <a:ext cx="71856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10</a:t>
            </a:r>
            <a:r>
              <a:rPr sz="23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74519" y="3070860"/>
            <a:ext cx="355193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3.   Find the value:  </a:t>
            </a:r>
          </a:p>
        </p:txBody>
      </p:sp>
      <p:pic>
        <p:nvPicPr>
          <p:cNvPr id="16" name="Picture 15" descr="d68e6e8f02f1f5e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89296" y="3095244"/>
            <a:ext cx="853440" cy="40843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691376" y="3070860"/>
            <a:ext cx="54914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74519" y="3691128"/>
            <a:ext cx="400761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0" i="0">
                <a:solidFill>
                  <a:srgbClr val="1A1A1A"/>
                </a:solidFill>
                <a:latin typeface="Century Schoolbook"/>
              </a:rPr>
              <a:t>4.   Find the quotient:  </a:t>
            </a:r>
          </a:p>
        </p:txBody>
      </p:sp>
      <p:pic>
        <p:nvPicPr>
          <p:cNvPr id="19" name="Picture 18" descr="c24fdd83adec105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44972" y="3706368"/>
            <a:ext cx="292608" cy="42672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6586220" y="3683508"/>
            <a:ext cx="379729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300" b="1" i="0">
                <a:solidFill>
                  <a:srgbClr val="9E1B32"/>
                </a:solidFill>
                <a:latin typeface="Century Schoolbook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Copy both lines.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I.  Multiplying: regroup, then use the laws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Picture 10" descr="9c8d3ef4a52a09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7732" y="2340864"/>
            <a:ext cx="7306056" cy="414528"/>
          </a:xfrm>
          <a:prstGeom prst="rect">
            <a:avLst/>
          </a:prstGeom>
        </p:spPr>
      </p:pic>
      <p:pic>
        <p:nvPicPr>
          <p:cNvPr id="12" name="Picture 11" descr="f5cada7c811cd68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6584" y="3061716"/>
            <a:ext cx="1112520" cy="3474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769104" y="3006852"/>
            <a:ext cx="2614168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,    never    </a:t>
            </a:r>
          </a:p>
        </p:txBody>
      </p:sp>
      <p:pic>
        <p:nvPicPr>
          <p:cNvPr id="14" name="Picture 13" descr="6f5d93cbf6fe4ac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112" y="3060191"/>
            <a:ext cx="125882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87552" y="3779520"/>
            <a:ext cx="10131551" cy="95097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Multiply the coefficients. Add the exponents — that is the product of powers law, not a new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II.  Dividing: the same move with the quotient law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fb989068a26ffd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1795" y="2340864"/>
            <a:ext cx="4757928" cy="615696"/>
          </a:xfrm>
          <a:prstGeom prst="rect">
            <a:avLst/>
          </a:prstGeom>
        </p:spPr>
      </p:pic>
      <p:pic>
        <p:nvPicPr>
          <p:cNvPr id="11" name="Picture 10" descr="d744254e51d2736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2256" y="3230880"/>
            <a:ext cx="5017008" cy="615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4184904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Divide the coefficients. Subtract the exponents, top minus bottom.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Notes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0607040" cy="40233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500" b="1" i="0">
                <a:solidFill>
                  <a:srgbClr val="1A1A1A"/>
                </a:solidFill>
                <a:latin typeface="Century Schoolbook"/>
              </a:rPr>
              <a:t>III.  Finish the answer — both directions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77240" y="2176272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Picture 9" descr="71a6fe4f15b967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78836" y="2340864"/>
            <a:ext cx="6403848" cy="414528"/>
          </a:xfrm>
          <a:prstGeom prst="rect">
            <a:avLst/>
          </a:prstGeom>
        </p:spPr>
      </p:pic>
      <p:pic>
        <p:nvPicPr>
          <p:cNvPr id="11" name="Picture 10" descr="79b677b72dcf6b5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0316" y="3029711"/>
            <a:ext cx="5580888" cy="61264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87552" y="3980688"/>
            <a:ext cx="10131551" cy="475488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300" b="1" i="0">
                <a:solidFill>
                  <a:srgbClr val="1A1A1A"/>
                </a:solidFill>
                <a:latin typeface="Century Schoolbook"/>
              </a:rPr>
              <a:t>Every answer ends with a coefficient at least 1 and less than 10.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Multiplying, and the answer needs finishing.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7</a:t>
            </a:r>
          </a:p>
        </p:txBody>
      </p:sp>
      <p:pic>
        <p:nvPicPr>
          <p:cNvPr id="9" name="Picture 8" descr="7b4ae14dd869224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5696" y="2103120"/>
            <a:ext cx="3310128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1752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Multiply. Write the answer in scientific notation.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1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8</a:t>
            </a:r>
          </a:p>
        </p:txBody>
      </p:sp>
      <p:pic>
        <p:nvPicPr>
          <p:cNvPr id="9" name="Picture 8" descr="d73d4fc817d4176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6766560" cy="4114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9052560" y="1897380"/>
            <a:ext cx="23317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regroup</a:t>
            </a:r>
          </a:p>
        </p:txBody>
      </p:sp>
      <p:pic>
        <p:nvPicPr>
          <p:cNvPr id="11" name="Picture 10" descr="2096190fe493608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6040"/>
            <a:ext cx="1652016" cy="3505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3938016" y="2552700"/>
            <a:ext cx="640080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multiply the coefficients, add the exponents</a:t>
            </a:r>
          </a:p>
        </p:txBody>
      </p:sp>
      <p:pic>
        <p:nvPicPr>
          <p:cNvPr id="13" name="Picture 12" descr="8041856825bc983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230880"/>
            <a:ext cx="3166872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52872" y="3179064"/>
            <a:ext cx="5931408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27 is not less than 10: point one place left, exponent up 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2.7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9</a:t>
            </a:r>
          </a:p>
        </p:txBody>
      </p:sp>
      <p:pic>
        <p:nvPicPr>
          <p:cNvPr id="9" name="Picture 8" descr="945d13953f7af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91" y="2194560"/>
            <a:ext cx="4136136" cy="51816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10</a:t>
            </a:r>
          </a:p>
        </p:txBody>
      </p:sp>
      <p:pic>
        <p:nvPicPr>
          <p:cNvPr id="9" name="Picture 8" descr="945d13953f7af1b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2691" y="2194560"/>
            <a:ext cx="4136136" cy="51816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032760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repair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Multiplication and division in one expression.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11</a:t>
            </a:r>
          </a:p>
        </p:txBody>
      </p:sp>
      <p:pic>
        <p:nvPicPr>
          <p:cNvPr id="9" name="Picture 8" descr="1d1311c3c441be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4336" y="2103120"/>
            <a:ext cx="2212848" cy="65836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264408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1" i="0">
                <a:solidFill>
                  <a:srgbClr val="1A1A1A"/>
                </a:solidFill>
                <a:latin typeface="Century Schoolbook"/>
              </a:rPr>
              <a:t>Evaluate. Write the answer in scientific notation.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Example 2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Worked.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12</a:t>
            </a:r>
          </a:p>
        </p:txBody>
      </p:sp>
      <p:pic>
        <p:nvPicPr>
          <p:cNvPr id="9" name="Picture 8" descr="73c9927432c7562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920240"/>
            <a:ext cx="4861560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147560" y="1898904"/>
            <a:ext cx="4236720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the top, regrouped</a:t>
            </a:r>
          </a:p>
        </p:txBody>
      </p:sp>
      <p:pic>
        <p:nvPicPr>
          <p:cNvPr id="11" name="Picture 10" descr="8e48cf523ce2db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28800" y="2609087"/>
            <a:ext cx="2727960" cy="615696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5013960" y="2688335"/>
            <a:ext cx="6370319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divide the coefficients, subtract the exponents</a:t>
            </a:r>
          </a:p>
        </p:txBody>
      </p:sp>
      <p:pic>
        <p:nvPicPr>
          <p:cNvPr id="13" name="Picture 12" descr="ef33542baace30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00" y="3499103"/>
            <a:ext cx="3133344" cy="353568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419344" y="3447287"/>
            <a:ext cx="5964935" cy="50292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l"/>
            <a:r>
              <a:rPr sz="2100" b="0" i="1">
                <a:solidFill>
                  <a:srgbClr val="6B6B6B"/>
                </a:solidFill>
                <a:latin typeface="Century Schoolbook"/>
              </a:rPr>
              <a:t>finish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1.2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Same steps, your numbers. Boards up when done.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13</a:t>
            </a:r>
          </a:p>
        </p:txBody>
      </p:sp>
      <p:pic>
        <p:nvPicPr>
          <p:cNvPr id="9" name="Picture 8" descr="6ee99d863f496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60" y="2194560"/>
            <a:ext cx="2667000" cy="829056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Your Turn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14</a:t>
            </a:r>
          </a:p>
        </p:txBody>
      </p:sp>
      <p:pic>
        <p:nvPicPr>
          <p:cNvPr id="9" name="Picture 8" descr="6ee99d863f49629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7260" y="2194560"/>
            <a:ext cx="2667000" cy="8290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3343656"/>
            <a:ext cx="10607040" cy="42937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24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over 8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7200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15</a:t>
            </a:r>
          </a:p>
        </p:txBody>
      </p:sp>
      <p:pic>
        <p:nvPicPr>
          <p:cNvPr id="9" name="Picture 8" descr="a47a82f506d1e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Multiply the fronts, add the backs.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1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16</a:t>
            </a:r>
          </a:p>
        </p:txBody>
      </p:sp>
      <p:pic>
        <p:nvPicPr>
          <p:cNvPr id="9" name="Picture 8" descr="a47a82f506d1e5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0312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283768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3 · 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4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003" y="2171700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bbf6963a68a00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24" y="2225040"/>
            <a:ext cx="111556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2692" y="2171700"/>
            <a:ext cx="3300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776" y="2857500"/>
            <a:ext cx="24424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0a0363f6ab46a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0" y="2912364"/>
            <a:ext cx="142646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3544" y="2857500"/>
            <a:ext cx="6563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56616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Rate times time.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2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45003" y="2080260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 printer makes  </a:t>
            </a:r>
          </a:p>
        </p:txBody>
      </p:sp>
      <p:pic>
        <p:nvPicPr>
          <p:cNvPr id="10" name="Picture 9" descr="bbf6963a68a0084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7124" y="2133599"/>
            <a:ext cx="1115568" cy="3505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2692" y="2080260"/>
            <a:ext cx="330098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copies per hour.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776" y="2766060"/>
            <a:ext cx="2442464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It runs for  </a:t>
            </a:r>
          </a:p>
        </p:txBody>
      </p:sp>
      <p:pic>
        <p:nvPicPr>
          <p:cNvPr id="13" name="Picture 12" descr="0a0363f6ab46a48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7080" y="2820924"/>
            <a:ext cx="1426464" cy="347472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733544" y="2766060"/>
            <a:ext cx="656336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hours. Paper costs 3 cents a sheet.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3474720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How many copies does it make?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095319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10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5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, then finish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26839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19</a:t>
            </a:r>
          </a:p>
        </p:txBody>
      </p:sp>
      <p:pic>
        <p:nvPicPr>
          <p:cNvPr id="9" name="Picture 8" descr="da75ff8038d9e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72" y="2194560"/>
            <a:ext cx="1027176" cy="615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3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20</a:t>
            </a:r>
          </a:p>
        </p:txBody>
      </p:sp>
      <p:pic>
        <p:nvPicPr>
          <p:cNvPr id="9" name="Picture 8" descr="da75ff8038d9e8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7172" y="2103120"/>
            <a:ext cx="1027176" cy="615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388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9.6 ÷ 1.2 and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8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÷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8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21</a:t>
            </a:r>
          </a:p>
        </p:txBody>
      </p:sp>
      <p:pic>
        <p:nvPicPr>
          <p:cNvPr id="9" name="Picture 8" descr="0066caab4ea6ae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75" y="2194560"/>
            <a:ext cx="1267968" cy="6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Finish the answer.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4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22</a:t>
            </a:r>
          </a:p>
        </p:txBody>
      </p:sp>
      <p:pic>
        <p:nvPicPr>
          <p:cNvPr id="9" name="Picture 8" descr="0066caab4ea6ae6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46775" y="2103120"/>
            <a:ext cx="1267968" cy="61264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35807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0.53 × 10</a:t>
            </a:r>
            <a:r>
              <a:rPr sz="2400" b="0" i="0" baseline="30000">
                <a:solidFill>
                  <a:srgbClr val="6B6B6B"/>
                </a:solidFill>
                <a:latin typeface="Century Schoolbook"/>
              </a:rPr>
              <a:t>-2</a:t>
            </a:r>
            <a:r>
              <a:rPr sz="2400" b="0" i="0">
                <a:solidFill>
                  <a:srgbClr val="6B6B6B"/>
                </a:solidFill>
                <a:latin typeface="Century Schoolbook"/>
              </a:rPr>
              <a:t> is not finished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5.3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-3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23</a:t>
            </a:r>
          </a:p>
        </p:txBody>
      </p:sp>
      <p:pic>
        <p:nvPicPr>
          <p:cNvPr id="9" name="Picture 8" descr="c0f8266fbc796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5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24</a:t>
            </a:r>
          </a:p>
        </p:txBody>
      </p:sp>
      <p:pic>
        <p:nvPicPr>
          <p:cNvPr id="9" name="Picture 8" descr="c0f8266fbc7965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0312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82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6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82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40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5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40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6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99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6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9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25</a:t>
            </a:r>
          </a:p>
        </p:txBody>
      </p:sp>
      <p:pic>
        <p:nvPicPr>
          <p:cNvPr id="9" name="Picture 8" descr="f125fe26b9d13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9456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88340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A.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5497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23552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241367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6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26</a:t>
            </a:r>
          </a:p>
        </p:txBody>
      </p:sp>
      <p:pic>
        <p:nvPicPr>
          <p:cNvPr id="9" name="Picture 8" descr="f125fe26b9d135b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5632" y="2103120"/>
            <a:ext cx="2810256" cy="414528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2791967"/>
            <a:ext cx="10607040" cy="465151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0" i="0">
                <a:solidFill>
                  <a:srgbClr val="1A1A1A"/>
                </a:solidFill>
                <a:latin typeface="Century Schoolbook"/>
              </a:rPr>
              <a:t>Which is the product, written in scientific notation?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19" y="34582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9E1B32"/>
                </a:solidFill>
                <a:latin typeface="Century Schoolbook"/>
              </a:rPr>
              <a:t>A.   </a:t>
            </a:r>
            <a:r>
              <a:rPr sz="2400" b="1" i="0">
                <a:solidFill>
                  <a:srgbClr val="9E1B32"/>
                </a:solidFill>
                <a:latin typeface="Century Schoolbook"/>
              </a:rPr>
              <a:t>2 × 10</a:t>
            </a:r>
            <a:r>
              <a:rPr sz="24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34582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B.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19" y="41440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C.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144087"/>
            <a:ext cx="457200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400" b="1" i="0">
                <a:solidFill>
                  <a:srgbClr val="1A1A1A"/>
                </a:solidFill>
                <a:latin typeface="Century Schoolbook"/>
              </a:rPr>
              <a:t>D.   </a:t>
            </a:r>
            <a:r>
              <a:rPr sz="2400" b="0" i="0">
                <a:solidFill>
                  <a:srgbClr val="1A1A1A"/>
                </a:solidFill>
                <a:latin typeface="Century Schoolbook"/>
              </a:rPr>
              <a:t>20 × 10</a:t>
            </a:r>
            <a:r>
              <a:rPr sz="2400" b="0" i="0" baseline="30000">
                <a:solidFill>
                  <a:srgbClr val="1A1A1A"/>
                </a:solidFill>
                <a:latin typeface="Century Schoolbook"/>
              </a:rPr>
              <a:t>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49927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A — 2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10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27</a:t>
            </a:r>
          </a:p>
        </p:txBody>
      </p:sp>
      <p:pic>
        <p:nvPicPr>
          <p:cNvPr id="9" name="Picture 8" descr="ad0cae53a5fba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795" y="2194560"/>
            <a:ext cx="947928" cy="615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Top minus bottom, and the bottom is negative.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7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28</a:t>
            </a:r>
          </a:p>
        </p:txBody>
      </p:sp>
      <p:pic>
        <p:nvPicPr>
          <p:cNvPr id="9" name="Picture 8" descr="ad0cae53a5fba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6795" y="2103120"/>
            <a:ext cx="947928" cy="61569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828800" y="3038855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8 − (−4) =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1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12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Boards up on three.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29</a:t>
            </a:r>
          </a:p>
        </p:txBody>
      </p:sp>
      <p:pic>
        <p:nvPicPr>
          <p:cNvPr id="9" name="Picture 8" descr="544f8885cee71c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7" y="2194560"/>
            <a:ext cx="2889504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7000" y="3055619"/>
            <a:ext cx="38160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936" y="3192779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07960" y="3055619"/>
            <a:ext cx="5537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343400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Answer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828032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Look at the coefficients alone.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8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30</a:t>
            </a:r>
          </a:p>
        </p:txBody>
      </p:sp>
      <p:pic>
        <p:nvPicPr>
          <p:cNvPr id="9" name="Picture 8" descr="544f8885cee71c1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6007" y="2103120"/>
            <a:ext cx="2889504" cy="6096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937000" y="2964179"/>
            <a:ext cx="3816096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What is the value of </a:t>
            </a:r>
          </a:p>
        </p:txBody>
      </p:sp>
      <p:pic>
        <p:nvPicPr>
          <p:cNvPr id="11" name="Picture 10" descr="ce9b607ea85ce74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5936" y="3101339"/>
            <a:ext cx="192024" cy="182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807960" y="2964179"/>
            <a:ext cx="55372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18560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8.4 ÷ n = 4.2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663440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n = 2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Take your time. Boards up when you have written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092" y="2273807"/>
            <a:ext cx="1068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be067deea74d5e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94560"/>
            <a:ext cx="1027176" cy="615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3939" y="2273807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a61c108a2c4f32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060" y="2325624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62908" y="3061716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5029bb2e4362f2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028" y="3115055"/>
            <a:ext cx="124358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770375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428744"/>
            <a:ext cx="10607040" cy="45720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600" b="1" i="0">
                <a:solidFill>
                  <a:srgbClr val="1A1A1A"/>
                </a:solidFill>
                <a:latin typeface="Century Schoolbook"/>
              </a:rPr>
              <a:t>Write your answer in sentences.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13376"/>
            <a:ext cx="1060704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1900" b="0" i="1">
                <a:solidFill>
                  <a:srgbClr val="6B6B6B"/>
                </a:solidFill>
                <a:latin typeface="Century Schoolbook"/>
              </a:rPr>
              <a:t>Each one got exactly one half right.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400" b="1" i="0">
                <a:solidFill>
                  <a:srgbClr val="1A1A1A"/>
                </a:solidFill>
                <a:latin typeface="Century Schoolbook"/>
              </a:rPr>
              <a:t>Whiteboards   ·   Question 9 of 9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Answer.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95092" y="2182368"/>
            <a:ext cx="1068832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For  </a:t>
            </a:r>
          </a:p>
        </p:txBody>
      </p:sp>
      <p:pic>
        <p:nvPicPr>
          <p:cNvPr id="10" name="Picture 9" descr="be067deea74d5ed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6763" y="2103120"/>
            <a:ext cx="1027176" cy="615696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853939" y="2182368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  Marcus writes  </a:t>
            </a:r>
          </a:p>
        </p:txBody>
      </p:sp>
      <p:pic>
        <p:nvPicPr>
          <p:cNvPr id="12" name="Picture 11" descr="a61c108a2c4f32a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46060" y="2234184"/>
            <a:ext cx="1420368" cy="35356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962908" y="2970275"/>
            <a:ext cx="3129280" cy="457200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l"/>
            <a:r>
              <a:rPr sz="2600" b="0" i="0">
                <a:solidFill>
                  <a:srgbClr val="1A1A1A"/>
                </a:solidFill>
                <a:latin typeface="Century Schoolbook"/>
              </a:rPr>
              <a:t>and Sara writes  </a:t>
            </a:r>
          </a:p>
        </p:txBody>
      </p:sp>
      <p:pic>
        <p:nvPicPr>
          <p:cNvPr id="14" name="Picture 13" descr="5029bb2e4362f29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5028" y="3023615"/>
            <a:ext cx="1243584" cy="35052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777240" y="3678936"/>
            <a:ext cx="1060704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300" b="0" i="0">
                <a:solidFill>
                  <a:srgbClr val="1A1A1A"/>
                </a:solidFill>
                <a:latin typeface="Century Schoolbook"/>
              </a:rPr>
              <a:t>Name what each one did wrong, and give the correct quotient.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245864"/>
            <a:ext cx="850392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2400" b="0" i="0">
                <a:solidFill>
                  <a:srgbClr val="6B6B6B"/>
                </a:solidFill>
                <a:latin typeface="Century Schoolbook"/>
              </a:rPr>
              <a:t>one wrong in front, one wrong behind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977384"/>
            <a:ext cx="10607040" cy="54864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ctr"/>
            <a:r>
              <a:rPr sz="3200" b="1" i="0">
                <a:solidFill>
                  <a:srgbClr val="9E1B32"/>
                </a:solidFill>
                <a:latin typeface="Century Schoolbook"/>
              </a:rPr>
              <a:t>Answer:   3 × 10</a:t>
            </a:r>
            <a:r>
              <a:rPr sz="3200" b="1" i="0" baseline="30000">
                <a:solidFill>
                  <a:srgbClr val="9E1B32"/>
                </a:solidFill>
                <a:latin typeface="Century Schoolbook"/>
              </a:rPr>
              <a:t>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Independent Set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Six questions. On your own, in silence.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01168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01168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Six questions. Work down the page.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55117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551176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Show the step that does the work, not just the answer.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090672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090672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Silence until the six minutes are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365760"/>
            <a:ext cx="10607040" cy="6400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3600" b="1" i="0">
                <a:solidFill>
                  <a:srgbClr val="1A1A1A"/>
                </a:solidFill>
                <a:latin typeface="Century Schoolbook"/>
              </a:rPr>
              <a:t>IXL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777240" y="1097280"/>
            <a:ext cx="10607040" cy="0"/>
          </a:xfrm>
          <a:prstGeom prst="line">
            <a:avLst/>
          </a:prstGeom>
          <a:ln w="19050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777240" y="1179576"/>
            <a:ext cx="10607040" cy="0"/>
          </a:xfrm>
          <a:prstGeom prst="line">
            <a:avLst/>
          </a:prstGeom>
          <a:ln w="9525">
            <a:solidFill>
              <a:srgbClr val="1A1A1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777240" y="1261872"/>
            <a:ext cx="10607040" cy="3108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700" b="0" i="1">
                <a:solidFill>
                  <a:srgbClr val="6B6B6B"/>
                </a:solidFill>
                <a:latin typeface="Century Schoolbook"/>
              </a:rPr>
              <a:t>Last five minutes.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6199632"/>
            <a:ext cx="10607040" cy="0"/>
          </a:xfrm>
          <a:prstGeom prst="line">
            <a:avLst/>
          </a:prstGeom>
          <a:ln w="9525">
            <a:solidFill>
              <a:srgbClr val="6B6B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77240" y="6272784"/>
            <a:ext cx="969264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100" b="0" i="1">
                <a:solidFill>
                  <a:srgbClr val="6B6B6B"/>
                </a:solidFill>
                <a:latin typeface="Century Schoolbook"/>
              </a:rPr>
              <a:t>Grade 7 Accelerated · Unit 4 · Lessons 2–3 — Multiplying and Dividing in Scientific Notation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44200" y="6272784"/>
            <a:ext cx="640080" cy="27432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r"/>
            <a:r>
              <a:rPr sz="1100" b="0" i="0">
                <a:solidFill>
                  <a:srgbClr val="6B6B6B"/>
                </a:solidFill>
                <a:latin typeface="Century Schoolbook"/>
              </a:rPr>
              <a:t>34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82880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1.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828800"/>
            <a:ext cx="9829800" cy="41148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Open IXL and start today's skills.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331720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2.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54480" y="2331720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Work on paper where the question needs work. The answer box does not show it.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91256"/>
            <a:ext cx="548640" cy="35661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0B5394"/>
                </a:solidFill>
                <a:latin typeface="Century Schoolbook"/>
              </a:rPr>
              <a:t>3.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191256"/>
            <a:ext cx="9829800" cy="768096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0" i="0">
                <a:solidFill>
                  <a:srgbClr val="1A1A1A"/>
                </a:solidFill>
                <a:latin typeface="Century Schoolbook"/>
              </a:rPr>
              <a:t>Every skill listed is required, to a SmartScore of 67. Due at the start of the next class.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096511"/>
            <a:ext cx="10241280" cy="365760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2100" b="1" i="0">
                <a:solidFill>
                  <a:srgbClr val="1A1A1A"/>
                </a:solidFill>
                <a:latin typeface="Century Schoolbook"/>
              </a:rPr>
              <a:t>Today's skills — all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4507992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Multiply numbers written in scientific notation — YZU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4837176"/>
            <a:ext cx="9692640" cy="329184"/>
          </a:xfrm>
          <a:prstGeom prst="rect">
            <a:avLst/>
          </a:prstGeom>
          <a:noFill/>
        </p:spPr>
        <p:txBody>
          <a:bodyPr wrap="square" lIns="45720" rIns="45720" tIns="18288" bIns="18288" anchor="t">
            <a:spAutoFit/>
          </a:bodyPr>
          <a:lstStyle/>
          <a:p>
            <a:pPr algn="l"/>
            <a:r>
              <a:rPr sz="1900" b="0" i="0">
                <a:solidFill>
                  <a:srgbClr val="1A1A1A"/>
                </a:solidFill>
                <a:latin typeface="Century Schoolbook"/>
              </a:rPr>
              <a:t>Divide numbers written in scientific notation — SGT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