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Order of Operations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 multi-step expression with rational numbers, exponents and radicals by reading its 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radical bar grouped whatever sat under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every grouping symbol at once — and the order comes from the structure, not from a mnemonic.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535c314b8c201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114300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6812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significant digits are in  1.020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05714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70fd4f7c195b2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8376"/>
            <a:ext cx="795528" cy="554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741420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5" name="Picture 14" descr="9720c4bedb33e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854196"/>
            <a:ext cx="1088136" cy="231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535c314b8c201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114300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49605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6812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significant digits are in  1.020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791" y="2372868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5714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70fd4f7c195b2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8376"/>
            <a:ext cx="795528" cy="5547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6467" y="2985516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41420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8" name="Picture 17" descr="9720c4bedb33e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854196"/>
            <a:ext cx="1088136" cy="2316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50654" y="37414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structure, not a mnemonic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03120" y="2340864"/>
          <a:ext cx="7955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Grouping symbols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( ), [ ], the radical bar, the fraction 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Powers and roots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the same level as each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Multiply and divide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Add and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4553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Innermost grouping symbol first, then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Left to right means left to 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75470b2ad78cf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001" y="2406396"/>
            <a:ext cx="2962656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0657" y="23180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 never   </a:t>
            </a:r>
          </a:p>
        </p:txBody>
      </p:sp>
      <p:pic>
        <p:nvPicPr>
          <p:cNvPr id="12" name="Picture 11" descr="0c14e80cd2eaab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854" y="2403348"/>
            <a:ext cx="1502664" cy="286512"/>
          </a:xfrm>
          <a:prstGeom prst="rect">
            <a:avLst/>
          </a:prstGeom>
        </p:spPr>
      </p:pic>
      <p:pic>
        <p:nvPicPr>
          <p:cNvPr id="13" name="Picture 12" descr="c6cb11828cf70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261" y="3084576"/>
            <a:ext cx="3343656" cy="295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65917" y="30038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 never   </a:t>
            </a:r>
          </a:p>
        </p:txBody>
      </p:sp>
      <p:pic>
        <p:nvPicPr>
          <p:cNvPr id="15" name="Picture 14" descr="3d97c3435e5f92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114" y="3092196"/>
            <a:ext cx="153314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Multiplication and division are one level. Addition and subtraction are one level. Left to right, both 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fraction bar groups,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52b1d3b1e5b1c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796" y="2340864"/>
            <a:ext cx="2471928" cy="810768"/>
          </a:xfrm>
          <a:prstGeom prst="rect">
            <a:avLst/>
          </a:prstGeom>
        </p:spPr>
      </p:pic>
      <p:pic>
        <p:nvPicPr>
          <p:cNvPr id="11" name="Picture 10" descr="ffadcec50e54c8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532" y="3425952"/>
            <a:ext cx="5172456" cy="8717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6360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Finish the numerator and finish the denominator before you divide.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grouping symbol inside a grouping symbol.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4b1ef9fa2dcb4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036" y="2103120"/>
            <a:ext cx="3965448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08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53dd49f16316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31136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7136" y="18943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innermost: the power inside the parentheses</a:t>
            </a:r>
          </a:p>
        </p:txBody>
      </p:sp>
      <p:pic>
        <p:nvPicPr>
          <p:cNvPr id="11" name="Picture 10" descr="340b208cd1f743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697382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9824" y="2546604"/>
            <a:ext cx="21244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 the parentheses, then multiply</a:t>
            </a:r>
          </a:p>
        </p:txBody>
      </p:sp>
      <p:pic>
        <p:nvPicPr>
          <p:cNvPr id="13" name="Picture 12" descr="90bf680791a0f6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2944368" cy="295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0368" y="3144011"/>
            <a:ext cx="615391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cube root is 5; add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−1.44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dcc7e91a07786a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23" y="2194560"/>
            <a:ext cx="4538472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7d9dafa919c33a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571" y="2194560"/>
            <a:ext cx="4532376" cy="63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455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3(0.99) + 7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fraction bar and a radical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9657b87afa13d5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7" y="2103120"/>
            <a:ext cx="2798064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777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84a5d14892d3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676144" cy="810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62144" y="209702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numerator and denominator, each finished</a:t>
            </a:r>
          </a:p>
        </p:txBody>
      </p:sp>
      <p:pic>
        <p:nvPicPr>
          <p:cNvPr id="11" name="Picture 10" descr="d857c92eedcaec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5328"/>
            <a:ext cx="3627120" cy="813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13120" y="3183636"/>
            <a:ext cx="54711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under the bar, then the root</a:t>
            </a:r>
          </a:p>
        </p:txBody>
      </p:sp>
      <p:pic>
        <p:nvPicPr>
          <p:cNvPr id="13" name="Picture 12" descr="72e6766a18ceae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93464"/>
            <a:ext cx="1984248" cy="67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0248" y="4204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03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−1/4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8e5417f2d59a8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47" y="2194560"/>
            <a:ext cx="4002024" cy="1085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7dacaa3a652d2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271" y="2194560"/>
            <a:ext cx="3998975" cy="1088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027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half plus a 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6f2b5e6da5da13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260092"/>
            <a:ext cx="134112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Left to right.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fd862883ce8c3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168652"/>
            <a:ext cx="134112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12 ÷ 3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7164" y="2217420"/>
            <a:ext cx="38893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square tile has side  </a:t>
            </a:r>
          </a:p>
        </p:txBody>
      </p:sp>
      <p:pic>
        <p:nvPicPr>
          <p:cNvPr id="10" name="Picture 9" descr="ae9cca3e3cb96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333" y="2194560"/>
            <a:ext cx="105156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50893" y="2217420"/>
            <a:ext cx="24006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centimetres.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diagonal is about 19.8 centimetres.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66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perimeter of the tile?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side, then the perimeter.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736" y="2125979"/>
            <a:ext cx="38893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square tile has side  </a:t>
            </a:r>
          </a:p>
        </p:txBody>
      </p:sp>
      <p:pic>
        <p:nvPicPr>
          <p:cNvPr id="10" name="Picture 9" descr="7a82a4f80dc024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905" y="2103120"/>
            <a:ext cx="1042415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6321" y="2125979"/>
            <a:ext cx="24006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centimetres.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diagonal is about 19.8 centimetres.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perimeter of the tile?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7583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sides of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73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56 centimetres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0bd57d1fcf1bc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87" y="2253996"/>
            <a:ext cx="1533144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Left to right.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06ac948f72f4e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87" y="2164080"/>
            <a:ext cx="1533144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10 − 4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a8f8f45b07cb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495" y="2194560"/>
            <a:ext cx="1176528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top and the bottom.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19aa5c3e206c11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03120"/>
            <a:ext cx="1173480" cy="810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39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over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1/3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0e9d178742cadf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9" y="2223516"/>
            <a:ext cx="1371600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d34694b9b55f63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9" y="2133599"/>
            <a:ext cx="137160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076eeeb065b72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355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398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398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56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56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151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db4460c0abb0f5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03120"/>
            <a:ext cx="969264" cy="801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790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453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453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11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11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70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d135167dce315e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687" y="2196083"/>
            <a:ext cx="1914144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is each exponent attached to?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43cce3e34e7bfb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164" y="2106168"/>
            <a:ext cx="1917192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and 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afb332c72f7d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503" y="2194560"/>
            <a:ext cx="257251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Inside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11864b2915a66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03120"/>
            <a:ext cx="2575560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0998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eighth plus one ninth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17/6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1691" y="2232660"/>
            <a:ext cx="3068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Roscoe says that  </a:t>
            </a:r>
          </a:p>
        </p:txBody>
      </p:sp>
      <p:pic>
        <p:nvPicPr>
          <p:cNvPr id="10" name="Picture 9" descr="71ab7e8131bab8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79" y="2194560"/>
            <a:ext cx="1969008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1687" y="2232660"/>
            <a:ext cx="331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always positive,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022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a square is always positive.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3913" y="3554299"/>
            <a:ext cx="4641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Is he right? Give a value of </a:t>
            </a:r>
          </a:p>
        </p:txBody>
      </p:sp>
      <p:pic>
        <p:nvPicPr>
          <p:cNvPr id="14" name="Picture 13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4" y="3691459"/>
            <a:ext cx="19202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0138" y="3554299"/>
            <a:ext cx="25746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that settles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001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84751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Try to make the inside zero.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1691" y="2139696"/>
            <a:ext cx="3068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Roscoe says that  </a:t>
            </a:r>
          </a:p>
        </p:txBody>
      </p:sp>
      <p:pic>
        <p:nvPicPr>
          <p:cNvPr id="10" name="Picture 9" descr="3cbcfcb039974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79" y="2103120"/>
            <a:ext cx="1969008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1687" y="2139696"/>
            <a:ext cx="331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always positive,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a square is always positive.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3913" y="3459811"/>
            <a:ext cx="4641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Is he right? Give a value of </a:t>
            </a:r>
          </a:p>
        </p:txBody>
      </p:sp>
      <p:pic>
        <p:nvPicPr>
          <p:cNvPr id="14" name="Picture 13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4" y="3596971"/>
            <a:ext cx="19202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0138" y="3459811"/>
            <a:ext cx="25746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that settles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1419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never negative is not the same as always 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4571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at n = 121 the value is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radical expressions — D8J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