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  <p:sldId id="290" r:id="rId41"/>
  </p:sldIdLst>
  <p:sldSz cx="12191969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Relationship Id="rId41" Type="http://schemas.openxmlformats.org/officeDocument/2006/relationships/slide" Target="slides/slide3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4.png"/><Relationship Id="rId4" Type="http://schemas.openxmlformats.org/officeDocument/2006/relationships/image" Target="../media/image2.png"/><Relationship Id="rId5" Type="http://schemas.openxmlformats.org/officeDocument/2006/relationships/image" Target="../media/image3.png"/><Relationship Id="rId6" Type="http://schemas.openxmlformats.org/officeDocument/2006/relationships/image" Target="../media/image5.png"/><Relationship Id="rId7" Type="http://schemas.openxmlformats.org/officeDocument/2006/relationships/image" Target="../media/image6.png"/><Relationship Id="rId8" Type="http://schemas.openxmlformats.org/officeDocument/2006/relationships/image" Target="../media/image7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Relationship Id="rId3" Type="http://schemas.openxmlformats.org/officeDocument/2006/relationships/image" Target="../media/image9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Relationship Id="rId3" Type="http://schemas.openxmlformats.org/officeDocument/2006/relationships/image" Target="../media/image11.png"/><Relationship Id="rId4" Type="http://schemas.openxmlformats.org/officeDocument/2006/relationships/image" Target="../media/image12.png"/><Relationship Id="rId5" Type="http://schemas.openxmlformats.org/officeDocument/2006/relationships/image" Target="../media/image13.png"/><Relationship Id="rId6" Type="http://schemas.openxmlformats.org/officeDocument/2006/relationships/image" Target="../media/image14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5.png"/><Relationship Id="rId3" Type="http://schemas.openxmlformats.org/officeDocument/2006/relationships/image" Target="../media/image16.png"/><Relationship Id="rId4" Type="http://schemas.openxmlformats.org/officeDocument/2006/relationships/image" Target="../media/image17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8.png"/><Relationship Id="rId3" Type="http://schemas.openxmlformats.org/officeDocument/2006/relationships/image" Target="../media/image19.png"/><Relationship Id="rId4" Type="http://schemas.openxmlformats.org/officeDocument/2006/relationships/image" Target="../media/image20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1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2.png"/><Relationship Id="rId3" Type="http://schemas.openxmlformats.org/officeDocument/2006/relationships/image" Target="../media/image23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4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4.png"/><Relationship Id="rId3" Type="http://schemas.openxmlformats.org/officeDocument/2006/relationships/image" Target="../media/image25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6.png"/><Relationship Id="rId3" Type="http://schemas.openxmlformats.org/officeDocument/2006/relationships/image" Target="../media/image27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8.png"/><Relationship Id="rId3" Type="http://schemas.openxmlformats.org/officeDocument/2006/relationships/image" Target="../media/image29.png"/><Relationship Id="rId4" Type="http://schemas.openxmlformats.org/officeDocument/2006/relationships/image" Target="../media/image30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1.png"/><Relationship Id="rId3" Type="http://schemas.openxmlformats.org/officeDocument/2006/relationships/image" Target="../media/image32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1.png"/><Relationship Id="rId3" Type="http://schemas.openxmlformats.org/officeDocument/2006/relationships/image" Target="../media/image32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3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3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4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4.png"/><Relationship Id="rId3" Type="http://schemas.openxmlformats.org/officeDocument/2006/relationships/image" Target="../media/image35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6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6.png"/><Relationship Id="rId3" Type="http://schemas.openxmlformats.org/officeDocument/2006/relationships/image" Target="../media/image37.pn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8.pn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8.png"/><Relationship Id="rId3" Type="http://schemas.openxmlformats.org/officeDocument/2006/relationships/image" Target="../media/image39.png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0.png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0.png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1.png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1.png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2.png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2.png"/><Relationship Id="rId3" Type="http://schemas.openxmlformats.org/officeDocument/2006/relationships/image" Target="../media/image43.png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4.png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4.png"/><Relationship Id="rId3" Type="http://schemas.openxmlformats.org/officeDocument/2006/relationships/image" Target="../media/image45.png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6.png"/><Relationship Id="rId3" Type="http://schemas.openxmlformats.org/officeDocument/2006/relationships/image" Target="../media/image47.png"/><Relationship Id="rId4" Type="http://schemas.openxmlformats.org/officeDocument/2006/relationships/image" Target="../media/image48.png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6.png"/><Relationship Id="rId3" Type="http://schemas.openxmlformats.org/officeDocument/2006/relationships/image" Target="../media/image47.png"/><Relationship Id="rId4" Type="http://schemas.openxmlformats.org/officeDocument/2006/relationships/image" Target="../media/image48.png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1691640"/>
            <a:ext cx="10607040" cy="347472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500" b="0" i="0">
                <a:solidFill>
                  <a:srgbClr val="6B6B6B"/>
                </a:solidFill>
                <a:latin typeface="Century Schoolbook"/>
              </a:rPr>
              <a:t>GRADE 7 ACCELERATED  ·  UNIT 3  ·  LESSON 6–7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2048256"/>
            <a:ext cx="10607040" cy="100584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ctr"/>
            <a:r>
              <a:rPr sz="3400" b="1" i="0">
                <a:solidFill>
                  <a:srgbClr val="1A1A1A"/>
                </a:solidFill>
                <a:latin typeface="Century Schoolbook"/>
              </a:rPr>
              <a:t>Evaluating and Equivalent Expressions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3291840" y="3255264"/>
            <a:ext cx="55778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3291840" y="3337560"/>
            <a:ext cx="55778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350215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600" b="1" i="0">
                <a:solidFill>
                  <a:srgbClr val="1A1A1A"/>
                </a:solidFill>
                <a:latin typeface="Century Schoolbook"/>
              </a:rPr>
              <a:t>MA.8.NSO.1.3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3840480"/>
            <a:ext cx="10607040" cy="7315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900" b="0" i="1">
                <a:solidFill>
                  <a:srgbClr val="1A1A1A"/>
                </a:solidFill>
                <a:latin typeface="Century Schoolbook"/>
              </a:rPr>
              <a:t>I can evaluate an expression with integer exponents using the laws, and decide whether two expressions with different bases are equivalent.</a:t>
            </a:r>
          </a:p>
        </p:txBody>
      </p:sp>
      <p:sp>
        <p:nvSpPr>
          <p:cNvPr id="8" name="Rectangle 7"/>
          <p:cNvSpPr/>
          <p:nvPr/>
        </p:nvSpPr>
        <p:spPr>
          <a:xfrm>
            <a:off x="2377440" y="4736592"/>
            <a:ext cx="7406640" cy="1051560"/>
          </a:xfrm>
          <a:prstGeom prst="rect">
            <a:avLst/>
          </a:prstGeom>
          <a:solidFill>
            <a:srgbClr val="F2F2F0"/>
          </a:solidFill>
          <a:ln w="9525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2606040" y="4892040"/>
            <a:ext cx="694944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700" b="0" i="1">
                <a:solidFill>
                  <a:srgbClr val="6B6B6B"/>
                </a:solidFill>
                <a:latin typeface="Century Schoolbook"/>
              </a:rPr>
              <a:t>So far: every law, every kind of base, every kind of exponent.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606040" y="5276088"/>
            <a:ext cx="694944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700" b="1" i="0">
                <a:solidFill>
                  <a:srgbClr val="1A1A1A"/>
                </a:solidFill>
                <a:latin typeface="Century Schoolbook"/>
              </a:rPr>
              <a:t>Today: use all of it at once — and rewrite bases to compare.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6–7 — Evaluating and Equivalent Expressions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Century Schoolbook"/>
              </a:rPr>
              <a:t>Warm-Up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On your own. Four minutes. No notes.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6–7 — Evaluating and Equivalent Expressions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874519" y="1764792"/>
            <a:ext cx="8564372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spAutoFit/>
          </a:bodyPr>
          <a:lstStyle/>
          <a:p>
            <a:pPr algn="l"/>
            <a:r>
              <a:rPr sz="2300" b="0" i="0">
                <a:solidFill>
                  <a:srgbClr val="1A1A1A"/>
                </a:solidFill>
                <a:latin typeface="Century Schoolbook"/>
              </a:rPr>
              <a:t>1.   Rewrite with a positive exponent, then evaluate:  </a:t>
            </a:r>
          </a:p>
        </p:txBody>
      </p:sp>
      <p:pic>
        <p:nvPicPr>
          <p:cNvPr id="10" name="Picture 9" descr="fb6a4badbefdb6e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301732" y="1783080"/>
            <a:ext cx="701040" cy="420624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1874519" y="2404872"/>
            <a:ext cx="3551936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spAutoFit/>
          </a:bodyPr>
          <a:lstStyle/>
          <a:p>
            <a:pPr algn="l"/>
            <a:r>
              <a:rPr sz="2300" b="0" i="0">
                <a:solidFill>
                  <a:srgbClr val="1A1A1A"/>
                </a:solidFill>
                <a:latin typeface="Century Schoolbook"/>
              </a:rPr>
              <a:t>2.   Find the value:  </a:t>
            </a:r>
          </a:p>
        </p:txBody>
      </p:sp>
      <p:pic>
        <p:nvPicPr>
          <p:cNvPr id="12" name="Picture 11" descr="f0cc633c04921b32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289296" y="2404872"/>
            <a:ext cx="326136" cy="457200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1874519" y="3084576"/>
            <a:ext cx="3551936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spAutoFit/>
          </a:bodyPr>
          <a:lstStyle/>
          <a:p>
            <a:pPr algn="l"/>
            <a:r>
              <a:rPr sz="2300" b="0" i="0">
                <a:solidFill>
                  <a:srgbClr val="1A1A1A"/>
                </a:solidFill>
                <a:latin typeface="Century Schoolbook"/>
              </a:rPr>
              <a:t>3.   Find the value:  </a:t>
            </a:r>
          </a:p>
        </p:txBody>
      </p:sp>
      <p:pic>
        <p:nvPicPr>
          <p:cNvPr id="14" name="Picture 13" descr="5ef59c513095b51f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289296" y="3063240"/>
            <a:ext cx="329184" cy="499871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1874519" y="3741420"/>
            <a:ext cx="7197344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spAutoFit/>
          </a:bodyPr>
          <a:lstStyle/>
          <a:p>
            <a:pPr algn="l"/>
            <a:r>
              <a:rPr sz="2300" b="0" i="0">
                <a:solidFill>
                  <a:srgbClr val="1A1A1A"/>
                </a:solidFill>
                <a:latin typeface="Century Schoolbook"/>
              </a:rPr>
              <a:t>4.   Write 64 as a power of 2, of 4, and of 8.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Century Schoolbook"/>
              </a:rPr>
              <a:t>Warm-Up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Answers.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6–7 — Evaluating and Equivalent Expressions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874519" y="1764792"/>
            <a:ext cx="8564372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spAutoFit/>
          </a:bodyPr>
          <a:lstStyle/>
          <a:p>
            <a:pPr algn="l"/>
            <a:r>
              <a:rPr sz="2300" b="0" i="0">
                <a:solidFill>
                  <a:srgbClr val="1A1A1A"/>
                </a:solidFill>
                <a:latin typeface="Century Schoolbook"/>
              </a:rPr>
              <a:t>1.   Rewrite with a positive exponent, then evaluate:  </a:t>
            </a:r>
          </a:p>
        </p:txBody>
      </p:sp>
      <p:pic>
        <p:nvPicPr>
          <p:cNvPr id="10" name="Picture 9" descr="fb6a4badbefdb6e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301732" y="1783080"/>
            <a:ext cx="701040" cy="420624"/>
          </a:xfrm>
          <a:prstGeom prst="rect">
            <a:avLst/>
          </a:prstGeom>
        </p:spPr>
      </p:pic>
      <p:pic>
        <p:nvPicPr>
          <p:cNvPr id="11" name="Picture 10" descr="3b6750496d830329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606040" y="2249424"/>
            <a:ext cx="1005840" cy="426720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1874519" y="2877312"/>
            <a:ext cx="3551936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spAutoFit/>
          </a:bodyPr>
          <a:lstStyle/>
          <a:p>
            <a:pPr algn="l"/>
            <a:r>
              <a:rPr sz="2300" b="0" i="0">
                <a:solidFill>
                  <a:srgbClr val="1A1A1A"/>
                </a:solidFill>
                <a:latin typeface="Century Schoolbook"/>
              </a:rPr>
              <a:t>2.   Find the value:  </a:t>
            </a:r>
          </a:p>
        </p:txBody>
      </p:sp>
      <p:pic>
        <p:nvPicPr>
          <p:cNvPr id="13" name="Picture 12" descr="f0cc633c04921b32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289296" y="2877312"/>
            <a:ext cx="326136" cy="457200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6164072" y="2854452"/>
            <a:ext cx="549148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spAutoFit/>
          </a:bodyPr>
          <a:lstStyle/>
          <a:p>
            <a:pPr algn="l"/>
            <a:r>
              <a:rPr sz="2300" b="1" i="0">
                <a:solidFill>
                  <a:srgbClr val="9E1B32"/>
                </a:solidFill>
                <a:latin typeface="Century Schoolbook"/>
              </a:rPr>
              <a:t>25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874519" y="3557016"/>
            <a:ext cx="3551936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spAutoFit/>
          </a:bodyPr>
          <a:lstStyle/>
          <a:p>
            <a:pPr algn="l"/>
            <a:r>
              <a:rPr sz="2300" b="0" i="0">
                <a:solidFill>
                  <a:srgbClr val="1A1A1A"/>
                </a:solidFill>
                <a:latin typeface="Century Schoolbook"/>
              </a:rPr>
              <a:t>3.   Find the value:  </a:t>
            </a:r>
          </a:p>
        </p:txBody>
      </p:sp>
      <p:pic>
        <p:nvPicPr>
          <p:cNvPr id="16" name="Picture 15" descr="5ef59c513095b51f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289296" y="3535680"/>
            <a:ext cx="329184" cy="499871"/>
          </a:xfrm>
          <a:prstGeom prst="rect">
            <a:avLst/>
          </a:prstGeom>
        </p:spPr>
      </p:pic>
      <p:sp>
        <p:nvSpPr>
          <p:cNvPr id="17" name="TextBox 16"/>
          <p:cNvSpPr txBox="1"/>
          <p:nvPr/>
        </p:nvSpPr>
        <p:spPr>
          <a:xfrm>
            <a:off x="6167120" y="3512820"/>
            <a:ext cx="718566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spAutoFit/>
          </a:bodyPr>
          <a:lstStyle/>
          <a:p>
            <a:pPr algn="l"/>
            <a:r>
              <a:rPr sz="2300" b="1" i="0">
                <a:solidFill>
                  <a:srgbClr val="9E1B32"/>
                </a:solidFill>
                <a:latin typeface="Century Schoolbook"/>
              </a:rPr>
              <a:t>100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874519" y="4213860"/>
            <a:ext cx="7197344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spAutoFit/>
          </a:bodyPr>
          <a:lstStyle/>
          <a:p>
            <a:pPr algn="l"/>
            <a:r>
              <a:rPr sz="2300" b="0" i="0">
                <a:solidFill>
                  <a:srgbClr val="1A1A1A"/>
                </a:solidFill>
                <a:latin typeface="Century Schoolbook"/>
              </a:rPr>
              <a:t>4.   Write 64 as a power of 2, of 4, and of 8.</a:t>
            </a:r>
          </a:p>
        </p:txBody>
      </p:sp>
      <p:pic>
        <p:nvPicPr>
          <p:cNvPr id="19" name="Picture 18" descr="b2c477a7a0fb52e7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2606040" y="4762500"/>
            <a:ext cx="268224" cy="274320"/>
          </a:xfrm>
          <a:prstGeom prst="rect">
            <a:avLst/>
          </a:prstGeom>
        </p:spPr>
      </p:pic>
      <p:sp>
        <p:nvSpPr>
          <p:cNvPr id="20" name="TextBox 19"/>
          <p:cNvSpPr txBox="1"/>
          <p:nvPr/>
        </p:nvSpPr>
        <p:spPr>
          <a:xfrm>
            <a:off x="2874264" y="4671060"/>
            <a:ext cx="718566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spAutoFit/>
          </a:bodyPr>
          <a:lstStyle/>
          <a:p>
            <a:pPr algn="l"/>
            <a:r>
              <a:rPr sz="2300" b="1" i="0">
                <a:solidFill>
                  <a:srgbClr val="9E1B32"/>
                </a:solidFill>
                <a:latin typeface="Century Schoolbook"/>
              </a:rPr>
              <a:t>,  </a:t>
            </a:r>
          </a:p>
        </p:txBody>
      </p:sp>
      <p:pic>
        <p:nvPicPr>
          <p:cNvPr id="21" name="Picture 20" descr="555a2ab77fff0fec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3455670" y="4762500"/>
            <a:ext cx="265176" cy="274320"/>
          </a:xfrm>
          <a:prstGeom prst="rect">
            <a:avLst/>
          </a:prstGeom>
        </p:spPr>
      </p:pic>
      <p:sp>
        <p:nvSpPr>
          <p:cNvPr id="22" name="TextBox 21"/>
          <p:cNvSpPr txBox="1"/>
          <p:nvPr/>
        </p:nvSpPr>
        <p:spPr>
          <a:xfrm>
            <a:off x="3720846" y="4671060"/>
            <a:ext cx="718566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spAutoFit/>
          </a:bodyPr>
          <a:lstStyle/>
          <a:p>
            <a:pPr algn="l"/>
            <a:r>
              <a:rPr sz="2300" b="1" i="0">
                <a:solidFill>
                  <a:srgbClr val="9E1B32"/>
                </a:solidFill>
                <a:latin typeface="Century Schoolbook"/>
              </a:rPr>
              <a:t>,  </a:t>
            </a:r>
          </a:p>
        </p:txBody>
      </p:sp>
      <p:pic>
        <p:nvPicPr>
          <p:cNvPr id="23" name="Picture 22" descr="f2c3dde86c5203ac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4302252" y="4759452"/>
            <a:ext cx="259080" cy="280416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Century Schoolbook"/>
              </a:rPr>
              <a:t>Notes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6–7 — Evaluating and Equivalent Expressions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737360"/>
            <a:ext cx="10607040" cy="40233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500" b="1" i="0">
                <a:solidFill>
                  <a:srgbClr val="1A1A1A"/>
                </a:solidFill>
                <a:latin typeface="Century Schoolbook"/>
              </a:rPr>
              <a:t>I.  Two students, two plans, one value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777240" y="2176272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/>
          <p:cNvSpPr txBox="1"/>
          <p:nvPr/>
        </p:nvSpPr>
        <p:spPr>
          <a:xfrm>
            <a:off x="3626611" y="2397252"/>
            <a:ext cx="1927352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sp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Melanie:  </a:t>
            </a:r>
          </a:p>
        </p:txBody>
      </p:sp>
      <p:pic>
        <p:nvPicPr>
          <p:cNvPr id="11" name="Picture 10" descr="9774f86ed8fb46e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16804" y="2340864"/>
            <a:ext cx="3118104" cy="569976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3218180" y="3299460"/>
            <a:ext cx="1927352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sp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Adonis:   </a:t>
            </a:r>
          </a:p>
        </p:txBody>
      </p:sp>
      <p:pic>
        <p:nvPicPr>
          <p:cNvPr id="13" name="Picture 12" descr="6615874039b71958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08372" y="3185160"/>
            <a:ext cx="3934968" cy="685800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987552" y="4209288"/>
            <a:ext cx="10131551" cy="95097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300" b="1" i="0">
                <a:solidFill>
                  <a:srgbClr val="1A1A1A"/>
                </a:solidFill>
                <a:latin typeface="Century Schoolbook"/>
              </a:rPr>
              <a:t>Apply the laws first, evaluate last. The value is the same; the arithmetic is smaller.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Century Schoolbook"/>
              </a:rPr>
              <a:t>Notes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Copy the worked line.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6–7 — Evaluating and Equivalent Expressions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5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1737360"/>
            <a:ext cx="10607040" cy="40233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500" b="1" i="0">
                <a:solidFill>
                  <a:srgbClr val="1A1A1A"/>
                </a:solidFill>
                <a:latin typeface="Century Schoolbook"/>
              </a:rPr>
              <a:t>II.  Every law, one expression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777240" y="2176272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11" name="Picture 10" descr="a70782e51603e43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49980" y="2340864"/>
            <a:ext cx="4861560" cy="655320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987552" y="3334512"/>
            <a:ext cx="10131551" cy="475488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100" b="1" i="0">
                <a:solidFill>
                  <a:srgbClr val="1A1A1A"/>
                </a:solidFill>
                <a:latin typeface="Century Schoolbook"/>
              </a:rPr>
              <a:t>Find the step that broke:</a:t>
            </a:r>
          </a:p>
        </p:txBody>
      </p:sp>
      <p:pic>
        <p:nvPicPr>
          <p:cNvPr id="13" name="Picture 12" descr="7bad2695344f5876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87552" y="4047744"/>
            <a:ext cx="3188208" cy="521207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4175760" y="4079748"/>
            <a:ext cx="4925568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spAutoFit/>
          </a:bodyPr>
          <a:lstStyle/>
          <a:p>
            <a:pPr algn="l"/>
            <a:r>
              <a:rPr sz="2100" b="0" i="0">
                <a:solidFill>
                  <a:srgbClr val="1A1A1A"/>
                </a:solidFill>
                <a:latin typeface="Century Schoolbook"/>
              </a:rPr>
              <a:t>   — wrong: multiplied; should be </a:t>
            </a:r>
          </a:p>
        </p:txBody>
      </p:sp>
      <p:pic>
        <p:nvPicPr>
          <p:cNvPr id="15" name="Picture 14" descr="f0cdaba5ba148952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964168" y="4047744"/>
            <a:ext cx="670560" cy="521207"/>
          </a:xfrm>
          <a:prstGeom prst="rect">
            <a:avLst/>
          </a:prstGeom>
        </p:spPr>
      </p:pic>
      <p:pic>
        <p:nvPicPr>
          <p:cNvPr id="16" name="Picture 15" descr="c94e5a241f690412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87552" y="4824984"/>
            <a:ext cx="1682496" cy="600456"/>
          </a:xfrm>
          <a:prstGeom prst="rect">
            <a:avLst/>
          </a:prstGeom>
        </p:spPr>
      </p:pic>
      <p:sp>
        <p:nvSpPr>
          <p:cNvPr id="17" name="TextBox 16"/>
          <p:cNvSpPr txBox="1"/>
          <p:nvPr/>
        </p:nvSpPr>
        <p:spPr>
          <a:xfrm>
            <a:off x="2670048" y="4896612"/>
            <a:ext cx="6728460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spAutoFit/>
          </a:bodyPr>
          <a:lstStyle/>
          <a:p>
            <a:pPr algn="l"/>
            <a:r>
              <a:rPr sz="2100" b="0" i="0">
                <a:solidFill>
                  <a:srgbClr val="1A1A1A"/>
                </a:solidFill>
                <a:latin typeface="Century Schoolbook"/>
              </a:rPr>
              <a:t>   — wrong: flipped, kept the minus; should be </a:t>
            </a:r>
          </a:p>
        </p:txBody>
      </p:sp>
      <p:pic>
        <p:nvPicPr>
          <p:cNvPr id="18" name="Picture 17" descr="9022df083cd62fd6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261348" y="4867656"/>
            <a:ext cx="655320" cy="515112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Century Schoolbook"/>
              </a:rPr>
              <a:t>Notes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6–7 — Evaluating and Equivalent Expressions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737360"/>
            <a:ext cx="10607040" cy="40233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500" b="1" i="0">
                <a:solidFill>
                  <a:srgbClr val="1A1A1A"/>
                </a:solidFill>
                <a:latin typeface="Century Schoolbook"/>
              </a:rPr>
              <a:t>III.  Different bases, same value — rewrite to a common base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777240" y="2176272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2377439" y="2340864"/>
          <a:ext cx="7406640" cy="1536192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371600"/>
                <a:gridCol w="2011680"/>
                <a:gridCol w="2011680"/>
                <a:gridCol w="2011680"/>
              </a:tblGrid>
              <a:tr h="384048">
                <a:tc>
                  <a:txBody>
                    <a:bodyPr wrap="square"/>
                    <a:lstStyle/>
                    <a:p>
                      <a:pPr algn="ctr"/>
                      <a:r>
                        <a:rPr sz="1600" b="1">
                          <a:solidFill>
                            <a:srgbClr val="1A1A1A"/>
                          </a:solidFill>
                          <a:latin typeface="Century Schoolbook"/>
                        </a:rPr>
                        <a:t>Base</a:t>
                      </a:r>
                    </a:p>
                  </a:txBody>
                  <a:tcPr marL="73152" marR="73152" marT="27432" marB="27432" anchor="ctr">
                    <a:solidFill>
                      <a:srgbClr val="D9D9D9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1">
                          <a:solidFill>
                            <a:srgbClr val="1A1A1A"/>
                          </a:solidFill>
                          <a:latin typeface="Century Schoolbook"/>
                        </a:rPr>
                        <a:t>Square</a:t>
                      </a:r>
                    </a:p>
                  </a:txBody>
                  <a:tcPr marL="73152" marR="73152" marT="27432" marB="27432" anchor="ctr">
                    <a:solidFill>
                      <a:srgbClr val="D9D9D9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1">
                          <a:solidFill>
                            <a:srgbClr val="1A1A1A"/>
                          </a:solidFill>
                          <a:latin typeface="Century Schoolbook"/>
                        </a:rPr>
                        <a:t>Cube</a:t>
                      </a:r>
                    </a:p>
                  </a:txBody>
                  <a:tcPr marL="73152" marR="73152" marT="27432" marB="27432" anchor="ctr">
                    <a:solidFill>
                      <a:srgbClr val="D9D9D9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1">
                          <a:solidFill>
                            <a:srgbClr val="1A1A1A"/>
                          </a:solidFill>
                          <a:latin typeface="Century Schoolbook"/>
                        </a:rPr>
                        <a:t>Fourth</a:t>
                      </a:r>
                    </a:p>
                  </a:txBody>
                  <a:tcPr marL="73152" marR="73152" marT="27432" marB="27432" anchor="ctr">
                    <a:solidFill>
                      <a:srgbClr val="D9D9D9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ctr"/>
                      <a:r>
                        <a:rPr sz="1600" b="0">
                          <a:solidFill>
                            <a:srgbClr val="1A1A1A"/>
                          </a:solidFill>
                          <a:latin typeface="Century Schoolbook"/>
                        </a:rPr>
                        <a:t>2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0">
                          <a:solidFill>
                            <a:srgbClr val="1A1A1A"/>
                          </a:solidFill>
                          <a:latin typeface="Century Schoolbook"/>
                        </a:rPr>
                        <a:t>2</a:t>
                      </a:r>
                      <a:r>
                        <a:rPr sz="1600" b="0" baseline="30000">
                          <a:solidFill>
                            <a:srgbClr val="1A1A1A"/>
                          </a:solidFill>
                          <a:latin typeface="Century Schoolbook"/>
                        </a:rPr>
                        <a:t>2</a:t>
                      </a:r>
                      <a:r>
                        <a:rPr sz="1600" b="0">
                          <a:solidFill>
                            <a:srgbClr val="1A1A1A"/>
                          </a:solidFill>
                          <a:latin typeface="Century Schoolbook"/>
                        </a:rPr>
                        <a:t> = 4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0">
                          <a:solidFill>
                            <a:srgbClr val="1A1A1A"/>
                          </a:solidFill>
                          <a:latin typeface="Century Schoolbook"/>
                        </a:rPr>
                        <a:t>2</a:t>
                      </a:r>
                      <a:r>
                        <a:rPr sz="1600" b="0" baseline="30000">
                          <a:solidFill>
                            <a:srgbClr val="1A1A1A"/>
                          </a:solidFill>
                          <a:latin typeface="Century Schoolbook"/>
                        </a:rPr>
                        <a:t>3</a:t>
                      </a:r>
                      <a:r>
                        <a:rPr sz="1600" b="0">
                          <a:solidFill>
                            <a:srgbClr val="1A1A1A"/>
                          </a:solidFill>
                          <a:latin typeface="Century Schoolbook"/>
                        </a:rPr>
                        <a:t> = 8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0">
                          <a:solidFill>
                            <a:srgbClr val="1A1A1A"/>
                          </a:solidFill>
                          <a:latin typeface="Century Schoolbook"/>
                        </a:rPr>
                        <a:t>2</a:t>
                      </a:r>
                      <a:r>
                        <a:rPr sz="1600" b="0" baseline="30000">
                          <a:solidFill>
                            <a:srgbClr val="1A1A1A"/>
                          </a:solidFill>
                          <a:latin typeface="Century Schoolbook"/>
                        </a:rPr>
                        <a:t>4</a:t>
                      </a:r>
                      <a:r>
                        <a:rPr sz="1600" b="0">
                          <a:solidFill>
                            <a:srgbClr val="1A1A1A"/>
                          </a:solidFill>
                          <a:latin typeface="Century Schoolbook"/>
                        </a:rPr>
                        <a:t> = 16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ctr"/>
                      <a:r>
                        <a:rPr sz="1600" b="0">
                          <a:solidFill>
                            <a:srgbClr val="1A1A1A"/>
                          </a:solidFill>
                          <a:latin typeface="Century Schoolbook"/>
                        </a:rPr>
                        <a:t>3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0">
                          <a:solidFill>
                            <a:srgbClr val="1A1A1A"/>
                          </a:solidFill>
                          <a:latin typeface="Century Schoolbook"/>
                        </a:rPr>
                        <a:t>3</a:t>
                      </a:r>
                      <a:r>
                        <a:rPr sz="1600" b="0" baseline="30000">
                          <a:solidFill>
                            <a:srgbClr val="1A1A1A"/>
                          </a:solidFill>
                          <a:latin typeface="Century Schoolbook"/>
                        </a:rPr>
                        <a:t>2</a:t>
                      </a:r>
                      <a:r>
                        <a:rPr sz="1600" b="0">
                          <a:solidFill>
                            <a:srgbClr val="1A1A1A"/>
                          </a:solidFill>
                          <a:latin typeface="Century Schoolbook"/>
                        </a:rPr>
                        <a:t> = 9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0">
                          <a:solidFill>
                            <a:srgbClr val="1A1A1A"/>
                          </a:solidFill>
                          <a:latin typeface="Century Schoolbook"/>
                        </a:rPr>
                        <a:t>3</a:t>
                      </a:r>
                      <a:r>
                        <a:rPr sz="1600" b="0" baseline="30000">
                          <a:solidFill>
                            <a:srgbClr val="1A1A1A"/>
                          </a:solidFill>
                          <a:latin typeface="Century Schoolbook"/>
                        </a:rPr>
                        <a:t>3</a:t>
                      </a:r>
                      <a:r>
                        <a:rPr sz="1600" b="0">
                          <a:solidFill>
                            <a:srgbClr val="1A1A1A"/>
                          </a:solidFill>
                          <a:latin typeface="Century Schoolbook"/>
                        </a:rPr>
                        <a:t> = 27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0">
                          <a:solidFill>
                            <a:srgbClr val="1A1A1A"/>
                          </a:solidFill>
                          <a:latin typeface="Century Schoolbook"/>
                        </a:rPr>
                        <a:t>3</a:t>
                      </a:r>
                      <a:r>
                        <a:rPr sz="1600" b="0" baseline="30000">
                          <a:solidFill>
                            <a:srgbClr val="1A1A1A"/>
                          </a:solidFill>
                          <a:latin typeface="Century Schoolbook"/>
                        </a:rPr>
                        <a:t>4</a:t>
                      </a:r>
                      <a:r>
                        <a:rPr sz="1600" b="0">
                          <a:solidFill>
                            <a:srgbClr val="1A1A1A"/>
                          </a:solidFill>
                          <a:latin typeface="Century Schoolbook"/>
                        </a:rPr>
                        <a:t> = 81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ctr"/>
                      <a:r>
                        <a:rPr sz="1600" b="0">
                          <a:solidFill>
                            <a:srgbClr val="1A1A1A"/>
                          </a:solidFill>
                          <a:latin typeface="Century Schoolbook"/>
                        </a:rPr>
                        <a:t>5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0">
                          <a:solidFill>
                            <a:srgbClr val="1A1A1A"/>
                          </a:solidFill>
                          <a:latin typeface="Century Schoolbook"/>
                        </a:rPr>
                        <a:t>5</a:t>
                      </a:r>
                      <a:r>
                        <a:rPr sz="1600" b="0" baseline="30000">
                          <a:solidFill>
                            <a:srgbClr val="1A1A1A"/>
                          </a:solidFill>
                          <a:latin typeface="Century Schoolbook"/>
                        </a:rPr>
                        <a:t>2</a:t>
                      </a:r>
                      <a:r>
                        <a:rPr sz="1600" b="0">
                          <a:solidFill>
                            <a:srgbClr val="1A1A1A"/>
                          </a:solidFill>
                          <a:latin typeface="Century Schoolbook"/>
                        </a:rPr>
                        <a:t> = 25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0">
                          <a:solidFill>
                            <a:srgbClr val="1A1A1A"/>
                          </a:solidFill>
                          <a:latin typeface="Century Schoolbook"/>
                        </a:rPr>
                        <a:t>5</a:t>
                      </a:r>
                      <a:r>
                        <a:rPr sz="1600" b="0" baseline="30000">
                          <a:solidFill>
                            <a:srgbClr val="1A1A1A"/>
                          </a:solidFill>
                          <a:latin typeface="Century Schoolbook"/>
                        </a:rPr>
                        <a:t>3</a:t>
                      </a:r>
                      <a:r>
                        <a:rPr sz="1600" b="0">
                          <a:solidFill>
                            <a:srgbClr val="1A1A1A"/>
                          </a:solidFill>
                          <a:latin typeface="Century Schoolbook"/>
                        </a:rPr>
                        <a:t> = 125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0">
                          <a:solidFill>
                            <a:srgbClr val="1A1A1A"/>
                          </a:solidFill>
                          <a:latin typeface="Century Schoolbook"/>
                        </a:rPr>
                        <a:t>5</a:t>
                      </a:r>
                      <a:r>
                        <a:rPr sz="1600" b="0" baseline="30000">
                          <a:solidFill>
                            <a:srgbClr val="1A1A1A"/>
                          </a:solidFill>
                          <a:latin typeface="Century Schoolbook"/>
                        </a:rPr>
                        <a:t>4</a:t>
                      </a:r>
                      <a:r>
                        <a:rPr sz="1600" b="0">
                          <a:solidFill>
                            <a:srgbClr val="1A1A1A"/>
                          </a:solidFill>
                          <a:latin typeface="Century Schoolbook"/>
                        </a:rPr>
                        <a:t> = 625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pic>
        <p:nvPicPr>
          <p:cNvPr id="11" name="Picture 10" descr="fcc456d7f9f5286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999740" y="4105656"/>
            <a:ext cx="2423160" cy="414528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5422900" y="4084320"/>
            <a:ext cx="1583944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sp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        </a:t>
            </a:r>
          </a:p>
        </p:txBody>
      </p:sp>
      <p:pic>
        <p:nvPicPr>
          <p:cNvPr id="13" name="Picture 12" descr="ddf63c5a3e090318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69684" y="4107180"/>
            <a:ext cx="2292096" cy="411480"/>
          </a:xfrm>
          <a:prstGeom prst="rect">
            <a:avLst/>
          </a:prstGeom>
        </p:spPr>
      </p:pic>
      <p:pic>
        <p:nvPicPr>
          <p:cNvPr id="14" name="Picture 13" descr="5659a59a4bcb862f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643884" y="4794504"/>
            <a:ext cx="4873752" cy="414528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Century Schoolbook"/>
              </a:rPr>
              <a:t>Notes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6–7 — Evaluating and Equivalent Expressions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7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737360"/>
            <a:ext cx="10607040" cy="40233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500" b="1" i="0">
                <a:solidFill>
                  <a:srgbClr val="1A1A1A"/>
                </a:solidFill>
                <a:latin typeface="Century Schoolbook"/>
              </a:rPr>
              <a:t>IV.  Testing equivalence: Xavier's claim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777240" y="2176272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10" name="Picture 9" descr="67888014a8d2187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06855" y="2340864"/>
            <a:ext cx="4175760" cy="51511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5182616" y="2369820"/>
            <a:ext cx="1927352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sp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          </a:t>
            </a:r>
          </a:p>
        </p:txBody>
      </p:sp>
      <p:pic>
        <p:nvPicPr>
          <p:cNvPr id="12" name="Picture 11" descr="8f4222ea95a1d769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972808" y="2340864"/>
            <a:ext cx="4181856" cy="515112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987552" y="3194304"/>
            <a:ext cx="10131551" cy="475488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300" b="1" i="0">
                <a:solidFill>
                  <a:srgbClr val="1A1A1A"/>
                </a:solidFill>
                <a:latin typeface="Century Schoolbook"/>
              </a:rPr>
              <a:t>Same base, then compare exponents.</a:t>
            </a:r>
          </a:p>
        </p:txBody>
      </p:sp>
      <p:pic>
        <p:nvPicPr>
          <p:cNvPr id="14" name="Picture 13" descr="552910b7ab3954b6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87552" y="3910583"/>
            <a:ext cx="1487424" cy="405384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2474976" y="3884675"/>
            <a:ext cx="3551936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spAutoFit/>
          </a:bodyPr>
          <a:lstStyle/>
          <a:p>
            <a:pPr algn="l"/>
            <a:r>
              <a:rPr sz="2300" b="0" i="0">
                <a:solidFill>
                  <a:srgbClr val="1A1A1A"/>
                </a:solidFill>
                <a:latin typeface="Century Schoolbook"/>
              </a:rPr>
              <a:t> — so Xavier is wrong.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Century Schoolbook"/>
              </a:rPr>
              <a:t>Example 1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Evaluate.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6–7 — Evaluating and Equivalent Expressions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8</a:t>
            </a:r>
          </a:p>
        </p:txBody>
      </p:sp>
      <p:pic>
        <p:nvPicPr>
          <p:cNvPr id="9" name="Picture 8" descr="19284168b51ba77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33060" y="2103120"/>
            <a:ext cx="1295400" cy="51816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777240" y="3124200"/>
            <a:ext cx="1060704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00" b="1" i="0">
                <a:solidFill>
                  <a:srgbClr val="1A1A1A"/>
                </a:solidFill>
                <a:latin typeface="Century Schoolbook"/>
              </a:rPr>
              <a:t>Find the value.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Century Schoolbook"/>
              </a:rPr>
              <a:t>Example 1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Worked.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6–7 — Evaluating and Equivalent Expressions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9</a:t>
            </a:r>
          </a:p>
        </p:txBody>
      </p:sp>
      <p:pic>
        <p:nvPicPr>
          <p:cNvPr id="9" name="Picture 8" descr="b7be03a49ce66e18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28800" y="1920240"/>
            <a:ext cx="2880360" cy="51816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5166360" y="1950720"/>
            <a:ext cx="6217919" cy="50292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2100" b="0" i="1">
                <a:solidFill>
                  <a:srgbClr val="6B6B6B"/>
                </a:solidFill>
                <a:latin typeface="Century Schoolbook"/>
              </a:rPr>
              <a:t>negative exponent: flip</a:t>
            </a:r>
          </a:p>
        </p:txBody>
      </p:sp>
      <p:pic>
        <p:nvPicPr>
          <p:cNvPr id="11" name="Picture 10" descr="3a9d34925787092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828800" y="2712720"/>
            <a:ext cx="1456944" cy="527304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3742944" y="2747772"/>
            <a:ext cx="6400800" cy="50292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2100" b="0" i="1">
                <a:solidFill>
                  <a:srgbClr val="6B6B6B"/>
                </a:solidFill>
                <a:latin typeface="Century Schoolbook"/>
              </a:rPr>
              <a:t>power of a quotient, then multiply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77240" y="457200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200" b="1" i="0">
                <a:solidFill>
                  <a:srgbClr val="9E1B32"/>
                </a:solidFill>
                <a:latin typeface="Century Schoolbook"/>
              </a:rPr>
              <a:t>Answer:   16/3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Century Schoolbook"/>
              </a:rPr>
              <a:t>Your Turn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Same steps, your numbers. Boards up when done.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6–7 — Evaluating and Equivalent Expressions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10</a:t>
            </a:r>
          </a:p>
        </p:txBody>
      </p:sp>
      <p:pic>
        <p:nvPicPr>
          <p:cNvPr id="9" name="Picture 8" descr="5bcc8034c74e5aa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257799" y="2194560"/>
            <a:ext cx="1645920" cy="655320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Century Schoolbook"/>
              </a:rPr>
              <a:t>Your Turn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Answer.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6–7 — Evaluating and Equivalent Expressions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11</a:t>
            </a:r>
          </a:p>
        </p:txBody>
      </p:sp>
      <p:pic>
        <p:nvPicPr>
          <p:cNvPr id="9" name="Picture 8" descr="5bcc8034c74e5aa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257799" y="2194560"/>
            <a:ext cx="1645920" cy="65532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777240" y="3169920"/>
            <a:ext cx="1060704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00" b="0" i="0">
                <a:solidFill>
                  <a:srgbClr val="6B6B6B"/>
                </a:solidFill>
                <a:latin typeface="Century Schoolbook"/>
              </a:rPr>
              <a:t>(5/2)</a:t>
            </a:r>
            <a:r>
              <a:rPr sz="2400" b="0" i="0" baseline="30000">
                <a:solidFill>
                  <a:srgbClr val="6B6B6B"/>
                </a:solidFill>
                <a:latin typeface="Century Schoolbook"/>
              </a:rPr>
              <a:t>2</a:t>
            </a:r>
            <a:r>
              <a:rPr sz="2400" b="0" i="0">
                <a:solidFill>
                  <a:srgbClr val="6B6B6B"/>
                </a:solidFill>
                <a:latin typeface="Century Schoolbook"/>
              </a:rPr>
              <a:t> · 2 = 25/4 · 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940808" y="4529328"/>
            <a:ext cx="1920240" cy="54864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3200" b="1" i="0">
                <a:solidFill>
                  <a:srgbClr val="9E1B32"/>
                </a:solidFill>
                <a:latin typeface="Century Schoolbook"/>
              </a:rPr>
              <a:t>Answer:</a:t>
            </a:r>
          </a:p>
        </p:txBody>
      </p:sp>
      <p:pic>
        <p:nvPicPr>
          <p:cNvPr id="12" name="Picture 11" descr="f709f98c6266bd49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61048" y="4480560"/>
            <a:ext cx="359664" cy="646176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Century Schoolbook"/>
              </a:rPr>
              <a:t>Example 2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Equivalent or not?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6–7 — Evaluating and Equivalent Expressions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12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985008" y="2202180"/>
            <a:ext cx="1068832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sp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Are  </a:t>
            </a:r>
          </a:p>
        </p:txBody>
      </p:sp>
      <p:pic>
        <p:nvPicPr>
          <p:cNvPr id="10" name="Picture 9" descr="67df2d652c1a713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916680" y="2258568"/>
            <a:ext cx="920495" cy="344424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4837176" y="2202180"/>
            <a:ext cx="1412240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sp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  and  </a:t>
            </a:r>
          </a:p>
        </p:txBody>
      </p:sp>
      <p:pic>
        <p:nvPicPr>
          <p:cNvPr id="12" name="Picture 11" descr="edc5d9a379d4ae55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112256" y="2103120"/>
            <a:ext cx="758952" cy="655320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6871208" y="2202180"/>
            <a:ext cx="2442464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sp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  equivalent?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77240" y="3261360"/>
            <a:ext cx="1060704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00" b="1" i="0">
                <a:solidFill>
                  <a:srgbClr val="1A1A1A"/>
                </a:solidFill>
                <a:latin typeface="Century Schoolbook"/>
              </a:rPr>
              <a:t>Rewrite both with the bases 3 and 2, then compare.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Century Schoolbook"/>
              </a:rPr>
              <a:t>Example 2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Worked.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6–7 — Evaluating and Equivalent Expressions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13</a:t>
            </a:r>
          </a:p>
        </p:txBody>
      </p:sp>
      <p:pic>
        <p:nvPicPr>
          <p:cNvPr id="9" name="Picture 8" descr="352db5fe1644c82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28800" y="1920240"/>
            <a:ext cx="4264152" cy="347472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6550152" y="1865376"/>
            <a:ext cx="4834128" cy="50292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2100" b="0" i="1">
                <a:solidFill>
                  <a:srgbClr val="6B6B6B"/>
                </a:solidFill>
                <a:latin typeface="Century Schoolbook"/>
              </a:rPr>
              <a:t>power of a product, product of powers</a:t>
            </a:r>
          </a:p>
        </p:txBody>
      </p:sp>
      <p:pic>
        <p:nvPicPr>
          <p:cNvPr id="11" name="Picture 10" descr="c767b624aaf30a5a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828800" y="2542032"/>
            <a:ext cx="3264408" cy="655320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5550408" y="2641092"/>
            <a:ext cx="5833871" cy="50292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2100" b="0" i="1">
                <a:solidFill>
                  <a:srgbClr val="6B6B6B"/>
                </a:solidFill>
                <a:latin typeface="Century Schoolbook"/>
              </a:rPr>
              <a:t>power of a product, quotient of powers</a:t>
            </a:r>
          </a:p>
        </p:txBody>
      </p:sp>
      <p:pic>
        <p:nvPicPr>
          <p:cNvPr id="13" name="Picture 12" descr="72a96a3676b38c3c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828800" y="3471672"/>
            <a:ext cx="2289048" cy="347472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4575048" y="3416807"/>
            <a:ext cx="6400800" cy="50292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2100" b="0" i="1">
                <a:solidFill>
                  <a:srgbClr val="6B6B6B"/>
                </a:solidFill>
                <a:latin typeface="Century Schoolbook"/>
              </a:rPr>
              <a:t>same bases, same exponents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77240" y="457200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200" b="1" i="0">
                <a:solidFill>
                  <a:srgbClr val="9E1B32"/>
                </a:solidFill>
                <a:latin typeface="Century Schoolbook"/>
              </a:rPr>
              <a:t>Answer:   Yes — both are 3</a:t>
            </a:r>
            <a:r>
              <a:rPr sz="3200" b="1" i="0" baseline="30000">
                <a:solidFill>
                  <a:srgbClr val="9E1B32"/>
                </a:solidFill>
                <a:latin typeface="Century Schoolbook"/>
              </a:rPr>
              <a:t>5</a:t>
            </a:r>
            <a:r>
              <a:rPr sz="3200" b="1" i="0">
                <a:solidFill>
                  <a:srgbClr val="9E1B32"/>
                </a:solidFill>
                <a:latin typeface="Century Schoolbook"/>
              </a:rPr>
              <a:t> · 2</a:t>
            </a:r>
            <a:r>
              <a:rPr sz="3200" b="1" i="0" baseline="30000">
                <a:solidFill>
                  <a:srgbClr val="9E1B32"/>
                </a:solidFill>
                <a:latin typeface="Century Schoolbook"/>
              </a:rPr>
              <a:t>3</a:t>
            </a:r>
            <a:r>
              <a:rPr sz="3200" b="1" i="0">
                <a:solidFill>
                  <a:srgbClr val="9E1B32"/>
                </a:solidFill>
                <a:latin typeface="Century Schoolbook"/>
              </a:rPr>
              <a:t> = 1944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Century Schoolbook"/>
              </a:rPr>
              <a:t>Your Turn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Same steps, your numbers. Boards up when done.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6–7 — Evaluating and Equivalent Expressions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14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645155" y="2378964"/>
            <a:ext cx="1068832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sp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Are  </a:t>
            </a:r>
          </a:p>
        </p:txBody>
      </p:sp>
      <p:pic>
        <p:nvPicPr>
          <p:cNvPr id="10" name="Picture 9" descr="9b9991974314931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576827" y="2391156"/>
            <a:ext cx="1411224" cy="432816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4988051" y="2378964"/>
            <a:ext cx="1412240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sp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  and  </a:t>
            </a:r>
          </a:p>
        </p:txBody>
      </p:sp>
      <p:pic>
        <p:nvPicPr>
          <p:cNvPr id="12" name="Picture 11" descr="9a3dd872b9b3ae59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63132" y="2194560"/>
            <a:ext cx="947928" cy="826008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7211060" y="2378964"/>
            <a:ext cx="2442464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sp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  equivalent?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Century Schoolbook"/>
              </a:rPr>
              <a:t>Your Turn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Answer.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6–7 — Evaluating and Equivalent Expressions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15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645155" y="2378964"/>
            <a:ext cx="1068832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sp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Are  </a:t>
            </a:r>
          </a:p>
        </p:txBody>
      </p:sp>
      <p:pic>
        <p:nvPicPr>
          <p:cNvPr id="10" name="Picture 9" descr="9b9991974314931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576827" y="2391156"/>
            <a:ext cx="1411224" cy="432816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4988051" y="2378964"/>
            <a:ext cx="1412240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sp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  and  </a:t>
            </a:r>
          </a:p>
        </p:txBody>
      </p:sp>
      <p:pic>
        <p:nvPicPr>
          <p:cNvPr id="12" name="Picture 11" descr="9a3dd872b9b3ae59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63132" y="2194560"/>
            <a:ext cx="947928" cy="826008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7211060" y="2378964"/>
            <a:ext cx="2442464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sp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  equivalent?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77240" y="3340608"/>
            <a:ext cx="1060704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00" b="0" i="0">
                <a:solidFill>
                  <a:srgbClr val="6B6B6B"/>
                </a:solidFill>
                <a:latin typeface="Century Schoolbook"/>
              </a:rPr>
              <a:t>both are 2</a:t>
            </a:r>
            <a:r>
              <a:rPr sz="2400" b="0" i="0" baseline="30000">
                <a:solidFill>
                  <a:srgbClr val="6B6B6B"/>
                </a:solidFill>
                <a:latin typeface="Century Schoolbook"/>
              </a:rPr>
              <a:t>5</a:t>
            </a:r>
            <a:r>
              <a:rPr sz="2400" b="0" i="0">
                <a:solidFill>
                  <a:srgbClr val="6B6B6B"/>
                </a:solidFill>
                <a:latin typeface="Century Schoolbook"/>
              </a:rPr>
              <a:t> · 5</a:t>
            </a:r>
            <a:r>
              <a:rPr sz="2400" b="0" i="0" baseline="30000">
                <a:solidFill>
                  <a:srgbClr val="6B6B6B"/>
                </a:solidFill>
                <a:latin typeface="Century Schoolbook"/>
              </a:rPr>
              <a:t>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77240" y="457200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200" b="1" i="0">
                <a:solidFill>
                  <a:srgbClr val="9E1B32"/>
                </a:solidFill>
                <a:latin typeface="Century Schoolbook"/>
              </a:rPr>
              <a:t>Answer:   Yes — 2</a:t>
            </a:r>
            <a:r>
              <a:rPr sz="3200" b="1" i="0" baseline="30000">
                <a:solidFill>
                  <a:srgbClr val="9E1B32"/>
                </a:solidFill>
                <a:latin typeface="Century Schoolbook"/>
              </a:rPr>
              <a:t>5</a:t>
            </a:r>
            <a:r>
              <a:rPr sz="3200" b="1" i="0">
                <a:solidFill>
                  <a:srgbClr val="9E1B32"/>
                </a:solidFill>
                <a:latin typeface="Century Schoolbook"/>
              </a:rPr>
              <a:t> · 5</a:t>
            </a:r>
            <a:r>
              <a:rPr sz="3200" b="1" i="0" baseline="30000">
                <a:solidFill>
                  <a:srgbClr val="9E1B32"/>
                </a:solidFill>
                <a:latin typeface="Century Schoolbook"/>
              </a:rPr>
              <a:t>3</a:t>
            </a:r>
            <a:r>
              <a:rPr sz="3200" b="1" i="0">
                <a:solidFill>
                  <a:srgbClr val="9E1B32"/>
                </a:solidFill>
                <a:latin typeface="Century Schoolbook"/>
              </a:rPr>
              <a:t> = 4000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1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Boards up on three.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6–7 — Evaluating and Equivalent Expressions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16</a:t>
            </a:r>
          </a:p>
        </p:txBody>
      </p:sp>
      <p:pic>
        <p:nvPicPr>
          <p:cNvPr id="9" name="Picture 8" descr="d7f9f8bf5433db5f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72456" y="2194560"/>
            <a:ext cx="1816608" cy="88392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777240" y="4343400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1" i="0">
                <a:solidFill>
                  <a:srgbClr val="1A1A1A"/>
                </a:solidFill>
                <a:latin typeface="Century Schoolbook"/>
              </a:rPr>
              <a:t>Answer it.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4828032"/>
            <a:ext cx="1060704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900" b="0" i="1">
                <a:solidFill>
                  <a:srgbClr val="6B6B6B"/>
                </a:solidFill>
                <a:latin typeface="Century Schoolbook"/>
              </a:rPr>
              <a:t>Find the value.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1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Answer.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6–7 — Evaluating and Equivalent Expressions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17</a:t>
            </a:r>
          </a:p>
        </p:txBody>
      </p:sp>
      <p:pic>
        <p:nvPicPr>
          <p:cNvPr id="9" name="Picture 8" descr="d7f9f8bf5433db5f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72456" y="2103120"/>
            <a:ext cx="1816608" cy="88392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1828800" y="3261360"/>
            <a:ext cx="850392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00" b="0" i="0">
                <a:solidFill>
                  <a:srgbClr val="6B6B6B"/>
                </a:solidFill>
                <a:latin typeface="Century Schoolbook"/>
              </a:rPr>
              <a:t>(−7)</a:t>
            </a:r>
            <a:r>
              <a:rPr sz="2400" b="0" i="0" baseline="30000">
                <a:solidFill>
                  <a:srgbClr val="6B6B6B"/>
                </a:solidFill>
                <a:latin typeface="Century Schoolbook"/>
              </a:rPr>
              <a:t>5</a:t>
            </a:r>
            <a:r>
              <a:rPr sz="2400" b="0" i="0">
                <a:solidFill>
                  <a:srgbClr val="6B6B6B"/>
                </a:solidFill>
                <a:latin typeface="Century Schoolbook"/>
              </a:rPr>
              <a:t> over (−7)</a:t>
            </a:r>
            <a:r>
              <a:rPr sz="2400" b="0" i="0" baseline="30000">
                <a:solidFill>
                  <a:srgbClr val="6B6B6B"/>
                </a:solidFill>
                <a:latin typeface="Century Schoolbook"/>
              </a:rPr>
              <a:t>2</a:t>
            </a:r>
            <a:r>
              <a:rPr sz="2400" b="0" i="0">
                <a:solidFill>
                  <a:srgbClr val="6B6B6B"/>
                </a:solidFill>
                <a:latin typeface="Century Schoolbook"/>
              </a:rPr>
              <a:t>, so (−7)</a:t>
            </a:r>
            <a:r>
              <a:rPr sz="2400" b="0" i="0" baseline="30000">
                <a:solidFill>
                  <a:srgbClr val="6B6B6B"/>
                </a:solidFill>
                <a:latin typeface="Century Schoolbook"/>
              </a:rPr>
              <a:t>3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466344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200" b="1" i="0">
                <a:solidFill>
                  <a:srgbClr val="9E1B32"/>
                </a:solidFill>
                <a:latin typeface="Century Schoolbook"/>
              </a:rPr>
              <a:t>Answer:   −343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2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Boards up on three.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6–7 — Evaluating and Equivalent Expressions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18</a:t>
            </a:r>
          </a:p>
        </p:txBody>
      </p:sp>
      <p:pic>
        <p:nvPicPr>
          <p:cNvPr id="9" name="Picture 8" descr="520bfb8b8a5dd05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236464" y="2194560"/>
            <a:ext cx="1688592" cy="1063752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777240" y="4343400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1" i="0">
                <a:solidFill>
                  <a:srgbClr val="1A1A1A"/>
                </a:solidFill>
                <a:latin typeface="Century Schoolbook"/>
              </a:rPr>
              <a:t>Answer it.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4828032"/>
            <a:ext cx="1060704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900" b="0" i="1">
                <a:solidFill>
                  <a:srgbClr val="6B6B6B"/>
                </a:solidFill>
                <a:latin typeface="Century Schoolbook"/>
              </a:rPr>
              <a:t>Find the value.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2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Answer.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6–7 — Evaluating and Equivalent Expressions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19</a:t>
            </a:r>
          </a:p>
        </p:txBody>
      </p:sp>
      <p:pic>
        <p:nvPicPr>
          <p:cNvPr id="9" name="Picture 8" descr="520bfb8b8a5dd05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236464" y="2103120"/>
            <a:ext cx="1688592" cy="1063752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1828800" y="3441191"/>
            <a:ext cx="850392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00" b="0" i="0">
                <a:solidFill>
                  <a:srgbClr val="6B6B6B"/>
                </a:solidFill>
                <a:latin typeface="Century Schoolbook"/>
              </a:rPr>
              <a:t>−3 − (−2) = −1, so (3/4)</a:t>
            </a:r>
            <a:r>
              <a:rPr sz="2400" b="0" i="0" baseline="30000">
                <a:solidFill>
                  <a:srgbClr val="6B6B6B"/>
                </a:solidFill>
                <a:latin typeface="Century Schoolbook"/>
              </a:rPr>
              <a:t>-1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29200" y="4713731"/>
            <a:ext cx="1920240" cy="54864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3200" b="1" i="0">
                <a:solidFill>
                  <a:srgbClr val="9E1B32"/>
                </a:solidFill>
                <a:latin typeface="Century Schoolbook"/>
              </a:rPr>
              <a:t>Answer:</a:t>
            </a:r>
          </a:p>
        </p:txBody>
      </p:sp>
      <p:pic>
        <p:nvPicPr>
          <p:cNvPr id="12" name="Picture 11" descr="b32c3b47dc4eb01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949440" y="4663440"/>
            <a:ext cx="182880" cy="649224"/>
          </a:xfrm>
          <a:prstGeom prst="rect">
            <a:avLst/>
          </a:prstGeom>
        </p:spPr>
      </p:pic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3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Boards up on three.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6–7 — Evaluating and Equivalent Expressions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20</a:t>
            </a:r>
          </a:p>
        </p:txBody>
      </p:sp>
      <p:pic>
        <p:nvPicPr>
          <p:cNvPr id="9" name="Picture 8" descr="5ff7261f0ab2728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25212" y="2194560"/>
            <a:ext cx="1911095" cy="905256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777240" y="4343400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1" i="0">
                <a:solidFill>
                  <a:srgbClr val="1A1A1A"/>
                </a:solidFill>
                <a:latin typeface="Century Schoolbook"/>
              </a:rPr>
              <a:t>Answer it.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4828032"/>
            <a:ext cx="1060704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900" b="0" i="1">
                <a:solidFill>
                  <a:srgbClr val="6B6B6B"/>
                </a:solidFill>
                <a:latin typeface="Century Schoolbook"/>
              </a:rPr>
              <a:t>Find the value.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3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Answer.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6–7 — Evaluating and Equivalent Expressions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21</a:t>
            </a:r>
          </a:p>
        </p:txBody>
      </p:sp>
      <p:pic>
        <p:nvPicPr>
          <p:cNvPr id="9" name="Picture 8" descr="5ff7261f0ab2728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25212" y="2103120"/>
            <a:ext cx="1911095" cy="905256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1828800" y="3282696"/>
            <a:ext cx="850392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00" b="0" i="0">
                <a:solidFill>
                  <a:srgbClr val="6B6B6B"/>
                </a:solidFill>
                <a:latin typeface="Century Schoolbook"/>
              </a:rPr>
              <a:t>2</a:t>
            </a:r>
            <a:r>
              <a:rPr sz="2400" b="0" i="0" baseline="30000">
                <a:solidFill>
                  <a:srgbClr val="6B6B6B"/>
                </a:solidFill>
                <a:latin typeface="Century Schoolbook"/>
              </a:rPr>
              <a:t>-3</a:t>
            </a:r>
            <a:r>
              <a:rPr sz="2400" b="0" i="0">
                <a:solidFill>
                  <a:srgbClr val="6B6B6B"/>
                </a:solidFill>
                <a:latin typeface="Century Schoolbook"/>
              </a:rPr>
              <a:t> · 2</a:t>
            </a:r>
            <a:r>
              <a:rPr sz="2400" b="0" i="0" baseline="30000">
                <a:solidFill>
                  <a:srgbClr val="6B6B6B"/>
                </a:solidFill>
                <a:latin typeface="Century Schoolbook"/>
              </a:rPr>
              <a:t>4</a:t>
            </a:r>
            <a:r>
              <a:rPr sz="2400" b="0" i="0">
                <a:solidFill>
                  <a:srgbClr val="6B6B6B"/>
                </a:solidFill>
                <a:latin typeface="Century Schoolbook"/>
              </a:rPr>
              <a:t> over 2</a:t>
            </a:r>
            <a:r>
              <a:rPr sz="2400" b="0" i="0" baseline="30000">
                <a:solidFill>
                  <a:srgbClr val="6B6B6B"/>
                </a:solidFill>
                <a:latin typeface="Century Schoolbook"/>
              </a:rPr>
              <a:t>3</a:t>
            </a:r>
            <a:r>
              <a:rPr sz="2400" b="0" i="0">
                <a:solidFill>
                  <a:srgbClr val="6B6B6B"/>
                </a:solidFill>
                <a:latin typeface="Century Schoolbook"/>
              </a:rPr>
              <a:t> = 2</a:t>
            </a:r>
            <a:r>
              <a:rPr sz="2400" b="0" i="0" baseline="30000">
                <a:solidFill>
                  <a:srgbClr val="6B6B6B"/>
                </a:solidFill>
                <a:latin typeface="Century Schoolbook"/>
              </a:rPr>
              <a:t>-2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29200" y="4710684"/>
            <a:ext cx="1920240" cy="54864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3200" b="1" i="0">
                <a:solidFill>
                  <a:srgbClr val="9E1B32"/>
                </a:solidFill>
                <a:latin typeface="Century Schoolbook"/>
              </a:rPr>
              <a:t>Answer:</a:t>
            </a:r>
          </a:p>
        </p:txBody>
      </p:sp>
      <p:pic>
        <p:nvPicPr>
          <p:cNvPr id="12" name="Picture 11" descr="3af52598aeb43b11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949440" y="4663440"/>
            <a:ext cx="182880" cy="643128"/>
          </a:xfrm>
          <a:prstGeom prst="rect">
            <a:avLst/>
          </a:prstGeom>
        </p:spPr>
      </p:pic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4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Boards up on three.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6–7 — Evaluating and Equivalent Expressions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22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534156" y="2171700"/>
            <a:ext cx="2785872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sp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A drive holds  </a:t>
            </a:r>
          </a:p>
        </p:txBody>
      </p:sp>
      <p:pic>
        <p:nvPicPr>
          <p:cNvPr id="10" name="Picture 9" descr="326fb02d0e36fa3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182868" y="2226564"/>
            <a:ext cx="310896" cy="34747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6493764" y="2171700"/>
            <a:ext cx="2270760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sp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  megabytes.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7240" y="2880360"/>
            <a:ext cx="10607040" cy="465151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0" i="0">
                <a:solidFill>
                  <a:srgbClr val="1A1A1A"/>
                </a:solidFill>
                <a:latin typeface="Century Schoolbook"/>
              </a:rPr>
              <a:t>It costs 45 dollars.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705859" y="3432379"/>
            <a:ext cx="1412240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sp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Write  </a:t>
            </a:r>
          </a:p>
        </p:txBody>
      </p:sp>
      <p:pic>
        <p:nvPicPr>
          <p:cNvPr id="14" name="Picture 13" descr="326fb02d0e36fa3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80940" y="3487243"/>
            <a:ext cx="310896" cy="347472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5291836" y="3432379"/>
            <a:ext cx="3300984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sp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  as a power of 2.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77240" y="4343400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1" i="0">
                <a:solidFill>
                  <a:srgbClr val="1A1A1A"/>
                </a:solidFill>
                <a:latin typeface="Century Schoolbook"/>
              </a:rPr>
              <a:t>Answer it.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77240" y="4828032"/>
            <a:ext cx="1060704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900" b="0" i="1">
                <a:solidFill>
                  <a:srgbClr val="6B6B6B"/>
                </a:solidFill>
                <a:latin typeface="Century Schoolbook"/>
              </a:rPr>
              <a:t>Write it as a power of 2.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4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Answer.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6–7 — Evaluating and Equivalent Expressions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23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534156" y="2080260"/>
            <a:ext cx="2785872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sp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A drive holds  </a:t>
            </a:r>
          </a:p>
        </p:txBody>
      </p:sp>
      <p:pic>
        <p:nvPicPr>
          <p:cNvPr id="10" name="Picture 9" descr="326fb02d0e36fa3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182868" y="2135124"/>
            <a:ext cx="310896" cy="34747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6493764" y="2080260"/>
            <a:ext cx="2270760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sp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  megabytes.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7240" y="2788920"/>
            <a:ext cx="10607040" cy="465151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0" i="0">
                <a:solidFill>
                  <a:srgbClr val="1A1A1A"/>
                </a:solidFill>
                <a:latin typeface="Century Schoolbook"/>
              </a:rPr>
              <a:t>It costs 45 dollars.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705859" y="3340939"/>
            <a:ext cx="1412240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sp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Write  </a:t>
            </a:r>
          </a:p>
        </p:txBody>
      </p:sp>
      <p:pic>
        <p:nvPicPr>
          <p:cNvPr id="14" name="Picture 13" descr="326fb02d0e36fa3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80940" y="3395803"/>
            <a:ext cx="310896" cy="347472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5291836" y="3340939"/>
            <a:ext cx="3300984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sp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  as a power of 2.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828800" y="4095319"/>
            <a:ext cx="850392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00" b="0" i="0">
                <a:solidFill>
                  <a:srgbClr val="6B6B6B"/>
                </a:solidFill>
                <a:latin typeface="Century Schoolbook"/>
              </a:rPr>
              <a:t>8 = 2</a:t>
            </a:r>
            <a:r>
              <a:rPr sz="2400" b="0" i="0" baseline="30000">
                <a:solidFill>
                  <a:srgbClr val="6B6B6B"/>
                </a:solidFill>
                <a:latin typeface="Century Schoolbook"/>
              </a:rPr>
              <a:t>3</a:t>
            </a:r>
            <a:r>
              <a:rPr sz="2400" b="0" i="0">
                <a:solidFill>
                  <a:srgbClr val="6B6B6B"/>
                </a:solidFill>
                <a:latin typeface="Century Schoolbook"/>
              </a:rPr>
              <a:t>, so (2</a:t>
            </a:r>
            <a:r>
              <a:rPr sz="2400" b="0" i="0" baseline="30000">
                <a:solidFill>
                  <a:srgbClr val="6B6B6B"/>
                </a:solidFill>
                <a:latin typeface="Century Schoolbook"/>
              </a:rPr>
              <a:t>3</a:t>
            </a:r>
            <a:r>
              <a:rPr sz="2400" b="0" i="0">
                <a:solidFill>
                  <a:srgbClr val="6B6B6B"/>
                </a:solidFill>
                <a:latin typeface="Century Schoolbook"/>
              </a:rPr>
              <a:t>)</a:t>
            </a:r>
            <a:r>
              <a:rPr sz="2400" b="0" i="0" baseline="30000">
                <a:solidFill>
                  <a:srgbClr val="6B6B6B"/>
                </a:solidFill>
                <a:latin typeface="Century Schoolbook"/>
              </a:rPr>
              <a:t>5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829556" y="4764355"/>
            <a:ext cx="1920240" cy="54864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3200" b="1" i="0">
                <a:solidFill>
                  <a:srgbClr val="9E1B32"/>
                </a:solidFill>
                <a:latin typeface="Century Schoolbook"/>
              </a:rPr>
              <a:t>Answer:</a:t>
            </a:r>
          </a:p>
        </p:txBody>
      </p:sp>
      <p:pic>
        <p:nvPicPr>
          <p:cNvPr id="18" name="Picture 17" descr="6103e54678c6ecd2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749795" y="4826839"/>
            <a:ext cx="582168" cy="423672"/>
          </a:xfrm>
          <a:prstGeom prst="rect">
            <a:avLst/>
          </a:prstGeom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5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Boards up on three.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6–7 — Evaluating and Equivalent Expressions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24</a:t>
            </a:r>
          </a:p>
        </p:txBody>
      </p:sp>
      <p:pic>
        <p:nvPicPr>
          <p:cNvPr id="9" name="Picture 8" descr="39fbeb40e62d1228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73496" y="2194560"/>
            <a:ext cx="414528" cy="438912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777240" y="2862072"/>
            <a:ext cx="10607040" cy="465151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0" i="0">
                <a:solidFill>
                  <a:srgbClr val="1A1A1A"/>
                </a:solidFill>
                <a:latin typeface="Century Schoolbook"/>
              </a:rPr>
              <a:t>Which expression is equivalent?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874519" y="3528391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1A1A1A"/>
                </a:solidFill>
                <a:latin typeface="Century Schoolbook"/>
              </a:rPr>
              <a:t>A.   </a:t>
            </a:r>
            <a:r>
              <a:rPr sz="2400" b="0" i="0">
                <a:solidFill>
                  <a:srgbClr val="1A1A1A"/>
                </a:solidFill>
                <a:latin typeface="Century Schoolbook"/>
              </a:rPr>
              <a:t>3</a:t>
            </a:r>
            <a:r>
              <a:rPr sz="2400" b="0" i="0" baseline="30000">
                <a:solidFill>
                  <a:srgbClr val="1A1A1A"/>
                </a:solidFill>
                <a:latin typeface="Century Schoolbook"/>
              </a:rPr>
              <a:t>8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629400" y="3528391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1A1A1A"/>
                </a:solidFill>
                <a:latin typeface="Century Schoolbook"/>
              </a:rPr>
              <a:t>B.   </a:t>
            </a:r>
            <a:r>
              <a:rPr sz="2400" b="0" i="0">
                <a:solidFill>
                  <a:srgbClr val="1A1A1A"/>
                </a:solidFill>
                <a:latin typeface="Century Schoolbook"/>
              </a:rPr>
              <a:t>3</a:t>
            </a:r>
            <a:r>
              <a:rPr sz="2400" b="0" i="0" baseline="30000">
                <a:solidFill>
                  <a:srgbClr val="1A1A1A"/>
                </a:solidFill>
                <a:latin typeface="Century Schoolbook"/>
              </a:rPr>
              <a:t>6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874519" y="4214191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1A1A1A"/>
                </a:solidFill>
                <a:latin typeface="Century Schoolbook"/>
              </a:rPr>
              <a:t>C.   </a:t>
            </a:r>
            <a:r>
              <a:rPr sz="2400" b="0" i="0">
                <a:solidFill>
                  <a:srgbClr val="1A1A1A"/>
                </a:solidFill>
                <a:latin typeface="Century Schoolbook"/>
              </a:rPr>
              <a:t>3</a:t>
            </a:r>
            <a:r>
              <a:rPr sz="2400" b="0" i="0" baseline="30000">
                <a:solidFill>
                  <a:srgbClr val="1A1A1A"/>
                </a:solidFill>
                <a:latin typeface="Century Schoolbook"/>
              </a:rPr>
              <a:t>4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629400" y="4214191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1A1A1A"/>
                </a:solidFill>
                <a:latin typeface="Century Schoolbook"/>
              </a:rPr>
              <a:t>D.   </a:t>
            </a:r>
            <a:r>
              <a:rPr sz="2400" b="0" i="0">
                <a:solidFill>
                  <a:srgbClr val="1A1A1A"/>
                </a:solidFill>
                <a:latin typeface="Century Schoolbook"/>
              </a:rPr>
              <a:t>3</a:t>
            </a:r>
            <a:r>
              <a:rPr sz="2400" b="0" i="0" baseline="30000">
                <a:solidFill>
                  <a:srgbClr val="1A1A1A"/>
                </a:solidFill>
                <a:latin typeface="Century Schoolbook"/>
              </a:rPr>
              <a:t>16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77240" y="5220031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1" i="0">
                <a:solidFill>
                  <a:srgbClr val="1A1A1A"/>
                </a:solidFill>
                <a:latin typeface="Century Schoolbook"/>
              </a:rPr>
              <a:t>Answer it.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5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Answer.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6–7 — Evaluating and Equivalent Expressions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25</a:t>
            </a:r>
          </a:p>
        </p:txBody>
      </p:sp>
      <p:pic>
        <p:nvPicPr>
          <p:cNvPr id="9" name="Picture 8" descr="39fbeb40e62d1228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73496" y="2103120"/>
            <a:ext cx="414528" cy="438912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777240" y="2770632"/>
            <a:ext cx="10607040" cy="465151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0" i="0">
                <a:solidFill>
                  <a:srgbClr val="1A1A1A"/>
                </a:solidFill>
                <a:latin typeface="Century Schoolbook"/>
              </a:rPr>
              <a:t>Which expression is equivalent?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874519" y="3436951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9E1B32"/>
                </a:solidFill>
                <a:latin typeface="Century Schoolbook"/>
              </a:rPr>
              <a:t>A.   </a:t>
            </a:r>
            <a:r>
              <a:rPr sz="2400" b="1" i="0">
                <a:solidFill>
                  <a:srgbClr val="9E1B32"/>
                </a:solidFill>
                <a:latin typeface="Century Schoolbook"/>
              </a:rPr>
              <a:t>3</a:t>
            </a:r>
            <a:r>
              <a:rPr sz="2400" b="1" i="0" baseline="30000">
                <a:solidFill>
                  <a:srgbClr val="9E1B32"/>
                </a:solidFill>
                <a:latin typeface="Century Schoolbook"/>
              </a:rPr>
              <a:t>8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629400" y="3436951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1A1A1A"/>
                </a:solidFill>
                <a:latin typeface="Century Schoolbook"/>
              </a:rPr>
              <a:t>B.   </a:t>
            </a:r>
            <a:r>
              <a:rPr sz="2400" b="0" i="0">
                <a:solidFill>
                  <a:srgbClr val="1A1A1A"/>
                </a:solidFill>
                <a:latin typeface="Century Schoolbook"/>
              </a:rPr>
              <a:t>3</a:t>
            </a:r>
            <a:r>
              <a:rPr sz="2400" b="0" i="0" baseline="30000">
                <a:solidFill>
                  <a:srgbClr val="1A1A1A"/>
                </a:solidFill>
                <a:latin typeface="Century Schoolbook"/>
              </a:rPr>
              <a:t>6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874519" y="4122751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1A1A1A"/>
                </a:solidFill>
                <a:latin typeface="Century Schoolbook"/>
              </a:rPr>
              <a:t>C.   </a:t>
            </a:r>
            <a:r>
              <a:rPr sz="2400" b="0" i="0">
                <a:solidFill>
                  <a:srgbClr val="1A1A1A"/>
                </a:solidFill>
                <a:latin typeface="Century Schoolbook"/>
              </a:rPr>
              <a:t>3</a:t>
            </a:r>
            <a:r>
              <a:rPr sz="2400" b="0" i="0" baseline="30000">
                <a:solidFill>
                  <a:srgbClr val="1A1A1A"/>
                </a:solidFill>
                <a:latin typeface="Century Schoolbook"/>
              </a:rPr>
              <a:t>4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629400" y="4122751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1A1A1A"/>
                </a:solidFill>
                <a:latin typeface="Century Schoolbook"/>
              </a:rPr>
              <a:t>D.   </a:t>
            </a:r>
            <a:r>
              <a:rPr sz="2400" b="0" i="0">
                <a:solidFill>
                  <a:srgbClr val="1A1A1A"/>
                </a:solidFill>
                <a:latin typeface="Century Schoolbook"/>
              </a:rPr>
              <a:t>3</a:t>
            </a:r>
            <a:r>
              <a:rPr sz="2400" b="0" i="0" baseline="30000">
                <a:solidFill>
                  <a:srgbClr val="1A1A1A"/>
                </a:solidFill>
                <a:latin typeface="Century Schoolbook"/>
              </a:rPr>
              <a:t>16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77240" y="5128591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200" b="1" i="0">
                <a:solidFill>
                  <a:srgbClr val="9E1B32"/>
                </a:solidFill>
                <a:latin typeface="Century Schoolbook"/>
              </a:rPr>
              <a:t>Answer:   A — 3</a:t>
            </a:r>
            <a:r>
              <a:rPr sz="3200" b="1" i="0" baseline="30000">
                <a:solidFill>
                  <a:srgbClr val="9E1B32"/>
                </a:solidFill>
                <a:latin typeface="Century Schoolbook"/>
              </a:rPr>
              <a:t>8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6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Boards up on three.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6–7 — Evaluating and Equivalent Expressions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26</a:t>
            </a:r>
          </a:p>
        </p:txBody>
      </p:sp>
      <p:pic>
        <p:nvPicPr>
          <p:cNvPr id="9" name="Picture 8" descr="0b0333b4fa7e884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72456" y="2194560"/>
            <a:ext cx="1816608" cy="643128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777240" y="3066288"/>
            <a:ext cx="10607040" cy="465151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0" i="0">
                <a:solidFill>
                  <a:srgbClr val="1A1A1A"/>
                </a:solidFill>
                <a:latin typeface="Century Schoolbook"/>
              </a:rPr>
              <a:t>Which expression is equivalent?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874519" y="3732607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1A1A1A"/>
                </a:solidFill>
                <a:latin typeface="Century Schoolbook"/>
              </a:rPr>
              <a:t>A.   </a:t>
            </a:r>
            <a:r>
              <a:rPr sz="2400" b="0" i="0">
                <a:solidFill>
                  <a:srgbClr val="1A1A1A"/>
                </a:solidFill>
                <a:latin typeface="Century Schoolbook"/>
              </a:rPr>
              <a:t>2</a:t>
            </a:r>
            <a:r>
              <a:rPr sz="2400" b="0" i="0" baseline="30000">
                <a:solidFill>
                  <a:srgbClr val="1A1A1A"/>
                </a:solidFill>
                <a:latin typeface="Century Schoolbook"/>
              </a:rPr>
              <a:t>-7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629400" y="3732607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1A1A1A"/>
                </a:solidFill>
                <a:latin typeface="Century Schoolbook"/>
              </a:rPr>
              <a:t>B.   </a:t>
            </a:r>
            <a:r>
              <a:rPr sz="2400" b="0" i="0">
                <a:solidFill>
                  <a:srgbClr val="1A1A1A"/>
                </a:solidFill>
                <a:latin typeface="Century Schoolbook"/>
              </a:rPr>
              <a:t>2</a:t>
            </a:r>
            <a:r>
              <a:rPr sz="2400" b="0" i="0" baseline="30000">
                <a:solidFill>
                  <a:srgbClr val="1A1A1A"/>
                </a:solidFill>
                <a:latin typeface="Century Schoolbook"/>
              </a:rPr>
              <a:t>-5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874519" y="4418407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1A1A1A"/>
                </a:solidFill>
                <a:latin typeface="Century Schoolbook"/>
              </a:rPr>
              <a:t>C.   </a:t>
            </a:r>
            <a:r>
              <a:rPr sz="2400" b="0" i="0">
                <a:solidFill>
                  <a:srgbClr val="1A1A1A"/>
                </a:solidFill>
                <a:latin typeface="Century Schoolbook"/>
              </a:rPr>
              <a:t>2</a:t>
            </a:r>
            <a:r>
              <a:rPr sz="2400" b="0" i="0" baseline="30000">
                <a:solidFill>
                  <a:srgbClr val="1A1A1A"/>
                </a:solidFill>
                <a:latin typeface="Century Schoolbook"/>
              </a:rPr>
              <a:t>7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629400" y="4418407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1A1A1A"/>
                </a:solidFill>
                <a:latin typeface="Century Schoolbook"/>
              </a:rPr>
              <a:t>D.   </a:t>
            </a:r>
            <a:r>
              <a:rPr sz="2400" b="0" i="0">
                <a:solidFill>
                  <a:srgbClr val="1A1A1A"/>
                </a:solidFill>
                <a:latin typeface="Century Schoolbook"/>
              </a:rPr>
              <a:t>2</a:t>
            </a:r>
            <a:r>
              <a:rPr sz="2400" b="0" i="0" baseline="30000">
                <a:solidFill>
                  <a:srgbClr val="1A1A1A"/>
                </a:solidFill>
                <a:latin typeface="Century Schoolbook"/>
              </a:rPr>
              <a:t>-12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77240" y="5424247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1" i="0">
                <a:solidFill>
                  <a:srgbClr val="1A1A1A"/>
                </a:solidFill>
                <a:latin typeface="Century Schoolbook"/>
              </a:rPr>
              <a:t>Answer it.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6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Answer.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6–7 — Evaluating and Equivalent Expressions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27</a:t>
            </a:r>
          </a:p>
        </p:txBody>
      </p:sp>
      <p:pic>
        <p:nvPicPr>
          <p:cNvPr id="9" name="Picture 8" descr="0b0333b4fa7e884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72456" y="2103120"/>
            <a:ext cx="1816608" cy="643128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777240" y="2974847"/>
            <a:ext cx="10607040" cy="465151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0" i="0">
                <a:solidFill>
                  <a:srgbClr val="1A1A1A"/>
                </a:solidFill>
                <a:latin typeface="Century Schoolbook"/>
              </a:rPr>
              <a:t>Which expression is equivalent?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874519" y="3641167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9E1B32"/>
                </a:solidFill>
                <a:latin typeface="Century Schoolbook"/>
              </a:rPr>
              <a:t>A.   </a:t>
            </a:r>
            <a:r>
              <a:rPr sz="2400" b="1" i="0">
                <a:solidFill>
                  <a:srgbClr val="9E1B32"/>
                </a:solidFill>
                <a:latin typeface="Century Schoolbook"/>
              </a:rPr>
              <a:t>2</a:t>
            </a:r>
            <a:r>
              <a:rPr sz="2400" b="1" i="0" baseline="30000">
                <a:solidFill>
                  <a:srgbClr val="9E1B32"/>
                </a:solidFill>
                <a:latin typeface="Century Schoolbook"/>
              </a:rPr>
              <a:t>-7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629400" y="3641167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1A1A1A"/>
                </a:solidFill>
                <a:latin typeface="Century Schoolbook"/>
              </a:rPr>
              <a:t>B.   </a:t>
            </a:r>
            <a:r>
              <a:rPr sz="2400" b="0" i="0">
                <a:solidFill>
                  <a:srgbClr val="1A1A1A"/>
                </a:solidFill>
                <a:latin typeface="Century Schoolbook"/>
              </a:rPr>
              <a:t>2</a:t>
            </a:r>
            <a:r>
              <a:rPr sz="2400" b="0" i="0" baseline="30000">
                <a:solidFill>
                  <a:srgbClr val="1A1A1A"/>
                </a:solidFill>
                <a:latin typeface="Century Schoolbook"/>
              </a:rPr>
              <a:t>-5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874519" y="4326967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1A1A1A"/>
                </a:solidFill>
                <a:latin typeface="Century Schoolbook"/>
              </a:rPr>
              <a:t>C.   </a:t>
            </a:r>
            <a:r>
              <a:rPr sz="2400" b="0" i="0">
                <a:solidFill>
                  <a:srgbClr val="1A1A1A"/>
                </a:solidFill>
                <a:latin typeface="Century Schoolbook"/>
              </a:rPr>
              <a:t>2</a:t>
            </a:r>
            <a:r>
              <a:rPr sz="2400" b="0" i="0" baseline="30000">
                <a:solidFill>
                  <a:srgbClr val="1A1A1A"/>
                </a:solidFill>
                <a:latin typeface="Century Schoolbook"/>
              </a:rPr>
              <a:t>7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629400" y="4326967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1A1A1A"/>
                </a:solidFill>
                <a:latin typeface="Century Schoolbook"/>
              </a:rPr>
              <a:t>D.   </a:t>
            </a:r>
            <a:r>
              <a:rPr sz="2400" b="0" i="0">
                <a:solidFill>
                  <a:srgbClr val="1A1A1A"/>
                </a:solidFill>
                <a:latin typeface="Century Schoolbook"/>
              </a:rPr>
              <a:t>2</a:t>
            </a:r>
            <a:r>
              <a:rPr sz="2400" b="0" i="0" baseline="30000">
                <a:solidFill>
                  <a:srgbClr val="1A1A1A"/>
                </a:solidFill>
                <a:latin typeface="Century Schoolbook"/>
              </a:rPr>
              <a:t>-12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77240" y="5332807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200" b="1" i="0">
                <a:solidFill>
                  <a:srgbClr val="9E1B32"/>
                </a:solidFill>
                <a:latin typeface="Century Schoolbook"/>
              </a:rPr>
              <a:t>Answer:   A — 2</a:t>
            </a:r>
            <a:r>
              <a:rPr sz="3200" b="1" i="0" baseline="30000">
                <a:solidFill>
                  <a:srgbClr val="9E1B32"/>
                </a:solidFill>
                <a:latin typeface="Century Schoolbook"/>
              </a:rPr>
              <a:t>-7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7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Boards up on three.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6–7 — Evaluating and Equivalent Expressions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28</a:t>
            </a:r>
          </a:p>
        </p:txBody>
      </p:sp>
      <p:pic>
        <p:nvPicPr>
          <p:cNvPr id="9" name="Picture 8" descr="11b1cae12f4ad7a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501639" y="2194560"/>
            <a:ext cx="1158240" cy="420624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777240" y="4343400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1" i="0">
                <a:solidFill>
                  <a:srgbClr val="1A1A1A"/>
                </a:solidFill>
                <a:latin typeface="Century Schoolbook"/>
              </a:rPr>
              <a:t>Answer it.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4828032"/>
            <a:ext cx="1060704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900" b="0" i="1">
                <a:solidFill>
                  <a:srgbClr val="6B6B6B"/>
                </a:solidFill>
                <a:latin typeface="Century Schoolbook"/>
              </a:rPr>
              <a:t>Write it as one power of 2.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7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Answer.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6–7 — Evaluating and Equivalent Expressions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29</a:t>
            </a:r>
          </a:p>
        </p:txBody>
      </p:sp>
      <p:pic>
        <p:nvPicPr>
          <p:cNvPr id="9" name="Picture 8" descr="11b1cae12f4ad7a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501639" y="2103120"/>
            <a:ext cx="1158240" cy="420624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1828800" y="2798063"/>
            <a:ext cx="850392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00" b="0" i="0">
                <a:solidFill>
                  <a:srgbClr val="6B6B6B"/>
                </a:solidFill>
                <a:latin typeface="Century Schoolbook"/>
              </a:rPr>
              <a:t>4</a:t>
            </a:r>
            <a:r>
              <a:rPr sz="2400" b="0" i="0" baseline="30000">
                <a:solidFill>
                  <a:srgbClr val="6B6B6B"/>
                </a:solidFill>
                <a:latin typeface="Century Schoolbook"/>
              </a:rPr>
              <a:t>3</a:t>
            </a:r>
            <a:r>
              <a:rPr sz="2400" b="0" i="0">
                <a:solidFill>
                  <a:srgbClr val="6B6B6B"/>
                </a:solidFill>
                <a:latin typeface="Century Schoolbook"/>
              </a:rPr>
              <a:t> = (2</a:t>
            </a:r>
            <a:r>
              <a:rPr sz="2400" b="0" i="0" baseline="30000">
                <a:solidFill>
                  <a:srgbClr val="6B6B6B"/>
                </a:solidFill>
                <a:latin typeface="Century Schoolbook"/>
              </a:rPr>
              <a:t>2</a:t>
            </a:r>
            <a:r>
              <a:rPr sz="2400" b="0" i="0">
                <a:solidFill>
                  <a:srgbClr val="6B6B6B"/>
                </a:solidFill>
                <a:latin typeface="Century Schoolbook"/>
              </a:rPr>
              <a:t>)</a:t>
            </a:r>
            <a:r>
              <a:rPr sz="2400" b="0" i="0" baseline="30000">
                <a:solidFill>
                  <a:srgbClr val="6B6B6B"/>
                </a:solidFill>
                <a:latin typeface="Century Schoolbook"/>
              </a:rPr>
              <a:t>3</a:t>
            </a:r>
            <a:r>
              <a:rPr sz="2400" b="0" i="0">
                <a:solidFill>
                  <a:srgbClr val="6B6B6B"/>
                </a:solidFill>
                <a:latin typeface="Century Schoolbook"/>
              </a:rPr>
              <a:t> = 2</a:t>
            </a:r>
            <a:r>
              <a:rPr sz="2400" b="0" i="0" baseline="30000">
                <a:solidFill>
                  <a:srgbClr val="6B6B6B"/>
                </a:solidFill>
                <a:latin typeface="Century Schoolbook"/>
              </a:rPr>
              <a:t>6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914900" y="4602480"/>
            <a:ext cx="1920240" cy="54864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3200" b="1" i="0">
                <a:solidFill>
                  <a:srgbClr val="9E1B32"/>
                </a:solidFill>
                <a:latin typeface="Century Schoolbook"/>
              </a:rPr>
              <a:t>Answer:</a:t>
            </a:r>
          </a:p>
        </p:txBody>
      </p:sp>
      <p:pic>
        <p:nvPicPr>
          <p:cNvPr id="12" name="Picture 11" descr="474833020a971499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35140" y="4663440"/>
            <a:ext cx="411480" cy="426720"/>
          </a:xfrm>
          <a:prstGeom prst="rect">
            <a:avLst/>
          </a:prstGeom>
        </p:spPr>
      </p:pic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8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Boards up on three.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6–7 — Evaluating and Equivalent Expressions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30</a:t>
            </a:r>
          </a:p>
        </p:txBody>
      </p:sp>
      <p:pic>
        <p:nvPicPr>
          <p:cNvPr id="9" name="Picture 8" descr="cd86dc37fd0c05fc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69051" y="2194560"/>
            <a:ext cx="1423416" cy="42672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777240" y="4343400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1" i="0">
                <a:solidFill>
                  <a:srgbClr val="1A1A1A"/>
                </a:solidFill>
                <a:latin typeface="Century Schoolbook"/>
              </a:rPr>
              <a:t>Answer it.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4828032"/>
            <a:ext cx="1060704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900" b="0" i="1">
                <a:solidFill>
                  <a:srgbClr val="6B6B6B"/>
                </a:solidFill>
                <a:latin typeface="Century Schoolbook"/>
              </a:rPr>
              <a:t>Write it as one power of 2.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8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Answer.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6–7 — Evaluating and Equivalent Expressions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31</a:t>
            </a:r>
          </a:p>
        </p:txBody>
      </p:sp>
      <p:pic>
        <p:nvPicPr>
          <p:cNvPr id="9" name="Picture 8" descr="cd86dc37fd0c05fc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69051" y="2103120"/>
            <a:ext cx="1423416" cy="42672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1828800" y="2804160"/>
            <a:ext cx="850392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00" b="0" i="0">
                <a:solidFill>
                  <a:srgbClr val="6B6B6B"/>
                </a:solidFill>
                <a:latin typeface="Century Schoolbook"/>
              </a:rPr>
              <a:t>4</a:t>
            </a:r>
            <a:r>
              <a:rPr sz="2400" b="0" i="0" baseline="30000">
                <a:solidFill>
                  <a:srgbClr val="6B6B6B"/>
                </a:solidFill>
                <a:latin typeface="Century Schoolbook"/>
              </a:rPr>
              <a:t>5</a:t>
            </a:r>
            <a:r>
              <a:rPr sz="2400" b="0" i="0">
                <a:solidFill>
                  <a:srgbClr val="6B6B6B"/>
                </a:solidFill>
                <a:latin typeface="Century Schoolbook"/>
              </a:rPr>
              <a:t> = (2</a:t>
            </a:r>
            <a:r>
              <a:rPr sz="2400" b="0" i="0" baseline="30000">
                <a:solidFill>
                  <a:srgbClr val="6B6B6B"/>
                </a:solidFill>
                <a:latin typeface="Century Schoolbook"/>
              </a:rPr>
              <a:t>2</a:t>
            </a:r>
            <a:r>
              <a:rPr sz="2400" b="0" i="0">
                <a:solidFill>
                  <a:srgbClr val="6B6B6B"/>
                </a:solidFill>
                <a:latin typeface="Century Schoolbook"/>
              </a:rPr>
              <a:t>)</a:t>
            </a:r>
            <a:r>
              <a:rPr sz="2400" b="0" i="0" baseline="30000">
                <a:solidFill>
                  <a:srgbClr val="6B6B6B"/>
                </a:solidFill>
                <a:latin typeface="Century Schoolbook"/>
              </a:rPr>
              <a:t>5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821935" y="4602480"/>
            <a:ext cx="1920240" cy="54864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3200" b="1" i="0">
                <a:solidFill>
                  <a:srgbClr val="9E1B32"/>
                </a:solidFill>
                <a:latin typeface="Century Schoolbook"/>
              </a:rPr>
              <a:t>Answer:</a:t>
            </a:r>
          </a:p>
        </p:txBody>
      </p:sp>
      <p:pic>
        <p:nvPicPr>
          <p:cNvPr id="12" name="Picture 11" descr="c9101e99983c701b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742176" y="4663440"/>
            <a:ext cx="597408" cy="426720"/>
          </a:xfrm>
          <a:prstGeom prst="rect">
            <a:avLst/>
          </a:prstGeom>
        </p:spPr>
      </p:pic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9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Take your time. Boards up when you have written it.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6–7 — Evaluating and Equivalent Expressions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32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435607" y="2223516"/>
            <a:ext cx="2442464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sp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Xavier says  </a:t>
            </a:r>
          </a:p>
        </p:txBody>
      </p:sp>
      <p:pic>
        <p:nvPicPr>
          <p:cNvPr id="10" name="Picture 9" descr="80a2fc1abc20053f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740912" y="2194560"/>
            <a:ext cx="1450848" cy="51511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5191760" y="2223516"/>
            <a:ext cx="1412240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sp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  and  </a:t>
            </a:r>
          </a:p>
        </p:txBody>
      </p:sp>
      <p:pic>
        <p:nvPicPr>
          <p:cNvPr id="12" name="Picture 11" descr="ba89abb5740e24f6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66840" y="2194560"/>
            <a:ext cx="1438656" cy="515112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7905496" y="2223516"/>
            <a:ext cx="2957576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sp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  are equivalent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626107" y="2961132"/>
            <a:ext cx="5704840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sp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because both can be written as  </a:t>
            </a:r>
          </a:p>
        </p:txBody>
      </p:sp>
      <p:pic>
        <p:nvPicPr>
          <p:cNvPr id="15" name="Picture 14" descr="c9adefc290aa5b44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193788" y="3023616"/>
            <a:ext cx="521207" cy="332232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7714996" y="2961132"/>
            <a:ext cx="2957576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sp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.  Do you agree?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77240" y="4343400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1" i="0">
                <a:solidFill>
                  <a:srgbClr val="1A1A1A"/>
                </a:solidFill>
                <a:latin typeface="Century Schoolbook"/>
              </a:rPr>
              <a:t>Write your answer in sentences.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77240" y="4828032"/>
            <a:ext cx="1060704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900" b="0" i="1">
                <a:solidFill>
                  <a:srgbClr val="6B6B6B"/>
                </a:solidFill>
                <a:latin typeface="Century Schoolbook"/>
              </a:rPr>
              <a:t>Rewrite each with base 2, and say what you find.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9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Answer.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6–7 — Evaluating and Equivalent Expressions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33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435607" y="2132076"/>
            <a:ext cx="2442464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sp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Xavier says  </a:t>
            </a:r>
          </a:p>
        </p:txBody>
      </p:sp>
      <p:pic>
        <p:nvPicPr>
          <p:cNvPr id="10" name="Picture 9" descr="80a2fc1abc20053f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740912" y="2103120"/>
            <a:ext cx="1450848" cy="51511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5191760" y="2132076"/>
            <a:ext cx="1412240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sp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  and  </a:t>
            </a:r>
          </a:p>
        </p:txBody>
      </p:sp>
      <p:pic>
        <p:nvPicPr>
          <p:cNvPr id="12" name="Picture 11" descr="ba89abb5740e24f6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66840" y="2103120"/>
            <a:ext cx="1438656" cy="515112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7905496" y="2132076"/>
            <a:ext cx="2957576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sp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  are equivalent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626107" y="2869692"/>
            <a:ext cx="5704840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sp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because both can be written as  </a:t>
            </a:r>
          </a:p>
        </p:txBody>
      </p:sp>
      <p:pic>
        <p:nvPicPr>
          <p:cNvPr id="15" name="Picture 14" descr="c9adefc290aa5b44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193788" y="2932176"/>
            <a:ext cx="521207" cy="332232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7714996" y="2869692"/>
            <a:ext cx="2957576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sp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.  Do you agree?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828800" y="3624071"/>
            <a:ext cx="850392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00" b="0" i="0">
                <a:solidFill>
                  <a:srgbClr val="6B6B6B"/>
                </a:solidFill>
                <a:latin typeface="Century Schoolbook"/>
              </a:rPr>
              <a:t>2</a:t>
            </a:r>
            <a:r>
              <a:rPr sz="2400" b="0" i="0" baseline="30000">
                <a:solidFill>
                  <a:srgbClr val="6B6B6B"/>
                </a:solidFill>
                <a:latin typeface="Century Schoolbook"/>
              </a:rPr>
              <a:t>-7</a:t>
            </a:r>
            <a:r>
              <a:rPr sz="2400" b="0" i="0">
                <a:solidFill>
                  <a:srgbClr val="6B6B6B"/>
                </a:solidFill>
                <a:latin typeface="Century Schoolbook"/>
              </a:rPr>
              <a:t> and 2</a:t>
            </a:r>
            <a:r>
              <a:rPr sz="2400" b="0" i="0" baseline="30000">
                <a:solidFill>
                  <a:srgbClr val="6B6B6B"/>
                </a:solidFill>
                <a:latin typeface="Century Schoolbook"/>
              </a:rPr>
              <a:t>-6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77240" y="466344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200" b="1" i="0">
                <a:solidFill>
                  <a:srgbClr val="9E1B32"/>
                </a:solidFill>
                <a:latin typeface="Century Schoolbook"/>
              </a:rPr>
              <a:t>Answer:   No — the second is 2</a:t>
            </a:r>
            <a:r>
              <a:rPr sz="3200" b="1" i="0" baseline="30000">
                <a:solidFill>
                  <a:srgbClr val="9E1B32"/>
                </a:solidFill>
                <a:latin typeface="Century Schoolbook"/>
              </a:rPr>
              <a:t>-6</a:t>
            </a:r>
            <a:r>
              <a:rPr sz="3200" b="1" i="0">
                <a:solidFill>
                  <a:srgbClr val="9E1B32"/>
                </a:solidFill>
                <a:latin typeface="Century Schoolbook"/>
              </a:rPr>
              <a:t>, not 2</a:t>
            </a:r>
            <a:r>
              <a:rPr sz="3200" b="1" i="0" baseline="30000">
                <a:solidFill>
                  <a:srgbClr val="9E1B32"/>
                </a:solidFill>
                <a:latin typeface="Century Schoolbook"/>
              </a:rPr>
              <a:t>-7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Century Schoolbook"/>
              </a:rPr>
              <a:t>Independent Set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Six questions. On your own, in silence.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6–7 — Evaluating and Equivalent Expressions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34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60120" y="2011680"/>
            <a:ext cx="548640" cy="35661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100" b="1" i="0">
                <a:solidFill>
                  <a:srgbClr val="0B5394"/>
                </a:solidFill>
                <a:latin typeface="Century Schoolbook"/>
              </a:rPr>
              <a:t>1.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554480" y="2011680"/>
            <a:ext cx="9829800" cy="4114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100" b="0" i="0">
                <a:solidFill>
                  <a:srgbClr val="1A1A1A"/>
                </a:solidFill>
                <a:latin typeface="Century Schoolbook"/>
              </a:rPr>
              <a:t>Six questions. Work down the page.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60120" y="2551176"/>
            <a:ext cx="548640" cy="35661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100" b="1" i="0">
                <a:solidFill>
                  <a:srgbClr val="0B5394"/>
                </a:solidFill>
                <a:latin typeface="Century Schoolbook"/>
              </a:rPr>
              <a:t>2.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554480" y="2551176"/>
            <a:ext cx="9829800" cy="4114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100" b="0" i="0">
                <a:solidFill>
                  <a:srgbClr val="1A1A1A"/>
                </a:solidFill>
                <a:latin typeface="Century Schoolbook"/>
              </a:rPr>
              <a:t>Show the step that does the work, not just the answer.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60120" y="3090672"/>
            <a:ext cx="548640" cy="35661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100" b="1" i="0">
                <a:solidFill>
                  <a:srgbClr val="0B5394"/>
                </a:solidFill>
                <a:latin typeface="Century Schoolbook"/>
              </a:rPr>
              <a:t>3.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554480" y="3090672"/>
            <a:ext cx="9829800" cy="4114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100" b="0" i="0">
                <a:solidFill>
                  <a:srgbClr val="1A1A1A"/>
                </a:solidFill>
                <a:latin typeface="Century Schoolbook"/>
              </a:rPr>
              <a:t>Silence until the six minutes are up.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Century Schoolbook"/>
              </a:rPr>
              <a:t>IXL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Last five minutes.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6–7 — Evaluating and Equivalent Expressions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35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60120" y="1828800"/>
            <a:ext cx="548640" cy="35661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100" b="1" i="0">
                <a:solidFill>
                  <a:srgbClr val="0B5394"/>
                </a:solidFill>
                <a:latin typeface="Century Schoolbook"/>
              </a:rPr>
              <a:t>1.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554480" y="1828800"/>
            <a:ext cx="9829800" cy="4114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100" b="0" i="0">
                <a:solidFill>
                  <a:srgbClr val="1A1A1A"/>
                </a:solidFill>
                <a:latin typeface="Century Schoolbook"/>
              </a:rPr>
              <a:t>Open IXL and start today's skills.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60120" y="2331720"/>
            <a:ext cx="548640" cy="35661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100" b="1" i="0">
                <a:solidFill>
                  <a:srgbClr val="0B5394"/>
                </a:solidFill>
                <a:latin typeface="Century Schoolbook"/>
              </a:rPr>
              <a:t>2.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554480" y="2331720"/>
            <a:ext cx="9829800" cy="7680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100" b="0" i="0">
                <a:solidFill>
                  <a:srgbClr val="1A1A1A"/>
                </a:solidFill>
                <a:latin typeface="Century Schoolbook"/>
              </a:rPr>
              <a:t>Work on paper where the question needs work. The answer box does not show it.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60120" y="3191256"/>
            <a:ext cx="548640" cy="35661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100" b="1" i="0">
                <a:solidFill>
                  <a:srgbClr val="0B5394"/>
                </a:solidFill>
                <a:latin typeface="Century Schoolbook"/>
              </a:rPr>
              <a:t>3.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554480" y="3191256"/>
            <a:ext cx="9829800" cy="7680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100" b="0" i="0">
                <a:solidFill>
                  <a:srgbClr val="1A1A1A"/>
                </a:solidFill>
                <a:latin typeface="Century Schoolbook"/>
              </a:rPr>
              <a:t>Every skill listed is required, to a SmartScore of 67. Due at the start of the next class.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60120" y="4096511"/>
            <a:ext cx="1024128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100" b="1" i="0">
                <a:solidFill>
                  <a:srgbClr val="1A1A1A"/>
                </a:solidFill>
                <a:latin typeface="Century Schoolbook"/>
              </a:rPr>
              <a:t>Today's skills — all required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25880" y="4507992"/>
            <a:ext cx="9692640" cy="329184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900" b="0" i="0">
                <a:solidFill>
                  <a:srgbClr val="1A1A1A"/>
                </a:solidFill>
                <a:latin typeface="Century Schoolbook"/>
              </a:rPr>
              <a:t>Evaluate expressions using properties of exponents — 6T7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325880" y="4837176"/>
            <a:ext cx="9692640" cy="329184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900" b="0" i="0">
                <a:solidFill>
                  <a:srgbClr val="1A1A1A"/>
                </a:solidFill>
                <a:latin typeface="Century Schoolbook"/>
              </a:rPr>
              <a:t>Identify equivalent expressions involving exponents II — QDM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