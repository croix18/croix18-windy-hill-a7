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</p:sldIdLst>
  <p:sldSz cx="1219196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3" Type="http://schemas.openxmlformats.org/officeDocument/2006/relationships/image" Target="../media/image2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png"/><Relationship Id="rId3" Type="http://schemas.openxmlformats.org/officeDocument/2006/relationships/image" Target="../media/image40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png"/><Relationship Id="rId3" Type="http://schemas.openxmlformats.org/officeDocument/2006/relationships/image" Target="../media/image42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1691640"/>
            <a:ext cx="10607040" cy="34747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500" b="0" i="0">
                <a:solidFill>
                  <a:srgbClr val="6B6B6B"/>
                </a:solidFill>
                <a:latin typeface="Century Schoolbook"/>
              </a:rPr>
              <a:t>GRADE 7 ACCELERATED  ·  UNIT 3  ·  LESSON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048256"/>
            <a:ext cx="10607040" cy="10058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3400" b="1" i="0">
                <a:solidFill>
                  <a:srgbClr val="1A1A1A"/>
                </a:solidFill>
                <a:latin typeface="Century Schoolbook"/>
              </a:rPr>
              <a:t>Exponential Expressions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291840" y="3255264"/>
            <a:ext cx="55778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3291840" y="3337560"/>
            <a:ext cx="55778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350215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600" b="1" i="0">
                <a:solidFill>
                  <a:srgbClr val="1A1A1A"/>
                </a:solidFill>
                <a:latin typeface="Century Schoolbook"/>
              </a:rPr>
              <a:t>MA.7.NSO.1.1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840480"/>
            <a:ext cx="1060704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1A1A1A"/>
                </a:solidFill>
                <a:latin typeface="Century Schoolbook"/>
              </a:rPr>
              <a:t>I can apply more than one law of exponents to evaluate an expression and to write an equivalent one.</a:t>
            </a:r>
          </a:p>
        </p:txBody>
      </p:sp>
      <p:sp>
        <p:nvSpPr>
          <p:cNvPr id="8" name="Rectangle 7"/>
          <p:cNvSpPr/>
          <p:nvPr/>
        </p:nvSpPr>
        <p:spPr>
          <a:xfrm>
            <a:off x="2377440" y="4736592"/>
            <a:ext cx="7406640" cy="1051560"/>
          </a:xfrm>
          <a:prstGeom prst="rect">
            <a:avLst/>
          </a:prstGeom>
          <a:solidFill>
            <a:srgbClr val="F2F2F0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06040" y="4892040"/>
            <a:ext cx="69494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700" b="0" i="1">
                <a:solidFill>
                  <a:srgbClr val="6B6B6B"/>
                </a:solidFill>
                <a:latin typeface="Century Schoolbook"/>
              </a:rPr>
              <a:t>Yesterday: seven laws, one at a time.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06040" y="5276088"/>
            <a:ext cx="69494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700" b="1" i="0">
                <a:solidFill>
                  <a:srgbClr val="1A1A1A"/>
                </a:solidFill>
                <a:latin typeface="Century Schoolbook"/>
              </a:rPr>
              <a:t>Today: two or three laws in one expression — and the order is yours.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3 — Exponential Expressions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Warm-Up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On your own. Four minutes. No notes.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3 — Exponential Expressions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4519" y="1886712"/>
            <a:ext cx="305873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1.   Find the value:  </a:t>
            </a:r>
          </a:p>
        </p:txBody>
      </p:sp>
      <p:pic>
        <p:nvPicPr>
          <p:cNvPr id="10" name="Picture 9" descr="0d08d420e081e8b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6094" y="1783080"/>
            <a:ext cx="469392" cy="66446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874519" y="2625852"/>
            <a:ext cx="108223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2.   Is </a:t>
            </a:r>
          </a:p>
        </p:txBody>
      </p:sp>
      <p:pic>
        <p:nvPicPr>
          <p:cNvPr id="12" name="Picture 11" descr="697434924d454a7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19599" y="2650236"/>
            <a:ext cx="688848" cy="40843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508447" y="2625852"/>
            <a:ext cx="287983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 closer to 7 or to 8?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74519" y="3238500"/>
            <a:ext cx="165200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3.   Solve  </a:t>
            </a:r>
          </a:p>
        </p:txBody>
      </p:sp>
      <p:pic>
        <p:nvPicPr>
          <p:cNvPr id="15" name="Picture 14" descr="7747f117721bd82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9368" y="3323844"/>
            <a:ext cx="1658112" cy="286512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874519" y="3851148"/>
            <a:ext cx="219043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4.   Evaluate  </a:t>
            </a:r>
          </a:p>
        </p:txBody>
      </p:sp>
      <p:pic>
        <p:nvPicPr>
          <p:cNvPr id="17" name="Picture 16" descr="2a87b786c67fb6d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27795" y="3934968"/>
            <a:ext cx="1112520" cy="2895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Warm-Up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3 — Exponential Expressions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4519" y="1886712"/>
            <a:ext cx="305873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1.   Find the value:  </a:t>
            </a:r>
          </a:p>
        </p:txBody>
      </p:sp>
      <p:pic>
        <p:nvPicPr>
          <p:cNvPr id="10" name="Picture 9" descr="0d08d420e081e8b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6094" y="1783080"/>
            <a:ext cx="469392" cy="66446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814126" y="1760220"/>
            <a:ext cx="74353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1" i="0">
                <a:solidFill>
                  <a:srgbClr val="9E1B32"/>
                </a:solidFill>
                <a:latin typeface="Century Schoolbook"/>
              </a:rPr>
              <a:t>100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519" y="2625852"/>
            <a:ext cx="108223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2.   Is </a:t>
            </a:r>
          </a:p>
        </p:txBody>
      </p:sp>
      <p:pic>
        <p:nvPicPr>
          <p:cNvPr id="13" name="Picture 12" descr="697434924d454a7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19599" y="2650236"/>
            <a:ext cx="688848" cy="40843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508447" y="2625852"/>
            <a:ext cx="287983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 closer to 7 or to 8?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99764" y="2625852"/>
            <a:ext cx="38805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1" i="0">
                <a:solidFill>
                  <a:srgbClr val="9E1B32"/>
                </a:solidFill>
                <a:latin typeface="Century Schoolbook"/>
              </a:rPr>
              <a:t>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74519" y="3238500"/>
            <a:ext cx="165200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3.   Solve  </a:t>
            </a:r>
          </a:p>
        </p:txBody>
      </p:sp>
      <p:pic>
        <p:nvPicPr>
          <p:cNvPr id="17" name="Picture 16" descr="7747f117721bd82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9368" y="3323844"/>
            <a:ext cx="1658112" cy="286512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596120" y="3238500"/>
            <a:ext cx="94262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1" i="0">
                <a:solidFill>
                  <a:srgbClr val="9E1B32"/>
                </a:solidFill>
                <a:latin typeface="Century Schoolbook"/>
              </a:rPr>
              <a:t>x = 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74519" y="3851148"/>
            <a:ext cx="219043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4.   Evaluate  </a:t>
            </a:r>
          </a:p>
        </p:txBody>
      </p:sp>
      <p:pic>
        <p:nvPicPr>
          <p:cNvPr id="20" name="Picture 19" descr="2a87b786c67fb6d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27795" y="3934968"/>
            <a:ext cx="1112520" cy="28956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5588955" y="3851148"/>
            <a:ext cx="56579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1" i="0">
                <a:solidFill>
                  <a:srgbClr val="9E1B32"/>
                </a:solidFill>
                <a:latin typeface="Century Schoolbook"/>
              </a:rPr>
              <a:t>50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Copy the table. It is your reference for the rest of the unit.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3 — Exponential Expressions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737360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500" b="1" i="0">
                <a:solidFill>
                  <a:srgbClr val="1A1A1A"/>
                </a:solidFill>
                <a:latin typeface="Century Schoolbook"/>
              </a:rPr>
              <a:t>I.  The seven laws, in one place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77240" y="2176272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1051560" y="2340864"/>
          <a:ext cx="10058400" cy="307238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291840"/>
                <a:gridCol w="3657600"/>
                <a:gridCol w="3108960"/>
              </a:tblGrid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1A1A1A"/>
                          </a:solidFill>
                          <a:latin typeface="Century Schoolbook"/>
                        </a:rPr>
                        <a:t>Law</a:t>
                      </a:r>
                    </a:p>
                  </a:txBody>
                  <a:tcPr marL="73152" marR="73152" marT="27432" marB="27432" anchor="ctr">
                    <a:solidFill>
                      <a:srgbClr val="D9D9D9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1A1A1A"/>
                          </a:solidFill>
                          <a:latin typeface="Century Schoolbook"/>
                        </a:rPr>
                        <a:t>Rule</a:t>
                      </a:r>
                    </a:p>
                  </a:txBody>
                  <a:tcPr marL="73152" marR="73152" marT="27432" marB="27432" anchor="ctr">
                    <a:solidFill>
                      <a:srgbClr val="D9D9D9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1A1A1A"/>
                          </a:solidFill>
                          <a:latin typeface="Century Schoolbook"/>
                        </a:rPr>
                        <a:t>Example</a:t>
                      </a:r>
                    </a:p>
                  </a:txBody>
                  <a:tcPr marL="73152" marR="73152" marT="27432" marB="27432" anchor="ctr">
                    <a:solidFill>
                      <a:srgbClr val="D9D9D9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1A1A1A"/>
                          </a:solidFill>
                          <a:latin typeface="Century Schoolbook"/>
                        </a:rPr>
                        <a:t>Product of powers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1A1A1A"/>
                          </a:solidFill>
                          <a:latin typeface="Century Schoolbook"/>
                        </a:rPr>
                        <a:t>a</a:t>
                      </a:r>
                      <a:r>
                        <a:rPr sz="1600" b="0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m</a:t>
                      </a:r>
                      <a:r>
                        <a:rPr sz="1600" b="0">
                          <a:solidFill>
                            <a:srgbClr val="1A1A1A"/>
                          </a:solidFill>
                          <a:latin typeface="Century Schoolbook"/>
                        </a:rPr>
                        <a:t> · a</a:t>
                      </a:r>
                      <a:r>
                        <a:rPr sz="1600" b="0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n</a:t>
                      </a:r>
                      <a:r>
                        <a:rPr sz="1600" b="0">
                          <a:solidFill>
                            <a:srgbClr val="1A1A1A"/>
                          </a:solidFill>
                          <a:latin typeface="Century Schoolbook"/>
                        </a:rPr>
                        <a:t> = a</a:t>
                      </a:r>
                      <a:r>
                        <a:rPr sz="1600" b="0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m+n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1A1A1A"/>
                          </a:solidFill>
                          <a:latin typeface="Century Schoolbook"/>
                        </a:rPr>
                        <a:t>2</a:t>
                      </a:r>
                      <a:r>
                        <a:rPr sz="1600" b="0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3</a:t>
                      </a:r>
                      <a:r>
                        <a:rPr sz="1600" b="0">
                          <a:solidFill>
                            <a:srgbClr val="1A1A1A"/>
                          </a:solidFill>
                          <a:latin typeface="Century Schoolbook"/>
                        </a:rPr>
                        <a:t> · 2</a:t>
                      </a:r>
                      <a:r>
                        <a:rPr sz="1600" b="0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1</a:t>
                      </a:r>
                      <a:r>
                        <a:rPr sz="1600" b="0">
                          <a:solidFill>
                            <a:srgbClr val="1A1A1A"/>
                          </a:solidFill>
                          <a:latin typeface="Century Schoolbook"/>
                        </a:rPr>
                        <a:t> = 2</a:t>
                      </a:r>
                      <a:r>
                        <a:rPr sz="1600" b="0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1A1A1A"/>
                          </a:solidFill>
                          <a:latin typeface="Century Schoolbook"/>
                        </a:rPr>
                        <a:t>Quotient of powers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1A1A1A"/>
                          </a:solidFill>
                          <a:latin typeface="Century Schoolbook"/>
                        </a:rPr>
                        <a:t>a</a:t>
                      </a:r>
                      <a:r>
                        <a:rPr sz="1600" b="0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m</a:t>
                      </a:r>
                      <a:r>
                        <a:rPr sz="1600" b="0">
                          <a:solidFill>
                            <a:srgbClr val="1A1A1A"/>
                          </a:solidFill>
                          <a:latin typeface="Century Schoolbook"/>
                        </a:rPr>
                        <a:t> ÷ a</a:t>
                      </a:r>
                      <a:r>
                        <a:rPr sz="1600" b="0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n</a:t>
                      </a:r>
                      <a:r>
                        <a:rPr sz="1600" b="0">
                          <a:solidFill>
                            <a:srgbClr val="1A1A1A"/>
                          </a:solidFill>
                          <a:latin typeface="Century Schoolbook"/>
                        </a:rPr>
                        <a:t> = a</a:t>
                      </a:r>
                      <a:r>
                        <a:rPr sz="1600" b="0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m-n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1A1A1A"/>
                          </a:solidFill>
                          <a:latin typeface="Century Schoolbook"/>
                        </a:rPr>
                        <a:t>(−3)</a:t>
                      </a:r>
                      <a:r>
                        <a:rPr sz="1600" b="0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7</a:t>
                      </a:r>
                      <a:r>
                        <a:rPr sz="1600" b="0">
                          <a:solidFill>
                            <a:srgbClr val="1A1A1A"/>
                          </a:solidFill>
                          <a:latin typeface="Century Schoolbook"/>
                        </a:rPr>
                        <a:t> ÷ (−3)</a:t>
                      </a:r>
                      <a:r>
                        <a:rPr sz="1600" b="0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2</a:t>
                      </a:r>
                      <a:r>
                        <a:rPr sz="1600" b="0">
                          <a:solidFill>
                            <a:srgbClr val="1A1A1A"/>
                          </a:solidFill>
                          <a:latin typeface="Century Schoolbook"/>
                        </a:rPr>
                        <a:t> = (−3)</a:t>
                      </a:r>
                      <a:r>
                        <a:rPr sz="1600" b="0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1A1A1A"/>
                          </a:solidFill>
                          <a:latin typeface="Century Schoolbook"/>
                        </a:rPr>
                        <a:t>Power of a product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1A1A1A"/>
                          </a:solidFill>
                          <a:latin typeface="Century Schoolbook"/>
                        </a:rPr>
                        <a:t>(ab)</a:t>
                      </a:r>
                      <a:r>
                        <a:rPr sz="1600" b="0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m</a:t>
                      </a:r>
                      <a:r>
                        <a:rPr sz="1600" b="0">
                          <a:solidFill>
                            <a:srgbClr val="1A1A1A"/>
                          </a:solidFill>
                          <a:latin typeface="Century Schoolbook"/>
                        </a:rPr>
                        <a:t> = a</a:t>
                      </a:r>
                      <a:r>
                        <a:rPr sz="1600" b="0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m</a:t>
                      </a:r>
                      <a:r>
                        <a:rPr sz="1600" b="0">
                          <a:solidFill>
                            <a:srgbClr val="1A1A1A"/>
                          </a:solidFill>
                          <a:latin typeface="Century Schoolbook"/>
                        </a:rPr>
                        <a:t> · b</a:t>
                      </a:r>
                      <a:r>
                        <a:rPr sz="1600" b="0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m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1A1A1A"/>
                          </a:solidFill>
                          <a:latin typeface="Century Schoolbook"/>
                        </a:rPr>
                        <a:t>(−7 · 3)</a:t>
                      </a:r>
                      <a:r>
                        <a:rPr sz="1600" b="0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2</a:t>
                      </a:r>
                      <a:r>
                        <a:rPr sz="1600" b="0">
                          <a:solidFill>
                            <a:srgbClr val="1A1A1A"/>
                          </a:solidFill>
                          <a:latin typeface="Century Schoolbook"/>
                        </a:rPr>
                        <a:t> = (−7)</a:t>
                      </a:r>
                      <a:r>
                        <a:rPr sz="1600" b="0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2</a:t>
                      </a:r>
                      <a:r>
                        <a:rPr sz="1600" b="0">
                          <a:solidFill>
                            <a:srgbClr val="1A1A1A"/>
                          </a:solidFill>
                          <a:latin typeface="Century Schoolbook"/>
                        </a:rPr>
                        <a:t> · 3</a:t>
                      </a:r>
                      <a:r>
                        <a:rPr sz="1600" b="0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1A1A1A"/>
                          </a:solidFill>
                          <a:latin typeface="Century Schoolbook"/>
                        </a:rPr>
                        <a:t>Power of a quotient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1A1A1A"/>
                          </a:solidFill>
                          <a:latin typeface="Century Schoolbook"/>
                        </a:rPr>
                        <a:t>(a ÷ b)</a:t>
                      </a:r>
                      <a:r>
                        <a:rPr sz="1600" b="0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m</a:t>
                      </a:r>
                      <a:r>
                        <a:rPr sz="1600" b="0">
                          <a:solidFill>
                            <a:srgbClr val="1A1A1A"/>
                          </a:solidFill>
                          <a:latin typeface="Century Schoolbook"/>
                        </a:rPr>
                        <a:t> = a</a:t>
                      </a:r>
                      <a:r>
                        <a:rPr sz="1600" b="0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m</a:t>
                      </a:r>
                      <a:r>
                        <a:rPr sz="1600" b="0">
                          <a:solidFill>
                            <a:srgbClr val="1A1A1A"/>
                          </a:solidFill>
                          <a:latin typeface="Century Schoolbook"/>
                        </a:rPr>
                        <a:t> ÷ b</a:t>
                      </a:r>
                      <a:r>
                        <a:rPr sz="1600" b="0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m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1A1A1A"/>
                          </a:solidFill>
                          <a:latin typeface="Century Schoolbook"/>
                        </a:rPr>
                        <a:t>(13 ÷ 5)</a:t>
                      </a:r>
                      <a:r>
                        <a:rPr sz="1600" b="0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3</a:t>
                      </a:r>
                      <a:r>
                        <a:rPr sz="1600" b="0">
                          <a:solidFill>
                            <a:srgbClr val="1A1A1A"/>
                          </a:solidFill>
                          <a:latin typeface="Century Schoolbook"/>
                        </a:rPr>
                        <a:t> = 13</a:t>
                      </a:r>
                      <a:r>
                        <a:rPr sz="1600" b="0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3</a:t>
                      </a:r>
                      <a:r>
                        <a:rPr sz="1600" b="0">
                          <a:solidFill>
                            <a:srgbClr val="1A1A1A"/>
                          </a:solidFill>
                          <a:latin typeface="Century Schoolbook"/>
                        </a:rPr>
                        <a:t> ÷ 5</a:t>
                      </a:r>
                      <a:r>
                        <a:rPr sz="1600" b="0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1A1A1A"/>
                          </a:solidFill>
                          <a:latin typeface="Century Schoolbook"/>
                        </a:rPr>
                        <a:t>Power of a power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1A1A1A"/>
                          </a:solidFill>
                          <a:latin typeface="Century Schoolbook"/>
                        </a:rPr>
                        <a:t>(a</a:t>
                      </a:r>
                      <a:r>
                        <a:rPr sz="1600" b="0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m</a:t>
                      </a:r>
                      <a:r>
                        <a:rPr sz="1600" b="0">
                          <a:solidFill>
                            <a:srgbClr val="1A1A1A"/>
                          </a:solidFill>
                          <a:latin typeface="Century Schoolbook"/>
                        </a:rPr>
                        <a:t>)</a:t>
                      </a:r>
                      <a:r>
                        <a:rPr sz="1600" b="0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n</a:t>
                      </a:r>
                      <a:r>
                        <a:rPr sz="1600" b="0">
                          <a:solidFill>
                            <a:srgbClr val="1A1A1A"/>
                          </a:solidFill>
                          <a:latin typeface="Century Schoolbook"/>
                        </a:rPr>
                        <a:t> = a</a:t>
                      </a:r>
                      <a:r>
                        <a:rPr sz="1600" b="0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mn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1A1A1A"/>
                          </a:solidFill>
                          <a:latin typeface="Century Schoolbook"/>
                        </a:rPr>
                        <a:t>(6</a:t>
                      </a:r>
                      <a:r>
                        <a:rPr sz="1600" b="0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3</a:t>
                      </a:r>
                      <a:r>
                        <a:rPr sz="1600" b="0">
                          <a:solidFill>
                            <a:srgbClr val="1A1A1A"/>
                          </a:solidFill>
                          <a:latin typeface="Century Schoolbook"/>
                        </a:rPr>
                        <a:t>)</a:t>
                      </a:r>
                      <a:r>
                        <a:rPr sz="1600" b="0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4</a:t>
                      </a:r>
                      <a:r>
                        <a:rPr sz="1600" b="0">
                          <a:solidFill>
                            <a:srgbClr val="1A1A1A"/>
                          </a:solidFill>
                          <a:latin typeface="Century Schoolbook"/>
                        </a:rPr>
                        <a:t> = 6</a:t>
                      </a:r>
                      <a:r>
                        <a:rPr sz="1600" b="0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12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1A1A1A"/>
                          </a:solidFill>
                          <a:latin typeface="Century Schoolbook"/>
                        </a:rPr>
                        <a:t>Identity exponent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1A1A1A"/>
                          </a:solidFill>
                          <a:latin typeface="Century Schoolbook"/>
                        </a:rPr>
                        <a:t>a</a:t>
                      </a:r>
                      <a:r>
                        <a:rPr sz="1600" b="0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1</a:t>
                      </a:r>
                      <a:r>
                        <a:rPr sz="1600" b="0">
                          <a:solidFill>
                            <a:srgbClr val="1A1A1A"/>
                          </a:solidFill>
                          <a:latin typeface="Century Schoolbook"/>
                        </a:rPr>
                        <a:t> = a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1A1A1A"/>
                          </a:solidFill>
                          <a:latin typeface="Century Schoolbook"/>
                        </a:rPr>
                        <a:t>15</a:t>
                      </a:r>
                      <a:r>
                        <a:rPr sz="1600" b="0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1</a:t>
                      </a:r>
                      <a:r>
                        <a:rPr sz="1600" b="0">
                          <a:solidFill>
                            <a:srgbClr val="1A1A1A"/>
                          </a:solidFill>
                          <a:latin typeface="Century Schoolbook"/>
                        </a:rPr>
                        <a:t> = 15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1A1A1A"/>
                          </a:solidFill>
                          <a:latin typeface="Century Schoolbook"/>
                        </a:rPr>
                        <a:t>Zero exponent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1A1A1A"/>
                          </a:solidFill>
                          <a:latin typeface="Century Schoolbook"/>
                        </a:rPr>
                        <a:t>a</a:t>
                      </a:r>
                      <a:r>
                        <a:rPr sz="1600" b="0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0</a:t>
                      </a:r>
                      <a:r>
                        <a:rPr sz="1600" b="0">
                          <a:solidFill>
                            <a:srgbClr val="1A1A1A"/>
                          </a:solidFill>
                          <a:latin typeface="Century Schoolbook"/>
                        </a:rPr>
                        <a:t> = 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1A1A1A"/>
                          </a:solidFill>
                          <a:latin typeface="Century Schoolbook"/>
                        </a:rPr>
                        <a:t>127</a:t>
                      </a:r>
                      <a:r>
                        <a:rPr sz="1600" b="0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0</a:t>
                      </a:r>
                      <a:r>
                        <a:rPr sz="1600" b="0">
                          <a:solidFill>
                            <a:srgbClr val="1A1A1A"/>
                          </a:solidFill>
                          <a:latin typeface="Century Schoolbook"/>
                        </a:rPr>
                        <a:t> = 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Two students, two orders, one value.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3 — Exponential Expressions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737360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500" b="1" i="0">
                <a:solidFill>
                  <a:srgbClr val="1A1A1A"/>
                </a:solidFill>
                <a:latin typeface="Century Schoolbook"/>
              </a:rPr>
              <a:t>II.  More than one law — make a plan, then follow it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77240" y="2176272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3330561" y="2514600"/>
            <a:ext cx="185498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Winston:  </a:t>
            </a:r>
          </a:p>
        </p:txBody>
      </p:sp>
      <p:pic>
        <p:nvPicPr>
          <p:cNvPr id="12" name="Picture 11" descr="2d268109f28c9ab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8390" y="2340864"/>
            <a:ext cx="3782568" cy="80467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943041" y="3663696"/>
            <a:ext cx="162114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Yvette:   </a:t>
            </a:r>
          </a:p>
        </p:txBody>
      </p:sp>
      <p:pic>
        <p:nvPicPr>
          <p:cNvPr id="14" name="Picture 13" descr="20e6fc4620e3ea7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7022" y="3419856"/>
            <a:ext cx="4791456" cy="94488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987552" y="4703064"/>
            <a:ext cx="10131551" cy="47548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Different plans, same value. Any correct sequence of laws gives the same answer.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3 — Exponential Expressions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500" b="1" i="0">
                <a:solidFill>
                  <a:srgbClr val="1A1A1A"/>
                </a:solidFill>
                <a:latin typeface="Century Schoolbook"/>
              </a:rPr>
              <a:t>III.  Order of operations still applies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2176272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987552" y="2404872"/>
            <a:ext cx="548640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81912" y="2404872"/>
            <a:ext cx="9537192" cy="95097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Parentheses first — including a fraction bar, which is a pair of parentheses in disguise.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3611879"/>
            <a:ext cx="548640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B.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81912" y="3611879"/>
            <a:ext cx="9537192" cy="47548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Exponents next — the laws of exponents are applied here.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7552" y="4343400"/>
            <a:ext cx="548640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C.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81912" y="4343400"/>
            <a:ext cx="9537192" cy="47548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Then multiply and divide, left to right; then add and subtract.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7552" y="5074920"/>
            <a:ext cx="548640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81912" y="5033771"/>
            <a:ext cx="407811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1" i="0">
                <a:solidFill>
                  <a:srgbClr val="1A1A1A"/>
                </a:solidFill>
                <a:latin typeface="Century Schoolbook"/>
              </a:rPr>
              <a:t>Never across a + or a −:  </a:t>
            </a:r>
          </a:p>
        </p:txBody>
      </p:sp>
      <p:pic>
        <p:nvPicPr>
          <p:cNvPr id="18" name="Picture 17" descr="b0973f9ba7881b2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22864" y="5085587"/>
            <a:ext cx="3118104" cy="353568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640968" y="5033771"/>
            <a:ext cx="100267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1" i="0">
                <a:solidFill>
                  <a:srgbClr val="1A1A1A"/>
                </a:solidFill>
                <a:latin typeface="Century Schoolbook"/>
              </a:rPr>
              <a:t>, not </a:t>
            </a:r>
          </a:p>
        </p:txBody>
      </p:sp>
      <p:pic>
        <p:nvPicPr>
          <p:cNvPr id="20" name="Picture 19" descr="c3382604741c403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6485" y="5091683"/>
            <a:ext cx="326136" cy="341376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9832621" y="5033771"/>
            <a:ext cx="29639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1" i="0">
                <a:solidFill>
                  <a:srgbClr val="1A1A1A"/>
                </a:solidFill>
                <a:latin typeface="Century Schoolbook"/>
              </a:rPr>
              <a:t>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Example 1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 zero exponent inside a product inside a quotient.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3 — Exponential Expressions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7</a:t>
            </a:r>
          </a:p>
        </p:txBody>
      </p:sp>
      <p:pic>
        <p:nvPicPr>
          <p:cNvPr id="9" name="Picture 8" descr="9c240cefdf3b14b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1555" y="2103120"/>
            <a:ext cx="978408" cy="80467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3410712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1" i="0">
                <a:solidFill>
                  <a:srgbClr val="1A1A1A"/>
                </a:solidFill>
                <a:latin typeface="Century Schoolbook"/>
              </a:rPr>
              <a:t>Make a plan. Then find the value.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Example 1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Worked — Caroline's plan and Jamir's plan.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3 — Exponential Expressions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8</a:t>
            </a:r>
          </a:p>
        </p:txBody>
      </p:sp>
      <p:pic>
        <p:nvPicPr>
          <p:cNvPr id="9" name="Picture 8" descr="cfcc880844c57bb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920240"/>
            <a:ext cx="3026664" cy="80467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312664" y="2093976"/>
            <a:ext cx="6071615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00" b="0" i="1">
                <a:solidFill>
                  <a:srgbClr val="6B6B6B"/>
                </a:solidFill>
                <a:latin typeface="Century Schoolbook"/>
              </a:rPr>
              <a:t>Caroline: product of powers first</a:t>
            </a:r>
          </a:p>
        </p:txBody>
      </p:sp>
      <p:pic>
        <p:nvPicPr>
          <p:cNvPr id="11" name="Picture 10" descr="4c8aa7fdd39a687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2999232"/>
            <a:ext cx="3041904" cy="80467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327904" y="3172968"/>
            <a:ext cx="6056376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00" b="0" i="1">
                <a:solidFill>
                  <a:srgbClr val="6B6B6B"/>
                </a:solidFill>
                <a:latin typeface="Century Schoolbook"/>
              </a:rPr>
              <a:t>Jamir: zero exponent first</a:t>
            </a:r>
          </a:p>
        </p:txBody>
      </p:sp>
      <p:pic>
        <p:nvPicPr>
          <p:cNvPr id="13" name="Picture 12" descr="8fb9fcec01a757f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0" y="4078224"/>
            <a:ext cx="1981199" cy="80467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267199" y="4251960"/>
            <a:ext cx="64008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00" b="0" i="1">
                <a:solidFill>
                  <a:srgbClr val="6B6B6B"/>
                </a:solidFill>
                <a:latin typeface="Century Schoolbook"/>
              </a:rPr>
              <a:t>both: quotient of powers, then evaluate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340096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64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Same steps, your numbers. Boards up when done.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3 — Exponential Expressions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9</a:t>
            </a:r>
          </a:p>
        </p:txBody>
      </p:sp>
      <p:pic>
        <p:nvPicPr>
          <p:cNvPr id="9" name="Picture 8" descr="ecdab13571b725e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69636" y="2194560"/>
            <a:ext cx="1222248" cy="101803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3 — Exponential Expressions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10</a:t>
            </a:r>
          </a:p>
        </p:txBody>
      </p:sp>
      <p:pic>
        <p:nvPicPr>
          <p:cNvPr id="9" name="Picture 8" descr="d381195bd435c1b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2683" y="2194560"/>
            <a:ext cx="1216152" cy="101193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3526536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5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4</a:t>
            </a:r>
            <a:r>
              <a:rPr sz="2400" b="0" i="0">
                <a:solidFill>
                  <a:srgbClr val="6B6B6B"/>
                </a:solidFill>
                <a:latin typeface="Century Schoolbook"/>
              </a:rPr>
              <a:t> · 1 over 5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2</a:t>
            </a:r>
            <a:r>
              <a:rPr sz="2400" b="0" i="0">
                <a:solidFill>
                  <a:srgbClr val="6B6B6B"/>
                </a:solidFill>
                <a:latin typeface="Century Schoolbook"/>
              </a:rPr>
              <a:t>, so 5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5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2</a:t>
            </a:r>
            <a:r>
              <a:rPr sz="3200" b="1" i="0">
                <a:solidFill>
                  <a:srgbClr val="9E1B32"/>
                </a:solidFill>
                <a:latin typeface="Century Schoolbook"/>
              </a:rPr>
              <a:t> = 25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Example 2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Three laws, a decimal and a negative base.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3 — Exponential Expressions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11</a:t>
            </a:r>
          </a:p>
        </p:txBody>
      </p:sp>
      <p:pic>
        <p:nvPicPr>
          <p:cNvPr id="9" name="Picture 8" descr="30d1cf39c0294a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479" y="2103120"/>
            <a:ext cx="2194560" cy="88087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3486912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1" i="0">
                <a:solidFill>
                  <a:srgbClr val="1A1A1A"/>
                </a:solidFill>
                <a:latin typeface="Century Schoolbook"/>
              </a:rPr>
              <a:t>Make a plan. Then find the value.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Example 2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Worked.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3 — Exponential Expressions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12</a:t>
            </a:r>
          </a:p>
        </p:txBody>
      </p:sp>
      <p:pic>
        <p:nvPicPr>
          <p:cNvPr id="9" name="Picture 8" descr="8f14d1bdb840e74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920240"/>
            <a:ext cx="4404360" cy="88087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690360" y="2132076"/>
            <a:ext cx="469392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00" b="0" i="1">
                <a:solidFill>
                  <a:srgbClr val="6B6B6B"/>
                </a:solidFill>
                <a:latin typeface="Century Schoolbook"/>
              </a:rPr>
              <a:t>zero exponent; power of a quotient, backwards</a:t>
            </a:r>
          </a:p>
        </p:txBody>
      </p:sp>
      <p:pic>
        <p:nvPicPr>
          <p:cNvPr id="11" name="Picture 10" descr="d8954ab13f1548f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3075432"/>
            <a:ext cx="2798064" cy="70104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084064" y="3197352"/>
            <a:ext cx="6300215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00" b="0" i="1">
                <a:solidFill>
                  <a:srgbClr val="6B6B6B"/>
                </a:solidFill>
                <a:latin typeface="Century Schoolbook"/>
              </a:rPr>
              <a:t>divide inside: −15 ÷ 1.5 = −10</a:t>
            </a:r>
          </a:p>
        </p:txBody>
      </p:sp>
      <p:pic>
        <p:nvPicPr>
          <p:cNvPr id="13" name="Picture 12" descr="c6322a597974340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0" y="4050791"/>
            <a:ext cx="2508504" cy="41148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794504" y="4027931"/>
            <a:ext cx="64008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00" b="0" i="1">
                <a:solidFill>
                  <a:srgbClr val="6B6B6B"/>
                </a:solidFill>
                <a:latin typeface="Century Schoolbook"/>
              </a:rPr>
              <a:t>four negative factors: positive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919472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10,000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Same steps, your numbers. Boards up when done.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3 — Exponential Expressions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13</a:t>
            </a:r>
          </a:p>
        </p:txBody>
      </p:sp>
      <p:pic>
        <p:nvPicPr>
          <p:cNvPr id="9" name="Picture 8" descr="274e6fec14c7e78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4815" y="2194560"/>
            <a:ext cx="2151888" cy="1091184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3 — Exponential Expressions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14</a:t>
            </a:r>
          </a:p>
        </p:txBody>
      </p:sp>
      <p:pic>
        <p:nvPicPr>
          <p:cNvPr id="9" name="Picture 8" descr="e1a3a8f726b8bfc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7864" y="2194560"/>
            <a:ext cx="2145792" cy="109118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3605784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1 · (−12 ÷ 4)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3</a:t>
            </a:r>
            <a:r>
              <a:rPr sz="2400" b="0" i="0">
                <a:solidFill>
                  <a:srgbClr val="6B6B6B"/>
                </a:solidFill>
                <a:latin typeface="Century Schoolbook"/>
              </a:rPr>
              <a:t> = (−3)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−27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1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3 — Exponential Expressions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43419" y="2171700"/>
            <a:ext cx="365837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A spreadsheet holds  </a:t>
            </a:r>
          </a:p>
        </p:txBody>
      </p:sp>
      <p:pic>
        <p:nvPicPr>
          <p:cNvPr id="10" name="Picture 9" descr="a9a688dcb35987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4631" y="2228088"/>
            <a:ext cx="935736" cy="34442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000367" y="2171700"/>
            <a:ext cx="173388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cells in  </a:t>
            </a:r>
          </a:p>
        </p:txBody>
      </p:sp>
      <p:pic>
        <p:nvPicPr>
          <p:cNvPr id="12" name="Picture 11" descr="2b46a8bae93fb0d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97091" y="2229612"/>
            <a:ext cx="332232" cy="34137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929323" y="2171700"/>
            <a:ext cx="282593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equal columns.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2880360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The file is 3 megabytes.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455239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How many cells are in each column?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6B6B6B"/>
                </a:solidFill>
                <a:latin typeface="Century Schoolbook"/>
              </a:rPr>
              <a:t>Find the value.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1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3 — Exponential Expressions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40371" y="2080260"/>
            <a:ext cx="365837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A spreadsheet holds  </a:t>
            </a:r>
          </a:p>
        </p:txBody>
      </p:sp>
      <p:pic>
        <p:nvPicPr>
          <p:cNvPr id="10" name="Picture 9" descr="799e3e8272a315f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1583" y="2135124"/>
            <a:ext cx="938784" cy="34747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000367" y="2080260"/>
            <a:ext cx="173388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cells in  </a:t>
            </a:r>
          </a:p>
        </p:txBody>
      </p:sp>
      <p:pic>
        <p:nvPicPr>
          <p:cNvPr id="12" name="Picture 11" descr="8616d6e97c2e53b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97091" y="2138171"/>
            <a:ext cx="335280" cy="34137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932371" y="2080260"/>
            <a:ext cx="282593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equal columns.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2788920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The file is 3 megabytes.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363799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How many cells are in each column?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3984398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6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4</a:t>
            </a:r>
            <a:r>
              <a:rPr sz="2400" b="0" i="0">
                <a:solidFill>
                  <a:srgbClr val="6B6B6B"/>
                </a:solidFill>
                <a:latin typeface="Century Schoolbook"/>
              </a:rPr>
              <a:t> · 1 over 6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2</a:t>
            </a:r>
            <a:r>
              <a:rPr sz="2400" b="0" i="0">
                <a:solidFill>
                  <a:srgbClr val="6B6B6B"/>
                </a:solidFill>
                <a:latin typeface="Century Schoolbook"/>
              </a:rPr>
              <a:t>, so 6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715918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36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2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3 — Exponential Expressions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17</a:t>
            </a:r>
          </a:p>
        </p:txBody>
      </p:sp>
      <p:pic>
        <p:nvPicPr>
          <p:cNvPr id="9" name="Picture 8" descr="eca797d063644f8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4940" y="2194560"/>
            <a:ext cx="1691640" cy="5181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6B6B6B"/>
                </a:solidFill>
                <a:latin typeface="Century Schoolbook"/>
              </a:rPr>
              <a:t>Find the value.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2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3 — Exponential Expressions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18</a:t>
            </a:r>
          </a:p>
        </p:txBody>
      </p:sp>
      <p:pic>
        <p:nvPicPr>
          <p:cNvPr id="9" name="Picture 8" descr="3af1907ef808e9a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3415" y="2103120"/>
            <a:ext cx="1694688" cy="5181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828800" y="2895599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(3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2</a:t>
            </a:r>
            <a:r>
              <a:rPr sz="2400" b="0" i="0">
                <a:solidFill>
                  <a:srgbClr val="6B6B6B"/>
                </a:solidFill>
                <a:latin typeface="Century Schoolbook"/>
              </a:rPr>
              <a:t>)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3</a:t>
            </a:r>
            <a:r>
              <a:rPr sz="2400" b="0" i="0">
                <a:solidFill>
                  <a:srgbClr val="6B6B6B"/>
                </a:solidFill>
                <a:latin typeface="Century Schoolbook"/>
              </a:rPr>
              <a:t> = 3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729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3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3 — Exponential Expressions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19</a:t>
            </a:r>
          </a:p>
        </p:txBody>
      </p:sp>
      <p:pic>
        <p:nvPicPr>
          <p:cNvPr id="9" name="Picture 8" descr="32948134bf5e359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84291" y="2194560"/>
            <a:ext cx="1392936" cy="118567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6B6B6B"/>
                </a:solidFill>
                <a:latin typeface="Century Schoolbook"/>
              </a:rPr>
              <a:t>Find the value.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3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3 — Exponential Expressions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20</a:t>
            </a:r>
          </a:p>
        </p:txBody>
      </p:sp>
      <p:pic>
        <p:nvPicPr>
          <p:cNvPr id="9" name="Picture 8" descr="7bfc7057b3b2cf5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85816" y="2103120"/>
            <a:ext cx="1389888" cy="118567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828800" y="3563112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0.5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6</a:t>
            </a:r>
            <a:r>
              <a:rPr sz="2400" b="0" i="0">
                <a:solidFill>
                  <a:srgbClr val="6B6B6B"/>
                </a:solidFill>
                <a:latin typeface="Century Schoolbook"/>
              </a:rPr>
              <a:t> ÷ 0.5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2</a:t>
            </a:r>
            <a:r>
              <a:rPr sz="2400" b="0" i="0">
                <a:solidFill>
                  <a:srgbClr val="6B6B6B"/>
                </a:solidFill>
                <a:latin typeface="Century Schoolbook"/>
              </a:rPr>
              <a:t> = 0.5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0.0625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4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3 — Exponential Expressions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21</a:t>
            </a:r>
          </a:p>
        </p:txBody>
      </p:sp>
      <p:pic>
        <p:nvPicPr>
          <p:cNvPr id="9" name="Picture 8" descr="5b85e638d34eb13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0659" y="2194560"/>
            <a:ext cx="1600200" cy="101498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6B6B6B"/>
                </a:solidFill>
                <a:latin typeface="Century Schoolbook"/>
              </a:rPr>
              <a:t>Find the value.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4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3 — Exponential Expressions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22</a:t>
            </a:r>
          </a:p>
        </p:txBody>
      </p:sp>
      <p:pic>
        <p:nvPicPr>
          <p:cNvPr id="9" name="Picture 8" descr="e041e4b255d1e34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0659" y="2103120"/>
            <a:ext cx="1600200" cy="101803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828800" y="3395471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2.5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2</a:t>
            </a:r>
            <a:r>
              <a:rPr sz="2400" b="0" i="0">
                <a:solidFill>
                  <a:srgbClr val="6B6B6B"/>
                </a:solidFill>
                <a:latin typeface="Century Schoolbook"/>
              </a:rPr>
              <a:t> — the exponent 1 changes nothing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6.25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5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3 — Exponential Expressions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23</a:t>
            </a:r>
          </a:p>
        </p:txBody>
      </p:sp>
      <p:pic>
        <p:nvPicPr>
          <p:cNvPr id="9" name="Picture 8" descr="85a5d92abe26b9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6340" y="2194560"/>
            <a:ext cx="2148840" cy="110032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3523488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Which is the value?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4189807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A.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1/4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4189807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B.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2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22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4875607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C.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4875607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D.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687568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5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3 — Exponential Expressions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24</a:t>
            </a:r>
          </a:p>
        </p:txBody>
      </p:sp>
      <p:pic>
        <p:nvPicPr>
          <p:cNvPr id="9" name="Picture 8" descr="c78ed1ad0d5dedd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9387" y="2103120"/>
            <a:ext cx="2142744" cy="109423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3425952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Which is the value?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4092271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A.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1/4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4092271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B.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2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22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4778071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C.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4778071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9E1B32"/>
                </a:solidFill>
                <a:latin typeface="Century Schoolbook"/>
              </a:rPr>
              <a:t>D.   </a:t>
            </a:r>
            <a:r>
              <a:rPr sz="2400" b="1" i="0">
                <a:solidFill>
                  <a:srgbClr val="9E1B32"/>
                </a:solidFill>
                <a:latin typeface="Century Schoolbook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632704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D — 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6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3 — Exponential Expressions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25</a:t>
            </a:r>
          </a:p>
        </p:txBody>
      </p:sp>
      <p:pic>
        <p:nvPicPr>
          <p:cNvPr id="9" name="Picture 8" descr="36dd69d05a8fa1b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4919" y="2194560"/>
            <a:ext cx="2011680" cy="10058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3429000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Which expression is equivalent?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409531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A.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0.2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0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 · 0.1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409531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B.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0.2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3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 · 0.1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478111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C.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0.1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478111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D.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0.1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687568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6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3 — Exponential Expressions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26</a:t>
            </a:r>
          </a:p>
        </p:txBody>
      </p:sp>
      <p:pic>
        <p:nvPicPr>
          <p:cNvPr id="9" name="Picture 8" descr="916206a62c8d46a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4919" y="2103120"/>
            <a:ext cx="2011680" cy="10058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3337560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Which expression is equivalent?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400387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A.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0.2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0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 · 0.1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400387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B.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0.2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3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 · 0.1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468967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9E1B32"/>
                </a:solidFill>
                <a:latin typeface="Century Schoolbook"/>
              </a:rPr>
              <a:t>C.   </a:t>
            </a:r>
            <a:r>
              <a:rPr sz="2400" b="1" i="0">
                <a:solidFill>
                  <a:srgbClr val="9E1B32"/>
                </a:solidFill>
                <a:latin typeface="Century Schoolbook"/>
              </a:rPr>
              <a:t>0.1</a:t>
            </a:r>
            <a:r>
              <a:rPr sz="2400" b="1" i="0" baseline="30000">
                <a:solidFill>
                  <a:srgbClr val="9E1B32"/>
                </a:solidFill>
                <a:latin typeface="Century Schoolbook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468967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D.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0.1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632704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C — 0.1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5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7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3 — Exponential Expressions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27</a:t>
            </a:r>
          </a:p>
        </p:txBody>
      </p:sp>
      <p:pic>
        <p:nvPicPr>
          <p:cNvPr id="9" name="Picture 8" descr="1564dccdbc1be46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0224" y="2194560"/>
            <a:ext cx="2481072" cy="5181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6B6B6B"/>
                </a:solidFill>
                <a:latin typeface="Century Schoolbook"/>
              </a:rPr>
              <a:t>Find the value.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7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3 — Exponential Expressions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28</a:t>
            </a:r>
          </a:p>
        </p:txBody>
      </p:sp>
      <p:pic>
        <p:nvPicPr>
          <p:cNvPr id="9" name="Picture 8" descr="51f9e7dda47d97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8699" y="2103120"/>
            <a:ext cx="2484120" cy="5181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828800" y="2895599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0.1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2</a:t>
            </a:r>
            <a:r>
              <a:rPr sz="2400" b="0" i="0">
                <a:solidFill>
                  <a:srgbClr val="6B6B6B"/>
                </a:solidFill>
                <a:latin typeface="Century Schoolbook"/>
              </a:rPr>
              <a:t> · 0.1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2</a:t>
            </a:r>
            <a:r>
              <a:rPr sz="2400" b="0" i="0">
                <a:solidFill>
                  <a:srgbClr val="6B6B6B"/>
                </a:solidFill>
                <a:latin typeface="Century Schoolbook"/>
              </a:rPr>
              <a:t> = 0.1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0.0001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8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3 — Exponential Expressions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29</a:t>
            </a:r>
          </a:p>
        </p:txBody>
      </p:sp>
      <p:pic>
        <p:nvPicPr>
          <p:cNvPr id="9" name="Picture 8" descr="a2077b17c7711d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3836" y="2194560"/>
            <a:ext cx="2593848" cy="11887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6B6B6B"/>
                </a:solidFill>
                <a:latin typeface="Century Schoolbook"/>
              </a:rPr>
              <a:t>Find the value.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8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3 — Exponential Expressions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30</a:t>
            </a:r>
          </a:p>
        </p:txBody>
      </p:sp>
      <p:pic>
        <p:nvPicPr>
          <p:cNvPr id="9" name="Picture 8" descr="c2f375830fedead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6883" y="2103120"/>
            <a:ext cx="2587752" cy="118567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828800" y="3563112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(−4)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3</a:t>
            </a:r>
            <a:r>
              <a:rPr sz="2400" b="0" i="0">
                <a:solidFill>
                  <a:srgbClr val="6B6B6B"/>
                </a:solidFill>
                <a:latin typeface="Century Schoolbook"/>
              </a:rPr>
              <a:t> over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−64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9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Take your time. Boards up when you have written it.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3 — Exponential Expressions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76876" y="2369820"/>
            <a:ext cx="286790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Winston writes  </a:t>
            </a:r>
          </a:p>
        </p:txBody>
      </p:sp>
      <p:pic>
        <p:nvPicPr>
          <p:cNvPr id="10" name="Picture 9" descr="8510a940fc60582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7616" y="2194560"/>
            <a:ext cx="2185416" cy="8077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093032" y="2369820"/>
            <a:ext cx="292590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.   Yvette writes  </a:t>
            </a:r>
          </a:p>
        </p:txBody>
      </p:sp>
      <p:pic>
        <p:nvPicPr>
          <p:cNvPr id="12" name="Picture 11" descr="895c1949fc6ae63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81775" y="2194560"/>
            <a:ext cx="1932432" cy="80772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814207" y="2369820"/>
            <a:ext cx="30759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276599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Do they get the same value? Explain.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Write your answer in sentences.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6B6B6B"/>
                </a:solidFill>
                <a:latin typeface="Century Schoolbook"/>
              </a:rPr>
              <a:t>Name the law each one used first, and give the value.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9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3 — Exponential Expressions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78400" y="2276856"/>
            <a:ext cx="286790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Winston writes  </a:t>
            </a:r>
          </a:p>
        </p:txBody>
      </p:sp>
      <p:pic>
        <p:nvPicPr>
          <p:cNvPr id="10" name="Picture 9" descr="7499f9d1d2ab2e7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9140" y="2103120"/>
            <a:ext cx="2188464" cy="80467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097604" y="2276856"/>
            <a:ext cx="292590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.   Yvette writes  </a:t>
            </a:r>
          </a:p>
        </p:txBody>
      </p:sp>
      <p:pic>
        <p:nvPicPr>
          <p:cNvPr id="12" name="Picture 11" descr="dc00211af1d70f1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86347" y="2103120"/>
            <a:ext cx="1926335" cy="80467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812683" y="2276856"/>
            <a:ext cx="30759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182111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Do they get the same value? Explain.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3802711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both plans end at 2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Yes — both give 2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6</a:t>
            </a:r>
            <a:r>
              <a:rPr sz="3200" b="1" i="0">
                <a:solidFill>
                  <a:srgbClr val="9E1B32"/>
                </a:solidFill>
                <a:latin typeface="Century Schoolbook"/>
              </a:rPr>
              <a:t> = 64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Independent Set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Six questions. On your own, in silence.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3 — Exponential Expressions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B5394"/>
                </a:solidFill>
                <a:latin typeface="Century Schoolbook"/>
              </a:rPr>
              <a:t>1.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2011680"/>
            <a:ext cx="9829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Six questions. Work down the page.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551176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B5394"/>
                </a:solidFill>
                <a:latin typeface="Century Schoolbook"/>
              </a:rPr>
              <a:t>2.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551176"/>
            <a:ext cx="9829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Show the step that does the work, not just the answer.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090672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B5394"/>
                </a:solidFill>
                <a:latin typeface="Century Schoolbook"/>
              </a:rPr>
              <a:t>3.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3090672"/>
            <a:ext cx="9829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Silence until the six minutes are up.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IXL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Last five minutes.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3 — Exponential Expressions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828800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B5394"/>
                </a:solidFill>
                <a:latin typeface="Century Schoolbook"/>
              </a:rPr>
              <a:t>1.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1828800"/>
            <a:ext cx="9829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Open IXL and start today's skills.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331720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B5394"/>
                </a:solidFill>
                <a:latin typeface="Century Schoolbook"/>
              </a:rPr>
              <a:t>2.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331720"/>
            <a:ext cx="9829800" cy="7680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Work on paper where the question needs work. The answer box does not show it.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191256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B5394"/>
                </a:solidFill>
                <a:latin typeface="Century Schoolbook"/>
              </a:rPr>
              <a:t>3.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3191256"/>
            <a:ext cx="9829800" cy="7680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Every skill listed is required, to a SmartScore of 67. Due at the start of the next class.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96511"/>
            <a:ext cx="102412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1A1A1A"/>
                </a:solidFill>
                <a:latin typeface="Century Schoolbook"/>
              </a:rPr>
              <a:t>Today's skills — all required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4507992"/>
            <a:ext cx="969264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00" b="0" i="0">
                <a:solidFill>
                  <a:srgbClr val="1A1A1A"/>
                </a:solidFill>
                <a:latin typeface="Century Schoolbook"/>
              </a:rPr>
              <a:t>Evaluate expressions using properties of exponents — ZE9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