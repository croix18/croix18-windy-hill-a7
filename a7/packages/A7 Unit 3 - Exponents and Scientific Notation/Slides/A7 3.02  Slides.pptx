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Relationship Id="rId3" Type="http://schemas.openxmlformats.org/officeDocument/2006/relationships/image" Target="../media/image54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55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6916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6B6B6B"/>
                </a:solidFill>
                <a:latin typeface="Century Schoolbook"/>
              </a:rPr>
              <a:t>GRADE 7 ACCELERATED  ·  UNIT 3  ·  LESSON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400" b="1" i="0">
                <a:solidFill>
                  <a:srgbClr val="1A1A1A"/>
                </a:solidFill>
                <a:latin typeface="Century Schoolbook"/>
              </a:rPr>
              <a:t>Quotient Laws of Exponents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2552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3375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5021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entury Schoolbook"/>
              </a:rPr>
              <a:t>MA.7.NSO.1.1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404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1A1A1A"/>
                </a:solidFill>
                <a:latin typeface="Century Schoolbook"/>
              </a:rPr>
              <a:t>I can use the quotient of powers, power of a quotient and zero exponent laws to rewrite and evaluate a numerical expression.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7440" y="4736592"/>
            <a:ext cx="7406640" cy="1051560"/>
          </a:xfrm>
          <a:prstGeom prst="rect">
            <a:avLst/>
          </a:prstGeom>
          <a:solidFill>
            <a:srgbClr val="F2F2F0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40" y="4892040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0" i="1">
                <a:solidFill>
                  <a:srgbClr val="6B6B6B"/>
                </a:solidFill>
                <a:latin typeface="Century Schoolbook"/>
              </a:rPr>
              <a:t>Yesterday: same base, add the exponents.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5276088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1A1A1A"/>
                </a:solidFill>
                <a:latin typeface="Century Schoolbook"/>
              </a:rPr>
              <a:t>Today: same base, subtract — and exponent 0 is not 0.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On your own. Four minutes. No notes.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760220"/>
            <a:ext cx="36986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Write as one power:  </a:t>
            </a:r>
          </a:p>
        </p:txBody>
      </p:sp>
      <p:pic>
        <p:nvPicPr>
          <p:cNvPr id="10" name="Picture 9" descr="d71efaf91c1d965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5960" y="1848611"/>
            <a:ext cx="746760" cy="2804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74519" y="2372868"/>
            <a:ext cx="7268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</a:t>
            </a:r>
          </a:p>
        </p:txBody>
      </p:sp>
      <p:pic>
        <p:nvPicPr>
          <p:cNvPr id="12" name="Picture 11" descr="38e9b447bed4ddd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4171" y="2397252"/>
            <a:ext cx="914400" cy="4084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874519" y="2985516"/>
            <a:ext cx="165200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Solve  </a:t>
            </a:r>
          </a:p>
        </p:txBody>
      </p:sp>
      <p:pic>
        <p:nvPicPr>
          <p:cNvPr id="14" name="Picture 13" descr="73f8d0478760fca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9368" y="3093720"/>
            <a:ext cx="1405128" cy="24079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874519" y="3677412"/>
            <a:ext cx="209972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Simplify  </a:t>
            </a:r>
          </a:p>
        </p:txBody>
      </p:sp>
      <p:pic>
        <p:nvPicPr>
          <p:cNvPr id="16" name="Picture 15" descr="18ea63a1522c269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37084" y="3621024"/>
            <a:ext cx="880872" cy="56997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760220"/>
            <a:ext cx="36986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Write as one power:  </a:t>
            </a:r>
          </a:p>
        </p:txBody>
      </p:sp>
      <p:pic>
        <p:nvPicPr>
          <p:cNvPr id="10" name="Picture 9" descr="d71efaf91c1d965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5960" y="1848611"/>
            <a:ext cx="746760" cy="280416"/>
          </a:xfrm>
          <a:prstGeom prst="rect">
            <a:avLst/>
          </a:prstGeom>
        </p:spPr>
      </p:pic>
      <p:pic>
        <p:nvPicPr>
          <p:cNvPr id="11" name="Picture 10" descr="fe5bb28ba59f7af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1360" y="1848611"/>
            <a:ext cx="259080" cy="2804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874519" y="2372868"/>
            <a:ext cx="7268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</a:t>
            </a:r>
          </a:p>
        </p:txBody>
      </p:sp>
      <p:pic>
        <p:nvPicPr>
          <p:cNvPr id="13" name="Picture 12" descr="38e9b447bed4ddd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4171" y="2397252"/>
            <a:ext cx="914400" cy="4084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927211" y="2372868"/>
            <a:ext cx="57567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−3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2985516"/>
            <a:ext cx="165200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Solve  </a:t>
            </a:r>
          </a:p>
        </p:txBody>
      </p:sp>
      <p:pic>
        <p:nvPicPr>
          <p:cNvPr id="16" name="Picture 15" descr="73f8d0478760fca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9368" y="3093720"/>
            <a:ext cx="1405128" cy="24079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343136" y="2985516"/>
            <a:ext cx="9426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x &lt;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3677412"/>
            <a:ext cx="209972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Simplify  </a:t>
            </a:r>
          </a:p>
        </p:txBody>
      </p:sp>
      <p:pic>
        <p:nvPicPr>
          <p:cNvPr id="19" name="Picture 18" descr="18ea63a1522c269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37084" y="3621024"/>
            <a:ext cx="880872" cy="56997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266596" y="3598164"/>
            <a:ext cx="38805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Where the rule comes from.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I.  Quotient of powers — same base, subtract the exponents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0fc742bc47e6f6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9752" y="2340864"/>
            <a:ext cx="5462016" cy="8138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87552" y="3581400"/>
            <a:ext cx="353447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Quotient of powers:  </a:t>
            </a:r>
          </a:p>
        </p:txBody>
      </p:sp>
      <p:pic>
        <p:nvPicPr>
          <p:cNvPr id="13" name="Picture 12" descr="99376a582dd7223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4871" y="3474720"/>
            <a:ext cx="1749552" cy="6705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134423" y="3581400"/>
            <a:ext cx="59734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   (</a:t>
            </a:r>
          </a:p>
        </p:txBody>
      </p:sp>
      <p:pic>
        <p:nvPicPr>
          <p:cNvPr id="15" name="Picture 14" descr="6a9975e145b437d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4607" y="3640836"/>
            <a:ext cx="789432" cy="33832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384039" y="3581400"/>
            <a:ext cx="3307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4579620"/>
            <a:ext cx="308844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Check with values:  </a:t>
            </a:r>
          </a:p>
        </p:txBody>
      </p:sp>
      <p:pic>
        <p:nvPicPr>
          <p:cNvPr id="18" name="Picture 17" descr="74344545705a48f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8837" y="4401312"/>
            <a:ext cx="3621024" cy="8138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II.  Power of a quotient — the exponent goes top and bottom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e72c69fb4c92c91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3220" y="2340864"/>
            <a:ext cx="6355080" cy="8107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87552" y="3584448"/>
            <a:ext cx="361346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Power of a quotient:  </a:t>
            </a:r>
          </a:p>
        </p:txBody>
      </p:sp>
      <p:pic>
        <p:nvPicPr>
          <p:cNvPr id="12" name="Picture 11" descr="669ee74891112a8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3855" y="3471672"/>
            <a:ext cx="1691640" cy="68275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155495" y="3584448"/>
            <a:ext cx="59734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   (</a:t>
            </a:r>
          </a:p>
        </p:txBody>
      </p:sp>
      <p:pic>
        <p:nvPicPr>
          <p:cNvPr id="14" name="Picture 13" descr="a22d74845d9bf15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5680" y="3642359"/>
            <a:ext cx="786384" cy="34137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02064" y="3584448"/>
            <a:ext cx="3307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4587240"/>
            <a:ext cx="203372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Either way:  </a:t>
            </a:r>
          </a:p>
        </p:txBody>
      </p:sp>
      <p:pic>
        <p:nvPicPr>
          <p:cNvPr id="17" name="Picture 16" descr="efb58e8ff7264b8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4121" y="4410456"/>
            <a:ext cx="3188208" cy="81076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72329" y="4587240"/>
            <a:ext cx="12659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  and   </a:t>
            </a:r>
          </a:p>
        </p:txBody>
      </p:sp>
      <p:pic>
        <p:nvPicPr>
          <p:cNvPr id="19" name="Picture 18" descr="1d8df7a17576def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01091" y="4611624"/>
            <a:ext cx="2231136" cy="40843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III.  The zero exponent — two roads to the same answer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423160" y="2340864"/>
          <a:ext cx="7315200" cy="7680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63040"/>
                <a:gridCol w="1463040"/>
                <a:gridCol w="1463040"/>
                <a:gridCol w="1463040"/>
                <a:gridCol w="146304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16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11" name="Picture 10" descr="3c353a5052ea24b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7885" y="3337560"/>
            <a:ext cx="1630680" cy="7985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548565" y="3508248"/>
            <a:ext cx="198713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and      </a:t>
            </a:r>
          </a:p>
        </p:txBody>
      </p:sp>
      <p:pic>
        <p:nvPicPr>
          <p:cNvPr id="13" name="Picture 12" descr="3484dae0b8b01f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8543" y="3337560"/>
            <a:ext cx="2350008" cy="79857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48551" y="3508248"/>
            <a:ext cx="17147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so      </a:t>
            </a:r>
          </a:p>
        </p:txBody>
      </p:sp>
      <p:pic>
        <p:nvPicPr>
          <p:cNvPr id="15" name="Picture 14" descr="7798067ac752985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186" y="3567683"/>
            <a:ext cx="917448" cy="33832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87552" y="4433315"/>
            <a:ext cx="27874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Zero exponent:  </a:t>
            </a:r>
          </a:p>
        </p:txBody>
      </p:sp>
      <p:pic>
        <p:nvPicPr>
          <p:cNvPr id="17" name="Picture 16" descr="d591c8ddcc96ae9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7835" y="4491228"/>
            <a:ext cx="941832" cy="34137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579667" y="4433315"/>
            <a:ext cx="340648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   for every nonzero </a:t>
            </a:r>
          </a:p>
        </p:txBody>
      </p:sp>
      <p:pic>
        <p:nvPicPr>
          <p:cNvPr id="19" name="Picture 18" descr="c030b8e94fe02ff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48992" y="4570476"/>
            <a:ext cx="188976" cy="1828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 negative base.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7</a:t>
            </a:r>
          </a:p>
        </p:txBody>
      </p:sp>
      <p:pic>
        <p:nvPicPr>
          <p:cNvPr id="9" name="Picture 8" descr="66659ac1f0ea04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8988" y="2103120"/>
            <a:ext cx="923544" cy="9479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55396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Which law? Then find the value.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8</a:t>
            </a:r>
          </a:p>
        </p:txBody>
      </p:sp>
      <p:pic>
        <p:nvPicPr>
          <p:cNvPr id="9" name="Picture 8" descr="8665e93b2158cdd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3986784" cy="944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72784" y="2164080"/>
            <a:ext cx="5111495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quotient of powers: subtract</a:t>
            </a:r>
          </a:p>
        </p:txBody>
      </p:sp>
      <p:pic>
        <p:nvPicPr>
          <p:cNvPr id="11" name="Picture 10" descr="a6bb031371915f0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3139440"/>
            <a:ext cx="1758696" cy="4084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044696" y="3115056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three negative factors</a:t>
            </a:r>
          </a:p>
        </p:txBody>
      </p:sp>
      <p:pic>
        <p:nvPicPr>
          <p:cNvPr id="13" name="Picture 12" descr="1a7fe49e913d88f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822192"/>
            <a:ext cx="2353056" cy="3505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639056" y="3768852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check: evaluate each, then divide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29912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−8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9</a:t>
            </a:r>
          </a:p>
        </p:txBody>
      </p:sp>
      <p:pic>
        <p:nvPicPr>
          <p:cNvPr id="9" name="Picture 8" descr="309fc1c6c87d6f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7588" y="2194560"/>
            <a:ext cx="466344" cy="10210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10</a:t>
            </a:r>
          </a:p>
        </p:txBody>
      </p:sp>
      <p:pic>
        <p:nvPicPr>
          <p:cNvPr id="9" name="Picture 8" descr="b0a43ae0750e3ab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9112" y="2194560"/>
            <a:ext cx="463296" cy="10180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532632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same base, subtract: 3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3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4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= 81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 decimal base inside a quotient.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11</a:t>
            </a:r>
          </a:p>
        </p:txBody>
      </p:sp>
      <p:pic>
        <p:nvPicPr>
          <p:cNvPr id="9" name="Picture 8" descr="b43cc8ad2e0eadb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2103120"/>
            <a:ext cx="1097280" cy="6888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29488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Find the value.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 both ways.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12</a:t>
            </a:r>
          </a:p>
        </p:txBody>
      </p:sp>
      <p:pic>
        <p:nvPicPr>
          <p:cNvPr id="9" name="Picture 8" descr="7ab80e4044f303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3755136" cy="8138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41136" y="2098548"/>
            <a:ext cx="5343144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power of a quotient</a:t>
            </a:r>
          </a:p>
        </p:txBody>
      </p:sp>
      <p:pic>
        <p:nvPicPr>
          <p:cNvPr id="11" name="Picture 10" descr="e1269a6bd048335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3008376"/>
            <a:ext cx="3486912" cy="69189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72912" y="3125724"/>
            <a:ext cx="5611367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divide by 10</a:t>
            </a:r>
            <a:r>
              <a:rPr sz="2100" b="0" i="1" baseline="30000">
                <a:solidFill>
                  <a:srgbClr val="6B6B6B"/>
                </a:solidFill>
                <a:latin typeface="Century Schoolbook"/>
              </a:rPr>
              <a:t>4</a:t>
            </a:r>
            <a:r>
              <a:rPr sz="2100" b="0" i="1">
                <a:solidFill>
                  <a:srgbClr val="6B6B6B"/>
                </a:solidFill>
                <a:latin typeface="Century Schoolbook"/>
              </a:rPr>
              <a:t>: four places left</a:t>
            </a:r>
          </a:p>
        </p:txBody>
      </p:sp>
      <p:pic>
        <p:nvPicPr>
          <p:cNvPr id="13" name="Picture 12" descr="ac2b58a90d22f61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974592"/>
            <a:ext cx="3447288" cy="4114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733288" y="3951731"/>
            <a:ext cx="5650992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check: divide first, then raise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843272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0.00000016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13</a:t>
            </a:r>
          </a:p>
        </p:txBody>
      </p:sp>
      <p:pic>
        <p:nvPicPr>
          <p:cNvPr id="9" name="Picture 8" descr="e60d4cb6647bee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7651" y="2194560"/>
            <a:ext cx="966216" cy="8534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14</a:t>
            </a:r>
          </a:p>
        </p:txBody>
      </p:sp>
      <p:pic>
        <p:nvPicPr>
          <p:cNvPr id="9" name="Picture 8" descr="74bc3eff5c14b1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4604" y="2194560"/>
            <a:ext cx="972311" cy="8564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37108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numerator and denominator both cubed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64607" y="4639056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78fdb0141a7d8d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848" y="4480560"/>
            <a:ext cx="512064" cy="86563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15</a:t>
            </a:r>
          </a:p>
        </p:txBody>
      </p:sp>
      <p:pic>
        <p:nvPicPr>
          <p:cNvPr id="9" name="Picture 8" descr="858f7499cc3aa9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1095" y="2194560"/>
            <a:ext cx="719328" cy="10149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Write it as one power.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16</a:t>
            </a:r>
          </a:p>
        </p:txBody>
      </p:sp>
      <p:pic>
        <p:nvPicPr>
          <p:cNvPr id="9" name="Picture 8" descr="b0b61f7be1f45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2620" y="2103120"/>
            <a:ext cx="716280" cy="10180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3395471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same base, subtract the exponents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5172" y="4605528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6677a7c75654467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5412" y="4663440"/>
            <a:ext cx="630936" cy="43281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0736" y="2171700"/>
            <a:ext cx="282688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 server stores  </a:t>
            </a:r>
          </a:p>
        </p:txBody>
      </p:sp>
      <p:pic>
        <p:nvPicPr>
          <p:cNvPr id="10" name="Picture 9" descr="6211579d9db5cb0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0459" y="2228088"/>
            <a:ext cx="323088" cy="3444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343547" y="2171700"/>
            <a:ext cx="16820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files in  </a:t>
            </a:r>
          </a:p>
        </p:txBody>
      </p:sp>
      <p:pic>
        <p:nvPicPr>
          <p:cNvPr id="12" name="Picture 11" descr="849ea0a036ce867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8474" y="2228088"/>
            <a:ext cx="298704" cy="34442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187178" y="2171700"/>
            <a:ext cx="278076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folders, evenly.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8803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It has been running for 30 days.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45523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How many files are in each folder?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Find the value.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0736" y="2080260"/>
            <a:ext cx="282688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 server stores  </a:t>
            </a:r>
          </a:p>
        </p:txBody>
      </p:sp>
      <p:pic>
        <p:nvPicPr>
          <p:cNvPr id="10" name="Picture 9" descr="2b0ddd72bd8ed32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0459" y="2135124"/>
            <a:ext cx="323088" cy="3474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343547" y="2080260"/>
            <a:ext cx="16820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files in  </a:t>
            </a:r>
          </a:p>
        </p:txBody>
      </p:sp>
      <p:pic>
        <p:nvPicPr>
          <p:cNvPr id="12" name="Picture 11" descr="58e1a0d62eaf333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8474" y="2136648"/>
            <a:ext cx="298704" cy="34442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187178" y="2080260"/>
            <a:ext cx="278076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folders, evenly.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7889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It has been running for 30 days.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36379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How many files are in each folder?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984398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8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4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÷ 8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1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= 8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715918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512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19</a:t>
            </a:r>
          </a:p>
        </p:txBody>
      </p:sp>
      <p:pic>
        <p:nvPicPr>
          <p:cNvPr id="9" name="Picture 8" descr="1252d608a87976a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4688" y="2194560"/>
            <a:ext cx="1152144" cy="11978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Find the value.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20</a:t>
            </a:r>
          </a:p>
        </p:txBody>
      </p:sp>
      <p:pic>
        <p:nvPicPr>
          <p:cNvPr id="9" name="Picture 8" descr="e97669c0d54b74f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6212" y="2103120"/>
            <a:ext cx="1149096" cy="11917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3569207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(−6)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−6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21</a:t>
            </a:r>
          </a:p>
        </p:txBody>
      </p:sp>
      <p:pic>
        <p:nvPicPr>
          <p:cNvPr id="9" name="Picture 8" descr="615f3e719211e48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4771" y="2194560"/>
            <a:ext cx="1331976" cy="8717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Apply the power of a quotient law. Do not simplify.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22</a:t>
            </a:r>
          </a:p>
        </p:txBody>
      </p:sp>
      <p:pic>
        <p:nvPicPr>
          <p:cNvPr id="9" name="Picture 8" descr="260e9dabd7b640f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4771" y="2103120"/>
            <a:ext cx="1331976" cy="8717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3249167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the exponent goes to both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4933188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a55647924d78856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808" y="4663440"/>
            <a:ext cx="1152144" cy="108813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23</a:t>
            </a:r>
          </a:p>
        </p:txBody>
      </p:sp>
      <p:pic>
        <p:nvPicPr>
          <p:cNvPr id="9" name="Picture 8" descr="b00c54b2f2476e9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3496" y="2194560"/>
            <a:ext cx="414528" cy="4358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859024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the value?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525343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525343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211143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211143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1/9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216983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24</a:t>
            </a:r>
          </a:p>
        </p:txBody>
      </p:sp>
      <p:pic>
        <p:nvPicPr>
          <p:cNvPr id="9" name="Picture 8" descr="17e435e9fa7e4f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447" y="2103120"/>
            <a:ext cx="420624" cy="4297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761487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the value?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4278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A.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4278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1136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1136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1/9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119447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A — 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25</a:t>
            </a:r>
          </a:p>
        </p:txBody>
      </p:sp>
      <p:pic>
        <p:nvPicPr>
          <p:cNvPr id="9" name="Picture 8" descr="ad177fa159bf9ad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7588" y="2194560"/>
            <a:ext cx="466344" cy="10027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425952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409227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409227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77807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77807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687568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26</a:t>
            </a:r>
          </a:p>
        </p:txBody>
      </p:sp>
      <p:pic>
        <p:nvPicPr>
          <p:cNvPr id="9" name="Picture 8" descr="a899e53ebcbfa2d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9112" y="2103120"/>
            <a:ext cx="463296" cy="99974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331464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997783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A.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4</a:t>
            </a:r>
            <a:r>
              <a:rPr sz="2400" b="1" i="0" baseline="30000">
                <a:solidFill>
                  <a:srgbClr val="9E1B32"/>
                </a:solidFill>
                <a:latin typeface="Century Schoolbook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997783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683583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683583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632704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A — 4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27</a:t>
            </a:r>
          </a:p>
        </p:txBody>
      </p:sp>
      <p:pic>
        <p:nvPicPr>
          <p:cNvPr id="9" name="Picture 8" descr="7fd8a7336ddfaf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7088" y="2194560"/>
            <a:ext cx="847344" cy="10210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Find the value.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28</a:t>
            </a:r>
          </a:p>
        </p:txBody>
      </p:sp>
      <p:pic>
        <p:nvPicPr>
          <p:cNvPr id="9" name="Picture 8" descr="73bf2466d9323c9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8611" y="2103120"/>
            <a:ext cx="844296" cy="10180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3395471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0.5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0.125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29</a:t>
            </a:r>
          </a:p>
        </p:txBody>
      </p:sp>
      <p:pic>
        <p:nvPicPr>
          <p:cNvPr id="9" name="Picture 8" descr="41e42a07b25976e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0491" y="2194560"/>
            <a:ext cx="1240536" cy="8595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Find the value.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30</a:t>
            </a:r>
          </a:p>
        </p:txBody>
      </p:sp>
      <p:pic>
        <p:nvPicPr>
          <p:cNvPr id="9" name="Picture 8" descr="262fa2692961318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0491" y="2103120"/>
            <a:ext cx="1240536" cy="8595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3236975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any nonzero base to the zero power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Take your time. Boards up when you have written it.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6338" y="2366772"/>
            <a:ext cx="308844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Hannah cancels:  </a:t>
            </a:r>
          </a:p>
        </p:txBody>
      </p:sp>
      <p:pic>
        <p:nvPicPr>
          <p:cNvPr id="10" name="Picture 9" descr="62ec99fb62ba29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7624" y="2194560"/>
            <a:ext cx="1627632" cy="8016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25256" y="2366772"/>
            <a:ext cx="409536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   Sebastian subtracts:  </a:t>
            </a:r>
          </a:p>
        </p:txBody>
      </p:sp>
      <p:pic>
        <p:nvPicPr>
          <p:cNvPr id="12" name="Picture 11" descr="814e799b3c3f04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3457" y="2194560"/>
            <a:ext cx="1161288" cy="80162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844745" y="2366772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270503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Who is right?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Write your answer in sentences.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Say what each one did, and what it tells you about 2</a:t>
            </a:r>
            <a:r>
              <a:rPr sz="1900" b="0" i="1" baseline="30000">
                <a:solidFill>
                  <a:srgbClr val="6B6B6B"/>
                </a:solidFill>
                <a:latin typeface="Century Schoolbook"/>
              </a:rPr>
              <a:t>0</a:t>
            </a:r>
            <a:r>
              <a:rPr sz="1900" b="0" i="1">
                <a:solidFill>
                  <a:srgbClr val="6B6B6B"/>
                </a:solidFill>
                <a:latin typeface="Century Schoolbook"/>
              </a:rPr>
              <a:t>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290" y="2273807"/>
            <a:ext cx="308844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Hannah cancels:  </a:t>
            </a:r>
          </a:p>
        </p:txBody>
      </p:sp>
      <p:pic>
        <p:nvPicPr>
          <p:cNvPr id="10" name="Picture 9" descr="3c353a5052ea24b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4576" y="2103120"/>
            <a:ext cx="1630680" cy="79857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25256" y="2273807"/>
            <a:ext cx="409536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   Sebastian subtracts:  </a:t>
            </a:r>
          </a:p>
        </p:txBody>
      </p:sp>
      <p:pic>
        <p:nvPicPr>
          <p:cNvPr id="12" name="Picture 11" descr="1b1a2270832c817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3457" y="2103120"/>
            <a:ext cx="1164336" cy="79857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847793" y="2273807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176015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Who is right?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796615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both are right, so 2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0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must equal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Both — 2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0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= 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Six questions. On your own, in silence.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01168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Six questions. Work down the page.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55117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51176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Show the step that does the work, not just the answer.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90672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090672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Silence until the six minutes are up.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Last five minutes.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2 — Quotient Laws of Exponents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Open IXL and start today's skills.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Work on paper where the question needs work. The answer box does not show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Every skill listed is required, to a SmartScore of 67. Due at the start of the next class.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1A1A1A"/>
                </a:solidFill>
                <a:latin typeface="Century Schoolbook"/>
              </a:rPr>
              <a:t>Today's skills — all required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Powers with negative bases — WFW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837176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Division with exponents — XNC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5166360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Identify equivalent expressions involving whole-number exponents — KBE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