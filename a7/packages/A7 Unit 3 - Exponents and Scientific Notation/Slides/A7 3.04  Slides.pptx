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Negative Exponent Law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 power with a negative exponent using a positive exponent, and evaluate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exponents stopped at 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keep going — and 5</a:t>
            </a:r>
            <a:r>
              <a:rPr sz="1700" b="1" i="0" baseline="30000">
                <a:solidFill>
                  <a:srgbClr val="1A1A1A"/>
                </a:solidFill>
                <a:latin typeface="Century Schoolbook"/>
              </a:rPr>
              <a:t>-2</a:t>
            </a:r>
            <a:r>
              <a:rPr sz="1700" b="1" i="0">
                <a:solidFill>
                  <a:srgbClr val="1A1A1A"/>
                </a:solidFill>
                <a:latin typeface="Century Schoolbook"/>
              </a:rPr>
              <a:t> is not a negative number.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01368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06233e172283d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296" y="1783080"/>
            <a:ext cx="557784" cy="4937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55164"/>
            <a:ext cx="3703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Which is greater, </a:t>
            </a:r>
          </a:p>
        </p:txBody>
      </p:sp>
      <p:pic>
        <p:nvPicPr>
          <p:cNvPr id="12" name="Picture 11" descr="9a9a9137b9c7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1188" y="2479548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30036" y="2455164"/>
            <a:ext cx="1425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5.5?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067812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86c14b3a9138d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375" y="3180588"/>
            <a:ext cx="1136904" cy="2316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686556"/>
            <a:ext cx="4918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</a:t>
            </a:r>
          </a:p>
        </p:txBody>
      </p:sp>
      <p:pic>
        <p:nvPicPr>
          <p:cNvPr id="17" name="Picture 16" descr="535b93a5addf17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6324" y="3703320"/>
            <a:ext cx="118872" cy="4236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75196" y="3686556"/>
            <a:ext cx="43113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  What is the opposite of </a:t>
            </a:r>
          </a:p>
        </p:txBody>
      </p:sp>
      <p:pic>
        <p:nvPicPr>
          <p:cNvPr id="19" name="Picture 18" descr="535b93a5addf17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9432" y="3703320"/>
            <a:ext cx="118872" cy="4236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068304" y="3686556"/>
            <a:ext cx="3622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01368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06233e172283d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296" y="1783080"/>
            <a:ext cx="557784" cy="4937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95720" y="1760220"/>
            <a:ext cx="549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55164"/>
            <a:ext cx="3703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Which is greater, </a:t>
            </a:r>
          </a:p>
        </p:txBody>
      </p:sp>
      <p:pic>
        <p:nvPicPr>
          <p:cNvPr id="13" name="Picture 12" descr="9a9a9137b9c7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1188" y="2479548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30036" y="2455164"/>
            <a:ext cx="1425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5.5?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66964" y="2455164"/>
            <a:ext cx="7185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067812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86c14b3a9138d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375" y="3180588"/>
            <a:ext cx="1136904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55919" y="3067812"/>
            <a:ext cx="12268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−7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86556"/>
            <a:ext cx="4918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</a:t>
            </a:r>
          </a:p>
        </p:txBody>
      </p:sp>
      <p:pic>
        <p:nvPicPr>
          <p:cNvPr id="20" name="Picture 19" descr="535b93a5addf17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6324" y="3703320"/>
            <a:ext cx="118872" cy="42367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75196" y="3686556"/>
            <a:ext cx="43113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  What is the opposite of </a:t>
            </a:r>
          </a:p>
        </p:txBody>
      </p:sp>
      <p:pic>
        <p:nvPicPr>
          <p:cNvPr id="22" name="Picture 21" descr="535b93a5addf17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9432" y="3703320"/>
            <a:ext cx="118872" cy="42367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1068304" y="3686556"/>
            <a:ext cx="3622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pic>
        <p:nvPicPr>
          <p:cNvPr id="24" name="Picture 23" descr="8d23dc14b63dd90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4174236"/>
            <a:ext cx="118872" cy="4206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24912" y="4155948"/>
            <a:ext cx="13962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  and  </a:t>
            </a:r>
          </a:p>
        </p:txBody>
      </p:sp>
      <p:pic>
        <p:nvPicPr>
          <p:cNvPr id="26" name="Picture 25" descr="4b934b392ff3216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83990" y="4172712"/>
            <a:ext cx="329184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 keeps going past zero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340864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6cbce014b248a9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1483" y="3337560"/>
            <a:ext cx="1216152" cy="5577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37635" y="3387852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4" name="Picture 13" descr="d209911ff92163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4419" y="3337560"/>
            <a:ext cx="1804416" cy="5577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688836" y="3387852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6" name="Picture 15" descr="d6f1aa59b536704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5620" y="3339083"/>
            <a:ext cx="1804416" cy="5547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The negative exponent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5dd58ae1bd119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1607" y="2340864"/>
            <a:ext cx="1252728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04335" y="2368296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a9ca8c41edb3ea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4528" y="2340864"/>
            <a:ext cx="1222248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16776" y="2368296"/>
            <a:ext cx="2099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4" name="Picture 13" descr="1556166feb118f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8672" y="2427732"/>
            <a:ext cx="786384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465056" y="2368296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pic>
        <p:nvPicPr>
          <p:cNvPr id="16" name="Picture 15" descr="b09711952520d9c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287" y="3127248"/>
            <a:ext cx="1944623" cy="5608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724911" y="3179064"/>
            <a:ext cx="2785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but      </a:t>
            </a:r>
          </a:p>
        </p:txBody>
      </p:sp>
      <p:pic>
        <p:nvPicPr>
          <p:cNvPr id="18" name="Picture 17" descr="69eb437d43f9044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3624" y="3236976"/>
            <a:ext cx="1679448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053072" y="3179064"/>
            <a:ext cx="2785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and      </a:t>
            </a:r>
          </a:p>
        </p:txBody>
      </p:sp>
      <p:pic>
        <p:nvPicPr>
          <p:cNvPr id="20" name="Picture 19" descr="a57d7c8c14814cc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01784" y="3203448"/>
            <a:ext cx="1679448" cy="4084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7552" y="40264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 negative exponent means reciprocal. It never means a negative value.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4814316"/>
            <a:ext cx="47670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base keeps its own sign:  </a:t>
            </a:r>
          </a:p>
        </p:txBody>
      </p:sp>
      <p:pic>
        <p:nvPicPr>
          <p:cNvPr id="23" name="Picture 22" descr="de35ec2a93f452e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17464" y="4739639"/>
            <a:ext cx="3791712" cy="6065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laws still work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8da8c7406de94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3528" y="2340864"/>
            <a:ext cx="4474464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10052" y="3159252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or      </a:t>
            </a:r>
          </a:p>
        </p:txBody>
      </p:sp>
      <p:pic>
        <p:nvPicPr>
          <p:cNvPr id="12" name="Picture 11" descr="d704a80cfc434e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6836" y="3214116"/>
            <a:ext cx="4294632" cy="347472"/>
          </a:xfrm>
          <a:prstGeom prst="rect">
            <a:avLst/>
          </a:prstGeom>
        </p:spPr>
      </p:pic>
      <p:pic>
        <p:nvPicPr>
          <p:cNvPr id="13" name="Picture 12" descr="422af91a2bdf78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7116" y="3867912"/>
            <a:ext cx="3447288" cy="6217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2803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Add, subtract and multiply exponents exactly as before — the exponents are just integers now.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Negative exponents top and bottom.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6881682f42a0c6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1115" y="2103120"/>
            <a:ext cx="399288" cy="606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12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cdab3b408eff0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106424" cy="615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92424" y="1999487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each power swaps sides and loses the minus</a:t>
            </a:r>
          </a:p>
        </p:txBody>
      </p:sp>
      <p:pic>
        <p:nvPicPr>
          <p:cNvPr id="11" name="Picture 10" descr="eaa3f2ff650e40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10256"/>
            <a:ext cx="2529840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15840" y="288493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81/8 = 10.125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5d1f1a56c863e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823" y="2194560"/>
            <a:ext cx="499871" cy="76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5d1f1a56c863e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823" y="2194560"/>
            <a:ext cx="499871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66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swap sides, positive exponents: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453542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b159c0c0e4997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4480560"/>
            <a:ext cx="182880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quotient law crossing zero.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2b7195ac5d381c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1115" y="2103120"/>
            <a:ext cx="399288" cy="603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095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2a2089fe601026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55392" cy="603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41392" y="1993392"/>
            <a:ext cx="634288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quotient of powers: 0 − (−4) = 4</a:t>
            </a:r>
          </a:p>
        </p:txBody>
      </p:sp>
      <p:pic>
        <p:nvPicPr>
          <p:cNvPr id="11" name="Picture 10" descr="13fd534ad27a85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98064"/>
            <a:ext cx="2029968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15968" y="287121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zero exponent, then move 7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-4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up</a:t>
            </a:r>
          </a:p>
        </p:txBody>
      </p:sp>
      <p:pic>
        <p:nvPicPr>
          <p:cNvPr id="13" name="Picture 12" descr="21e65f32b13ec6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75888"/>
            <a:ext cx="1530096" cy="3444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16096" y="361950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2,401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af36c3e55cedc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94560"/>
            <a:ext cx="978408" cy="8808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af36c3e55cedc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94560"/>
            <a:ext cx="978408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954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−4 − (−6) = 2, so (−8)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2d36713d8b0595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5292" y="2194560"/>
            <a:ext cx="63093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2d36713d8b0595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5292" y="2103120"/>
            <a:ext cx="63093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 of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6048" y="474116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df17a659aa3058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88" y="4663440"/>
            <a:ext cx="329184" cy="70408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0056" y="2171700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pollen grain's mass is  </a:t>
            </a:r>
          </a:p>
        </p:txBody>
      </p:sp>
      <p:pic>
        <p:nvPicPr>
          <p:cNvPr id="10" name="Picture 9" descr="39778c7e430048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7512" y="2231136"/>
            <a:ext cx="530352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7864" y="2171700"/>
            <a:ext cx="22707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milligram.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Its width is 25 micrometers.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1983" y="3432379"/>
            <a:ext cx="3987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 </a:t>
            </a:r>
          </a:p>
        </p:txBody>
      </p:sp>
      <p:pic>
        <p:nvPicPr>
          <p:cNvPr id="14" name="Picture 13" descr="39778c7e430048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2624" y="3491815"/>
            <a:ext cx="530352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62976" y="3432379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0056" y="2080260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pollen grain's mass is  </a:t>
            </a:r>
          </a:p>
        </p:txBody>
      </p:sp>
      <p:pic>
        <p:nvPicPr>
          <p:cNvPr id="10" name="Picture 9" descr="39778c7e430048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7512" y="2139696"/>
            <a:ext cx="530352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7864" y="2080260"/>
            <a:ext cx="22707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milligram.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Its width is 25 micrometers.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1983" y="3340939"/>
            <a:ext cx="3987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 </a:t>
            </a:r>
          </a:p>
        </p:txBody>
      </p:sp>
      <p:pic>
        <p:nvPicPr>
          <p:cNvPr id="14" name="Picture 13" descr="39778c7e430048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2624" y="3400375"/>
            <a:ext cx="530352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62976" y="3340939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953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over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40808" y="488017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01c405a7ecee3a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1048" y="4826839"/>
            <a:ext cx="359664" cy="6553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36f2a054c76947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1" y="2194560"/>
            <a:ext cx="676656" cy="7040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36f2a054c76947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1" y="2103120"/>
            <a:ext cx="676656" cy="7040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8152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power moves up: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c242b51e1e2a08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94560"/>
            <a:ext cx="131978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c242b51e1e2a08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03120"/>
            <a:ext cx="131978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8950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over (−2)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 over −8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0704" y="47152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16582afbfccd27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0943" y="4663440"/>
            <a:ext cx="499871" cy="65227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2f69500044ec6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575" y="2194560"/>
            <a:ext cx="658368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2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2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80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80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39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2f69500044ec6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575" y="2103120"/>
            <a:ext cx="658368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453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30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1/25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30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66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66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2249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9e50adf1c83696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194560"/>
            <a:ext cx="139903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29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9e50adf1c83696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103120"/>
            <a:ext cx="139903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6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6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e37e6585587b73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94560"/>
            <a:ext cx="1411224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e37e6585587b73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03120"/>
            <a:ext cx="1411224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102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6fd352ebb6672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823" y="2194560"/>
            <a:ext cx="499871" cy="7741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with a positive exponent.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6fd352ebb6672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823" y="2103120"/>
            <a:ext cx="499871" cy="7741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15163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6048" y="474421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78fbe52152533a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88" y="4663440"/>
            <a:ext cx="329184" cy="71018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39136" y="2171700"/>
            <a:ext cx="4502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Ellen says the value of  </a:t>
            </a:r>
          </a:p>
        </p:txBody>
      </p:sp>
      <p:pic>
        <p:nvPicPr>
          <p:cNvPr id="10" name="Picture 9" descr="b9af177cb680bc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4888" y="2229612"/>
            <a:ext cx="52730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32191" y="2171700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 −25.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she is wrong, and show the correct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word reciprocal.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39136" y="2080260"/>
            <a:ext cx="4502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Ellen says the value of  </a:t>
            </a:r>
          </a:p>
        </p:txBody>
      </p:sp>
      <p:pic>
        <p:nvPicPr>
          <p:cNvPr id="10" name="Picture 9" descr="b9af177cb680bc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4888" y="2138171"/>
            <a:ext cx="52730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32191" y="2080260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 −25.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she is wrong, and show the correct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reciprocal, not opposite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Understanding negative exponents — YBB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with negative exponents — WGS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