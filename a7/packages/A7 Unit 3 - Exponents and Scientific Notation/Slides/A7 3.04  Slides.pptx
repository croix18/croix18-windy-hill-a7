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image" Target="../media/image4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Negative Exponent Law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power with a negative exponent using a positive exponent, and evaluate it.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 the exponents stopped at 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they keep going — and 5</a:t>
            </a:r>
            <a:r>
              <a:rPr sz="1700" b="1" i="0" baseline="30000">
                <a:solidFill>
                  <a:srgbClr val="1A1A1A"/>
                </a:solidFill>
                <a:latin typeface="Century Schoolbook"/>
              </a:rPr>
              <a:t>-2</a:t>
            </a:r>
            <a:r>
              <a:rPr sz="1700" b="1" i="0">
                <a:solidFill>
                  <a:srgbClr val="1A1A1A"/>
                </a:solidFill>
                <a:latin typeface="Century Schoolbook"/>
              </a:rPr>
              <a:t> is not a negative number.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2" name="Picture 11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17" name="Picture 16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19" name="Picture 18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886712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e6b67427858e96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783080"/>
            <a:ext cx="795528" cy="6644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40262" y="1760220"/>
            <a:ext cx="5657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625852"/>
            <a:ext cx="3255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Which is greater, </a:t>
            </a:r>
          </a:p>
        </p:txBody>
      </p:sp>
      <p:pic>
        <p:nvPicPr>
          <p:cNvPr id="13" name="Picture 12" descr="9a9a9137b9c7170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923" y="2650236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81771" y="2625852"/>
            <a:ext cx="1242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5.5?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5878" y="2625852"/>
            <a:ext cx="6518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5.5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38500"/>
            <a:ext cx="16520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86c14b3a9138d0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9368" y="3351276"/>
            <a:ext cx="1136904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074912" y="3238500"/>
            <a:ext cx="113025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−7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922776"/>
            <a:ext cx="43089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What is the reciprocal of </a:t>
            </a:r>
          </a:p>
        </p:txBody>
      </p:sp>
      <p:pic>
        <p:nvPicPr>
          <p:cNvPr id="20" name="Picture 19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6325" y="3874008"/>
            <a:ext cx="170688" cy="5547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217013" y="3922776"/>
            <a:ext cx="388038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  What is the opposite of </a:t>
            </a:r>
          </a:p>
        </p:txBody>
      </p:sp>
      <p:pic>
        <p:nvPicPr>
          <p:cNvPr id="22" name="Picture 21" descr="ef641fad4ba74c7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0242" y="3874008"/>
            <a:ext cx="170688" cy="55473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130930" y="3922776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4" name="Picture 23" descr="c947c2e93b2d33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06040" y="4474464"/>
            <a:ext cx="170688" cy="5547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76728" y="4523232"/>
            <a:ext cx="117358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 and  </a:t>
            </a:r>
          </a:p>
        </p:txBody>
      </p:sp>
      <p:pic>
        <p:nvPicPr>
          <p:cNvPr id="26" name="Picture 25" descr="a339c6c78254d98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3149" y="4474464"/>
            <a:ext cx="377952" cy="5547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keeps going past zero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77240" y="2340864"/>
          <a:ext cx="1060704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  <a:gridCol w="13258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1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8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800" b="0">
                          <a:solidFill>
                            <a:srgbClr val="1A1A1A"/>
                          </a:solidFill>
                          <a:latin typeface="Century Schoolbook"/>
                        </a:rPr>
                        <a:t>1/8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81375e471a1972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1960" y="3337560"/>
            <a:ext cx="1316736" cy="7345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918696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4" name="Picture 13" descr="e662eafaba09aa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0120" y="3337560"/>
            <a:ext cx="1969008" cy="7345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739128" y="3476244"/>
            <a:ext cx="9885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16" name="Picture 15" descr="97a68c5b0d6f07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551" y="3337560"/>
            <a:ext cx="1969008" cy="73456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The negative exponent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26dd1c4f0616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7725" y="2340864"/>
            <a:ext cx="1362456" cy="673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70181" y="2449068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2" name="Picture 11" descr="d3322f317e3cda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16173" y="2340864"/>
            <a:ext cx="1395984" cy="673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12157" y="2449068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4" name="Picture 13" descr="6a9975e145b437d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74679" y="2508504"/>
            <a:ext cx="789432" cy="3383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64111" y="2449068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6" name="Picture 15" descr="01a1e8399ce2f9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97114" y="3288792"/>
            <a:ext cx="2170176" cy="7406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667290" y="3430524"/>
            <a:ext cx="19223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but      </a:t>
            </a:r>
          </a:p>
        </p:txBody>
      </p:sp>
      <p:pic>
        <p:nvPicPr>
          <p:cNvPr id="18" name="Picture 17" descr="4d0780cba10826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2483" y="3488436"/>
            <a:ext cx="1682496" cy="34137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134979" y="3430524"/>
            <a:ext cx="19871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and      </a:t>
            </a:r>
          </a:p>
        </p:txBody>
      </p:sp>
      <p:pic>
        <p:nvPicPr>
          <p:cNvPr id="20" name="Picture 19" descr="06d6b57bc03862b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984957" y="3456432"/>
            <a:ext cx="1679448" cy="40538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87552" y="43677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 negative exponent means reciprocal. It never means a negative value.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5256275"/>
            <a:ext cx="44334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 base keeps its own sign:  </a:t>
            </a:r>
          </a:p>
        </p:txBody>
      </p:sp>
      <p:pic>
        <p:nvPicPr>
          <p:cNvPr id="23" name="Picture 22" descr="6487353c74996e1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3880" y="5081015"/>
            <a:ext cx="4267200" cy="8077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The laws still work with negative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f5217f7eb4021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5219" y="2340864"/>
            <a:ext cx="4831080" cy="7528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438293" y="3345180"/>
            <a:ext cx="11244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or      </a:t>
            </a:r>
          </a:p>
        </p:txBody>
      </p:sp>
      <p:pic>
        <p:nvPicPr>
          <p:cNvPr id="12" name="Picture 11" descr="9ad19008f4436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5546" y="3400044"/>
            <a:ext cx="4297680" cy="347472"/>
          </a:xfrm>
          <a:prstGeom prst="rect">
            <a:avLst/>
          </a:prstGeom>
        </p:spPr>
      </p:pic>
      <p:pic>
        <p:nvPicPr>
          <p:cNvPr id="13" name="Picture 12" descr="986b589c42d2856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9955" y="4053839"/>
            <a:ext cx="3721608" cy="8229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5215128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Add, subtract and multiply exponents exactly as before — the exponents are just integers now.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Negative exponents top and bottom.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55e053ce9247b8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2290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positive exponents,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86e883f301281d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380744" cy="8168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66744" y="210007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each power swaps sides and loses the minus</a:t>
            </a:r>
          </a:p>
        </p:txBody>
      </p:sp>
      <p:pic>
        <p:nvPicPr>
          <p:cNvPr id="11" name="Picture 10" descr="bdb5dbd5190fc4b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3011423"/>
            <a:ext cx="276453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50536" y="3185159"/>
            <a:ext cx="633374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81/8 = 10.125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04c00c9d3a9d24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10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395fcf61f0d867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94560"/>
            <a:ext cx="704088" cy="10149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5295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swap sides, positive exponents: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over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91100" y="464515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8b652a33b6da2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340" y="4480560"/>
            <a:ext cx="259080" cy="87782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quotient law crossing zero.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ffd0e25f89e0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5772" y="2103120"/>
            <a:ext cx="569976" cy="807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413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8b0ea9280595c6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29128" cy="804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15128" y="2093976"/>
            <a:ext cx="6169151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quotient of powers: 0 − (−4) = 4</a:t>
            </a:r>
          </a:p>
        </p:txBody>
      </p:sp>
      <p:pic>
        <p:nvPicPr>
          <p:cNvPr id="11" name="Picture 10" descr="a0522eb547e4ba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99232"/>
            <a:ext cx="2368296" cy="8046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54296" y="31729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zero exponent, then move 7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up</a:t>
            </a:r>
          </a:p>
        </p:txBody>
      </p:sp>
      <p:pic>
        <p:nvPicPr>
          <p:cNvPr id="13" name="Picture 12" descr="f5e46e308b616f8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78224"/>
            <a:ext cx="1530096" cy="34747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816096" y="4023360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828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2,401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3d867da8578334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2767" y="2194560"/>
            <a:ext cx="1395984" cy="118872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d647a6f29dfd2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291" y="2194560"/>
            <a:ext cx="1392936" cy="11856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70027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−4 − (−6) = 2, so (−8)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2d36713d8b0595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292" y="2194560"/>
            <a:ext cx="63093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45cde1f9722bf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243" y="2103120"/>
            <a:ext cx="637032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 of 8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5546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ae3379378f6437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32688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A sheet of paper 30 centimeters long is folded in half 7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0" i="0">
                <a:solidFill>
                  <a:srgbClr val="1A1A1A"/>
                </a:solidFill>
                <a:latin typeface="Century Schoolbook"/>
              </a:rPr>
              <a:t>Each fold makes the top layer half as big.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95271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What fraction of the whole sheet is the top layer after 7 folds?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01262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halved 7 times: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8116" y="489959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4" name="Picture 13" descr="b025bbe2352d11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8356" y="4744145"/>
            <a:ext cx="765048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229e5926a19b9fe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9176" y="2194560"/>
            <a:ext cx="963167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8f039f30161276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9" y="2103120"/>
            <a:ext cx="960120" cy="9326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3101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power moves up: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42b51e1e2a08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0867" y="2194560"/>
            <a:ext cx="131978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79a5e9e1457730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7820" y="2103120"/>
            <a:ext cx="1325880" cy="5151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2552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 over (−2)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 over −8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32603" y="4818888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ec4ffcbfe2b298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52844" y="4663440"/>
            <a:ext cx="576072" cy="859536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2f69500044ec6e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1575" y="2194560"/>
            <a:ext cx="658368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222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809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393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0b09890174e136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052" y="2103120"/>
            <a:ext cx="661416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value?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1/10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B.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1/25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−10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B — 1/25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9e50adf1c83696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9456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529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92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504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108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c950f888df2a10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1244" y="2103120"/>
            <a:ext cx="1399032" cy="4297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6148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78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36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D.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6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94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D — 6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e37e6585587b73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94560"/>
            <a:ext cx="1411224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3a37a698b11c2b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5148" y="2103120"/>
            <a:ext cx="1411224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d5e2dc9bfa32df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5667" y="2194560"/>
            <a:ext cx="710184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 with a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4d44fa8d60938d7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28716" y="2103120"/>
            <a:ext cx="704088" cy="10271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40461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9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7468" y="4860036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17cb56101b516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708" y="4663440"/>
            <a:ext cx="466344" cy="94183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1600" y="217170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b9af177cb680bc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327" y="2229612"/>
            <a:ext cx="527304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6631" y="217170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Use the word reciprocal.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50076" y="2080260"/>
            <a:ext cx="40348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Ellen says the value of  </a:t>
            </a:r>
          </a:p>
        </p:txBody>
      </p:sp>
      <p:pic>
        <p:nvPicPr>
          <p:cNvPr id="10" name="Picture 9" descr="04a54a40cd0eb4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7803" y="2138171"/>
            <a:ext cx="530352" cy="3413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78155" y="2080260"/>
            <a:ext cx="15704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is  −25.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Explain why she is wrong, and show the correct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reciprocal, not opposite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1/5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1/25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4 — Negative Exponent Law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Understanding negative exponents — YBB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with negative exponents — WGS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