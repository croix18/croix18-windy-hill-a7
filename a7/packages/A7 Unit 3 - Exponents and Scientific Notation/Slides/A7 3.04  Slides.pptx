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Negative Exponent Law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rewrite a power with a negative exponent using a positive exponent, and evaluate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exponents stopped at 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they keep going — and 5</a:t>
            </a:r>
            <a:r>
              <a:rPr sz="1700" b="1" i="0" baseline="30000">
                <a:solidFill>
                  <a:srgbClr val="1A1A1A"/>
                </a:solidFill>
                <a:latin typeface="Century Schoolbook"/>
              </a:rPr>
              <a:t>-2</a:t>
            </a:r>
            <a:r>
              <a:rPr sz="1700" b="1" i="0">
                <a:solidFill>
                  <a:srgbClr val="1A1A1A"/>
                </a:solidFill>
                <a:latin typeface="Century Schoolbook"/>
              </a:rPr>
              <a:t> is not a negative number.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8671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e6b67427858e96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783080"/>
            <a:ext cx="795528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25852"/>
            <a:ext cx="32555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Which is greater, </a:t>
            </a:r>
          </a:p>
        </p:txBody>
      </p:sp>
      <p:pic>
        <p:nvPicPr>
          <p:cNvPr id="12" name="Picture 11" descr="9a9a9137b9c717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923" y="2650236"/>
            <a:ext cx="688848" cy="4084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81771" y="2625852"/>
            <a:ext cx="1242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5.5?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23850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5" name="Picture 14" descr="86c14b3a9138d0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351276"/>
            <a:ext cx="1136904" cy="231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922776"/>
            <a:ext cx="43089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</a:t>
            </a:r>
          </a:p>
        </p:txBody>
      </p:sp>
      <p:pic>
        <p:nvPicPr>
          <p:cNvPr id="17" name="Picture 16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325" y="3874008"/>
            <a:ext cx="170688" cy="5547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17013" y="3922776"/>
            <a:ext cx="38803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  What is the opposite of </a:t>
            </a:r>
          </a:p>
        </p:txBody>
      </p:sp>
      <p:pic>
        <p:nvPicPr>
          <p:cNvPr id="19" name="Picture 18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0242" y="3874008"/>
            <a:ext cx="170688" cy="5547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130930" y="3922776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86712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e6b67427858e96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783080"/>
            <a:ext cx="795528" cy="664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40262" y="1760220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625852"/>
            <a:ext cx="32555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Which is greater, </a:t>
            </a:r>
          </a:p>
        </p:txBody>
      </p:sp>
      <p:pic>
        <p:nvPicPr>
          <p:cNvPr id="13" name="Picture 12" descr="9a9a9137b9c717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923" y="2650236"/>
            <a:ext cx="688848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81771" y="2625852"/>
            <a:ext cx="1242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5.5?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5878" y="2625852"/>
            <a:ext cx="6518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238500"/>
            <a:ext cx="16520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Solve  </a:t>
            </a:r>
          </a:p>
        </p:txBody>
      </p:sp>
      <p:pic>
        <p:nvPicPr>
          <p:cNvPr id="17" name="Picture 16" descr="86c14b3a9138d0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368" y="3351276"/>
            <a:ext cx="1136904" cy="2316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74912" y="3238500"/>
            <a:ext cx="113025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x = −7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922776"/>
            <a:ext cx="43089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What is the reciprocal of </a:t>
            </a:r>
          </a:p>
        </p:txBody>
      </p:sp>
      <p:pic>
        <p:nvPicPr>
          <p:cNvPr id="20" name="Picture 19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325" y="3874008"/>
            <a:ext cx="170688" cy="5547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17013" y="3922776"/>
            <a:ext cx="38803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  What is the opposite of </a:t>
            </a:r>
          </a:p>
        </p:txBody>
      </p:sp>
      <p:pic>
        <p:nvPicPr>
          <p:cNvPr id="22" name="Picture 21" descr="ef641fad4ba74c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0242" y="3874008"/>
            <a:ext cx="170688" cy="5547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130930" y="3922776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pic>
        <p:nvPicPr>
          <p:cNvPr id="24" name="Picture 23" descr="c947c2e93b2d33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6040" y="4474464"/>
            <a:ext cx="170688" cy="5547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776728" y="4523232"/>
            <a:ext cx="11735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  and  </a:t>
            </a:r>
          </a:p>
        </p:txBody>
      </p:sp>
      <p:pic>
        <p:nvPicPr>
          <p:cNvPr id="26" name="Picture 25" descr="a339c6c78254d98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3149" y="4474464"/>
            <a:ext cx="377952" cy="5547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pattern keeps going past zero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2340864"/>
          <a:ext cx="1060704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8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1A1A1A"/>
                          </a:solidFill>
                          <a:latin typeface="Century Schoolbook"/>
                        </a:rPr>
                        <a:t>1/8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2" name="Picture 11" descr="ebe12bfa89ed6e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292" y="3337560"/>
            <a:ext cx="1325880" cy="734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17172" y="3476244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14" name="Picture 13" descr="493072ca0d3f98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596" y="3337560"/>
            <a:ext cx="1975104" cy="7345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43700" y="3476244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16" name="Picture 15" descr="afb28c8af5b1a3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5123" y="3337560"/>
            <a:ext cx="1975104" cy="7345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The negative exponent law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e2ab36ea2231b3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201" y="2340864"/>
            <a:ext cx="1368552" cy="673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74753" y="2449068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9e89c251bf9b33b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745" y="2340864"/>
            <a:ext cx="1395984" cy="673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16729" y="2449068"/>
            <a:ext cx="1299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(</a:t>
            </a:r>
          </a:p>
        </p:txBody>
      </p:sp>
      <p:pic>
        <p:nvPicPr>
          <p:cNvPr id="14" name="Picture 13" descr="1556166feb118f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251" y="2508504"/>
            <a:ext cx="786384" cy="3383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65635" y="2449068"/>
            <a:ext cx="326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pic>
        <p:nvPicPr>
          <p:cNvPr id="16" name="Picture 15" descr="fb699f75871fd57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5590" y="3288792"/>
            <a:ext cx="2176272" cy="7406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71862" y="3430524"/>
            <a:ext cx="19223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but      </a:t>
            </a:r>
          </a:p>
        </p:txBody>
      </p:sp>
      <p:pic>
        <p:nvPicPr>
          <p:cNvPr id="18" name="Picture 17" descr="69eb437d43f904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055" y="3488436"/>
            <a:ext cx="1679448" cy="3413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36503" y="3430524"/>
            <a:ext cx="19871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and      </a:t>
            </a:r>
          </a:p>
        </p:txBody>
      </p:sp>
      <p:pic>
        <p:nvPicPr>
          <p:cNvPr id="20" name="Picture 19" descr="a57d7c8c14814c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6481" y="3454908"/>
            <a:ext cx="1679448" cy="4084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7552" y="436778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 negative exponent means reciprocal. It never means a negative value.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5256275"/>
            <a:ext cx="44334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 base keeps its own sign:  </a:t>
            </a:r>
          </a:p>
        </p:txBody>
      </p:sp>
      <p:pic>
        <p:nvPicPr>
          <p:cNvPr id="23" name="Picture 22" descr="46b34ca9835aed6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3880" y="5081015"/>
            <a:ext cx="4273296" cy="807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The laws still work with negative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4f09efff4c80a1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340864"/>
            <a:ext cx="4828032" cy="7528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39817" y="3345180"/>
            <a:ext cx="11244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or      </a:t>
            </a:r>
          </a:p>
        </p:txBody>
      </p:sp>
      <p:pic>
        <p:nvPicPr>
          <p:cNvPr id="12" name="Picture 11" descr="d704a80cfc434e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070" y="3400044"/>
            <a:ext cx="4294632" cy="347472"/>
          </a:xfrm>
          <a:prstGeom prst="rect">
            <a:avLst/>
          </a:prstGeom>
        </p:spPr>
      </p:pic>
      <p:pic>
        <p:nvPicPr>
          <p:cNvPr id="13" name="Picture 12" descr="8268a601a87020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908" y="4053839"/>
            <a:ext cx="3727704" cy="8290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5221223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Add, subtract and multiply exponents exactly as before — the exponents are just integers now.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Negative exponents top and bottom.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55e053ce9247b8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772" y="2103120"/>
            <a:ext cx="569976" cy="8168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2290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with positive exponents, then find the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e0f8be0c80089b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386840" cy="8260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72840" y="2104644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each power swaps sides and loses the minus</a:t>
            </a:r>
          </a:p>
        </p:txBody>
      </p:sp>
      <p:pic>
        <p:nvPicPr>
          <p:cNvPr id="11" name="Picture 10" descr="0a8461b7034c50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20568"/>
            <a:ext cx="2761488" cy="8107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47488" y="3197352"/>
            <a:ext cx="633679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evaluate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81/8 = 10.125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04c00c9d3a9d24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67" y="2194560"/>
            <a:ext cx="710184" cy="1021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04c00c9d3a9d24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67" y="2194560"/>
            <a:ext cx="710184" cy="1021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53568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swap sides, positive exponents: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1100" y="464515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8b652a33b6da2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4480560"/>
            <a:ext cx="259080" cy="8778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quotient law crossing zero.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4ffd0e25f89e0e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772" y="2103120"/>
            <a:ext cx="569976" cy="807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13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 both ways.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cdf1ba36d2f10a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26080" cy="807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2080" y="2095500"/>
            <a:ext cx="617219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quotient of powers: 0 − (−4) = 4</a:t>
            </a:r>
          </a:p>
        </p:txBody>
      </p:sp>
      <p:pic>
        <p:nvPicPr>
          <p:cNvPr id="11" name="Picture 10" descr="1a38ee3eb12962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002280"/>
            <a:ext cx="2368296" cy="807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54296" y="3177539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zero exponent, then move 7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-4</a:t>
            </a:r>
            <a:r>
              <a:rPr sz="2100" b="0" i="1">
                <a:solidFill>
                  <a:srgbClr val="6B6B6B"/>
                </a:solidFill>
                <a:latin typeface="Century Schoolbook"/>
              </a:rPr>
              <a:t> up</a:t>
            </a:r>
          </a:p>
        </p:txBody>
      </p:sp>
      <p:pic>
        <p:nvPicPr>
          <p:cNvPr id="13" name="Picture 12" descr="21e65f32b13ec6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84319"/>
            <a:ext cx="1530096" cy="3444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16096" y="4027931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8594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2,401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3d867da8578334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767" y="2194560"/>
            <a:ext cx="1395984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3d867da8578334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767" y="2194560"/>
            <a:ext cx="1395984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7033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−4 − (−6) = 2, so (−8)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2d36713d8b0595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292" y="2194560"/>
            <a:ext cx="63093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2d36713d8b0595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292" y="2103120"/>
            <a:ext cx="63093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416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reciprocal of 8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7468" y="485546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ae3379378f6437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4663440"/>
            <a:ext cx="466344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6116" y="2171700"/>
            <a:ext cx="4236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pollen grain's mass is  </a:t>
            </a:r>
          </a:p>
        </p:txBody>
      </p:sp>
      <p:pic>
        <p:nvPicPr>
          <p:cNvPr id="10" name="Picture 9" descr="c9adefc290aa5b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879" y="2234184"/>
            <a:ext cx="521207" cy="332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27087" y="2171700"/>
            <a:ext cx="22654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microgram.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Its width is 25 micrometers.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3866" y="3432379"/>
            <a:ext cx="36439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 </a:t>
            </a:r>
          </a:p>
        </p:txBody>
      </p:sp>
      <p:pic>
        <p:nvPicPr>
          <p:cNvPr id="14" name="Picture 13" descr="c9adefc290aa5b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617" y="3494863"/>
            <a:ext cx="521207" cy="33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31825" y="3432379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6116" y="2080260"/>
            <a:ext cx="4236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pollen grain's mass is  </a:t>
            </a:r>
          </a:p>
        </p:txBody>
      </p:sp>
      <p:pic>
        <p:nvPicPr>
          <p:cNvPr id="10" name="Picture 9" descr="c9adefc290aa5b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879" y="2142744"/>
            <a:ext cx="521207" cy="332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27087" y="2080260"/>
            <a:ext cx="22654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microgram.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Its width is 25 micrometers.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3866" y="3340939"/>
            <a:ext cx="36439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 </a:t>
            </a:r>
          </a:p>
        </p:txBody>
      </p:sp>
      <p:pic>
        <p:nvPicPr>
          <p:cNvPr id="14" name="Picture 13" descr="c9adefc290aa5b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617" y="3403423"/>
            <a:ext cx="521207" cy="332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31825" y="3340939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953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 over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8116" y="4982287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8" name="Picture 17" descr="b025bbe2352d11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356" y="4826839"/>
            <a:ext cx="765048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229e5926a19b9f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176" y="2194560"/>
            <a:ext cx="963167" cy="932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exponent, then find the value.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229e5926a19b9f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176" y="2103120"/>
            <a:ext cx="963167" cy="932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31012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power moves up: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c242b51e1e2a08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867" y="2194560"/>
            <a:ext cx="131978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c242b51e1e2a08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867" y="2103120"/>
            <a:ext cx="131978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89503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 over (−2)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1 over −8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2603" y="481888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ec4ffcbfe2b298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844" y="4663440"/>
            <a:ext cx="576072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2f69500044ec6e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575" y="2194560"/>
            <a:ext cx="658368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5597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22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222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80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809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393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2f69500044ec6e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575" y="2103120"/>
            <a:ext cx="658368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453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308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1/25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308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66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66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22495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1/25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9e50adf1c83696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2194560"/>
            <a:ext cx="1399032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529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19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050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088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9e50adf1c83696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244" y="2103120"/>
            <a:ext cx="1399032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6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36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6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e37e6585587b73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148" y="2194560"/>
            <a:ext cx="1411224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e37e6585587b73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148" y="2103120"/>
            <a:ext cx="1411224" cy="432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1025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d5e2dc9bfa32df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67" y="2194560"/>
            <a:ext cx="710184" cy="1027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 with a positive exponent.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d5e2dc9bfa32df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667" y="2103120"/>
            <a:ext cx="710184" cy="10271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40461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9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7468" y="486003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f17cb56101b516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08" y="4663440"/>
            <a:ext cx="466344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1600" y="2171700"/>
            <a:ext cx="40348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Ellen says the value of  </a:t>
            </a:r>
          </a:p>
        </p:txBody>
      </p:sp>
      <p:pic>
        <p:nvPicPr>
          <p:cNvPr id="10" name="Picture 9" descr="b9af177cb680bc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327" y="2229612"/>
            <a:ext cx="527304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76631" y="2171700"/>
            <a:ext cx="15704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 −25.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she is wrong, and show the correct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Use the word reciprocal.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1600" y="2080260"/>
            <a:ext cx="40348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Ellen says the value of  </a:t>
            </a:r>
          </a:p>
        </p:txBody>
      </p:sp>
      <p:pic>
        <p:nvPicPr>
          <p:cNvPr id="10" name="Picture 9" descr="b9af177cb680bc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327" y="2138171"/>
            <a:ext cx="527304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76631" y="2080260"/>
            <a:ext cx="15704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 −25.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she is wrong, and show the correct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095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reciprocal, not opposite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1/5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1/25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4 — Negative Exponent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Understanding negative exponents — YBB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powers with negative exponents — WGS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