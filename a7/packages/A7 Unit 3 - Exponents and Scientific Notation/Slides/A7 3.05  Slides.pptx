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image" Target="../media/image2.png"/><Relationship Id="rId5" Type="http://schemas.openxmlformats.org/officeDocument/2006/relationships/image" Target="../media/image7.png"/><Relationship Id="rId6" Type="http://schemas.openxmlformats.org/officeDocument/2006/relationships/image" Target="../media/image3.png"/><Relationship Id="rId7" Type="http://schemas.openxmlformats.org/officeDocument/2006/relationships/image" Target="../media/image4.png"/><Relationship Id="rId8" Type="http://schemas.openxmlformats.org/officeDocument/2006/relationships/image" Target="../media/image8.png"/><Relationship Id="rId9" Type="http://schemas.openxmlformats.org/officeDocument/2006/relationships/image" Target="../media/image5.png"/><Relationship Id="rId10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Relationship Id="rId3" Type="http://schemas.openxmlformats.org/officeDocument/2006/relationships/image" Target="../media/image2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Relationship Id="rId3" Type="http://schemas.openxmlformats.org/officeDocument/2006/relationships/image" Target="../media/image2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3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Relationship Id="rId3" Type="http://schemas.openxmlformats.org/officeDocument/2006/relationships/image" Target="../media/image3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Relationship Id="rId3" Type="http://schemas.openxmlformats.org/officeDocument/2006/relationships/image" Target="../media/image39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3" Type="http://schemas.openxmlformats.org/officeDocument/2006/relationships/image" Target="../media/image4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3  ·  LESSON 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Applying Exponent Laws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rewrite a rational base with a negative exponent using a positive exponent, and apply several laws to generate an equivalent expression.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Yesterday: a negative exponent means reciprocal.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the base is a fraction — so the reciprocal flips it.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2" name="Picture 11" descr="82be0161615a5d7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4" name="Picture 13" descr="5fa67493f2d0b1a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6" name="Picture 15" descr="cd79bb74d01bc94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19" name="Picture 18" descr="e5446a4e89f9a3af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305873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Find the value:  </a:t>
            </a:r>
          </a:p>
        </p:txBody>
      </p:sp>
      <p:pic>
        <p:nvPicPr>
          <p:cNvPr id="10" name="Picture 9" descr="1538ef9a323bca4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6094" y="1851660"/>
            <a:ext cx="417576" cy="274320"/>
          </a:xfrm>
          <a:prstGeom prst="rect">
            <a:avLst/>
          </a:prstGeom>
        </p:spPr>
      </p:pic>
      <p:pic>
        <p:nvPicPr>
          <p:cNvPr id="11" name="Picture 10" descr="0f45754c59884ba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310" y="1783080"/>
            <a:ext cx="170688" cy="5547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874519" y="2468880"/>
            <a:ext cx="567719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Rewrite with a positive exponent:  </a:t>
            </a:r>
          </a:p>
        </p:txBody>
      </p:sp>
      <p:pic>
        <p:nvPicPr>
          <p:cNvPr id="13" name="Picture 12" descr="82be0161615a5d7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14558" y="2395728"/>
            <a:ext cx="463296" cy="603504"/>
          </a:xfrm>
          <a:prstGeom prst="rect">
            <a:avLst/>
          </a:prstGeom>
        </p:spPr>
      </p:pic>
      <p:pic>
        <p:nvPicPr>
          <p:cNvPr id="14" name="Picture 13" descr="b031d4b8beeb841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26494" y="2462784"/>
            <a:ext cx="271272" cy="277368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874519" y="3177540"/>
            <a:ext cx="306557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Which is larger, </a:t>
            </a:r>
          </a:p>
        </p:txBody>
      </p:sp>
      <p:pic>
        <p:nvPicPr>
          <p:cNvPr id="16" name="Picture 15" descr="5fa67493f2d0b1a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02930" y="3268980"/>
            <a:ext cx="265176" cy="27432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5068106" y="3177540"/>
            <a:ext cx="674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or </a:t>
            </a:r>
          </a:p>
        </p:txBody>
      </p:sp>
      <p:pic>
        <p:nvPicPr>
          <p:cNvPr id="18" name="Picture 17" descr="cd79bb74d01bc946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05697" y="3264408"/>
            <a:ext cx="265176" cy="283464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870873" y="3177540"/>
            <a:ext cx="34777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?</a:t>
            </a:r>
          </a:p>
        </p:txBody>
      </p:sp>
      <p:pic>
        <p:nvPicPr>
          <p:cNvPr id="20" name="Picture 19" descr="0663332b63521a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30125" y="3264408"/>
            <a:ext cx="265176" cy="283464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6895301" y="3177540"/>
            <a:ext cx="161635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 (81 &gt; 64)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863340"/>
            <a:ext cx="4084107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Write the reciprocal of  </a:t>
            </a:r>
          </a:p>
        </p:txBody>
      </p:sp>
      <p:pic>
        <p:nvPicPr>
          <p:cNvPr id="23" name="Picture 22" descr="e5446a4e89f9a3af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821467" y="3813048"/>
            <a:ext cx="377952" cy="557784"/>
          </a:xfrm>
          <a:prstGeom prst="rect">
            <a:avLst/>
          </a:prstGeom>
        </p:spPr>
      </p:pic>
      <p:pic>
        <p:nvPicPr>
          <p:cNvPr id="24" name="Picture 23" descr="84c4e18228051985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48059" y="3813048"/>
            <a:ext cx="377952" cy="55778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The pattern with a fraction base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2651760" y="2340864"/>
          <a:ext cx="6858000" cy="230428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377440"/>
                <a:gridCol w="237744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Expression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Expanded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1">
                          <a:solidFill>
                            <a:srgbClr val="1A1A1A"/>
                          </a:solidFill>
                          <a:latin typeface="Century Schoolbook"/>
                        </a:rPr>
                        <a:t>Value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 · 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4/25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2/5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(2/5)</a:t>
                      </a:r>
                      <a:r>
                        <a:rPr sz="1700" b="0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-2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5/2 · 5/2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700" b="0">
                          <a:solidFill>
                            <a:srgbClr val="1A1A1A"/>
                          </a:solidFill>
                          <a:latin typeface="Century Schoolbook"/>
                        </a:rPr>
                        <a:t>25/4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Flip the base, make the exponent positive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50f758fe051adf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1785" y="2340864"/>
            <a:ext cx="2136648" cy="69494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898433" y="2459736"/>
            <a:ext cx="129968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(</a:t>
            </a:r>
          </a:p>
        </p:txBody>
      </p:sp>
      <p:pic>
        <p:nvPicPr>
          <p:cNvPr id="12" name="Picture 11" descr="9a4d83fc761d14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0955" y="2517648"/>
            <a:ext cx="1149096" cy="34137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10051" y="2459736"/>
            <a:ext cx="32684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)</a:t>
            </a:r>
          </a:p>
        </p:txBody>
      </p:sp>
      <p:pic>
        <p:nvPicPr>
          <p:cNvPr id="14" name="Picture 13" descr="fdfb3bffd237f41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30160" y="3310128"/>
            <a:ext cx="3075432" cy="69189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705592" y="3427476"/>
            <a:ext cx="11831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        </a:t>
            </a:r>
          </a:p>
        </p:txBody>
      </p:sp>
      <p:pic>
        <p:nvPicPr>
          <p:cNvPr id="16" name="Picture 15" descr="a048de6488523f6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51583" y="3316224"/>
            <a:ext cx="2779776" cy="679704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987552" y="4340352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The sign stays with the fraction. Flip the numbers, not the sign.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5163312"/>
            <a:ext cx="554536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 whole number is a fraction over 1:  </a:t>
            </a:r>
          </a:p>
        </p:txBody>
      </p:sp>
      <p:pic>
        <p:nvPicPr>
          <p:cNvPr id="19" name="Picture 18" descr="2071a168bc27be10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395757" y="5053584"/>
            <a:ext cx="3224784" cy="67665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Several laws at once — the plan is still yours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db66c38b65bd577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5688" y="2340864"/>
            <a:ext cx="8010144" cy="81686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87552" y="3496055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Any correct order of laws gives the same value. Finish with a positive exponent.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Flip, then evaluate.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9ed1bed15013a3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1347" y="2103120"/>
            <a:ext cx="1258824" cy="67665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8269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Rewrite with a positive exponent, then find the value.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7b2b3d6125a7d80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2791968" cy="685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077967" y="2034540"/>
            <a:ext cx="6306312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flip the base; the sign stays</a:t>
            </a:r>
          </a:p>
        </p:txBody>
      </p:sp>
      <p:pic>
        <p:nvPicPr>
          <p:cNvPr id="11" name="Picture 10" descr="e24c31941ca2fec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0360"/>
            <a:ext cx="1895856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181856" y="3000756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even power: positive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64/49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a7f1f688f77ec6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8948" y="2194560"/>
            <a:ext cx="1563624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(−2/5)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— odd power, negative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8095" y="464210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acffea294d4313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8335" y="4480560"/>
            <a:ext cx="1085088" cy="87172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Two laws, then a flip.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b8ecac4debf0867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6820" y="2103120"/>
            <a:ext cx="208788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7936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Write an equivalent expression with one base and a positive exponent.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db559d4d2a359eb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227320" cy="69189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513320" y="2037588"/>
            <a:ext cx="387095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product of powers</a:t>
            </a:r>
          </a:p>
        </p:txBody>
      </p:sp>
      <p:pic>
        <p:nvPicPr>
          <p:cNvPr id="11" name="Picture 10" descr="49a689f73e6d36b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886456"/>
            <a:ext cx="1621536" cy="697992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07536" y="3006852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already positive: no flip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25/64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a7f97d6945899ed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5968" y="2194560"/>
            <a:ext cx="3529584" cy="8625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37718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exponent −10, then flip: (−4/5)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64735" y="463753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269d301dd5e8af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4976" y="4480560"/>
            <a:ext cx="1511808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003" y="2304288"/>
            <a:ext cx="53707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b43afb9c608d06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24" y="2194560"/>
            <a:ext cx="981455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03080" y="230428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72041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432454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917086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003" y="2212848"/>
            <a:ext cx="537078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recipe is scaled by a factor of  </a:t>
            </a:r>
          </a:p>
        </p:txBody>
      </p:sp>
      <p:pic>
        <p:nvPicPr>
          <p:cNvPr id="10" name="Picture 9" descr="b43afb9c608d068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1624" y="2103120"/>
            <a:ext cx="981455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103080" y="2212848"/>
            <a:ext cx="3075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54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The original recipe serves 6 people.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62897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Rewrite the factor with a positive exponent.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4249574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base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29912" y="5133494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6" name="Picture 15" descr="319963a3efbf85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0152" y="4981094"/>
            <a:ext cx="981455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9456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pic>
        <p:nvPicPr>
          <p:cNvPr id="9" name="Picture 8" descr="23a87bc643d7e5a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92852" y="2103120"/>
            <a:ext cx="1575816" cy="868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612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 the numbers; the sign stays in the fraction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54651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837676bd53bd7eb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4891" y="4663440"/>
            <a:ext cx="1331976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9456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c08fd56f1b4e345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88280" y="2103120"/>
            <a:ext cx="158496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491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(−9/8)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81/64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3459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3148abf2051aaac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9456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with a positive exponent.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c2285e954aff8d6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7715" y="2103120"/>
            <a:ext cx="146608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0880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flip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9516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2c7971114380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9756" y="4663440"/>
            <a:ext cx="1222248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9456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76599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429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2871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34559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fb95563de51335d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01996" y="2103120"/>
            <a:ext cx="1557528" cy="8534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185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(−8/7)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514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(8/7)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(−7/8)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37279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(7/8)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4311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(−8/7)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3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9456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94888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9612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64700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65284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e9242358ed1b2b8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9620" y="2103120"/>
            <a:ext cx="3002280" cy="8717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20344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expression is equivalent?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(5/8)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8697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(8/5)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-6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55556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(5/8)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56140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(5/8)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2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9456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Find the value.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983316d8a340e39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2980" y="2103120"/>
            <a:ext cx="2575560" cy="87782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55263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·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1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(5/2)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64607" y="4820412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c37c2f03a9ba864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84848" y="4663440"/>
            <a:ext cx="512064" cy="862584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9456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Write it with one base and one positive exponent.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18abdc6135bde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6656" y="2103120"/>
            <a:ext cx="3188208" cy="85648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323392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(2/3)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inside, then power of a power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2960" y="4815840"/>
            <a:ext cx="1920240" cy="5486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3200" b="1" i="0">
                <a:solidFill>
                  <a:srgbClr val="9E1B32"/>
                </a:solidFill>
                <a:latin typeface="Century Schoolbook"/>
              </a:rPr>
              <a:t>Answer:</a:t>
            </a:r>
          </a:p>
        </p:txBody>
      </p:sp>
      <p:pic>
        <p:nvPicPr>
          <p:cNvPr id="12" name="Picture 11" descr="2e17728107926c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199" y="4663440"/>
            <a:ext cx="975360" cy="85344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30428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9456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30428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9456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145535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Say what the negative exponent does, and what it does not do. Give the correct rewrite.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53551" y="2212848"/>
            <a:ext cx="220216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Marco says  </a:t>
            </a:r>
          </a:p>
        </p:txBody>
      </p:sp>
      <p:pic>
        <p:nvPicPr>
          <p:cNvPr id="10" name="Picture 9" descr="bcbcbf803cfe7ec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8553" y="2103120"/>
            <a:ext cx="1246632" cy="67665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565185" y="2212848"/>
            <a:ext cx="3705751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no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can be rewritten as  </a:t>
            </a:r>
          </a:p>
        </p:txBody>
      </p:sp>
      <p:pic>
        <p:nvPicPr>
          <p:cNvPr id="12" name="Picture 11" descr="9b43b28c9551277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33776" y="2103120"/>
            <a:ext cx="774192" cy="67665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77240" y="3054096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because 'two negatives make a positive.'  Is he right?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74695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the exponent flips the fraction; it never touches the sign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No — (−2/3)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-5</a:t>
            </a:r>
            <a:r>
              <a:rPr sz="3200" b="1" i="0">
                <a:solidFill>
                  <a:srgbClr val="9E1B32"/>
                </a:solidFill>
                <a:latin typeface="Century Schoolbook"/>
              </a:rPr>
              <a:t> = (−3/2)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3 · Lesson 5 — Applying Exponent Laws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Identify equivalent expressions involving exponents I — VLM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