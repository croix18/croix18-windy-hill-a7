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THREAD A · DAY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Negative Exponents with Variable Bases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MA.8.AR.1.1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rewrite an algebraic expression with negative exponents using only positive exponents, and apply several laws of exponents to a monomial expression.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every exponent on a letter was positive.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x</a:t>
            </a:r>
            <a:r>
              <a:rPr sz="1700" b="1" i="0" baseline="30000">
                <a:solidFill>
                  <a:srgbClr val="1A1A1A"/>
                </a:solidFill>
                <a:latin typeface="Century Schoolbook"/>
              </a:rPr>
              <a:t>-3</a:t>
            </a:r>
            <a:r>
              <a:rPr sz="1700" b="1" i="0">
                <a:solidFill>
                  <a:srgbClr val="1A1A1A"/>
                </a:solidFill>
                <a:latin typeface="Century Schoolbook"/>
              </a:rPr>
              <a:t> arrives — and it is not a negative number.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48746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as a single monomial:  </a:t>
            </a:r>
          </a:p>
        </p:txBody>
      </p:sp>
      <p:pic>
        <p:nvPicPr>
          <p:cNvPr id="10" name="Picture 9" descr="c0ecde76b6542c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992" y="1821180"/>
            <a:ext cx="771144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37286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2" name="Picture 11" descr="baf21e0fadb8b9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2461260"/>
            <a:ext cx="426720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2985516"/>
            <a:ext cx="33416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Which is greater,  </a:t>
            </a:r>
          </a:p>
        </p:txBody>
      </p:sp>
      <p:pic>
        <p:nvPicPr>
          <p:cNvPr id="14" name="Picture 13" descr="57c771350ef6ea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006" y="3009900"/>
            <a:ext cx="688848" cy="4084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67854" y="2985516"/>
            <a:ext cx="11565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or  9?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668268"/>
            <a:ext cx="4395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What is the reciprocal of  </a:t>
            </a:r>
          </a:p>
        </p:txBody>
      </p:sp>
      <p:pic>
        <p:nvPicPr>
          <p:cNvPr id="17" name="Picture 16" descr="e8022fa09c25c0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2408" y="3621024"/>
            <a:ext cx="170688" cy="5516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03096" y="3668268"/>
            <a:ext cx="4338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48746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as a single monomial:  </a:t>
            </a:r>
          </a:p>
        </p:txBody>
      </p:sp>
      <p:pic>
        <p:nvPicPr>
          <p:cNvPr id="10" name="Picture 9" descr="c0ecde76b6542c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992" y="1821180"/>
            <a:ext cx="771144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31776" y="1760220"/>
            <a:ext cx="8417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27x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37286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3" name="Picture 12" descr="baf21e0fadb8b9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2461260"/>
            <a:ext cx="426720" cy="2804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77659" y="2372868"/>
            <a:ext cx="8296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1/25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985516"/>
            <a:ext cx="33416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Which is greater,  </a:t>
            </a:r>
          </a:p>
        </p:txBody>
      </p:sp>
      <p:pic>
        <p:nvPicPr>
          <p:cNvPr id="16" name="Picture 15" descr="57c771350ef6ea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006" y="3009900"/>
            <a:ext cx="688848" cy="4084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67854" y="2985516"/>
            <a:ext cx="11565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or  9?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5878" y="2985516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668268"/>
            <a:ext cx="4395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What is the reciprocal of  </a:t>
            </a:r>
          </a:p>
        </p:txBody>
      </p:sp>
      <p:pic>
        <p:nvPicPr>
          <p:cNvPr id="20" name="Picture 19" descr="e8022fa09c25c0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2408" y="3621024"/>
            <a:ext cx="170688" cy="5516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03096" y="3668268"/>
            <a:ext cx="4338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pic>
        <p:nvPicPr>
          <p:cNvPr id="22" name="Picture 21" descr="0ea9c861f6451dd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8431" y="3621024"/>
            <a:ext cx="170688" cy="5516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The pattern, with a letter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2340864"/>
          <a:ext cx="1060704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  <a:gridCol w="1325880"/>
                <a:gridCol w="1325880"/>
                <a:gridCol w="1325880"/>
                <a:gridCol w="13258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x·x·x·x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x·x·x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x·x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1/x</a:t>
                      </a:r>
                      <a:r>
                        <a:rPr sz="18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1/x</a:t>
                      </a:r>
                      <a:r>
                        <a:rPr sz="18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2" name="Picture 11" descr="566883ffdb2567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1253" y="3337560"/>
            <a:ext cx="1335024" cy="6766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76277" y="3447288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4" name="Picture 13" descr="bdac5bab61ffd0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269" y="3337560"/>
            <a:ext cx="1362456" cy="6766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84725" y="3447288"/>
            <a:ext cx="12996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(</a:t>
            </a:r>
          </a:p>
        </p:txBody>
      </p:sp>
      <p:pic>
        <p:nvPicPr>
          <p:cNvPr id="16" name="Picture 15" descr="3202774bcb0530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7247" y="3506724"/>
            <a:ext cx="783336" cy="3383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830583" y="3447288"/>
            <a:ext cx="3268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Moving factors across the fraction bar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7f7d04d8cca9730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184" y="2377440"/>
            <a:ext cx="1508760" cy="7437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775944" y="2520696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4816a7a2bcf2f2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935" y="2340864"/>
            <a:ext cx="2209800" cy="8168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31736" y="2520696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4" name="Picture 13" descr="0f65a6bfbd89b5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727" y="2345436"/>
            <a:ext cx="1816608" cy="807720"/>
          </a:xfrm>
          <a:prstGeom prst="rect">
            <a:avLst/>
          </a:prstGeom>
        </p:spPr>
      </p:pic>
      <p:pic>
        <p:nvPicPr>
          <p:cNvPr id="15" name="Picture 14" descr="70bc6e0f1b3ecac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616" y="3432047"/>
            <a:ext cx="2304288" cy="92049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69087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Only the factor with the negative exponent moves. Its exponent turns positive.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The laws with negative exponents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47aaf26d66cf98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012" y="2374392"/>
            <a:ext cx="4456176" cy="7406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02188" y="251612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1fc48e462d92b6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179" y="2340864"/>
            <a:ext cx="3767328" cy="807720"/>
          </a:xfrm>
          <a:prstGeom prst="rect">
            <a:avLst/>
          </a:prstGeom>
        </p:spPr>
      </p:pic>
      <p:pic>
        <p:nvPicPr>
          <p:cNvPr id="13" name="Picture 12" descr="92a6d22e61379c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8159" y="3422904"/>
            <a:ext cx="3505200" cy="8199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58114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Apply the law. Then rewrite so that every exponent is positive.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Multiplying monomials with negative exponents.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284a92747d139e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2103120"/>
            <a:ext cx="2761488" cy="42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297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with positive exponents only.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99ce65e5c8ec57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6172200" cy="42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58200" y="1903476"/>
            <a:ext cx="292607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multiply coefficients; add exponents</a:t>
            </a:r>
          </a:p>
        </p:txBody>
      </p:sp>
      <p:pic>
        <p:nvPicPr>
          <p:cNvPr id="11" name="Picture 10" descr="52caabd3337864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18232"/>
            <a:ext cx="2816352" cy="883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02352" y="2831592"/>
            <a:ext cx="628192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move y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-2</a:t>
            </a:r>
            <a:r>
              <a:rPr sz="2100" b="0" i="1">
                <a:solidFill>
                  <a:srgbClr val="6B6B6B"/>
                </a:solidFill>
                <a:latin typeface="Century Schoolbook"/>
              </a:rPr>
              <a:t> down; the 12 and the x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100" b="0" i="1">
                <a:solidFill>
                  <a:srgbClr val="6B6B6B"/>
                </a:solidFill>
                <a:latin typeface="Century Schoolbook"/>
              </a:rPr>
              <a:t> stay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12x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/y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26181856cce005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79" y="2194560"/>
            <a:ext cx="3108960" cy="5151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6f4e119bf12e311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79" y="2194560"/>
            <a:ext cx="3108960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327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 · a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b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7260" y="471220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5fcfdcd223fa61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499" y="4480560"/>
            <a:ext cx="746760" cy="10119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Several laws in one expression — the state guide's item.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061639b8c49f6a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099" y="2103120"/>
            <a:ext cx="1417320" cy="807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137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with positive exponents only.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dc62f1bbbc7a81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965704" cy="816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51704" y="2100072"/>
            <a:ext cx="613257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raise every factor: a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100" b="0" i="1">
                <a:solidFill>
                  <a:srgbClr val="6B6B6B"/>
                </a:solidFill>
                <a:latin typeface="Century Schoolbook"/>
              </a:rPr>
              <a:t>, 4, b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-7</a:t>
            </a:r>
          </a:p>
        </p:txBody>
      </p:sp>
      <p:pic>
        <p:nvPicPr>
          <p:cNvPr id="11" name="Picture 10" descr="d55cada8037b33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11423"/>
            <a:ext cx="1399032" cy="807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85032" y="3186683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4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5</a:t>
            </a:r>
            <a:r>
              <a:rPr sz="2100" b="0" i="1">
                <a:solidFill>
                  <a:srgbClr val="6B6B6B"/>
                </a:solidFill>
                <a:latin typeface="Century Schoolbook"/>
              </a:rPr>
              <a:t> = 1,024; b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-35</a:t>
            </a:r>
            <a:r>
              <a:rPr sz="2100" b="0" i="1">
                <a:solidFill>
                  <a:srgbClr val="6B6B6B"/>
                </a:solidFill>
                <a:latin typeface="Century Schoolbook"/>
              </a:rPr>
              <a:t> moves up as b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15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b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/1,024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c42f4571630d50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792" y="2194560"/>
            <a:ext cx="1773936" cy="1112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195018b9c2dda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267" y="2194560"/>
            <a:ext cx="1776984" cy="1112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627119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x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6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over 27y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-6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then move the y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2772" y="4725924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3636f909b16359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011" y="4480560"/>
            <a:ext cx="935736" cy="103936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49cdf5a8f688d8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859" y="2194560"/>
            <a:ext cx="685800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6299b72688be4f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859" y="2103120"/>
            <a:ext cx="685800" cy="42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0111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reciprocal of x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1372" y="4853939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f4033d6f9e46bb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1611" y="4663440"/>
            <a:ext cx="478536" cy="929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pic>
        <p:nvPicPr>
          <p:cNvPr id="9" name="Picture 8" descr="70a7739fb79464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620" y="2194560"/>
            <a:ext cx="716280" cy="103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pic>
        <p:nvPicPr>
          <p:cNvPr id="9" name="Picture 8" descr="1b19adcea2f05b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2103120"/>
            <a:ext cx="713232" cy="10332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41071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power moves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8804" y="465277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666f79c957ad2d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9044" y="4663440"/>
            <a:ext cx="423672" cy="52730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5481" y="2171700"/>
            <a:ext cx="42518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model's scale factor is  </a:t>
            </a:r>
          </a:p>
        </p:txBody>
      </p:sp>
      <p:pic>
        <p:nvPicPr>
          <p:cNvPr id="10" name="Picture 9" descr="270dca7efd9a29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178" y="2229612"/>
            <a:ext cx="725424" cy="34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15602" y="217170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model is 12 centimeters long.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552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Rewrite the factor using only positive exponents.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3957" y="2080260"/>
            <a:ext cx="42518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model's scale factor is  </a:t>
            </a:r>
          </a:p>
        </p:txBody>
      </p:sp>
      <p:pic>
        <p:nvPicPr>
          <p:cNvPr id="10" name="Picture 9" descr="678b4dee4b21d5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654" y="2138171"/>
            <a:ext cx="728472" cy="34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17126" y="20802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model is 12 centimeters long.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637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Rewrite the factor using only positive exponents.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98439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only the x moves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1372" y="490794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6" name="Picture 15" descr="71f960ddecd24b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1611" y="4715918"/>
            <a:ext cx="478536" cy="93268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42962fa6a8bfc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103" y="2194560"/>
            <a:ext cx="1353312" cy="5303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positive exponents.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c896e7a3b1e79b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580" y="2103120"/>
            <a:ext cx="1356360" cy="5242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90169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both factors move 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9536" y="490423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f532a74f60c6ce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776" y="4663440"/>
            <a:ext cx="902208" cy="103022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950663683f0a3a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480" y="2194560"/>
            <a:ext cx="1432560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529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19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19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050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050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1088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1b7d9d459c285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004" y="2103120"/>
            <a:ext cx="1429512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6148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C.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1/x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1944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C — 1/x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cd9c5622a19be9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383" y="2194560"/>
            <a:ext cx="1444752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9413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6076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4/x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6076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1/(4x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93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93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9927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1768e3b0aaa3b8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859" y="2103120"/>
            <a:ext cx="1447800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4987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4/x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1/(4x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D.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4/x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0783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D — 4/x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61aec65184b6be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7" y="2194560"/>
            <a:ext cx="603504" cy="1005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with a positive exponent.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00d9c35b01c5d1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055" y="2103120"/>
            <a:ext cx="597408" cy="1005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38327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m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— then rewrite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8888" y="4855464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a74f00062d590b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7" y="4663440"/>
            <a:ext cx="603504" cy="93268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4343" y="2171700"/>
            <a:ext cx="3047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Find the value of </a:t>
            </a:r>
          </a:p>
        </p:txBody>
      </p:sp>
      <p:pic>
        <p:nvPicPr>
          <p:cNvPr id="10" name="Picture 9" descr="ce9b607ea85ce7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716" y="2308860"/>
            <a:ext cx="192024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46740" y="217170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:</a:t>
            </a:r>
          </a:p>
        </p:txBody>
      </p:sp>
      <p:pic>
        <p:nvPicPr>
          <p:cNvPr id="12" name="Picture 11" descr="768d523c6bd8c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212" y="2912364"/>
            <a:ext cx="1911095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Which law applies?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4343" y="2080260"/>
            <a:ext cx="3047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Find the value of </a:t>
            </a:r>
          </a:p>
        </p:txBody>
      </p:sp>
      <p:pic>
        <p:nvPicPr>
          <p:cNvPr id="10" name="Picture 9" descr="ce9b607ea85ce7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716" y="2217420"/>
            <a:ext cx="192024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46740" y="20802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:</a:t>
            </a:r>
          </a:p>
        </p:txBody>
      </p:sp>
      <p:pic>
        <p:nvPicPr>
          <p:cNvPr id="12" name="Picture 11" descr="06d7fcaebeec005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687" y="2820924"/>
            <a:ext cx="1914144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28800" y="35204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−5 + n =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 = 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6774" y="2171700"/>
            <a:ext cx="17572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are  </a:t>
            </a:r>
          </a:p>
        </p:txBody>
      </p:sp>
      <p:pic>
        <p:nvPicPr>
          <p:cNvPr id="10" name="Picture 9" descr="cc078cbc81823c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899" y="2228088"/>
            <a:ext cx="344424" cy="3444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71323" y="2171700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2" name="Picture 11" descr="d31e0d14216148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030" y="2228088"/>
            <a:ext cx="539496" cy="344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82526" y="2171700"/>
            <a:ext cx="17093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related?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5540" y="2857500"/>
            <a:ext cx="70138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Explain, and give the value of each when  </a:t>
            </a:r>
          </a:p>
        </p:txBody>
      </p:sp>
      <p:pic>
        <p:nvPicPr>
          <p:cNvPr id="15" name="Picture 14" descr="118dd4b796dc85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2208" y="2945892"/>
            <a:ext cx="783336" cy="2804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25544" y="285750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Use the word reciprocal.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6774" y="2080260"/>
            <a:ext cx="17572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are  </a:t>
            </a:r>
          </a:p>
        </p:txBody>
      </p:sp>
      <p:pic>
        <p:nvPicPr>
          <p:cNvPr id="10" name="Picture 9" descr="3da309422df21a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899" y="2136648"/>
            <a:ext cx="344424" cy="3444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71323" y="2080260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2" name="Picture 11" descr="50a3dff9085ab5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030" y="2136648"/>
            <a:ext cx="539496" cy="344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82526" y="2080260"/>
            <a:ext cx="17093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related?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4016" y="2766060"/>
            <a:ext cx="70138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Explain, and give the value of each when  </a:t>
            </a:r>
          </a:p>
        </p:txBody>
      </p:sp>
      <p:pic>
        <p:nvPicPr>
          <p:cNvPr id="15" name="Picture 14" descr="2cebf16dedade3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0684" y="2854452"/>
            <a:ext cx="786384" cy="2804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27068" y="27660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5204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reciprocals: 8 and 1/8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is the reciprocal of 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. When x = 2: 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8 and 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1/8.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Variables with negative exponents — 2NL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Multiply and divide powers: variable bases — 85P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