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image" Target="../media/image5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image" Target="../media/image6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image" Target="../media/image66.png"/><Relationship Id="rId4" Type="http://schemas.openxmlformats.org/officeDocument/2006/relationships/image" Target="../media/image67.png"/><Relationship Id="rId5" Type="http://schemas.openxmlformats.org/officeDocument/2006/relationships/image" Target="../media/image6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image" Target="../media/image7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Relationship Id="rId3" Type="http://schemas.openxmlformats.org/officeDocument/2006/relationships/image" Target="../media/image73.png"/><Relationship Id="rId4" Type="http://schemas.openxmlformats.org/officeDocument/2006/relationships/image" Target="../media/image74.png"/><Relationship Id="rId5" Type="http://schemas.openxmlformats.org/officeDocument/2006/relationships/image" Target="../media/image75.png"/><Relationship Id="rId6" Type="http://schemas.openxmlformats.org/officeDocument/2006/relationships/image" Target="../media/image76.png"/><Relationship Id="rId7" Type="http://schemas.openxmlformats.org/officeDocument/2006/relationships/image" Target="../media/image77.png"/><Relationship Id="rId8" Type="http://schemas.openxmlformats.org/officeDocument/2006/relationships/image" Target="../media/image7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Negative Exponent Law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rewrite a power with a negative exponent using a positive exponent, and evaluate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559052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7e2e2a945d199f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463040"/>
            <a:ext cx="844296" cy="649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290572"/>
            <a:ext cx="31594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Which is greater, </a:t>
            </a:r>
          </a:p>
        </p:txBody>
      </p:sp>
      <p:pic>
        <p:nvPicPr>
          <p:cNvPr id="11" name="Picture 10" descr="10d7b99c008a1e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6762" y="2324100"/>
            <a:ext cx="697992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594754" y="2290572"/>
            <a:ext cx="12259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or 5.5?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903220"/>
            <a:ext cx="1612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Solve  </a:t>
            </a:r>
          </a:p>
        </p:txBody>
      </p:sp>
      <p:pic>
        <p:nvPicPr>
          <p:cNvPr id="14" name="Picture 13" descr="3835561d3a33385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9655" y="3019044"/>
            <a:ext cx="1112520" cy="2255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579876"/>
            <a:ext cx="4278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What is the reciprocal of </a:t>
            </a:r>
          </a:p>
        </p:txBody>
      </p:sp>
      <p:pic>
        <p:nvPicPr>
          <p:cNvPr id="16" name="Picture 15" descr="f0b15a73405cbe9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6240" y="3538728"/>
            <a:ext cx="198120" cy="5394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14360" y="3579876"/>
            <a:ext cx="39173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  What is the opposite of </a:t>
            </a:r>
          </a:p>
        </p:txBody>
      </p:sp>
      <p:pic>
        <p:nvPicPr>
          <p:cNvPr id="18" name="Picture 17" descr="f0b15a73405cbe9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4595" y="3538728"/>
            <a:ext cx="198120" cy="5394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192715" y="3579876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559052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7e2e2a945d199f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463040"/>
            <a:ext cx="844296" cy="649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52104" y="1440180"/>
            <a:ext cx="546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290572"/>
            <a:ext cx="31594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Which is greater, </a:t>
            </a:r>
          </a:p>
        </p:txBody>
      </p:sp>
      <p:pic>
        <p:nvPicPr>
          <p:cNvPr id="12" name="Picture 11" descr="10d7b99c008a1e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6762" y="2324100"/>
            <a:ext cx="697992" cy="3901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594754" y="2290572"/>
            <a:ext cx="12259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or 5.5?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2214" y="2290572"/>
            <a:ext cx="6364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5.5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903220"/>
            <a:ext cx="1612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Solve  </a:t>
            </a:r>
          </a:p>
        </p:txBody>
      </p:sp>
      <p:pic>
        <p:nvPicPr>
          <p:cNvPr id="16" name="Picture 15" descr="3835561d3a33385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9655" y="3019044"/>
            <a:ext cx="1112520" cy="2255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10815" y="2903220"/>
            <a:ext cx="1093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x = −7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579876"/>
            <a:ext cx="4278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What is the reciprocal of </a:t>
            </a:r>
          </a:p>
        </p:txBody>
      </p:sp>
      <p:pic>
        <p:nvPicPr>
          <p:cNvPr id="19" name="Picture 18" descr="f0b15a73405cbe9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6240" y="3538728"/>
            <a:ext cx="198120" cy="53949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214360" y="3579876"/>
            <a:ext cx="39173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  What is the opposite of </a:t>
            </a:r>
          </a:p>
        </p:txBody>
      </p:sp>
      <p:pic>
        <p:nvPicPr>
          <p:cNvPr id="21" name="Picture 20" descr="f0b15a73405cbe9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4595" y="3538728"/>
            <a:ext cx="198120" cy="53949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192715" y="3579876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23" name="Picture 22" descr="fa151ddb9afb949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6040" y="4123944"/>
            <a:ext cx="198120" cy="53949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804160" y="4165092"/>
            <a:ext cx="11597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  and  </a:t>
            </a:r>
          </a:p>
        </p:txBody>
      </p:sp>
      <p:pic>
        <p:nvPicPr>
          <p:cNvPr id="25" name="Picture 24" descr="8205fb4d0fb708a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26787" y="4123944"/>
            <a:ext cx="365760" cy="53949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pattern keeps going past zero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993392"/>
          <a:ext cx="1060704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1/4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1/8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311a92ab63e08f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2438" y="2990088"/>
            <a:ext cx="1219200" cy="731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91638" y="3127248"/>
            <a:ext cx="9552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</a:t>
            </a:r>
          </a:p>
        </p:txBody>
      </p:sp>
      <p:pic>
        <p:nvPicPr>
          <p:cNvPr id="13" name="Picture 12" descr="049aeed39d2b92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9744" y="2990088"/>
            <a:ext cx="1892807" cy="731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02552" y="3127248"/>
            <a:ext cx="9552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</a:t>
            </a:r>
          </a:p>
        </p:txBody>
      </p:sp>
      <p:pic>
        <p:nvPicPr>
          <p:cNvPr id="15" name="Picture 14" descr="bccda897994661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0657" y="2991612"/>
            <a:ext cx="1868424" cy="7284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The negative exponent law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28aa15ddbf8bfd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7445" y="1993392"/>
            <a:ext cx="1365504" cy="685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92949" y="2107692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703929da3359c7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7293" y="1993392"/>
            <a:ext cx="1405128" cy="685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02421" y="2107692"/>
            <a:ext cx="12631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(</a:t>
            </a:r>
          </a:p>
        </p:txBody>
      </p:sp>
      <p:pic>
        <p:nvPicPr>
          <p:cNvPr id="14" name="Picture 13" descr="47b5f205461fb9c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8459" y="2197608"/>
            <a:ext cx="810768" cy="2773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839227" y="2107692"/>
            <a:ext cx="3320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)</a:t>
            </a:r>
          </a:p>
        </p:txBody>
      </p:sp>
      <p:pic>
        <p:nvPicPr>
          <p:cNvPr id="16" name="Picture 15" descr="c4472833bac66d5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79" y="2953512"/>
            <a:ext cx="2103120" cy="73456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749099" y="3092196"/>
            <a:ext cx="18660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but      </a:t>
            </a:r>
          </a:p>
        </p:txBody>
      </p:sp>
      <p:pic>
        <p:nvPicPr>
          <p:cNvPr id="18" name="Picture 17" descr="423c7123e052fac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78014" y="3150108"/>
            <a:ext cx="1581912" cy="3413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059926" y="3092196"/>
            <a:ext cx="19468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and      </a:t>
            </a:r>
          </a:p>
        </p:txBody>
      </p:sp>
      <p:pic>
        <p:nvPicPr>
          <p:cNvPr id="20" name="Picture 19" descr="1f1d03da98083e5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69620" y="3115056"/>
            <a:ext cx="1645920" cy="4114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87552" y="402640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 negative exponent means reciprocal. It never means a negative value.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" y="4911851"/>
            <a:ext cx="44025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The base keeps its own sign:  </a:t>
            </a:r>
          </a:p>
        </p:txBody>
      </p:sp>
      <p:pic>
        <p:nvPicPr>
          <p:cNvPr id="23" name="Picture 22" descr="40306a195e2bf5f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52915" y="4739639"/>
            <a:ext cx="3962399" cy="80162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The laws still work with negative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cc0334afe7b278a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0271" y="1993392"/>
            <a:ext cx="4760976" cy="734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522958" y="2979420"/>
            <a:ext cx="11074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or      </a:t>
            </a:r>
          </a:p>
        </p:txBody>
      </p:sp>
      <p:pic>
        <p:nvPicPr>
          <p:cNvPr id="12" name="Picture 11" descr="9c8b9f7e693c72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3281" y="3038856"/>
            <a:ext cx="4145280" cy="338328"/>
          </a:xfrm>
          <a:prstGeom prst="rect">
            <a:avLst/>
          </a:prstGeom>
        </p:spPr>
      </p:pic>
      <p:pic>
        <p:nvPicPr>
          <p:cNvPr id="13" name="Picture 12" descr="ba6216107014bb8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9015" y="3688080"/>
            <a:ext cx="3523488" cy="783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809744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Add, subtract and multiply exponents exactly as before — the exponents are just integers now.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d8836e49d1cfec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2536" y="2103120"/>
            <a:ext cx="536448" cy="789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954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Rewrite with positive exponents, then find the value.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b5557daf282610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313688" cy="792480"/>
          </a:xfrm>
          <a:prstGeom prst="rect">
            <a:avLst/>
          </a:prstGeom>
        </p:spPr>
      </p:pic>
      <p:pic>
        <p:nvPicPr>
          <p:cNvPr id="9" name="Picture 8" descr="910e7e74eaed25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87040"/>
            <a:ext cx="2727960" cy="789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81/8 = 10.125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56f58bfbd6c8fb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0052" y="1600200"/>
            <a:ext cx="661416" cy="9936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967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Rewrite with positive exponents, then find the value.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a614b6a36d8c6f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3099" y="1600200"/>
            <a:ext cx="655320" cy="9905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937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Rewrite with positive exponents, then find the value.</a:t>
            </a:r>
          </a:p>
        </p:txBody>
      </p:sp>
      <p:pic>
        <p:nvPicPr>
          <p:cNvPr id="10" name="Picture 9" descr="a77b1d7cf427ed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1473" y="3705970"/>
            <a:ext cx="1124712" cy="664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16185" y="3809602"/>
            <a:ext cx="19394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   and     </a:t>
            </a:r>
          </a:p>
        </p:txBody>
      </p:sp>
      <p:pic>
        <p:nvPicPr>
          <p:cNvPr id="12" name="Picture 11" descr="9dc9678259e96a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8486" y="3705970"/>
            <a:ext cx="1161288" cy="664464"/>
          </a:xfrm>
          <a:prstGeom prst="rect">
            <a:avLst/>
          </a:prstGeom>
        </p:spPr>
      </p:pic>
      <p:pic>
        <p:nvPicPr>
          <p:cNvPr id="13" name="Picture 12" descr="c675e00ae2c4c27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1473" y="4498450"/>
            <a:ext cx="1749552" cy="722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81956" y="550124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5" name="Picture 14" descr="7cc84f7ce49a4b3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02196" y="5357986"/>
            <a:ext cx="277368" cy="83515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1d7b994a7331cb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4915" y="2103120"/>
            <a:ext cx="551688" cy="792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98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a40b57a8a09e72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855976" cy="789432"/>
          </a:xfrm>
          <a:prstGeom prst="rect">
            <a:avLst/>
          </a:prstGeom>
        </p:spPr>
      </p:pic>
      <p:pic>
        <p:nvPicPr>
          <p:cNvPr id="9" name="Picture 8" descr="cf7273435b0489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83992"/>
            <a:ext cx="2286000" cy="789432"/>
          </a:xfrm>
          <a:prstGeom prst="rect">
            <a:avLst/>
          </a:prstGeom>
        </p:spPr>
      </p:pic>
      <p:pic>
        <p:nvPicPr>
          <p:cNvPr id="10" name="Picture 9" descr="1b79637c342989a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47744"/>
            <a:ext cx="1584960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8432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2,401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d2b1010d50fd96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199" y="1600200"/>
            <a:ext cx="1341120" cy="1164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674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7ac64fd7acb912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1600200"/>
            <a:ext cx="1335024" cy="1167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7050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  <p:pic>
        <p:nvPicPr>
          <p:cNvPr id="10" name="Picture 9" descr="7d3ab70b25bdc1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8223" y="3882754"/>
            <a:ext cx="4114800" cy="847344"/>
          </a:xfrm>
          <a:prstGeom prst="rect">
            <a:avLst/>
          </a:prstGeom>
        </p:spPr>
      </p:pic>
      <p:pic>
        <p:nvPicPr>
          <p:cNvPr id="11" name="Picture 10" descr="815116ea7185775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8223" y="4877926"/>
            <a:ext cx="1520952" cy="3718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40675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9c3ed80bb4c057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9864" y="2194560"/>
            <a:ext cx="621792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2e28a9bdc45329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8339" y="2103120"/>
            <a:ext cx="624840" cy="414528"/>
          </a:xfrm>
          <a:prstGeom prst="rect">
            <a:avLst/>
          </a:prstGeom>
        </p:spPr>
      </p:pic>
      <p:pic>
        <p:nvPicPr>
          <p:cNvPr id="9" name="Picture 8" descr="15da0b6dbd5791d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4123" y="2819399"/>
            <a:ext cx="1139952" cy="658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81372" y="4843271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1abbd0053a87d77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1611" y="4663440"/>
            <a:ext cx="478536" cy="90830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sheet of paper 30 centimeters long is folded in half 7 times.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Each fold makes the top layer half as big.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fraction of the whole sheet is the top layer after 7 folds?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sheet of paper 30 centimeters long is folded in half 7 times.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Each fold makes the top layer half as big.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fraction of the whole sheet is the top layer after 7 folds?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5587" y="3712795"/>
            <a:ext cx="37715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Each fold halves it:  </a:t>
            </a:r>
          </a:p>
        </p:txBody>
      </p:sp>
      <p:pic>
        <p:nvPicPr>
          <p:cNvPr id="12" name="Picture 11" descr="55ec7b58e31aa3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9948" y="3610687"/>
            <a:ext cx="1392936" cy="661416"/>
          </a:xfrm>
          <a:prstGeom prst="rect">
            <a:avLst/>
          </a:prstGeom>
        </p:spPr>
      </p:pic>
      <p:pic>
        <p:nvPicPr>
          <p:cNvPr id="13" name="Picture 12" descr="93c08fb8bb36cd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0451" y="4578427"/>
            <a:ext cx="1197864" cy="3017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818315" y="4500703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5" name="Picture 14" descr="d5cb71527a492aa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9388" y="4400119"/>
            <a:ext cx="1277112" cy="658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725924" y="5340427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7" name="Picture 16" descr="e1d9433f34f9570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6163" y="5195647"/>
            <a:ext cx="789432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0f4f7eddbf6258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2891" y="2194560"/>
            <a:ext cx="935736" cy="9174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9a062827f8f12e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4416" y="2103120"/>
            <a:ext cx="932688" cy="917448"/>
          </a:xfrm>
          <a:prstGeom prst="rect">
            <a:avLst/>
          </a:prstGeom>
        </p:spPr>
      </p:pic>
      <p:pic>
        <p:nvPicPr>
          <p:cNvPr id="9" name="Picture 8" descr="cf7fb92401bc0fd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3812" y="3322320"/>
            <a:ext cx="1563624" cy="664464"/>
          </a:xfrm>
          <a:prstGeom prst="rect">
            <a:avLst/>
          </a:prstGeom>
        </p:spPr>
      </p:pic>
      <p:pic>
        <p:nvPicPr>
          <p:cNvPr id="10" name="Picture 9" descr="33a151155381260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3812" y="4168140"/>
            <a:ext cx="1417320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100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20cab291981eb6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7444" y="2194560"/>
            <a:ext cx="1246632" cy="505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b3224c13b7d8fa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5919" y="2103120"/>
            <a:ext cx="1249680" cy="509016"/>
          </a:xfrm>
          <a:prstGeom prst="rect">
            <a:avLst/>
          </a:prstGeom>
        </p:spPr>
      </p:pic>
      <p:pic>
        <p:nvPicPr>
          <p:cNvPr id="9" name="Picture 8" descr="6b0d31b34f4f077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1943" y="2913888"/>
            <a:ext cx="2039112" cy="728472"/>
          </a:xfrm>
          <a:prstGeom prst="rect">
            <a:avLst/>
          </a:prstGeom>
        </p:spPr>
      </p:pic>
      <p:pic>
        <p:nvPicPr>
          <p:cNvPr id="10" name="Picture 9" descr="6a0147d16c9e8c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1943" y="3950207"/>
            <a:ext cx="1493520" cy="3688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95463" y="3906012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2" name="Picture 11" descr="e42c82d3a51966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6536" y="3770375"/>
            <a:ext cx="1569720" cy="728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49367" y="4806695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4" name="Picture 13" descr="4df8b33a9d5d56b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9607" y="4663440"/>
            <a:ext cx="542544" cy="835152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9e00e37454aae3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5292" y="2194560"/>
            <a:ext cx="630936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378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101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101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959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−25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959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−10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01743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34b6c156891d88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3767" y="2103120"/>
            <a:ext cx="633984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5234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pic>
        <p:nvPicPr>
          <p:cNvPr id="10" name="Picture 9" descr="b9c8e2103b9491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8551" y="3400375"/>
            <a:ext cx="1908047" cy="664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1/25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2ea43d19b748a4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5816" y="2194560"/>
            <a:ext cx="1389888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073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070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6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070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36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928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6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928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6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9869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f0604488e0753f6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4291" y="2103120"/>
            <a:ext cx="1392936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4929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3c35b48e83eedb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4587" y="3452191"/>
            <a:ext cx="2862072" cy="301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6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c6574940b1c5cc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2099" y="2194560"/>
            <a:ext cx="1417320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737bd8d522cf781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0576" y="2103120"/>
            <a:ext cx="1420368" cy="420624"/>
          </a:xfrm>
          <a:prstGeom prst="rect">
            <a:avLst/>
          </a:prstGeom>
        </p:spPr>
      </p:pic>
      <p:pic>
        <p:nvPicPr>
          <p:cNvPr id="9" name="Picture 8" descr="cd3edc3f48ebd1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1791" y="2878836"/>
            <a:ext cx="3410712" cy="304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c069a33fa07e09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2431" y="2194560"/>
            <a:ext cx="676656" cy="9784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3bba102cf2b4d3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5480" y="2103120"/>
            <a:ext cx="670560" cy="981455"/>
          </a:xfrm>
          <a:prstGeom prst="rect">
            <a:avLst/>
          </a:prstGeom>
        </p:spPr>
      </p:pic>
      <p:pic>
        <p:nvPicPr>
          <p:cNvPr id="9" name="Picture 8" descr="0e2ea5a2bdf7f3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5944" y="3386328"/>
            <a:ext cx="2502408" cy="710184"/>
          </a:xfrm>
          <a:prstGeom prst="rect">
            <a:avLst/>
          </a:prstGeom>
        </p:spPr>
      </p:pic>
      <p:pic>
        <p:nvPicPr>
          <p:cNvPr id="10" name="Picture 9" descr="c6e45c9cf6e731b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5944" y="4224528"/>
            <a:ext cx="1149096" cy="658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78324" y="519988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d47bd37afc5ec3e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8564" y="5020056"/>
            <a:ext cx="484632" cy="908304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4327" y="2171700"/>
            <a:ext cx="39670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Ellen says the value of  </a:t>
            </a:r>
          </a:p>
        </p:txBody>
      </p:sp>
      <p:pic>
        <p:nvPicPr>
          <p:cNvPr id="9" name="Picture 8" descr="64e1dd1e79cf69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4169" y="2229612"/>
            <a:ext cx="505968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80137" y="2171700"/>
            <a:ext cx="14742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is  −25.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she is wrong, and show the correct value.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4327" y="2080260"/>
            <a:ext cx="39670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Ellen says the value of  </a:t>
            </a:r>
          </a:p>
        </p:txBody>
      </p:sp>
      <p:pic>
        <p:nvPicPr>
          <p:cNvPr id="9" name="Picture 8" descr="c0ab7b0d6a4ecd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4169" y="2138171"/>
            <a:ext cx="505968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80137" y="2080260"/>
            <a:ext cx="14742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is  −25.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she is wrong, and show the correct value.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5283" y="3414091"/>
            <a:ext cx="93681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 negative exponent means the reciprocal, not the opposite.</a:t>
            </a:r>
          </a:p>
        </p:txBody>
      </p:sp>
      <p:pic>
        <p:nvPicPr>
          <p:cNvPr id="13" name="Picture 12" descr="f6e64cf386c379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0147" y="3939871"/>
            <a:ext cx="1612392" cy="5608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1/5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1/25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75332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Rewrite with a positive exponent. Do not evaluate.  </a:t>
            </a:r>
          </a:p>
        </p:txBody>
      </p:sp>
      <p:pic>
        <p:nvPicPr>
          <p:cNvPr id="10" name="Picture 9" descr="53ac0340f6e451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0526" y="1586484"/>
            <a:ext cx="408432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89403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3" name="Picture 12" descr="c0045698145203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7878" y="2182367"/>
            <a:ext cx="417576" cy="2712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683763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6" name="Picture 15" descr="ede3a9483986675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7878" y="2744723"/>
            <a:ext cx="838200" cy="3352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368039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368039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9" name="Picture 18" descr="813a84954f7417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7878" y="3300983"/>
            <a:ext cx="606552" cy="59131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4052315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052315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22" name="Picture 21" descr="220f65bf45ba478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77878" y="4142231"/>
            <a:ext cx="908304" cy="27736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0120" y="4712207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712207"/>
            <a:ext cx="26841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25" name="Picture 24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1434" y="4856987"/>
            <a:ext cx="146304" cy="1676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47738" y="4712207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7" name="Picture 26" descr="99c5f65aa2cee22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52689" y="4669535"/>
            <a:ext cx="926592" cy="542544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Understanding negative exponents — YBB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powers with negative exponents — WGS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