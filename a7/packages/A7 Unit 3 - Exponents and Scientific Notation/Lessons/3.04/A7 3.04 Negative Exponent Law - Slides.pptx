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power with a negative exponent using a positive exponent, and evaluate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1" name="Picture 10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6" name="Picture 15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18" name="Picture 17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52104" y="1440180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2" name="Picture 11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214" y="2290572"/>
            <a:ext cx="636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10815" y="2903220"/>
            <a:ext cx="1093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9" name="Picture 18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21" name="Picture 20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23" name="Picture 22" descr="fa151ddb9afb949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23944"/>
            <a:ext cx="198120" cy="5394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04160" y="4165092"/>
            <a:ext cx="1159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 and  </a:t>
            </a:r>
          </a:p>
        </p:txBody>
      </p:sp>
      <p:pic>
        <p:nvPicPr>
          <p:cNvPr id="25" name="Picture 24" descr="8205fb4d0fb70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6787" y="4123944"/>
            <a:ext cx="36576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keeps going past zero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11a92ab63e08f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38" y="2990088"/>
            <a:ext cx="121920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1638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049aeed39d2b92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2990088"/>
            <a:ext cx="1892807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02552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5" name="Picture 14" descr="bccda897994661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657" y="2991612"/>
            <a:ext cx="1868424" cy="728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aa15ddbf8bf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445" y="1993392"/>
            <a:ext cx="1365504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2949" y="210769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703929da3359c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293" y="1993392"/>
            <a:ext cx="1405128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2421" y="2107692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59" y="2197608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39227" y="2107692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6" name="Picture 15" descr="c4472833bac66d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79" y="2953512"/>
            <a:ext cx="2103120" cy="734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49099" y="3092196"/>
            <a:ext cx="1866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but      </a:t>
            </a:r>
          </a:p>
        </p:txBody>
      </p:sp>
      <p:pic>
        <p:nvPicPr>
          <p:cNvPr id="18" name="Picture 17" descr="423c7123e052fac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8014" y="3150108"/>
            <a:ext cx="1581912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9926" y="3092196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20" name="Picture 19" descr="1f1d03da98083e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20" y="3115056"/>
            <a:ext cx="164592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911851"/>
            <a:ext cx="4402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base keeps its own sign:  </a:t>
            </a:r>
          </a:p>
        </p:txBody>
      </p:sp>
      <p:pic>
        <p:nvPicPr>
          <p:cNvPr id="23" name="Picture 22" descr="40306a195e2bf5f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915" y="4739639"/>
            <a:ext cx="3962399" cy="8016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c0334afe7b278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271" y="1993392"/>
            <a:ext cx="4760976" cy="734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2958" y="2979420"/>
            <a:ext cx="1107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or      </a:t>
            </a:r>
          </a:p>
        </p:txBody>
      </p:sp>
      <p:pic>
        <p:nvPicPr>
          <p:cNvPr id="12" name="Picture 11" descr="9c8b9f7e693c7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281" y="3038856"/>
            <a:ext cx="4145280" cy="338328"/>
          </a:xfrm>
          <a:prstGeom prst="rect">
            <a:avLst/>
          </a:prstGeom>
        </p:spPr>
      </p:pic>
      <p:pic>
        <p:nvPicPr>
          <p:cNvPr id="13" name="Picture 12" descr="ba6216107014bb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5" y="3688080"/>
            <a:ext cx="3523488" cy="783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d8836e49d1cfe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2536" y="2103120"/>
            <a:ext cx="536448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557daf282610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13688" cy="792480"/>
          </a:xfrm>
          <a:prstGeom prst="rect">
            <a:avLst/>
          </a:prstGeom>
        </p:spPr>
      </p:pic>
      <p:pic>
        <p:nvPicPr>
          <p:cNvPr id="9" name="Picture 8" descr="910e7e74eaed25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2727960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6f58bfbd6c8f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1600200"/>
            <a:ext cx="661416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614b6a36d8c6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099" y="1600200"/>
            <a:ext cx="65532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3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  <p:pic>
        <p:nvPicPr>
          <p:cNvPr id="10" name="Picture 9" descr="a77b1d7cf427ed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73" y="3705970"/>
            <a:ext cx="112471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6185" y="3809602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2" name="Picture 11" descr="9dc9678259e96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486" y="3705970"/>
            <a:ext cx="1161288" cy="664464"/>
          </a:xfrm>
          <a:prstGeom prst="rect">
            <a:avLst/>
          </a:prstGeom>
        </p:spPr>
      </p:pic>
      <p:pic>
        <p:nvPicPr>
          <p:cNvPr id="13" name="Picture 12" descr="c675e00ae2c4c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1473" y="4498450"/>
            <a:ext cx="1749552" cy="722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81956" y="55012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5" name="Picture 14" descr="7cc84f7ce49a4b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2196" y="5357986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d7b994a7331cb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915" y="2103120"/>
            <a:ext cx="551688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a40b57a8a09e72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55976" cy="789432"/>
          </a:xfrm>
          <a:prstGeom prst="rect">
            <a:avLst/>
          </a:prstGeom>
        </p:spPr>
      </p:pic>
      <p:pic>
        <p:nvPicPr>
          <p:cNvPr id="9" name="Picture 8" descr="cf7273435b0489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3992"/>
            <a:ext cx="2286000" cy="789432"/>
          </a:xfrm>
          <a:prstGeom prst="rect">
            <a:avLst/>
          </a:prstGeom>
        </p:spPr>
      </p:pic>
      <p:pic>
        <p:nvPicPr>
          <p:cNvPr id="10" name="Picture 9" descr="1b79637c342989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47744"/>
            <a:ext cx="1584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2b1010d50fd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1600200"/>
            <a:ext cx="134112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ac64fd7acb912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600200"/>
            <a:ext cx="1335024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7d3ab70b25bdc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223" y="3882754"/>
            <a:ext cx="4114800" cy="847344"/>
          </a:xfrm>
          <a:prstGeom prst="rect">
            <a:avLst/>
          </a:prstGeom>
        </p:spPr>
      </p:pic>
      <p:pic>
        <p:nvPicPr>
          <p:cNvPr id="11" name="Picture 10" descr="815116ea718577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223" y="4877926"/>
            <a:ext cx="152095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067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c3ed80bb4c057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2194560"/>
            <a:ext cx="62179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e28a9bdc45329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339" y="2103120"/>
            <a:ext cx="624840" cy="414528"/>
          </a:xfrm>
          <a:prstGeom prst="rect">
            <a:avLst/>
          </a:prstGeom>
        </p:spPr>
      </p:pic>
      <p:pic>
        <p:nvPicPr>
          <p:cNvPr id="9" name="Picture 8" descr="15da0b6dbd5791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4123" y="2819399"/>
            <a:ext cx="1139952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1372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1abbd0053a87d7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611" y="4663440"/>
            <a:ext cx="47853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5587" y="3712795"/>
            <a:ext cx="37715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Each fold halves it:  </a:t>
            </a:r>
          </a:p>
        </p:txBody>
      </p:sp>
      <p:pic>
        <p:nvPicPr>
          <p:cNvPr id="12" name="Picture 11" descr="55ec7b58e31aa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948" y="3610687"/>
            <a:ext cx="1392936" cy="661416"/>
          </a:xfrm>
          <a:prstGeom prst="rect">
            <a:avLst/>
          </a:prstGeom>
        </p:spPr>
      </p:pic>
      <p:pic>
        <p:nvPicPr>
          <p:cNvPr id="13" name="Picture 12" descr="93c08fb8bb36c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451" y="4578427"/>
            <a:ext cx="119786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18315" y="4500703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d5cb71527a492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388" y="4400119"/>
            <a:ext cx="1277112" cy="658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25924" y="53404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7" name="Picture 16" descr="e1d9433f34f957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163" y="5195647"/>
            <a:ext cx="789432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0f4f7eddbf6258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94560"/>
            <a:ext cx="935736" cy="9174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062827f8f12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03120"/>
            <a:ext cx="932688" cy="917448"/>
          </a:xfrm>
          <a:prstGeom prst="rect">
            <a:avLst/>
          </a:prstGeom>
        </p:spPr>
      </p:pic>
      <p:pic>
        <p:nvPicPr>
          <p:cNvPr id="9" name="Picture 8" descr="cf7fb92401bc0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812" y="3322320"/>
            <a:ext cx="1563624" cy="664464"/>
          </a:xfrm>
          <a:prstGeom prst="rect">
            <a:avLst/>
          </a:prstGeom>
        </p:spPr>
      </p:pic>
      <p:pic>
        <p:nvPicPr>
          <p:cNvPr id="10" name="Picture 9" descr="33a15115538126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4168140"/>
            <a:ext cx="141732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05ed5994341d2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94560"/>
            <a:ext cx="1237488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3e235a5ec086a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509016"/>
          </a:xfrm>
          <a:prstGeom prst="rect">
            <a:avLst/>
          </a:prstGeom>
        </p:spPr>
      </p:pic>
      <p:pic>
        <p:nvPicPr>
          <p:cNvPr id="9" name="Picture 8" descr="a99396db6bc2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159" y="2913888"/>
            <a:ext cx="2023872" cy="728472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159" y="3950207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98511" y="3906012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2" name="Picture 11" descr="0b6efffc5fd5cf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584" y="3770375"/>
            <a:ext cx="1740408" cy="728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25924" y="48082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4a899f6d16bb648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6163" y="4663440"/>
            <a:ext cx="789432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cd97e5aee2cc52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960" y="2194560"/>
            <a:ext cx="609600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292c6252f152d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960" y="2103120"/>
            <a:ext cx="609600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0d046fd1892be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397327"/>
            <a:ext cx="1898904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1/49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efb7beb69be3a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94560"/>
            <a:ext cx="145084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56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5354deec5b025c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62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61de82c6fa4065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867" y="3449143"/>
            <a:ext cx="295351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6574940b1c5cc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37bd8d522cf78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420624"/>
          </a:xfrm>
          <a:prstGeom prst="rect">
            <a:avLst/>
          </a:prstGeom>
        </p:spPr>
      </p:pic>
      <p:pic>
        <p:nvPicPr>
          <p:cNvPr id="9" name="Picture 8" descr="cd3edc3f48ebd1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1791" y="2878836"/>
            <a:ext cx="3410712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70520fa2fb51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5084" y="2194560"/>
            <a:ext cx="911352" cy="9814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083a771fa167e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131" y="2103120"/>
            <a:ext cx="905256" cy="984504"/>
          </a:xfrm>
          <a:prstGeom prst="rect">
            <a:avLst/>
          </a:prstGeom>
        </p:spPr>
      </p:pic>
      <p:pic>
        <p:nvPicPr>
          <p:cNvPr id="9" name="Picture 8" descr="26bb29da2dcbe9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7531" y="3389376"/>
            <a:ext cx="2999232" cy="713232"/>
          </a:xfrm>
          <a:prstGeom prst="rect">
            <a:avLst/>
          </a:prstGeom>
        </p:spPr>
      </p:pic>
      <p:pic>
        <p:nvPicPr>
          <p:cNvPr id="10" name="Picture 9" descr="657ab801421f25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7531" y="4230624"/>
            <a:ext cx="1435608" cy="661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4692" y="52105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6b831c282b463c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4932" y="5029200"/>
            <a:ext cx="691896" cy="91135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8271" y="217170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b511c60c185ded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13" y="2231136"/>
            <a:ext cx="670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58673" y="2171700"/>
            <a:ext cx="1681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−144.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8271" y="208026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1d6981f2fce930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13" y="2139696"/>
            <a:ext cx="670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58673" y="2080260"/>
            <a:ext cx="1681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−144.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5283" y="3414091"/>
            <a:ext cx="93681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negative exponent means the reciprocal, not the opposite.</a:t>
            </a:r>
          </a:p>
        </p:txBody>
      </p:sp>
      <p:pic>
        <p:nvPicPr>
          <p:cNvPr id="13" name="Picture 12" descr="aed21e693a3711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47" y="3939871"/>
            <a:ext cx="2066543" cy="557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1/144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75332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Do not evaluate.  </a:t>
            </a:r>
          </a:p>
        </p:txBody>
      </p:sp>
      <p:pic>
        <p:nvPicPr>
          <p:cNvPr id="10" name="Picture 9" descr="53ac0340f6e45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526" y="1586484"/>
            <a:ext cx="408432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c004569814520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2367"/>
            <a:ext cx="417576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ede3a948398667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78" y="2744723"/>
            <a:ext cx="838200" cy="335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3680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68039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813a84954f741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00983"/>
            <a:ext cx="606552" cy="591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5231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52315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220f65bf45ba47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142231"/>
            <a:ext cx="908304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7122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12207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56987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712207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99c5f65aa2cee2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669535"/>
            <a:ext cx="926592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negative exponents — YBB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