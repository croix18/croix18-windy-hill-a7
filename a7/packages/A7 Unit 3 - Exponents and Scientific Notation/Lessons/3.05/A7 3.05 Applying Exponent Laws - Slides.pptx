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4.png"/><Relationship Id="rId8" Type="http://schemas.openxmlformats.org/officeDocument/2006/relationships/image" Target="../media/image8.png"/><Relationship Id="rId9" Type="http://schemas.openxmlformats.org/officeDocument/2006/relationships/image" Target="../media/image5.png"/><Relationship Id="rId10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3  ·  LESSON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Applying Exponent Laws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rewrite a rational base with a negative exponent using a positive exponent, and apply several laws to generate an equivalent expression.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Yesterday: a negative exponent means reciprocal.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base is a fraction — so the reciprocal flips it.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2" name="Picture 11" descr="82be0161615a5d7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4" name="Picture 13" descr="5fa67493f2d0b1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6" name="Picture 15" descr="cd79bb74d01bc94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19" name="Picture 18" descr="e5446a4e89f9a3a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30587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Find the value:  </a:t>
            </a:r>
          </a:p>
        </p:txBody>
      </p:sp>
      <p:pic>
        <p:nvPicPr>
          <p:cNvPr id="10" name="Picture 9" descr="1538ef9a323bca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094" y="1851660"/>
            <a:ext cx="417576" cy="274320"/>
          </a:xfrm>
          <a:prstGeom prst="rect">
            <a:avLst/>
          </a:prstGeom>
        </p:spPr>
      </p:pic>
      <p:pic>
        <p:nvPicPr>
          <p:cNvPr id="11" name="Picture 10" descr="0f45754c59884ba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310" y="1783080"/>
            <a:ext cx="170688" cy="5547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2468880"/>
            <a:ext cx="567719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Rewrite with a positive exponent:  </a:t>
            </a:r>
          </a:p>
        </p:txBody>
      </p:sp>
      <p:pic>
        <p:nvPicPr>
          <p:cNvPr id="13" name="Picture 12" descr="82be0161615a5d7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4558" y="2395728"/>
            <a:ext cx="463296" cy="603504"/>
          </a:xfrm>
          <a:prstGeom prst="rect">
            <a:avLst/>
          </a:prstGeom>
        </p:spPr>
      </p:pic>
      <p:pic>
        <p:nvPicPr>
          <p:cNvPr id="14" name="Picture 13" descr="b031d4b8beeb84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494" y="2462784"/>
            <a:ext cx="271272" cy="2773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177540"/>
            <a:ext cx="306557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Which is larger, </a:t>
            </a:r>
          </a:p>
        </p:txBody>
      </p:sp>
      <p:pic>
        <p:nvPicPr>
          <p:cNvPr id="16" name="Picture 15" descr="5fa67493f2d0b1a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2930" y="3268980"/>
            <a:ext cx="265176" cy="2743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068106" y="3177540"/>
            <a:ext cx="674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 or </a:t>
            </a:r>
          </a:p>
        </p:txBody>
      </p:sp>
      <p:pic>
        <p:nvPicPr>
          <p:cNvPr id="18" name="Picture 17" descr="cd79bb74d01bc94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5697" y="3264408"/>
            <a:ext cx="265176" cy="2834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870873" y="3177540"/>
            <a:ext cx="347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?</a:t>
            </a:r>
          </a:p>
        </p:txBody>
      </p:sp>
      <p:pic>
        <p:nvPicPr>
          <p:cNvPr id="20" name="Picture 19" descr="0663332b63521a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125" y="3264408"/>
            <a:ext cx="265176" cy="28346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95301" y="3177540"/>
            <a:ext cx="16163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 (81 &gt; 64)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19" y="3863340"/>
            <a:ext cx="4084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Write the reciprocal of  </a:t>
            </a:r>
          </a:p>
        </p:txBody>
      </p:sp>
      <p:pic>
        <p:nvPicPr>
          <p:cNvPr id="23" name="Picture 22" descr="e5446a4e89f9a3af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21467" y="3813048"/>
            <a:ext cx="377952" cy="557784"/>
          </a:xfrm>
          <a:prstGeom prst="rect">
            <a:avLst/>
          </a:prstGeom>
        </p:spPr>
      </p:pic>
      <p:pic>
        <p:nvPicPr>
          <p:cNvPr id="24" name="Picture 23" descr="84c4e1822805198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48059" y="3813048"/>
            <a:ext cx="377952" cy="5577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The pattern with a fraction base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651760" y="2340864"/>
          <a:ext cx="685800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/>
                <a:gridCol w="23774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Expression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Expanded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>
                          <a:solidFill>
                            <a:srgbClr val="1A1A1A"/>
                          </a:solidFill>
                          <a:latin typeface="Century Schoolbook"/>
                        </a:rPr>
                        <a:t>Value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 · 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4/25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2/5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(2/5)</a:t>
                      </a:r>
                      <a:r>
                        <a:rPr sz="1700" b="0" baseline="30000">
                          <a:solidFill>
                            <a:srgbClr val="1A1A1A"/>
                          </a:solidFill>
                          <a:latin typeface="Century Schoolbook"/>
                        </a:rPr>
                        <a:t>-2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5/2 · 5/2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>
                          <a:solidFill>
                            <a:srgbClr val="1A1A1A"/>
                          </a:solidFill>
                          <a:latin typeface="Century Schoolbook"/>
                        </a:rPr>
                        <a:t>25/4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Flip the base, make the exponent positive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05dd24fbf391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785" y="2340864"/>
            <a:ext cx="2133600" cy="6918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5385" y="2458212"/>
            <a:ext cx="12996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(</a:t>
            </a:r>
          </a:p>
        </p:txBody>
      </p:sp>
      <p:pic>
        <p:nvPicPr>
          <p:cNvPr id="12" name="Picture 11" descr="2e707716356433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7907" y="2516124"/>
            <a:ext cx="1152144" cy="3413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10051" y="2458212"/>
            <a:ext cx="3268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)</a:t>
            </a:r>
          </a:p>
        </p:txBody>
      </p:sp>
      <p:pic>
        <p:nvPicPr>
          <p:cNvPr id="14" name="Picture 13" descr="33556cc2e827319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5588" y="3307080"/>
            <a:ext cx="3075432" cy="6979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701020" y="3427476"/>
            <a:ext cx="11831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       </a:t>
            </a:r>
          </a:p>
        </p:txBody>
      </p:sp>
      <p:pic>
        <p:nvPicPr>
          <p:cNvPr id="16" name="Picture 15" descr="7adc35e6f9ec4d0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11" y="3311652"/>
            <a:ext cx="2788920" cy="68884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87552" y="4343400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The sign stays with the fraction. Flip the numbers, not the sign.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5166359"/>
            <a:ext cx="55453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 whole number is a fraction over 1:  </a:t>
            </a:r>
          </a:p>
        </p:txBody>
      </p:sp>
      <p:pic>
        <p:nvPicPr>
          <p:cNvPr id="19" name="Picture 18" descr="dee9fbc307a9f9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5757" y="5056631"/>
            <a:ext cx="3230880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Several laws at once — the plan is still yours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1390af24b50c4c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4163" y="2340864"/>
            <a:ext cx="8013192" cy="816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3496055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Any correct order of laws gives the same value. Finish with a positive exponent.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Flip, then evaluate.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9ed1bed15013a3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676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8269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Rewrite with a positive exponent, then find the value.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e941bf8846b55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8064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84064" y="2037588"/>
            <a:ext cx="630021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flip the base; the sign stays</a:t>
            </a:r>
          </a:p>
        </p:txBody>
      </p:sp>
      <p:pic>
        <p:nvPicPr>
          <p:cNvPr id="11" name="Picture 10" descr="b75e3c313a78d69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6456"/>
            <a:ext cx="1889760" cy="69799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75760" y="3006852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even power: positive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64/49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a7f1f688f77ec6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8948" y="2194560"/>
            <a:ext cx="156362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055ea4267017cf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424" y="2194560"/>
            <a:ext cx="156667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(−2/5)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— odd power, negative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8095" y="4642104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acffea294d431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335" y="4480560"/>
            <a:ext cx="1085088" cy="87172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Two laws, then a flip.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b8ecac4debf086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820" y="2103120"/>
            <a:ext cx="2087880" cy="691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7936"/>
            <a:ext cx="1060704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Write an equivalent expression with one base and a positive exponent.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10be869d41e0d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239512" cy="6949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25512" y="2039112"/>
            <a:ext cx="38587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product of powers</a:t>
            </a:r>
          </a:p>
        </p:txBody>
      </p:sp>
      <p:pic>
        <p:nvPicPr>
          <p:cNvPr id="11" name="Picture 10" descr="268771bcd93959c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889504"/>
            <a:ext cx="1621536" cy="6949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07536" y="3008376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already positive: no flip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25/64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a7f97d6945899ed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2194560"/>
            <a:ext cx="352958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40cdd198e50607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444" y="2194560"/>
            <a:ext cx="3532632" cy="86258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77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exponent −10, then flip: (−4/5)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4735" y="463753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269d301dd5e8af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4976" y="4480560"/>
            <a:ext cx="1511808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1764"/>
            <a:ext cx="53577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copier is set to shrink a page to  </a:t>
            </a:r>
          </a:p>
        </p:txBody>
      </p:sp>
      <p:pic>
        <p:nvPicPr>
          <p:cNvPr id="10" name="Picture 9" descr="e8022fa09c25c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19" y="1874519"/>
            <a:ext cx="170688" cy="5516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25707" y="1921764"/>
            <a:ext cx="1873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of its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2737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page 6 inches wide is copied 4 times in a row, each copy from the last.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95844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original page's size is the last copy?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23287"/>
            <a:ext cx="53577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copier is set to shrink a page to  </a:t>
            </a:r>
          </a:p>
        </p:txBody>
      </p:sp>
      <p:pic>
        <p:nvPicPr>
          <p:cNvPr id="10" name="Picture 9" descr="024e90b41a6caf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019" y="1874519"/>
            <a:ext cx="164592" cy="5547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9611" y="1923287"/>
            <a:ext cx="18738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of its size.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30424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page 6 inches wide is copied 4 times in a row, each copy from the last.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598892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What fraction of the original page's size is the last copy?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2943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2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3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7" y="5120971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6" name="Picture 15" descr="7dd35ac51a0ee4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960951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pic>
        <p:nvPicPr>
          <p:cNvPr id="9" name="Picture 8" descr="23a87bc643d7e5a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2852" y="2194560"/>
            <a:ext cx="1575816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pic>
        <p:nvPicPr>
          <p:cNvPr id="9" name="Picture 8" descr="7b4aab4c0a6cc8a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328" y="2103120"/>
            <a:ext cx="1578864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 the numbers; the sign stays in the fraction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4651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837676bd53bd7e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891" y="4663440"/>
            <a:ext cx="1331976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c08fd56f1b4e345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94560"/>
            <a:ext cx="158496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bc194338a8886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8280" y="2103120"/>
            <a:ext cx="158496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4612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(−9/8)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81/64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3459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3148abf2051aaa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c2285e954aff8d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7715" y="2194560"/>
            <a:ext cx="146608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Rewrite with a positive exponent.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bf10b2e2dc356d3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103120"/>
            <a:ext cx="1463040" cy="850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27832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flip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9516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2c7971114380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56" y="4663440"/>
            <a:ext cx="1222248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fb95563de51335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1996" y="2194560"/>
            <a:ext cx="1557528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765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429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2871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3455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de3072ed6d5fe5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471" y="2103120"/>
            <a:ext cx="1560576" cy="8534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185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51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(−8/7)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(−7/8)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372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(8/7)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4311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(−8/7)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e9242358ed1b2b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9456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9488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9612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64700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65284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77243053f2f7c3f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620" y="2103120"/>
            <a:ext cx="3002280" cy="8717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0344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expression is equivalent?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(8/5)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8697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-6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C.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(5/8)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55556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(5/8)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6140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C — (5/8)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983316d8a340e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80" y="2194560"/>
            <a:ext cx="2575560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Find the value.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cccf2e6aacb49b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5" y="2103120"/>
            <a:ext cx="2578608" cy="877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55263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1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= (5/2)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64607" y="4820412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c37c2f03a9ba86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4663440"/>
            <a:ext cx="512064" cy="86258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c18abdc6135b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656" y="2194560"/>
            <a:ext cx="3188208" cy="85648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Write it with one base and one positive exponent.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7d2314fb4fc5114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3607" y="2103120"/>
            <a:ext cx="3194304" cy="859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2369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(2/3)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inside, then power of a power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960" y="481584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200" b="1" i="0">
                <a:solidFill>
                  <a:srgbClr val="9E1B32"/>
                </a:solidFill>
                <a:latin typeface="Century Schoolbook"/>
              </a:rPr>
              <a:t>Answer:</a:t>
            </a:r>
          </a:p>
        </p:txBody>
      </p:sp>
      <p:pic>
        <p:nvPicPr>
          <p:cNvPr id="12" name="Picture 11" descr="2e17728107926c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99" y="4663440"/>
            <a:ext cx="975360" cy="8534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3551" y="2304288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bcbcbf803cfe7ec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553" y="2194560"/>
            <a:ext cx="1246632" cy="6766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5185" y="2304288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9b43b28c9551277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3776" y="2194560"/>
            <a:ext cx="774192" cy="6766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14553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Say what the negative exponent does, and what it does not do. Give the correct rewrite.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8979" y="2215896"/>
            <a:ext cx="22021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Marco says  </a:t>
            </a:r>
          </a:p>
        </p:txBody>
      </p:sp>
      <p:pic>
        <p:nvPicPr>
          <p:cNvPr id="10" name="Picture 9" descr="61e0767165f6b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981" y="2103120"/>
            <a:ext cx="1252728" cy="682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66709" y="2215896"/>
            <a:ext cx="37057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can be rewritten as  </a:t>
            </a:r>
          </a:p>
        </p:txBody>
      </p:sp>
      <p:pic>
        <p:nvPicPr>
          <p:cNvPr id="12" name="Picture 11" descr="5c0a9d4ef3b8e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5300" y="2103120"/>
            <a:ext cx="777240" cy="68275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7240" y="3060191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because 'two negatives make a positive.'  Is he right?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80791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exponent flips the fraction; it never touches the 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No — (−2/3)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= (−3/2)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3 · Lesson 5 — Applying Exponent Laws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Identify equivalent expressions involving exponents I — VLM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