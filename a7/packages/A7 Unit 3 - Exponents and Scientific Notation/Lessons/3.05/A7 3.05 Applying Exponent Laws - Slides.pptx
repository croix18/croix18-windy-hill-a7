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rational base with a negative exponent using a positive exponent, and apply several laws to generate an equivalent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1" name="Picture 10" descr="592658f9055527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3" name="Picture 12" descr="6e3fb6dc69f29d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5" name="Picture 14" descr="f5c888b6c84690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18" name="Picture 17" descr="1a683e70796a00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pic>
        <p:nvPicPr>
          <p:cNvPr id="10" name="Picture 9" descr="9353f77b4d8885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048" y="1463040"/>
            <a:ext cx="185928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2" name="Picture 11" descr="592658f9055527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pic>
        <p:nvPicPr>
          <p:cNvPr id="13" name="Picture 12" descr="54c7ca2f4972dc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3363" y="2144268"/>
            <a:ext cx="268224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5" name="Picture 14" descr="6e3fb6dc69f29d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7" name="Picture 16" descr="f5c888b6c84690f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9" name="Picture 18" descr="3cd5a7bd49e1112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4976" y="2938272"/>
            <a:ext cx="289560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64536" y="2845308"/>
            <a:ext cx="15830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(81 &gt; 64)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22" name="Picture 21" descr="1a683e70796a000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  <p:pic>
        <p:nvPicPr>
          <p:cNvPr id="23" name="Picture 22" descr="bf8821cf3198a95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188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with a fraction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651760" y="1993392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8dc06abe520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437" y="1993392"/>
            <a:ext cx="2185416" cy="7040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8853" y="2116836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2" name="Picture 11" descr="e8ca827cacc61b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91" y="2165604"/>
            <a:ext cx="1228344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53235" y="2116836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4" name="Picture 13" descr="9169d867eb22c6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524" y="2971800"/>
            <a:ext cx="2983992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4516" y="30815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6" name="Picture 15" descr="f0e84f7b8a0e30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859" y="2973324"/>
            <a:ext cx="2612136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3986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806695"/>
            <a:ext cx="5468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whole number is a fraction over 1:  </a:t>
            </a:r>
          </a:p>
        </p:txBody>
      </p:sp>
      <p:pic>
        <p:nvPicPr>
          <p:cNvPr id="19" name="Picture 18" descr="b03f09abb77756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840" y="4700016"/>
            <a:ext cx="3151632" cy="670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035540ba8a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948" y="1993392"/>
            <a:ext cx="7659624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24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388277379d8e20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66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45e90417d70b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27376" cy="664464"/>
          </a:xfrm>
          <a:prstGeom prst="rect">
            <a:avLst/>
          </a:prstGeom>
        </p:spPr>
      </p:pic>
      <p:pic>
        <p:nvPicPr>
          <p:cNvPr id="9" name="Picture 8" descr="8945cb43fcf3af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59024"/>
            <a:ext cx="18531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e69c1d91f1a3f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d211e9c6d2b3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7326" y="3629770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196afe9826da4a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945" y="3550522"/>
            <a:ext cx="2368296" cy="615696"/>
          </a:xfrm>
          <a:prstGeom prst="rect">
            <a:avLst/>
          </a:prstGeom>
        </p:spPr>
      </p:pic>
      <p:pic>
        <p:nvPicPr>
          <p:cNvPr id="12" name="Picture 11" descr="31d33b28236bfb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2190" y="4294234"/>
            <a:ext cx="2029968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31" y="519187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314171b6a1b287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1" y="5047090"/>
            <a:ext cx="1042415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7b9fb3163beeb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963" y="2103120"/>
            <a:ext cx="2069591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5161a3488c78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11496" cy="667512"/>
          </a:xfrm>
          <a:prstGeom prst="rect">
            <a:avLst/>
          </a:prstGeom>
        </p:spPr>
      </p:pic>
      <p:pic>
        <p:nvPicPr>
          <p:cNvPr id="9" name="Picture 8" descr="0b481a76517fb3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16306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(5/8)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25/64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26f578657118a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883" y="1600200"/>
            <a:ext cx="3349752" cy="832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522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084f7f2bc8d1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36" y="1600200"/>
            <a:ext cx="33558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6900" y="3957032"/>
            <a:ext cx="7564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Add the exponents, then flip the fraction:</a:t>
            </a:r>
          </a:p>
        </p:txBody>
      </p:sp>
      <p:pic>
        <p:nvPicPr>
          <p:cNvPr id="11" name="Picture 10" descr="42824fa219a1c3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764" y="4519388"/>
            <a:ext cx="4834128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499" y="5404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364254372aca3e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39" y="5263100"/>
            <a:ext cx="147828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6fa687cf291616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6784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8202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82207df6c9253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068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2106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5755" y="4372687"/>
            <a:ext cx="258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Four copies:  </a:t>
            </a:r>
          </a:p>
        </p:txBody>
      </p:sp>
      <p:pic>
        <p:nvPicPr>
          <p:cNvPr id="14" name="Picture 13" descr="d5a448eea45117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96" y="4244671"/>
            <a:ext cx="2176272" cy="713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8511" y="523984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2bc59a32308df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751" y="5095063"/>
            <a:ext cx="524256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0a7160d7e15e9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9456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ccbe016419b287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0312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754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8696ad001dd2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373" y="3240023"/>
            <a:ext cx="2377440" cy="6156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3608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c0f8e1841d70d1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3848" y="4663440"/>
            <a:ext cx="127406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202d2f9edf4ff6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94560"/>
            <a:ext cx="147523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434b7f64e448db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03120"/>
            <a:ext cx="1475232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78182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0c11b020145ca0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01" y="3243072"/>
            <a:ext cx="2383536" cy="609600"/>
          </a:xfrm>
          <a:prstGeom prst="rect">
            <a:avLst/>
          </a:prstGeom>
        </p:spPr>
      </p:pic>
      <p:pic>
        <p:nvPicPr>
          <p:cNvPr id="11" name="Picture 10" descr="7480f7bb643801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046" y="3980688"/>
            <a:ext cx="1679448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34128" y="48722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b23c582eb8d13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368" y="4727448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aad42ec8f13de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a3193cda974b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17806" y="3314699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f8fd36b400e406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425" y="3240023"/>
            <a:ext cx="2304288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09516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8c9697ca23389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756" y="4663440"/>
            <a:ext cx="122224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933a5614c61405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700" y="2194560"/>
            <a:ext cx="1722120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440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(7/10)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(−10/7)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(−7/10)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(10/7)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2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c8cc7f17e57404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700" y="2103120"/>
            <a:ext cx="1722120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4459" y="3903295"/>
            <a:ext cx="6086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fraction. The sign stays:  </a:t>
            </a:r>
          </a:p>
        </p:txBody>
      </p:sp>
      <p:pic>
        <p:nvPicPr>
          <p:cNvPr id="11" name="Picture 10" descr="30f8381f78b3ba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3860" y="3820999"/>
            <a:ext cx="2746248" cy="621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(−10/7)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be0e3dab7c06cf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2194560"/>
            <a:ext cx="29077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440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(9/2)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(2/9)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(2/9)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(2/9)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2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2209fde782f6b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2103120"/>
            <a:ext cx="29077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c530bb460efa1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3112" y="3820999"/>
            <a:ext cx="5154168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(2/9)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f7df90f5a7cc1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839" y="2194560"/>
            <a:ext cx="2529840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1606c5cb17b3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839" y="2103120"/>
            <a:ext cx="2529840" cy="841248"/>
          </a:xfrm>
          <a:prstGeom prst="rect">
            <a:avLst/>
          </a:prstGeom>
        </p:spPr>
      </p:pic>
      <p:pic>
        <p:nvPicPr>
          <p:cNvPr id="9" name="Picture 8" descr="b66b632c66dd8f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020" y="3246120"/>
            <a:ext cx="1947672" cy="609600"/>
          </a:xfrm>
          <a:prstGeom prst="rect">
            <a:avLst/>
          </a:prstGeom>
        </p:spPr>
      </p:pic>
      <p:pic>
        <p:nvPicPr>
          <p:cNvPr id="10" name="Picture 9" descr="7f6a024804d011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020" y="3983736"/>
            <a:ext cx="356311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4128" y="48783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7511c6a209ecd3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368" y="4733544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bf74f091e96668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94560"/>
            <a:ext cx="3142488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c942442683f51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03120"/>
            <a:ext cx="314248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64155" y="3323844"/>
            <a:ext cx="1633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Inside:  </a:t>
            </a:r>
          </a:p>
        </p:txBody>
      </p:sp>
      <p:pic>
        <p:nvPicPr>
          <p:cNvPr id="10" name="Picture 9" descr="91fa5aa22598ea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772" y="3246120"/>
            <a:ext cx="4745736" cy="612648"/>
          </a:xfrm>
          <a:prstGeom prst="rect">
            <a:avLst/>
          </a:prstGeom>
        </p:spPr>
      </p:pic>
      <p:pic>
        <p:nvPicPr>
          <p:cNvPr id="11" name="Picture 10" descr="339da7c30fdc7d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019" y="3986783"/>
            <a:ext cx="3724656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6864" y="48828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72cf4eeb1d6aaf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4736592"/>
            <a:ext cx="987552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8057" y="2298192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91c18cfbfd314a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2223" y="2194560"/>
            <a:ext cx="1335024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98192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4ea189ef1afd1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94560"/>
            <a:ext cx="954023" cy="664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13334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5009" y="2208276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a601e11597070b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175" y="2103120"/>
            <a:ext cx="133807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08276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84af40a7a998b6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03120"/>
            <a:ext cx="957072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449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9625" y="3670123"/>
            <a:ext cx="8659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negative exponent flips the fraction. The sign stays.</a:t>
            </a:r>
          </a:p>
        </p:txBody>
      </p:sp>
      <p:pic>
        <p:nvPicPr>
          <p:cNvPr id="14" name="Picture 13" descr="6134488e046327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489" y="4195903"/>
            <a:ext cx="2258568" cy="518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512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(−4/11)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(−11/4)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90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9051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0" name="Picture 9" descr="8957ceb1115470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6480" y="1517904"/>
            <a:ext cx="786384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814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814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6e6b6af109cf88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240280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038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03804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6" name="Picture 15" descr="6754f41029653f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480" y="2962656"/>
            <a:ext cx="94488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277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27704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5d72cdcfdc8659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685032"/>
            <a:ext cx="777240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4531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531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987c9144230c55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410456"/>
            <a:ext cx="1633728" cy="5425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1755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7550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532028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517550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2b417829a513b45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5135880"/>
            <a:ext cx="1664208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