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Quotient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use the quotient of powers, power of a quotient and zero exponent laws to rewrite and evaluate a numerical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6644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one power:  </a:t>
            </a:r>
          </a:p>
        </p:txBody>
      </p:sp>
      <p:pic>
        <p:nvPicPr>
          <p:cNvPr id="9" name="Picture 8" descr="0edb9b2424baf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774" y="1530096"/>
            <a:ext cx="75895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58c968e8bf18d1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6356"/>
            <a:ext cx="86258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3" name="Picture 12" descr="ff0aa95dcc4008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781300"/>
            <a:ext cx="1374648" cy="225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340608"/>
            <a:ext cx="20355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Simplify  </a:t>
            </a:r>
          </a:p>
        </p:txBody>
      </p:sp>
      <p:pic>
        <p:nvPicPr>
          <p:cNvPr id="15" name="Picture 14" descr="f6a28b8ae12f374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2937" y="3300984"/>
            <a:ext cx="923544" cy="536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36644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as one power:  </a:t>
            </a:r>
          </a:p>
        </p:txBody>
      </p:sp>
      <p:pic>
        <p:nvPicPr>
          <p:cNvPr id="9" name="Picture 8" descr="0edb9b2424baf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774" y="1530096"/>
            <a:ext cx="758952" cy="277368"/>
          </a:xfrm>
          <a:prstGeom prst="rect">
            <a:avLst/>
          </a:prstGeom>
        </p:spPr>
      </p:pic>
      <p:pic>
        <p:nvPicPr>
          <p:cNvPr id="10" name="Picture 9" descr="228b900b807e90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366" y="1533144"/>
            <a:ext cx="274320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58c968e8bf18d1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059" y="2086356"/>
            <a:ext cx="86258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834283" y="2052828"/>
            <a:ext cx="5547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5" name="Picture 14" descr="ff0aa95dcc4008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655" y="2781300"/>
            <a:ext cx="1374648" cy="225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272943" y="2665476"/>
            <a:ext cx="925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x &lt;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340608"/>
            <a:ext cx="20355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Simplify  </a:t>
            </a:r>
          </a:p>
        </p:txBody>
      </p:sp>
      <p:pic>
        <p:nvPicPr>
          <p:cNvPr id="18" name="Picture 17" descr="f6a28b8ae12f374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2937" y="3300984"/>
            <a:ext cx="923544" cy="5364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45121" y="3278124"/>
            <a:ext cx="3856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Quotient of powers — same base, subtract the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75c22fc6b7d89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080" y="1993392"/>
            <a:ext cx="5547360" cy="795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32404"/>
            <a:ext cx="3333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Quotient of powers:  </a:t>
            </a:r>
          </a:p>
        </p:txBody>
      </p:sp>
      <p:pic>
        <p:nvPicPr>
          <p:cNvPr id="12" name="Picture 11" descr="2719c53adc764b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493" y="3108960"/>
            <a:ext cx="1840991" cy="7040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4485" y="3232404"/>
            <a:ext cx="607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(</a:t>
            </a:r>
          </a:p>
        </p:txBody>
      </p:sp>
      <p:pic>
        <p:nvPicPr>
          <p:cNvPr id="14" name="Picture 13" descr="47b5f205461fb9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4692" y="3322320"/>
            <a:ext cx="810768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05460" y="3232404"/>
            <a:ext cx="325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238244"/>
            <a:ext cx="29972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Check with values:  </a:t>
            </a:r>
          </a:p>
        </p:txBody>
      </p:sp>
      <p:pic>
        <p:nvPicPr>
          <p:cNvPr id="17" name="Picture 16" descr="d483ca18e1ed7f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685" y="4069080"/>
            <a:ext cx="3602736" cy="7955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Power of a quotient — the exponent goes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c7f0c386a86fa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980" y="1993392"/>
            <a:ext cx="6385560" cy="792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230880"/>
            <a:ext cx="34280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quotient:  </a:t>
            </a:r>
          </a:p>
        </p:txBody>
      </p:sp>
      <p:pic>
        <p:nvPicPr>
          <p:cNvPr id="12" name="Picture 11" descr="e37a07201392836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461" y="3105912"/>
            <a:ext cx="1804416" cy="7071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2877" y="3230880"/>
            <a:ext cx="6073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(</a:t>
            </a:r>
          </a:p>
        </p:txBody>
      </p:sp>
      <p:pic>
        <p:nvPicPr>
          <p:cNvPr id="14" name="Picture 13" descr="cc4966101ceb7e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84" y="3314700"/>
            <a:ext cx="798576" cy="289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51660" y="3230880"/>
            <a:ext cx="3250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4236720"/>
            <a:ext cx="1950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Either way:  </a:t>
            </a:r>
          </a:p>
        </p:txBody>
      </p:sp>
      <p:pic>
        <p:nvPicPr>
          <p:cNvPr id="17" name="Picture 16" descr="39a07b3eaa91d2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543" y="4069080"/>
            <a:ext cx="3233928" cy="792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4471" y="4236720"/>
            <a:ext cx="12522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9" name="Picture 18" descr="5df7a26ae56fb2a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9569" y="4262628"/>
            <a:ext cx="2240280" cy="4053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zero exponent — two roads to the same answer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423160" y="1993392"/>
          <a:ext cx="731520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1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710" b="1" baseline="30000">
                          <a:solidFill>
                            <a:srgbClr val="1A1A1A"/>
                          </a:solidFill>
                          <a:latin typeface="Lexend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1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36cadf9b5edf76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266" y="2990088"/>
            <a:ext cx="1581912" cy="7863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00178" y="3154680"/>
            <a:ext cx="1946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and      </a:t>
            </a:r>
          </a:p>
        </p:txBody>
      </p:sp>
      <p:pic>
        <p:nvPicPr>
          <p:cNvPr id="13" name="Picture 12" descr="3f4324b961ec0a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873" y="2990088"/>
            <a:ext cx="2273808" cy="786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83681" y="3154680"/>
            <a:ext cx="16914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so      </a:t>
            </a:r>
          </a:p>
        </p:txBody>
      </p:sp>
      <p:pic>
        <p:nvPicPr>
          <p:cNvPr id="15" name="Picture 14" descr="30376742585bb8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7997" y="3214116"/>
            <a:ext cx="905256" cy="338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073651"/>
            <a:ext cx="26509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Zero exponent:  </a:t>
            </a:r>
          </a:p>
        </p:txBody>
      </p:sp>
      <p:pic>
        <p:nvPicPr>
          <p:cNvPr id="17" name="Picture 16" descr="6d55b3ee728095c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385" y="4131563"/>
            <a:ext cx="954023" cy="3413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455409" y="4073651"/>
            <a:ext cx="32477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for every nonzero </a:t>
            </a:r>
          </a:p>
        </p:txBody>
      </p:sp>
      <p:pic>
        <p:nvPicPr>
          <p:cNvPr id="19" name="Picture 18" descr="7feb388dbf36f7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025" y="4197096"/>
            <a:ext cx="204216" cy="2103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pic>
        <p:nvPicPr>
          <p:cNvPr id="8" name="Picture 7" descr="6370c244a2f01b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5" y="2103120"/>
            <a:ext cx="886968" cy="935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5417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0c94eb2ca76e9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91712" cy="938784"/>
          </a:xfrm>
          <a:prstGeom prst="rect">
            <a:avLst/>
          </a:prstGeom>
        </p:spPr>
      </p:pic>
      <p:pic>
        <p:nvPicPr>
          <p:cNvPr id="9" name="Picture 8" descr="a554635d943785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133344"/>
            <a:ext cx="1648968" cy="408432"/>
          </a:xfrm>
          <a:prstGeom prst="rect">
            <a:avLst/>
          </a:prstGeom>
        </p:spPr>
      </p:pic>
      <p:pic>
        <p:nvPicPr>
          <p:cNvPr id="10" name="Picture 9" descr="5c1f83d7f33d27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6096"/>
            <a:ext cx="2331720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2686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bc1d7f761d4b7d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1600200"/>
            <a:ext cx="466344" cy="1002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05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9a555cc0fb30ff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635" y="1600200"/>
            <a:ext cx="460247" cy="9966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998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  <p:pic>
        <p:nvPicPr>
          <p:cNvPr id="10" name="Picture 9" descr="a96092e33ee729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399" y="3712066"/>
            <a:ext cx="2063496" cy="722376"/>
          </a:xfrm>
          <a:prstGeom prst="rect">
            <a:avLst/>
          </a:prstGeom>
        </p:spPr>
      </p:pic>
      <p:pic>
        <p:nvPicPr>
          <p:cNvPr id="11" name="Picture 10" descr="2d0acfb864622b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399" y="4615798"/>
            <a:ext cx="1030224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11109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02fe0df1b08bc8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356" y="2103120"/>
            <a:ext cx="1130808" cy="673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96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d097b929243b7c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834384" cy="795528"/>
          </a:xfrm>
          <a:prstGeom prst="rect">
            <a:avLst/>
          </a:prstGeom>
        </p:spPr>
      </p:pic>
      <p:pic>
        <p:nvPicPr>
          <p:cNvPr id="9" name="Picture 8" descr="798f0955cfae57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90088"/>
            <a:ext cx="3733799" cy="682752"/>
          </a:xfrm>
          <a:prstGeom prst="rect">
            <a:avLst/>
          </a:prstGeom>
        </p:spPr>
      </p:pic>
      <p:pic>
        <p:nvPicPr>
          <p:cNvPr id="10" name="Picture 9" descr="66e59263d2af30b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947160"/>
            <a:ext cx="370332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1279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0.00000016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44e7eea339e5c1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315" y="1600200"/>
            <a:ext cx="1008888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be6f9f06f86603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4791" y="1600200"/>
            <a:ext cx="1011936" cy="835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3827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value.</a:t>
            </a:r>
          </a:p>
        </p:txBody>
      </p:sp>
      <p:pic>
        <p:nvPicPr>
          <p:cNvPr id="10" name="Picture 9" descr="02ea3d3dd2c1ff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4627" y="3550522"/>
            <a:ext cx="2215896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34128" y="46253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b8c676244c610a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368" y="4480560"/>
            <a:ext cx="573024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3e9756fa540e4c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380" y="2194560"/>
            <a:ext cx="746760" cy="990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ca365731157fa0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904" y="2103120"/>
            <a:ext cx="743712" cy="990599"/>
          </a:xfrm>
          <a:prstGeom prst="rect">
            <a:avLst/>
          </a:prstGeom>
        </p:spPr>
      </p:pic>
      <p:pic>
        <p:nvPicPr>
          <p:cNvPr id="9" name="Picture 8" descr="f1d501cf95f357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219" y="3395471"/>
            <a:ext cx="2654808" cy="716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83836" y="46009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20daecf28d2128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076" y="4663440"/>
            <a:ext cx="673608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619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website puts  </a:t>
            </a:r>
          </a:p>
        </p:txBody>
      </p:sp>
      <p:pic>
        <p:nvPicPr>
          <p:cNvPr id="9" name="Picture 8" descr="d7dee7bac0eb5c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200" y="1946147"/>
            <a:ext cx="295656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54856" y="1851660"/>
            <a:ext cx="447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photos into 8 equal albums.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site is 30 days 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photos are in each album?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619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website puts  </a:t>
            </a:r>
          </a:p>
        </p:txBody>
      </p:sp>
      <p:pic>
        <p:nvPicPr>
          <p:cNvPr id="9" name="Picture 8" descr="249c39e6033768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9200" y="1944623"/>
            <a:ext cx="295656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54856" y="1851660"/>
            <a:ext cx="447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photos into 8 equal albums.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site is 30 days 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photos are in each album?</a:t>
            </a:r>
          </a:p>
        </p:txBody>
      </p:sp>
      <p:pic>
        <p:nvPicPr>
          <p:cNvPr id="13" name="Picture 12" descr="6c1f346a6254f1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7" y="3739100"/>
            <a:ext cx="2727960" cy="301752"/>
          </a:xfrm>
          <a:prstGeom prst="rect">
            <a:avLst/>
          </a:prstGeom>
        </p:spPr>
      </p:pic>
      <p:pic>
        <p:nvPicPr>
          <p:cNvPr id="14" name="Picture 13" descr="7e3b81dbc2bff3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7" y="4277072"/>
            <a:ext cx="1213104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7237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pic>
        <p:nvPicPr>
          <p:cNvPr id="8" name="Picture 7" descr="65357565e2967f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975" y="2194560"/>
            <a:ext cx="1115568" cy="1167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7a2d988691ed78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99" y="2103120"/>
            <a:ext cx="1112520" cy="1167384"/>
          </a:xfrm>
          <a:prstGeom prst="rect">
            <a:avLst/>
          </a:prstGeom>
        </p:spPr>
      </p:pic>
      <p:pic>
        <p:nvPicPr>
          <p:cNvPr id="9" name="Picture 8" descr="9ede1db7650679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743" y="3572255"/>
            <a:ext cx="4178808" cy="8473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dda27b062e079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be21e0d759d6f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03120"/>
            <a:ext cx="1274064" cy="841248"/>
          </a:xfrm>
          <a:prstGeom prst="rect">
            <a:avLst/>
          </a:prstGeom>
        </p:spPr>
      </p:pic>
      <p:pic>
        <p:nvPicPr>
          <p:cNvPr id="9" name="Picture 8" descr="3578dff92cd336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303" y="3246120"/>
            <a:ext cx="2069591" cy="777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4380" y="492709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4ab832f314e81a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620" y="4663440"/>
            <a:ext cx="1112520" cy="10759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24ad149a2162bc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1" y="2194560"/>
            <a:ext cx="448056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378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101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9590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01743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1629cabbb0de35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1" y="2103120"/>
            <a:ext cx="448056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5234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450" y="3377515"/>
            <a:ext cx="73917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Any nonzero number to the power 0 is 1.</a:t>
            </a:r>
          </a:p>
        </p:txBody>
      </p:sp>
      <p:pic>
        <p:nvPicPr>
          <p:cNvPr id="11" name="Picture 10" descr="c09f26f770b7cb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314" y="3994735"/>
            <a:ext cx="826008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c64457c91756da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204" y="2194560"/>
            <a:ext cx="515112" cy="984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0766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0739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759783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87568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492b406a8f5b14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7" y="2103120"/>
            <a:ext cx="512064" cy="9875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31927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131314ea478871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679" y="3967303"/>
            <a:ext cx="2154936" cy="713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81769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0538c15f498df9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228" y="2194560"/>
            <a:ext cx="893064" cy="993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0ae3b03db9ce2a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752" y="2103120"/>
            <a:ext cx="890016" cy="993648"/>
          </a:xfrm>
          <a:prstGeom prst="rect">
            <a:avLst/>
          </a:prstGeom>
        </p:spPr>
      </p:pic>
      <p:pic>
        <p:nvPicPr>
          <p:cNvPr id="9" name="Picture 8" descr="f1adc35cb08825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723" y="3398520"/>
            <a:ext cx="2974848" cy="716280"/>
          </a:xfrm>
          <a:prstGeom prst="rect">
            <a:avLst/>
          </a:prstGeom>
        </p:spPr>
      </p:pic>
      <p:pic>
        <p:nvPicPr>
          <p:cNvPr id="10" name="Picture 9" descr="0431727820ff0b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9723" y="4296156"/>
            <a:ext cx="178308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914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0.125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6b12155fed1886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94560"/>
            <a:ext cx="1274064" cy="844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9336c4e0de941d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728" y="2103120"/>
            <a:ext cx="1274064" cy="8442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53450" y="3226308"/>
            <a:ext cx="73917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Any nonzero number to the power 0 is 1.</a:t>
            </a:r>
          </a:p>
        </p:txBody>
      </p:sp>
      <p:pic>
        <p:nvPicPr>
          <p:cNvPr id="10" name="Picture 9" descr="57a6de2c0fe6ec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314" y="3788664"/>
            <a:ext cx="1426464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6769" y="1812036"/>
            <a:ext cx="30346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Hannah cancels:  </a:t>
            </a:r>
          </a:p>
        </p:txBody>
      </p:sp>
      <p:pic>
        <p:nvPicPr>
          <p:cNvPr id="9" name="Picture 8" descr="f187a11a89af76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4219" y="1645920"/>
            <a:ext cx="1578864" cy="78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3083" y="1812036"/>
            <a:ext cx="40368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Sebastian subtracts:  </a:t>
            </a:r>
          </a:p>
        </p:txBody>
      </p:sp>
      <p:pic>
        <p:nvPicPr>
          <p:cNvPr id="11" name="Picture 10" descr="f7fea7d63fe294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764" y="1645920"/>
            <a:ext cx="1143000" cy="789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65764" y="1812036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096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Who is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721" y="1810512"/>
            <a:ext cx="30346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Hannah cancels:  </a:t>
            </a:r>
          </a:p>
        </p:txBody>
      </p:sp>
      <p:pic>
        <p:nvPicPr>
          <p:cNvPr id="9" name="Picture 8" descr="36cadf9b5edf76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171" y="1645920"/>
            <a:ext cx="1581912" cy="786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23083" y="1810512"/>
            <a:ext cx="40368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 Sebastian subtracts:  </a:t>
            </a:r>
          </a:p>
        </p:txBody>
      </p:sp>
      <p:pic>
        <p:nvPicPr>
          <p:cNvPr id="11" name="Picture 10" descr="481073d0dfc434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2764" y="1645920"/>
            <a:ext cx="1146048" cy="7863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68812" y="1810512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06624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Who is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017" y="3426283"/>
            <a:ext cx="16516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Hannah:  </a:t>
            </a:r>
          </a:p>
        </p:txBody>
      </p:sp>
      <p:pic>
        <p:nvPicPr>
          <p:cNvPr id="15" name="Picture 14" descr="cccc3c74ba494f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468" y="3354655"/>
            <a:ext cx="1213104" cy="6004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79017" y="4118179"/>
            <a:ext cx="1974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Sebastian:  </a:t>
            </a:r>
          </a:p>
        </p:txBody>
      </p:sp>
      <p:pic>
        <p:nvPicPr>
          <p:cNvPr id="17" name="Picture 16" descr="c39e2f4fb05682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38" y="4046551"/>
            <a:ext cx="1743456" cy="600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79017" y="4715587"/>
            <a:ext cx="30487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Same fraction, so  </a:t>
            </a:r>
          </a:p>
        </p:txBody>
      </p:sp>
      <p:pic>
        <p:nvPicPr>
          <p:cNvPr id="19" name="Picture 18" descr="c474a6f40cf411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0606" y="4814647"/>
            <a:ext cx="691896" cy="2590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28708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Both —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0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9218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92182"/>
            <a:ext cx="265499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0" name="Picture 9" descr="a20fd9ba3a575f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2310" y="1517904"/>
            <a:ext cx="254309" cy="5262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2502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50219"/>
            <a:ext cx="20691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88fae2052833ae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518" y="2172163"/>
            <a:ext cx="271934" cy="533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95861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8614"/>
            <a:ext cx="20691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6" name="Picture 15" descr="086531e7053a3b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6518" y="2833977"/>
            <a:ext cx="616888" cy="6269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622945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22945"/>
            <a:ext cx="85208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Rewrite so the exponent is on the numerator and on the denominator.  </a:t>
            </a:r>
          </a:p>
        </p:txBody>
      </p:sp>
      <p:pic>
        <p:nvPicPr>
          <p:cNvPr id="19" name="Picture 18" descr="eb63da779674ef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8218" y="3588953"/>
            <a:ext cx="533797" cy="4456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4199150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99150"/>
            <a:ext cx="20691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5724de55833e2d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6518" y="4162640"/>
            <a:ext cx="667246" cy="45070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80179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01792"/>
            <a:ext cx="225388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1208" y="4921393"/>
            <a:ext cx="120859" cy="138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792068" y="4801792"/>
            <a:ext cx="40179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70948e8ce7156c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6703" y="4741362"/>
            <a:ext cx="783070" cy="49854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2 — Quotient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Powers with negative bases — WFW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Division with exponents — XNC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Identify equivalent expressions involving whole-number exponents — KBE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