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42.png"/><Relationship Id="rId5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Writing Small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write very small numbers in scientific notation, read them back, and find how many times larger or smaller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1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1626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 </a:t>
            </a:r>
          </a:p>
        </p:txBody>
      </p:sp>
      <p:pic>
        <p:nvPicPr>
          <p:cNvPr id="10" name="Picture 9" descr="b44355ff61a16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042" y="2145792"/>
            <a:ext cx="560832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24874" y="2052828"/>
            <a:ext cx="22419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fraction.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65476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3" name="Picture 12" descr="703b0b7ef618e4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464" y="2699004"/>
            <a:ext cx="69189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9360" y="2665476"/>
            <a:ext cx="58056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is between which two whole numbers?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44415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 0.007  as a fraction.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1347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4,300,000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0719" y="1440180"/>
            <a:ext cx="14736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4.3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1626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 </a:t>
            </a:r>
          </a:p>
        </p:txBody>
      </p:sp>
      <p:pic>
        <p:nvPicPr>
          <p:cNvPr id="11" name="Picture 10" descr="b44355ff61a161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042" y="2145792"/>
            <a:ext cx="560832" cy="2712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24874" y="2052828"/>
            <a:ext cx="22419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fraction.</a:t>
            </a:r>
          </a:p>
        </p:txBody>
      </p:sp>
      <p:pic>
        <p:nvPicPr>
          <p:cNvPr id="13" name="Picture 12" descr="2b698db5dc091f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303" y="2075688"/>
            <a:ext cx="816864" cy="600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2665476"/>
            <a:ext cx="680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</a:t>
            </a:r>
          </a:p>
        </p:txBody>
      </p:sp>
      <p:pic>
        <p:nvPicPr>
          <p:cNvPr id="15" name="Picture 14" descr="703b0b7ef618e4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464" y="2699004"/>
            <a:ext cx="691896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09360" y="2665476"/>
            <a:ext cx="58056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is between which two whole numbers?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495" y="2665476"/>
            <a:ext cx="15047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44415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Write  0.007  as a fraction.</a:t>
            </a:r>
          </a:p>
        </p:txBody>
      </p:sp>
      <p:pic>
        <p:nvPicPr>
          <p:cNvPr id="19" name="Picture 18" descr="24e3778fee0149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589" y="3300984"/>
            <a:ext cx="816864" cy="597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Negative powers of ten name the decimal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-5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0.00001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654e90524fa10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744" y="3017520"/>
            <a:ext cx="1685544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02288" y="313182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3" name="Picture 12" descr="4ca5845658b16c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31" y="2990088"/>
            <a:ext cx="3438144" cy="7406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0690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 negative exponent puts the 1 in that decimal place: 10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-4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 is a 1 in the fourth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Small numbers in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7cf70d1664c7c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44" y="2028444"/>
            <a:ext cx="331622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8068" y="19705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a88e78fd38d3b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11" y="2031492"/>
            <a:ext cx="4017264" cy="335280"/>
          </a:xfrm>
          <a:prstGeom prst="rect">
            <a:avLst/>
          </a:prstGeom>
        </p:spPr>
      </p:pic>
      <p:pic>
        <p:nvPicPr>
          <p:cNvPr id="13" name="Picture 12" descr="fa690032944f26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5" y="2714244"/>
            <a:ext cx="459028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coefficient is still at least 1 and less than 10. The exponent is negative for a number less than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 exponent is how many places the point moves: from 0.0000672 to 6.72 is five places right, so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How many times larger — or smaller?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6cc52bce800e0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00" y="1993392"/>
            <a:ext cx="4556760" cy="795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49960" y="2162556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f3a5416871ca10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303" y="1993392"/>
            <a:ext cx="2414016" cy="795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12724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Divide the powers of 10 — subtract the exponents. Multiply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33425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Which is bigger,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or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-8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? The one with the larger exponent: −5 &gt; −8, so 10</a:t>
            </a:r>
            <a:r>
              <a:rPr sz="2180" b="0" i="0" baseline="30000">
                <a:solidFill>
                  <a:srgbClr val="1A1A1A"/>
                </a:solidFill>
                <a:latin typeface="Lexend"/>
              </a:rPr>
              <a:t>-5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The density of oxygen is 1,332 millionths of a gram per cubic centimeter.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as a decimal, then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6b0aa89dc254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06952" cy="810768"/>
          </a:xfrm>
          <a:prstGeom prst="rect">
            <a:avLst/>
          </a:prstGeom>
        </p:spPr>
      </p:pic>
      <p:pic>
        <p:nvPicPr>
          <p:cNvPr id="9" name="Picture 8" descr="b11101a855a1dd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898392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0.001332 = 1.332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human hair is about 67 hundred-thousandths of an inch thick.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Write this value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0777" y="2728688"/>
            <a:ext cx="54371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67 hundred-thousandths = 0.00067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0777" y="3231608"/>
            <a:ext cx="52939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Move the point 4 places right:  6.7</a:t>
            </a:r>
          </a:p>
        </p:txBody>
      </p:sp>
      <p:pic>
        <p:nvPicPr>
          <p:cNvPr id="12" name="Picture 11" descr="6b2179ecfff78d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641" y="3835112"/>
            <a:ext cx="2599944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5094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b4e84117b325ad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33" y="2141219"/>
            <a:ext cx="15605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6809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23867d22f72f6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251" y="2139696"/>
            <a:ext cx="1524000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20251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663d5441fef8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146048" cy="676656"/>
          </a:xfrm>
          <a:prstGeom prst="rect">
            <a:avLst/>
          </a:prstGeom>
        </p:spPr>
      </p:pic>
      <p:pic>
        <p:nvPicPr>
          <p:cNvPr id="9" name="Picture 8" descr="101a9ffba773b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624072" cy="795528"/>
          </a:xfrm>
          <a:prstGeom prst="rect">
            <a:avLst/>
          </a:prstGeom>
        </p:spPr>
      </p:pic>
      <p:pic>
        <p:nvPicPr>
          <p:cNvPr id="10" name="Picture 9" descr="8b5cad9d15904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41063"/>
            <a:ext cx="2532888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4,000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4282" y="1583436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9c7a204f287653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21" y="1601724"/>
            <a:ext cx="1941576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6997" y="1583436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873100442e093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439" y="1600200"/>
            <a:ext cx="1944623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21063" y="1583436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1234" y="1583436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edd08f0868705a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73" y="1601724"/>
            <a:ext cx="1944623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6997" y="1583436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c12161b97b98d8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439" y="1600200"/>
            <a:ext cx="1947672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24111" y="1583436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3688" y="2394204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ff9a26e5845eab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808" y="2516124"/>
            <a:ext cx="149656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3688" y="2897124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e0fb676db25f9e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959" y="2996184"/>
            <a:ext cx="3550920" cy="259080"/>
          </a:xfrm>
          <a:prstGeom prst="rect">
            <a:avLst/>
          </a:prstGeom>
        </p:spPr>
      </p:pic>
      <p:pic>
        <p:nvPicPr>
          <p:cNvPr id="17" name="Picture 16" descr="2847951d0162e9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552" y="3473196"/>
            <a:ext cx="2258568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200,000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4c6e3c9e0240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194560"/>
            <a:ext cx="868680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df6df4192e8ef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2103120"/>
            <a:ext cx="868680" cy="420624"/>
          </a:xfrm>
          <a:prstGeom prst="rect">
            <a:avLst/>
          </a:prstGeom>
        </p:spPr>
      </p:pic>
      <p:pic>
        <p:nvPicPr>
          <p:cNvPr id="9" name="Picture 8" descr="bd3a4c29b92dda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2825496"/>
            <a:ext cx="581558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 0.003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2785" y="2728291"/>
            <a:ext cx="63568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The 3 is in the thousandths place:  </a:t>
            </a:r>
          </a:p>
        </p:txBody>
      </p:sp>
      <p:pic>
        <p:nvPicPr>
          <p:cNvPr id="10" name="Picture 9" descr="830231c5d5c0db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02" y="2804491"/>
            <a:ext cx="1859280" cy="304800"/>
          </a:xfrm>
          <a:prstGeom prst="rect">
            <a:avLst/>
          </a:prstGeom>
        </p:spPr>
      </p:pic>
      <p:pic>
        <p:nvPicPr>
          <p:cNvPr id="11" name="Picture 10" descr="33c20a97ceac52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49" y="3343987"/>
            <a:ext cx="2365248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5" y="217170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a7aaa5b3e98ae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373" y="2232660"/>
            <a:ext cx="15727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19141" y="217170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6497" y="2080260"/>
            <a:ext cx="1273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9" name="Picture 8" descr="1b45f78dcdf522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325" y="2139696"/>
            <a:ext cx="1578864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22189" y="2080260"/>
            <a:ext cx="3169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pic>
        <p:nvPicPr>
          <p:cNvPr id="11" name="Picture 10" descr="562f191cbb88b9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1" y="2915412"/>
            <a:ext cx="2075688" cy="304800"/>
          </a:xfrm>
          <a:prstGeom prst="rect">
            <a:avLst/>
          </a:prstGeom>
        </p:spPr>
      </p:pic>
      <p:pic>
        <p:nvPicPr>
          <p:cNvPr id="12" name="Picture 11" descr="6f8ea1aa564467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1" y="3480816"/>
            <a:ext cx="3483864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machine's cutting tolerance is  0.0000988  inch.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part it cuts is 4 inches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the tolerance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910" y="3587827"/>
            <a:ext cx="64348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5 places right:  9.88</a:t>
            </a:r>
          </a:p>
        </p:txBody>
      </p:sp>
      <p:pic>
        <p:nvPicPr>
          <p:cNvPr id="12" name="Picture 11" descr="45f9f3462ccd01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74" y="4203523"/>
            <a:ext cx="3694176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988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9.88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 0.00081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9092" y="2728291"/>
            <a:ext cx="62204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Move the point 4 places right:  8.1</a:t>
            </a:r>
          </a:p>
        </p:txBody>
      </p:sp>
      <p:pic>
        <p:nvPicPr>
          <p:cNvPr id="10" name="Picture 9" descr="2b19566df5af1f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956" y="3343987"/>
            <a:ext cx="3048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8.1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9226" y="217170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5a2c3be760cceb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65" y="2231136"/>
            <a:ext cx="1249680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0045" y="217170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9a8c04db501f05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7" y="2232660"/>
            <a:ext cx="124663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6119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6178" y="2080260"/>
            <a:ext cx="4488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9" name="Picture 8" descr="a75ced4ea1776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317" y="2139696"/>
            <a:ext cx="12527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00045" y="2080260"/>
            <a:ext cx="1316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1" name="Picture 10" descr="aed887976cb4b8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7" y="2141219"/>
            <a:ext cx="1249680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29167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5212" y="2839212"/>
            <a:ext cx="3415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numbers:  </a:t>
            </a:r>
          </a:p>
        </p:txBody>
      </p:sp>
      <p:pic>
        <p:nvPicPr>
          <p:cNvPr id="14" name="Picture 13" descr="38fe3a113732c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332" y="2961132"/>
            <a:ext cx="1024128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85212" y="3342132"/>
            <a:ext cx="31834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powers:  </a:t>
            </a:r>
          </a:p>
        </p:txBody>
      </p:sp>
      <p:pic>
        <p:nvPicPr>
          <p:cNvPr id="16" name="Picture 15" descr="65ff84f4a4ec86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483" y="3439667"/>
            <a:ext cx="3547872" cy="262128"/>
          </a:xfrm>
          <a:prstGeom prst="rect">
            <a:avLst/>
          </a:prstGeom>
        </p:spPr>
      </p:pic>
      <p:pic>
        <p:nvPicPr>
          <p:cNvPr id="17" name="Picture 16" descr="9d511f57c8dac0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076" y="3942588"/>
            <a:ext cx="1630680" cy="2621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300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137" y="217170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d2459244fa239e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31" y="2232660"/>
            <a:ext cx="1572768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06499" y="217170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864747ff021804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84" y="2231136"/>
            <a:ext cx="1563624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54208" y="217170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1137" y="2080260"/>
            <a:ext cx="309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9" name="Picture 8" descr="43c7aae94098e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731" y="2139696"/>
            <a:ext cx="157276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06499" y="2080260"/>
            <a:ext cx="9212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11" name="Picture 10" descr="f23f4cda83ccbf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584" y="2138171"/>
            <a:ext cx="1563624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54208" y="2080260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3" name="Picture 12" descr="2ae882816ad8ae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596" y="2915412"/>
            <a:ext cx="3072384" cy="304800"/>
          </a:xfrm>
          <a:prstGeom prst="rect">
            <a:avLst/>
          </a:prstGeom>
        </p:spPr>
      </p:pic>
      <p:pic>
        <p:nvPicPr>
          <p:cNvPr id="14" name="Picture 13" descr="d1a7b376b364cf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96" y="3453383"/>
            <a:ext cx="3499104" cy="3078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5.3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computer displays a number as  4.2E−6.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1038" y="3303170"/>
            <a:ext cx="28809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4.2E−6 means  </a:t>
            </a:r>
          </a:p>
        </p:txBody>
      </p:sp>
      <p:pic>
        <p:nvPicPr>
          <p:cNvPr id="11" name="Picture 10" descr="5a5877e7059393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73" y="3377846"/>
            <a:ext cx="1438656" cy="307848"/>
          </a:xfrm>
          <a:prstGeom prst="rect">
            <a:avLst/>
          </a:prstGeom>
        </p:spPr>
      </p:pic>
      <p:pic>
        <p:nvPicPr>
          <p:cNvPr id="12" name="Picture 11" descr="2ef28584177cd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902" y="3917342"/>
            <a:ext cx="3538728" cy="3078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2662" y="2171700"/>
            <a:ext cx="2884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A is  </a:t>
            </a:r>
          </a:p>
        </p:txBody>
      </p:sp>
      <p:pic>
        <p:nvPicPr>
          <p:cNvPr id="9" name="Picture 8" descr="6f28bcb12f677a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43" y="2229612"/>
            <a:ext cx="124968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9823" y="217170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2761" y="2857500"/>
            <a:ext cx="2878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B is  </a:t>
            </a:r>
          </a:p>
        </p:txBody>
      </p:sp>
      <p:pic>
        <p:nvPicPr>
          <p:cNvPr id="12" name="Picture 11" descr="d925408048692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947" y="2915412"/>
            <a:ext cx="1255776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9723" y="285750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1138" y="2080260"/>
            <a:ext cx="2884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A is  </a:t>
            </a:r>
          </a:p>
        </p:txBody>
      </p:sp>
      <p:pic>
        <p:nvPicPr>
          <p:cNvPr id="9" name="Picture 8" descr="846d6a6440d7a0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19" y="2138171"/>
            <a:ext cx="1252728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1347" y="208026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1237" y="2766060"/>
            <a:ext cx="28783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Fishing line B is  </a:t>
            </a:r>
          </a:p>
        </p:txBody>
      </p:sp>
      <p:pic>
        <p:nvPicPr>
          <p:cNvPr id="12" name="Picture 11" descr="9a59c78d08cd98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423" y="2823971"/>
            <a:ext cx="125882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247" y="2766060"/>
            <a:ext cx="2016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inch thick.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Which is thicker, and how many times? Name a thickness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4286" y="4046220"/>
            <a:ext cx="61501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Same power of 10, so compare 2 and 6.</a:t>
            </a:r>
          </a:p>
        </p:txBody>
      </p:sp>
      <p:pic>
        <p:nvPicPr>
          <p:cNvPr id="16" name="Picture 15" descr="38fe3a113732c6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150" y="4671060"/>
            <a:ext cx="1024128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74286" y="5052059"/>
            <a:ext cx="26404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Between them:  </a:t>
            </a:r>
          </a:p>
        </p:txBody>
      </p:sp>
      <p:pic>
        <p:nvPicPr>
          <p:cNvPr id="18" name="Picture 17" descr="581fc6e4e685e8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529" y="5149596"/>
            <a:ext cx="984504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B; 3 times; e.g. 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5402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0.00047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89403"/>
            <a:ext cx="1151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</a:t>
            </a:r>
          </a:p>
        </p:txBody>
      </p:sp>
      <p:pic>
        <p:nvPicPr>
          <p:cNvPr id="12" name="Picture 11" descr="0784cf502c291e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615" y="2182367"/>
            <a:ext cx="1283208" cy="271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51823" y="2089403"/>
            <a:ext cx="282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in standard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57349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 0.0000061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78123"/>
            <a:ext cx="27663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Which is greater,  </a:t>
            </a:r>
          </a:p>
        </p:txBody>
      </p:sp>
      <p:pic>
        <p:nvPicPr>
          <p:cNvPr id="18" name="Picture 17" descr="2b6d28ce99c0e7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713" y="3369563"/>
            <a:ext cx="128016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63873" y="3278123"/>
            <a:ext cx="839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or  </a:t>
            </a:r>
          </a:p>
        </p:txBody>
      </p:sp>
      <p:pic>
        <p:nvPicPr>
          <p:cNvPr id="20" name="Picture 19" descr="4f77a3766b4748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979" y="3368039"/>
            <a:ext cx="125272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18707" y="327812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872483"/>
            <a:ext cx="39948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many times larger is  </a:t>
            </a:r>
          </a:p>
        </p:txBody>
      </p:sp>
      <p:pic>
        <p:nvPicPr>
          <p:cNvPr id="24" name="Picture 23" descr="36f5a0412d8a35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147" y="3962399"/>
            <a:ext cx="1024128" cy="27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36275" y="3872483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26" name="Picture 25" descr="a131a25e21d7ba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077" y="3965447"/>
            <a:ext cx="1042415" cy="271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30493" y="3872483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66844"/>
            <a:ext cx="9859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computer displays a number as  3.7E−5.  Write it in standard form.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9 — Writing Small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standard and scientific notation: small numbers — 85M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small numbers — KDR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of ten with negative exponents — SKD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