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Relationship Id="rId6" Type="http://schemas.openxmlformats.org/officeDocument/2006/relationships/image" Target="../media/image2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image" Target="../media/image3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image" Target="../media/image39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41.png"/><Relationship Id="rId4" Type="http://schemas.openxmlformats.org/officeDocument/2006/relationships/image" Target="../media/image42.png"/><Relationship Id="rId5" Type="http://schemas.openxmlformats.org/officeDocument/2006/relationships/image" Target="../media/image43.png"/><Relationship Id="rId6" Type="http://schemas.openxmlformats.org/officeDocument/2006/relationships/image" Target="../media/image4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image" Target="../media/image4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Relationship Id="rId3" Type="http://schemas.openxmlformats.org/officeDocument/2006/relationships/image" Target="../media/image48.png"/><Relationship Id="rId4" Type="http://schemas.openxmlformats.org/officeDocument/2006/relationships/image" Target="../media/image49.png"/><Relationship Id="rId5" Type="http://schemas.openxmlformats.org/officeDocument/2006/relationships/image" Target="../media/image50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Relationship Id="rId3" Type="http://schemas.openxmlformats.org/officeDocument/2006/relationships/image" Target="../media/image5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Relationship Id="rId3" Type="http://schemas.openxmlformats.org/officeDocument/2006/relationships/image" Target="../media/image54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image" Target="../media/image56.png"/><Relationship Id="rId4" Type="http://schemas.openxmlformats.org/officeDocument/2006/relationships/image" Target="../media/image42.png"/><Relationship Id="rId5" Type="http://schemas.openxmlformats.org/officeDocument/2006/relationships/image" Target="../media/image57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Relationship Id="rId3" Type="http://schemas.openxmlformats.org/officeDocument/2006/relationships/image" Target="../media/image59.png"/><Relationship Id="rId4" Type="http://schemas.openxmlformats.org/officeDocument/2006/relationships/image" Target="../media/image60.png"/><Relationship Id="rId5" Type="http://schemas.openxmlformats.org/officeDocument/2006/relationships/image" Target="../media/image61.png"/><Relationship Id="rId6" Type="http://schemas.openxmlformats.org/officeDocument/2006/relationships/image" Target="../media/image6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3  ·  LESSON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Writing Small Numbers in Scientific Notation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MA.8.NSO.1.4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write very small numbers in scientific notation, read them back, and find how many times larger or smaller one number is than another.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1347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Write  4,300,000  in scientific notation.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052828"/>
            <a:ext cx="162668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Write  </a:t>
            </a:r>
          </a:p>
        </p:txBody>
      </p:sp>
      <p:pic>
        <p:nvPicPr>
          <p:cNvPr id="10" name="Picture 9" descr="b44355ff61a1611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4042" y="2145792"/>
            <a:ext cx="560832" cy="2712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924874" y="2052828"/>
            <a:ext cx="22419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as a fraction.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665476"/>
            <a:ext cx="6801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</a:t>
            </a:r>
          </a:p>
        </p:txBody>
      </p:sp>
      <p:pic>
        <p:nvPicPr>
          <p:cNvPr id="13" name="Picture 12" descr="703b0b7ef618e49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17464" y="2699004"/>
            <a:ext cx="691896" cy="3901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109360" y="2665476"/>
            <a:ext cx="58056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is between which two whole numbers?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278124"/>
            <a:ext cx="44415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Write  0.007  as a fraction.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1347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Write  4,300,000  in scientific notation.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20719" y="1440180"/>
            <a:ext cx="14736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4.3 × 10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052828"/>
            <a:ext cx="162668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Write  </a:t>
            </a:r>
          </a:p>
        </p:txBody>
      </p:sp>
      <p:pic>
        <p:nvPicPr>
          <p:cNvPr id="11" name="Picture 10" descr="b44355ff61a1611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4042" y="2145792"/>
            <a:ext cx="560832" cy="2712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924874" y="2052828"/>
            <a:ext cx="22419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as a fraction.</a:t>
            </a:r>
          </a:p>
        </p:txBody>
      </p:sp>
      <p:pic>
        <p:nvPicPr>
          <p:cNvPr id="13" name="Picture 12" descr="2b698db5dc091f8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8303" y="2075688"/>
            <a:ext cx="816864" cy="60045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874519" y="2665476"/>
            <a:ext cx="6801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</a:t>
            </a:r>
          </a:p>
        </p:txBody>
      </p:sp>
      <p:pic>
        <p:nvPicPr>
          <p:cNvPr id="15" name="Picture 14" descr="703b0b7ef618e49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17464" y="2699004"/>
            <a:ext cx="691896" cy="39014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109360" y="2665476"/>
            <a:ext cx="58056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is between which two whole numbers?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495" y="2665476"/>
            <a:ext cx="15047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9 and 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278124"/>
            <a:ext cx="44415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Write  0.007  as a fraction.</a:t>
            </a:r>
          </a:p>
        </p:txBody>
      </p:sp>
      <p:pic>
        <p:nvPicPr>
          <p:cNvPr id="19" name="Picture 18" descr="24e3778fee0149c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7589" y="3300984"/>
            <a:ext cx="816864" cy="59740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Negative powers of ten name the decimal places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1142999" y="1993392"/>
          <a:ext cx="9875520" cy="7680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  <a:gridCol w="164592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-1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-2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-3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-4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-5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0.1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0.01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0.001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0.0001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0.00001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pic>
        <p:nvPicPr>
          <p:cNvPr id="11" name="Picture 10" descr="654e90524fa1015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6744" y="3017520"/>
            <a:ext cx="1685544" cy="6858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702288" y="3131820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3" name="Picture 12" descr="4ca5845658b16cd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06631" y="2990088"/>
            <a:ext cx="3438144" cy="7406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069080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A negative exponent puts the 1 in that decimal place: 10</a:t>
            </a:r>
            <a:r>
              <a:rPr sz="2180" b="1" i="0" baseline="30000">
                <a:solidFill>
                  <a:srgbClr val="1A1A1A"/>
                </a:solidFill>
                <a:latin typeface="Lexend"/>
              </a:rPr>
              <a:t>-4</a:t>
            </a:r>
            <a:r>
              <a:rPr sz="2180" b="1" i="0">
                <a:solidFill>
                  <a:srgbClr val="1A1A1A"/>
                </a:solidFill>
                <a:latin typeface="Lexend"/>
              </a:rPr>
              <a:t> is a 1 in the fourth place.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Small numbers in scientific notation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37cf70d1664c7cc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1844" y="2028444"/>
            <a:ext cx="3316224" cy="34137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228068" y="1970532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2" name="Picture 11" descr="fa88e78fd38d3b8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2411" y="2031492"/>
            <a:ext cx="4017264" cy="335280"/>
          </a:xfrm>
          <a:prstGeom prst="rect">
            <a:avLst/>
          </a:prstGeom>
        </p:spPr>
      </p:pic>
      <p:pic>
        <p:nvPicPr>
          <p:cNvPr id="13" name="Picture 12" descr="fa690032944f268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85615" y="2714244"/>
            <a:ext cx="4590288" cy="3413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3429000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The coefficient is still at least 1 and less than 10. The exponent is negative for a number less than 1.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4636008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The exponent is how many places the point moves: 0.0000672 </a:t>
            </a:r>
            <a:r>
              <a:rPr sz="2180" b="0" i="0">
                <a:solidFill>
                  <a:srgbClr val="1A1A1A"/>
                </a:solidFill>
                <a:latin typeface="Arial"/>
              </a:rPr>
              <a:t>→</a:t>
            </a:r>
            <a:r>
              <a:rPr sz="2180" b="0" i="0">
                <a:solidFill>
                  <a:srgbClr val="1A1A1A"/>
                </a:solidFill>
                <a:latin typeface="Lexend"/>
              </a:rPr>
              <a:t> 6.72 is five places right, so 10</a:t>
            </a:r>
            <a:r>
              <a:rPr sz="2180" b="0" i="0" baseline="30000">
                <a:solidFill>
                  <a:srgbClr val="1A1A1A"/>
                </a:solidFill>
                <a:latin typeface="Lexend"/>
              </a:rPr>
              <a:t>-5</a:t>
            </a:r>
            <a:r>
              <a:rPr sz="21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How many times larger — or smaller?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96cc52bce800e0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3200" y="1993392"/>
            <a:ext cx="4556760" cy="7955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649960" y="2162556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2" name="Picture 11" descr="f3a5416871ca108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4303" y="1993392"/>
            <a:ext cx="2414016" cy="7955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7552" y="3127248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Divide the coefficients. Divide the powers of 10 — subtract the exponents. Multiply the results.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4334256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Which is bigger, 10</a:t>
            </a:r>
            <a:r>
              <a:rPr sz="2180" b="0" i="0" baseline="30000">
                <a:solidFill>
                  <a:srgbClr val="1A1A1A"/>
                </a:solidFill>
                <a:latin typeface="Lexend"/>
              </a:rPr>
              <a:t>-5</a:t>
            </a:r>
            <a:r>
              <a:rPr sz="2180" b="0" i="0">
                <a:solidFill>
                  <a:srgbClr val="1A1A1A"/>
                </a:solidFill>
                <a:latin typeface="Lexend"/>
              </a:rPr>
              <a:t> or 10</a:t>
            </a:r>
            <a:r>
              <a:rPr sz="2180" b="0" i="0" baseline="30000">
                <a:solidFill>
                  <a:srgbClr val="1A1A1A"/>
                </a:solidFill>
                <a:latin typeface="Lexend"/>
              </a:rPr>
              <a:t>-8</a:t>
            </a:r>
            <a:r>
              <a:rPr sz="2180" b="0" i="0">
                <a:solidFill>
                  <a:srgbClr val="1A1A1A"/>
                </a:solidFill>
                <a:latin typeface="Lexend"/>
              </a:rPr>
              <a:t>? The one with the larger exponent: −5 &gt; −8, so 10</a:t>
            </a:r>
            <a:r>
              <a:rPr sz="2180" b="0" i="0" baseline="30000">
                <a:solidFill>
                  <a:srgbClr val="1A1A1A"/>
                </a:solidFill>
                <a:latin typeface="Lexend"/>
              </a:rPr>
              <a:t>-5</a:t>
            </a:r>
            <a:r>
              <a:rPr sz="21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The density of oxygen is 1,332 millionths of a gram per cubic centimeter.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0582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Write this value as a decimal, then in scientific notation.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c6b0aa89dc25477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806952" cy="810768"/>
          </a:xfrm>
          <a:prstGeom prst="rect">
            <a:avLst/>
          </a:prstGeom>
        </p:spPr>
      </p:pic>
      <p:pic>
        <p:nvPicPr>
          <p:cNvPr id="9" name="Picture 8" descr="b11101a855a1dd5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3005328"/>
            <a:ext cx="3898392" cy="3383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0.001332 = 1.332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human hair is about 67 hundred-thousandths of an inch thick.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Write this value in scientific notation.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human hair is about 67 hundred-thousandths of an inch thick.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Write this value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30777" y="2728688"/>
            <a:ext cx="54371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67 hundred-thousandths = 0.00067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30777" y="3231608"/>
            <a:ext cx="529399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Move the point 4 places right:  6.7</a:t>
            </a:r>
          </a:p>
        </p:txBody>
      </p:sp>
      <p:pic>
        <p:nvPicPr>
          <p:cNvPr id="12" name="Picture 11" descr="6b2179ecfff78d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85641" y="3835112"/>
            <a:ext cx="2599944" cy="2560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6.7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5094" y="2080260"/>
            <a:ext cx="44882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How many times larger is  </a:t>
            </a:r>
          </a:p>
        </p:txBody>
      </p:sp>
      <p:pic>
        <p:nvPicPr>
          <p:cNvPr id="9" name="Picture 8" descr="b4e84117b325ad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6233" y="2141219"/>
            <a:ext cx="1560576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16809" y="2080260"/>
            <a:ext cx="13166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than  </a:t>
            </a:r>
          </a:p>
        </p:txBody>
      </p:sp>
      <p:pic>
        <p:nvPicPr>
          <p:cNvPr id="11" name="Picture 10" descr="23867d22f72f689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6251" y="2139696"/>
            <a:ext cx="1524000" cy="3383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220251" y="2080260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pic>
        <p:nvPicPr>
          <p:cNvPr id="8" name="Picture 7" descr="8663d5441fef8d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1146048" cy="676656"/>
          </a:xfrm>
          <a:prstGeom prst="rect">
            <a:avLst/>
          </a:prstGeom>
        </p:spPr>
      </p:pic>
      <p:pic>
        <p:nvPicPr>
          <p:cNvPr id="9" name="Picture 8" descr="101a9ffba773bd4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71215"/>
            <a:ext cx="3624072" cy="795528"/>
          </a:xfrm>
          <a:prstGeom prst="rect">
            <a:avLst/>
          </a:prstGeom>
        </p:spPr>
      </p:pic>
      <p:pic>
        <p:nvPicPr>
          <p:cNvPr id="10" name="Picture 9" descr="8b5cad9d1590431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941063"/>
            <a:ext cx="2532888" cy="4053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80364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4,000 times larger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04282" y="1583436"/>
            <a:ext cx="44882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How many times larger is  </a:t>
            </a:r>
          </a:p>
        </p:txBody>
      </p:sp>
      <p:pic>
        <p:nvPicPr>
          <p:cNvPr id="9" name="Picture 8" descr="9c7a204f2876535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5421" y="1601724"/>
            <a:ext cx="1941576" cy="4206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496997" y="1583436"/>
            <a:ext cx="13166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than  </a:t>
            </a:r>
          </a:p>
        </p:txBody>
      </p:sp>
      <p:pic>
        <p:nvPicPr>
          <p:cNvPr id="11" name="Picture 10" descr="873100442e093fb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76439" y="1600200"/>
            <a:ext cx="1944623" cy="4236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621063" y="1583436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01234" y="1583436"/>
            <a:ext cx="44882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How many times larger is  </a:t>
            </a:r>
          </a:p>
        </p:txBody>
      </p:sp>
      <p:pic>
        <p:nvPicPr>
          <p:cNvPr id="9" name="Picture 8" descr="edd08f0868705af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2373" y="1601724"/>
            <a:ext cx="1944623" cy="4206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496997" y="1583436"/>
            <a:ext cx="13166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than  </a:t>
            </a:r>
          </a:p>
        </p:txBody>
      </p:sp>
      <p:pic>
        <p:nvPicPr>
          <p:cNvPr id="11" name="Picture 10" descr="c12161b97b98d81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76439" y="1600200"/>
            <a:ext cx="1947672" cy="4236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624111" y="1583436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83688" y="2394204"/>
            <a:ext cx="34152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Divide the numbers:  </a:t>
            </a:r>
          </a:p>
        </p:txBody>
      </p:sp>
      <p:pic>
        <p:nvPicPr>
          <p:cNvPr id="14" name="Picture 13" descr="ff9a26e5845eab5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61808" y="2516124"/>
            <a:ext cx="1496568" cy="213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783688" y="2897124"/>
            <a:ext cx="31834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Divide the powers:  </a:t>
            </a:r>
          </a:p>
        </p:txBody>
      </p:sp>
      <p:pic>
        <p:nvPicPr>
          <p:cNvPr id="16" name="Picture 15" descr="e0fb676db25f9ed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29959" y="2996184"/>
            <a:ext cx="3550920" cy="259080"/>
          </a:xfrm>
          <a:prstGeom prst="rect">
            <a:avLst/>
          </a:prstGeom>
        </p:spPr>
      </p:pic>
      <p:pic>
        <p:nvPicPr>
          <p:cNvPr id="17" name="Picture 16" descr="2847951d0162e9c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38552" y="3473196"/>
            <a:ext cx="2258568" cy="31089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200,000 times larger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pic>
        <p:nvPicPr>
          <p:cNvPr id="8" name="Picture 7" descr="1c75e9d33d93ce5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5752" y="2194560"/>
            <a:ext cx="890016" cy="42062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pic>
        <p:nvPicPr>
          <p:cNvPr id="8" name="Picture 7" descr="641b1ae2e3e6954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7275" y="2103120"/>
            <a:ext cx="886968" cy="420624"/>
          </a:xfrm>
          <a:prstGeom prst="rect">
            <a:avLst/>
          </a:prstGeom>
        </p:spPr>
      </p:pic>
      <p:pic>
        <p:nvPicPr>
          <p:cNvPr id="9" name="Picture 8" descr="72478af1c7b01c2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92295" y="2825496"/>
            <a:ext cx="4486656" cy="670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0.0001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Write  0.003  in scientific notation.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Write  0.003  in scientific notation.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42785" y="2728291"/>
            <a:ext cx="63568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The 3 is in the thousandths place:  </a:t>
            </a:r>
          </a:p>
        </p:txBody>
      </p:sp>
      <p:pic>
        <p:nvPicPr>
          <p:cNvPr id="10" name="Picture 9" descr="830231c5d5c0dba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62502" y="2804491"/>
            <a:ext cx="1859280" cy="304800"/>
          </a:xfrm>
          <a:prstGeom prst="rect">
            <a:avLst/>
          </a:prstGeom>
        </p:spPr>
      </p:pic>
      <p:pic>
        <p:nvPicPr>
          <p:cNvPr id="11" name="Picture 10" descr="33c20a97ceac52e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97649" y="3343987"/>
            <a:ext cx="2365248" cy="3048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9545" y="2171700"/>
            <a:ext cx="12739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Write  </a:t>
            </a:r>
          </a:p>
        </p:txBody>
      </p:sp>
      <p:pic>
        <p:nvPicPr>
          <p:cNvPr id="9" name="Picture 8" descr="a7aaa5b3e98aec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6373" y="2232660"/>
            <a:ext cx="1572768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19141" y="2171700"/>
            <a:ext cx="31699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in standard form.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6497" y="2080260"/>
            <a:ext cx="12739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Write  </a:t>
            </a:r>
          </a:p>
        </p:txBody>
      </p:sp>
      <p:pic>
        <p:nvPicPr>
          <p:cNvPr id="9" name="Picture 8" descr="1b45f78dcdf5221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3325" y="2139696"/>
            <a:ext cx="1578864" cy="3383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22189" y="2080260"/>
            <a:ext cx="31699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in standard form.</a:t>
            </a:r>
          </a:p>
        </p:txBody>
      </p:sp>
      <p:pic>
        <p:nvPicPr>
          <p:cNvPr id="11" name="Picture 10" descr="562f191cbb88b9f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3691" y="2915412"/>
            <a:ext cx="2075688" cy="304800"/>
          </a:xfrm>
          <a:prstGeom prst="rect">
            <a:avLst/>
          </a:prstGeom>
        </p:spPr>
      </p:pic>
      <p:pic>
        <p:nvPicPr>
          <p:cNvPr id="12" name="Picture 11" descr="6f8ea1aa564467f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93691" y="3480816"/>
            <a:ext cx="3483864" cy="25298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0.00025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machine's cutting tolerance is  0.0000988  inch.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part it cuts is 4 inches long.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9527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Write the tolerance in scientific notation.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machine's cutting tolerance is  0.0000988  inch.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part it cuts is 4 inches long.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9527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Write the tolerance in scientific notation.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31910" y="3587827"/>
            <a:ext cx="643485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Move the point 5 places right:  9.88</a:t>
            </a:r>
          </a:p>
        </p:txBody>
      </p:sp>
      <p:pic>
        <p:nvPicPr>
          <p:cNvPr id="12" name="Picture 11" descr="45f9f3462ccd01b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6774" y="4203523"/>
            <a:ext cx="3694176" cy="3048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698823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9.88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 0.00081  written in scientific notation?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860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8.1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-3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860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8.1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81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-5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8.1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-4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525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 0.00081  written in scientific notation?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39092" y="2728291"/>
            <a:ext cx="62204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Move the point 4 places right:  8.1</a:t>
            </a:r>
          </a:p>
        </p:txBody>
      </p:sp>
      <p:pic>
        <p:nvPicPr>
          <p:cNvPr id="10" name="Picture 9" descr="2b19566df5af1fe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3956" y="3343987"/>
            <a:ext cx="3048000" cy="304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D — 8.1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99226" y="2171700"/>
            <a:ext cx="44882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How many times larger is  </a:t>
            </a:r>
          </a:p>
        </p:txBody>
      </p:sp>
      <p:pic>
        <p:nvPicPr>
          <p:cNvPr id="9" name="Picture 8" descr="5a2c3be760ccebb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0365" y="2231136"/>
            <a:ext cx="1249680" cy="3383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00045" y="2171700"/>
            <a:ext cx="13166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than  </a:t>
            </a:r>
          </a:p>
        </p:txBody>
      </p:sp>
      <p:pic>
        <p:nvPicPr>
          <p:cNvPr id="11" name="Picture 10" descr="9a8c04db501f05e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79487" y="2232660"/>
            <a:ext cx="1246632" cy="3352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926119" y="2171700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29718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29718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6576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36576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0.03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66344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96178" y="2080260"/>
            <a:ext cx="44882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How many times larger is  </a:t>
            </a:r>
          </a:p>
        </p:txBody>
      </p:sp>
      <p:pic>
        <p:nvPicPr>
          <p:cNvPr id="9" name="Picture 8" descr="a75ced4ea1776b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7317" y="2139696"/>
            <a:ext cx="1252728" cy="3383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00045" y="2080260"/>
            <a:ext cx="13166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than  </a:t>
            </a:r>
          </a:p>
        </p:txBody>
      </p:sp>
      <p:pic>
        <p:nvPicPr>
          <p:cNvPr id="11" name="Picture 10" descr="aed887976cb4b8f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79487" y="2141219"/>
            <a:ext cx="1249680" cy="3352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929167" y="2080260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85212" y="2839212"/>
            <a:ext cx="34152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Divide the numbers:  </a:t>
            </a:r>
          </a:p>
        </p:txBody>
      </p:sp>
      <p:pic>
        <p:nvPicPr>
          <p:cNvPr id="14" name="Picture 13" descr="38fe3a113732c67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63332" y="2961132"/>
            <a:ext cx="1024128" cy="213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785212" y="3342132"/>
            <a:ext cx="31834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Divide the powers:  </a:t>
            </a:r>
          </a:p>
        </p:txBody>
      </p:sp>
      <p:pic>
        <p:nvPicPr>
          <p:cNvPr id="16" name="Picture 15" descr="65ff84f4a4ec86a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31483" y="3439667"/>
            <a:ext cx="3547872" cy="262128"/>
          </a:xfrm>
          <a:prstGeom prst="rect">
            <a:avLst/>
          </a:prstGeom>
        </p:spPr>
      </p:pic>
      <p:pic>
        <p:nvPicPr>
          <p:cNvPr id="17" name="Picture 16" descr="9d511f57c8dac01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40076" y="3942588"/>
            <a:ext cx="1630680" cy="26212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— 300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77233" y="2171700"/>
            <a:ext cx="30997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Which is greater,  </a:t>
            </a:r>
          </a:p>
        </p:txBody>
      </p:sp>
      <p:pic>
        <p:nvPicPr>
          <p:cNvPr id="9" name="Picture 8" descr="6b87d3400d9bb2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9827" y="2232660"/>
            <a:ext cx="1551432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991259" y="2171700"/>
            <a:ext cx="9212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or  </a:t>
            </a:r>
          </a:p>
        </p:txBody>
      </p:sp>
      <p:pic>
        <p:nvPicPr>
          <p:cNvPr id="11" name="Picture 10" descr="1da1a250efe2586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5344" y="2231136"/>
            <a:ext cx="1572768" cy="3383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348112" y="2171700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75709" y="2080260"/>
            <a:ext cx="30997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Which is greater,  </a:t>
            </a:r>
          </a:p>
        </p:txBody>
      </p:sp>
      <p:pic>
        <p:nvPicPr>
          <p:cNvPr id="9" name="Picture 8" descr="81b1ad24407d186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8303" y="2141219"/>
            <a:ext cx="1554480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992783" y="2080260"/>
            <a:ext cx="9212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or  </a:t>
            </a:r>
          </a:p>
        </p:txBody>
      </p:sp>
      <p:pic>
        <p:nvPicPr>
          <p:cNvPr id="11" name="Picture 10" descr="2167ac4363e0709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6868" y="2139696"/>
            <a:ext cx="1572768" cy="3383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349636" y="2080260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pic>
        <p:nvPicPr>
          <p:cNvPr id="13" name="Picture 12" descr="7da4b69f6a4a0e5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62043" y="2915412"/>
            <a:ext cx="3267456" cy="304800"/>
          </a:xfrm>
          <a:prstGeom prst="rect">
            <a:avLst/>
          </a:prstGeom>
        </p:spPr>
      </p:pic>
      <p:pic>
        <p:nvPicPr>
          <p:cNvPr id="14" name="Picture 13" descr="adf9adaf96fc0f9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62043" y="3454908"/>
            <a:ext cx="3947160" cy="3048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3.9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A computer displays a number as  4.2E−6.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6943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Write the number in standard form.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A computer displays a number as  4.2E−6.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779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Write the number in standard form.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91038" y="3303170"/>
            <a:ext cx="28809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4.2E−6 means  </a:t>
            </a:r>
          </a:p>
        </p:txBody>
      </p:sp>
      <p:pic>
        <p:nvPicPr>
          <p:cNvPr id="11" name="Picture 10" descr="5a5877e7059393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4873" y="3377846"/>
            <a:ext cx="1438656" cy="307848"/>
          </a:xfrm>
          <a:prstGeom prst="rect">
            <a:avLst/>
          </a:prstGeom>
        </p:spPr>
      </p:pic>
      <p:pic>
        <p:nvPicPr>
          <p:cNvPr id="12" name="Picture 11" descr="2ef28584177cdfa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5902" y="3917342"/>
            <a:ext cx="3538728" cy="30784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0.0000042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42662" y="2171700"/>
            <a:ext cx="28846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Fishing line A is  </a:t>
            </a:r>
          </a:p>
        </p:txBody>
      </p:sp>
      <p:pic>
        <p:nvPicPr>
          <p:cNvPr id="9" name="Picture 8" descr="6f28bcb12f677aa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0143" y="2229612"/>
            <a:ext cx="1249680" cy="341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139823" y="2171700"/>
            <a:ext cx="20161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inch thick.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42761" y="2857500"/>
            <a:ext cx="28783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Fishing line B is  </a:t>
            </a:r>
          </a:p>
        </p:txBody>
      </p:sp>
      <p:pic>
        <p:nvPicPr>
          <p:cNvPr id="12" name="Picture 11" descr="d92540804869214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3947" y="2915412"/>
            <a:ext cx="1255776" cy="3413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139723" y="2857500"/>
            <a:ext cx="20161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inch thick.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5661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Which is thicker, and how many times? Name a thickness between them.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41138" y="2080260"/>
            <a:ext cx="28846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Fishing line A is  </a:t>
            </a:r>
          </a:p>
        </p:txBody>
      </p:sp>
      <p:pic>
        <p:nvPicPr>
          <p:cNvPr id="9" name="Picture 8" descr="846d6a6440d7a0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8619" y="2138171"/>
            <a:ext cx="1252728" cy="341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141347" y="2080260"/>
            <a:ext cx="20161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inch thick.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41237" y="2766060"/>
            <a:ext cx="28783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Fishing line B is  </a:t>
            </a:r>
          </a:p>
        </p:txBody>
      </p:sp>
      <p:pic>
        <p:nvPicPr>
          <p:cNvPr id="12" name="Picture 11" descr="9a59c78d08cd98b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2423" y="2823971"/>
            <a:ext cx="1258824" cy="3413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141247" y="2766060"/>
            <a:ext cx="20161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inch thick.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4747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Which is thicker, and how many times? Name a thickness between them.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74286" y="4046220"/>
            <a:ext cx="615010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Same power of 10, so compare 2 and 6.</a:t>
            </a:r>
          </a:p>
        </p:txBody>
      </p:sp>
      <p:pic>
        <p:nvPicPr>
          <p:cNvPr id="16" name="Picture 15" descr="38fe3a113732c67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29150" y="4671060"/>
            <a:ext cx="1024128" cy="2133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074286" y="5052059"/>
            <a:ext cx="26404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Between them:  </a:t>
            </a:r>
          </a:p>
        </p:txBody>
      </p:sp>
      <p:pic>
        <p:nvPicPr>
          <p:cNvPr id="18" name="Picture 17" descr="581fc6e4e685e84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77529" y="5149596"/>
            <a:ext cx="984504" cy="26212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77240" y="562356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B; 3 times; e.g. 4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in.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504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495044"/>
            <a:ext cx="54028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Write  0.00047 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8940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089403"/>
            <a:ext cx="11512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Write  </a:t>
            </a:r>
          </a:p>
        </p:txBody>
      </p:sp>
      <p:pic>
        <p:nvPicPr>
          <p:cNvPr id="12" name="Picture 11" descr="f029b45e0ecab7c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8615" y="2182367"/>
            <a:ext cx="1261872" cy="2712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830487" y="2089403"/>
            <a:ext cx="28284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in standard form.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268376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683763"/>
            <a:ext cx="57349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Write  0.0000061  in scientific notation.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27812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278123"/>
            <a:ext cx="27663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Which is greater,  </a:t>
            </a:r>
          </a:p>
        </p:txBody>
      </p:sp>
      <p:pic>
        <p:nvPicPr>
          <p:cNvPr id="18" name="Picture 17" descr="2b6d28ce99c0e7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3713" y="3369563"/>
            <a:ext cx="1280160" cy="27432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463873" y="3278123"/>
            <a:ext cx="8392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or  </a:t>
            </a:r>
          </a:p>
        </p:txBody>
      </p:sp>
      <p:pic>
        <p:nvPicPr>
          <p:cNvPr id="20" name="Picture 19" descr="4f77a3766b4748d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65979" y="3368039"/>
            <a:ext cx="1252728" cy="27736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418707" y="3278123"/>
            <a:ext cx="4430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387248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3872483"/>
            <a:ext cx="399482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How many times larger is  </a:t>
            </a:r>
          </a:p>
        </p:txBody>
      </p:sp>
      <p:pic>
        <p:nvPicPr>
          <p:cNvPr id="24" name="Picture 23" descr="36f5a0412d8a35a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12147" y="3962399"/>
            <a:ext cx="1024128" cy="27736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436275" y="3872483"/>
            <a:ext cx="11889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than  </a:t>
            </a:r>
          </a:p>
        </p:txBody>
      </p:sp>
      <p:pic>
        <p:nvPicPr>
          <p:cNvPr id="26" name="Picture 25" descr="a131a25e21d7bac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88077" y="3965447"/>
            <a:ext cx="1042415" cy="27127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8530493" y="3872483"/>
            <a:ext cx="4430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4466844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54480" y="4466844"/>
            <a:ext cx="98596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A computer displays a number as  3.7E−5.  Write it in standard form.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Convert between standard and scientific notation: small numbers — 85M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Compare small numbers — KDR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5166360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Powers of ten with negative exponents — SKD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