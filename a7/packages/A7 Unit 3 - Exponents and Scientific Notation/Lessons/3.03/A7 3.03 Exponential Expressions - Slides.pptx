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</p:sldIdLst>
  <p:sldSz cx="1219196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image" Target="../media/image11.png"/><Relationship Id="rId4" Type="http://schemas.openxmlformats.org/officeDocument/2006/relationships/image" Target="../media/image1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image" Target="../media/image15.png"/><Relationship Id="rId4" Type="http://schemas.openxmlformats.org/officeDocument/2006/relationships/image" Target="../media/image16.png"/><Relationship Id="rId5" Type="http://schemas.openxmlformats.org/officeDocument/2006/relationships/image" Target="../media/image17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Relationship Id="rId3" Type="http://schemas.openxmlformats.org/officeDocument/2006/relationships/image" Target="../media/image20.png"/><Relationship Id="rId4" Type="http://schemas.openxmlformats.org/officeDocument/2006/relationships/image" Target="../media/image2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Relationship Id="rId3" Type="http://schemas.openxmlformats.org/officeDocument/2006/relationships/image" Target="../media/image24.png"/><Relationship Id="rId4" Type="http://schemas.openxmlformats.org/officeDocument/2006/relationships/image" Target="../media/image25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Relationship Id="rId3" Type="http://schemas.openxmlformats.org/officeDocument/2006/relationships/image" Target="../media/image27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Relationship Id="rId3" Type="http://schemas.openxmlformats.org/officeDocument/2006/relationships/image" Target="../media/image29.png"/><Relationship Id="rId4" Type="http://schemas.openxmlformats.org/officeDocument/2006/relationships/image" Target="../media/image30.png"/><Relationship Id="rId5" Type="http://schemas.openxmlformats.org/officeDocument/2006/relationships/image" Target="../media/image3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png"/><Relationship Id="rId3" Type="http://schemas.openxmlformats.org/officeDocument/2006/relationships/image" Target="../media/image34.png"/><Relationship Id="rId4" Type="http://schemas.openxmlformats.org/officeDocument/2006/relationships/image" Target="../media/image35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png"/><Relationship Id="rId3" Type="http://schemas.openxmlformats.org/officeDocument/2006/relationships/image" Target="../media/image38.png"/><Relationship Id="rId4" Type="http://schemas.openxmlformats.org/officeDocument/2006/relationships/image" Target="../media/image39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1.png"/><Relationship Id="rId3" Type="http://schemas.openxmlformats.org/officeDocument/2006/relationships/image" Target="../media/image42.png"/><Relationship Id="rId4" Type="http://schemas.openxmlformats.org/officeDocument/2006/relationships/image" Target="../media/image43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4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5.png"/><Relationship Id="rId3" Type="http://schemas.openxmlformats.org/officeDocument/2006/relationships/image" Target="../media/image46.png"/><Relationship Id="rId4" Type="http://schemas.openxmlformats.org/officeDocument/2006/relationships/image" Target="../media/image47.png"/><Relationship Id="rId5" Type="http://schemas.openxmlformats.org/officeDocument/2006/relationships/image" Target="../media/image48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9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0.png"/><Relationship Id="rId3" Type="http://schemas.openxmlformats.org/officeDocument/2006/relationships/image" Target="../media/image51.png"/><Relationship Id="rId4" Type="http://schemas.openxmlformats.org/officeDocument/2006/relationships/image" Target="../media/image52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3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4.png"/><Relationship Id="rId3" Type="http://schemas.openxmlformats.org/officeDocument/2006/relationships/image" Target="../media/image55.png"/><Relationship Id="rId4" Type="http://schemas.openxmlformats.org/officeDocument/2006/relationships/image" Target="../media/image56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7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8.png"/><Relationship Id="rId3" Type="http://schemas.openxmlformats.org/officeDocument/2006/relationships/image" Target="../media/image59.png"/><Relationship Id="rId4" Type="http://schemas.openxmlformats.org/officeDocument/2006/relationships/image" Target="../media/image60.png"/><Relationship Id="rId5" Type="http://schemas.openxmlformats.org/officeDocument/2006/relationships/image" Target="../media/image61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2.png"/><Relationship Id="rId3" Type="http://schemas.openxmlformats.org/officeDocument/2006/relationships/image" Target="../media/image63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4.png"/><Relationship Id="rId3" Type="http://schemas.openxmlformats.org/officeDocument/2006/relationships/image" Target="../media/image65.png"/><Relationship Id="rId4" Type="http://schemas.openxmlformats.org/officeDocument/2006/relationships/image" Target="../media/image66.png"/><Relationship Id="rId5" Type="http://schemas.openxmlformats.org/officeDocument/2006/relationships/image" Target="../media/image67.png"/><Relationship Id="rId6" Type="http://schemas.openxmlformats.org/officeDocument/2006/relationships/image" Target="../media/image68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9.png"/><Relationship Id="rId3" Type="http://schemas.openxmlformats.org/officeDocument/2006/relationships/image" Target="../media/image70.png"/><Relationship Id="rId4" Type="http://schemas.openxmlformats.org/officeDocument/2006/relationships/image" Target="../media/image71.png"/><Relationship Id="rId5" Type="http://schemas.openxmlformats.org/officeDocument/2006/relationships/image" Target="../media/image72.png"/><Relationship Id="rId6" Type="http://schemas.openxmlformats.org/officeDocument/2006/relationships/image" Target="../media/image73.png"/><Relationship Id="rId7" Type="http://schemas.openxmlformats.org/officeDocument/2006/relationships/image" Target="../media/image74.png"/><Relationship Id="rId8" Type="http://schemas.openxmlformats.org/officeDocument/2006/relationships/image" Target="../media/image75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2148840"/>
            <a:ext cx="10607040" cy="34747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420" b="0" i="0">
                <a:solidFill>
                  <a:srgbClr val="6B6B6B"/>
                </a:solidFill>
                <a:latin typeface="Lexend"/>
              </a:rPr>
              <a:t>GRADE 7 ACCELERATED  ·  UNIT 3  ·  LESSON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505456"/>
            <a:ext cx="10607040" cy="10058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3229" b="1" i="0">
                <a:solidFill>
                  <a:srgbClr val="1A1A1A"/>
                </a:solidFill>
                <a:latin typeface="Lexend"/>
              </a:rPr>
              <a:t>Exponential Expressions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291840" y="3712464"/>
            <a:ext cx="55778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3291840" y="3794760"/>
            <a:ext cx="55778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395935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520" b="1" i="0">
                <a:solidFill>
                  <a:srgbClr val="1A1A1A"/>
                </a:solidFill>
                <a:latin typeface="Lexend"/>
              </a:rPr>
              <a:t>MA.7.NSO.1.1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4297680"/>
            <a:ext cx="10607040" cy="731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810" b="0" i="0">
                <a:solidFill>
                  <a:srgbClr val="1A1A1A"/>
                </a:solidFill>
                <a:latin typeface="Lexend"/>
              </a:rPr>
              <a:t>I can apply more than one law of exponents to evaluate an expression and to write an equivalent one.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3 — Exponential Expressions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3 — Exponential Expressions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1556004"/>
            <a:ext cx="292180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1.   Find the value:  </a:t>
            </a:r>
          </a:p>
        </p:txBody>
      </p:sp>
      <p:pic>
        <p:nvPicPr>
          <p:cNvPr id="9" name="Picture 8" descr="7eeabcc1a7697b1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59168" y="1463040"/>
            <a:ext cx="487680" cy="64312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74519" y="2284476"/>
            <a:ext cx="104953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2.   Is </a:t>
            </a:r>
          </a:p>
        </p:txBody>
      </p:sp>
      <p:pic>
        <p:nvPicPr>
          <p:cNvPr id="11" name="Picture 10" descr="bcdd97740536927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86893" y="2318004"/>
            <a:ext cx="710184" cy="39014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3497077" y="2284476"/>
            <a:ext cx="290976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 closer to 7 or to 8?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19" y="2897124"/>
            <a:ext cx="161229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3.   Solve  </a:t>
            </a:r>
          </a:p>
        </p:txBody>
      </p:sp>
      <p:pic>
        <p:nvPicPr>
          <p:cNvPr id="14" name="Picture 13" descr="c4840976746a8c6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49655" y="2983992"/>
            <a:ext cx="1673352" cy="283464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1874519" y="3509772"/>
            <a:ext cx="211855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4.   Evaluate  </a:t>
            </a:r>
          </a:p>
        </p:txBody>
      </p:sp>
      <p:pic>
        <p:nvPicPr>
          <p:cNvPr id="16" name="Picture 15" descr="3d00c0b948695db0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55915" y="3599688"/>
            <a:ext cx="1127760" cy="277368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3 — Exponential Expressions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1556004"/>
            <a:ext cx="292180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1.   Find the value:  </a:t>
            </a:r>
          </a:p>
        </p:txBody>
      </p:sp>
      <p:pic>
        <p:nvPicPr>
          <p:cNvPr id="9" name="Picture 8" descr="7eeabcc1a7697b1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59168" y="1463040"/>
            <a:ext cx="487680" cy="64312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695488" y="1440180"/>
            <a:ext cx="77237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100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2284476"/>
            <a:ext cx="104953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2.   Is </a:t>
            </a:r>
          </a:p>
        </p:txBody>
      </p:sp>
      <p:pic>
        <p:nvPicPr>
          <p:cNvPr id="12" name="Picture 11" descr="bcdd97740536927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86893" y="2318004"/>
            <a:ext cx="710184" cy="39014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3497077" y="2284476"/>
            <a:ext cx="290976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 closer to 7 or to 8?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18326" y="2284476"/>
            <a:ext cx="37297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7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74519" y="2897124"/>
            <a:ext cx="161229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3.   Solve  </a:t>
            </a:r>
          </a:p>
        </p:txBody>
      </p:sp>
      <p:pic>
        <p:nvPicPr>
          <p:cNvPr id="16" name="Picture 15" descr="c4840976746a8c6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49655" y="2983992"/>
            <a:ext cx="1673352" cy="283464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5571647" y="2897124"/>
            <a:ext cx="93533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x = 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74519" y="3509772"/>
            <a:ext cx="211855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4.   Evaluate  </a:t>
            </a:r>
          </a:p>
        </p:txBody>
      </p:sp>
      <p:pic>
        <p:nvPicPr>
          <p:cNvPr id="19" name="Picture 18" descr="3d00c0b948695db0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55915" y="3599688"/>
            <a:ext cx="1127760" cy="277368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5532315" y="3509772"/>
            <a:ext cx="58413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50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3 — Exponential Expressions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I.  The seven laws, in one place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1051560" y="1993392"/>
          <a:ext cx="10058400" cy="307238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291840"/>
                <a:gridCol w="3657600"/>
                <a:gridCol w="3108960"/>
              </a:tblGrid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520" b="1">
                          <a:solidFill>
                            <a:srgbClr val="1A1A1A"/>
                          </a:solidFill>
                          <a:latin typeface="Lexend"/>
                        </a:rPr>
                        <a:t>Law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20" b="1">
                          <a:solidFill>
                            <a:srgbClr val="1A1A1A"/>
                          </a:solidFill>
                          <a:latin typeface="Lexend"/>
                        </a:rPr>
                        <a:t>Rule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20" b="1">
                          <a:solidFill>
                            <a:srgbClr val="1A1A1A"/>
                          </a:solidFill>
                          <a:latin typeface="Lexend"/>
                        </a:rPr>
                        <a:t>Example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520" b="0">
                          <a:solidFill>
                            <a:srgbClr val="1A1A1A"/>
                          </a:solidFill>
                          <a:latin typeface="Lexend"/>
                        </a:rPr>
                        <a:t>Product of powers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20" b="0">
                          <a:solidFill>
                            <a:srgbClr val="1A1A1A"/>
                          </a:solidFill>
                          <a:latin typeface="Lexend"/>
                        </a:rPr>
                        <a:t>a</a:t>
                      </a:r>
                      <a:r>
                        <a:rPr sz="1520" b="0" baseline="30000">
                          <a:solidFill>
                            <a:srgbClr val="1A1A1A"/>
                          </a:solidFill>
                          <a:latin typeface="Lexend"/>
                        </a:rPr>
                        <a:t>m</a:t>
                      </a:r>
                      <a:r>
                        <a:rPr sz="1520" b="0">
                          <a:solidFill>
                            <a:srgbClr val="1A1A1A"/>
                          </a:solidFill>
                          <a:latin typeface="Lexend"/>
                        </a:rPr>
                        <a:t> · a</a:t>
                      </a:r>
                      <a:r>
                        <a:rPr sz="1520" b="0" baseline="30000">
                          <a:solidFill>
                            <a:srgbClr val="1A1A1A"/>
                          </a:solidFill>
                          <a:latin typeface="Lexend"/>
                        </a:rPr>
                        <a:t>n</a:t>
                      </a:r>
                      <a:r>
                        <a:rPr sz="1520" b="0">
                          <a:solidFill>
                            <a:srgbClr val="1A1A1A"/>
                          </a:solidFill>
                          <a:latin typeface="Lexend"/>
                        </a:rPr>
                        <a:t> = a</a:t>
                      </a:r>
                      <a:r>
                        <a:rPr sz="1520" b="0" baseline="30000">
                          <a:solidFill>
                            <a:srgbClr val="1A1A1A"/>
                          </a:solidFill>
                          <a:latin typeface="Lexend"/>
                        </a:rPr>
                        <a:t>m+n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20" b="0">
                          <a:solidFill>
                            <a:srgbClr val="1A1A1A"/>
                          </a:solidFill>
                          <a:latin typeface="Lexend"/>
                        </a:rPr>
                        <a:t>2</a:t>
                      </a:r>
                      <a:r>
                        <a:rPr sz="1520" b="0" baseline="30000">
                          <a:solidFill>
                            <a:srgbClr val="1A1A1A"/>
                          </a:solidFill>
                          <a:latin typeface="Lexend"/>
                        </a:rPr>
                        <a:t>3</a:t>
                      </a:r>
                      <a:r>
                        <a:rPr sz="1520" b="0">
                          <a:solidFill>
                            <a:srgbClr val="1A1A1A"/>
                          </a:solidFill>
                          <a:latin typeface="Lexend"/>
                        </a:rPr>
                        <a:t> · 2</a:t>
                      </a:r>
                      <a:r>
                        <a:rPr sz="1520" b="0" baseline="30000">
                          <a:solidFill>
                            <a:srgbClr val="1A1A1A"/>
                          </a:solidFill>
                          <a:latin typeface="Lexend"/>
                        </a:rPr>
                        <a:t>1</a:t>
                      </a:r>
                      <a:r>
                        <a:rPr sz="1520" b="0">
                          <a:solidFill>
                            <a:srgbClr val="1A1A1A"/>
                          </a:solidFill>
                          <a:latin typeface="Lexend"/>
                        </a:rPr>
                        <a:t> = 2</a:t>
                      </a:r>
                      <a:r>
                        <a:rPr sz="1520" b="0" baseline="30000">
                          <a:solidFill>
                            <a:srgbClr val="1A1A1A"/>
                          </a:solidFill>
                          <a:latin typeface="Lexend"/>
                        </a:rPr>
                        <a:t>4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520" b="0">
                          <a:solidFill>
                            <a:srgbClr val="1A1A1A"/>
                          </a:solidFill>
                          <a:latin typeface="Lexend"/>
                        </a:rPr>
                        <a:t>Quotient of powers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20" b="0">
                          <a:solidFill>
                            <a:srgbClr val="1A1A1A"/>
                          </a:solidFill>
                          <a:latin typeface="Lexend"/>
                        </a:rPr>
                        <a:t>a</a:t>
                      </a:r>
                      <a:r>
                        <a:rPr sz="1520" b="0" baseline="30000">
                          <a:solidFill>
                            <a:srgbClr val="1A1A1A"/>
                          </a:solidFill>
                          <a:latin typeface="Lexend"/>
                        </a:rPr>
                        <a:t>m</a:t>
                      </a:r>
                      <a:r>
                        <a:rPr sz="1520" b="0">
                          <a:solidFill>
                            <a:srgbClr val="1A1A1A"/>
                          </a:solidFill>
                          <a:latin typeface="Lexend"/>
                        </a:rPr>
                        <a:t> ÷ a</a:t>
                      </a:r>
                      <a:r>
                        <a:rPr sz="1520" b="0" baseline="30000">
                          <a:solidFill>
                            <a:srgbClr val="1A1A1A"/>
                          </a:solidFill>
                          <a:latin typeface="Lexend"/>
                        </a:rPr>
                        <a:t>n</a:t>
                      </a:r>
                      <a:r>
                        <a:rPr sz="1520" b="0">
                          <a:solidFill>
                            <a:srgbClr val="1A1A1A"/>
                          </a:solidFill>
                          <a:latin typeface="Lexend"/>
                        </a:rPr>
                        <a:t> = a</a:t>
                      </a:r>
                      <a:r>
                        <a:rPr sz="1520" b="0" baseline="30000">
                          <a:solidFill>
                            <a:srgbClr val="1A1A1A"/>
                          </a:solidFill>
                          <a:latin typeface="Lexend"/>
                        </a:rPr>
                        <a:t>m-n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20" b="0">
                          <a:solidFill>
                            <a:srgbClr val="1A1A1A"/>
                          </a:solidFill>
                          <a:latin typeface="Lexend"/>
                        </a:rPr>
                        <a:t>(−3)</a:t>
                      </a:r>
                      <a:r>
                        <a:rPr sz="1520" b="0" baseline="30000">
                          <a:solidFill>
                            <a:srgbClr val="1A1A1A"/>
                          </a:solidFill>
                          <a:latin typeface="Lexend"/>
                        </a:rPr>
                        <a:t>7</a:t>
                      </a:r>
                      <a:r>
                        <a:rPr sz="1520" b="0">
                          <a:solidFill>
                            <a:srgbClr val="1A1A1A"/>
                          </a:solidFill>
                          <a:latin typeface="Lexend"/>
                        </a:rPr>
                        <a:t> ÷ (−3)</a:t>
                      </a:r>
                      <a:r>
                        <a:rPr sz="1520" b="0" baseline="30000">
                          <a:solidFill>
                            <a:srgbClr val="1A1A1A"/>
                          </a:solidFill>
                          <a:latin typeface="Lexend"/>
                        </a:rPr>
                        <a:t>2</a:t>
                      </a:r>
                      <a:r>
                        <a:rPr sz="1520" b="0">
                          <a:solidFill>
                            <a:srgbClr val="1A1A1A"/>
                          </a:solidFill>
                          <a:latin typeface="Lexend"/>
                        </a:rPr>
                        <a:t> = (−3)</a:t>
                      </a:r>
                      <a:r>
                        <a:rPr sz="1520" b="0" baseline="30000">
                          <a:solidFill>
                            <a:srgbClr val="1A1A1A"/>
                          </a:solidFill>
                          <a:latin typeface="Lexend"/>
                        </a:rPr>
                        <a:t>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520" b="0">
                          <a:solidFill>
                            <a:srgbClr val="1A1A1A"/>
                          </a:solidFill>
                          <a:latin typeface="Lexend"/>
                        </a:rPr>
                        <a:t>Power of a product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20" b="0">
                          <a:solidFill>
                            <a:srgbClr val="1A1A1A"/>
                          </a:solidFill>
                          <a:latin typeface="Lexend"/>
                        </a:rPr>
                        <a:t>(ab)</a:t>
                      </a:r>
                      <a:r>
                        <a:rPr sz="1520" b="0" baseline="30000">
                          <a:solidFill>
                            <a:srgbClr val="1A1A1A"/>
                          </a:solidFill>
                          <a:latin typeface="Lexend"/>
                        </a:rPr>
                        <a:t>m</a:t>
                      </a:r>
                      <a:r>
                        <a:rPr sz="1520" b="0">
                          <a:solidFill>
                            <a:srgbClr val="1A1A1A"/>
                          </a:solidFill>
                          <a:latin typeface="Lexend"/>
                        </a:rPr>
                        <a:t> = a</a:t>
                      </a:r>
                      <a:r>
                        <a:rPr sz="1520" b="0" baseline="30000">
                          <a:solidFill>
                            <a:srgbClr val="1A1A1A"/>
                          </a:solidFill>
                          <a:latin typeface="Lexend"/>
                        </a:rPr>
                        <a:t>m</a:t>
                      </a:r>
                      <a:r>
                        <a:rPr sz="1520" b="0">
                          <a:solidFill>
                            <a:srgbClr val="1A1A1A"/>
                          </a:solidFill>
                          <a:latin typeface="Lexend"/>
                        </a:rPr>
                        <a:t> · b</a:t>
                      </a:r>
                      <a:r>
                        <a:rPr sz="1520" b="0" baseline="30000">
                          <a:solidFill>
                            <a:srgbClr val="1A1A1A"/>
                          </a:solidFill>
                          <a:latin typeface="Lexend"/>
                        </a:rPr>
                        <a:t>m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20" b="0">
                          <a:solidFill>
                            <a:srgbClr val="1A1A1A"/>
                          </a:solidFill>
                          <a:latin typeface="Lexend"/>
                        </a:rPr>
                        <a:t>(−7 · 3)</a:t>
                      </a:r>
                      <a:r>
                        <a:rPr sz="1520" b="0" baseline="30000">
                          <a:solidFill>
                            <a:srgbClr val="1A1A1A"/>
                          </a:solidFill>
                          <a:latin typeface="Lexend"/>
                        </a:rPr>
                        <a:t>2</a:t>
                      </a:r>
                      <a:r>
                        <a:rPr sz="1520" b="0">
                          <a:solidFill>
                            <a:srgbClr val="1A1A1A"/>
                          </a:solidFill>
                          <a:latin typeface="Lexend"/>
                        </a:rPr>
                        <a:t> = (−7)</a:t>
                      </a:r>
                      <a:r>
                        <a:rPr sz="1520" b="0" baseline="30000">
                          <a:solidFill>
                            <a:srgbClr val="1A1A1A"/>
                          </a:solidFill>
                          <a:latin typeface="Lexend"/>
                        </a:rPr>
                        <a:t>2</a:t>
                      </a:r>
                      <a:r>
                        <a:rPr sz="1520" b="0">
                          <a:solidFill>
                            <a:srgbClr val="1A1A1A"/>
                          </a:solidFill>
                          <a:latin typeface="Lexend"/>
                        </a:rPr>
                        <a:t> · 3</a:t>
                      </a:r>
                      <a:r>
                        <a:rPr sz="1520" b="0" baseline="30000">
                          <a:solidFill>
                            <a:srgbClr val="1A1A1A"/>
                          </a:solidFill>
                          <a:latin typeface="Lexend"/>
                        </a:rPr>
                        <a:t>2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520" b="0">
                          <a:solidFill>
                            <a:srgbClr val="1A1A1A"/>
                          </a:solidFill>
                          <a:latin typeface="Lexend"/>
                        </a:rPr>
                        <a:t>Power of a quotient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20" b="0">
                          <a:solidFill>
                            <a:srgbClr val="1A1A1A"/>
                          </a:solidFill>
                          <a:latin typeface="Lexend"/>
                        </a:rPr>
                        <a:t>(a ÷ b)</a:t>
                      </a:r>
                      <a:r>
                        <a:rPr sz="1520" b="0" baseline="30000">
                          <a:solidFill>
                            <a:srgbClr val="1A1A1A"/>
                          </a:solidFill>
                          <a:latin typeface="Lexend"/>
                        </a:rPr>
                        <a:t>m</a:t>
                      </a:r>
                      <a:r>
                        <a:rPr sz="1520" b="0">
                          <a:solidFill>
                            <a:srgbClr val="1A1A1A"/>
                          </a:solidFill>
                          <a:latin typeface="Lexend"/>
                        </a:rPr>
                        <a:t> = a</a:t>
                      </a:r>
                      <a:r>
                        <a:rPr sz="1520" b="0" baseline="30000">
                          <a:solidFill>
                            <a:srgbClr val="1A1A1A"/>
                          </a:solidFill>
                          <a:latin typeface="Lexend"/>
                        </a:rPr>
                        <a:t>m</a:t>
                      </a:r>
                      <a:r>
                        <a:rPr sz="1520" b="0">
                          <a:solidFill>
                            <a:srgbClr val="1A1A1A"/>
                          </a:solidFill>
                          <a:latin typeface="Lexend"/>
                        </a:rPr>
                        <a:t> ÷ b</a:t>
                      </a:r>
                      <a:r>
                        <a:rPr sz="1520" b="0" baseline="30000">
                          <a:solidFill>
                            <a:srgbClr val="1A1A1A"/>
                          </a:solidFill>
                          <a:latin typeface="Lexend"/>
                        </a:rPr>
                        <a:t>m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20" b="0">
                          <a:solidFill>
                            <a:srgbClr val="1A1A1A"/>
                          </a:solidFill>
                          <a:latin typeface="Lexend"/>
                        </a:rPr>
                        <a:t>(13 ÷ 5)</a:t>
                      </a:r>
                      <a:r>
                        <a:rPr sz="1520" b="0" baseline="30000">
                          <a:solidFill>
                            <a:srgbClr val="1A1A1A"/>
                          </a:solidFill>
                          <a:latin typeface="Lexend"/>
                        </a:rPr>
                        <a:t>3</a:t>
                      </a:r>
                      <a:r>
                        <a:rPr sz="1520" b="0">
                          <a:solidFill>
                            <a:srgbClr val="1A1A1A"/>
                          </a:solidFill>
                          <a:latin typeface="Lexend"/>
                        </a:rPr>
                        <a:t> = 13</a:t>
                      </a:r>
                      <a:r>
                        <a:rPr sz="1520" b="0" baseline="30000">
                          <a:solidFill>
                            <a:srgbClr val="1A1A1A"/>
                          </a:solidFill>
                          <a:latin typeface="Lexend"/>
                        </a:rPr>
                        <a:t>3</a:t>
                      </a:r>
                      <a:r>
                        <a:rPr sz="1520" b="0">
                          <a:solidFill>
                            <a:srgbClr val="1A1A1A"/>
                          </a:solidFill>
                          <a:latin typeface="Lexend"/>
                        </a:rPr>
                        <a:t> ÷ 5</a:t>
                      </a:r>
                      <a:r>
                        <a:rPr sz="1520" b="0" baseline="30000">
                          <a:solidFill>
                            <a:srgbClr val="1A1A1A"/>
                          </a:solidFill>
                          <a:latin typeface="Lexend"/>
                        </a:rPr>
                        <a:t>3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520" b="0">
                          <a:solidFill>
                            <a:srgbClr val="1A1A1A"/>
                          </a:solidFill>
                          <a:latin typeface="Lexend"/>
                        </a:rPr>
                        <a:t>Power of a power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20" b="0">
                          <a:solidFill>
                            <a:srgbClr val="1A1A1A"/>
                          </a:solidFill>
                          <a:latin typeface="Lexend"/>
                        </a:rPr>
                        <a:t>(a</a:t>
                      </a:r>
                      <a:r>
                        <a:rPr sz="1520" b="0" baseline="30000">
                          <a:solidFill>
                            <a:srgbClr val="1A1A1A"/>
                          </a:solidFill>
                          <a:latin typeface="Lexend"/>
                        </a:rPr>
                        <a:t>m</a:t>
                      </a:r>
                      <a:r>
                        <a:rPr sz="1520" b="0">
                          <a:solidFill>
                            <a:srgbClr val="1A1A1A"/>
                          </a:solidFill>
                          <a:latin typeface="Lexend"/>
                        </a:rPr>
                        <a:t>)</a:t>
                      </a:r>
                      <a:r>
                        <a:rPr sz="1520" b="0" baseline="30000">
                          <a:solidFill>
                            <a:srgbClr val="1A1A1A"/>
                          </a:solidFill>
                          <a:latin typeface="Lexend"/>
                        </a:rPr>
                        <a:t>n</a:t>
                      </a:r>
                      <a:r>
                        <a:rPr sz="1520" b="0">
                          <a:solidFill>
                            <a:srgbClr val="1A1A1A"/>
                          </a:solidFill>
                          <a:latin typeface="Lexend"/>
                        </a:rPr>
                        <a:t> = a</a:t>
                      </a:r>
                      <a:r>
                        <a:rPr sz="1520" b="0" baseline="30000">
                          <a:solidFill>
                            <a:srgbClr val="1A1A1A"/>
                          </a:solidFill>
                          <a:latin typeface="Lexend"/>
                        </a:rPr>
                        <a:t>mn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20" b="0">
                          <a:solidFill>
                            <a:srgbClr val="1A1A1A"/>
                          </a:solidFill>
                          <a:latin typeface="Lexend"/>
                        </a:rPr>
                        <a:t>(6</a:t>
                      </a:r>
                      <a:r>
                        <a:rPr sz="1520" b="0" baseline="30000">
                          <a:solidFill>
                            <a:srgbClr val="1A1A1A"/>
                          </a:solidFill>
                          <a:latin typeface="Lexend"/>
                        </a:rPr>
                        <a:t>3</a:t>
                      </a:r>
                      <a:r>
                        <a:rPr sz="1520" b="0">
                          <a:solidFill>
                            <a:srgbClr val="1A1A1A"/>
                          </a:solidFill>
                          <a:latin typeface="Lexend"/>
                        </a:rPr>
                        <a:t>)</a:t>
                      </a:r>
                      <a:r>
                        <a:rPr sz="1520" b="0" baseline="30000">
                          <a:solidFill>
                            <a:srgbClr val="1A1A1A"/>
                          </a:solidFill>
                          <a:latin typeface="Lexend"/>
                        </a:rPr>
                        <a:t>4</a:t>
                      </a:r>
                      <a:r>
                        <a:rPr sz="1520" b="0">
                          <a:solidFill>
                            <a:srgbClr val="1A1A1A"/>
                          </a:solidFill>
                          <a:latin typeface="Lexend"/>
                        </a:rPr>
                        <a:t> = 6</a:t>
                      </a:r>
                      <a:r>
                        <a:rPr sz="1520" b="0" baseline="30000">
                          <a:solidFill>
                            <a:srgbClr val="1A1A1A"/>
                          </a:solidFill>
                          <a:latin typeface="Lexend"/>
                        </a:rPr>
                        <a:t>12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520" b="0">
                          <a:solidFill>
                            <a:srgbClr val="1A1A1A"/>
                          </a:solidFill>
                          <a:latin typeface="Lexend"/>
                        </a:rPr>
                        <a:t>Identity exponent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20" b="0">
                          <a:solidFill>
                            <a:srgbClr val="1A1A1A"/>
                          </a:solidFill>
                          <a:latin typeface="Lexend"/>
                        </a:rPr>
                        <a:t>a</a:t>
                      </a:r>
                      <a:r>
                        <a:rPr sz="1520" b="0" baseline="30000">
                          <a:solidFill>
                            <a:srgbClr val="1A1A1A"/>
                          </a:solidFill>
                          <a:latin typeface="Lexend"/>
                        </a:rPr>
                        <a:t>1</a:t>
                      </a:r>
                      <a:r>
                        <a:rPr sz="1520" b="0">
                          <a:solidFill>
                            <a:srgbClr val="1A1A1A"/>
                          </a:solidFill>
                          <a:latin typeface="Lexend"/>
                        </a:rPr>
                        <a:t> = a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20" b="0">
                          <a:solidFill>
                            <a:srgbClr val="1A1A1A"/>
                          </a:solidFill>
                          <a:latin typeface="Lexend"/>
                        </a:rPr>
                        <a:t>15</a:t>
                      </a:r>
                      <a:r>
                        <a:rPr sz="1520" b="0" baseline="30000">
                          <a:solidFill>
                            <a:srgbClr val="1A1A1A"/>
                          </a:solidFill>
                          <a:latin typeface="Lexend"/>
                        </a:rPr>
                        <a:t>1</a:t>
                      </a:r>
                      <a:r>
                        <a:rPr sz="1520" b="0">
                          <a:solidFill>
                            <a:srgbClr val="1A1A1A"/>
                          </a:solidFill>
                          <a:latin typeface="Lexend"/>
                        </a:rPr>
                        <a:t> = 15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520" b="0">
                          <a:solidFill>
                            <a:srgbClr val="1A1A1A"/>
                          </a:solidFill>
                          <a:latin typeface="Lexend"/>
                        </a:rPr>
                        <a:t>Zero exponent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20" b="0">
                          <a:solidFill>
                            <a:srgbClr val="1A1A1A"/>
                          </a:solidFill>
                          <a:latin typeface="Lexend"/>
                        </a:rPr>
                        <a:t>a</a:t>
                      </a:r>
                      <a:r>
                        <a:rPr sz="1520" b="0" baseline="30000">
                          <a:solidFill>
                            <a:srgbClr val="1A1A1A"/>
                          </a:solidFill>
                          <a:latin typeface="Lexend"/>
                        </a:rPr>
                        <a:t>0</a:t>
                      </a:r>
                      <a:r>
                        <a:rPr sz="1520" b="0">
                          <a:solidFill>
                            <a:srgbClr val="1A1A1A"/>
                          </a:solidFill>
                          <a:latin typeface="Lexend"/>
                        </a:rPr>
                        <a:t> = 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20" b="0">
                          <a:solidFill>
                            <a:srgbClr val="1A1A1A"/>
                          </a:solidFill>
                          <a:latin typeface="Lexend"/>
                        </a:rPr>
                        <a:t>127</a:t>
                      </a:r>
                      <a:r>
                        <a:rPr sz="1520" b="0" baseline="30000">
                          <a:solidFill>
                            <a:srgbClr val="1A1A1A"/>
                          </a:solidFill>
                          <a:latin typeface="Lexend"/>
                        </a:rPr>
                        <a:t>0</a:t>
                      </a:r>
                      <a:r>
                        <a:rPr sz="1520" b="0">
                          <a:solidFill>
                            <a:srgbClr val="1A1A1A"/>
                          </a:solidFill>
                          <a:latin typeface="Lexend"/>
                        </a:rPr>
                        <a:t> = 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3 — Exponential Expressions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II.  More than one law — make a plan, then follow it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3405456" y="2159508"/>
            <a:ext cx="178139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Winston:  </a:t>
            </a:r>
          </a:p>
        </p:txBody>
      </p:sp>
      <p:pic>
        <p:nvPicPr>
          <p:cNvPr id="11" name="Picture 10" descr="26de40715e21e66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49695" y="1993392"/>
            <a:ext cx="3706368" cy="78943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2981866" y="3297936"/>
            <a:ext cx="161054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Yvette:   </a:t>
            </a:r>
          </a:p>
        </p:txBody>
      </p:sp>
      <p:pic>
        <p:nvPicPr>
          <p:cNvPr id="13" name="Picture 12" descr="354e7e69552fdcc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55253" y="3057144"/>
            <a:ext cx="4724400" cy="93878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987552" y="4334256"/>
            <a:ext cx="10131551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Different plans, same value. Any correct sequence of laws gives the same answer.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3 — Exponential Expressions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III.  Order of operations still applies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987552" y="2057400"/>
            <a:ext cx="548640" cy="38404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A.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81912" y="2057400"/>
            <a:ext cx="9537192" cy="95097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Parentheses first — including a fraction bar, which is a pair of parentheses in disguise.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87552" y="3264408"/>
            <a:ext cx="548640" cy="38404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B.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81912" y="3264408"/>
            <a:ext cx="9537192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Exponents next — the laws of exponents are applied here.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87552" y="3995928"/>
            <a:ext cx="548640" cy="38404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C.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81912" y="3995928"/>
            <a:ext cx="9537192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Then multiply and divide, left to right; then add and subtract.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87552" y="4727448"/>
            <a:ext cx="548640" cy="38404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D.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81912" y="4686299"/>
            <a:ext cx="394287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1A1A1A"/>
                </a:solidFill>
                <a:latin typeface="Lexend"/>
              </a:rPr>
              <a:t>Never across a + or a −:  </a:t>
            </a:r>
          </a:p>
        </p:txBody>
      </p:sp>
      <p:pic>
        <p:nvPicPr>
          <p:cNvPr id="18" name="Picture 17" descr="b054382c410b717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87624" y="4745736"/>
            <a:ext cx="3041904" cy="338328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8429528" y="4686299"/>
            <a:ext cx="97534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1A1A1A"/>
                </a:solidFill>
                <a:latin typeface="Lexend"/>
              </a:rPr>
              <a:t>, not </a:t>
            </a:r>
          </a:p>
        </p:txBody>
      </p:sp>
      <p:pic>
        <p:nvPicPr>
          <p:cNvPr id="20" name="Picture 19" descr="b8a8a24b141b26c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67716" y="4748783"/>
            <a:ext cx="335280" cy="332232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9602996" y="4686299"/>
            <a:ext cx="28589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3 — Exponential Expressions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7</a:t>
            </a:r>
          </a:p>
        </p:txBody>
      </p:sp>
      <p:pic>
        <p:nvPicPr>
          <p:cNvPr id="8" name="Picture 7" descr="871450e41cfad6f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48883" y="2103120"/>
            <a:ext cx="1063752" cy="79248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339852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Make a plan. Then find the value.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3 — Exponential Expressions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8</a:t>
            </a:r>
          </a:p>
        </p:txBody>
      </p:sp>
      <p:pic>
        <p:nvPicPr>
          <p:cNvPr id="8" name="Picture 7" descr="5359036a1f698d5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3115056" cy="792480"/>
          </a:xfrm>
          <a:prstGeom prst="rect">
            <a:avLst/>
          </a:prstGeom>
        </p:spPr>
      </p:pic>
      <p:pic>
        <p:nvPicPr>
          <p:cNvPr id="9" name="Picture 8" descr="a9f26448e74da49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987040"/>
            <a:ext cx="3121152" cy="792480"/>
          </a:xfrm>
          <a:prstGeom prst="rect">
            <a:avLst/>
          </a:prstGeom>
        </p:spPr>
      </p:pic>
      <p:pic>
        <p:nvPicPr>
          <p:cNvPr id="10" name="Picture 9" descr="55388f3dbeaaa93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28800" y="4053839"/>
            <a:ext cx="2014727" cy="78638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5297424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64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3 — Exponential Expressions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9</a:t>
            </a:r>
          </a:p>
        </p:txBody>
      </p:sp>
      <p:pic>
        <p:nvPicPr>
          <p:cNvPr id="8" name="Picture 7" descr="7c1c49302d0312d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31536" y="1600200"/>
            <a:ext cx="1298448" cy="99669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3099816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Make a plan. Then find the value.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3 — Exponential Expressions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10</a:t>
            </a:r>
          </a:p>
        </p:txBody>
      </p:sp>
      <p:pic>
        <p:nvPicPr>
          <p:cNvPr id="8" name="Picture 7" descr="64d9077d4a04b7d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34583" y="1600200"/>
            <a:ext cx="1292352" cy="99364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309676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Make a plan. Then find the value.</a:t>
            </a:r>
          </a:p>
        </p:txBody>
      </p:sp>
      <p:pic>
        <p:nvPicPr>
          <p:cNvPr id="10" name="Picture 9" descr="7d5966605e1b5a7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27217" y="3762358"/>
            <a:ext cx="832104" cy="3048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359321" y="3686158"/>
            <a:ext cx="311369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,   so the top is   </a:t>
            </a:r>
          </a:p>
        </p:txBody>
      </p:sp>
      <p:pic>
        <p:nvPicPr>
          <p:cNvPr id="12" name="Picture 11" descr="cfeba237a81f8368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35854" y="3762358"/>
            <a:ext cx="1414272" cy="304800"/>
          </a:xfrm>
          <a:prstGeom prst="rect">
            <a:avLst/>
          </a:prstGeom>
        </p:spPr>
      </p:pic>
      <p:pic>
        <p:nvPicPr>
          <p:cNvPr id="13" name="Picture 12" descr="c9da1d73bbb72ec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27217" y="4248514"/>
            <a:ext cx="2834640" cy="719328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77240" y="5105002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5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2</a:t>
            </a:r>
            <a:r>
              <a:rPr sz="3040" b="1" i="0">
                <a:solidFill>
                  <a:srgbClr val="9E1B32"/>
                </a:solidFill>
                <a:latin typeface="Lexend"/>
              </a:rPr>
              <a:t> = 25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3 — Exponential Expressions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11</a:t>
            </a:r>
          </a:p>
        </p:txBody>
      </p:sp>
      <p:pic>
        <p:nvPicPr>
          <p:cNvPr id="8" name="Picture 7" descr="2eb7f507fb1bdda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94147" y="2103120"/>
            <a:ext cx="2173224" cy="86258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3468624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Make a plan. Then find the value.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3 — Exponential Expressions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12</a:t>
            </a:r>
          </a:p>
        </p:txBody>
      </p:sp>
      <p:pic>
        <p:nvPicPr>
          <p:cNvPr id="8" name="Picture 7" descr="466ad9eb1c6c0f6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4291584" cy="862584"/>
          </a:xfrm>
          <a:prstGeom prst="rect">
            <a:avLst/>
          </a:prstGeom>
        </p:spPr>
      </p:pic>
      <p:pic>
        <p:nvPicPr>
          <p:cNvPr id="9" name="Picture 8" descr="805526f61b3f744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3057144"/>
            <a:ext cx="2709672" cy="676656"/>
          </a:xfrm>
          <a:prstGeom prst="rect">
            <a:avLst/>
          </a:prstGeom>
        </p:spPr>
      </p:pic>
      <p:pic>
        <p:nvPicPr>
          <p:cNvPr id="10" name="Picture 9" descr="e03466c326967c38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28800" y="4008119"/>
            <a:ext cx="2578608" cy="40843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4873751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10,000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3 — Exponential Expressions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13</a:t>
            </a:r>
          </a:p>
        </p:txBody>
      </p:sp>
      <p:pic>
        <p:nvPicPr>
          <p:cNvPr id="8" name="Picture 7" descr="31005eb0e2b932c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35295" y="1600200"/>
            <a:ext cx="2090928" cy="106984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317296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Make a plan. Then find the value.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3 — Exponential Expressions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14</a:t>
            </a:r>
          </a:p>
        </p:txBody>
      </p:sp>
      <p:pic>
        <p:nvPicPr>
          <p:cNvPr id="8" name="Picture 7" descr="3c51ce23219019c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38344" y="1600200"/>
            <a:ext cx="2084831" cy="106984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317296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Make a plan. Then find the value.</a:t>
            </a:r>
          </a:p>
        </p:txBody>
      </p:sp>
      <p:pic>
        <p:nvPicPr>
          <p:cNvPr id="10" name="Picture 9" descr="861380fef57da39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87723" y="3837034"/>
            <a:ext cx="813816" cy="307848"/>
          </a:xfrm>
          <a:prstGeom prst="rect">
            <a:avLst/>
          </a:prstGeom>
        </p:spPr>
      </p:pic>
      <p:pic>
        <p:nvPicPr>
          <p:cNvPr id="11" name="Picture 10" descr="6ae16a65768a73b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87723" y="4324714"/>
            <a:ext cx="4498848" cy="77419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77240" y="5236066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−27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3 — Exponential Expressions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51660"/>
            <a:ext cx="317189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warehouse holds  </a:t>
            </a:r>
          </a:p>
        </p:txBody>
      </p:sp>
      <p:pic>
        <p:nvPicPr>
          <p:cNvPr id="9" name="Picture 8" descr="0ad9a9f5739e685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69171" y="1946147"/>
            <a:ext cx="292608" cy="26822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561779" y="1851660"/>
            <a:ext cx="177410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 boxes in  </a:t>
            </a:r>
          </a:p>
        </p:txBody>
      </p:sp>
      <p:pic>
        <p:nvPicPr>
          <p:cNvPr id="11" name="Picture 10" descr="90ca6f61d8d9d8f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98724" y="1943100"/>
            <a:ext cx="280416" cy="27432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479140" y="1851660"/>
            <a:ext cx="205890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 equal rows.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248716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Each box weighs 3 kilograms.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34440" y="302626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many boxes are in each row?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3 — Exponential Expressions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51660"/>
            <a:ext cx="317189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warehouse holds  </a:t>
            </a:r>
          </a:p>
        </p:txBody>
      </p:sp>
      <p:pic>
        <p:nvPicPr>
          <p:cNvPr id="9" name="Picture 8" descr="39f35dfe45d0621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69171" y="1944623"/>
            <a:ext cx="292608" cy="27127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561779" y="1851660"/>
            <a:ext cx="177410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 boxes in  </a:t>
            </a:r>
          </a:p>
        </p:txBody>
      </p:sp>
      <p:pic>
        <p:nvPicPr>
          <p:cNvPr id="11" name="Picture 10" descr="83256b733f6eea6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98724" y="1943100"/>
            <a:ext cx="283464" cy="27432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482188" y="1851660"/>
            <a:ext cx="205890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 equal rows.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248716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Each box weighs 3 kilograms.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34440" y="302626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many boxes are in each row?</a:t>
            </a:r>
          </a:p>
        </p:txBody>
      </p:sp>
      <p:pic>
        <p:nvPicPr>
          <p:cNvPr id="15" name="Picture 14" descr="7a08f76444d3db9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70119" y="3739100"/>
            <a:ext cx="2727960" cy="301752"/>
          </a:xfrm>
          <a:prstGeom prst="rect">
            <a:avLst/>
          </a:prstGeom>
        </p:spPr>
      </p:pic>
      <p:pic>
        <p:nvPicPr>
          <p:cNvPr id="16" name="Picture 15" descr="8cf4bb25f9be7695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70119" y="4277072"/>
            <a:ext cx="1024128" cy="30480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777240" y="4772372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36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3 — Exponential Expressions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17</a:t>
            </a:r>
          </a:p>
        </p:txBody>
      </p:sp>
      <p:pic>
        <p:nvPicPr>
          <p:cNvPr id="8" name="Picture 7" descr="d7dfc0540bf78cb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30368" y="2194560"/>
            <a:ext cx="1700784" cy="50901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3 — Exponential Expressions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18</a:t>
            </a:r>
          </a:p>
        </p:txBody>
      </p:sp>
      <p:pic>
        <p:nvPicPr>
          <p:cNvPr id="8" name="Picture 7" descr="1728c2e18e9d371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30368" y="2103120"/>
            <a:ext cx="1700784" cy="50901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3636576" y="2891028"/>
            <a:ext cx="245606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Inside first:  </a:t>
            </a:r>
          </a:p>
        </p:txBody>
      </p:sp>
      <p:pic>
        <p:nvPicPr>
          <p:cNvPr id="10" name="Picture 9" descr="a8f80e542aac10d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55479" y="2967228"/>
            <a:ext cx="2569464" cy="304800"/>
          </a:xfrm>
          <a:prstGeom prst="rect">
            <a:avLst/>
          </a:prstGeom>
        </p:spPr>
      </p:pic>
      <p:pic>
        <p:nvPicPr>
          <p:cNvPr id="11" name="Picture 10" descr="562836d64a249868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91440" y="3473195"/>
            <a:ext cx="3206496" cy="37185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729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3 — Exponential Expressions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19</a:t>
            </a:r>
          </a:p>
        </p:txBody>
      </p:sp>
      <p:pic>
        <p:nvPicPr>
          <p:cNvPr id="8" name="Picture 7" descr="853f704f39adc6f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79720" y="2194560"/>
            <a:ext cx="1402080" cy="116128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3 — Exponential Expressions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20</a:t>
            </a:r>
          </a:p>
        </p:txBody>
      </p:sp>
      <p:pic>
        <p:nvPicPr>
          <p:cNvPr id="8" name="Picture 7" descr="8cfe86bd927791b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82767" y="2103120"/>
            <a:ext cx="1395984" cy="115824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3883151" y="3540252"/>
            <a:ext cx="114130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Top:  </a:t>
            </a:r>
          </a:p>
        </p:txBody>
      </p:sp>
      <p:pic>
        <p:nvPicPr>
          <p:cNvPr id="10" name="Picture 9" descr="c8aacd963cc0abc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87295" y="3582923"/>
            <a:ext cx="3212592" cy="371856"/>
          </a:xfrm>
          <a:prstGeom prst="rect">
            <a:avLst/>
          </a:prstGeom>
        </p:spPr>
      </p:pic>
      <p:pic>
        <p:nvPicPr>
          <p:cNvPr id="11" name="Picture 10" descr="024670428e914ad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38015" y="4102607"/>
            <a:ext cx="4395216" cy="72237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77240" y="4962144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0.0625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3 — Exponential Expressions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21</a:t>
            </a:r>
          </a:p>
        </p:txBody>
      </p:sp>
      <p:pic>
        <p:nvPicPr>
          <p:cNvPr id="8" name="Picture 7" descr="c1a85d6466844e3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80659" y="2194560"/>
            <a:ext cx="1600200" cy="99364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3 — Exponential Expressions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22</a:t>
            </a:r>
          </a:p>
        </p:txBody>
      </p:sp>
      <p:pic>
        <p:nvPicPr>
          <p:cNvPr id="8" name="Picture 7" descr="201b523e8714251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79135" y="2103120"/>
            <a:ext cx="1603248" cy="990599"/>
          </a:xfrm>
          <a:prstGeom prst="rect">
            <a:avLst/>
          </a:prstGeom>
        </p:spPr>
      </p:pic>
      <p:pic>
        <p:nvPicPr>
          <p:cNvPr id="9" name="Picture 8" descr="559f26ed92ee9a2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80203" y="3395471"/>
            <a:ext cx="2904744" cy="716280"/>
          </a:xfrm>
          <a:prstGeom prst="rect">
            <a:avLst/>
          </a:prstGeom>
        </p:spPr>
      </p:pic>
      <p:pic>
        <p:nvPicPr>
          <p:cNvPr id="10" name="Picture 9" descr="24d3fe5a98bd3a5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80203" y="4259580"/>
            <a:ext cx="2910840" cy="37185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4788408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6.25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3 — Exponential Expressions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23</a:t>
            </a:r>
          </a:p>
        </p:txBody>
      </p:sp>
      <p:pic>
        <p:nvPicPr>
          <p:cNvPr id="8" name="Picture 7" descr="bc2795e448a34e0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07864" y="2194560"/>
            <a:ext cx="2145792" cy="107899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3502152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Which is the value?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4168471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A.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1/4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29400" y="4168471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B.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2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22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19" y="4854271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C.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29400" y="4854271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D.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5687568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3 — Exponential Expressions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24</a:t>
            </a:r>
          </a:p>
        </p:txBody>
      </p:sp>
      <p:pic>
        <p:nvPicPr>
          <p:cNvPr id="8" name="Picture 7" descr="0dc5a9a7ac0e329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09387" y="2103120"/>
            <a:ext cx="2142744" cy="107289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3404616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Which is the value?</a:t>
            </a:r>
          </a:p>
        </p:txBody>
      </p:sp>
      <p:pic>
        <p:nvPicPr>
          <p:cNvPr id="10" name="Picture 9" descr="0d09560877107fa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74945" y="4105987"/>
            <a:ext cx="1097280" cy="3048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3972225" y="4029787"/>
            <a:ext cx="311369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,   so the top is   </a:t>
            </a:r>
          </a:p>
        </p:txBody>
      </p:sp>
      <p:pic>
        <p:nvPicPr>
          <p:cNvPr id="12" name="Picture 11" descr="2fb277e921b4c8c4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48758" y="4072459"/>
            <a:ext cx="2450592" cy="371856"/>
          </a:xfrm>
          <a:prstGeom prst="rect">
            <a:avLst/>
          </a:prstGeom>
        </p:spPr>
      </p:pic>
      <p:pic>
        <p:nvPicPr>
          <p:cNvPr id="13" name="Picture 12" descr="06fcc5f13e113159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874945" y="4592143"/>
            <a:ext cx="3008376" cy="71628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77240" y="5445583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D — 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3 — Exponential Expressions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25</a:t>
            </a:r>
          </a:p>
        </p:txBody>
      </p:sp>
      <p:pic>
        <p:nvPicPr>
          <p:cNvPr id="8" name="Picture 7" descr="4f0d140d692f52a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59680" y="2194560"/>
            <a:ext cx="2042160" cy="98450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3407664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Which expression is equivalent?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4073983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A.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0.2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0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 · 0.1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29400" y="4073983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B.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0.2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3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 · 0.1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19" y="4759783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C.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0.1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29400" y="4759783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D.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0.1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5687568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3 — Exponential Expressions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26</a:t>
            </a:r>
          </a:p>
        </p:txBody>
      </p:sp>
      <p:pic>
        <p:nvPicPr>
          <p:cNvPr id="8" name="Picture 7" descr="d5144192dfe296f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56631" y="2103120"/>
            <a:ext cx="2048256" cy="98450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3316224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Which expression is equivalent?</a:t>
            </a:r>
          </a:p>
        </p:txBody>
      </p:sp>
      <p:pic>
        <p:nvPicPr>
          <p:cNvPr id="10" name="Picture 9" descr="94a1e1b1de4bfc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12919" y="3964255"/>
            <a:ext cx="2980944" cy="713232"/>
          </a:xfrm>
          <a:prstGeom prst="rect">
            <a:avLst/>
          </a:prstGeom>
        </p:spPr>
      </p:pic>
      <p:pic>
        <p:nvPicPr>
          <p:cNvPr id="11" name="Picture 10" descr="f5db90305a3cc13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12919" y="4858843"/>
            <a:ext cx="3648456" cy="3048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77240" y="5354143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C — 0.1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5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3 — Exponential Expressions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27</a:t>
            </a:r>
          </a:p>
        </p:txBody>
      </p:sp>
      <p:pic>
        <p:nvPicPr>
          <p:cNvPr id="8" name="Picture 7" descr="1f6a545d117e0fe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53939" y="2194560"/>
            <a:ext cx="2453640" cy="50901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3 — Exponential Expressions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28</a:t>
            </a:r>
          </a:p>
        </p:txBody>
      </p:sp>
      <p:pic>
        <p:nvPicPr>
          <p:cNvPr id="8" name="Picture 7" descr="4a52109175a88ef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52416" y="2103120"/>
            <a:ext cx="2456688" cy="509016"/>
          </a:xfrm>
          <a:prstGeom prst="rect">
            <a:avLst/>
          </a:prstGeom>
        </p:spPr>
      </p:pic>
      <p:pic>
        <p:nvPicPr>
          <p:cNvPr id="9" name="Picture 8" descr="9994c4103bc0795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84448" y="2933699"/>
            <a:ext cx="3127248" cy="371856"/>
          </a:xfrm>
          <a:prstGeom prst="rect">
            <a:avLst/>
          </a:prstGeom>
        </p:spPr>
      </p:pic>
      <p:pic>
        <p:nvPicPr>
          <p:cNvPr id="10" name="Picture 9" descr="a3962f919eaa2e5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84448" y="3506724"/>
            <a:ext cx="5108448" cy="3048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0.0001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3 — Exponential Expressions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29</a:t>
            </a:r>
          </a:p>
        </p:txBody>
      </p:sp>
      <p:pic>
        <p:nvPicPr>
          <p:cNvPr id="8" name="Picture 7" descr="c207f4faf046fab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03648" y="2194560"/>
            <a:ext cx="2554224" cy="117043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3 — Exponential Expressions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30</a:t>
            </a:r>
          </a:p>
        </p:txBody>
      </p:sp>
      <p:pic>
        <p:nvPicPr>
          <p:cNvPr id="8" name="Picture 7" descr="b21b3b08159601a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06695" y="2103120"/>
            <a:ext cx="2548128" cy="117043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3762714" y="3552444"/>
            <a:ext cx="99677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Top:  </a:t>
            </a:r>
          </a:p>
        </p:txBody>
      </p:sp>
      <p:pic>
        <p:nvPicPr>
          <p:cNvPr id="10" name="Picture 9" descr="7cb6b0e37124900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22333" y="3624072"/>
            <a:ext cx="3776472" cy="31394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3762714" y="4055363"/>
            <a:ext cx="158327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Bottom:  </a:t>
            </a:r>
          </a:p>
        </p:txBody>
      </p:sp>
      <p:pic>
        <p:nvPicPr>
          <p:cNvPr id="12" name="Picture 11" descr="7fc1a3bd4f31f49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08824" y="4126992"/>
            <a:ext cx="1103376" cy="313944"/>
          </a:xfrm>
          <a:prstGeom prst="rect">
            <a:avLst/>
          </a:prstGeom>
        </p:spPr>
      </p:pic>
      <p:pic>
        <p:nvPicPr>
          <p:cNvPr id="13" name="Picture 12" descr="9f85f887b8d2d3a5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17578" y="4632960"/>
            <a:ext cx="1469136" cy="307848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77240" y="5129784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−64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3 — Exponential Expressions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23457" y="2362199"/>
            <a:ext cx="277123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Winston writes  </a:t>
            </a:r>
          </a:p>
        </p:txBody>
      </p:sp>
      <p:pic>
        <p:nvPicPr>
          <p:cNvPr id="9" name="Picture 8" descr="fb17c489e50a379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57536" y="2196083"/>
            <a:ext cx="2234184" cy="78943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091720" y="2362199"/>
            <a:ext cx="286246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.   Yvette writes  </a:t>
            </a:r>
          </a:p>
        </p:txBody>
      </p:sp>
      <p:pic>
        <p:nvPicPr>
          <p:cNvPr id="11" name="Picture 10" descr="56efae9f876bdcd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17020" y="2194560"/>
            <a:ext cx="1972056" cy="79248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0789076" y="2362199"/>
            <a:ext cx="28614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326136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Do they get the same value? Explain.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Write your answer in sentences.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3 — Exponential Expressions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26505" y="2269236"/>
            <a:ext cx="277123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Winston writes  </a:t>
            </a:r>
          </a:p>
        </p:txBody>
      </p:sp>
      <p:pic>
        <p:nvPicPr>
          <p:cNvPr id="9" name="Picture 8" descr="aefdad52317ca88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60584" y="2106168"/>
            <a:ext cx="2234184" cy="78333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094768" y="2269236"/>
            <a:ext cx="286246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.   Yvette writes  </a:t>
            </a:r>
          </a:p>
        </p:txBody>
      </p:sp>
      <p:pic>
        <p:nvPicPr>
          <p:cNvPr id="11" name="Picture 10" descr="405cad7d58f4a9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20068" y="2103120"/>
            <a:ext cx="1965960" cy="78943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0786028" y="2269236"/>
            <a:ext cx="28614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3166871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Do they get the same value? Explain.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92015" y="3792043"/>
            <a:ext cx="169077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Winston:  </a:t>
            </a:r>
          </a:p>
        </p:txBody>
      </p:sp>
      <p:pic>
        <p:nvPicPr>
          <p:cNvPr id="15" name="Picture 14" descr="fb99ef7e2271fb1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45632" y="3863671"/>
            <a:ext cx="2023872" cy="313944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4292015" y="4390975"/>
            <a:ext cx="144194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Yvette:  </a:t>
            </a:r>
          </a:p>
        </p:txBody>
      </p:sp>
      <p:pic>
        <p:nvPicPr>
          <p:cNvPr id="17" name="Picture 16" descr="ba4bf2d7c561be20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596798" y="4317823"/>
            <a:ext cx="2054352" cy="603504"/>
          </a:xfrm>
          <a:prstGeom prst="rect">
            <a:avLst/>
          </a:prstGeom>
        </p:spPr>
      </p:pic>
      <p:pic>
        <p:nvPicPr>
          <p:cNvPr id="18" name="Picture 17" descr="45583768a555bd63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346879" y="5060011"/>
            <a:ext cx="1338072" cy="316992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777240" y="5561407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Yes — both give 4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6</a:t>
            </a:r>
            <a:r>
              <a:rPr sz="3040" b="1" i="0">
                <a:solidFill>
                  <a:srgbClr val="9E1B32"/>
                </a:solidFill>
                <a:latin typeface="Lexend"/>
              </a:rPr>
              <a:t> = 4,096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Independent Set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3 — Exponential Expressions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1610868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1.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1610868"/>
            <a:ext cx="246055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Find the value.  </a:t>
            </a:r>
          </a:p>
        </p:txBody>
      </p:sp>
      <p:pic>
        <p:nvPicPr>
          <p:cNvPr id="10" name="Picture 9" descr="c7e89364d519cf4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77878" y="1517904"/>
            <a:ext cx="862584" cy="64312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60120" y="2321052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2.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2321052"/>
            <a:ext cx="246055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Find the value.  </a:t>
            </a:r>
          </a:p>
        </p:txBody>
      </p:sp>
      <p:pic>
        <p:nvPicPr>
          <p:cNvPr id="13" name="Picture 12" descr="4708afb69f8d23f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77878" y="2383536"/>
            <a:ext cx="1121664" cy="332232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960120" y="3029712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3.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54480" y="3029712"/>
            <a:ext cx="316964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Write as one power.  </a:t>
            </a:r>
          </a:p>
        </p:txBody>
      </p:sp>
      <p:pic>
        <p:nvPicPr>
          <p:cNvPr id="16" name="Picture 15" descr="f8e03137ad627c1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86963" y="2938272"/>
            <a:ext cx="810768" cy="64008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960120" y="3738371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4.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54480" y="3738371"/>
            <a:ext cx="246055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Find the value.  </a:t>
            </a:r>
          </a:p>
        </p:txBody>
      </p:sp>
      <p:pic>
        <p:nvPicPr>
          <p:cNvPr id="19" name="Picture 18" descr="271b6d25ef87d17b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77878" y="3800855"/>
            <a:ext cx="1624584" cy="332232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960120" y="4509516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5.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54480" y="4509516"/>
            <a:ext cx="246055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Find the value.  </a:t>
            </a:r>
          </a:p>
        </p:txBody>
      </p:sp>
      <p:pic>
        <p:nvPicPr>
          <p:cNvPr id="22" name="Picture 21" descr="4cda08a3e11dfd11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77878" y="4355592"/>
            <a:ext cx="1621536" cy="765048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960120" y="5398008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6.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54480" y="5398008"/>
            <a:ext cx="181337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Show that  </a:t>
            </a:r>
          </a:p>
        </p:txBody>
      </p:sp>
      <p:pic>
        <p:nvPicPr>
          <p:cNvPr id="25" name="Picture 24" descr="ae2b35341e662e17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230690" y="5303520"/>
            <a:ext cx="996696" cy="646176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4227386" y="5398008"/>
            <a:ext cx="108750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  and  </a:t>
            </a:r>
          </a:p>
        </p:txBody>
      </p:sp>
      <p:pic>
        <p:nvPicPr>
          <p:cNvPr id="27" name="Picture 26" descr="b168ae64df955b71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177727" y="5305044"/>
            <a:ext cx="499871" cy="643128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5677599" y="5398008"/>
            <a:ext cx="338705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  have the same value.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IXL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3 — Exponential Expressions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182880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1.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1828800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Open IXL and start today's skills.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33172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2.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2331720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Work on paper where the question needs work. The answer box does not show it.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3191256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3.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3191256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Every skill listed is required, to a SmartScore of 67. Due at the start of the next class.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4096511"/>
            <a:ext cx="102412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1A1A1A"/>
                </a:solidFill>
                <a:latin typeface="Lexend"/>
              </a:rPr>
              <a:t>Today's skills — all required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25880" y="4507992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Evaluate expressions using properties of exponents — ZE9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