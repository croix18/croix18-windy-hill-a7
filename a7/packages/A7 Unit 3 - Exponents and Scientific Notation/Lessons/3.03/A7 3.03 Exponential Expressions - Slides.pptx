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Relationship Id="rId4" Type="http://schemas.openxmlformats.org/officeDocument/2006/relationships/image" Target="../media/image5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59.png"/><Relationship Id="rId4" Type="http://schemas.openxmlformats.org/officeDocument/2006/relationships/image" Target="../media/image60.png"/><Relationship Id="rId5" Type="http://schemas.openxmlformats.org/officeDocument/2006/relationships/image" Target="../media/image6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3" Type="http://schemas.openxmlformats.org/officeDocument/2006/relationships/image" Target="../media/image6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Relationship Id="rId6" Type="http://schemas.openxmlformats.org/officeDocument/2006/relationships/image" Target="../media/image6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Relationship Id="rId3" Type="http://schemas.openxmlformats.org/officeDocument/2006/relationships/image" Target="../media/image70.png"/><Relationship Id="rId4" Type="http://schemas.openxmlformats.org/officeDocument/2006/relationships/image" Target="../media/image71.png"/><Relationship Id="rId5" Type="http://schemas.openxmlformats.org/officeDocument/2006/relationships/image" Target="../media/image72.png"/><Relationship Id="rId6" Type="http://schemas.openxmlformats.org/officeDocument/2006/relationships/image" Target="../media/image73.png"/><Relationship Id="rId7" Type="http://schemas.openxmlformats.org/officeDocument/2006/relationships/image" Target="../media/image74.png"/><Relationship Id="rId8" Type="http://schemas.openxmlformats.org/officeDocument/2006/relationships/image" Target="../media/image7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3  ·  LESSON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Exponential Expressions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MA.7.NSO.1.1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apply more than one law of exponents to evaluate an expression and to write an equivalent one.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556004"/>
            <a:ext cx="29218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Find the value:  </a:t>
            </a:r>
          </a:p>
        </p:txBody>
      </p:sp>
      <p:pic>
        <p:nvPicPr>
          <p:cNvPr id="9" name="Picture 8" descr="7eeabcc1a7697b1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9168" y="1463040"/>
            <a:ext cx="487680" cy="6431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74519" y="2284476"/>
            <a:ext cx="10495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Is </a:t>
            </a:r>
          </a:p>
        </p:txBody>
      </p:sp>
      <p:pic>
        <p:nvPicPr>
          <p:cNvPr id="11" name="Picture 10" descr="bcdd97740536927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6893" y="2318004"/>
            <a:ext cx="710184" cy="3901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497077" y="2284476"/>
            <a:ext cx="290976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closer to 7 or to 8?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897124"/>
            <a:ext cx="16122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Solve  </a:t>
            </a:r>
          </a:p>
        </p:txBody>
      </p:sp>
      <p:pic>
        <p:nvPicPr>
          <p:cNvPr id="14" name="Picture 13" descr="c4840976746a8c6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9655" y="2983992"/>
            <a:ext cx="1673352" cy="2834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874519" y="3509772"/>
            <a:ext cx="211855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Evaluate  </a:t>
            </a:r>
          </a:p>
        </p:txBody>
      </p:sp>
      <p:pic>
        <p:nvPicPr>
          <p:cNvPr id="16" name="Picture 15" descr="3d00c0b948695db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5915" y="3599688"/>
            <a:ext cx="1127760" cy="2773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556004"/>
            <a:ext cx="29218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Find the value:  </a:t>
            </a:r>
          </a:p>
        </p:txBody>
      </p:sp>
      <p:pic>
        <p:nvPicPr>
          <p:cNvPr id="9" name="Picture 8" descr="7eeabcc1a7697b1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9168" y="1463040"/>
            <a:ext cx="487680" cy="6431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95488" y="1440180"/>
            <a:ext cx="77237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284476"/>
            <a:ext cx="10495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Is </a:t>
            </a:r>
          </a:p>
        </p:txBody>
      </p:sp>
      <p:pic>
        <p:nvPicPr>
          <p:cNvPr id="12" name="Picture 11" descr="bcdd97740536927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6893" y="2318004"/>
            <a:ext cx="710184" cy="3901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497077" y="2284476"/>
            <a:ext cx="290976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closer to 7 or to 8?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8326" y="2284476"/>
            <a:ext cx="37297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2897124"/>
            <a:ext cx="16122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Solve  </a:t>
            </a:r>
          </a:p>
        </p:txBody>
      </p:sp>
      <p:pic>
        <p:nvPicPr>
          <p:cNvPr id="16" name="Picture 15" descr="c4840976746a8c6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9655" y="2983992"/>
            <a:ext cx="1673352" cy="2834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571647" y="2897124"/>
            <a:ext cx="93533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x =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509772"/>
            <a:ext cx="211855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Evaluate  </a:t>
            </a:r>
          </a:p>
        </p:txBody>
      </p:sp>
      <p:pic>
        <p:nvPicPr>
          <p:cNvPr id="19" name="Picture 18" descr="3d00c0b948695db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5915" y="3599688"/>
            <a:ext cx="1127760" cy="27736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532315" y="3509772"/>
            <a:ext cx="5841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50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The seven laws, in one place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051560" y="1993392"/>
          <a:ext cx="10058400" cy="3072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840"/>
                <a:gridCol w="3657600"/>
                <a:gridCol w="310896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20" b="1">
                          <a:solidFill>
                            <a:srgbClr val="1A1A1A"/>
                          </a:solidFill>
                          <a:latin typeface="Lexend"/>
                        </a:rPr>
                        <a:t>Law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20" b="1">
                          <a:solidFill>
                            <a:srgbClr val="1A1A1A"/>
                          </a:solidFill>
                          <a:latin typeface="Lexend"/>
                        </a:rPr>
                        <a:t>Rule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20" b="1">
                          <a:solidFill>
                            <a:srgbClr val="1A1A1A"/>
                          </a:solidFill>
                          <a:latin typeface="Lexend"/>
                        </a:rPr>
                        <a:t>Example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Product of powers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a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m</a:t>
                      </a:r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 · a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n</a:t>
                      </a:r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 = a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m+n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2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3</a:t>
                      </a:r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 · 2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1</a:t>
                      </a:r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 = 2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Quotient of powers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a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m</a:t>
                      </a:r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 ÷ a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n</a:t>
                      </a:r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 = a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m-n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(−3)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7</a:t>
                      </a:r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 ÷ (−3)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2</a:t>
                      </a:r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 = (−3)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Power of a product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(ab)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m</a:t>
                      </a:r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 = a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m</a:t>
                      </a:r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 · b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(−7 · 3)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2</a:t>
                      </a:r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 = (−7)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2</a:t>
                      </a:r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 · 3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Power of a quotient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(a ÷ b)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m</a:t>
                      </a:r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 = a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m</a:t>
                      </a:r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 ÷ b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(13 ÷ 5)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3</a:t>
                      </a:r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 = 13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3</a:t>
                      </a:r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 ÷ 5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Power of a power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(a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m</a:t>
                      </a:r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)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n</a:t>
                      </a:r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 = a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mn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(6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3</a:t>
                      </a:r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)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4</a:t>
                      </a:r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 = 6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12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Identity exponent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a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1</a:t>
                      </a:r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 = 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15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1</a:t>
                      </a:r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 = 15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Zero exponent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a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0</a:t>
                      </a:r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 = 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127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0</a:t>
                      </a:r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 = 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More than one law — make a plan, then follow it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405456" y="2159508"/>
            <a:ext cx="178139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Winston:  </a:t>
            </a:r>
          </a:p>
        </p:txBody>
      </p:sp>
      <p:pic>
        <p:nvPicPr>
          <p:cNvPr id="11" name="Picture 10" descr="26de40715e21e66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9695" y="1993392"/>
            <a:ext cx="3706368" cy="7894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981866" y="3297936"/>
            <a:ext cx="16105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Yvette:   </a:t>
            </a:r>
          </a:p>
        </p:txBody>
      </p:sp>
      <p:pic>
        <p:nvPicPr>
          <p:cNvPr id="13" name="Picture 12" descr="354e7e69552fdcc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5253" y="3057144"/>
            <a:ext cx="4724400" cy="9387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4334256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Different plans, same value. Any correct sequence of laws gives the same answer.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Order of operations still applies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87552" y="2057400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81912" y="2057400"/>
            <a:ext cx="9537192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Parentheses first — including a fraction bar, which is a pair of parentheses in disguise.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264408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B.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912" y="3264408"/>
            <a:ext cx="9537192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Exponents next — the laws of exponents are applied here.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3995928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995928"/>
            <a:ext cx="9537192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Then multiply and divide, left to right; then add and subtract.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4727448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81912" y="4686299"/>
            <a:ext cx="394287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Never across a + or a −:  </a:t>
            </a:r>
          </a:p>
        </p:txBody>
      </p:sp>
      <p:pic>
        <p:nvPicPr>
          <p:cNvPr id="18" name="Picture 17" descr="b054382c410b71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7624" y="4745736"/>
            <a:ext cx="3041904" cy="33832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429528" y="4686299"/>
            <a:ext cx="97534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, not </a:t>
            </a:r>
          </a:p>
        </p:txBody>
      </p:sp>
      <p:pic>
        <p:nvPicPr>
          <p:cNvPr id="20" name="Picture 19" descr="b8a8a24b141b26c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7716" y="4748783"/>
            <a:ext cx="335280" cy="33223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602996" y="4686299"/>
            <a:ext cx="28589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pic>
        <p:nvPicPr>
          <p:cNvPr id="8" name="Picture 7" descr="871450e41cfad6f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8883" y="2103120"/>
            <a:ext cx="1063752" cy="792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39852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Make a plan. Then find the value.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pic>
        <p:nvPicPr>
          <p:cNvPr id="8" name="Picture 7" descr="5359036a1f698d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115056" cy="792480"/>
          </a:xfrm>
          <a:prstGeom prst="rect">
            <a:avLst/>
          </a:prstGeom>
        </p:spPr>
      </p:pic>
      <p:pic>
        <p:nvPicPr>
          <p:cNvPr id="9" name="Picture 8" descr="a9f26448e74da4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987040"/>
            <a:ext cx="3121152" cy="792480"/>
          </a:xfrm>
          <a:prstGeom prst="rect">
            <a:avLst/>
          </a:prstGeom>
        </p:spPr>
      </p:pic>
      <p:pic>
        <p:nvPicPr>
          <p:cNvPr id="10" name="Picture 9" descr="55388f3dbeaaa93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4053839"/>
            <a:ext cx="2014727" cy="7863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297424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64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7c1c49302d0312d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1536" y="1600200"/>
            <a:ext cx="1298448" cy="9966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09981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Make a plan. Then find the value.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pic>
        <p:nvPicPr>
          <p:cNvPr id="8" name="Picture 7" descr="64d9077d4a04b7d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4583" y="1600200"/>
            <a:ext cx="1292352" cy="9936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09676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Make a plan. Then find the value.</a:t>
            </a:r>
          </a:p>
        </p:txBody>
      </p:sp>
      <p:pic>
        <p:nvPicPr>
          <p:cNvPr id="10" name="Picture 9" descr="7d5966605e1b5a7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7217" y="3762358"/>
            <a:ext cx="832104" cy="30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359321" y="3686158"/>
            <a:ext cx="311369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so the top is   </a:t>
            </a:r>
          </a:p>
        </p:txBody>
      </p:sp>
      <p:pic>
        <p:nvPicPr>
          <p:cNvPr id="12" name="Picture 11" descr="cfeba237a81f836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5854" y="3762358"/>
            <a:ext cx="1414272" cy="304800"/>
          </a:xfrm>
          <a:prstGeom prst="rect">
            <a:avLst/>
          </a:prstGeom>
        </p:spPr>
      </p:pic>
      <p:pic>
        <p:nvPicPr>
          <p:cNvPr id="13" name="Picture 12" descr="c9da1d73bbb72ec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7217" y="4248514"/>
            <a:ext cx="2834640" cy="7193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5105002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5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= 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pic>
        <p:nvPicPr>
          <p:cNvPr id="8" name="Picture 7" descr="2eb7f507fb1bdd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4147" y="2103120"/>
            <a:ext cx="2173224" cy="8625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46862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Make a plan. Then find the value.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pic>
        <p:nvPicPr>
          <p:cNvPr id="8" name="Picture 7" descr="466ad9eb1c6c0f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4291584" cy="862584"/>
          </a:xfrm>
          <a:prstGeom prst="rect">
            <a:avLst/>
          </a:prstGeom>
        </p:spPr>
      </p:pic>
      <p:pic>
        <p:nvPicPr>
          <p:cNvPr id="9" name="Picture 8" descr="805526f61b3f744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3057144"/>
            <a:ext cx="2709672" cy="676656"/>
          </a:xfrm>
          <a:prstGeom prst="rect">
            <a:avLst/>
          </a:prstGeom>
        </p:spPr>
      </p:pic>
      <p:pic>
        <p:nvPicPr>
          <p:cNvPr id="10" name="Picture 9" descr="e03466c326967c3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4008119"/>
            <a:ext cx="2578608" cy="4084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873751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10,000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31005eb0e2b932c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5295" y="1600200"/>
            <a:ext cx="2090928" cy="10698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17296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Make a plan. Then find the value.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pic>
        <p:nvPicPr>
          <p:cNvPr id="8" name="Picture 7" descr="3c51ce23219019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8344" y="1600200"/>
            <a:ext cx="2084831" cy="10698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17296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Make a plan. Then find the value.</a:t>
            </a:r>
          </a:p>
        </p:txBody>
      </p:sp>
      <p:pic>
        <p:nvPicPr>
          <p:cNvPr id="10" name="Picture 9" descr="861380fef57da3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7723" y="3837034"/>
            <a:ext cx="813816" cy="307848"/>
          </a:xfrm>
          <a:prstGeom prst="rect">
            <a:avLst/>
          </a:prstGeom>
        </p:spPr>
      </p:pic>
      <p:pic>
        <p:nvPicPr>
          <p:cNvPr id="11" name="Picture 10" descr="6ae16a65768a73b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7723" y="4324714"/>
            <a:ext cx="4498848" cy="77419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523606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−27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17189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warehouse holds  </a:t>
            </a:r>
          </a:p>
        </p:txBody>
      </p:sp>
      <p:pic>
        <p:nvPicPr>
          <p:cNvPr id="9" name="Picture 8" descr="0ad9a9f5739e68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9171" y="1946147"/>
            <a:ext cx="292608" cy="2682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61779" y="1851660"/>
            <a:ext cx="177410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boxes in  </a:t>
            </a:r>
          </a:p>
        </p:txBody>
      </p:sp>
      <p:pic>
        <p:nvPicPr>
          <p:cNvPr id="11" name="Picture 10" descr="90ca6f61d8d9d8f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8724" y="1943100"/>
            <a:ext cx="280416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79140" y="1851660"/>
            <a:ext cx="205890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equal rows.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Each box weighs 3 kilograms.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boxes are in each row?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17189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warehouse holds  </a:t>
            </a:r>
          </a:p>
        </p:txBody>
      </p:sp>
      <p:pic>
        <p:nvPicPr>
          <p:cNvPr id="9" name="Picture 8" descr="39f35dfe45d0621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9171" y="1944623"/>
            <a:ext cx="292608" cy="2712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61779" y="1851660"/>
            <a:ext cx="177410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boxes in  </a:t>
            </a:r>
          </a:p>
        </p:txBody>
      </p:sp>
      <p:pic>
        <p:nvPicPr>
          <p:cNvPr id="11" name="Picture 10" descr="83256b733f6eea6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8724" y="1943100"/>
            <a:ext cx="283464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82188" y="1851660"/>
            <a:ext cx="205890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equal rows.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Each box weighs 3 kilograms.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boxes are in each row?</a:t>
            </a:r>
          </a:p>
        </p:txBody>
      </p:sp>
      <p:pic>
        <p:nvPicPr>
          <p:cNvPr id="15" name="Picture 14" descr="7a08f76444d3db9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0119" y="3739100"/>
            <a:ext cx="2727960" cy="301752"/>
          </a:xfrm>
          <a:prstGeom prst="rect">
            <a:avLst/>
          </a:prstGeom>
        </p:spPr>
      </p:pic>
      <p:pic>
        <p:nvPicPr>
          <p:cNvPr id="16" name="Picture 15" descr="8cf4bb25f9be769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0119" y="4277072"/>
            <a:ext cx="1024128" cy="304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240" y="4772372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36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pic>
        <p:nvPicPr>
          <p:cNvPr id="8" name="Picture 7" descr="d7dfc0540bf78c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2194560"/>
            <a:ext cx="1700784" cy="5090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pic>
        <p:nvPicPr>
          <p:cNvPr id="8" name="Picture 7" descr="1728c2e18e9d37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2103120"/>
            <a:ext cx="1700784" cy="5090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36576" y="2891028"/>
            <a:ext cx="24560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Inside first:  </a:t>
            </a:r>
          </a:p>
        </p:txBody>
      </p:sp>
      <p:pic>
        <p:nvPicPr>
          <p:cNvPr id="10" name="Picture 9" descr="a8f80e542aac10d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5479" y="2967228"/>
            <a:ext cx="2569464" cy="304800"/>
          </a:xfrm>
          <a:prstGeom prst="rect">
            <a:avLst/>
          </a:prstGeom>
        </p:spPr>
      </p:pic>
      <p:pic>
        <p:nvPicPr>
          <p:cNvPr id="11" name="Picture 10" descr="562836d64a24986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1440" y="3473195"/>
            <a:ext cx="3206496" cy="3718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729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pic>
        <p:nvPicPr>
          <p:cNvPr id="8" name="Picture 7" descr="853f704f39adc6f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9720" y="2194560"/>
            <a:ext cx="1402080" cy="11612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pic>
        <p:nvPicPr>
          <p:cNvPr id="8" name="Picture 7" descr="8cfe86bd927791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2767" y="2103120"/>
            <a:ext cx="1395984" cy="1158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883151" y="3540252"/>
            <a:ext cx="11413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Top:  </a:t>
            </a:r>
          </a:p>
        </p:txBody>
      </p:sp>
      <p:pic>
        <p:nvPicPr>
          <p:cNvPr id="10" name="Picture 9" descr="c8aacd963cc0abc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7295" y="3582923"/>
            <a:ext cx="3212592" cy="371856"/>
          </a:xfrm>
          <a:prstGeom prst="rect">
            <a:avLst/>
          </a:prstGeom>
        </p:spPr>
      </p:pic>
      <p:pic>
        <p:nvPicPr>
          <p:cNvPr id="11" name="Picture 10" descr="024670428e914ad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8015" y="4102607"/>
            <a:ext cx="4395216" cy="7223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962144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0.0625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pic>
        <p:nvPicPr>
          <p:cNvPr id="8" name="Picture 7" descr="c1a85d6466844e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0659" y="2194560"/>
            <a:ext cx="1600200" cy="9936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pic>
        <p:nvPicPr>
          <p:cNvPr id="8" name="Picture 7" descr="201b523e871425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9135" y="2103120"/>
            <a:ext cx="1603248" cy="990599"/>
          </a:xfrm>
          <a:prstGeom prst="rect">
            <a:avLst/>
          </a:prstGeom>
        </p:spPr>
      </p:pic>
      <p:pic>
        <p:nvPicPr>
          <p:cNvPr id="9" name="Picture 8" descr="559f26ed92ee9a2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203" y="3395471"/>
            <a:ext cx="2904744" cy="716280"/>
          </a:xfrm>
          <a:prstGeom prst="rect">
            <a:avLst/>
          </a:prstGeom>
        </p:spPr>
      </p:pic>
      <p:pic>
        <p:nvPicPr>
          <p:cNvPr id="10" name="Picture 9" descr="24d3fe5a98bd3a5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203" y="4259580"/>
            <a:ext cx="2910840" cy="3718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78840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6.25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pic>
        <p:nvPicPr>
          <p:cNvPr id="8" name="Picture 7" descr="bc2795e448a34e0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7864" y="2194560"/>
            <a:ext cx="2145792" cy="10789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502152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value?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16847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1/4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416847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85427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85427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687568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pic>
        <p:nvPicPr>
          <p:cNvPr id="8" name="Picture 7" descr="0dc5a9a7ac0e32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9387" y="2103120"/>
            <a:ext cx="2142744" cy="10728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404616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value?</a:t>
            </a:r>
          </a:p>
        </p:txBody>
      </p:sp>
      <p:pic>
        <p:nvPicPr>
          <p:cNvPr id="10" name="Picture 9" descr="0d09560877107fa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4945" y="4105987"/>
            <a:ext cx="1097280" cy="30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972225" y="4029787"/>
            <a:ext cx="311369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so the top is   </a:t>
            </a:r>
          </a:p>
        </p:txBody>
      </p:sp>
      <p:pic>
        <p:nvPicPr>
          <p:cNvPr id="12" name="Picture 11" descr="2fb277e921b4c8c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8758" y="4072459"/>
            <a:ext cx="2450592" cy="371856"/>
          </a:xfrm>
          <a:prstGeom prst="rect">
            <a:avLst/>
          </a:prstGeom>
        </p:spPr>
      </p:pic>
      <p:pic>
        <p:nvPicPr>
          <p:cNvPr id="13" name="Picture 12" descr="06fcc5f13e11315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4945" y="4592143"/>
            <a:ext cx="3008376" cy="7162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5445583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D — 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pic>
        <p:nvPicPr>
          <p:cNvPr id="8" name="Picture 7" descr="4f0d140d692f52a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9680" y="2194560"/>
            <a:ext cx="2042160" cy="9845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407664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expression is equivalent?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07398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0.2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0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 · 0.1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407398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0.2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3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 · 0.1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75978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0.1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75978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0.1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687568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pic>
        <p:nvPicPr>
          <p:cNvPr id="8" name="Picture 7" descr="d5144192dfe296f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631" y="2103120"/>
            <a:ext cx="2048256" cy="9845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316224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expression is equivalent?</a:t>
            </a:r>
          </a:p>
        </p:txBody>
      </p:sp>
      <p:pic>
        <p:nvPicPr>
          <p:cNvPr id="10" name="Picture 9" descr="94a1e1b1de4bfc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2919" y="3964255"/>
            <a:ext cx="2980944" cy="713232"/>
          </a:xfrm>
          <a:prstGeom prst="rect">
            <a:avLst/>
          </a:prstGeom>
        </p:spPr>
      </p:pic>
      <p:pic>
        <p:nvPicPr>
          <p:cNvPr id="11" name="Picture 10" descr="f5db90305a3cc13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2919" y="4858843"/>
            <a:ext cx="3648456" cy="30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5354143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C — 0.1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pic>
        <p:nvPicPr>
          <p:cNvPr id="8" name="Picture 7" descr="1f6a545d117e0f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3939" y="2194560"/>
            <a:ext cx="2453640" cy="5090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pic>
        <p:nvPicPr>
          <p:cNvPr id="8" name="Picture 7" descr="4a52109175a88ef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2416" y="2103120"/>
            <a:ext cx="2456688" cy="509016"/>
          </a:xfrm>
          <a:prstGeom prst="rect">
            <a:avLst/>
          </a:prstGeom>
        </p:spPr>
      </p:pic>
      <p:pic>
        <p:nvPicPr>
          <p:cNvPr id="9" name="Picture 8" descr="9994c4103bc079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4448" y="2933699"/>
            <a:ext cx="3127248" cy="371856"/>
          </a:xfrm>
          <a:prstGeom prst="rect">
            <a:avLst/>
          </a:prstGeom>
        </p:spPr>
      </p:pic>
      <p:pic>
        <p:nvPicPr>
          <p:cNvPr id="10" name="Picture 9" descr="a3962f919eaa2e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4448" y="3506724"/>
            <a:ext cx="5108448" cy="30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0.0001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pic>
        <p:nvPicPr>
          <p:cNvPr id="8" name="Picture 7" descr="c207f4faf046fa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3648" y="2194560"/>
            <a:ext cx="2554224" cy="11704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pic>
        <p:nvPicPr>
          <p:cNvPr id="8" name="Picture 7" descr="b21b3b08159601a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6695" y="2103120"/>
            <a:ext cx="2548128" cy="11704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762714" y="3552444"/>
            <a:ext cx="9967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Top:  </a:t>
            </a:r>
          </a:p>
        </p:txBody>
      </p:sp>
      <p:pic>
        <p:nvPicPr>
          <p:cNvPr id="10" name="Picture 9" descr="7cb6b0e37124900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2333" y="3624072"/>
            <a:ext cx="3776472" cy="3139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762714" y="4055363"/>
            <a:ext cx="158327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Bottom:  </a:t>
            </a:r>
          </a:p>
        </p:txBody>
      </p:sp>
      <p:pic>
        <p:nvPicPr>
          <p:cNvPr id="12" name="Picture 11" descr="7fc1a3bd4f31f49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8824" y="4126992"/>
            <a:ext cx="1103376" cy="313944"/>
          </a:xfrm>
          <a:prstGeom prst="rect">
            <a:avLst/>
          </a:prstGeom>
        </p:spPr>
      </p:pic>
      <p:pic>
        <p:nvPicPr>
          <p:cNvPr id="13" name="Picture 12" descr="9f85f887b8d2d3a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7578" y="4632960"/>
            <a:ext cx="1469136" cy="3078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5129784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−64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23457" y="2362199"/>
            <a:ext cx="27712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Winston writes  </a:t>
            </a:r>
          </a:p>
        </p:txBody>
      </p:sp>
      <p:pic>
        <p:nvPicPr>
          <p:cNvPr id="9" name="Picture 8" descr="fb17c489e50a37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7536" y="2196083"/>
            <a:ext cx="2234184" cy="7894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1720" y="2362199"/>
            <a:ext cx="286246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.   Yvette writes  </a:t>
            </a:r>
          </a:p>
        </p:txBody>
      </p:sp>
      <p:pic>
        <p:nvPicPr>
          <p:cNvPr id="11" name="Picture 10" descr="56efae9f876bdcd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7020" y="2194560"/>
            <a:ext cx="1972056" cy="792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789076" y="2362199"/>
            <a:ext cx="2861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2613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Do they get the same value? Explain.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26505" y="2269236"/>
            <a:ext cx="27712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Winston writes  </a:t>
            </a:r>
          </a:p>
        </p:txBody>
      </p:sp>
      <p:pic>
        <p:nvPicPr>
          <p:cNvPr id="9" name="Picture 8" descr="aefdad52317ca8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584" y="2106168"/>
            <a:ext cx="2234184" cy="7833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4768" y="2269236"/>
            <a:ext cx="286246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.   Yvette writes  </a:t>
            </a:r>
          </a:p>
        </p:txBody>
      </p:sp>
      <p:pic>
        <p:nvPicPr>
          <p:cNvPr id="11" name="Picture 10" descr="405cad7d58f4a9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0068" y="2103120"/>
            <a:ext cx="1965960" cy="7894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786028" y="2269236"/>
            <a:ext cx="2861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166871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Do they get the same value? Explain.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2015" y="3792043"/>
            <a:ext cx="16907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Winston:  </a:t>
            </a:r>
          </a:p>
        </p:txBody>
      </p:sp>
      <p:pic>
        <p:nvPicPr>
          <p:cNvPr id="15" name="Picture 14" descr="fb99ef7e2271fb1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5632" y="3863671"/>
            <a:ext cx="2023872" cy="31394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292015" y="4390975"/>
            <a:ext cx="14419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Yvette:  </a:t>
            </a:r>
          </a:p>
        </p:txBody>
      </p:sp>
      <p:pic>
        <p:nvPicPr>
          <p:cNvPr id="17" name="Picture 16" descr="ba4bf2d7c561be2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6798" y="4317823"/>
            <a:ext cx="2054352" cy="603504"/>
          </a:xfrm>
          <a:prstGeom prst="rect">
            <a:avLst/>
          </a:prstGeom>
        </p:spPr>
      </p:pic>
      <p:pic>
        <p:nvPicPr>
          <p:cNvPr id="18" name="Picture 17" descr="45583768a555bd6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6879" y="5060011"/>
            <a:ext cx="1338072" cy="31699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77240" y="5561407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Yes — both give 4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6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= 4,096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610868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610868"/>
            <a:ext cx="246055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Find the value.  </a:t>
            </a:r>
          </a:p>
        </p:txBody>
      </p:sp>
      <p:pic>
        <p:nvPicPr>
          <p:cNvPr id="10" name="Picture 9" descr="c7e89364d519cf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7878" y="1517904"/>
            <a:ext cx="862584" cy="6431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0120" y="2321052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21052"/>
            <a:ext cx="246055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Find the value.  </a:t>
            </a:r>
          </a:p>
        </p:txBody>
      </p:sp>
      <p:pic>
        <p:nvPicPr>
          <p:cNvPr id="13" name="Picture 12" descr="4708afb69f8d23f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7878" y="2383536"/>
            <a:ext cx="1121664" cy="3322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0120" y="3029712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029712"/>
            <a:ext cx="31696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Write as one power.  </a:t>
            </a:r>
          </a:p>
        </p:txBody>
      </p:sp>
      <p:pic>
        <p:nvPicPr>
          <p:cNvPr id="16" name="Picture 15" descr="f8e03137ad627c1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6963" y="2938272"/>
            <a:ext cx="810768" cy="6400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60120" y="3738371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738371"/>
            <a:ext cx="246055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Find the value.  </a:t>
            </a:r>
          </a:p>
        </p:txBody>
      </p:sp>
      <p:pic>
        <p:nvPicPr>
          <p:cNvPr id="19" name="Picture 18" descr="271b6d25ef87d17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7878" y="3800855"/>
            <a:ext cx="1624584" cy="33223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60120" y="4509516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509516"/>
            <a:ext cx="246055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Find the value.  </a:t>
            </a:r>
          </a:p>
        </p:txBody>
      </p:sp>
      <p:pic>
        <p:nvPicPr>
          <p:cNvPr id="22" name="Picture 21" descr="4cda08a3e11dfd1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77878" y="4355592"/>
            <a:ext cx="1621536" cy="76504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60120" y="5398008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398008"/>
            <a:ext cx="181337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Show that  </a:t>
            </a:r>
          </a:p>
        </p:txBody>
      </p:sp>
      <p:pic>
        <p:nvPicPr>
          <p:cNvPr id="25" name="Picture 24" descr="ae2b35341e662e1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0690" y="5303520"/>
            <a:ext cx="996696" cy="64617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227386" y="5398008"/>
            <a:ext cx="10875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and  </a:t>
            </a:r>
          </a:p>
        </p:txBody>
      </p:sp>
      <p:pic>
        <p:nvPicPr>
          <p:cNvPr id="27" name="Picture 26" descr="b168ae64df955b7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77727" y="5305044"/>
            <a:ext cx="499871" cy="64312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677599" y="5398008"/>
            <a:ext cx="33870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have the same value.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at the start of the next class.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Evaluate expressions using properties of exponents — ZE9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