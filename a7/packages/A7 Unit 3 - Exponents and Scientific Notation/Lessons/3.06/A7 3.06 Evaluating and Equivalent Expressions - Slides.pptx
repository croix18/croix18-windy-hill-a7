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Relationship Id="rId6" Type="http://schemas.openxmlformats.org/officeDocument/2006/relationships/image" Target="../media/image8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an expression with integer exponents using the laws, and decide whether two expressions with different bases are equivalent.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05712"/>
            <a:ext cx="76832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exponent, then evaluate:  </a:t>
            </a:r>
          </a:p>
        </p:txBody>
      </p:sp>
      <p:pic>
        <p:nvPicPr>
          <p:cNvPr id="9" name="Picture 8" descr="f3c8135f85cfec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585" y="1463040"/>
            <a:ext cx="765048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75332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eb4b098ae3e189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206752"/>
            <a:ext cx="44196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09676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c39296e5705a45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3002280"/>
            <a:ext cx="499871" cy="646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826763"/>
            <a:ext cx="6288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05712"/>
            <a:ext cx="76832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exponent, then evaluate:  </a:t>
            </a:r>
          </a:p>
        </p:txBody>
      </p:sp>
      <p:pic>
        <p:nvPicPr>
          <p:cNvPr id="9" name="Picture 8" descr="f3c8135f85cfec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585" y="1463040"/>
            <a:ext cx="765048" cy="542544"/>
          </a:xfrm>
          <a:prstGeom prst="rect">
            <a:avLst/>
          </a:prstGeom>
        </p:spPr>
      </p:pic>
      <p:pic>
        <p:nvPicPr>
          <p:cNvPr id="10" name="Picture 9" descr="6caafeea515e2e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051303"/>
            <a:ext cx="1146048" cy="5425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863596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eb4b098ae3e189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306" y="2795016"/>
            <a:ext cx="4419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3906" y="2772156"/>
            <a:ext cx="546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68503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c39296e5705a45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711" y="3590544"/>
            <a:ext cx="499871" cy="646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16223" y="3567684"/>
            <a:ext cx="7723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415028"/>
            <a:ext cx="6288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64 as a power of 2, of 4, and of 8.</a:t>
            </a:r>
          </a:p>
        </p:txBody>
      </p:sp>
      <p:pic>
        <p:nvPicPr>
          <p:cNvPr id="18" name="Picture 17" descr="f9e6eaa0e482393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4636" y="4507992"/>
            <a:ext cx="274320" cy="2712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48956" y="4415028"/>
            <a:ext cx="482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,  </a:t>
            </a:r>
          </a:p>
        </p:txBody>
      </p:sp>
      <p:pic>
        <p:nvPicPr>
          <p:cNvPr id="20" name="Picture 19" descr="bde95a28370ef03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4771" y="4509516"/>
            <a:ext cx="295656" cy="2682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90427" y="4415028"/>
            <a:ext cx="482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,  </a:t>
            </a:r>
          </a:p>
        </p:txBody>
      </p:sp>
      <p:pic>
        <p:nvPicPr>
          <p:cNvPr id="22" name="Picture 21" descr="dc3644d208527bb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36243" y="4506468"/>
            <a:ext cx="28346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30119" y="2132076"/>
            <a:ext cx="17301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Melanie:  </a:t>
            </a:r>
          </a:p>
        </p:txBody>
      </p:sp>
      <p:pic>
        <p:nvPicPr>
          <p:cNvPr id="11" name="Picture 10" descr="00df267b117cf9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152" y="1993392"/>
            <a:ext cx="3508248" cy="734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38540" y="3307080"/>
            <a:ext cx="16564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Adonis:   </a:t>
            </a:r>
          </a:p>
        </p:txBody>
      </p:sp>
      <p:pic>
        <p:nvPicPr>
          <p:cNvPr id="13" name="Picture 12" descr="d967a2b39e147d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787" y="3002280"/>
            <a:ext cx="4965192" cy="1066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4074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Every law, one expression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b27ed10ad0337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0920" y="1993392"/>
            <a:ext cx="5059680" cy="859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912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Find the step that broke:</a:t>
            </a:r>
          </a:p>
        </p:txBody>
      </p:sp>
      <p:pic>
        <p:nvPicPr>
          <p:cNvPr id="12" name="Picture 11" descr="bbf7af94964783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904487"/>
            <a:ext cx="3453384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40936" y="4012691"/>
            <a:ext cx="4463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  — wrong: multiplied; should be </a:t>
            </a:r>
          </a:p>
        </p:txBody>
      </p:sp>
      <p:pic>
        <p:nvPicPr>
          <p:cNvPr id="14" name="Picture 13" descr="16b6a750bacccc0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7696" y="3904487"/>
            <a:ext cx="795528" cy="673608"/>
          </a:xfrm>
          <a:prstGeom prst="rect">
            <a:avLst/>
          </a:prstGeom>
        </p:spPr>
      </p:pic>
      <p:pic>
        <p:nvPicPr>
          <p:cNvPr id="15" name="Picture 14" descr="d085f6d1f5151f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834128"/>
            <a:ext cx="1844040" cy="789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831592" y="5000244"/>
            <a:ext cx="6151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  — wrong: flipped, kept the minus; should be </a:t>
            </a:r>
          </a:p>
        </p:txBody>
      </p:sp>
      <p:pic>
        <p:nvPicPr>
          <p:cNvPr id="17" name="Picture 16" descr="60c0141e8aad4c3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6237" y="4892040"/>
            <a:ext cx="783336" cy="6736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1993392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77b6fa4d0b8ffa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5227" y="3761232"/>
            <a:ext cx="2371344" cy="4053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26571" y="3735324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3" name="Picture 12" descr="ae135669eeaf19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676" y="3761232"/>
            <a:ext cx="2261616" cy="405384"/>
          </a:xfrm>
          <a:prstGeom prst="rect">
            <a:avLst/>
          </a:prstGeom>
        </p:spPr>
      </p:pic>
      <p:pic>
        <p:nvPicPr>
          <p:cNvPr id="14" name="Picture 13" descr="452a14f090d2241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031" y="4445508"/>
            <a:ext cx="479145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f1f92d6ecfd54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260" y="1996440"/>
            <a:ext cx="4136136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6396" y="210159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a226c4dacfbe2e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739" y="1993392"/>
            <a:ext cx="4160520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00532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base, then compare exponents.</a:t>
            </a:r>
          </a:p>
        </p:txBody>
      </p:sp>
      <p:pic>
        <p:nvPicPr>
          <p:cNvPr id="14" name="Picture 13" descr="da5364dfc120c7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3755136"/>
            <a:ext cx="1386840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4392" y="3695699"/>
            <a:ext cx="3301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— so Xavier is wrong.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ad4c645122a3fc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03120"/>
            <a:ext cx="1414272" cy="664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6395c789165e95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99816" cy="670560"/>
          </a:xfrm>
          <a:prstGeom prst="rect">
            <a:avLst/>
          </a:prstGeom>
        </p:spPr>
      </p:pic>
      <p:pic>
        <p:nvPicPr>
          <p:cNvPr id="9" name="Picture 8" descr="670bdda2de14de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1664208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16/3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3d228ca9c4261f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1600200"/>
            <a:ext cx="17556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50a8128bf10ae9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1600200"/>
            <a:ext cx="17556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6638" y="3628246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1" name="Picture 10" descr="53cd19114de648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257" y="3550522"/>
            <a:ext cx="2703576" cy="612648"/>
          </a:xfrm>
          <a:prstGeom prst="rect">
            <a:avLst/>
          </a:prstGeom>
        </p:spPr>
      </p:pic>
      <p:pic>
        <p:nvPicPr>
          <p:cNvPr id="12" name="Picture 11" descr="955d96682c0ead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502" y="4291186"/>
            <a:ext cx="1557528" cy="609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9367" y="518425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0d571a7f25ddb5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9607" y="5037946"/>
            <a:ext cx="542544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2547" y="2304287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0d148dfd488325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6206" y="2362199"/>
            <a:ext cx="94792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14134" y="2304287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7449bbc668c15f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8876" y="2103120"/>
            <a:ext cx="1106424" cy="8595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85300" y="2304287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65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eb75ca0841ae7d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15384" cy="341376"/>
          </a:xfrm>
          <a:prstGeom prst="rect">
            <a:avLst/>
          </a:prstGeom>
        </p:spPr>
      </p:pic>
      <p:pic>
        <p:nvPicPr>
          <p:cNvPr id="9" name="Picture 8" descr="ca38d42fdf4407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3864864" cy="859536"/>
          </a:xfrm>
          <a:prstGeom prst="rect">
            <a:avLst/>
          </a:prstGeom>
        </p:spPr>
      </p:pic>
      <p:pic>
        <p:nvPicPr>
          <p:cNvPr id="10" name="Picture 9" descr="3a6f019e256834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69792"/>
            <a:ext cx="2289048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both are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·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1944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831" y="1909572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84aa90b249340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490" y="1926335"/>
            <a:ext cx="144170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3194" y="1909572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93c2bf6d51952a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7936" y="1600200"/>
            <a:ext cx="1402080" cy="1075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80016" y="1909572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9355" y="1909572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6bdebf666f4e84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014" y="1926335"/>
            <a:ext cx="144475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7766" y="1909572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11cdaf58cd65a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2508" y="1600200"/>
            <a:ext cx="1395984" cy="1075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8492" y="1909572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  <p:pic>
        <p:nvPicPr>
          <p:cNvPr id="13" name="Picture 12" descr="12bc1171b09321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7219" y="3144012"/>
            <a:ext cx="3416808" cy="262128"/>
          </a:xfrm>
          <a:prstGeom prst="rect">
            <a:avLst/>
          </a:prstGeom>
        </p:spPr>
      </p:pic>
      <p:pic>
        <p:nvPicPr>
          <p:cNvPr id="14" name="Picture 13" descr="971ad3431ee49ff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7219" y="3572256"/>
            <a:ext cx="2996184" cy="658368"/>
          </a:xfrm>
          <a:prstGeom prst="rect">
            <a:avLst/>
          </a:prstGeom>
        </p:spPr>
      </p:pic>
      <p:pic>
        <p:nvPicPr>
          <p:cNvPr id="15" name="Picture 14" descr="1bb9b59be4ff30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7219" y="4372356"/>
            <a:ext cx="3063240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70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·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4000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98d50335413467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59" y="2194560"/>
            <a:ext cx="2514600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9efbb2c592ceee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507" y="2103120"/>
            <a:ext cx="2508504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76094" y="3546348"/>
            <a:ext cx="18356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0" name="Picture 9" descr="0d57b7d41c345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4585" y="3589020"/>
            <a:ext cx="2910840" cy="371856"/>
          </a:xfrm>
          <a:prstGeom prst="rect">
            <a:avLst/>
          </a:prstGeom>
        </p:spPr>
      </p:pic>
      <p:pic>
        <p:nvPicPr>
          <p:cNvPr id="11" name="Picture 10" descr="3ca69b29105dbe9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0958" y="4108704"/>
            <a:ext cx="4559808" cy="847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932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−343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f80d8fff5950e2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399" y="1645920"/>
            <a:ext cx="2712720" cy="1819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18b7b58559baeb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645920"/>
            <a:ext cx="2706624" cy="1819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999824" y="3840480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fc033812d86956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3967" y="3767328"/>
            <a:ext cx="3163824" cy="603504"/>
          </a:xfrm>
          <a:prstGeom prst="rect">
            <a:avLst/>
          </a:prstGeom>
        </p:spPr>
      </p:pic>
      <p:pic>
        <p:nvPicPr>
          <p:cNvPr id="11" name="Picture 10" descr="586b82ff05c6f1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4688" y="4498848"/>
            <a:ext cx="3377184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68239" y="538429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84bf2c5ba00215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8480" y="5242560"/>
            <a:ext cx="30480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b967aae4e7c30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063" y="1645920"/>
            <a:ext cx="2755392" cy="14081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548be30c5a8556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112" y="1645920"/>
            <a:ext cx="2749296" cy="14051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95239" y="3381756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090145bfb5fa4f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858" y="3453384"/>
            <a:ext cx="1386840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41698" y="3381756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2" name="Picture 11" descr="8f1e7bc2c81192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4587" y="3352800"/>
            <a:ext cx="1313688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38275" y="3381756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4" name="Picture 13" descr="8c42dc4521855ba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4200" y="3480816"/>
            <a:ext cx="1405128" cy="259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95239" y="3936491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6" name="Picture 15" descr="85dfe78cfc49527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1349" y="4035552"/>
            <a:ext cx="1158240" cy="259080"/>
          </a:xfrm>
          <a:prstGeom prst="rect">
            <a:avLst/>
          </a:prstGeom>
        </p:spPr>
      </p:pic>
      <p:pic>
        <p:nvPicPr>
          <p:cNvPr id="17" name="Picture 16" descr="a335dfb088e7c59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50103" y="4462272"/>
            <a:ext cx="2319528" cy="603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968239" y="534466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9" name="Picture 18" descr="60f3158f055494f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480" y="5202936"/>
            <a:ext cx="30480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028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flash drive holds  </a:t>
            </a:r>
          </a:p>
        </p:txBody>
      </p:sp>
      <p:pic>
        <p:nvPicPr>
          <p:cNvPr id="9" name="Picture 8" descr="7365b91e0a0f6b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084" y="1943100"/>
            <a:ext cx="402336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2420" y="1851660"/>
            <a:ext cx="2115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4454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Another holds  </a:t>
            </a:r>
          </a:p>
        </p:txBody>
      </p:sp>
      <p:pic>
        <p:nvPicPr>
          <p:cNvPr id="12" name="Picture 11" descr="7fd1db2cf8c506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2702" y="2558796"/>
            <a:ext cx="420624" cy="2682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63326" y="2464308"/>
            <a:ext cx="6521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 The first one costs 45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holds more — or is it the same? Show why.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028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flash drive holds  </a:t>
            </a:r>
          </a:p>
        </p:txBody>
      </p:sp>
      <p:pic>
        <p:nvPicPr>
          <p:cNvPr id="9" name="Picture 8" descr="5d60df96ac6a5d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084" y="1943100"/>
            <a:ext cx="405384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5468" y="1851660"/>
            <a:ext cx="2115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4454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Another holds  </a:t>
            </a:r>
          </a:p>
        </p:txBody>
      </p:sp>
      <p:pic>
        <p:nvPicPr>
          <p:cNvPr id="12" name="Picture 11" descr="01ba1addb14af4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2702" y="2558796"/>
            <a:ext cx="420624" cy="2682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63326" y="2464308"/>
            <a:ext cx="6521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 The first one costs 45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holds more — or is it the same? Show why.</a:t>
            </a:r>
          </a:p>
        </p:txBody>
      </p:sp>
      <p:pic>
        <p:nvPicPr>
          <p:cNvPr id="15" name="Picture 14" descr="f534f4da616d64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0747" y="3812650"/>
            <a:ext cx="1005840" cy="301752"/>
          </a:xfrm>
          <a:prstGeom prst="rect">
            <a:avLst/>
          </a:prstGeom>
        </p:spPr>
      </p:pic>
      <p:pic>
        <p:nvPicPr>
          <p:cNvPr id="16" name="Picture 15" descr="32a554851bde61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0747" y="4317094"/>
            <a:ext cx="3349752" cy="3718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same: 16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(2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a834fafe1e7c82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4812" y="2194560"/>
            <a:ext cx="69189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869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889972c2e26fe7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3288" y="2103120"/>
            <a:ext cx="69494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53e0e696fae7cd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5320" y="3450667"/>
            <a:ext cx="1030224" cy="304800"/>
          </a:xfrm>
          <a:prstGeom prst="rect">
            <a:avLst/>
          </a:prstGeom>
        </p:spPr>
      </p:pic>
      <p:pic>
        <p:nvPicPr>
          <p:cNvPr id="11" name="Picture 10" descr="addec46f494d81a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5320" y="3956635"/>
            <a:ext cx="3340608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b0d7aaeb31fb59c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2539" y="2194560"/>
            <a:ext cx="1996439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83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627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359f836e76d108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1016" y="2103120"/>
            <a:ext cx="1999487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f705f97336b486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1875" y="3814903"/>
            <a:ext cx="2791968" cy="603504"/>
          </a:xfrm>
          <a:prstGeom prst="rect">
            <a:avLst/>
          </a:prstGeom>
        </p:spPr>
      </p:pic>
      <p:pic>
        <p:nvPicPr>
          <p:cNvPr id="11" name="Picture 10" descr="4967ca317ddbfd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1875" y="4601287"/>
            <a:ext cx="3587496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9506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-13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656e9da10d728f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112" y="2194560"/>
            <a:ext cx="122529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eaa3e79b08e350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5064" y="2103120"/>
            <a:ext cx="1231392" cy="417576"/>
          </a:xfrm>
          <a:prstGeom prst="rect">
            <a:avLst/>
          </a:prstGeom>
        </p:spPr>
      </p:pic>
      <p:pic>
        <p:nvPicPr>
          <p:cNvPr id="9" name="Picture 8" descr="40efc5fe730003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9535" y="2842259"/>
            <a:ext cx="2209800" cy="371856"/>
          </a:xfrm>
          <a:prstGeom prst="rect">
            <a:avLst/>
          </a:prstGeom>
        </p:spPr>
      </p:pic>
      <p:pic>
        <p:nvPicPr>
          <p:cNvPr id="10" name="Picture 9" descr="f47aa3c800adc4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9535" y="3415284"/>
            <a:ext cx="2935224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32603" y="45994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0cb920e6a32bf9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2844" y="4663440"/>
            <a:ext cx="576072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fabcaa4b09e391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94560"/>
            <a:ext cx="145694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cf7aaf90f7175a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03120"/>
            <a:ext cx="1456944" cy="417576"/>
          </a:xfrm>
          <a:prstGeom prst="rect">
            <a:avLst/>
          </a:prstGeom>
        </p:spPr>
      </p:pic>
      <p:pic>
        <p:nvPicPr>
          <p:cNvPr id="9" name="Picture 8" descr="85f7d1d146f1f2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5047" y="2877312"/>
            <a:ext cx="3124200" cy="301752"/>
          </a:xfrm>
          <a:prstGeom prst="rect">
            <a:avLst/>
          </a:prstGeom>
        </p:spPr>
      </p:pic>
      <p:pic>
        <p:nvPicPr>
          <p:cNvPr id="10" name="Picture 9" descr="a2e7bc9cfa7f6a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5047" y="3381756"/>
            <a:ext cx="2218944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8888" y="45994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00e3982d4021e9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9127" y="4663440"/>
            <a:ext cx="603504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0239" y="2302764"/>
            <a:ext cx="2242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Xavier says  </a:t>
            </a:r>
          </a:p>
        </p:txBody>
      </p:sp>
      <p:pic>
        <p:nvPicPr>
          <p:cNvPr id="9" name="Picture 8" descr="0664013df43bb1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277" y="2194560"/>
            <a:ext cx="1545336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20613" y="2302764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6d3dba428ef905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355" y="2197608"/>
            <a:ext cx="1527048" cy="667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12403" y="2302764"/>
            <a:ext cx="27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are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6975" y="3119628"/>
            <a:ext cx="5445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because both can be written as  </a:t>
            </a:r>
          </a:p>
        </p:txBody>
      </p:sp>
      <p:pic>
        <p:nvPicPr>
          <p:cNvPr id="14" name="Picture 13" descr="5409fbe234c1f4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5033" y="3179064"/>
            <a:ext cx="496824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41857" y="3119628"/>
            <a:ext cx="28198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Do you agree?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5667" y="2211323"/>
            <a:ext cx="2242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Xavier says  </a:t>
            </a:r>
          </a:p>
        </p:txBody>
      </p:sp>
      <p:pic>
        <p:nvPicPr>
          <p:cNvPr id="9" name="Picture 8" descr="3c5660d2a81795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0705" y="2103120"/>
            <a:ext cx="154838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9089" y="2211323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53a7bdac80b143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831" y="2103120"/>
            <a:ext cx="1533144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16975" y="2211323"/>
            <a:ext cx="27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are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5451" y="3028188"/>
            <a:ext cx="5445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because both can be written as  </a:t>
            </a:r>
          </a:p>
        </p:txBody>
      </p:sp>
      <p:pic>
        <p:nvPicPr>
          <p:cNvPr id="14" name="Picture 13" descr="8d9dc5c0e5cd5b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509" y="3086100"/>
            <a:ext cx="499871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43381" y="3028188"/>
            <a:ext cx="28198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Do you agree?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8448" y="3887724"/>
            <a:ext cx="1298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First:  </a:t>
            </a:r>
          </a:p>
        </p:txBody>
      </p:sp>
      <p:pic>
        <p:nvPicPr>
          <p:cNvPr id="17" name="Picture 16" descr="b8f6ab93db3df89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9806" y="3810000"/>
            <a:ext cx="3721608" cy="612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88448" y="4628388"/>
            <a:ext cx="18337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Second:  </a:t>
            </a:r>
          </a:p>
        </p:txBody>
      </p:sp>
      <p:pic>
        <p:nvPicPr>
          <p:cNvPr id="19" name="Picture 18" descr="12a68962e6720dc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4991" y="4550664"/>
            <a:ext cx="3688080" cy="6126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3004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the second is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-8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not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6878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68780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0" name="Picture 9" descr="3554ae34b18383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78" y="1517904"/>
            <a:ext cx="1652016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50240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0240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352eb1a88709ca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459736"/>
            <a:ext cx="1645920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16230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162300"/>
            <a:ext cx="34776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power of 2.  </a:t>
            </a:r>
          </a:p>
        </p:txBody>
      </p:sp>
      <p:pic>
        <p:nvPicPr>
          <p:cNvPr id="16" name="Picture 15" descr="f8a57f68dc51185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4996" y="3256788"/>
            <a:ext cx="417576" cy="268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5665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56659"/>
            <a:ext cx="3472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power of 3.  </a:t>
            </a:r>
          </a:p>
        </p:txBody>
      </p:sp>
      <p:pic>
        <p:nvPicPr>
          <p:cNvPr id="19" name="Picture 18" descr="8991108252781c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9400" y="3848099"/>
            <a:ext cx="813816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35102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351020"/>
            <a:ext cx="865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22" name="Picture 21" descr="19f6b2e98322074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2713" y="4442460"/>
            <a:ext cx="429768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712481" y="4351020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4" name="Picture 23" descr="f49fd30c1f16e95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2822" y="4445508"/>
            <a:ext cx="414528" cy="2682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077350" y="4351020"/>
            <a:ext cx="3592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equivalent? Show why.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94538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945380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8" name="Picture 27" descr="272bae85e8b361c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77878" y="5007864"/>
            <a:ext cx="1213104" cy="33223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expressions using properties of exponents — 6T7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