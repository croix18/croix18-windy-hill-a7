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Relationship Id="rId4" Type="http://schemas.openxmlformats.org/officeDocument/2006/relationships/image" Target="../media/image12.png"/><Relationship Id="rId5" Type="http://schemas.openxmlformats.org/officeDocument/2006/relationships/image" Target="../media/image13.png"/><Relationship Id="rId6" Type="http://schemas.openxmlformats.org/officeDocument/2006/relationships/image" Target="../media/image1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image" Target="../media/image1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image" Target="../media/image19.png"/><Relationship Id="rId4" Type="http://schemas.openxmlformats.org/officeDocument/2006/relationships/image" Target="../media/image20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image" Target="../media/image2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image" Target="../media/image2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image" Target="../media/image2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Relationship Id="rId3" Type="http://schemas.openxmlformats.org/officeDocument/2006/relationships/image" Target="../media/image30.png"/><Relationship Id="rId4" Type="http://schemas.openxmlformats.org/officeDocument/2006/relationships/image" Target="../media/image3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Relationship Id="rId3" Type="http://schemas.openxmlformats.org/officeDocument/2006/relationships/image" Target="../media/image3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Relationship Id="rId3" Type="http://schemas.openxmlformats.org/officeDocument/2006/relationships/image" Target="../media/image3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Relationship Id="rId3" Type="http://schemas.openxmlformats.org/officeDocument/2006/relationships/image" Target="../media/image40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png"/><Relationship Id="rId3" Type="http://schemas.openxmlformats.org/officeDocument/2006/relationships/image" Target="../media/image43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png"/><Relationship Id="rId3" Type="http://schemas.openxmlformats.org/officeDocument/2006/relationships/image" Target="../media/image45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.png"/><Relationship Id="rId3" Type="http://schemas.openxmlformats.org/officeDocument/2006/relationships/image" Target="../media/image47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3.png"/><Relationship Id="rId3" Type="http://schemas.openxmlformats.org/officeDocument/2006/relationships/image" Target="../media/image54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5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6.png"/><Relationship Id="rId3" Type="http://schemas.openxmlformats.org/officeDocument/2006/relationships/image" Target="../media/image57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8.png"/><Relationship Id="rId3" Type="http://schemas.openxmlformats.org/officeDocument/2006/relationships/image" Target="../media/image59.png"/><Relationship Id="rId4" Type="http://schemas.openxmlformats.org/officeDocument/2006/relationships/image" Target="../media/image60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1.png"/><Relationship Id="rId3" Type="http://schemas.openxmlformats.org/officeDocument/2006/relationships/image" Target="../media/image62.png"/><Relationship Id="rId4" Type="http://schemas.openxmlformats.org/officeDocument/2006/relationships/image" Target="../media/image63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4.png"/><Relationship Id="rId3" Type="http://schemas.openxmlformats.org/officeDocument/2006/relationships/image" Target="../media/image65.png"/><Relationship Id="rId4" Type="http://schemas.openxmlformats.org/officeDocument/2006/relationships/image" Target="../media/image66.png"/><Relationship Id="rId5" Type="http://schemas.openxmlformats.org/officeDocument/2006/relationships/image" Target="../media/image67.png"/><Relationship Id="rId6" Type="http://schemas.openxmlformats.org/officeDocument/2006/relationships/image" Target="../media/image68.png"/><Relationship Id="rId7" Type="http://schemas.openxmlformats.org/officeDocument/2006/relationships/image" Target="../media/image69.png"/><Relationship Id="rId8" Type="http://schemas.openxmlformats.org/officeDocument/2006/relationships/image" Target="../media/image70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1488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00" b="0" i="0">
                <a:solidFill>
                  <a:srgbClr val="6B6B6B"/>
                </a:solidFill>
                <a:latin typeface="Century Schoolbook"/>
              </a:rPr>
              <a:t>GRADE 7 ACCELERATED  ·  UNIT 3  ·  LESSONS 6–7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5054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400" b="1" i="0">
                <a:solidFill>
                  <a:srgbClr val="1A1A1A"/>
                </a:solidFill>
                <a:latin typeface="Century Schoolbook"/>
              </a:rPr>
              <a:t>Evaluating and Equivalent Expressions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7124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7947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9593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600" b="1" i="0">
                <a:solidFill>
                  <a:srgbClr val="1A1A1A"/>
                </a:solidFill>
                <a:latin typeface="Century Schoolbook"/>
              </a:rPr>
              <a:t>MA.8.NSO.1.3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2976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1A1A1A"/>
                </a:solidFill>
                <a:latin typeface="Century Schoolbook"/>
              </a:rPr>
              <a:t>I can evaluate an expression with integer exponents using the laws, and decide whether two expressions with different bases are equivalent.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Lessons 6–7 — Evaluating and Equivalent Expressions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Lessons 6–7 — Evaluating and Equivalent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511808"/>
            <a:ext cx="780408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1.   Rewrite with a positive exponent, then evaluate:  </a:t>
            </a:r>
          </a:p>
        </p:txBody>
      </p:sp>
      <p:pic>
        <p:nvPicPr>
          <p:cNvPr id="9" name="Picture 8" descr="70fd4f7c195b27f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41449" y="1463040"/>
            <a:ext cx="795528" cy="55473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74519" y="2293620"/>
            <a:ext cx="306493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2.   Find the value:  </a:t>
            </a:r>
          </a:p>
        </p:txBody>
      </p:sp>
      <p:pic>
        <p:nvPicPr>
          <p:cNvPr id="11" name="Picture 10" descr="a4522c3024ca656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2299" y="2218944"/>
            <a:ext cx="463296" cy="60655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874519" y="3131820"/>
            <a:ext cx="306493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3.   Find the value:  </a:t>
            </a:r>
          </a:p>
        </p:txBody>
      </p:sp>
      <p:pic>
        <p:nvPicPr>
          <p:cNvPr id="13" name="Picture 12" descr="574a5d3a612aa10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02299" y="3026664"/>
            <a:ext cx="469392" cy="66751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874519" y="3872484"/>
            <a:ext cx="624365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4.   Write 64 as a power of 2, of 4, and of 8.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Lessons 6–7 — Evaluating and Equivalent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511808"/>
            <a:ext cx="780408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1.   Rewrite with a positive exponent, then evaluate:  </a:t>
            </a:r>
          </a:p>
        </p:txBody>
      </p:sp>
      <p:pic>
        <p:nvPicPr>
          <p:cNvPr id="9" name="Picture 8" descr="70fd4f7c195b27f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41449" y="1463040"/>
            <a:ext cx="795528" cy="554736"/>
          </a:xfrm>
          <a:prstGeom prst="rect">
            <a:avLst/>
          </a:prstGeom>
        </p:spPr>
      </p:pic>
      <p:pic>
        <p:nvPicPr>
          <p:cNvPr id="10" name="Picture 9" descr="b2f9cb953a93e9c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06040" y="2063496"/>
            <a:ext cx="1152144" cy="55778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874519" y="2897124"/>
            <a:ext cx="306493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2.   Find the value:  </a:t>
            </a:r>
          </a:p>
        </p:txBody>
      </p:sp>
      <p:pic>
        <p:nvPicPr>
          <p:cNvPr id="12" name="Picture 11" descr="a4522c3024ca656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02299" y="2822448"/>
            <a:ext cx="463296" cy="60655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814235" y="2799588"/>
            <a:ext cx="56579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25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3735324"/>
            <a:ext cx="306493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3.   Find the value:  </a:t>
            </a:r>
          </a:p>
        </p:txBody>
      </p:sp>
      <p:pic>
        <p:nvPicPr>
          <p:cNvPr id="15" name="Picture 14" descr="574a5d3a612aa10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02299" y="3630168"/>
            <a:ext cx="469392" cy="66751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820331" y="3607308"/>
            <a:ext cx="74353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100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74519" y="4475988"/>
            <a:ext cx="624365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4.   Write 64 as a power of 2, of 4, and of 8.</a:t>
            </a:r>
          </a:p>
        </p:txBody>
      </p:sp>
      <p:pic>
        <p:nvPicPr>
          <p:cNvPr id="18" name="Picture 17" descr="b2c477a7a0fb52e7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29654" y="4567428"/>
            <a:ext cx="268224" cy="27432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8797878" y="4475988"/>
            <a:ext cx="47413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,  </a:t>
            </a:r>
          </a:p>
        </p:txBody>
      </p:sp>
      <p:pic>
        <p:nvPicPr>
          <p:cNvPr id="20" name="Picture 19" descr="555a2ab77fff0fec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134854" y="4567428"/>
            <a:ext cx="265176" cy="27432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9400030" y="4475988"/>
            <a:ext cx="47413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,  </a:t>
            </a:r>
          </a:p>
        </p:txBody>
      </p:sp>
      <p:pic>
        <p:nvPicPr>
          <p:cNvPr id="22" name="Picture 21" descr="f2c3dde86c5203ac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737005" y="4564380"/>
            <a:ext cx="259080" cy="28041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Lessons 6–7 — Evaluating and Equivalent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I.  Two students, two plans, one value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3452836" y="2144268"/>
            <a:ext cx="181160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Melanie:  </a:t>
            </a:r>
          </a:p>
        </p:txBody>
      </p:sp>
      <p:pic>
        <p:nvPicPr>
          <p:cNvPr id="11" name="Picture 10" descr="071da3cb12a3a9b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7283" y="1993392"/>
            <a:ext cx="3581400" cy="75895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2790638" y="3346704"/>
            <a:ext cx="171258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Adonis:   </a:t>
            </a:r>
          </a:p>
        </p:txBody>
      </p:sp>
      <p:pic>
        <p:nvPicPr>
          <p:cNvPr id="13" name="Picture 12" descr="76734bcd012bfd6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66065" y="3026664"/>
            <a:ext cx="5004816" cy="109728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87552" y="4462272"/>
            <a:ext cx="10131551" cy="9509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Apply the laws first, evaluate last. The value is the same; the arithmetic is smaller.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Lessons 6–7 — Evaluating and Equivalent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II.  Every law, one expression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059ee1a209667ed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86328" y="1993392"/>
            <a:ext cx="5388864" cy="88087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87552" y="3212592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1A1A1A"/>
                </a:solidFill>
                <a:latin typeface="Century Schoolbook"/>
              </a:rPr>
              <a:t>Find the step that broke:</a:t>
            </a:r>
          </a:p>
        </p:txBody>
      </p:sp>
      <p:pic>
        <p:nvPicPr>
          <p:cNvPr id="12" name="Picture 11" descr="6c3d06b279be60f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7552" y="3925823"/>
            <a:ext cx="3535680" cy="6858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523232" y="4040123"/>
            <a:ext cx="461417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   — wrong: multiplied; should be </a:t>
            </a:r>
          </a:p>
        </p:txBody>
      </p:sp>
      <p:pic>
        <p:nvPicPr>
          <p:cNvPr id="14" name="Picture 13" descr="e9e6240f6a5ac6c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00245" y="3925823"/>
            <a:ext cx="792480" cy="685800"/>
          </a:xfrm>
          <a:prstGeom prst="rect">
            <a:avLst/>
          </a:prstGeom>
        </p:spPr>
      </p:pic>
      <p:pic>
        <p:nvPicPr>
          <p:cNvPr id="15" name="Picture 14" descr="b45588bb7e9f071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7552" y="4867656"/>
            <a:ext cx="1965960" cy="80467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2953512" y="5041392"/>
            <a:ext cx="627042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   — wrong: flipped, kept the minus; should be </a:t>
            </a:r>
          </a:p>
        </p:txBody>
      </p:sp>
      <p:pic>
        <p:nvPicPr>
          <p:cNvPr id="17" name="Picture 16" descr="d631bf12f968ff99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86772" y="4928616"/>
            <a:ext cx="777240" cy="682752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Lessons 6–7 — Evaluating and Equivalent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III.  Different bases, same value — rewrite to a common base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2377439" y="1993392"/>
          <a:ext cx="7406640" cy="153619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71600"/>
                <a:gridCol w="2011680"/>
                <a:gridCol w="2011680"/>
                <a:gridCol w="2011680"/>
              </a:tblGrid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1A1A1A"/>
                          </a:solidFill>
                          <a:latin typeface="Century Schoolbook"/>
                        </a:rPr>
                        <a:t>Base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1A1A1A"/>
                          </a:solidFill>
                          <a:latin typeface="Century Schoolbook"/>
                        </a:rPr>
                        <a:t>Square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1A1A1A"/>
                          </a:solidFill>
                          <a:latin typeface="Century Schoolbook"/>
                        </a:rPr>
                        <a:t>Cube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1A1A1A"/>
                          </a:solidFill>
                          <a:latin typeface="Century Schoolbook"/>
                        </a:rPr>
                        <a:t>Fourth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= 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3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= 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4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= 16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3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= 9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3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3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= 27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3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4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= 81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5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= 25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5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3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= 125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5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4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= 625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pic>
        <p:nvPicPr>
          <p:cNvPr id="11" name="Picture 10" descr="8c34f90c6fc7d47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5896" y="3758184"/>
            <a:ext cx="2423160" cy="4114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719056" y="3735324"/>
            <a:ext cx="98858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     </a:t>
            </a:r>
          </a:p>
        </p:txBody>
      </p:sp>
      <p:pic>
        <p:nvPicPr>
          <p:cNvPr id="13" name="Picture 12" descr="9053d689824c5cd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70479" y="3758184"/>
            <a:ext cx="2295144" cy="411480"/>
          </a:xfrm>
          <a:prstGeom prst="rect">
            <a:avLst/>
          </a:prstGeom>
        </p:spPr>
      </p:pic>
      <p:pic>
        <p:nvPicPr>
          <p:cNvPr id="14" name="Picture 13" descr="a561d3e29393bcc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43884" y="4443984"/>
            <a:ext cx="4873752" cy="41148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Lessons 6–7 — Evaluating and Equivalent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IV.  Testing equivalence: Xavier's claim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8fba7ecf87f384e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0084" y="1993392"/>
            <a:ext cx="4294632" cy="67665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554716" y="2103120"/>
            <a:ext cx="11831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       </a:t>
            </a:r>
          </a:p>
        </p:txBody>
      </p:sp>
      <p:pic>
        <p:nvPicPr>
          <p:cNvPr id="12" name="Picture 11" descr="505da5ea0c261bc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00707" y="1993392"/>
            <a:ext cx="4300728" cy="67665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87552" y="3008375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Same base, then compare exponents.</a:t>
            </a:r>
          </a:p>
        </p:txBody>
      </p:sp>
      <p:pic>
        <p:nvPicPr>
          <p:cNvPr id="14" name="Picture 13" descr="5954d94571e7ef7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7552" y="3726179"/>
            <a:ext cx="1487424" cy="402336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2474976" y="3698747"/>
            <a:ext cx="340417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 — so Xavier is wrong.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Lessons 6–7 — Evaluating and Equivalent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8</a:t>
            </a:r>
          </a:p>
        </p:txBody>
      </p:sp>
      <p:pic>
        <p:nvPicPr>
          <p:cNvPr id="8" name="Picture 7" descr="2d16e4daaa9b6d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3623" y="2103120"/>
            <a:ext cx="1414272" cy="67665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282696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Find the value.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Lessons 6–7 — Evaluating and Equivalent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9</a:t>
            </a:r>
          </a:p>
        </p:txBody>
      </p:sp>
      <p:pic>
        <p:nvPicPr>
          <p:cNvPr id="8" name="Picture 7" descr="1ca1397ffa03d47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3112008" cy="688848"/>
          </a:xfrm>
          <a:prstGeom prst="rect">
            <a:avLst/>
          </a:prstGeom>
        </p:spPr>
      </p:pic>
      <p:pic>
        <p:nvPicPr>
          <p:cNvPr id="9" name="Picture 8" descr="f25419565ed35dc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883408"/>
            <a:ext cx="1697736" cy="69799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16/3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Lessons 6–7 — Evaluating and Equivalent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10</a:t>
            </a:r>
          </a:p>
        </p:txBody>
      </p:sp>
      <p:pic>
        <p:nvPicPr>
          <p:cNvPr id="8" name="Picture 7" descr="b5586861463d6b8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4648" y="2194560"/>
            <a:ext cx="1792224" cy="8625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560064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Find the value.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Lessons 6–7 — Evaluating and Equivalent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11</a:t>
            </a:r>
          </a:p>
        </p:txBody>
      </p:sp>
      <p:pic>
        <p:nvPicPr>
          <p:cNvPr id="8" name="Picture 7" descr="4ba5d3554b7f430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1599" y="2194560"/>
            <a:ext cx="1798320" cy="8625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560064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Find the value.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64607" y="4637532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1" name="Picture 10" descr="3a56cc9ab8e3bbe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84848" y="4480560"/>
            <a:ext cx="512064" cy="862584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Lessons 6–7 — Evaluating and Equivalent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56109" y="2313432"/>
            <a:ext cx="98800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Are  </a:t>
            </a:r>
          </a:p>
        </p:txBody>
      </p:sp>
      <p:pic>
        <p:nvPicPr>
          <p:cNvPr id="9" name="Picture 8" descr="67df2d652c1a713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06954" y="2369819"/>
            <a:ext cx="920495" cy="34442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827450" y="2313432"/>
            <a:ext cx="12088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and  </a:t>
            </a:r>
          </a:p>
        </p:txBody>
      </p:sp>
      <p:pic>
        <p:nvPicPr>
          <p:cNvPr id="11" name="Picture 10" descr="69969edd9de4688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99156" y="2103120"/>
            <a:ext cx="1082040" cy="87782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981196" y="2313432"/>
            <a:ext cx="226137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equivalent?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483864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Rewrite both with the bases 3 and 2, then compare.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Lessons 6–7 — Evaluating and Equivalent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13</a:t>
            </a:r>
          </a:p>
        </p:txBody>
      </p:sp>
      <p:pic>
        <p:nvPicPr>
          <p:cNvPr id="8" name="Picture 7" descr="9dc7ad07cd91fb8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4267200" cy="347472"/>
          </a:xfrm>
          <a:prstGeom prst="rect">
            <a:avLst/>
          </a:prstGeom>
        </p:spPr>
      </p:pic>
      <p:pic>
        <p:nvPicPr>
          <p:cNvPr id="9" name="Picture 8" descr="77d3b6258368a7a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542032"/>
            <a:ext cx="3883152" cy="874776"/>
          </a:xfrm>
          <a:prstGeom prst="rect">
            <a:avLst/>
          </a:prstGeom>
        </p:spPr>
      </p:pic>
      <p:pic>
        <p:nvPicPr>
          <p:cNvPr id="10" name="Picture 9" descr="4af5e130ae69d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691127"/>
            <a:ext cx="2295144" cy="34747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Yes — both are 3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5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 · 2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3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 = 1944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Lessons 6–7 — Evaluating and Equivalent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76633" y="2516124"/>
            <a:ext cx="98800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Are  </a:t>
            </a:r>
          </a:p>
        </p:txBody>
      </p:sp>
      <p:pic>
        <p:nvPicPr>
          <p:cNvPr id="9" name="Picture 8" descr="9b999197431493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27478" y="2528315"/>
            <a:ext cx="1411224" cy="43281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938702" y="2516124"/>
            <a:ext cx="12088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and  </a:t>
            </a:r>
          </a:p>
        </p:txBody>
      </p:sp>
      <p:pic>
        <p:nvPicPr>
          <p:cNvPr id="11" name="Picture 10" descr="e566d1e7830f898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10408" y="2194560"/>
            <a:ext cx="1350264" cy="110032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360672" y="2516124"/>
            <a:ext cx="226137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equivalent?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Lessons 6–7 — Evaluating and Equivalent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78157" y="2516124"/>
            <a:ext cx="98800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Are  </a:t>
            </a:r>
          </a:p>
        </p:txBody>
      </p:sp>
      <p:pic>
        <p:nvPicPr>
          <p:cNvPr id="9" name="Picture 8" descr="7788e03876974cc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29002" y="2529840"/>
            <a:ext cx="1411224" cy="4297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940226" y="2516124"/>
            <a:ext cx="12088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and  </a:t>
            </a:r>
          </a:p>
        </p:txBody>
      </p:sp>
      <p:pic>
        <p:nvPicPr>
          <p:cNvPr id="11" name="Picture 10" descr="b7201d2b15f8c86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11932" y="2194560"/>
            <a:ext cx="1347216" cy="110032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359148" y="2516124"/>
            <a:ext cx="226137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equivalent?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Yes — 2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5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 · 5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3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 = 4000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Lessons 6–7 — Evaluating and Equivalent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16</a:t>
            </a:r>
          </a:p>
        </p:txBody>
      </p:sp>
      <p:pic>
        <p:nvPicPr>
          <p:cNvPr id="8" name="Picture 7" descr="61e8ec21e00a896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83836" y="2194560"/>
            <a:ext cx="2593848" cy="11887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Lessons 6–7 — Evaluating and Equivalent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17</a:t>
            </a:r>
          </a:p>
        </p:txBody>
      </p:sp>
      <p:pic>
        <p:nvPicPr>
          <p:cNvPr id="8" name="Picture 7" descr="956b769eca71d99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86883" y="2103120"/>
            <a:ext cx="2587752" cy="11887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−343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Lessons 6–7 — Evaluating and Equivalent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18</a:t>
            </a:r>
          </a:p>
        </p:txBody>
      </p:sp>
      <p:pic>
        <p:nvPicPr>
          <p:cNvPr id="8" name="Picture 7" descr="5a81991eb38a0b9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33543" y="2194560"/>
            <a:ext cx="2694432" cy="186537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425696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Lessons 6–7 — Evaluating and Equivalent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19</a:t>
            </a:r>
          </a:p>
        </p:txBody>
      </p:sp>
      <p:pic>
        <p:nvPicPr>
          <p:cNvPr id="8" name="Picture 7" descr="b34bc56ecccd0f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35067" y="2103120"/>
            <a:ext cx="2691384" cy="187147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991100" y="4815840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0" name="Picture 9" descr="6d9a31f1d02f315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11340" y="4663440"/>
            <a:ext cx="259080" cy="85344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Lessons 6–7 — Evaluating and Equivalent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20</a:t>
            </a:r>
          </a:p>
        </p:txBody>
      </p:sp>
      <p:pic>
        <p:nvPicPr>
          <p:cNvPr id="8" name="Picture 7" descr="2f8b87745f5bc5a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46675" y="2194560"/>
            <a:ext cx="2868168" cy="14325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Lessons 6–7 — Evaluating and Equivalent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21</a:t>
            </a:r>
          </a:p>
        </p:txBody>
      </p:sp>
      <p:pic>
        <p:nvPicPr>
          <p:cNvPr id="8" name="Picture 7" descr="48df33e2a7e48cf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49723" y="2103120"/>
            <a:ext cx="2862072" cy="142951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991100" y="4814316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0" name="Picture 9" descr="2bb7fdb900ba422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11340" y="4663440"/>
            <a:ext cx="259080" cy="850392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Lessons 6–7 — Evaluating and Equivalent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354715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One flash drive holds  </a:t>
            </a:r>
          </a:p>
        </p:txBody>
      </p:sp>
      <p:pic>
        <p:nvPicPr>
          <p:cNvPr id="9" name="Picture 8" descr="c59174185032558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44432" y="1943100"/>
            <a:ext cx="377952" cy="2743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022384" y="1851660"/>
            <a:ext cx="206349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  megabytes.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464308"/>
            <a:ext cx="248775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Another holds  </a:t>
            </a:r>
          </a:p>
        </p:txBody>
      </p:sp>
      <p:pic>
        <p:nvPicPr>
          <p:cNvPr id="12" name="Picture 11" descr="1d8988fc9968dd1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85036" y="2552700"/>
            <a:ext cx="252984" cy="28041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838020" y="2464308"/>
            <a:ext cx="650926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  megabytes. The first one costs 45 dollars.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30998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Which holds more — or is it the same? Show why.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Lessons 6–7 — Evaluating and Equivalent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354715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One flash drive holds  </a:t>
            </a:r>
          </a:p>
        </p:txBody>
      </p:sp>
      <p:pic>
        <p:nvPicPr>
          <p:cNvPr id="9" name="Picture 8" descr="b4b5a35a336421b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44432" y="1943100"/>
            <a:ext cx="381000" cy="2743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025432" y="1851660"/>
            <a:ext cx="206349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  megabytes.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464308"/>
            <a:ext cx="248775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Another holds  </a:t>
            </a:r>
          </a:p>
        </p:txBody>
      </p:sp>
      <p:pic>
        <p:nvPicPr>
          <p:cNvPr id="12" name="Picture 11" descr="e7e94afbdd4008a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85036" y="2552700"/>
            <a:ext cx="256032" cy="28041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841068" y="2464308"/>
            <a:ext cx="650926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  megabytes. The first one costs 45 dollars.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30998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Which holds more — or is it the same? Show why.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The same: 8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5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 = (2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3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)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5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 = 2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15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Lessons 6–7 — Evaluating and Equivalent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24</a:t>
            </a:r>
          </a:p>
        </p:txBody>
      </p:sp>
      <p:pic>
        <p:nvPicPr>
          <p:cNvPr id="8" name="Picture 7" descr="39fbeb40e62d122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3496" y="2194560"/>
            <a:ext cx="414528" cy="43891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862072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expression is equivalent?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352839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3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16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352839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3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421419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3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421419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3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220031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Lessons 6–7 — Evaluating and Equivalent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25</a:t>
            </a:r>
          </a:p>
        </p:txBody>
      </p:sp>
      <p:pic>
        <p:nvPicPr>
          <p:cNvPr id="8" name="Picture 7" descr="2a82b5b2f64aa28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1971" y="2103120"/>
            <a:ext cx="417576" cy="42976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761487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expression is equivalent?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342780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3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16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342780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3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411360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9E1B32"/>
                </a:solidFill>
                <a:latin typeface="Century Schoolbook"/>
              </a:rPr>
              <a:t>C.   </a:t>
            </a:r>
            <a:r>
              <a:rPr sz="2400" b="1" i="0">
                <a:solidFill>
                  <a:srgbClr val="9E1B32"/>
                </a:solidFill>
                <a:latin typeface="Century Schoolbook"/>
              </a:rPr>
              <a:t>3</a:t>
            </a:r>
            <a:r>
              <a:rPr sz="2400" b="1" i="0" baseline="30000">
                <a:solidFill>
                  <a:srgbClr val="9E1B32"/>
                </a:solidFill>
                <a:latin typeface="Century Schoolbook"/>
              </a:rPr>
              <a:t>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411360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3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119447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C — 3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8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Lessons 6–7 — Evaluating and Equivalent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26</a:t>
            </a:r>
          </a:p>
        </p:txBody>
      </p:sp>
      <p:pic>
        <p:nvPicPr>
          <p:cNvPr id="8" name="Picture 7" descr="78733fd3b94c879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97779" y="2194560"/>
            <a:ext cx="1965960" cy="8534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276599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expression is equivalent?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394291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-7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394291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462871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-5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462871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-12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634559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Lessons 6–7 — Evaluating and Equivalent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27</a:t>
            </a:r>
          </a:p>
        </p:txBody>
      </p:sp>
      <p:pic>
        <p:nvPicPr>
          <p:cNvPr id="8" name="Picture 7" descr="4ef405027ff619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97779" y="2103120"/>
            <a:ext cx="1965960" cy="85039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182112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expression is equivalent?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384843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9E1B32"/>
                </a:solidFill>
                <a:latin typeface="Century Schoolbook"/>
              </a:rPr>
              <a:t>A.   </a:t>
            </a:r>
            <a:r>
              <a:rPr sz="2400" b="1" i="0">
                <a:solidFill>
                  <a:srgbClr val="9E1B32"/>
                </a:solidFill>
                <a:latin typeface="Century Schoolbook"/>
              </a:rPr>
              <a:t>2</a:t>
            </a:r>
            <a:r>
              <a:rPr sz="2400" b="1" i="0" baseline="30000">
                <a:solidFill>
                  <a:srgbClr val="9E1B32"/>
                </a:solidFill>
                <a:latin typeface="Century Schoolbook"/>
              </a:rPr>
              <a:t>-7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384843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453423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-5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453423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-12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540071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A — 2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-7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Lessons 6–7 — Evaluating and Equivalent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28</a:t>
            </a:r>
          </a:p>
        </p:txBody>
      </p:sp>
      <p:pic>
        <p:nvPicPr>
          <p:cNvPr id="8" name="Picture 7" descr="11b1cae12f4ad7a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01639" y="2194560"/>
            <a:ext cx="1158240" cy="42062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Lessons 6–7 — Evaluating and Equivalent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29</a:t>
            </a:r>
          </a:p>
        </p:txBody>
      </p:sp>
      <p:pic>
        <p:nvPicPr>
          <p:cNvPr id="8" name="Picture 7" descr="9a83df8a23e9397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01639" y="2103120"/>
            <a:ext cx="1158240" cy="42062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914900" y="4602480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0" name="Picture 9" descr="474833020a97149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35140" y="4663440"/>
            <a:ext cx="411480" cy="42672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Lessons 6–7 — Evaluating and Equivalent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30</a:t>
            </a:r>
          </a:p>
        </p:txBody>
      </p:sp>
      <p:pic>
        <p:nvPicPr>
          <p:cNvPr id="8" name="Picture 7" descr="cd86dc37fd0c05f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69051" y="2194560"/>
            <a:ext cx="1423416" cy="4267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Lessons 6–7 — Evaluating and Equivalent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31</a:t>
            </a:r>
          </a:p>
        </p:txBody>
      </p:sp>
      <p:pic>
        <p:nvPicPr>
          <p:cNvPr id="8" name="Picture 7" descr="a58ef65a72479a6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67527" y="2103120"/>
            <a:ext cx="1426464" cy="42367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821935" y="4602480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0" name="Picture 9" descr="c9101e99983c701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42176" y="4663440"/>
            <a:ext cx="597408" cy="42672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Lessons 6–7 — Evaluating and Equivalent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27294" y="2304288"/>
            <a:ext cx="225401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Xavier says  </a:t>
            </a:r>
          </a:p>
        </p:txBody>
      </p:sp>
      <p:pic>
        <p:nvPicPr>
          <p:cNvPr id="9" name="Picture 8" descr="928a3b4f052209d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4146" y="2194560"/>
            <a:ext cx="1569720" cy="67665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13866" y="2304288"/>
            <a:ext cx="12088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and  </a:t>
            </a:r>
          </a:p>
        </p:txBody>
      </p:sp>
      <p:pic>
        <p:nvPicPr>
          <p:cNvPr id="11" name="Picture 10" descr="b84e4faf309355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5572" y="2194560"/>
            <a:ext cx="1557528" cy="67665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943100" y="2304288"/>
            <a:ext cx="272828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are equivalent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93296" y="3122675"/>
            <a:ext cx="536383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because both can be written as  </a:t>
            </a:r>
          </a:p>
        </p:txBody>
      </p:sp>
      <p:pic>
        <p:nvPicPr>
          <p:cNvPr id="14" name="Picture 13" descr="c9adefc290aa5b4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19975" y="3185159"/>
            <a:ext cx="521207" cy="33223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641183" y="3122675"/>
            <a:ext cx="276420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.  Do you agree?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Write your answer in sentences.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Lessons 6–7 — Evaluating and Equivalent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24246" y="2212848"/>
            <a:ext cx="225401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Xavier says  </a:t>
            </a:r>
          </a:p>
        </p:txBody>
      </p:sp>
      <p:pic>
        <p:nvPicPr>
          <p:cNvPr id="9" name="Picture 8" descr="5cc8e379c9f0fb7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1098" y="2103120"/>
            <a:ext cx="1572768" cy="67665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13866" y="2212848"/>
            <a:ext cx="12088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and  </a:t>
            </a:r>
          </a:p>
        </p:txBody>
      </p:sp>
      <p:pic>
        <p:nvPicPr>
          <p:cNvPr id="11" name="Picture 10" descr="3544f9e4eb8bbbf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5572" y="2103120"/>
            <a:ext cx="1560576" cy="67665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946148" y="2212848"/>
            <a:ext cx="272828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are equivalent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91772" y="3031236"/>
            <a:ext cx="536383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because both can be written as  </a:t>
            </a:r>
          </a:p>
        </p:txBody>
      </p:sp>
      <p:pic>
        <p:nvPicPr>
          <p:cNvPr id="14" name="Picture 13" descr="afdbc5b48ef250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18451" y="3093720"/>
            <a:ext cx="524256" cy="33223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642707" y="3031236"/>
            <a:ext cx="276420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.  Do you agree?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No — the second is 2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-6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, not 2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-7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Lessons 6–7 — Evaluating and Equivalent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677924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300" b="1" i="0">
                <a:solidFill>
                  <a:srgbClr val="0B5394"/>
                </a:solidFill>
                <a:latin typeface="Century Schoolbook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677924"/>
            <a:ext cx="254844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Find the value.  </a:t>
            </a:r>
          </a:p>
        </p:txBody>
      </p:sp>
      <p:pic>
        <p:nvPicPr>
          <p:cNvPr id="10" name="Picture 9" descr="ea8eebb3a97fa0e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65760" y="1517904"/>
            <a:ext cx="1688592" cy="77724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60120" y="2526792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300" b="1" i="0">
                <a:solidFill>
                  <a:srgbClr val="0B5394"/>
                </a:solidFill>
                <a:latin typeface="Century Schoolbook"/>
              </a:rPr>
              <a:t>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526792"/>
            <a:ext cx="254844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Find the value.  </a:t>
            </a:r>
          </a:p>
        </p:txBody>
      </p:sp>
      <p:pic>
        <p:nvPicPr>
          <p:cNvPr id="13" name="Picture 12" descr="8ac5f19cf038a31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65760" y="2478024"/>
            <a:ext cx="1676400" cy="55473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60120" y="3192780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300" b="1" i="0">
                <a:solidFill>
                  <a:srgbClr val="0B5394"/>
                </a:solidFill>
                <a:latin typeface="Century Schoolbook"/>
              </a:rPr>
              <a:t>3.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3192780"/>
            <a:ext cx="346701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Write as a power of 2.  </a:t>
            </a:r>
          </a:p>
        </p:txBody>
      </p:sp>
      <p:pic>
        <p:nvPicPr>
          <p:cNvPr id="16" name="Picture 15" descr="f8e949f0e98d161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84331" y="3281172"/>
            <a:ext cx="399288" cy="280416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960120" y="3787139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300" b="1" i="0">
                <a:solidFill>
                  <a:srgbClr val="0B5394"/>
                </a:solidFill>
                <a:latin typeface="Century Schoolbook"/>
              </a:rPr>
              <a:t>4.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54480" y="3787139"/>
            <a:ext cx="346701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Write as a power of 3.  </a:t>
            </a:r>
          </a:p>
        </p:txBody>
      </p:sp>
      <p:pic>
        <p:nvPicPr>
          <p:cNvPr id="19" name="Picture 18" descr="7d1829112605dc0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84331" y="3875531"/>
            <a:ext cx="798576" cy="280416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960120" y="4381499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300" b="1" i="0">
                <a:solidFill>
                  <a:srgbClr val="0B5394"/>
                </a:solidFill>
                <a:latin typeface="Century Schoolbook"/>
              </a:rPr>
              <a:t>5.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54480" y="4381499"/>
            <a:ext cx="89829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Are  </a:t>
            </a:r>
          </a:p>
        </p:txBody>
      </p:sp>
      <p:pic>
        <p:nvPicPr>
          <p:cNvPr id="22" name="Picture 21" descr="2548b15b1d35bdb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315613" y="4472940"/>
            <a:ext cx="432816" cy="27432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2748429" y="4381499"/>
            <a:ext cx="109375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  and  </a:t>
            </a:r>
          </a:p>
        </p:txBody>
      </p:sp>
      <p:pic>
        <p:nvPicPr>
          <p:cNvPr id="24" name="Picture 23" descr="08acdadc8f4ac353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705025" y="4471416"/>
            <a:ext cx="426720" cy="277368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4131745" y="4381499"/>
            <a:ext cx="361293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  equivalent? Show why.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0120" y="4975860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300" b="1" i="0">
                <a:solidFill>
                  <a:srgbClr val="0B5394"/>
                </a:solidFill>
                <a:latin typeface="Century Schoolbook"/>
              </a:rPr>
              <a:t>6.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54480" y="4975860"/>
            <a:ext cx="254844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Find the value.  </a:t>
            </a:r>
          </a:p>
        </p:txBody>
      </p:sp>
      <p:pic>
        <p:nvPicPr>
          <p:cNvPr id="28" name="Picture 27" descr="eb89b2f91444568a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965760" y="5036820"/>
            <a:ext cx="1261872" cy="335280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Lessons 6–7 — Evaluating and Equivalent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Open IXL and start today's skills.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Work on paper where the question needs work. The answer box does not show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Every skill listed is required, to a SmartScore of 67. Due at the start of the next class.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1A1A1A"/>
                </a:solidFill>
                <a:latin typeface="Century Schoolbook"/>
              </a:rPr>
              <a:t>Today's skills — all required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Evaluate expressions using properties of exponents — 6T7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4837176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Identify equivalent expressions involving exponents II — QDM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