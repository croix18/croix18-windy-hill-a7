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24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THREAD A ·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Exponent Laws with Variable Bases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MA.8.AR.1.1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multiply and divide monomials, and raise a monomial to a power, by applying the laws of exponents to variable bases.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84532672c5136f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501140"/>
            <a:ext cx="1267968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164080"/>
            <a:ext cx="3678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Write as one power:  </a:t>
            </a:r>
          </a:p>
        </p:txBody>
      </p:sp>
      <p:pic>
        <p:nvPicPr>
          <p:cNvPr id="11" name="Picture 10" descr="dea7bce85a1354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11" y="2075688"/>
            <a:ext cx="313944" cy="633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887980"/>
            <a:ext cx="680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</a:t>
            </a:r>
          </a:p>
        </p:txBody>
      </p:sp>
      <p:pic>
        <p:nvPicPr>
          <p:cNvPr id="13" name="Picture 12" descr="bcdd9774053692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464" y="2921508"/>
            <a:ext cx="710184" cy="390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27648" y="2887980"/>
            <a:ext cx="5723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between which two whole numbers?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500628"/>
            <a:ext cx="42667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Write with an exponent:  </a:t>
            </a:r>
          </a:p>
        </p:txBody>
      </p:sp>
      <p:pic>
        <p:nvPicPr>
          <p:cNvPr id="16" name="Picture 15" descr="10f3e19ce6b1934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4151" y="3610356"/>
            <a:ext cx="1679448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84532672c5136f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501140"/>
            <a:ext cx="1267968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75776" y="1440180"/>
            <a:ext cx="4050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64080"/>
            <a:ext cx="3678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Write as one power:  </a:t>
            </a:r>
          </a:p>
        </p:txBody>
      </p:sp>
      <p:pic>
        <p:nvPicPr>
          <p:cNvPr id="12" name="Picture 11" descr="dea7bce85a1354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11" y="2075688"/>
            <a:ext cx="313944" cy="633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78495" y="2052828"/>
            <a:ext cx="12033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2180" b="1" i="0">
                <a:solidFill>
                  <a:srgbClr val="9E1B32"/>
                </a:solidFill>
                <a:latin typeface="Lexend"/>
              </a:rPr>
              <a:t> = 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887980"/>
            <a:ext cx="680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</a:t>
            </a:r>
          </a:p>
        </p:txBody>
      </p:sp>
      <p:pic>
        <p:nvPicPr>
          <p:cNvPr id="15" name="Picture 14" descr="bcdd9774053692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464" y="2921508"/>
            <a:ext cx="710184" cy="390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127648" y="2887980"/>
            <a:ext cx="5723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between which two whole numbers?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2405" y="2887980"/>
            <a:ext cx="13104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7 and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00628"/>
            <a:ext cx="42667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Write with an exponent:  </a:t>
            </a:r>
          </a:p>
        </p:txBody>
      </p:sp>
      <p:pic>
        <p:nvPicPr>
          <p:cNvPr id="19" name="Picture 18" descr="10f3e19ce6b1934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4151" y="3610356"/>
            <a:ext cx="1679448" cy="237744"/>
          </a:xfrm>
          <a:prstGeom prst="rect">
            <a:avLst/>
          </a:prstGeom>
        </p:spPr>
      </p:pic>
      <p:pic>
        <p:nvPicPr>
          <p:cNvPr id="20" name="Picture 19" descr="6318b2f43b5ea3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2239" y="3558540"/>
            <a:ext cx="307848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Product of powers — the base is a letter now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6d4fe73c289b0e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780" y="1993392"/>
            <a:ext cx="4459224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21004" y="1970532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531b3ca0b6947c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347" y="2055876"/>
            <a:ext cx="2374392" cy="286512"/>
          </a:xfrm>
          <a:prstGeom prst="rect">
            <a:avLst/>
          </a:prstGeom>
        </p:spPr>
      </p:pic>
      <p:pic>
        <p:nvPicPr>
          <p:cNvPr id="13" name="Picture 12" descr="3a24062b248a79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052" y="2679192"/>
            <a:ext cx="5233416" cy="4145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343204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Multiply the coefficients. Add the exponents of like bases.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130040"/>
            <a:ext cx="5140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Different variables stay separate:  </a:t>
            </a:r>
          </a:p>
        </p:txBody>
      </p:sp>
      <p:pic>
        <p:nvPicPr>
          <p:cNvPr id="16" name="Picture 15" descr="cb5cb67ed0c2e1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725" y="4145280"/>
            <a:ext cx="278892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Power of a power, power of a product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d6bfdf3d19b6c6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36" y="1993392"/>
            <a:ext cx="4322064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79500" y="1970532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fccf0a74e9f8b1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843" y="2017776"/>
            <a:ext cx="1920240" cy="362712"/>
          </a:xfrm>
          <a:prstGeom prst="rect">
            <a:avLst/>
          </a:prstGeom>
        </p:spPr>
      </p:pic>
      <p:pic>
        <p:nvPicPr>
          <p:cNvPr id="13" name="Picture 12" descr="ae79d4a9e407b4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368" y="2679192"/>
            <a:ext cx="3806952" cy="426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20320" y="2663952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5" name="Picture 14" descr="4c84c2e4af97e3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63" y="2679192"/>
            <a:ext cx="3523488" cy="426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44424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Power of a power: multiply the exponents.  Power of a product: raise every factor.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Quotient of powers — dividing monomials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992b07e12d92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480" y="1993392"/>
            <a:ext cx="4517136" cy="786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5616" y="2157984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e5743ba7bca77d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959" y="2037588"/>
            <a:ext cx="1783080" cy="697992"/>
          </a:xfrm>
          <a:prstGeom prst="rect">
            <a:avLst/>
          </a:prstGeom>
        </p:spPr>
      </p:pic>
      <p:pic>
        <p:nvPicPr>
          <p:cNvPr id="13" name="Picture 12" descr="bff3d968f5264f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652" y="3054096"/>
            <a:ext cx="1840991" cy="7955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83644" y="3223260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5" name="Picture 14" descr="babaa48f738357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7987" y="3055619"/>
            <a:ext cx="3230880" cy="792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18795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Divide the coefficients. Subtract the exponents of like bases.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pic>
        <p:nvPicPr>
          <p:cNvPr id="8" name="Picture 7" descr="f82502c420b1e8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644" y="2103120"/>
            <a:ext cx="2618232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32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d34a71302951cd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248400" cy="426720"/>
          </a:xfrm>
          <a:prstGeom prst="rect">
            <a:avLst/>
          </a:prstGeom>
        </p:spPr>
      </p:pic>
      <p:pic>
        <p:nvPicPr>
          <p:cNvPr id="9" name="Picture 8" descr="9880f38cb80c4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21280"/>
            <a:ext cx="3578352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−8x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y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cebc1086f5007b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1600200"/>
            <a:ext cx="3127248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2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44018e03469d2a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611" y="1600200"/>
            <a:ext cx="3130296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2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as a single monomial.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7719" y="3201526"/>
            <a:ext cx="18411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Numbers:  </a:t>
            </a:r>
          </a:p>
        </p:txBody>
      </p:sp>
      <p:pic>
        <p:nvPicPr>
          <p:cNvPr id="11" name="Picture 10" descr="1f9f47243b423b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756" y="3323446"/>
            <a:ext cx="1072896" cy="21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17719" y="3704446"/>
            <a:ext cx="15080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a's:  </a:t>
            </a:r>
          </a:p>
        </p:txBody>
      </p:sp>
      <p:pic>
        <p:nvPicPr>
          <p:cNvPr id="13" name="Picture 12" descr="5f3fb78ccfb86d8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645" y="3801982"/>
            <a:ext cx="2282952" cy="262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719" y="4207366"/>
            <a:ext cx="15071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b's:  </a:t>
            </a:r>
          </a:p>
        </p:txBody>
      </p:sp>
      <p:pic>
        <p:nvPicPr>
          <p:cNvPr id="15" name="Picture 14" descr="795cd8a8804113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7696" y="4304902"/>
            <a:ext cx="2362200" cy="2621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7788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15a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b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b9b17b427698fa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1" y="2103120"/>
            <a:ext cx="1408176" cy="8656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7167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c921a6ad516c95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087624" cy="414528"/>
          </a:xfrm>
          <a:prstGeom prst="rect">
            <a:avLst/>
          </a:prstGeom>
        </p:spPr>
      </p:pic>
      <p:pic>
        <p:nvPicPr>
          <p:cNvPr id="9" name="Picture 8" descr="69e7633d2c21fb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9087"/>
            <a:ext cx="5672328" cy="789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n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8188cd9592de45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007" y="1600200"/>
            <a:ext cx="1365504" cy="1191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948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3fd6aa4af28a39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531" y="1600200"/>
            <a:ext cx="1362456" cy="1191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948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as a single monomial.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6286" y="3884278"/>
            <a:ext cx="16914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Top first:  </a:t>
            </a:r>
          </a:p>
        </p:txBody>
      </p:sp>
      <p:pic>
        <p:nvPicPr>
          <p:cNvPr id="11" name="Picture 10" descr="0a070322ca6b9f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553" y="3951334"/>
            <a:ext cx="3151632" cy="3230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26286" y="4387198"/>
            <a:ext cx="18411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Numbers:  </a:t>
            </a:r>
          </a:p>
        </p:txBody>
      </p:sp>
      <p:pic>
        <p:nvPicPr>
          <p:cNvPr id="13" name="Picture 12" descr="6dd81528b6eb10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323" y="4510642"/>
            <a:ext cx="1176528" cy="2103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26286" y="4890118"/>
            <a:ext cx="15074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p's:  </a:t>
            </a:r>
          </a:p>
        </p:txBody>
      </p:sp>
      <p:pic>
        <p:nvPicPr>
          <p:cNvPr id="15" name="Picture 14" descr="234d1df8f51eff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6612" y="4957174"/>
            <a:ext cx="2609088" cy="3230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54616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2p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c22a98d40a0fe3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72" y="2194560"/>
            <a:ext cx="1255776" cy="417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7057d29314ff53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3" y="2103120"/>
            <a:ext cx="1261872" cy="417576"/>
          </a:xfrm>
          <a:prstGeom prst="rect">
            <a:avLst/>
          </a:prstGeom>
        </p:spPr>
      </p:pic>
      <p:pic>
        <p:nvPicPr>
          <p:cNvPr id="9" name="Picture 8" descr="5c18f5c8d80754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5" y="2877312"/>
            <a:ext cx="2779776" cy="3017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09744" y="4599431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f1aeccb44d2ab9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3" y="4663440"/>
            <a:ext cx="621792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d27a1b65e2e808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647" y="2194560"/>
            <a:ext cx="1030224" cy="5242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pic>
        <p:nvPicPr>
          <p:cNvPr id="8" name="Picture 7" descr="b08eef5dde2a50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647" y="2103120"/>
            <a:ext cx="1030224" cy="524256"/>
          </a:xfrm>
          <a:prstGeom prst="rect">
            <a:avLst/>
          </a:prstGeom>
        </p:spPr>
      </p:pic>
      <p:pic>
        <p:nvPicPr>
          <p:cNvPr id="9" name="Picture 8" descr="4ee0afac3f8991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083" y="2942844"/>
            <a:ext cx="2542032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97551" y="465429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aa93a227db193e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791" y="4663440"/>
            <a:ext cx="64617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0023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cube has edges  </a:t>
            </a:r>
          </a:p>
        </p:txBody>
      </p:sp>
      <p:pic>
        <p:nvPicPr>
          <p:cNvPr id="9" name="Picture 8" descr="b2218f1b6cc7bf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618" y="1946147"/>
            <a:ext cx="454152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53770" y="1851660"/>
            <a:ext cx="29419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30846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surface area is  </a:t>
            </a:r>
          </a:p>
        </p:txBody>
      </p:sp>
      <p:pic>
        <p:nvPicPr>
          <p:cNvPr id="12" name="Picture 11" descr="c9ee10aba47627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897" y="2557272"/>
            <a:ext cx="655320" cy="271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37217" y="2464308"/>
            <a:ext cx="33145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square centimeters.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volume of the cube, in cubic centimeters?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0023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cube has edges  </a:t>
            </a:r>
          </a:p>
        </p:txBody>
      </p:sp>
      <p:pic>
        <p:nvPicPr>
          <p:cNvPr id="9" name="Picture 8" descr="47e41d1215f68b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618" y="1946147"/>
            <a:ext cx="457200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56818" y="1851660"/>
            <a:ext cx="29419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30846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surface area is  </a:t>
            </a:r>
          </a:p>
        </p:txBody>
      </p:sp>
      <p:pic>
        <p:nvPicPr>
          <p:cNvPr id="12" name="Picture 11" descr="e168afa666552c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897" y="2555748"/>
            <a:ext cx="658368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40265" y="2464308"/>
            <a:ext cx="33145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square centimeters.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volume of the cube, in cubic centimeters?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9370" y="3734926"/>
            <a:ext cx="57716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Volume = edge × edge × edge:  </a:t>
            </a:r>
          </a:p>
        </p:txBody>
      </p:sp>
      <p:pic>
        <p:nvPicPr>
          <p:cNvPr id="16" name="Picture 15" descr="f2db44398d05b7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3845" y="3779122"/>
            <a:ext cx="908304" cy="368808"/>
          </a:xfrm>
          <a:prstGeom prst="rect">
            <a:avLst/>
          </a:prstGeom>
        </p:spPr>
      </p:pic>
      <p:pic>
        <p:nvPicPr>
          <p:cNvPr id="17" name="Picture 16" descr="83e03eeb217037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4234" y="4315570"/>
            <a:ext cx="3297936" cy="3749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59451" y="478039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9" name="Picture 18" descr="930c42f7a917cf6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692" y="4845922"/>
            <a:ext cx="722376" cy="4175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94ae5c6bf68c5f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11" y="2194560"/>
            <a:ext cx="2901696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c5f8cdff3a58f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387" y="2103120"/>
            <a:ext cx="2904744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37531" y="2891028"/>
            <a:ext cx="18411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Numbers:  </a:t>
            </a:r>
          </a:p>
        </p:txBody>
      </p:sp>
      <p:pic>
        <p:nvPicPr>
          <p:cNvPr id="10" name="Picture 9" descr="10283f176991c3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568" y="3012948"/>
            <a:ext cx="1091184" cy="21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37531" y="3393948"/>
            <a:ext cx="15080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a's:  </a:t>
            </a:r>
          </a:p>
        </p:txBody>
      </p:sp>
      <p:pic>
        <p:nvPicPr>
          <p:cNvPr id="12" name="Picture 11" descr="5f3fb78ccfb86d8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457" y="3491483"/>
            <a:ext cx="2282952" cy="262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37531" y="3896867"/>
            <a:ext cx="15071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b's:  </a:t>
            </a:r>
          </a:p>
        </p:txBody>
      </p:sp>
      <p:pic>
        <p:nvPicPr>
          <p:cNvPr id="14" name="Picture 13" descr="32bbfbda57c94e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7508" y="3994404"/>
            <a:ext cx="2319528" cy="2621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70831" y="460248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6" name="Picture 15" descr="36d05054388e0f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1" y="4663440"/>
            <a:ext cx="1499616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54d7a3db40dafe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859" y="2194560"/>
            <a:ext cx="1447800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217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984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25m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984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84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25m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84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9013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71344e364b98f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336" y="2103120"/>
            <a:ext cx="1450848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073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6dcc307e4b4bb3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1" y="3508579"/>
            <a:ext cx="3892296" cy="3718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25m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a573a675710e22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791" y="2194560"/>
            <a:ext cx="1011936" cy="990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137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0800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800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765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9x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765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662958141cc876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03120"/>
            <a:ext cx="1005840" cy="993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3253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0227" y="3950539"/>
            <a:ext cx="21407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Numbers:  </a:t>
            </a:r>
          </a:p>
        </p:txBody>
      </p:sp>
      <p:pic>
        <p:nvPicPr>
          <p:cNvPr id="11" name="Picture 10" descr="2908f8b1131494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854" y="4052647"/>
            <a:ext cx="1389888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83742" y="3950539"/>
            <a:ext cx="25510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      The x's:  </a:t>
            </a:r>
          </a:p>
        </p:txBody>
      </p:sp>
      <p:pic>
        <p:nvPicPr>
          <p:cNvPr id="13" name="Picture 12" descr="3aeb7558cdc9ff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612" y="4026739"/>
            <a:ext cx="2770632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4x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09665619072acc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780" y="2194560"/>
            <a:ext cx="1203960" cy="1002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fa028d663fe2fd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827" y="2103120"/>
            <a:ext cx="1197864" cy="9966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82736" y="3378708"/>
            <a:ext cx="1710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c's:  </a:t>
            </a:r>
          </a:p>
        </p:txBody>
      </p:sp>
      <p:pic>
        <p:nvPicPr>
          <p:cNvPr id="10" name="Picture 9" descr="41cf13457f6ca2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737" y="3454908"/>
            <a:ext cx="2990088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82736" y="3918203"/>
            <a:ext cx="17468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d's:  </a:t>
            </a:r>
          </a:p>
        </p:txBody>
      </p:sp>
      <p:pic>
        <p:nvPicPr>
          <p:cNvPr id="12" name="Picture 11" descr="3cec43e7944d31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455" y="3994404"/>
            <a:ext cx="3386328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01183" y="460095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4" name="Picture 13" descr="c4c6f47ddd42ac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23" y="4663440"/>
            <a:ext cx="438912" cy="42367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3087" y="2171700"/>
            <a:ext cx="3006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9" name="Picture 8" descr="f14fce7cf077cd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662" y="2296668"/>
            <a:ext cx="176784" cy="2072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9446" y="217170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:</a:t>
            </a:r>
          </a:p>
        </p:txBody>
      </p:sp>
      <p:pic>
        <p:nvPicPr>
          <p:cNvPr id="11" name="Picture 10" descr="a981bea298d1f2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023" y="2916936"/>
            <a:ext cx="187147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3087" y="2080260"/>
            <a:ext cx="3006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9" name="Picture 8" descr="f14fce7cf077cd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662" y="2205228"/>
            <a:ext cx="176784" cy="2072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9446" y="208026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:</a:t>
            </a:r>
          </a:p>
        </p:txBody>
      </p:sp>
      <p:pic>
        <p:nvPicPr>
          <p:cNvPr id="11" name="Picture 10" descr="8d2620ce0f386f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023" y="2825496"/>
            <a:ext cx="187147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73772" y="3525012"/>
            <a:ext cx="65734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Same base, so the exponents add:  </a:t>
            </a:r>
          </a:p>
        </p:txBody>
      </p:sp>
      <p:pic>
        <p:nvPicPr>
          <p:cNvPr id="13" name="Picture 12" descr="b4a56cf80f1421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051" y="3627120"/>
            <a:ext cx="1383792" cy="252984"/>
          </a:xfrm>
          <a:prstGeom prst="rect">
            <a:avLst/>
          </a:prstGeom>
        </p:spPr>
      </p:pic>
      <p:pic>
        <p:nvPicPr>
          <p:cNvPr id="14" name="Picture 13" descr="faf016cfea52a86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8636" y="4166616"/>
            <a:ext cx="1889760" cy="2529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 = 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2430" y="1623060"/>
            <a:ext cx="25511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Rachel writes  </a:t>
            </a:r>
          </a:p>
        </p:txBody>
      </p:sp>
      <p:pic>
        <p:nvPicPr>
          <p:cNvPr id="9" name="Picture 8" descr="0f4a528fb553ff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450" y="1647444"/>
            <a:ext cx="1493520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19970" y="1623060"/>
            <a:ext cx="7662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as</a:t>
            </a:r>
          </a:p>
        </p:txBody>
      </p:sp>
      <p:pic>
        <p:nvPicPr>
          <p:cNvPr id="11" name="Picture 10" descr="e0c3dd1cea0c7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322" y="2392680"/>
            <a:ext cx="7485888" cy="289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49210" y="230886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8298" y="2994660"/>
            <a:ext cx="34239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Justina writes it as  </a:t>
            </a:r>
          </a:p>
        </p:txBody>
      </p:sp>
      <p:pic>
        <p:nvPicPr>
          <p:cNvPr id="14" name="Picture 13" descr="141b9ad3a73872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111" y="3020568"/>
            <a:ext cx="1807464" cy="4053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42575" y="2994660"/>
            <a:ext cx="4307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Who is correct? Explain.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906" y="1623060"/>
            <a:ext cx="25511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Rachel writes  </a:t>
            </a:r>
          </a:p>
        </p:txBody>
      </p:sp>
      <p:pic>
        <p:nvPicPr>
          <p:cNvPr id="9" name="Picture 8" descr="a3dcfdf926345a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926" y="1647444"/>
            <a:ext cx="1496568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21494" y="1623060"/>
            <a:ext cx="7662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as</a:t>
            </a:r>
          </a:p>
        </p:txBody>
      </p:sp>
      <p:pic>
        <p:nvPicPr>
          <p:cNvPr id="11" name="Picture 10" descr="1584e3327bf07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846" y="2392680"/>
            <a:ext cx="7482840" cy="289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47686" y="230886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5250" y="2994660"/>
            <a:ext cx="34239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Justina writes it as  </a:t>
            </a:r>
          </a:p>
        </p:txBody>
      </p:sp>
      <p:pic>
        <p:nvPicPr>
          <p:cNvPr id="14" name="Picture 13" descr="a051b135e43659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63" y="3017520"/>
            <a:ext cx="181356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45623" y="2994660"/>
            <a:ext cx="4307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Who is correct? Explain.</a:t>
            </a:r>
          </a:p>
        </p:txBody>
      </p:sp>
      <p:pic>
        <p:nvPicPr>
          <p:cNvPr id="16" name="Picture 15" descr="a5dbe839110f56a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1333" y="3825240"/>
            <a:ext cx="2798064" cy="313944"/>
          </a:xfrm>
          <a:prstGeom prst="rect">
            <a:avLst/>
          </a:prstGeom>
        </p:spPr>
      </p:pic>
      <p:pic>
        <p:nvPicPr>
          <p:cNvPr id="17" name="Picture 16" descr="cb303afaf851bb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1333" y="4366259"/>
            <a:ext cx="4386072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57405" y="4293107"/>
            <a:ext cx="15240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9" name="Picture 18" descr="e58666b48c9703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4266" y="4369308"/>
            <a:ext cx="1761744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864608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Both are correct; 14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2,744, nine a's make a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9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, and b · b · b = b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3169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one power.  </a:t>
            </a:r>
          </a:p>
        </p:txBody>
      </p:sp>
      <p:pic>
        <p:nvPicPr>
          <p:cNvPr id="10" name="Picture 9" descr="2eaabd0e034350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963" y="1588008"/>
            <a:ext cx="813816" cy="271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89403"/>
            <a:ext cx="43133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a single monomial.  </a:t>
            </a:r>
          </a:p>
        </p:txBody>
      </p:sp>
      <p:pic>
        <p:nvPicPr>
          <p:cNvPr id="13" name="Picture 12" descr="759d173ab3ce1a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620" y="2154936"/>
            <a:ext cx="670560" cy="3261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83763"/>
            <a:ext cx="43133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a single monomial.  </a:t>
            </a:r>
          </a:p>
        </p:txBody>
      </p:sp>
      <p:pic>
        <p:nvPicPr>
          <p:cNvPr id="16" name="Picture 15" descr="b2f7ca41cd8de6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0620" y="2740151"/>
            <a:ext cx="856488" cy="3444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78123"/>
            <a:ext cx="43133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a single monomial.  </a:t>
            </a:r>
          </a:p>
        </p:txBody>
      </p:sp>
      <p:pic>
        <p:nvPicPr>
          <p:cNvPr id="19" name="Picture 18" descr="b4d4ab21b5b301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620" y="3343655"/>
            <a:ext cx="1615440" cy="3261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3988307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988307"/>
            <a:ext cx="43133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a single monomial.  </a:t>
            </a:r>
          </a:p>
        </p:txBody>
      </p:sp>
      <p:pic>
        <p:nvPicPr>
          <p:cNvPr id="22" name="Picture 21" descr="8715ef2ef01682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0620" y="3895344"/>
            <a:ext cx="685800" cy="6431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469849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98491"/>
            <a:ext cx="26841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25" name="Picture 24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1434" y="4843272"/>
            <a:ext cx="146304" cy="1676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47738" y="4698491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7" name="Picture 26" descr="7739f2fcdf71af3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2689" y="4753356"/>
            <a:ext cx="1588008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Multiply powers: variable bases — TR9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Powers of a power: variable bases — 2CU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Divide monomials with positive exponents — C8L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