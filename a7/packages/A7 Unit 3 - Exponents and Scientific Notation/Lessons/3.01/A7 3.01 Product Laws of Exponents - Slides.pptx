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Relationship Id="rId4" Type="http://schemas.openxmlformats.org/officeDocument/2006/relationships/image" Target="../media/image5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image" Target="../media/image63.png"/><Relationship Id="rId4" Type="http://schemas.openxmlformats.org/officeDocument/2006/relationships/image" Target="../media/image64.png"/><Relationship Id="rId5" Type="http://schemas.openxmlformats.org/officeDocument/2006/relationships/image" Target="../media/image6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image" Target="../media/image68.png"/><Relationship Id="rId4" Type="http://schemas.openxmlformats.org/officeDocument/2006/relationships/image" Target="../media/image6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Relationship Id="rId3" Type="http://schemas.openxmlformats.org/officeDocument/2006/relationships/image" Target="../media/image71.png"/><Relationship Id="rId4" Type="http://schemas.openxmlformats.org/officeDocument/2006/relationships/image" Target="../media/image72.png"/><Relationship Id="rId5" Type="http://schemas.openxmlformats.org/officeDocument/2006/relationships/image" Target="../media/image73.png"/><Relationship Id="rId6" Type="http://schemas.openxmlformats.org/officeDocument/2006/relationships/image" Target="../media/image74.png"/><Relationship Id="rId7" Type="http://schemas.openxmlformats.org/officeDocument/2006/relationships/image" Target="../media/image75.png"/><Relationship Id="rId8" Type="http://schemas.openxmlformats.org/officeDocument/2006/relationships/image" Target="../media/image7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Product Laws of Exponents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MA.7.NSO.1.1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use the product of powers, power of a product, power of a power and identity laws to rewrite and evaluate a numerical expression.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bdfad0a4d6a24e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473708"/>
            <a:ext cx="679704" cy="390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60630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Between which two whole numbers is </a:t>
            </a:r>
          </a:p>
        </p:txBody>
      </p:sp>
      <p:pic>
        <p:nvPicPr>
          <p:cNvPr id="11" name="Picture 10" descr="77d9db560e6d39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0442" y="2086356"/>
            <a:ext cx="725424" cy="3901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525866" y="2052828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665476"/>
            <a:ext cx="1612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Solve  </a:t>
            </a:r>
          </a:p>
        </p:txBody>
      </p:sp>
      <p:pic>
        <p:nvPicPr>
          <p:cNvPr id="14" name="Picture 13" descr="e6d9f3b3b9bc147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9655" y="2781300"/>
            <a:ext cx="1392936" cy="2255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343656"/>
            <a:ext cx="21185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  </a:t>
            </a:r>
          </a:p>
        </p:txBody>
      </p:sp>
      <p:pic>
        <p:nvPicPr>
          <p:cNvPr id="16" name="Picture 15" descr="dec811195678918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5915" y="3300984"/>
            <a:ext cx="640080" cy="54254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bdfad0a4d6a24e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473708"/>
            <a:ext cx="679704" cy="390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37265" y="1440180"/>
            <a:ext cx="3800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60630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Between which two whole numbers is </a:t>
            </a:r>
          </a:p>
        </p:txBody>
      </p:sp>
      <p:pic>
        <p:nvPicPr>
          <p:cNvPr id="12" name="Picture 11" descr="77d9db560e6d39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0442" y="2086356"/>
            <a:ext cx="725424" cy="3901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525866" y="2052828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97977" y="2052828"/>
            <a:ext cx="13045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 and 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665476"/>
            <a:ext cx="1612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Solve  </a:t>
            </a:r>
          </a:p>
        </p:txBody>
      </p:sp>
      <p:pic>
        <p:nvPicPr>
          <p:cNvPr id="16" name="Picture 15" descr="e6d9f3b3b9bc147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9655" y="2781300"/>
            <a:ext cx="1392936" cy="22555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291231" y="2665476"/>
            <a:ext cx="9303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x = 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343656"/>
            <a:ext cx="21185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  </a:t>
            </a:r>
          </a:p>
        </p:txBody>
      </p:sp>
      <p:pic>
        <p:nvPicPr>
          <p:cNvPr id="19" name="Picture 18" descr="dec811195678918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5915" y="3300984"/>
            <a:ext cx="640080" cy="542544"/>
          </a:xfrm>
          <a:prstGeom prst="rect">
            <a:avLst/>
          </a:prstGeom>
        </p:spPr>
      </p:pic>
      <p:pic>
        <p:nvPicPr>
          <p:cNvPr id="20" name="Picture 19" descr="2579f76da37693b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44635" y="3300984"/>
            <a:ext cx="198120" cy="53949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A power is a shorthand for repeated multiplication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50392" y="1975104"/>
            <a:ext cx="10405872" cy="585216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057400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057400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0B5394"/>
                </a:solidFill>
                <a:latin typeface="Lexend"/>
              </a:rPr>
              <a:t>base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   —   the number used as a factor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0392" y="2706624"/>
            <a:ext cx="10405872" cy="585216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2788920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2788920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0B5394"/>
                </a:solidFill>
                <a:latin typeface="Lexend"/>
              </a:rPr>
              <a:t>exponent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   —   how many times the base is a factor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" y="3438144"/>
            <a:ext cx="10405872" cy="585216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3520439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1912" y="3520439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0B5394"/>
                </a:solidFill>
                <a:latin typeface="Lexend"/>
              </a:rPr>
              <a:t>power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   —   the whole thing, base and exponent together</a:t>
            </a:r>
          </a:p>
        </p:txBody>
      </p:sp>
      <p:pic>
        <p:nvPicPr>
          <p:cNvPr id="19" name="Picture 18" descr="4d4b8fabf53441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8067" y="4357116"/>
            <a:ext cx="2383536" cy="3352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01603" y="4296156"/>
            <a:ext cx="9552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</a:t>
            </a:r>
          </a:p>
        </p:txBody>
      </p:sp>
      <p:pic>
        <p:nvPicPr>
          <p:cNvPr id="21" name="Picture 20" descr="3fda2a639906429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708" y="4187952"/>
            <a:ext cx="2523744" cy="67360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Product of powers — same base, add the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42b4bcba7fe84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2776" y="1993392"/>
            <a:ext cx="4315968" cy="411480"/>
          </a:xfrm>
          <a:prstGeom prst="rect">
            <a:avLst/>
          </a:prstGeom>
        </p:spPr>
      </p:pic>
      <p:pic>
        <p:nvPicPr>
          <p:cNvPr id="11" name="Picture 10" descr="3565be77b64ee5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0812" y="2679192"/>
            <a:ext cx="3627120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307932" y="2656332"/>
            <a:ext cx="53099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— different bases, no shortcut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3387852"/>
            <a:ext cx="32037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Product of powers:  </a:t>
            </a:r>
          </a:p>
        </p:txBody>
      </p:sp>
      <p:pic>
        <p:nvPicPr>
          <p:cNvPr id="14" name="Picture 13" descr="968ec809d435da5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4105" y="3471672"/>
            <a:ext cx="2447544" cy="289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055363"/>
            <a:ext cx="29972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Check with values:  </a:t>
            </a:r>
          </a:p>
        </p:txBody>
      </p:sp>
      <p:pic>
        <p:nvPicPr>
          <p:cNvPr id="16" name="Picture 15" descr="d5d6c6f74431375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7685" y="4113275"/>
            <a:ext cx="3910583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Power of a product — the exponent goes to every factor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c44ef493e450a9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7068" y="1994916"/>
            <a:ext cx="8787384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2702052"/>
            <a:ext cx="33430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Power of a product:  </a:t>
            </a:r>
          </a:p>
        </p:txBody>
      </p:sp>
      <p:pic>
        <p:nvPicPr>
          <p:cNvPr id="12" name="Picture 11" descr="b9ea13f96cb17da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3484" y="2747772"/>
            <a:ext cx="2639568" cy="3657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41071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Works for a product only, never for a sum:</a:t>
            </a:r>
          </a:p>
        </p:txBody>
      </p:sp>
      <p:pic>
        <p:nvPicPr>
          <p:cNvPr id="14" name="Picture 13" descr="39ca05d2d51d13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4125468"/>
            <a:ext cx="3654552" cy="4084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642104" y="4101083"/>
            <a:ext cx="11807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 but   </a:t>
            </a:r>
          </a:p>
        </p:txBody>
      </p:sp>
      <p:pic>
        <p:nvPicPr>
          <p:cNvPr id="16" name="Picture 15" descr="d063d47dd555d85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5713" y="4125468"/>
            <a:ext cx="2779776" cy="40843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IV.  Power of a power, and the exponent 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325879" y="1993392"/>
          <a:ext cx="950976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4206240"/>
                <a:gridCol w="23774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1">
                          <a:solidFill>
                            <a:srgbClr val="1A1A1A"/>
                          </a:solidFill>
                          <a:latin typeface="Lexend"/>
                        </a:rPr>
                        <a:t>Power of a power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1">
                          <a:solidFill>
                            <a:srgbClr val="1A1A1A"/>
                          </a:solidFill>
                          <a:latin typeface="Lexend"/>
                        </a:rPr>
                        <a:t>Repeated multiplication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1">
                          <a:solidFill>
                            <a:srgbClr val="1A1A1A"/>
                          </a:solidFill>
                          <a:latin typeface="Lexend"/>
                        </a:rPr>
                        <a:t>Single power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(4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)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 · 4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 · 4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(10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)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 · 10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 · 10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 · 10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(3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)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3 · 3 · 3 · 3 · 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87552" y="3781044"/>
            <a:ext cx="30937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Power of a power:  </a:t>
            </a:r>
          </a:p>
        </p:txBody>
      </p:sp>
      <p:pic>
        <p:nvPicPr>
          <p:cNvPr id="12" name="Picture 11" descr="d8dde935facf94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4101" y="3828288"/>
            <a:ext cx="1978152" cy="3627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922253" y="3781044"/>
            <a:ext cx="2452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        Identity:  </a:t>
            </a:r>
          </a:p>
        </p:txBody>
      </p:sp>
      <p:pic>
        <p:nvPicPr>
          <p:cNvPr id="14" name="Picture 13" descr="c0cd50cdc3f1313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7259" y="3838956"/>
            <a:ext cx="972311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329b8ca23c9d75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2891" y="2138171"/>
            <a:ext cx="935736" cy="3413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1c20bafbdc63ca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791968" cy="341376"/>
          </a:xfrm>
          <a:prstGeom prst="rect">
            <a:avLst/>
          </a:prstGeom>
        </p:spPr>
      </p:pic>
      <p:pic>
        <p:nvPicPr>
          <p:cNvPr id="9" name="Picture 8" descr="7bb738bd6adb720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1371600" cy="335280"/>
          </a:xfrm>
          <a:prstGeom prst="rect">
            <a:avLst/>
          </a:prstGeom>
        </p:spPr>
      </p:pic>
      <p:pic>
        <p:nvPicPr>
          <p:cNvPr id="10" name="Picture 9" descr="a913e805eb4313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145536"/>
            <a:ext cx="1862328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243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b03341d68f8c14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351" y="1600200"/>
            <a:ext cx="1194816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5176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e5689ca8283150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827" y="1600200"/>
            <a:ext cx="1197864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5176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Which law? Then find the value.</a:t>
            </a:r>
          </a:p>
        </p:txBody>
      </p:sp>
      <p:pic>
        <p:nvPicPr>
          <p:cNvPr id="10" name="Picture 9" descr="bfd4a5c1b9d0cb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4796" y="3184762"/>
            <a:ext cx="2581656" cy="301752"/>
          </a:xfrm>
          <a:prstGeom prst="rect">
            <a:avLst/>
          </a:prstGeom>
        </p:spPr>
      </p:pic>
      <p:pic>
        <p:nvPicPr>
          <p:cNvPr id="11" name="Picture 10" descr="93c08fb8bb36cdb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4796" y="3724258"/>
            <a:ext cx="1197864" cy="3017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7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128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f74b6125835b47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5732" y="2103120"/>
            <a:ext cx="1210056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987870fb252ca50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005072" cy="414528"/>
          </a:xfrm>
          <a:prstGeom prst="rect">
            <a:avLst/>
          </a:prstGeom>
        </p:spPr>
      </p:pic>
      <p:pic>
        <p:nvPicPr>
          <p:cNvPr id="9" name="Picture 8" descr="c753a81ccef19f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9087"/>
            <a:ext cx="1670304" cy="414528"/>
          </a:xfrm>
          <a:prstGeom prst="rect">
            <a:avLst/>
          </a:prstGeom>
        </p:spPr>
      </p:pic>
      <p:pic>
        <p:nvPicPr>
          <p:cNvPr id="10" name="Picture 9" descr="da387a30282d427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97935"/>
            <a:ext cx="1679448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cfb8ebff7a58f4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7904" y="1600200"/>
            <a:ext cx="1505712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5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f91f6c751d4e98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7904" y="1600200"/>
            <a:ext cx="1505712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21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Which law? Then find the value.</a:t>
            </a:r>
          </a:p>
        </p:txBody>
      </p:sp>
      <p:pic>
        <p:nvPicPr>
          <p:cNvPr id="10" name="Picture 9" descr="9760ae71abb97b3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9204" y="3244198"/>
            <a:ext cx="3672840" cy="371856"/>
          </a:xfrm>
          <a:prstGeom prst="rect">
            <a:avLst/>
          </a:prstGeom>
        </p:spPr>
      </p:pic>
      <p:pic>
        <p:nvPicPr>
          <p:cNvPr id="11" name="Picture 10" descr="e55c874f9b6e927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9204" y="3783694"/>
            <a:ext cx="1670304" cy="3718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(−3)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729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b1e26e5bc6d682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827" y="2194560"/>
            <a:ext cx="1197864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a10b19c9014489f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0304" y="2103120"/>
            <a:ext cx="1200912" cy="420624"/>
          </a:xfrm>
          <a:prstGeom prst="rect">
            <a:avLst/>
          </a:prstGeom>
        </p:spPr>
      </p:pic>
      <p:pic>
        <p:nvPicPr>
          <p:cNvPr id="9" name="Picture 8" descr="c3ef13471fa147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7843" y="2878836"/>
            <a:ext cx="2578608" cy="304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04232" y="459790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24dca2f9e99e6f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4472" y="4663440"/>
            <a:ext cx="432816" cy="41757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4084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rectangle is  </a:t>
            </a:r>
          </a:p>
        </p:txBody>
      </p:sp>
      <p:pic>
        <p:nvPicPr>
          <p:cNvPr id="9" name="Picture 8" descr="be331936b361ba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5734" y="1946147"/>
            <a:ext cx="286512" cy="268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92246" y="1851660"/>
            <a:ext cx="37012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centimeters long and  </a:t>
            </a:r>
          </a:p>
        </p:txBody>
      </p:sp>
      <p:pic>
        <p:nvPicPr>
          <p:cNvPr id="11" name="Picture 10" descr="d631b8b2f265b39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6318" y="1943100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30638" y="1851660"/>
            <a:ext cx="30026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centimeters wide.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perimeter is 40 centimeters.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area of the rectangle, in square centimeters?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4084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rectangle is  </a:t>
            </a:r>
          </a:p>
        </p:txBody>
      </p:sp>
      <p:pic>
        <p:nvPicPr>
          <p:cNvPr id="9" name="Picture 8" descr="c15b55b0bc0ad09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5734" y="1944623"/>
            <a:ext cx="289560" cy="271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95294" y="1851660"/>
            <a:ext cx="37012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centimeters long and  </a:t>
            </a:r>
          </a:p>
        </p:txBody>
      </p:sp>
      <p:pic>
        <p:nvPicPr>
          <p:cNvPr id="11" name="Picture 10" descr="2187ef2d8316ce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9366" y="1943100"/>
            <a:ext cx="277368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36734" y="1851660"/>
            <a:ext cx="30026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centimeters wide.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perimeter is 40 centimeters.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area of the rectangle, in square centimeters?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4522" y="3661376"/>
            <a:ext cx="34096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Area = length × width</a:t>
            </a:r>
          </a:p>
        </p:txBody>
      </p:sp>
      <p:pic>
        <p:nvPicPr>
          <p:cNvPr id="16" name="Picture 15" descr="00eded558c78f14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9386" y="4263356"/>
            <a:ext cx="2194560" cy="259080"/>
          </a:xfrm>
          <a:prstGeom prst="rect">
            <a:avLst/>
          </a:prstGeom>
        </p:spPr>
      </p:pic>
      <p:pic>
        <p:nvPicPr>
          <p:cNvPr id="17" name="Picture 16" descr="8539984585d0f2a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9386" y="4766276"/>
            <a:ext cx="890016" cy="2590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23871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64 square centimeters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613e669cfd3b6d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5231" y="2194560"/>
            <a:ext cx="1591056" cy="5059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7c404630188da2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3707" y="2103120"/>
            <a:ext cx="1594104" cy="509016"/>
          </a:xfrm>
          <a:prstGeom prst="rect">
            <a:avLst/>
          </a:prstGeom>
        </p:spPr>
      </p:pic>
      <p:pic>
        <p:nvPicPr>
          <p:cNvPr id="9" name="Picture 8" descr="c7daae656677ec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6308" y="2935224"/>
            <a:ext cx="5818632" cy="3688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27,000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ef29e4c51122a8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5459" y="2194560"/>
            <a:ext cx="990599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8eed60f03f689e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3936" y="2103120"/>
            <a:ext cx="993648" cy="509016"/>
          </a:xfrm>
          <a:prstGeom prst="rect">
            <a:avLst/>
          </a:prstGeom>
        </p:spPr>
      </p:pic>
      <p:pic>
        <p:nvPicPr>
          <p:cNvPr id="9" name="Picture 8" descr="a192ef6ffd071b6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3667" y="2933699"/>
            <a:ext cx="2343912" cy="3718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05755" y="460095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4d9300a64068138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5996" y="4663440"/>
            <a:ext cx="429768" cy="423672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8bbe3445ce6255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1347" y="2194560"/>
            <a:ext cx="1258824" cy="417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4073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070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16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070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928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928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9869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76d2e0b73392877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1347" y="2103120"/>
            <a:ext cx="1258824" cy="417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4929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3a724d11a6d468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9743" y="3452191"/>
            <a:ext cx="2654808" cy="3017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4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f79d3fb964505a9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9176" y="2194560"/>
            <a:ext cx="963167" cy="502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2608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923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923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78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78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8403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9039f0d29f00b5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0699" y="2103120"/>
            <a:ext cx="960120" cy="5059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376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fbd677bc8179407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8135" y="3505531"/>
            <a:ext cx="2471928" cy="3718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d33980bdb1b2c9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00" y="2194560"/>
            <a:ext cx="2407920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1fa821c78ab6d2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3751" y="2103120"/>
            <a:ext cx="2414016" cy="512064"/>
          </a:xfrm>
          <a:prstGeom prst="rect">
            <a:avLst/>
          </a:prstGeom>
        </p:spPr>
      </p:pic>
      <p:pic>
        <p:nvPicPr>
          <p:cNvPr id="9" name="Picture 8" descr="f1691282fd903b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5447" y="2936748"/>
            <a:ext cx="4340352" cy="371856"/>
          </a:xfrm>
          <a:prstGeom prst="rect">
            <a:avLst/>
          </a:prstGeom>
        </p:spPr>
      </p:pic>
      <p:pic>
        <p:nvPicPr>
          <p:cNvPr id="10" name="Picture 9" descr="e24b5ec6ef9ddd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65447" y="3477768"/>
            <a:ext cx="1673352" cy="3688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−27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3d20fb6b472c53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8803" y="2194560"/>
            <a:ext cx="2343912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pic>
        <p:nvPicPr>
          <p:cNvPr id="8" name="Picture 7" descr="9bac66b5c58a7c0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7" y="2103120"/>
            <a:ext cx="2340864" cy="841248"/>
          </a:xfrm>
          <a:prstGeom prst="rect">
            <a:avLst/>
          </a:prstGeom>
        </p:spPr>
      </p:pic>
      <p:pic>
        <p:nvPicPr>
          <p:cNvPr id="9" name="Picture 8" descr="efcb7ed02df521e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6595" y="3246120"/>
            <a:ext cx="4264152" cy="612648"/>
          </a:xfrm>
          <a:prstGeom prst="rect">
            <a:avLst/>
          </a:prstGeom>
        </p:spPr>
      </p:pic>
      <p:pic>
        <p:nvPicPr>
          <p:cNvPr id="10" name="Picture 9" descr="2365def5832106f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6595" y="3986783"/>
            <a:ext cx="1438656" cy="6126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58511" y="488442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2" name="Picture 11" descr="74507af7579a500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8751" y="4736592"/>
            <a:ext cx="524256" cy="844296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Aiyanna says she can use the power of a product law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24842" y="2746579"/>
            <a:ext cx="22220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to evaluate  </a:t>
            </a:r>
          </a:p>
        </p:txBody>
      </p:sp>
      <p:pic>
        <p:nvPicPr>
          <p:cNvPr id="10" name="Picture 9" descr="2ac5303067d16b6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9698" y="2770963"/>
            <a:ext cx="1697736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07434" y="2746579"/>
            <a:ext cx="24664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  Is she right?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Aiyanna says she can use the power of a product law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23318" y="2655139"/>
            <a:ext cx="22220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to evaluate  </a:t>
            </a:r>
          </a:p>
        </p:txBody>
      </p:sp>
      <p:pic>
        <p:nvPicPr>
          <p:cNvPr id="10" name="Picture 9" descr="d92052160a3b4a7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8174" y="2679523"/>
            <a:ext cx="1700784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08958" y="2655139"/>
            <a:ext cx="24664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  Is she right?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86746" y="3414091"/>
            <a:ext cx="73251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Inside the parentheses is a sum, not a product.</a:t>
            </a:r>
          </a:p>
        </p:txBody>
      </p:sp>
      <p:pic>
        <p:nvPicPr>
          <p:cNvPr id="13" name="Picture 12" descr="5256d7b7f99b417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1610" y="4013023"/>
            <a:ext cx="1417320" cy="265176"/>
          </a:xfrm>
          <a:prstGeom prst="rect">
            <a:avLst/>
          </a:prstGeom>
        </p:spPr>
      </p:pic>
      <p:pic>
        <p:nvPicPr>
          <p:cNvPr id="14" name="Picture 13" descr="5fe753b3272aace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1610" y="4522039"/>
            <a:ext cx="1018032" cy="2529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99143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(9 + (−3))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6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216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5044"/>
            <a:ext cx="31696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as one power.  </a:t>
            </a:r>
          </a:p>
        </p:txBody>
      </p:sp>
      <p:pic>
        <p:nvPicPr>
          <p:cNvPr id="10" name="Picture 9" descr="e58cd8710f0bf3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6963" y="1588008"/>
            <a:ext cx="780288" cy="2712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89403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3" name="Picture 12" descr="4b095ad4a4725d9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7878" y="2180844"/>
            <a:ext cx="765048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683763"/>
            <a:ext cx="31696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as one power.  </a:t>
            </a:r>
          </a:p>
        </p:txBody>
      </p:sp>
      <p:pic>
        <p:nvPicPr>
          <p:cNvPr id="16" name="Picture 15" descr="99f4e10d55b01f9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6963" y="2746247"/>
            <a:ext cx="609600" cy="3322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278123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9" name="Picture 18" descr="3825344689b6a43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7878" y="3339083"/>
            <a:ext cx="886968" cy="3352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60120" y="38724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872483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22" name="Picture 21" descr="bb914d77e9f3c46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77878" y="3933444"/>
            <a:ext cx="1591056" cy="3352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60120" y="446684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466844"/>
            <a:ext cx="26841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25" name="Picture 24" descr="6d78c2be12150b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01434" y="4611624"/>
            <a:ext cx="146304" cy="1676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247738" y="4466844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 </a:t>
            </a:r>
          </a:p>
        </p:txBody>
      </p:sp>
      <p:pic>
        <p:nvPicPr>
          <p:cNvPr id="27" name="Picture 26" descr="dc32ec21fb3f891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52689" y="4556760"/>
            <a:ext cx="1392936" cy="277368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Evaluate powers — SZQ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Multiplication with exponents — 5SK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Power rule — 8DA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495544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Understanding exponents — BFA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