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Relationship Id="rId4" Type="http://schemas.openxmlformats.org/officeDocument/2006/relationships/image" Target="../media/image5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Relationship Id="rId6" Type="http://schemas.openxmlformats.org/officeDocument/2006/relationships/image" Target="../media/image74.png"/><Relationship Id="rId7" Type="http://schemas.openxmlformats.org/officeDocument/2006/relationships/image" Target="../media/image75.png"/><Relationship Id="rId8" Type="http://schemas.openxmlformats.org/officeDocument/2006/relationships/image" Target="../media/image7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1488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20" b="0" i="0">
                <a:solidFill>
                  <a:srgbClr val="6B6B6B"/>
                </a:solidFill>
                <a:latin typeface="Lexend"/>
              </a:rPr>
              <a:t>GRADE 7 ACCELERATED  ·  UNIT 3  ·  LESSON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5054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229" b="1" i="0">
                <a:solidFill>
                  <a:srgbClr val="1A1A1A"/>
                </a:solidFill>
                <a:latin typeface="Lexend"/>
              </a:rPr>
              <a:t>Product Laws of Exponents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7124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7947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9593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20" b="1" i="0">
                <a:solidFill>
                  <a:srgbClr val="1A1A1A"/>
                </a:solidFill>
                <a:latin typeface="Lexend"/>
              </a:rPr>
              <a:t>MA.7.NSO.1.1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976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810" b="0" i="0">
                <a:solidFill>
                  <a:srgbClr val="1A1A1A"/>
                </a:solidFill>
                <a:latin typeface="Lexend"/>
              </a:rPr>
              <a:t>I can use the product of powers, power of a product, power of a power and identity laws to rewrite and evaluate a numerical expression.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bdfad0a4d6a24e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473708"/>
            <a:ext cx="679704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4519" y="2052828"/>
            <a:ext cx="60630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Between which two whole numbers is </a:t>
            </a:r>
          </a:p>
        </p:txBody>
      </p:sp>
      <p:pic>
        <p:nvPicPr>
          <p:cNvPr id="11" name="Picture 10" descr="77d9db560e6d3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442" y="2086356"/>
            <a:ext cx="725424" cy="39014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25866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665476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4" name="Picture 13" descr="e6d9f3b3b9bc14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2781300"/>
            <a:ext cx="1392936" cy="22555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343656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6" name="Picture 15" descr="dec81119567891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300984"/>
            <a:ext cx="640080" cy="5425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440180"/>
            <a:ext cx="67156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1.   </a:t>
            </a:r>
          </a:p>
        </p:txBody>
      </p:sp>
      <p:pic>
        <p:nvPicPr>
          <p:cNvPr id="9" name="Picture 8" descr="bdfad0a4d6a24e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21" y="1473708"/>
            <a:ext cx="679704" cy="3901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37265" y="1440180"/>
            <a:ext cx="3800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052828"/>
            <a:ext cx="606308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2.   Between which two whole numbers is </a:t>
            </a:r>
          </a:p>
        </p:txBody>
      </p:sp>
      <p:pic>
        <p:nvPicPr>
          <p:cNvPr id="12" name="Picture 11" descr="77d9db560e6d39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442" y="2086356"/>
            <a:ext cx="725424" cy="39014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25866" y="2052828"/>
            <a:ext cx="36063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97977" y="2052828"/>
            <a:ext cx="13045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6 and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665476"/>
            <a:ext cx="16122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3.   Solve  </a:t>
            </a:r>
          </a:p>
        </p:txBody>
      </p:sp>
      <p:pic>
        <p:nvPicPr>
          <p:cNvPr id="16" name="Picture 15" descr="e6d9f3b3b9bc14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655" y="2781300"/>
            <a:ext cx="1392936" cy="2255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291231" y="2665476"/>
            <a:ext cx="93033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9E1B32"/>
                </a:solidFill>
                <a:latin typeface="Lexend"/>
              </a:rPr>
              <a:t>x =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343656"/>
            <a:ext cx="211855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4.   Evaluate  </a:t>
            </a:r>
          </a:p>
        </p:txBody>
      </p:sp>
      <p:pic>
        <p:nvPicPr>
          <p:cNvPr id="19" name="Picture 18" descr="dec811195678918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5915" y="3300984"/>
            <a:ext cx="640080" cy="542544"/>
          </a:xfrm>
          <a:prstGeom prst="rect">
            <a:avLst/>
          </a:prstGeom>
        </p:spPr>
      </p:pic>
      <p:pic>
        <p:nvPicPr>
          <p:cNvPr id="20" name="Picture 19" descr="2579f76da37693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4635" y="3300984"/>
            <a:ext cx="198120" cy="5394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I.  A power is a shorthand for repeated multiplication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50392" y="1975104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2057400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0B5394"/>
                </a:solidFill>
                <a:latin typeface="Lexend"/>
              </a:rPr>
              <a:t>base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   —   the number used as a factor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0392" y="2706624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788920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B.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2788920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0B5394"/>
                </a:solidFill>
                <a:latin typeface="Lexend"/>
              </a:rPr>
              <a:t>exponent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   —   how many times the base is a factor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0392" y="3438144"/>
            <a:ext cx="10405872" cy="585216"/>
          </a:xfrm>
          <a:prstGeom prst="rect">
            <a:avLst/>
          </a:prstGeom>
          <a:solidFill>
            <a:srgbClr val="F2F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520439"/>
            <a:ext cx="548640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81912" y="3520439"/>
            <a:ext cx="9537192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0B5394"/>
                </a:solidFill>
                <a:latin typeface="Lexend"/>
              </a:rPr>
              <a:t>power</a:t>
            </a:r>
            <a:r>
              <a:rPr sz="2180" b="0" i="0">
                <a:solidFill>
                  <a:srgbClr val="1A1A1A"/>
                </a:solidFill>
                <a:latin typeface="Lexend"/>
              </a:rPr>
              <a:t>   —   the whole thing, base and exponent together</a:t>
            </a:r>
          </a:p>
        </p:txBody>
      </p:sp>
      <p:pic>
        <p:nvPicPr>
          <p:cNvPr id="19" name="Picture 18" descr="4d4b8fabf5344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067" y="4357116"/>
            <a:ext cx="2383536" cy="335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01603" y="4296156"/>
            <a:ext cx="9552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     </a:t>
            </a:r>
          </a:p>
        </p:txBody>
      </p:sp>
      <p:pic>
        <p:nvPicPr>
          <p:cNvPr id="21" name="Picture 20" descr="3fda2a639906429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708" y="4187952"/>
            <a:ext cx="2523744" cy="6736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II.  Product of powers — same base, add the exponents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542b4bcba7fe84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6" y="1993392"/>
            <a:ext cx="4315968" cy="411480"/>
          </a:xfrm>
          <a:prstGeom prst="rect">
            <a:avLst/>
          </a:prstGeom>
        </p:spPr>
      </p:pic>
      <p:pic>
        <p:nvPicPr>
          <p:cNvPr id="11" name="Picture 10" descr="3565be77b64ee5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812" y="2679192"/>
            <a:ext cx="362712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07932" y="2656332"/>
            <a:ext cx="53099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   — different bases, no shortcut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387852"/>
            <a:ext cx="320371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Product of powers:  </a:t>
            </a:r>
          </a:p>
        </p:txBody>
      </p:sp>
      <p:pic>
        <p:nvPicPr>
          <p:cNvPr id="14" name="Picture 13" descr="968ec809d435da5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105" y="3471672"/>
            <a:ext cx="2447544" cy="289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055363"/>
            <a:ext cx="299729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Check with values:  </a:t>
            </a:r>
          </a:p>
        </p:txBody>
      </p:sp>
      <p:pic>
        <p:nvPicPr>
          <p:cNvPr id="16" name="Picture 15" descr="d5d6c6f7443137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7685" y="4113275"/>
            <a:ext cx="3910583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III.  Power of a product — the exponent goes to every factor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c44ef493e450a9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068" y="1994916"/>
            <a:ext cx="8787384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7552" y="2702052"/>
            <a:ext cx="334309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Power of a product:  </a:t>
            </a:r>
          </a:p>
        </p:txBody>
      </p:sp>
      <p:pic>
        <p:nvPicPr>
          <p:cNvPr id="12" name="Picture 11" descr="b9ea13f96cb17d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484" y="2747772"/>
            <a:ext cx="2639568" cy="3657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41071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Works for a product only, never for a sum:</a:t>
            </a:r>
          </a:p>
        </p:txBody>
      </p:sp>
      <p:pic>
        <p:nvPicPr>
          <p:cNvPr id="14" name="Picture 13" descr="39ca05d2d51d13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125468"/>
            <a:ext cx="3654552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642104" y="4101083"/>
            <a:ext cx="118076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   but   </a:t>
            </a:r>
          </a:p>
        </p:txBody>
      </p:sp>
      <p:pic>
        <p:nvPicPr>
          <p:cNvPr id="16" name="Picture 15" descr="d063d47dd555d85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5713" y="4125468"/>
            <a:ext cx="2779776" cy="40843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89888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80" b="1" i="0">
                <a:solidFill>
                  <a:srgbClr val="1A1A1A"/>
                </a:solidFill>
                <a:latin typeface="Lexend"/>
              </a:rPr>
              <a:t>IV.  Power of a power, and the exponent 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1828800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325879" y="1993392"/>
          <a:ext cx="9509760" cy="1536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4206240"/>
                <a:gridCol w="237744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1">
                          <a:solidFill>
                            <a:srgbClr val="1A1A1A"/>
                          </a:solidFill>
                          <a:latin typeface="Lexend"/>
                        </a:rPr>
                        <a:t>Power of a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1">
                          <a:solidFill>
                            <a:srgbClr val="1A1A1A"/>
                          </a:solidFill>
                          <a:latin typeface="Lexend"/>
                        </a:rPr>
                        <a:t>Repeated multiplication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1">
                          <a:solidFill>
                            <a:srgbClr val="1A1A1A"/>
                          </a:solidFill>
                          <a:latin typeface="Lexend"/>
                        </a:rPr>
                        <a:t>Single power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(4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 · 4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 · 4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(10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 · 10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 · 10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 · 10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10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16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(3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1</a:t>
                      </a:r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)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3 · 3 · 3 · 3 · 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10" b="0">
                          <a:solidFill>
                            <a:srgbClr val="1A1A1A"/>
                          </a:solidFill>
                          <a:latin typeface="Lexend"/>
                        </a:rPr>
                        <a:t>3</a:t>
                      </a:r>
                      <a:r>
                        <a:rPr sz="1610" b="0" baseline="30000">
                          <a:solidFill>
                            <a:srgbClr val="1A1A1A"/>
                          </a:solidFill>
                          <a:latin typeface="Lexend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7552" y="3781044"/>
            <a:ext cx="30937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Power of a power:  </a:t>
            </a:r>
          </a:p>
        </p:txBody>
      </p:sp>
      <p:pic>
        <p:nvPicPr>
          <p:cNvPr id="12" name="Picture 11" descr="d8dde935facf94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4101" y="3828288"/>
            <a:ext cx="1978152" cy="3627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22253" y="3781044"/>
            <a:ext cx="24521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1" i="0">
                <a:solidFill>
                  <a:srgbClr val="1A1A1A"/>
                </a:solidFill>
                <a:latin typeface="Lexend"/>
              </a:rPr>
              <a:t>        Identity:  </a:t>
            </a:r>
          </a:p>
        </p:txBody>
      </p:sp>
      <p:pic>
        <p:nvPicPr>
          <p:cNvPr id="14" name="Picture 13" descr="c0cd50cdc3f1313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7259" y="3838956"/>
            <a:ext cx="972311" cy="341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8</a:t>
            </a:r>
          </a:p>
        </p:txBody>
      </p:sp>
      <p:pic>
        <p:nvPicPr>
          <p:cNvPr id="8" name="Picture 7" descr="329b8ca23c9d75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891" y="2138171"/>
            <a:ext cx="935736" cy="3413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9</a:t>
            </a:r>
          </a:p>
        </p:txBody>
      </p:sp>
      <p:pic>
        <p:nvPicPr>
          <p:cNvPr id="8" name="Picture 7" descr="1c20bafbdc63ca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2791968" cy="341376"/>
          </a:xfrm>
          <a:prstGeom prst="rect">
            <a:avLst/>
          </a:prstGeom>
        </p:spPr>
      </p:pic>
      <p:pic>
        <p:nvPicPr>
          <p:cNvPr id="9" name="Picture 8" descr="7bb738bd6adb720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535936"/>
            <a:ext cx="1371600" cy="335280"/>
          </a:xfrm>
          <a:prstGeom prst="rect">
            <a:avLst/>
          </a:prstGeom>
        </p:spPr>
      </p:pic>
      <p:pic>
        <p:nvPicPr>
          <p:cNvPr id="10" name="Picture 9" descr="a913e805eb43139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45536"/>
            <a:ext cx="1862328" cy="2804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243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10</a:t>
            </a:r>
          </a:p>
        </p:txBody>
      </p:sp>
      <p:pic>
        <p:nvPicPr>
          <p:cNvPr id="8" name="Picture 7" descr="b03341d68f8c14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351" y="1600200"/>
            <a:ext cx="1194816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5176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11</a:t>
            </a:r>
          </a:p>
        </p:txBody>
      </p:sp>
      <p:pic>
        <p:nvPicPr>
          <p:cNvPr id="8" name="Picture 7" descr="e5689ca8283150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827" y="1600200"/>
            <a:ext cx="1197864" cy="4145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51764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  <p:pic>
        <p:nvPicPr>
          <p:cNvPr id="10" name="Picture 9" descr="bfd4a5c1b9d0cb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796" y="3184762"/>
            <a:ext cx="2581656" cy="301752"/>
          </a:xfrm>
          <a:prstGeom prst="rect">
            <a:avLst/>
          </a:prstGeom>
        </p:spPr>
      </p:pic>
      <p:pic>
        <p:nvPicPr>
          <p:cNvPr id="11" name="Picture 10" descr="93c08fb8bb36cdb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796" y="3724258"/>
            <a:ext cx="1197864" cy="30175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7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128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12</a:t>
            </a:r>
          </a:p>
        </p:txBody>
      </p:sp>
      <p:pic>
        <p:nvPicPr>
          <p:cNvPr id="8" name="Picture 7" descr="f74b6125835b47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5732" y="2103120"/>
            <a:ext cx="1210056" cy="4114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13</a:t>
            </a:r>
          </a:p>
        </p:txBody>
      </p:sp>
      <p:pic>
        <p:nvPicPr>
          <p:cNvPr id="8" name="Picture 7" descr="987870fb252ca50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005072" cy="414528"/>
          </a:xfrm>
          <a:prstGeom prst="rect">
            <a:avLst/>
          </a:prstGeom>
        </p:spPr>
      </p:pic>
      <p:pic>
        <p:nvPicPr>
          <p:cNvPr id="9" name="Picture 8" descr="c753a81ccef19f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9087"/>
            <a:ext cx="1670304" cy="414528"/>
          </a:xfrm>
          <a:prstGeom prst="rect">
            <a:avLst/>
          </a:prstGeom>
        </p:spPr>
      </p:pic>
      <p:pic>
        <p:nvPicPr>
          <p:cNvPr id="10" name="Picture 9" descr="da387a30282d427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97935"/>
            <a:ext cx="1679448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64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14</a:t>
            </a:r>
          </a:p>
        </p:txBody>
      </p:sp>
      <p:pic>
        <p:nvPicPr>
          <p:cNvPr id="8" name="Picture 7" descr="cfb8ebff7a58f4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904" y="1600200"/>
            <a:ext cx="1505712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518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15</a:t>
            </a:r>
          </a:p>
        </p:txBody>
      </p:sp>
      <p:pic>
        <p:nvPicPr>
          <p:cNvPr id="8" name="Picture 7" descr="f91f6c751d4e98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7904" y="1600200"/>
            <a:ext cx="1505712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61213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80" b="1" i="0">
                <a:solidFill>
                  <a:srgbClr val="1A1A1A"/>
                </a:solidFill>
                <a:latin typeface="Lexend"/>
              </a:rPr>
              <a:t>Which law? Then find the value.</a:t>
            </a:r>
          </a:p>
        </p:txBody>
      </p:sp>
      <p:pic>
        <p:nvPicPr>
          <p:cNvPr id="10" name="Picture 9" descr="9760ae71abb97b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9204" y="3244198"/>
            <a:ext cx="3672840" cy="371856"/>
          </a:xfrm>
          <a:prstGeom prst="rect">
            <a:avLst/>
          </a:prstGeom>
        </p:spPr>
      </p:pic>
      <p:pic>
        <p:nvPicPr>
          <p:cNvPr id="11" name="Picture 10" descr="e55c874f9b6e92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9204" y="3783694"/>
            <a:ext cx="1670304" cy="37185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(−3)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729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16</a:t>
            </a:r>
          </a:p>
        </p:txBody>
      </p:sp>
      <p:pic>
        <p:nvPicPr>
          <p:cNvPr id="8" name="Picture 7" descr="b1e26e5bc6d68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827" y="2194560"/>
            <a:ext cx="1197864" cy="4206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17</a:t>
            </a:r>
          </a:p>
        </p:txBody>
      </p:sp>
      <p:pic>
        <p:nvPicPr>
          <p:cNvPr id="8" name="Picture 7" descr="a10b19c9014489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0304" y="2103120"/>
            <a:ext cx="1200912" cy="420624"/>
          </a:xfrm>
          <a:prstGeom prst="rect">
            <a:avLst/>
          </a:prstGeom>
        </p:spPr>
      </p:pic>
      <p:pic>
        <p:nvPicPr>
          <p:cNvPr id="9" name="Picture 8" descr="c3ef13471fa147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7843" y="2878836"/>
            <a:ext cx="2578608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04232" y="4597908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24dca2f9e99e6f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4472" y="4663440"/>
            <a:ext cx="432816" cy="4175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4084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rectangle is  </a:t>
            </a:r>
          </a:p>
        </p:txBody>
      </p:sp>
      <p:pic>
        <p:nvPicPr>
          <p:cNvPr id="9" name="Picture 8" descr="be331936b361ba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734" y="1946147"/>
            <a:ext cx="286512" cy="2682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92246" y="1851660"/>
            <a:ext cx="37012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 long and  </a:t>
            </a:r>
          </a:p>
        </p:txBody>
      </p:sp>
      <p:pic>
        <p:nvPicPr>
          <p:cNvPr id="11" name="Picture 10" descr="d631b8b2f265b39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318" y="1943100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30638" y="1851660"/>
            <a:ext cx="3002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 wide.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perimeter is 40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area of the rectangle, in square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51660"/>
            <a:ext cx="240845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A rectangle is  </a:t>
            </a:r>
          </a:p>
        </p:txBody>
      </p:sp>
      <p:pic>
        <p:nvPicPr>
          <p:cNvPr id="9" name="Picture 8" descr="c15b55b0bc0ad0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734" y="1944623"/>
            <a:ext cx="289560" cy="271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95294" y="1851660"/>
            <a:ext cx="37012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 long and  </a:t>
            </a:r>
          </a:p>
        </p:txBody>
      </p:sp>
      <p:pic>
        <p:nvPicPr>
          <p:cNvPr id="11" name="Picture 10" descr="2187ef2d8316ce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366" y="1943100"/>
            <a:ext cx="277368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636734" y="1851660"/>
            <a:ext cx="300263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  centimeters wide.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0" i="0">
                <a:solidFill>
                  <a:srgbClr val="1A1A1A"/>
                </a:solidFill>
                <a:latin typeface="Lexend"/>
              </a:rPr>
              <a:t>Its perimeter is 40 centimeters.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26266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What is the area of the rectangle, in square centimeters?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4522" y="3661376"/>
            <a:ext cx="340963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Area = length × width</a:t>
            </a:r>
          </a:p>
        </p:txBody>
      </p:sp>
      <p:pic>
        <p:nvPicPr>
          <p:cNvPr id="16" name="Picture 15" descr="00eded558c78f14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9386" y="4263356"/>
            <a:ext cx="2194560" cy="259080"/>
          </a:xfrm>
          <a:prstGeom prst="rect">
            <a:avLst/>
          </a:prstGeom>
        </p:spPr>
      </p:pic>
      <p:pic>
        <p:nvPicPr>
          <p:cNvPr id="17" name="Picture 16" descr="8539984585d0f2a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9386" y="4766276"/>
            <a:ext cx="890016" cy="2590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7240" y="5238716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64 square centimeters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20</a:t>
            </a:r>
          </a:p>
        </p:txBody>
      </p:sp>
      <p:pic>
        <p:nvPicPr>
          <p:cNvPr id="8" name="Picture 7" descr="5affe015bded252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99" y="2194560"/>
            <a:ext cx="1341120" cy="505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21</a:t>
            </a:r>
          </a:p>
        </p:txBody>
      </p:sp>
      <p:pic>
        <p:nvPicPr>
          <p:cNvPr id="8" name="Picture 7" descr="b79ccee972120d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199" y="2103120"/>
            <a:ext cx="1341120" cy="509016"/>
          </a:xfrm>
          <a:prstGeom prst="rect">
            <a:avLst/>
          </a:prstGeom>
        </p:spPr>
      </p:pic>
      <p:pic>
        <p:nvPicPr>
          <p:cNvPr id="9" name="Picture 8" descr="40c6ca452737ffb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0375" y="2935224"/>
            <a:ext cx="4730496" cy="3688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1000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22</a:t>
            </a:r>
          </a:p>
        </p:txBody>
      </p:sp>
      <p:pic>
        <p:nvPicPr>
          <p:cNvPr id="8" name="Picture 7" descr="ef29e4c51122a8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459" y="2194560"/>
            <a:ext cx="990599" cy="5090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23</a:t>
            </a:r>
          </a:p>
        </p:txBody>
      </p:sp>
      <p:pic>
        <p:nvPicPr>
          <p:cNvPr id="8" name="Picture 7" descr="8eed60f03f689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3936" y="2103120"/>
            <a:ext cx="993648" cy="509016"/>
          </a:xfrm>
          <a:prstGeom prst="rect">
            <a:avLst/>
          </a:prstGeom>
        </p:spPr>
      </p:pic>
      <p:pic>
        <p:nvPicPr>
          <p:cNvPr id="9" name="Picture 8" descr="a192ef6ffd071b6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667" y="2933699"/>
            <a:ext cx="2343912" cy="3718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05755" y="4600956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1" name="Picture 10" descr="4d9300a64068138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5996" y="4663440"/>
            <a:ext cx="429768" cy="42367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24</a:t>
            </a:r>
          </a:p>
        </p:txBody>
      </p:sp>
      <p:pic>
        <p:nvPicPr>
          <p:cNvPr id="8" name="Picture 7" descr="8bbe3445ce6255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47" y="2194560"/>
            <a:ext cx="1258824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40736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070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16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070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8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1928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192855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98695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25</a:t>
            </a:r>
          </a:p>
        </p:txBody>
      </p:sp>
      <p:pic>
        <p:nvPicPr>
          <p:cNvPr id="8" name="Picture 7" descr="76d2e0b73392877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1347" y="2103120"/>
            <a:ext cx="1258824" cy="4175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749295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3a724d11a6d468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3" y="3452191"/>
            <a:ext cx="2654808" cy="301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D — 4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26</a:t>
            </a:r>
          </a:p>
        </p:txBody>
      </p:sp>
      <p:pic>
        <p:nvPicPr>
          <p:cNvPr id="8" name="Picture 7" descr="086b323a5a1e494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367" y="2194560"/>
            <a:ext cx="938784" cy="505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9291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5954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A.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5954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B.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4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281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C.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28124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280" b="1" i="0">
                <a:solidFill>
                  <a:srgbClr val="1A1A1A"/>
                </a:solidFill>
                <a:latin typeface="Lexend"/>
              </a:rPr>
              <a:t>D.   </a:t>
            </a:r>
            <a:r>
              <a:rPr sz="2280" b="0" i="0">
                <a:solidFill>
                  <a:srgbClr val="1A1A1A"/>
                </a:solidFill>
                <a:latin typeface="Lexend"/>
              </a:rPr>
              <a:t>2</a:t>
            </a:r>
            <a:r>
              <a:rPr sz="2280" b="0" i="0" baseline="30000">
                <a:solidFill>
                  <a:srgbClr val="1A1A1A"/>
                </a:solidFill>
                <a:latin typeface="Lexend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8708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27</a:t>
            </a:r>
          </a:p>
        </p:txBody>
      </p:sp>
      <p:pic>
        <p:nvPicPr>
          <p:cNvPr id="8" name="Picture 7" descr="9a96c530649f2cb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9844" y="2103120"/>
            <a:ext cx="941832" cy="5059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283768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Which expression is equivalent?</a:t>
            </a:r>
          </a:p>
        </p:txBody>
      </p:sp>
      <p:pic>
        <p:nvPicPr>
          <p:cNvPr id="10" name="Picture 9" descr="5669e1447e03fc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383" y="3505531"/>
            <a:ext cx="2316480" cy="3718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C — 2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28</a:t>
            </a:r>
          </a:p>
        </p:txBody>
      </p:sp>
      <p:pic>
        <p:nvPicPr>
          <p:cNvPr id="8" name="Picture 7" descr="d33980bdb1b2c9a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2194560"/>
            <a:ext cx="2407920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29</a:t>
            </a:r>
          </a:p>
        </p:txBody>
      </p:sp>
      <p:pic>
        <p:nvPicPr>
          <p:cNvPr id="8" name="Picture 7" descr="1fa821c78ab6d2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1" y="2103120"/>
            <a:ext cx="2414016" cy="512064"/>
          </a:xfrm>
          <a:prstGeom prst="rect">
            <a:avLst/>
          </a:prstGeom>
        </p:spPr>
      </p:pic>
      <p:pic>
        <p:nvPicPr>
          <p:cNvPr id="9" name="Picture 8" descr="f1691282fd903b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5447" y="2936748"/>
            <a:ext cx="4340352" cy="371856"/>
          </a:xfrm>
          <a:prstGeom prst="rect">
            <a:avLst/>
          </a:prstGeom>
        </p:spPr>
      </p:pic>
      <p:pic>
        <p:nvPicPr>
          <p:cNvPr id="10" name="Picture 9" descr="e24b5ec6ef9ddd3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447" y="3477768"/>
            <a:ext cx="1673352" cy="3688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−27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30</a:t>
            </a:r>
          </a:p>
        </p:txBody>
      </p:sp>
      <p:pic>
        <p:nvPicPr>
          <p:cNvPr id="8" name="Picture 7" descr="3d20fb6b472c53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803" y="2194560"/>
            <a:ext cx="2343912" cy="8412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Answer it.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31</a:t>
            </a:r>
          </a:p>
        </p:txBody>
      </p:sp>
      <p:pic>
        <p:nvPicPr>
          <p:cNvPr id="8" name="Picture 7" descr="9bac66b5c58a7c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7" y="2103120"/>
            <a:ext cx="2340864" cy="841248"/>
          </a:xfrm>
          <a:prstGeom prst="rect">
            <a:avLst/>
          </a:prstGeom>
        </p:spPr>
      </p:pic>
      <p:pic>
        <p:nvPicPr>
          <p:cNvPr id="9" name="Picture 8" descr="efcb7ed02df521e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595" y="3246120"/>
            <a:ext cx="4264152" cy="612648"/>
          </a:xfrm>
          <a:prstGeom prst="rect">
            <a:avLst/>
          </a:prstGeom>
        </p:spPr>
      </p:pic>
      <p:pic>
        <p:nvPicPr>
          <p:cNvPr id="10" name="Picture 9" descr="2365def5832106f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595" y="3986783"/>
            <a:ext cx="1438656" cy="612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8511" y="4884420"/>
            <a:ext cx="19202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3040" b="1" i="0">
                <a:solidFill>
                  <a:srgbClr val="9E1B32"/>
                </a:solidFill>
                <a:latin typeface="Lexend"/>
              </a:rPr>
              <a:t>Answer:</a:t>
            </a:r>
          </a:p>
        </p:txBody>
      </p:sp>
      <p:pic>
        <p:nvPicPr>
          <p:cNvPr id="12" name="Picture 11" descr="74507af7579a50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8751" y="4736592"/>
            <a:ext cx="524256" cy="844296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Aiyanna says she can use the power of a product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3590" y="2746579"/>
            <a:ext cx="22220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to evaluate  </a:t>
            </a:r>
          </a:p>
        </p:txBody>
      </p:sp>
      <p:pic>
        <p:nvPicPr>
          <p:cNvPr id="10" name="Picture 9" descr="3c467de68f6a90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8446" y="2770963"/>
            <a:ext cx="1920240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18686" y="2746579"/>
            <a:ext cx="24664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Is she right?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1" i="0">
                <a:solidFill>
                  <a:srgbClr val="1A1A1A"/>
                </a:solidFill>
                <a:latin typeface="Lexend"/>
              </a:rPr>
              <a:t>Write your answer in sentences.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229" b="1" i="0">
                <a:solidFill>
                  <a:srgbClr val="1A1A1A"/>
                </a:solidFill>
                <a:latin typeface="Lexend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70" b="0" i="0">
                <a:solidFill>
                  <a:srgbClr val="1A1A1A"/>
                </a:solidFill>
                <a:latin typeface="Lexend"/>
              </a:rPr>
              <a:t>Aiyanna says she can use the power of a product 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2066" y="2655139"/>
            <a:ext cx="222201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to evaluate  </a:t>
            </a:r>
          </a:p>
        </p:txBody>
      </p:sp>
      <p:pic>
        <p:nvPicPr>
          <p:cNvPr id="10" name="Picture 9" descr="8bb89340cbe987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922" y="2679523"/>
            <a:ext cx="1923288" cy="4084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20210" y="2655139"/>
            <a:ext cx="246640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70" b="0" i="0">
                <a:solidFill>
                  <a:srgbClr val="1A1A1A"/>
                </a:solidFill>
                <a:latin typeface="Lexend"/>
              </a:rPr>
              <a:t>.  Is she right?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6746" y="3414091"/>
            <a:ext cx="73251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30" b="0" i="0">
                <a:solidFill>
                  <a:srgbClr val="1A1A1A"/>
                </a:solidFill>
                <a:latin typeface="Lexend"/>
              </a:rPr>
              <a:t>Inside the parentheses is a sum, not a product.</a:t>
            </a:r>
          </a:p>
        </p:txBody>
      </p:sp>
      <p:pic>
        <p:nvPicPr>
          <p:cNvPr id="13" name="Picture 12" descr="df452ab7ad4daf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610" y="4013023"/>
            <a:ext cx="1569720" cy="265176"/>
          </a:xfrm>
          <a:prstGeom prst="rect">
            <a:avLst/>
          </a:prstGeom>
        </p:spPr>
      </p:pic>
      <p:pic>
        <p:nvPicPr>
          <p:cNvPr id="14" name="Picture 13" descr="5b67aed5b26673e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1610" y="4520515"/>
            <a:ext cx="1024128" cy="2560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4991431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040" b="1" i="0">
                <a:solidFill>
                  <a:srgbClr val="9E1B32"/>
                </a:solidFill>
                <a:latin typeface="Lexend"/>
              </a:rPr>
              <a:t>Answer:   No — (10 + (−2))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8</a:t>
            </a:r>
            <a:r>
              <a:rPr sz="3040" b="1" i="0" baseline="30000">
                <a:solidFill>
                  <a:srgbClr val="9E1B32"/>
                </a:solidFill>
                <a:latin typeface="Lexend"/>
              </a:rPr>
              <a:t>3</a:t>
            </a:r>
            <a:r>
              <a:rPr sz="3040" b="1" i="0">
                <a:solidFill>
                  <a:srgbClr val="9E1B32"/>
                </a:solidFill>
                <a:latin typeface="Lexend"/>
              </a:rPr>
              <a:t> = 512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49504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95044"/>
            <a:ext cx="3169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one power.  </a:t>
            </a:r>
          </a:p>
        </p:txBody>
      </p:sp>
      <p:pic>
        <p:nvPicPr>
          <p:cNvPr id="10" name="Picture 9" descr="e58cd8710f0bf3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6963" y="1588008"/>
            <a:ext cx="780288" cy="2712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60120" y="208940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089403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3" name="Picture 12" descr="4b095ad4a4725d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7878" y="2180844"/>
            <a:ext cx="765048" cy="27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268376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683763"/>
            <a:ext cx="31696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Write as one power.  </a:t>
            </a:r>
          </a:p>
        </p:txBody>
      </p:sp>
      <p:pic>
        <p:nvPicPr>
          <p:cNvPr id="16" name="Picture 15" descr="99f4e10d55b01f9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963" y="2746247"/>
            <a:ext cx="609600" cy="3322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60120" y="327812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278123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19" name="Picture 18" descr="3825344689b6a43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7878" y="3339083"/>
            <a:ext cx="886968" cy="3352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0120" y="3872483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5.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872483"/>
            <a:ext cx="246055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value.  </a:t>
            </a:r>
          </a:p>
        </p:txBody>
      </p:sp>
      <p:pic>
        <p:nvPicPr>
          <p:cNvPr id="22" name="Picture 21" descr="bb914d77e9f3c4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7878" y="3933444"/>
            <a:ext cx="1591056" cy="3352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60120" y="4466844"/>
            <a:ext cx="54864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80" b="1" i="0">
                <a:solidFill>
                  <a:srgbClr val="0B5394"/>
                </a:solidFill>
                <a:latin typeface="Lexend"/>
              </a:rPr>
              <a:t>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466844"/>
            <a:ext cx="26841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Find the value of </a:t>
            </a:r>
          </a:p>
        </p:txBody>
      </p:sp>
      <p:pic>
        <p:nvPicPr>
          <p:cNvPr id="25" name="Picture 24" descr="6d78c2be12150bf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1434" y="4611624"/>
            <a:ext cx="146304" cy="1676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247738" y="4466844"/>
            <a:ext cx="44211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180" b="0" i="0">
                <a:solidFill>
                  <a:srgbClr val="1A1A1A"/>
                </a:solidFill>
                <a:latin typeface="Lexend"/>
              </a:rPr>
              <a:t>.  </a:t>
            </a:r>
          </a:p>
        </p:txBody>
      </p:sp>
      <p:pic>
        <p:nvPicPr>
          <p:cNvPr id="27" name="Picture 26" descr="dc32ec21fb3f891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2689" y="4556760"/>
            <a:ext cx="1392936" cy="27736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20" b="1" i="0">
                <a:solidFill>
                  <a:srgbClr val="1A1A1A"/>
                </a:solidFill>
                <a:latin typeface="Lexend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40" b="0" i="0">
                <a:solidFill>
                  <a:srgbClr val="6B6B6B"/>
                </a:solidFill>
                <a:latin typeface="Lexend"/>
              </a:rPr>
              <a:t>Grade 7 Accelerated · Unit 3 · Lesson 1 — Product Laws of Exponents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40" b="0" i="0">
                <a:solidFill>
                  <a:srgbClr val="6B6B6B"/>
                </a:solidFill>
                <a:latin typeface="Lexend"/>
              </a:rP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Open IXL and start today's skills.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Work on paper where the question needs work. The answer box does not show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0B5394"/>
                </a:solidFill>
                <a:latin typeface="Lexend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0" i="0">
                <a:solidFill>
                  <a:srgbClr val="1A1A1A"/>
                </a:solidFill>
                <a:latin typeface="Lexend"/>
              </a:rPr>
              <a:t>Every skill listed is required, to a SmartScore of 67. Due at the start of the next class.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89" b="1" i="0">
                <a:solidFill>
                  <a:srgbClr val="1A1A1A"/>
                </a:solidFill>
                <a:latin typeface="Lexend"/>
              </a:rPr>
              <a:t>Today's skills — all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Evaluate powers — SZQ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Multiplication with exponents — 5SK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5166360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Power rule — 8DA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495544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10" b="0" i="0">
                <a:solidFill>
                  <a:srgbClr val="1A1A1A"/>
                </a:solidFill>
                <a:latin typeface="Lexend"/>
              </a:rPr>
              <a:t>Understanding exponents — BFA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