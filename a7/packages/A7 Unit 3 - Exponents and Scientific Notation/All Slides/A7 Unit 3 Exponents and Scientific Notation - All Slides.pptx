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  <p:sldId id="463" r:id="rId214"/>
    <p:sldId id="464" r:id="rId215"/>
    <p:sldId id="465" r:id="rId216"/>
    <p:sldId id="466" r:id="rId217"/>
    <p:sldId id="467" r:id="rId218"/>
    <p:sldId id="468" r:id="rId219"/>
    <p:sldId id="469" r:id="rId220"/>
    <p:sldId id="470" r:id="rId221"/>
    <p:sldId id="471" r:id="rId222"/>
    <p:sldId id="472" r:id="rId223"/>
    <p:sldId id="473" r:id="rId224"/>
    <p:sldId id="474" r:id="rId225"/>
    <p:sldId id="475" r:id="rId226"/>
    <p:sldId id="476" r:id="rId227"/>
    <p:sldId id="477" r:id="rId228"/>
    <p:sldId id="478" r:id="rId229"/>
    <p:sldId id="479" r:id="rId230"/>
    <p:sldId id="480" r:id="rId231"/>
    <p:sldId id="481" r:id="rId232"/>
    <p:sldId id="482" r:id="rId233"/>
    <p:sldId id="483" r:id="rId234"/>
    <p:sldId id="484" r:id="rId235"/>
    <p:sldId id="485" r:id="rId236"/>
    <p:sldId id="486" r:id="rId237"/>
    <p:sldId id="487" r:id="rId238"/>
    <p:sldId id="488" r:id="rId239"/>
    <p:sldId id="489" r:id="rId240"/>
    <p:sldId id="490" r:id="rId241"/>
    <p:sldId id="491" r:id="rId242"/>
    <p:sldId id="492" r:id="rId243"/>
    <p:sldId id="493" r:id="rId244"/>
    <p:sldId id="494" r:id="rId245"/>
    <p:sldId id="495" r:id="rId246"/>
    <p:sldId id="496" r:id="rId247"/>
    <p:sldId id="497" r:id="rId248"/>
    <p:sldId id="498" r:id="rId249"/>
    <p:sldId id="499" r:id="rId250"/>
    <p:sldId id="500" r:id="rId251"/>
    <p:sldId id="501" r:id="rId252"/>
    <p:sldId id="502" r:id="rId253"/>
    <p:sldId id="503" r:id="rId254"/>
    <p:sldId id="504" r:id="rId255"/>
    <p:sldId id="505" r:id="rId256"/>
    <p:sldId id="506" r:id="rId257"/>
    <p:sldId id="507" r:id="rId258"/>
    <p:sldId id="508" r:id="rId259"/>
    <p:sldId id="509" r:id="rId260"/>
    <p:sldId id="510" r:id="rId261"/>
    <p:sldId id="511" r:id="rId262"/>
    <p:sldId id="512" r:id="rId263"/>
    <p:sldId id="513" r:id="rId264"/>
    <p:sldId id="514" r:id="rId265"/>
    <p:sldId id="515" r:id="rId266"/>
    <p:sldId id="516" r:id="rId267"/>
    <p:sldId id="517" r:id="rId268"/>
    <p:sldId id="518" r:id="rId269"/>
    <p:sldId id="519" r:id="rId270"/>
    <p:sldId id="520" r:id="rId271"/>
    <p:sldId id="521" r:id="rId272"/>
    <p:sldId id="522" r:id="rId273"/>
    <p:sldId id="523" r:id="rId274"/>
    <p:sldId id="524" r:id="rId275"/>
    <p:sldId id="525" r:id="rId276"/>
    <p:sldId id="526" r:id="rId277"/>
    <p:sldId id="527" r:id="rId278"/>
    <p:sldId id="528" r:id="rId279"/>
    <p:sldId id="529" r:id="rId280"/>
    <p:sldId id="530" r:id="rId281"/>
    <p:sldId id="531" r:id="rId282"/>
    <p:sldId id="532" r:id="rId283"/>
    <p:sldId id="533" r:id="rId284"/>
    <p:sldId id="534" r:id="rId285"/>
    <p:sldId id="535" r:id="rId286"/>
    <p:sldId id="536" r:id="rId287"/>
    <p:sldId id="537" r:id="rId288"/>
    <p:sldId id="538" r:id="rId289"/>
    <p:sldId id="539" r:id="rId290"/>
    <p:sldId id="540" r:id="rId291"/>
    <p:sldId id="541" r:id="rId292"/>
    <p:sldId id="542" r:id="rId293"/>
    <p:sldId id="543" r:id="rId294"/>
    <p:sldId id="544" r:id="rId295"/>
    <p:sldId id="545" r:id="rId296"/>
    <p:sldId id="546" r:id="rId297"/>
    <p:sldId id="547" r:id="rId298"/>
    <p:sldId id="548" r:id="rId299"/>
    <p:sldId id="549" r:id="rId300"/>
    <p:sldId id="550" r:id="rId301"/>
    <p:sldId id="551" r:id="rId302"/>
    <p:sldId id="552" r:id="rId303"/>
    <p:sldId id="553" r:id="rId304"/>
    <p:sldId id="554" r:id="rId305"/>
    <p:sldId id="555" r:id="rId306"/>
    <p:sldId id="556" r:id="rId307"/>
    <p:sldId id="557" r:id="rId308"/>
    <p:sldId id="558" r:id="rId309"/>
    <p:sldId id="559" r:id="rId310"/>
    <p:sldId id="560" r:id="rId311"/>
    <p:sldId id="561" r:id="rId312"/>
    <p:sldId id="562" r:id="rId313"/>
    <p:sldId id="563" r:id="rId314"/>
    <p:sldId id="564" r:id="rId315"/>
    <p:sldId id="565" r:id="rId316"/>
    <p:sldId id="566" r:id="rId317"/>
    <p:sldId id="567" r:id="rId318"/>
    <p:sldId id="568" r:id="rId319"/>
    <p:sldId id="569" r:id="rId320"/>
    <p:sldId id="570" r:id="rId321"/>
    <p:sldId id="571" r:id="rId322"/>
    <p:sldId id="572" r:id="rId323"/>
    <p:sldId id="573" r:id="rId324"/>
    <p:sldId id="574" r:id="rId325"/>
    <p:sldId id="575" r:id="rId326"/>
    <p:sldId id="576" r:id="rId327"/>
    <p:sldId id="577" r:id="rId328"/>
    <p:sldId id="578" r:id="rId329"/>
    <p:sldId id="579" r:id="rId330"/>
    <p:sldId id="580" r:id="rId331"/>
    <p:sldId id="581" r:id="rId332"/>
    <p:sldId id="582" r:id="rId333"/>
    <p:sldId id="583" r:id="rId334"/>
    <p:sldId id="584" r:id="rId335"/>
    <p:sldId id="585" r:id="rId336"/>
    <p:sldId id="586" r:id="rId337"/>
    <p:sldId id="587" r:id="rId338"/>
    <p:sldId id="588" r:id="rId339"/>
    <p:sldId id="589" r:id="rId340"/>
    <p:sldId id="590" r:id="rId341"/>
    <p:sldId id="591" r:id="rId342"/>
    <p:sldId id="592" r:id="rId343"/>
    <p:sldId id="593" r:id="rId344"/>
    <p:sldId id="594" r:id="rId345"/>
    <p:sldId id="595" r:id="rId346"/>
    <p:sldId id="596" r:id="rId347"/>
    <p:sldId id="597" r:id="rId348"/>
    <p:sldId id="598" r:id="rId349"/>
    <p:sldId id="599" r:id="rId35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Relationship Id="rId214" Type="http://schemas.openxmlformats.org/officeDocument/2006/relationships/slide" Target="slides/slide208.xml"/><Relationship Id="rId215" Type="http://schemas.openxmlformats.org/officeDocument/2006/relationships/slide" Target="slides/slide209.xml"/><Relationship Id="rId216" Type="http://schemas.openxmlformats.org/officeDocument/2006/relationships/slide" Target="slides/slide210.xml"/><Relationship Id="rId217" Type="http://schemas.openxmlformats.org/officeDocument/2006/relationships/slide" Target="slides/slide211.xml"/><Relationship Id="rId218" Type="http://schemas.openxmlformats.org/officeDocument/2006/relationships/slide" Target="slides/slide212.xml"/><Relationship Id="rId219" Type="http://schemas.openxmlformats.org/officeDocument/2006/relationships/slide" Target="slides/slide213.xml"/><Relationship Id="rId220" Type="http://schemas.openxmlformats.org/officeDocument/2006/relationships/slide" Target="slides/slide214.xml"/><Relationship Id="rId221" Type="http://schemas.openxmlformats.org/officeDocument/2006/relationships/slide" Target="slides/slide215.xml"/><Relationship Id="rId222" Type="http://schemas.openxmlformats.org/officeDocument/2006/relationships/slide" Target="slides/slide216.xml"/><Relationship Id="rId223" Type="http://schemas.openxmlformats.org/officeDocument/2006/relationships/slide" Target="slides/slide217.xml"/><Relationship Id="rId224" Type="http://schemas.openxmlformats.org/officeDocument/2006/relationships/slide" Target="slides/slide218.xml"/><Relationship Id="rId225" Type="http://schemas.openxmlformats.org/officeDocument/2006/relationships/slide" Target="slides/slide219.xml"/><Relationship Id="rId226" Type="http://schemas.openxmlformats.org/officeDocument/2006/relationships/slide" Target="slides/slide220.xml"/><Relationship Id="rId227" Type="http://schemas.openxmlformats.org/officeDocument/2006/relationships/slide" Target="slides/slide221.xml"/><Relationship Id="rId228" Type="http://schemas.openxmlformats.org/officeDocument/2006/relationships/slide" Target="slides/slide222.xml"/><Relationship Id="rId229" Type="http://schemas.openxmlformats.org/officeDocument/2006/relationships/slide" Target="slides/slide223.xml"/><Relationship Id="rId230" Type="http://schemas.openxmlformats.org/officeDocument/2006/relationships/slide" Target="slides/slide224.xml"/><Relationship Id="rId231" Type="http://schemas.openxmlformats.org/officeDocument/2006/relationships/slide" Target="slides/slide225.xml"/><Relationship Id="rId232" Type="http://schemas.openxmlformats.org/officeDocument/2006/relationships/slide" Target="slides/slide226.xml"/><Relationship Id="rId233" Type="http://schemas.openxmlformats.org/officeDocument/2006/relationships/slide" Target="slides/slide227.xml"/><Relationship Id="rId234" Type="http://schemas.openxmlformats.org/officeDocument/2006/relationships/slide" Target="slides/slide228.xml"/><Relationship Id="rId235" Type="http://schemas.openxmlformats.org/officeDocument/2006/relationships/slide" Target="slides/slide229.xml"/><Relationship Id="rId236" Type="http://schemas.openxmlformats.org/officeDocument/2006/relationships/slide" Target="slides/slide230.xml"/><Relationship Id="rId237" Type="http://schemas.openxmlformats.org/officeDocument/2006/relationships/slide" Target="slides/slide231.xml"/><Relationship Id="rId238" Type="http://schemas.openxmlformats.org/officeDocument/2006/relationships/slide" Target="slides/slide232.xml"/><Relationship Id="rId239" Type="http://schemas.openxmlformats.org/officeDocument/2006/relationships/slide" Target="slides/slide233.xml"/><Relationship Id="rId240" Type="http://schemas.openxmlformats.org/officeDocument/2006/relationships/slide" Target="slides/slide234.xml"/><Relationship Id="rId241" Type="http://schemas.openxmlformats.org/officeDocument/2006/relationships/slide" Target="slides/slide235.xml"/><Relationship Id="rId242" Type="http://schemas.openxmlformats.org/officeDocument/2006/relationships/slide" Target="slides/slide236.xml"/><Relationship Id="rId243" Type="http://schemas.openxmlformats.org/officeDocument/2006/relationships/slide" Target="slides/slide237.xml"/><Relationship Id="rId244" Type="http://schemas.openxmlformats.org/officeDocument/2006/relationships/slide" Target="slides/slide238.xml"/><Relationship Id="rId245" Type="http://schemas.openxmlformats.org/officeDocument/2006/relationships/slide" Target="slides/slide239.xml"/><Relationship Id="rId246" Type="http://schemas.openxmlformats.org/officeDocument/2006/relationships/slide" Target="slides/slide240.xml"/><Relationship Id="rId247" Type="http://schemas.openxmlformats.org/officeDocument/2006/relationships/slide" Target="slides/slide241.xml"/><Relationship Id="rId248" Type="http://schemas.openxmlformats.org/officeDocument/2006/relationships/slide" Target="slides/slide242.xml"/><Relationship Id="rId249" Type="http://schemas.openxmlformats.org/officeDocument/2006/relationships/slide" Target="slides/slide243.xml"/><Relationship Id="rId250" Type="http://schemas.openxmlformats.org/officeDocument/2006/relationships/slide" Target="slides/slide244.xml"/><Relationship Id="rId251" Type="http://schemas.openxmlformats.org/officeDocument/2006/relationships/slide" Target="slides/slide245.xml"/><Relationship Id="rId252" Type="http://schemas.openxmlformats.org/officeDocument/2006/relationships/slide" Target="slides/slide246.xml"/><Relationship Id="rId253" Type="http://schemas.openxmlformats.org/officeDocument/2006/relationships/slide" Target="slides/slide247.xml"/><Relationship Id="rId254" Type="http://schemas.openxmlformats.org/officeDocument/2006/relationships/slide" Target="slides/slide248.xml"/><Relationship Id="rId255" Type="http://schemas.openxmlformats.org/officeDocument/2006/relationships/slide" Target="slides/slide249.xml"/><Relationship Id="rId256" Type="http://schemas.openxmlformats.org/officeDocument/2006/relationships/slide" Target="slides/slide250.xml"/><Relationship Id="rId257" Type="http://schemas.openxmlformats.org/officeDocument/2006/relationships/slide" Target="slides/slide251.xml"/><Relationship Id="rId258" Type="http://schemas.openxmlformats.org/officeDocument/2006/relationships/slide" Target="slides/slide252.xml"/><Relationship Id="rId259" Type="http://schemas.openxmlformats.org/officeDocument/2006/relationships/slide" Target="slides/slide253.xml"/><Relationship Id="rId260" Type="http://schemas.openxmlformats.org/officeDocument/2006/relationships/slide" Target="slides/slide254.xml"/><Relationship Id="rId261" Type="http://schemas.openxmlformats.org/officeDocument/2006/relationships/slide" Target="slides/slide255.xml"/><Relationship Id="rId262" Type="http://schemas.openxmlformats.org/officeDocument/2006/relationships/slide" Target="slides/slide256.xml"/><Relationship Id="rId263" Type="http://schemas.openxmlformats.org/officeDocument/2006/relationships/slide" Target="slides/slide257.xml"/><Relationship Id="rId264" Type="http://schemas.openxmlformats.org/officeDocument/2006/relationships/slide" Target="slides/slide258.xml"/><Relationship Id="rId265" Type="http://schemas.openxmlformats.org/officeDocument/2006/relationships/slide" Target="slides/slide259.xml"/><Relationship Id="rId266" Type="http://schemas.openxmlformats.org/officeDocument/2006/relationships/slide" Target="slides/slide260.xml"/><Relationship Id="rId267" Type="http://schemas.openxmlformats.org/officeDocument/2006/relationships/slide" Target="slides/slide261.xml"/><Relationship Id="rId268" Type="http://schemas.openxmlformats.org/officeDocument/2006/relationships/slide" Target="slides/slide262.xml"/><Relationship Id="rId269" Type="http://schemas.openxmlformats.org/officeDocument/2006/relationships/slide" Target="slides/slide263.xml"/><Relationship Id="rId270" Type="http://schemas.openxmlformats.org/officeDocument/2006/relationships/slide" Target="slides/slide264.xml"/><Relationship Id="rId271" Type="http://schemas.openxmlformats.org/officeDocument/2006/relationships/slide" Target="slides/slide265.xml"/><Relationship Id="rId272" Type="http://schemas.openxmlformats.org/officeDocument/2006/relationships/slide" Target="slides/slide266.xml"/><Relationship Id="rId273" Type="http://schemas.openxmlformats.org/officeDocument/2006/relationships/slide" Target="slides/slide267.xml"/><Relationship Id="rId274" Type="http://schemas.openxmlformats.org/officeDocument/2006/relationships/slide" Target="slides/slide268.xml"/><Relationship Id="rId275" Type="http://schemas.openxmlformats.org/officeDocument/2006/relationships/slide" Target="slides/slide269.xml"/><Relationship Id="rId276" Type="http://schemas.openxmlformats.org/officeDocument/2006/relationships/slide" Target="slides/slide270.xml"/><Relationship Id="rId277" Type="http://schemas.openxmlformats.org/officeDocument/2006/relationships/slide" Target="slides/slide271.xml"/><Relationship Id="rId278" Type="http://schemas.openxmlformats.org/officeDocument/2006/relationships/slide" Target="slides/slide272.xml"/><Relationship Id="rId279" Type="http://schemas.openxmlformats.org/officeDocument/2006/relationships/slide" Target="slides/slide273.xml"/><Relationship Id="rId280" Type="http://schemas.openxmlformats.org/officeDocument/2006/relationships/slide" Target="slides/slide274.xml"/><Relationship Id="rId281" Type="http://schemas.openxmlformats.org/officeDocument/2006/relationships/slide" Target="slides/slide275.xml"/><Relationship Id="rId282" Type="http://schemas.openxmlformats.org/officeDocument/2006/relationships/slide" Target="slides/slide276.xml"/><Relationship Id="rId283" Type="http://schemas.openxmlformats.org/officeDocument/2006/relationships/slide" Target="slides/slide277.xml"/><Relationship Id="rId284" Type="http://schemas.openxmlformats.org/officeDocument/2006/relationships/slide" Target="slides/slide278.xml"/><Relationship Id="rId285" Type="http://schemas.openxmlformats.org/officeDocument/2006/relationships/slide" Target="slides/slide279.xml"/><Relationship Id="rId286" Type="http://schemas.openxmlformats.org/officeDocument/2006/relationships/slide" Target="slides/slide280.xml"/><Relationship Id="rId287" Type="http://schemas.openxmlformats.org/officeDocument/2006/relationships/slide" Target="slides/slide281.xml"/><Relationship Id="rId288" Type="http://schemas.openxmlformats.org/officeDocument/2006/relationships/slide" Target="slides/slide282.xml"/><Relationship Id="rId289" Type="http://schemas.openxmlformats.org/officeDocument/2006/relationships/slide" Target="slides/slide283.xml"/><Relationship Id="rId290" Type="http://schemas.openxmlformats.org/officeDocument/2006/relationships/slide" Target="slides/slide284.xml"/><Relationship Id="rId291" Type="http://schemas.openxmlformats.org/officeDocument/2006/relationships/slide" Target="slides/slide285.xml"/><Relationship Id="rId292" Type="http://schemas.openxmlformats.org/officeDocument/2006/relationships/slide" Target="slides/slide286.xml"/><Relationship Id="rId293" Type="http://schemas.openxmlformats.org/officeDocument/2006/relationships/slide" Target="slides/slide287.xml"/><Relationship Id="rId294" Type="http://schemas.openxmlformats.org/officeDocument/2006/relationships/slide" Target="slides/slide288.xml"/><Relationship Id="rId295" Type="http://schemas.openxmlformats.org/officeDocument/2006/relationships/slide" Target="slides/slide289.xml"/><Relationship Id="rId296" Type="http://schemas.openxmlformats.org/officeDocument/2006/relationships/slide" Target="slides/slide290.xml"/><Relationship Id="rId297" Type="http://schemas.openxmlformats.org/officeDocument/2006/relationships/slide" Target="slides/slide291.xml"/><Relationship Id="rId298" Type="http://schemas.openxmlformats.org/officeDocument/2006/relationships/slide" Target="slides/slide292.xml"/><Relationship Id="rId299" Type="http://schemas.openxmlformats.org/officeDocument/2006/relationships/slide" Target="slides/slide293.xml"/><Relationship Id="rId300" Type="http://schemas.openxmlformats.org/officeDocument/2006/relationships/slide" Target="slides/slide294.xml"/><Relationship Id="rId301" Type="http://schemas.openxmlformats.org/officeDocument/2006/relationships/slide" Target="slides/slide295.xml"/><Relationship Id="rId302" Type="http://schemas.openxmlformats.org/officeDocument/2006/relationships/slide" Target="slides/slide296.xml"/><Relationship Id="rId303" Type="http://schemas.openxmlformats.org/officeDocument/2006/relationships/slide" Target="slides/slide297.xml"/><Relationship Id="rId304" Type="http://schemas.openxmlformats.org/officeDocument/2006/relationships/slide" Target="slides/slide298.xml"/><Relationship Id="rId305" Type="http://schemas.openxmlformats.org/officeDocument/2006/relationships/slide" Target="slides/slide299.xml"/><Relationship Id="rId306" Type="http://schemas.openxmlformats.org/officeDocument/2006/relationships/slide" Target="slides/slide300.xml"/><Relationship Id="rId307" Type="http://schemas.openxmlformats.org/officeDocument/2006/relationships/slide" Target="slides/slide301.xml"/><Relationship Id="rId308" Type="http://schemas.openxmlformats.org/officeDocument/2006/relationships/slide" Target="slides/slide302.xml"/><Relationship Id="rId309" Type="http://schemas.openxmlformats.org/officeDocument/2006/relationships/slide" Target="slides/slide303.xml"/><Relationship Id="rId310" Type="http://schemas.openxmlformats.org/officeDocument/2006/relationships/slide" Target="slides/slide304.xml"/><Relationship Id="rId311" Type="http://schemas.openxmlformats.org/officeDocument/2006/relationships/slide" Target="slides/slide305.xml"/><Relationship Id="rId312" Type="http://schemas.openxmlformats.org/officeDocument/2006/relationships/slide" Target="slides/slide306.xml"/><Relationship Id="rId313" Type="http://schemas.openxmlformats.org/officeDocument/2006/relationships/slide" Target="slides/slide307.xml"/><Relationship Id="rId314" Type="http://schemas.openxmlformats.org/officeDocument/2006/relationships/slide" Target="slides/slide308.xml"/><Relationship Id="rId315" Type="http://schemas.openxmlformats.org/officeDocument/2006/relationships/slide" Target="slides/slide309.xml"/><Relationship Id="rId316" Type="http://schemas.openxmlformats.org/officeDocument/2006/relationships/slide" Target="slides/slide310.xml"/><Relationship Id="rId317" Type="http://schemas.openxmlformats.org/officeDocument/2006/relationships/slide" Target="slides/slide311.xml"/><Relationship Id="rId318" Type="http://schemas.openxmlformats.org/officeDocument/2006/relationships/slide" Target="slides/slide312.xml"/><Relationship Id="rId319" Type="http://schemas.openxmlformats.org/officeDocument/2006/relationships/slide" Target="slides/slide313.xml"/><Relationship Id="rId320" Type="http://schemas.openxmlformats.org/officeDocument/2006/relationships/slide" Target="slides/slide314.xml"/><Relationship Id="rId321" Type="http://schemas.openxmlformats.org/officeDocument/2006/relationships/slide" Target="slides/slide315.xml"/><Relationship Id="rId322" Type="http://schemas.openxmlformats.org/officeDocument/2006/relationships/slide" Target="slides/slide316.xml"/><Relationship Id="rId323" Type="http://schemas.openxmlformats.org/officeDocument/2006/relationships/slide" Target="slides/slide317.xml"/><Relationship Id="rId324" Type="http://schemas.openxmlformats.org/officeDocument/2006/relationships/slide" Target="slides/slide318.xml"/><Relationship Id="rId325" Type="http://schemas.openxmlformats.org/officeDocument/2006/relationships/slide" Target="slides/slide319.xml"/><Relationship Id="rId326" Type="http://schemas.openxmlformats.org/officeDocument/2006/relationships/slide" Target="slides/slide320.xml"/><Relationship Id="rId327" Type="http://schemas.openxmlformats.org/officeDocument/2006/relationships/slide" Target="slides/slide321.xml"/><Relationship Id="rId328" Type="http://schemas.openxmlformats.org/officeDocument/2006/relationships/slide" Target="slides/slide322.xml"/><Relationship Id="rId329" Type="http://schemas.openxmlformats.org/officeDocument/2006/relationships/slide" Target="slides/slide323.xml"/><Relationship Id="rId330" Type="http://schemas.openxmlformats.org/officeDocument/2006/relationships/slide" Target="slides/slide324.xml"/><Relationship Id="rId331" Type="http://schemas.openxmlformats.org/officeDocument/2006/relationships/slide" Target="slides/slide325.xml"/><Relationship Id="rId332" Type="http://schemas.openxmlformats.org/officeDocument/2006/relationships/slide" Target="slides/slide326.xml"/><Relationship Id="rId333" Type="http://schemas.openxmlformats.org/officeDocument/2006/relationships/slide" Target="slides/slide327.xml"/><Relationship Id="rId334" Type="http://schemas.openxmlformats.org/officeDocument/2006/relationships/slide" Target="slides/slide328.xml"/><Relationship Id="rId335" Type="http://schemas.openxmlformats.org/officeDocument/2006/relationships/slide" Target="slides/slide329.xml"/><Relationship Id="rId336" Type="http://schemas.openxmlformats.org/officeDocument/2006/relationships/slide" Target="slides/slide330.xml"/><Relationship Id="rId337" Type="http://schemas.openxmlformats.org/officeDocument/2006/relationships/slide" Target="slides/slide331.xml"/><Relationship Id="rId338" Type="http://schemas.openxmlformats.org/officeDocument/2006/relationships/slide" Target="slides/slide332.xml"/><Relationship Id="rId339" Type="http://schemas.openxmlformats.org/officeDocument/2006/relationships/slide" Target="slides/slide333.xml"/><Relationship Id="rId340" Type="http://schemas.openxmlformats.org/officeDocument/2006/relationships/slide" Target="slides/slide334.xml"/><Relationship Id="rId341" Type="http://schemas.openxmlformats.org/officeDocument/2006/relationships/slide" Target="slides/slide335.xml"/><Relationship Id="rId342" Type="http://schemas.openxmlformats.org/officeDocument/2006/relationships/slide" Target="slides/slide336.xml"/><Relationship Id="rId343" Type="http://schemas.openxmlformats.org/officeDocument/2006/relationships/slide" Target="slides/slide337.xml"/><Relationship Id="rId344" Type="http://schemas.openxmlformats.org/officeDocument/2006/relationships/slide" Target="slides/slide338.xml"/><Relationship Id="rId345" Type="http://schemas.openxmlformats.org/officeDocument/2006/relationships/slide" Target="slides/slide339.xml"/><Relationship Id="rId346" Type="http://schemas.openxmlformats.org/officeDocument/2006/relationships/slide" Target="slides/slide340.xml"/><Relationship Id="rId347" Type="http://schemas.openxmlformats.org/officeDocument/2006/relationships/slide" Target="slides/slide341.xml"/><Relationship Id="rId348" Type="http://schemas.openxmlformats.org/officeDocument/2006/relationships/slide" Target="slides/slide342.xml"/><Relationship Id="rId349" Type="http://schemas.openxmlformats.org/officeDocument/2006/relationships/slide" Target="slides/slide343.xml"/><Relationship Id="rId350" Type="http://schemas.openxmlformats.org/officeDocument/2006/relationships/slide" Target="slides/slide34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38.xml"/><Relationship Id="rId4" Type="http://schemas.openxmlformats.org/officeDocument/2006/relationships/slide" Target="slide72.xml"/><Relationship Id="rId5" Type="http://schemas.openxmlformats.org/officeDocument/2006/relationships/slide" Target="slide106.xml"/><Relationship Id="rId6" Type="http://schemas.openxmlformats.org/officeDocument/2006/relationships/slide" Target="slide140.xml"/><Relationship Id="rId7" Type="http://schemas.openxmlformats.org/officeDocument/2006/relationships/slide" Target="slide174.xml"/><Relationship Id="rId8" Type="http://schemas.openxmlformats.org/officeDocument/2006/relationships/slide" Target="slide209.xml"/><Relationship Id="rId9" Type="http://schemas.openxmlformats.org/officeDocument/2006/relationships/slide" Target="slide243.xml"/><Relationship Id="rId10" Type="http://schemas.openxmlformats.org/officeDocument/2006/relationships/slide" Target="slide277.xml"/><Relationship Id="rId11" Type="http://schemas.openxmlformats.org/officeDocument/2006/relationships/slide" Target="slide31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Relationship Id="rId4" Type="http://schemas.openxmlformats.org/officeDocument/2006/relationships/image" Target="../media/image3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image" Target="../media/image49.png"/><Relationship Id="rId4" Type="http://schemas.openxmlformats.org/officeDocument/2006/relationships/image" Target="../media/image5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image" Target="../media/image5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image" Target="../media/image59.png"/><Relationship Id="rId4" Type="http://schemas.openxmlformats.org/officeDocument/2006/relationships/image" Target="../media/image60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Relationship Id="rId3" Type="http://schemas.openxmlformats.org/officeDocument/2006/relationships/image" Target="../media/image63.png"/><Relationship Id="rId4" Type="http://schemas.openxmlformats.org/officeDocument/2006/relationships/image" Target="../media/image64.png"/><Relationship Id="rId5" Type="http://schemas.openxmlformats.org/officeDocument/2006/relationships/image" Target="../media/image6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Relationship Id="rId3" Type="http://schemas.openxmlformats.org/officeDocument/2006/relationships/image" Target="../media/image68.png"/><Relationship Id="rId4" Type="http://schemas.openxmlformats.org/officeDocument/2006/relationships/image" Target="../media/image69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Relationship Id="rId3" Type="http://schemas.openxmlformats.org/officeDocument/2006/relationships/image" Target="../media/image71.png"/><Relationship Id="rId4" Type="http://schemas.openxmlformats.org/officeDocument/2006/relationships/image" Target="../media/image72.png"/><Relationship Id="rId5" Type="http://schemas.openxmlformats.org/officeDocument/2006/relationships/image" Target="../media/image73.png"/><Relationship Id="rId6" Type="http://schemas.openxmlformats.org/officeDocument/2006/relationships/image" Target="../media/image74.png"/><Relationship Id="rId7" Type="http://schemas.openxmlformats.org/officeDocument/2006/relationships/image" Target="../media/image75.png"/><Relationship Id="rId8" Type="http://schemas.openxmlformats.org/officeDocument/2006/relationships/image" Target="../media/image7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Relationship Id="rId3" Type="http://schemas.openxmlformats.org/officeDocument/2006/relationships/image" Target="../media/image78.png"/><Relationship Id="rId4" Type="http://schemas.openxmlformats.org/officeDocument/2006/relationships/image" Target="../media/image79.png"/><Relationship Id="rId5" Type="http://schemas.openxmlformats.org/officeDocument/2006/relationships/image" Target="../media/image80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Relationship Id="rId3" Type="http://schemas.openxmlformats.org/officeDocument/2006/relationships/image" Target="../media/image81.png"/><Relationship Id="rId4" Type="http://schemas.openxmlformats.org/officeDocument/2006/relationships/image" Target="../media/image78.png"/><Relationship Id="rId5" Type="http://schemas.openxmlformats.org/officeDocument/2006/relationships/image" Target="../media/image79.png"/><Relationship Id="rId6" Type="http://schemas.openxmlformats.org/officeDocument/2006/relationships/image" Target="../media/image80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png"/><Relationship Id="rId3" Type="http://schemas.openxmlformats.org/officeDocument/2006/relationships/image" Target="../media/image83.png"/><Relationship Id="rId4" Type="http://schemas.openxmlformats.org/officeDocument/2006/relationships/image" Target="../media/image84.png"/><Relationship Id="rId5" Type="http://schemas.openxmlformats.org/officeDocument/2006/relationships/image" Target="../media/image85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6.png"/><Relationship Id="rId3" Type="http://schemas.openxmlformats.org/officeDocument/2006/relationships/image" Target="../media/image87.png"/><Relationship Id="rId4" Type="http://schemas.openxmlformats.org/officeDocument/2006/relationships/image" Target="../media/image88.png"/><Relationship Id="rId5" Type="http://schemas.openxmlformats.org/officeDocument/2006/relationships/image" Target="../media/image89.png"/><Relationship Id="rId6" Type="http://schemas.openxmlformats.org/officeDocument/2006/relationships/image" Target="../media/image90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1.png"/><Relationship Id="rId3" Type="http://schemas.openxmlformats.org/officeDocument/2006/relationships/image" Target="../media/image92.png"/><Relationship Id="rId4" Type="http://schemas.openxmlformats.org/officeDocument/2006/relationships/image" Target="../media/image93.png"/><Relationship Id="rId5" Type="http://schemas.openxmlformats.org/officeDocument/2006/relationships/image" Target="../media/image94.png"/><Relationship Id="rId6" Type="http://schemas.openxmlformats.org/officeDocument/2006/relationships/image" Target="../media/image9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6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7.png"/><Relationship Id="rId3" Type="http://schemas.openxmlformats.org/officeDocument/2006/relationships/image" Target="../media/image98.png"/><Relationship Id="rId4" Type="http://schemas.openxmlformats.org/officeDocument/2006/relationships/image" Target="../media/image99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0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1.png"/><Relationship Id="rId3" Type="http://schemas.openxmlformats.org/officeDocument/2006/relationships/image" Target="../media/image102.png"/><Relationship Id="rId4" Type="http://schemas.openxmlformats.org/officeDocument/2006/relationships/image" Target="../media/image103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4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5.png"/><Relationship Id="rId3" Type="http://schemas.openxmlformats.org/officeDocument/2006/relationships/image" Target="../media/image106.png"/><Relationship Id="rId4" Type="http://schemas.openxmlformats.org/officeDocument/2006/relationships/image" Target="../media/image107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8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9.png"/><Relationship Id="rId3" Type="http://schemas.openxmlformats.org/officeDocument/2006/relationships/image" Target="../media/image110.png"/><Relationship Id="rId4" Type="http://schemas.openxmlformats.org/officeDocument/2006/relationships/image" Target="../media/image11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3.png"/><Relationship Id="rId3" Type="http://schemas.openxmlformats.org/officeDocument/2006/relationships/image" Target="../media/image114.png"/><Relationship Id="rId4" Type="http://schemas.openxmlformats.org/officeDocument/2006/relationships/image" Target="../media/image115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6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7.png"/><Relationship Id="rId3" Type="http://schemas.openxmlformats.org/officeDocument/2006/relationships/image" Target="../media/image118.png"/><Relationship Id="rId4" Type="http://schemas.openxmlformats.org/officeDocument/2006/relationships/image" Target="../media/image119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0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1.png"/><Relationship Id="rId3" Type="http://schemas.openxmlformats.org/officeDocument/2006/relationships/image" Target="../media/image122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3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4.png"/><Relationship Id="rId3" Type="http://schemas.openxmlformats.org/officeDocument/2006/relationships/image" Target="../media/image125.png"/><Relationship Id="rId4" Type="http://schemas.openxmlformats.org/officeDocument/2006/relationships/image" Target="../media/image126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7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8.png"/><Relationship Id="rId3" Type="http://schemas.openxmlformats.org/officeDocument/2006/relationships/image" Target="../media/image129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0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1.png"/><Relationship Id="rId3" Type="http://schemas.openxmlformats.org/officeDocument/2006/relationships/image" Target="../media/image132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3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4.png"/><Relationship Id="rId3" Type="http://schemas.openxmlformats.org/officeDocument/2006/relationships/image" Target="../media/image135.png"/><Relationship Id="rId4" Type="http://schemas.openxmlformats.org/officeDocument/2006/relationships/image" Target="../media/image136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7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8.png"/><Relationship Id="rId3" Type="http://schemas.openxmlformats.org/officeDocument/2006/relationships/image" Target="../media/image139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0.png"/><Relationship Id="rId3" Type="http://schemas.openxmlformats.org/officeDocument/2006/relationships/image" Target="../media/image14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1.png"/><Relationship Id="rId3" Type="http://schemas.openxmlformats.org/officeDocument/2006/relationships/image" Target="../media/image142.png"/><Relationship Id="rId4" Type="http://schemas.openxmlformats.org/officeDocument/2006/relationships/image" Target="../media/image143.png"/><Relationship Id="rId5" Type="http://schemas.openxmlformats.org/officeDocument/2006/relationships/image" Target="../media/image144.png"/><Relationship Id="rId6" Type="http://schemas.openxmlformats.org/officeDocument/2006/relationships/image" Target="../media/image145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6.png"/><Relationship Id="rId3" Type="http://schemas.openxmlformats.org/officeDocument/2006/relationships/image" Target="../media/image147.png"/><Relationship Id="rId4" Type="http://schemas.openxmlformats.org/officeDocument/2006/relationships/image" Target="../media/image148.png"/><Relationship Id="rId5" Type="http://schemas.openxmlformats.org/officeDocument/2006/relationships/image" Target="../media/image149.png"/><Relationship Id="rId6" Type="http://schemas.openxmlformats.org/officeDocument/2006/relationships/image" Target="../media/image150.png"/><Relationship Id="rId7" Type="http://schemas.openxmlformats.org/officeDocument/2006/relationships/image" Target="../media/image75.png"/><Relationship Id="rId8" Type="http://schemas.openxmlformats.org/officeDocument/2006/relationships/image" Target="../media/image151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2.png"/><Relationship Id="rId3" Type="http://schemas.openxmlformats.org/officeDocument/2006/relationships/image" Target="../media/image153.png"/><Relationship Id="rId4" Type="http://schemas.openxmlformats.org/officeDocument/2006/relationships/image" Target="../media/image154.png"/><Relationship Id="rId5" Type="http://schemas.openxmlformats.org/officeDocument/2006/relationships/image" Target="../media/image155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2.png"/><Relationship Id="rId3" Type="http://schemas.openxmlformats.org/officeDocument/2006/relationships/image" Target="../media/image153.png"/><Relationship Id="rId4" Type="http://schemas.openxmlformats.org/officeDocument/2006/relationships/image" Target="../media/image154.png"/><Relationship Id="rId5" Type="http://schemas.openxmlformats.org/officeDocument/2006/relationships/image" Target="../media/image155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6.png"/><Relationship Id="rId3" Type="http://schemas.openxmlformats.org/officeDocument/2006/relationships/image" Target="../media/image157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8.png"/><Relationship Id="rId3" Type="http://schemas.openxmlformats.org/officeDocument/2006/relationships/image" Target="../media/image159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0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1.png"/><Relationship Id="rId3" Type="http://schemas.openxmlformats.org/officeDocument/2006/relationships/image" Target="../media/image162.png"/><Relationship Id="rId4" Type="http://schemas.openxmlformats.org/officeDocument/2006/relationships/image" Target="../media/image163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4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5.png"/><Relationship Id="rId3" Type="http://schemas.openxmlformats.org/officeDocument/2006/relationships/image" Target="../media/image166.png"/><Relationship Id="rId4" Type="http://schemas.openxmlformats.org/officeDocument/2006/relationships/image" Target="../media/image167.png"/><Relationship Id="rId5" Type="http://schemas.openxmlformats.org/officeDocument/2006/relationships/image" Target="../media/image168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9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0.png"/><Relationship Id="rId3" Type="http://schemas.openxmlformats.org/officeDocument/2006/relationships/image" Target="../media/image171.png"/><Relationship Id="rId4" Type="http://schemas.openxmlformats.org/officeDocument/2006/relationships/image" Target="../media/image172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3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4.png"/><Relationship Id="rId3" Type="http://schemas.openxmlformats.org/officeDocument/2006/relationships/image" Target="../media/image175.png"/><Relationship Id="rId4" Type="http://schemas.openxmlformats.org/officeDocument/2006/relationships/image" Target="../media/image176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7.png"/><Relationship Id="rId3" Type="http://schemas.openxmlformats.org/officeDocument/2006/relationships/image" Target="../media/image178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9.png"/><Relationship Id="rId3" Type="http://schemas.openxmlformats.org/officeDocument/2006/relationships/image" Target="../media/image180.png"/><Relationship Id="rId4" Type="http://schemas.openxmlformats.org/officeDocument/2006/relationships/image" Target="../media/image181.png"/><Relationship Id="rId5" Type="http://schemas.openxmlformats.org/officeDocument/2006/relationships/image" Target="../media/image182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3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4.png"/><Relationship Id="rId3" Type="http://schemas.openxmlformats.org/officeDocument/2006/relationships/image" Target="../media/image185.png"/><Relationship Id="rId4" Type="http://schemas.openxmlformats.org/officeDocument/2006/relationships/image" Target="../media/image186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7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8.png"/><Relationship Id="rId3" Type="http://schemas.openxmlformats.org/officeDocument/2006/relationships/image" Target="../media/image189.png"/><Relationship Id="rId4" Type="http://schemas.openxmlformats.org/officeDocument/2006/relationships/image" Target="../media/image190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1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2.png"/><Relationship Id="rId3" Type="http://schemas.openxmlformats.org/officeDocument/2006/relationships/image" Target="../media/image193.png"/><Relationship Id="rId4" Type="http://schemas.openxmlformats.org/officeDocument/2006/relationships/image" Target="../media/image194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5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6.png"/><Relationship Id="rId3" Type="http://schemas.openxmlformats.org/officeDocument/2006/relationships/image" Target="../media/image197.png"/><Relationship Id="rId4" Type="http://schemas.openxmlformats.org/officeDocument/2006/relationships/image" Target="../media/image198.png"/><Relationship Id="rId5" Type="http://schemas.openxmlformats.org/officeDocument/2006/relationships/image" Target="../media/image199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0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1.png"/><Relationship Id="rId3" Type="http://schemas.openxmlformats.org/officeDocument/2006/relationships/image" Target="../media/image202.png"/><Relationship Id="rId4" Type="http://schemas.openxmlformats.org/officeDocument/2006/relationships/image" Target="../media/image203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4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5.png"/><Relationship Id="rId3" Type="http://schemas.openxmlformats.org/officeDocument/2006/relationships/image" Target="../media/image206.png"/><Relationship Id="rId4" Type="http://schemas.openxmlformats.org/officeDocument/2006/relationships/image" Target="../media/image207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8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9.png"/><Relationship Id="rId3" Type="http://schemas.openxmlformats.org/officeDocument/2006/relationships/image" Target="../media/image210.png"/><Relationship Id="rId4" Type="http://schemas.openxmlformats.org/officeDocument/2006/relationships/image" Target="../media/image211.png"/><Relationship Id="rId5" Type="http://schemas.openxmlformats.org/officeDocument/2006/relationships/image" Target="../media/image212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3.png"/><Relationship Id="rId3" Type="http://schemas.openxmlformats.org/officeDocument/2006/relationships/image" Target="../media/image214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5.png"/><Relationship Id="rId3" Type="http://schemas.openxmlformats.org/officeDocument/2006/relationships/image" Target="../media/image216.png"/><Relationship Id="rId4" Type="http://schemas.openxmlformats.org/officeDocument/2006/relationships/image" Target="../media/image217.png"/><Relationship Id="rId5" Type="http://schemas.openxmlformats.org/officeDocument/2006/relationships/image" Target="../media/image218.png"/><Relationship Id="rId6" Type="http://schemas.openxmlformats.org/officeDocument/2006/relationships/image" Target="../media/image43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9.png"/><Relationship Id="rId3" Type="http://schemas.openxmlformats.org/officeDocument/2006/relationships/image" Target="../media/image220.png"/><Relationship Id="rId4" Type="http://schemas.openxmlformats.org/officeDocument/2006/relationships/image" Target="../media/image221.png"/><Relationship Id="rId5" Type="http://schemas.openxmlformats.org/officeDocument/2006/relationships/image" Target="../media/image222.png"/><Relationship Id="rId6" Type="http://schemas.openxmlformats.org/officeDocument/2006/relationships/image" Target="../media/image223.png"/><Relationship Id="rId7" Type="http://schemas.openxmlformats.org/officeDocument/2006/relationships/image" Target="../media/image224.png"/><Relationship Id="rId8" Type="http://schemas.openxmlformats.org/officeDocument/2006/relationships/image" Target="../media/image225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6.png"/><Relationship Id="rId3" Type="http://schemas.openxmlformats.org/officeDocument/2006/relationships/image" Target="../media/image227.png"/><Relationship Id="rId4" Type="http://schemas.openxmlformats.org/officeDocument/2006/relationships/image" Target="../media/image228.png"/><Relationship Id="rId5" Type="http://schemas.openxmlformats.org/officeDocument/2006/relationships/image" Target="../media/image229.pn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6.png"/><Relationship Id="rId3" Type="http://schemas.openxmlformats.org/officeDocument/2006/relationships/image" Target="../media/image227.png"/><Relationship Id="rId4" Type="http://schemas.openxmlformats.org/officeDocument/2006/relationships/image" Target="../media/image228.png"/><Relationship Id="rId5" Type="http://schemas.openxmlformats.org/officeDocument/2006/relationships/image" Target="../media/image229.png"/><Relationship Id="rId6" Type="http://schemas.openxmlformats.org/officeDocument/2006/relationships/image" Target="../media/image230.png"/><Relationship Id="rId7" Type="http://schemas.openxmlformats.org/officeDocument/2006/relationships/image" Target="../media/image231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2.png"/><Relationship Id="rId3" Type="http://schemas.openxmlformats.org/officeDocument/2006/relationships/image" Target="../media/image233.png"/><Relationship Id="rId4" Type="http://schemas.openxmlformats.org/officeDocument/2006/relationships/image" Target="../media/image234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5.png"/><Relationship Id="rId3" Type="http://schemas.openxmlformats.org/officeDocument/2006/relationships/image" Target="../media/image236.png"/><Relationship Id="rId4" Type="http://schemas.openxmlformats.org/officeDocument/2006/relationships/image" Target="../media/image84.png"/><Relationship Id="rId5" Type="http://schemas.openxmlformats.org/officeDocument/2006/relationships/image" Target="../media/image237.png"/><Relationship Id="rId6" Type="http://schemas.openxmlformats.org/officeDocument/2006/relationships/image" Target="../media/image238.png"/><Relationship Id="rId7" Type="http://schemas.openxmlformats.org/officeDocument/2006/relationships/image" Target="../media/image239.png"/><Relationship Id="rId8" Type="http://schemas.openxmlformats.org/officeDocument/2006/relationships/image" Target="../media/image240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1.png"/><Relationship Id="rId3" Type="http://schemas.openxmlformats.org/officeDocument/2006/relationships/image" Target="../media/image242.png"/><Relationship Id="rId4" Type="http://schemas.openxmlformats.org/officeDocument/2006/relationships/image" Target="../media/image243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4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5.png"/><Relationship Id="rId3" Type="http://schemas.openxmlformats.org/officeDocument/2006/relationships/image" Target="../media/image246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7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8.png"/><Relationship Id="rId3" Type="http://schemas.openxmlformats.org/officeDocument/2006/relationships/image" Target="../media/image249.png"/><Relationship Id="rId4" Type="http://schemas.openxmlformats.org/officeDocument/2006/relationships/image" Target="../media/image250.png"/><Relationship Id="rId5" Type="http://schemas.openxmlformats.org/officeDocument/2006/relationships/image" Target="../media/image251.png"/><Relationship Id="rId6" Type="http://schemas.openxmlformats.org/officeDocument/2006/relationships/image" Target="../media/image252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3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4.png"/><Relationship Id="rId3" Type="http://schemas.openxmlformats.org/officeDocument/2006/relationships/image" Target="../media/image255.png"/><Relationship Id="rId4" Type="http://schemas.openxmlformats.org/officeDocument/2006/relationships/image" Target="../media/image256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7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8.png"/><Relationship Id="rId3" Type="http://schemas.openxmlformats.org/officeDocument/2006/relationships/image" Target="../media/image259.png"/><Relationship Id="rId4" Type="http://schemas.openxmlformats.org/officeDocument/2006/relationships/image" Target="../media/image260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1.pn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2.png"/><Relationship Id="rId3" Type="http://schemas.openxmlformats.org/officeDocument/2006/relationships/image" Target="../media/image263.png"/><Relationship Id="rId4" Type="http://schemas.openxmlformats.org/officeDocument/2006/relationships/image" Target="../media/image264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5.png"/><Relationship Id="rId3" Type="http://schemas.openxmlformats.org/officeDocument/2006/relationships/image" Target="../media/image25.png"/><Relationship Id="rId4" Type="http://schemas.openxmlformats.org/officeDocument/2006/relationships/image" Target="../media/image266.png"/><Relationship Id="rId5" Type="http://schemas.openxmlformats.org/officeDocument/2006/relationships/image" Target="../media/image267.pn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8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9.png"/><Relationship Id="rId3" Type="http://schemas.openxmlformats.org/officeDocument/2006/relationships/image" Target="../media/image270.png"/><Relationship Id="rId4" Type="http://schemas.openxmlformats.org/officeDocument/2006/relationships/image" Target="../media/image271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2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3.png"/><Relationship Id="rId3" Type="http://schemas.openxmlformats.org/officeDocument/2006/relationships/image" Target="../media/image274.png"/><Relationship Id="rId4" Type="http://schemas.openxmlformats.org/officeDocument/2006/relationships/image" Target="../media/image275.png"/><Relationship Id="rId5" Type="http://schemas.openxmlformats.org/officeDocument/2006/relationships/image" Target="../media/image276.png"/><Relationship Id="rId6" Type="http://schemas.openxmlformats.org/officeDocument/2006/relationships/image" Target="../media/image277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8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9.png"/><Relationship Id="rId3" Type="http://schemas.openxmlformats.org/officeDocument/2006/relationships/image" Target="../media/image280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1.pn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2.png"/><Relationship Id="rId3" Type="http://schemas.openxmlformats.org/officeDocument/2006/relationships/image" Target="../media/image283.pn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4.pn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5.png"/><Relationship Id="rId3" Type="http://schemas.openxmlformats.org/officeDocument/2006/relationships/image" Target="../media/image286.pn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7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8.png"/><Relationship Id="rId3" Type="http://schemas.openxmlformats.org/officeDocument/2006/relationships/image" Target="../media/image289.png"/><Relationship Id="rId4" Type="http://schemas.openxmlformats.org/officeDocument/2006/relationships/image" Target="../media/image290.png"/><Relationship Id="rId5" Type="http://schemas.openxmlformats.org/officeDocument/2006/relationships/image" Target="../media/image291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2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3.png"/><Relationship Id="rId3" Type="http://schemas.openxmlformats.org/officeDocument/2006/relationships/image" Target="../media/image294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5.png"/><Relationship Id="rId3" Type="http://schemas.openxmlformats.org/officeDocument/2006/relationships/image" Target="../media/image296.png"/><Relationship Id="rId4" Type="http://schemas.openxmlformats.org/officeDocument/2006/relationships/image" Target="../media/image297.png"/><Relationship Id="rId5" Type="http://schemas.openxmlformats.org/officeDocument/2006/relationships/image" Target="../media/image298.png"/><Relationship Id="rId6" Type="http://schemas.openxmlformats.org/officeDocument/2006/relationships/image" Target="../media/image299.png"/><Relationship Id="rId7" Type="http://schemas.openxmlformats.org/officeDocument/2006/relationships/image" Target="../media/image75.png"/><Relationship Id="rId8" Type="http://schemas.openxmlformats.org/officeDocument/2006/relationships/image" Target="../media/image300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1.png"/><Relationship Id="rId3" Type="http://schemas.openxmlformats.org/officeDocument/2006/relationships/image" Target="../media/image302.png"/><Relationship Id="rId4" Type="http://schemas.openxmlformats.org/officeDocument/2006/relationships/image" Target="../media/image303.png"/><Relationship Id="rId5" Type="http://schemas.openxmlformats.org/officeDocument/2006/relationships/image" Target="../media/image304.png"/><Relationship Id="rId6" Type="http://schemas.openxmlformats.org/officeDocument/2006/relationships/image" Target="../media/image305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1.png"/><Relationship Id="rId3" Type="http://schemas.openxmlformats.org/officeDocument/2006/relationships/image" Target="../media/image306.png"/><Relationship Id="rId4" Type="http://schemas.openxmlformats.org/officeDocument/2006/relationships/image" Target="../media/image302.png"/><Relationship Id="rId5" Type="http://schemas.openxmlformats.org/officeDocument/2006/relationships/image" Target="../media/image307.png"/><Relationship Id="rId6" Type="http://schemas.openxmlformats.org/officeDocument/2006/relationships/image" Target="../media/image303.png"/><Relationship Id="rId7" Type="http://schemas.openxmlformats.org/officeDocument/2006/relationships/image" Target="../media/image304.png"/><Relationship Id="rId8" Type="http://schemas.openxmlformats.org/officeDocument/2006/relationships/image" Target="../media/image308.png"/><Relationship Id="rId9" Type="http://schemas.openxmlformats.org/officeDocument/2006/relationships/image" Target="../media/image305.png"/><Relationship Id="rId10" Type="http://schemas.openxmlformats.org/officeDocument/2006/relationships/image" Target="../media/image309.pn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0.png"/><Relationship Id="rId3" Type="http://schemas.openxmlformats.org/officeDocument/2006/relationships/image" Target="../media/image311.png"/><Relationship Id="rId4" Type="http://schemas.openxmlformats.org/officeDocument/2006/relationships/image" Target="../media/image312.png"/><Relationship Id="rId5" Type="http://schemas.openxmlformats.org/officeDocument/2006/relationships/image" Target="../media/image313.png"/><Relationship Id="rId6" Type="http://schemas.openxmlformats.org/officeDocument/2006/relationships/image" Target="../media/image314.pn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5.pn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6.pn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7.png"/><Relationship Id="rId3" Type="http://schemas.openxmlformats.org/officeDocument/2006/relationships/image" Target="../media/image318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9.pn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0.png"/><Relationship Id="rId3" Type="http://schemas.openxmlformats.org/officeDocument/2006/relationships/image" Target="../media/image321.png"/><Relationship Id="rId4" Type="http://schemas.openxmlformats.org/officeDocument/2006/relationships/image" Target="../media/image322.png"/><Relationship Id="rId5" Type="http://schemas.openxmlformats.org/officeDocument/2006/relationships/image" Target="../media/image323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4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5.png"/><Relationship Id="rId3" Type="http://schemas.openxmlformats.org/officeDocument/2006/relationships/image" Target="../media/image326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7.pn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8.png"/><Relationship Id="rId3" Type="http://schemas.openxmlformats.org/officeDocument/2006/relationships/image" Target="../media/image329.png"/><Relationship Id="rId4" Type="http://schemas.openxmlformats.org/officeDocument/2006/relationships/image" Target="../media/image330.pn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1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2.png"/><Relationship Id="rId3" Type="http://schemas.openxmlformats.org/officeDocument/2006/relationships/image" Target="../media/image333.png"/><Relationship Id="rId4" Type="http://schemas.openxmlformats.org/officeDocument/2006/relationships/image" Target="../media/image334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5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6.png"/><Relationship Id="rId3" Type="http://schemas.openxmlformats.org/officeDocument/2006/relationships/image" Target="../media/image337.png"/><Relationship Id="rId4" Type="http://schemas.openxmlformats.org/officeDocument/2006/relationships/image" Target="../media/image338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9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0.png"/><Relationship Id="rId3" Type="http://schemas.openxmlformats.org/officeDocument/2006/relationships/image" Target="../media/image341.png"/><Relationship Id="rId4" Type="http://schemas.openxmlformats.org/officeDocument/2006/relationships/image" Target="../media/image342.png"/><Relationship Id="rId5" Type="http://schemas.openxmlformats.org/officeDocument/2006/relationships/image" Target="../media/image343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4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5.png"/><Relationship Id="rId3" Type="http://schemas.openxmlformats.org/officeDocument/2006/relationships/image" Target="../media/image346.png"/><Relationship Id="rId4" Type="http://schemas.openxmlformats.org/officeDocument/2006/relationships/image" Target="../media/image347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8.pn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9.png"/><Relationship Id="rId3" Type="http://schemas.openxmlformats.org/officeDocument/2006/relationships/image" Target="../media/image350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1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2.png"/><Relationship Id="rId3" Type="http://schemas.openxmlformats.org/officeDocument/2006/relationships/image" Target="../media/image353.pn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4.pn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5.png"/><Relationship Id="rId3" Type="http://schemas.openxmlformats.org/officeDocument/2006/relationships/image" Target="../media/image356.png"/><Relationship Id="rId4" Type="http://schemas.openxmlformats.org/officeDocument/2006/relationships/image" Target="../media/image357.png"/><Relationship Id="rId5" Type="http://schemas.openxmlformats.org/officeDocument/2006/relationships/image" Target="../media/image358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9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0.png"/><Relationship Id="rId3" Type="http://schemas.openxmlformats.org/officeDocument/2006/relationships/image" Target="../media/image361.png"/><Relationship Id="rId4" Type="http://schemas.openxmlformats.org/officeDocument/2006/relationships/image" Target="../media/image362.png"/><Relationship Id="rId5" Type="http://schemas.openxmlformats.org/officeDocument/2006/relationships/image" Target="../media/image363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4.png"/><Relationship Id="rId3" Type="http://schemas.openxmlformats.org/officeDocument/2006/relationships/image" Target="../media/image365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6.png"/><Relationship Id="rId3" Type="http://schemas.openxmlformats.org/officeDocument/2006/relationships/image" Target="../media/image367.png"/><Relationship Id="rId4" Type="http://schemas.openxmlformats.org/officeDocument/2006/relationships/image" Target="../media/image368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9.png"/><Relationship Id="rId3" Type="http://schemas.openxmlformats.org/officeDocument/2006/relationships/image" Target="../media/image370.png"/><Relationship Id="rId4" Type="http://schemas.openxmlformats.org/officeDocument/2006/relationships/image" Target="../media/image371.png"/><Relationship Id="rId5" Type="http://schemas.openxmlformats.org/officeDocument/2006/relationships/image" Target="../media/image372.png"/><Relationship Id="rId6" Type="http://schemas.openxmlformats.org/officeDocument/2006/relationships/image" Target="../media/image373.png"/><Relationship Id="rId7" Type="http://schemas.openxmlformats.org/officeDocument/2006/relationships/image" Target="../media/image75.png"/><Relationship Id="rId8" Type="http://schemas.openxmlformats.org/officeDocument/2006/relationships/image" Target="../media/image374.png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5.png"/><Relationship Id="rId3" Type="http://schemas.openxmlformats.org/officeDocument/2006/relationships/image" Target="../media/image376.png"/><Relationship Id="rId4" Type="http://schemas.openxmlformats.org/officeDocument/2006/relationships/image" Target="../media/image377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5.png"/><Relationship Id="rId3" Type="http://schemas.openxmlformats.org/officeDocument/2006/relationships/image" Target="../media/image378.png"/><Relationship Id="rId4" Type="http://schemas.openxmlformats.org/officeDocument/2006/relationships/image" Target="../media/image376.png"/><Relationship Id="rId5" Type="http://schemas.openxmlformats.org/officeDocument/2006/relationships/image" Target="../media/image377.png"/><Relationship Id="rId6" Type="http://schemas.openxmlformats.org/officeDocument/2006/relationships/image" Target="../media/image379.png"/><Relationship Id="rId7" Type="http://schemas.openxmlformats.org/officeDocument/2006/relationships/image" Target="../media/image380.png"/><Relationship Id="rId8" Type="http://schemas.openxmlformats.org/officeDocument/2006/relationships/image" Target="../media/image381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2.png"/><Relationship Id="rId3" Type="http://schemas.openxmlformats.org/officeDocument/2006/relationships/image" Target="../media/image383.pn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4.png"/><Relationship Id="rId3" Type="http://schemas.openxmlformats.org/officeDocument/2006/relationships/image" Target="../media/image385.png"/><Relationship Id="rId4" Type="http://schemas.openxmlformats.org/officeDocument/2006/relationships/image" Target="../media/image386.png"/><Relationship Id="rId5" Type="http://schemas.openxmlformats.org/officeDocument/2006/relationships/image" Target="../media/image387.png"/><Relationship Id="rId6" Type="http://schemas.openxmlformats.org/officeDocument/2006/relationships/image" Target="../media/image388.pn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9.png"/><Relationship Id="rId3" Type="http://schemas.openxmlformats.org/officeDocument/2006/relationships/image" Target="../media/image390.png"/><Relationship Id="rId4" Type="http://schemas.openxmlformats.org/officeDocument/2006/relationships/image" Target="../media/image391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2.png"/><Relationship Id="rId3" Type="http://schemas.openxmlformats.org/officeDocument/2006/relationships/image" Target="../media/image393.png"/><Relationship Id="rId4" Type="http://schemas.openxmlformats.org/officeDocument/2006/relationships/image" Target="../media/image394.pn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5.pn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6.png"/><Relationship Id="rId3" Type="http://schemas.openxmlformats.org/officeDocument/2006/relationships/image" Target="../media/image397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8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9.png"/><Relationship Id="rId3" Type="http://schemas.openxmlformats.org/officeDocument/2006/relationships/image" Target="../media/image400.png"/><Relationship Id="rId4" Type="http://schemas.openxmlformats.org/officeDocument/2006/relationships/image" Target="../media/image401.png"/><Relationship Id="rId5" Type="http://schemas.openxmlformats.org/officeDocument/2006/relationships/image" Target="../media/image402.png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3.png"/><Relationship Id="rId3" Type="http://schemas.openxmlformats.org/officeDocument/2006/relationships/image" Target="../media/image404.pn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5.png"/><Relationship Id="rId3" Type="http://schemas.openxmlformats.org/officeDocument/2006/relationships/image" Target="../media/image406.png"/><Relationship Id="rId4" Type="http://schemas.openxmlformats.org/officeDocument/2006/relationships/image" Target="../media/image407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8.png"/><Relationship Id="rId3" Type="http://schemas.openxmlformats.org/officeDocument/2006/relationships/image" Target="../media/image409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0.png"/><Relationship Id="rId3" Type="http://schemas.openxmlformats.org/officeDocument/2006/relationships/image" Target="../media/image411.png"/><Relationship Id="rId4" Type="http://schemas.openxmlformats.org/officeDocument/2006/relationships/image" Target="../media/image412.png"/><Relationship Id="rId5" Type="http://schemas.openxmlformats.org/officeDocument/2006/relationships/image" Target="../media/image413.png"/><Relationship Id="rId6" Type="http://schemas.openxmlformats.org/officeDocument/2006/relationships/image" Target="../media/image414.png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5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6.png"/><Relationship Id="rId3" Type="http://schemas.openxmlformats.org/officeDocument/2006/relationships/image" Target="../media/image417.png"/><Relationship Id="rId4" Type="http://schemas.openxmlformats.org/officeDocument/2006/relationships/image" Target="../media/image418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9.pn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0.png"/><Relationship Id="rId3" Type="http://schemas.openxmlformats.org/officeDocument/2006/relationships/image" Target="../media/image421.png"/><Relationship Id="rId4" Type="http://schemas.openxmlformats.org/officeDocument/2006/relationships/image" Target="../media/image422.png"/><Relationship Id="rId5" Type="http://schemas.openxmlformats.org/officeDocument/2006/relationships/image" Target="../media/image423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4.pn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5.png"/><Relationship Id="rId3" Type="http://schemas.openxmlformats.org/officeDocument/2006/relationships/image" Target="../media/image426.png"/><Relationship Id="rId4" Type="http://schemas.openxmlformats.org/officeDocument/2006/relationships/image" Target="../media/image427.png"/><Relationship Id="rId5" Type="http://schemas.openxmlformats.org/officeDocument/2006/relationships/image" Target="../media/image428.png"/><Relationship Id="rId6" Type="http://schemas.openxmlformats.org/officeDocument/2006/relationships/image" Target="../media/image429.png"/><Relationship Id="rId7" Type="http://schemas.openxmlformats.org/officeDocument/2006/relationships/image" Target="../media/image430.png"/><Relationship Id="rId8" Type="http://schemas.openxmlformats.org/officeDocument/2006/relationships/image" Target="../media/image431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2.png"/><Relationship Id="rId3" Type="http://schemas.openxmlformats.org/officeDocument/2006/relationships/image" Target="../media/image433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4.png"/><Relationship Id="rId3" Type="http://schemas.openxmlformats.org/officeDocument/2006/relationships/image" Target="../media/image435.png"/><Relationship Id="rId4" Type="http://schemas.openxmlformats.org/officeDocument/2006/relationships/image" Target="../media/image436.png"/><Relationship Id="rId5" Type="http://schemas.openxmlformats.org/officeDocument/2006/relationships/image" Target="../media/image437.pn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8.png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9.png"/><Relationship Id="rId3" Type="http://schemas.openxmlformats.org/officeDocument/2006/relationships/image" Target="../media/image440.png"/><Relationship Id="rId4" Type="http://schemas.openxmlformats.org/officeDocument/2006/relationships/image" Target="../media/image441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2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3.png"/><Relationship Id="rId3" Type="http://schemas.openxmlformats.org/officeDocument/2006/relationships/image" Target="../media/image444.png"/><Relationship Id="rId4" Type="http://schemas.openxmlformats.org/officeDocument/2006/relationships/image" Target="../media/image445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6.pn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7.png"/><Relationship Id="rId3" Type="http://schemas.openxmlformats.org/officeDocument/2006/relationships/image" Target="../media/image448.png"/><Relationship Id="rId4" Type="http://schemas.openxmlformats.org/officeDocument/2006/relationships/image" Target="../media/image449.png"/><Relationship Id="rId5" Type="http://schemas.openxmlformats.org/officeDocument/2006/relationships/image" Target="../media/image450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1.png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2.png"/><Relationship Id="rId3" Type="http://schemas.openxmlformats.org/officeDocument/2006/relationships/image" Target="../media/image453.png"/><Relationship Id="rId4" Type="http://schemas.openxmlformats.org/officeDocument/2006/relationships/image" Target="../media/image454.png"/><Relationship Id="rId5" Type="http://schemas.openxmlformats.org/officeDocument/2006/relationships/image" Target="../media/image455.pn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6.png"/><Relationship Id="rId3" Type="http://schemas.openxmlformats.org/officeDocument/2006/relationships/image" Target="../media/image457.png"/><Relationship Id="rId4" Type="http://schemas.openxmlformats.org/officeDocument/2006/relationships/image" Target="../media/image458.png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9.png"/><Relationship Id="rId3" Type="http://schemas.openxmlformats.org/officeDocument/2006/relationships/image" Target="../media/image460.png"/><Relationship Id="rId4" Type="http://schemas.openxmlformats.org/officeDocument/2006/relationships/image" Target="../media/image461.png"/><Relationship Id="rId5" Type="http://schemas.openxmlformats.org/officeDocument/2006/relationships/image" Target="../media/image462.png"/><Relationship Id="rId6" Type="http://schemas.openxmlformats.org/officeDocument/2006/relationships/image" Target="../media/image463.png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4.png"/><Relationship Id="rId3" Type="http://schemas.openxmlformats.org/officeDocument/2006/relationships/image" Target="../media/image465.png"/><Relationship Id="rId4" Type="http://schemas.openxmlformats.org/officeDocument/2006/relationships/image" Target="../media/image466.png"/><Relationship Id="rId5" Type="http://schemas.openxmlformats.org/officeDocument/2006/relationships/image" Target="../media/image467.png"/><Relationship Id="rId6" Type="http://schemas.openxmlformats.org/officeDocument/2006/relationships/image" Target="../media/image468.png"/><Relationship Id="rId7" Type="http://schemas.openxmlformats.org/officeDocument/2006/relationships/image" Target="../media/image469.png"/><Relationship Id="rId8" Type="http://schemas.openxmlformats.org/officeDocument/2006/relationships/image" Target="../media/image470.png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1.png"/><Relationship Id="rId3" Type="http://schemas.openxmlformats.org/officeDocument/2006/relationships/image" Target="../media/image472.png"/><Relationship Id="rId4" Type="http://schemas.openxmlformats.org/officeDocument/2006/relationships/image" Target="../media/image153.png"/><Relationship Id="rId5" Type="http://schemas.openxmlformats.org/officeDocument/2006/relationships/image" Target="../media/image473.png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1.png"/><Relationship Id="rId3" Type="http://schemas.openxmlformats.org/officeDocument/2006/relationships/image" Target="../media/image472.png"/><Relationship Id="rId4" Type="http://schemas.openxmlformats.org/officeDocument/2006/relationships/image" Target="../media/image153.png"/><Relationship Id="rId5" Type="http://schemas.openxmlformats.org/officeDocument/2006/relationships/image" Target="../media/image473.png"/><Relationship Id="rId6" Type="http://schemas.openxmlformats.org/officeDocument/2006/relationships/image" Target="../media/image474.png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5.png"/><Relationship Id="rId3" Type="http://schemas.openxmlformats.org/officeDocument/2006/relationships/image" Target="../media/image476.png"/><Relationship Id="rId4" Type="http://schemas.openxmlformats.org/officeDocument/2006/relationships/image" Target="../media/image477.png"/><Relationship Id="rId5" Type="http://schemas.openxmlformats.org/officeDocument/2006/relationships/image" Target="../media/image478.png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9.png"/><Relationship Id="rId3" Type="http://schemas.openxmlformats.org/officeDocument/2006/relationships/image" Target="../media/image480.png"/><Relationship Id="rId4" Type="http://schemas.openxmlformats.org/officeDocument/2006/relationships/image" Target="../media/image481.png"/><Relationship Id="rId5" Type="http://schemas.openxmlformats.org/officeDocument/2006/relationships/image" Target="../media/image482.png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3.png"/><Relationship Id="rId3" Type="http://schemas.openxmlformats.org/officeDocument/2006/relationships/image" Target="../media/image484.png"/><Relationship Id="rId4" Type="http://schemas.openxmlformats.org/officeDocument/2006/relationships/image" Target="../media/image485.png"/><Relationship Id="rId5" Type="http://schemas.openxmlformats.org/officeDocument/2006/relationships/image" Target="../media/image486.png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7.png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8.png"/><Relationship Id="rId3" Type="http://schemas.openxmlformats.org/officeDocument/2006/relationships/image" Target="../media/image489.png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0.png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1.png"/><Relationship Id="rId3" Type="http://schemas.openxmlformats.org/officeDocument/2006/relationships/image" Target="../media/image492.png"/><Relationship Id="rId4" Type="http://schemas.openxmlformats.org/officeDocument/2006/relationships/image" Target="../media/image493.png"/><Relationship Id="rId5" Type="http://schemas.openxmlformats.org/officeDocument/2006/relationships/image" Target="../media/image494.png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5.png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6.png"/><Relationship Id="rId3" Type="http://schemas.openxmlformats.org/officeDocument/2006/relationships/image" Target="../media/image497.png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8.png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9.png"/><Relationship Id="rId3" Type="http://schemas.openxmlformats.org/officeDocument/2006/relationships/image" Target="../media/image500.png"/><Relationship Id="rId4" Type="http://schemas.openxmlformats.org/officeDocument/2006/relationships/image" Target="../media/image501.png"/><Relationship Id="rId5" Type="http://schemas.openxmlformats.org/officeDocument/2006/relationships/image" Target="../media/image502.png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3.png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4.png"/><Relationship Id="rId3" Type="http://schemas.openxmlformats.org/officeDocument/2006/relationships/image" Target="../media/image505.png"/><Relationship Id="rId4" Type="http://schemas.openxmlformats.org/officeDocument/2006/relationships/image" Target="../media/image506.png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7.png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8.png"/><Relationship Id="rId3" Type="http://schemas.openxmlformats.org/officeDocument/2006/relationships/image" Target="../media/image509.png"/><Relationship Id="rId4" Type="http://schemas.openxmlformats.org/officeDocument/2006/relationships/image" Target="../media/image510.png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1.png"/><Relationship Id="rId3" Type="http://schemas.openxmlformats.org/officeDocument/2006/relationships/image" Target="../media/image512.png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3.png"/><Relationship Id="rId3" Type="http://schemas.openxmlformats.org/officeDocument/2006/relationships/image" Target="../media/image514.png"/><Relationship Id="rId4" Type="http://schemas.openxmlformats.org/officeDocument/2006/relationships/image" Target="../media/image515.png"/><Relationship Id="rId5" Type="http://schemas.openxmlformats.org/officeDocument/2006/relationships/image" Target="../media/image516.png"/><Relationship Id="rId6" Type="http://schemas.openxmlformats.org/officeDocument/2006/relationships/image" Target="../media/image517.png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8.png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9.png"/><Relationship Id="rId3" Type="http://schemas.openxmlformats.org/officeDocument/2006/relationships/image" Target="../media/image520.png"/><Relationship Id="rId4" Type="http://schemas.openxmlformats.org/officeDocument/2006/relationships/image" Target="../media/image493.png"/><Relationship Id="rId5" Type="http://schemas.openxmlformats.org/officeDocument/2006/relationships/image" Target="../media/image521.png"/><Relationship Id="rId6" Type="http://schemas.openxmlformats.org/officeDocument/2006/relationships/image" Target="../media/image522.png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3.png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4.png"/><Relationship Id="rId3" Type="http://schemas.openxmlformats.org/officeDocument/2006/relationships/image" Target="../media/image525.png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6.png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7.png"/><Relationship Id="rId3" Type="http://schemas.openxmlformats.org/officeDocument/2006/relationships/image" Target="../media/image528.png"/><Relationship Id="rId4" Type="http://schemas.openxmlformats.org/officeDocument/2006/relationships/image" Target="../media/image529.png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0.png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1.png"/><Relationship Id="rId3" Type="http://schemas.openxmlformats.org/officeDocument/2006/relationships/image" Target="../media/image532.png"/><Relationship Id="rId4" Type="http://schemas.openxmlformats.org/officeDocument/2006/relationships/image" Target="../media/image533.png"/><Relationship Id="rId5" Type="http://schemas.openxmlformats.org/officeDocument/2006/relationships/image" Target="../media/image534.png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5.png"/><Relationship Id="rId3" Type="http://schemas.openxmlformats.org/officeDocument/2006/relationships/image" Target="../media/image536.png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5.png"/><Relationship Id="rId3" Type="http://schemas.openxmlformats.org/officeDocument/2006/relationships/image" Target="../media/image537.png"/><Relationship Id="rId4" Type="http://schemas.openxmlformats.org/officeDocument/2006/relationships/image" Target="../media/image538.png"/><Relationship Id="rId5" Type="http://schemas.openxmlformats.org/officeDocument/2006/relationships/image" Target="../media/image539.png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0.png"/><Relationship Id="rId3" Type="http://schemas.openxmlformats.org/officeDocument/2006/relationships/image" Target="../media/image541.png"/><Relationship Id="rId4" Type="http://schemas.openxmlformats.org/officeDocument/2006/relationships/image" Target="../media/image542.png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3.png"/><Relationship Id="rId3" Type="http://schemas.openxmlformats.org/officeDocument/2006/relationships/image" Target="../media/image544.png"/><Relationship Id="rId4" Type="http://schemas.openxmlformats.org/officeDocument/2006/relationships/image" Target="../media/image545.png"/><Relationship Id="rId5" Type="http://schemas.openxmlformats.org/officeDocument/2006/relationships/image" Target="../media/image546.png"/><Relationship Id="rId6" Type="http://schemas.openxmlformats.org/officeDocument/2006/relationships/image" Target="../media/image547.png"/><Relationship Id="rId7" Type="http://schemas.openxmlformats.org/officeDocument/2006/relationships/image" Target="../media/image548.png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9.png"/><Relationship Id="rId3" Type="http://schemas.openxmlformats.org/officeDocument/2006/relationships/image" Target="../media/image550.png"/><Relationship Id="rId4" Type="http://schemas.openxmlformats.org/officeDocument/2006/relationships/image" Target="../media/image551.png"/><Relationship Id="rId5" Type="http://schemas.openxmlformats.org/officeDocument/2006/relationships/image" Target="../media/image552.png"/><Relationship Id="rId6" Type="http://schemas.openxmlformats.org/officeDocument/2006/relationships/image" Target="../media/image553.png"/><Relationship Id="rId7" Type="http://schemas.openxmlformats.org/officeDocument/2006/relationships/image" Target="../media/image75.png"/><Relationship Id="rId8" Type="http://schemas.openxmlformats.org/officeDocument/2006/relationships/image" Target="../media/image554.png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5.png"/><Relationship Id="rId3" Type="http://schemas.openxmlformats.org/officeDocument/2006/relationships/image" Target="../media/image556.png"/><Relationship Id="rId4" Type="http://schemas.openxmlformats.org/officeDocument/2006/relationships/image" Target="../media/image557.png"/><Relationship Id="rId5" Type="http://schemas.openxmlformats.org/officeDocument/2006/relationships/image" Target="../media/image331.png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5.png"/><Relationship Id="rId3" Type="http://schemas.openxmlformats.org/officeDocument/2006/relationships/image" Target="../media/image556.png"/><Relationship Id="rId4" Type="http://schemas.openxmlformats.org/officeDocument/2006/relationships/image" Target="../media/image557.png"/><Relationship Id="rId5" Type="http://schemas.openxmlformats.org/officeDocument/2006/relationships/image" Target="../media/image331.png"/><Relationship Id="rId6" Type="http://schemas.openxmlformats.org/officeDocument/2006/relationships/image" Target="../media/image558.png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9.png"/><Relationship Id="rId3" Type="http://schemas.openxmlformats.org/officeDocument/2006/relationships/image" Target="../media/image560.png"/><Relationship Id="rId4" Type="http://schemas.openxmlformats.org/officeDocument/2006/relationships/image" Target="../media/image561.png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2.png"/><Relationship Id="rId3" Type="http://schemas.openxmlformats.org/officeDocument/2006/relationships/image" Target="../media/image563.png"/><Relationship Id="rId4" Type="http://schemas.openxmlformats.org/officeDocument/2006/relationships/image" Target="../media/image564.png"/><Relationship Id="rId5" Type="http://schemas.openxmlformats.org/officeDocument/2006/relationships/image" Target="../media/image565.png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6.png"/><Relationship Id="rId3" Type="http://schemas.openxmlformats.org/officeDocument/2006/relationships/image" Target="../media/image567.png"/><Relationship Id="rId4" Type="http://schemas.openxmlformats.org/officeDocument/2006/relationships/image" Target="../media/image568.png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9.png"/></Relationships>
</file>

<file path=ppt/slides/_rels/slide2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0.png"/><Relationship Id="rId3" Type="http://schemas.openxmlformats.org/officeDocument/2006/relationships/image" Target="../media/image571.png"/></Relationships>
</file>

<file path=ppt/slides/_rels/slide2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2.png"/></Relationships>
</file>

<file path=ppt/slides/_rels/slide2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3.png"/><Relationship Id="rId3" Type="http://schemas.openxmlformats.org/officeDocument/2006/relationships/image" Target="../media/image574.png"/><Relationship Id="rId4" Type="http://schemas.openxmlformats.org/officeDocument/2006/relationships/image" Target="../media/image575.png"/><Relationship Id="rId5" Type="http://schemas.openxmlformats.org/officeDocument/2006/relationships/image" Target="../media/image576.png"/><Relationship Id="rId6" Type="http://schemas.openxmlformats.org/officeDocument/2006/relationships/image" Target="../media/image577.png"/></Relationships>
</file>

<file path=ppt/slides/_rels/slide2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8.png"/></Relationships>
</file>

<file path=ppt/slides/_rels/slide2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9.png"/><Relationship Id="rId3" Type="http://schemas.openxmlformats.org/officeDocument/2006/relationships/image" Target="../media/image580.png"/></Relationships>
</file>

<file path=ppt/slides/_rels/slide2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1.png"/></Relationships>
</file>

<file path=ppt/slides/_rels/slide2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2.png"/><Relationship Id="rId3" Type="http://schemas.openxmlformats.org/officeDocument/2006/relationships/image" Target="../media/image583.png"/><Relationship Id="rId4" Type="http://schemas.openxmlformats.org/officeDocument/2006/relationships/image" Target="../media/image584.png"/></Relationships>
</file>

<file path=ppt/slides/_rels/slide2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5.png"/></Relationships>
</file>

<file path=ppt/slides/_rels/slide2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6.png"/><Relationship Id="rId3" Type="http://schemas.openxmlformats.org/officeDocument/2006/relationships/image" Target="../media/image587.png"/><Relationship Id="rId4" Type="http://schemas.openxmlformats.org/officeDocument/2006/relationships/image" Target="../media/image588.png"/></Relationships>
</file>

<file path=ppt/slides/_rels/slide2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9.png"/></Relationships>
</file>

<file path=ppt/slides/_rels/slide2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0.png"/><Relationship Id="rId3" Type="http://schemas.openxmlformats.org/officeDocument/2006/relationships/image" Target="../media/image591.png"/><Relationship Id="rId4" Type="http://schemas.openxmlformats.org/officeDocument/2006/relationships/image" Target="../media/image592.png"/></Relationships>
</file>

<file path=ppt/slides/_rels/slide2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3.png"/><Relationship Id="rId3" Type="http://schemas.openxmlformats.org/officeDocument/2006/relationships/image" Target="../media/image594.png"/></Relationships>
</file>

<file path=ppt/slides/_rels/slide2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3.png"/><Relationship Id="rId3" Type="http://schemas.openxmlformats.org/officeDocument/2006/relationships/image" Target="../media/image595.png"/><Relationship Id="rId4" Type="http://schemas.openxmlformats.org/officeDocument/2006/relationships/image" Target="../media/image596.png"/><Relationship Id="rId5" Type="http://schemas.openxmlformats.org/officeDocument/2006/relationships/image" Target="../media/image597.png"/><Relationship Id="rId6" Type="http://schemas.openxmlformats.org/officeDocument/2006/relationships/image" Target="../media/image598.png"/><Relationship Id="rId7" Type="http://schemas.openxmlformats.org/officeDocument/2006/relationships/image" Target="../media/image599.png"/></Relationships>
</file>

<file path=ppt/slides/_rels/slide2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0.png"/></Relationships>
</file>

<file path=ppt/slides/_rels/slide2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1.png"/><Relationship Id="rId3" Type="http://schemas.openxmlformats.org/officeDocument/2006/relationships/image" Target="../media/image602.png"/><Relationship Id="rId4" Type="http://schemas.openxmlformats.org/officeDocument/2006/relationships/image" Target="../media/image603.png"/></Relationships>
</file>

<file path=ppt/slides/_rels/slide2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4.png"/></Relationships>
</file>

<file path=ppt/slides/_rels/slide2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5.png"/><Relationship Id="rId3" Type="http://schemas.openxmlformats.org/officeDocument/2006/relationships/image" Target="../media/image606.png"/><Relationship Id="rId4" Type="http://schemas.openxmlformats.org/officeDocument/2006/relationships/image" Target="../media/image607.png"/></Relationships>
</file>

<file path=ppt/slides/_rels/slide2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8.png"/></Relationships>
</file>

<file path=ppt/slides/_rels/slide2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9.png"/><Relationship Id="rId3" Type="http://schemas.openxmlformats.org/officeDocument/2006/relationships/image" Target="../media/image610.png"/><Relationship Id="rId4" Type="http://schemas.openxmlformats.org/officeDocument/2006/relationships/image" Target="../media/image611.png"/></Relationships>
</file>

<file path=ppt/slides/_rels/slide2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2.png"/></Relationships>
</file>

<file path=ppt/slides/_rels/slide2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3.png"/><Relationship Id="rId3" Type="http://schemas.openxmlformats.org/officeDocument/2006/relationships/image" Target="../media/image614.png"/><Relationship Id="rId4" Type="http://schemas.openxmlformats.org/officeDocument/2006/relationships/image" Target="../media/image615.png"/><Relationship Id="rId5" Type="http://schemas.openxmlformats.org/officeDocument/2006/relationships/image" Target="../media/image616.png"/></Relationships>
</file>

<file path=ppt/slides/_rels/slide2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5.png"/><Relationship Id="rId3" Type="http://schemas.openxmlformats.org/officeDocument/2006/relationships/image" Target="../media/image617.png"/></Relationships>
</file>

<file path=ppt/slides/_rels/slide2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5.png"/><Relationship Id="rId3" Type="http://schemas.openxmlformats.org/officeDocument/2006/relationships/image" Target="../media/image618.png"/><Relationship Id="rId4" Type="http://schemas.openxmlformats.org/officeDocument/2006/relationships/image" Target="../media/image619.png"/><Relationship Id="rId5" Type="http://schemas.openxmlformats.org/officeDocument/2006/relationships/image" Target="../media/image620.png"/></Relationships>
</file>

<file path=ppt/slides/_rels/slide2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1.png"/><Relationship Id="rId3" Type="http://schemas.openxmlformats.org/officeDocument/2006/relationships/image" Target="../media/image622.png"/><Relationship Id="rId4" Type="http://schemas.openxmlformats.org/officeDocument/2006/relationships/image" Target="../media/image623.png"/></Relationships>
</file>

<file path=ppt/slides/_rels/slide2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4.png"/><Relationship Id="rId3" Type="http://schemas.openxmlformats.org/officeDocument/2006/relationships/image" Target="../media/image625.png"/><Relationship Id="rId4" Type="http://schemas.openxmlformats.org/officeDocument/2006/relationships/image" Target="../media/image623.png"/><Relationship Id="rId5" Type="http://schemas.openxmlformats.org/officeDocument/2006/relationships/image" Target="../media/image626.png"/><Relationship Id="rId6" Type="http://schemas.openxmlformats.org/officeDocument/2006/relationships/image" Target="../media/image627.png"/><Relationship Id="rId7" Type="http://schemas.openxmlformats.org/officeDocument/2006/relationships/image" Target="../media/image597.png"/><Relationship Id="rId8" Type="http://schemas.openxmlformats.org/officeDocument/2006/relationships/image" Target="../media/image628.png"/><Relationship Id="rId9" Type="http://schemas.openxmlformats.org/officeDocument/2006/relationships/image" Target="../media/image629.png"/></Relationships>
</file>

<file path=ppt/slides/_rels/slide2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0.png"/><Relationship Id="rId3" Type="http://schemas.openxmlformats.org/officeDocument/2006/relationships/image" Target="../media/image631.png"/><Relationship Id="rId4" Type="http://schemas.openxmlformats.org/officeDocument/2006/relationships/image" Target="../media/image632.png"/><Relationship Id="rId5" Type="http://schemas.openxmlformats.org/officeDocument/2006/relationships/image" Target="../media/image633.png"/><Relationship Id="rId6" Type="http://schemas.openxmlformats.org/officeDocument/2006/relationships/image" Target="../media/image634.png"/><Relationship Id="rId7" Type="http://schemas.openxmlformats.org/officeDocument/2006/relationships/image" Target="../media/image75.png"/><Relationship Id="rId8" Type="http://schemas.openxmlformats.org/officeDocument/2006/relationships/image" Target="../media/image635.png"/></Relationships>
</file>

<file path=ppt/slides/_rels/slide2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6.png"/><Relationship Id="rId3" Type="http://schemas.openxmlformats.org/officeDocument/2006/relationships/image" Target="../media/image637.png"/><Relationship Id="rId4" Type="http://schemas.openxmlformats.org/officeDocument/2006/relationships/image" Target="../media/image638.png"/></Relationships>
</file>

<file path=ppt/slides/_rels/slide2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6.png"/><Relationship Id="rId3" Type="http://schemas.openxmlformats.org/officeDocument/2006/relationships/image" Target="../media/image637.png"/><Relationship Id="rId4" Type="http://schemas.openxmlformats.org/officeDocument/2006/relationships/image" Target="../media/image638.png"/></Relationships>
</file>

<file path=ppt/slides/_rels/slide2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9.png"/><Relationship Id="rId3" Type="http://schemas.openxmlformats.org/officeDocument/2006/relationships/image" Target="../media/image640.png"/><Relationship Id="rId4" Type="http://schemas.openxmlformats.org/officeDocument/2006/relationships/image" Target="../media/image641.png"/><Relationship Id="rId5" Type="http://schemas.openxmlformats.org/officeDocument/2006/relationships/image" Target="../media/image642.png"/></Relationships>
</file>

<file path=ppt/slides/_rels/slide2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3.png"/><Relationship Id="rId3" Type="http://schemas.openxmlformats.org/officeDocument/2006/relationships/image" Target="../media/image644.png"/><Relationship Id="rId4" Type="http://schemas.openxmlformats.org/officeDocument/2006/relationships/image" Target="../media/image645.png"/></Relationships>
</file>

<file path=ppt/slides/_rels/slide2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6.png"/><Relationship Id="rId3" Type="http://schemas.openxmlformats.org/officeDocument/2006/relationships/image" Target="../media/image647.png"/></Relationships>
</file>

<file path=ppt/slides/_rels/slide2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8.png"/></Relationships>
</file>

<file path=ppt/slides/_rels/slide2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9.png"/><Relationship Id="rId3" Type="http://schemas.openxmlformats.org/officeDocument/2006/relationships/image" Target="../media/image650.png"/></Relationships>
</file>

<file path=ppt/slides/_rels/slide2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1.png"/><Relationship Id="rId3" Type="http://schemas.openxmlformats.org/officeDocument/2006/relationships/image" Target="../media/image652.png"/><Relationship Id="rId4" Type="http://schemas.openxmlformats.org/officeDocument/2006/relationships/image" Target="../media/image653.png"/></Relationships>
</file>

<file path=ppt/slides/_rels/slide2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4.png"/><Relationship Id="rId3" Type="http://schemas.openxmlformats.org/officeDocument/2006/relationships/image" Target="../media/image655.png"/></Relationships>
</file>

<file path=ppt/slides/_rels/slide2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6.png"/><Relationship Id="rId3" Type="http://schemas.openxmlformats.org/officeDocument/2006/relationships/image" Target="../media/image657.png"/><Relationship Id="rId4" Type="http://schemas.openxmlformats.org/officeDocument/2006/relationships/image" Target="../media/image658.png"/><Relationship Id="rId5" Type="http://schemas.openxmlformats.org/officeDocument/2006/relationships/image" Target="../media/image659.png"/><Relationship Id="rId6" Type="http://schemas.openxmlformats.org/officeDocument/2006/relationships/image" Target="../media/image660.png"/></Relationships>
</file>

<file path=ppt/slides/_rels/slide2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1.png"/><Relationship Id="rId3" Type="http://schemas.openxmlformats.org/officeDocument/2006/relationships/image" Target="../media/image662.png"/></Relationships>
</file>

<file path=ppt/slides/_rels/slide2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3.png"/></Relationships>
</file>

<file path=ppt/slides/_rels/slide2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4.png"/><Relationship Id="rId3" Type="http://schemas.openxmlformats.org/officeDocument/2006/relationships/image" Target="../media/image665.png"/><Relationship Id="rId4" Type="http://schemas.openxmlformats.org/officeDocument/2006/relationships/image" Target="../media/image666.png"/></Relationships>
</file>

<file path=ppt/slides/_rels/slide2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7.png"/></Relationships>
</file>

<file path=ppt/slides/_rels/slide2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8.png"/><Relationship Id="rId3" Type="http://schemas.openxmlformats.org/officeDocument/2006/relationships/image" Target="../media/image669.png"/></Relationships>
</file>

<file path=ppt/slides/_rels/slide2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0.png"/><Relationship Id="rId3" Type="http://schemas.openxmlformats.org/officeDocument/2006/relationships/image" Target="../media/image671.png"/><Relationship Id="rId4" Type="http://schemas.openxmlformats.org/officeDocument/2006/relationships/image" Target="../media/image672.png"/><Relationship Id="rId5" Type="http://schemas.openxmlformats.org/officeDocument/2006/relationships/image" Target="../media/image673.png"/></Relationships>
</file>

<file path=ppt/slides/_rels/slide2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4.png"/></Relationships>
</file>

<file path=ppt/slides/_rels/slide3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5.png"/><Relationship Id="rId3" Type="http://schemas.openxmlformats.org/officeDocument/2006/relationships/image" Target="../media/image676.png"/></Relationships>
</file>

<file path=ppt/slides/_rels/slide3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7.png"/><Relationship Id="rId3" Type="http://schemas.openxmlformats.org/officeDocument/2006/relationships/image" Target="../media/image678.png"/><Relationship Id="rId4" Type="http://schemas.openxmlformats.org/officeDocument/2006/relationships/image" Target="../media/image679.png"/><Relationship Id="rId5" Type="http://schemas.openxmlformats.org/officeDocument/2006/relationships/image" Target="../media/image680.png"/></Relationships>
</file>

<file path=ppt/slides/_rels/slide3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1.png"/><Relationship Id="rId3" Type="http://schemas.openxmlformats.org/officeDocument/2006/relationships/image" Target="../media/image682.png"/></Relationships>
</file>

<file path=ppt/slides/_rels/slide3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3.png"/><Relationship Id="rId3" Type="http://schemas.openxmlformats.org/officeDocument/2006/relationships/image" Target="../media/image684.png"/><Relationship Id="rId4" Type="http://schemas.openxmlformats.org/officeDocument/2006/relationships/image" Target="../media/image685.png"/><Relationship Id="rId5" Type="http://schemas.openxmlformats.org/officeDocument/2006/relationships/image" Target="../media/image686.png"/><Relationship Id="rId6" Type="http://schemas.openxmlformats.org/officeDocument/2006/relationships/image" Target="../media/image687.png"/></Relationships>
</file>

<file path=ppt/slides/_rels/slide3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8.png"/><Relationship Id="rId3" Type="http://schemas.openxmlformats.org/officeDocument/2006/relationships/image" Target="../media/image689.png"/></Relationships>
</file>

<file path=ppt/slides/_rels/slide3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0.png"/></Relationships>
</file>

<file path=ppt/slides/_rels/slide3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1.png"/><Relationship Id="rId3" Type="http://schemas.openxmlformats.org/officeDocument/2006/relationships/image" Target="../media/image692.png"/><Relationship Id="rId4" Type="http://schemas.openxmlformats.org/officeDocument/2006/relationships/image" Target="../media/image693.png"/></Relationships>
</file>

<file path=ppt/slides/_rels/slide3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4.png"/><Relationship Id="rId3" Type="http://schemas.openxmlformats.org/officeDocument/2006/relationships/image" Target="../media/image695.png"/><Relationship Id="rId4" Type="http://schemas.openxmlformats.org/officeDocument/2006/relationships/image" Target="../media/image696.png"/><Relationship Id="rId5" Type="http://schemas.openxmlformats.org/officeDocument/2006/relationships/image" Target="../media/image697.png"/><Relationship Id="rId6" Type="http://schemas.openxmlformats.org/officeDocument/2006/relationships/image" Target="../media/image698.png"/></Relationships>
</file>

<file path=ppt/slides/_rels/slide3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9.png"/><Relationship Id="rId3" Type="http://schemas.openxmlformats.org/officeDocument/2006/relationships/image" Target="../media/image700.png"/></Relationships>
</file>

<file path=ppt/slides/_rels/slide3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9.png"/><Relationship Id="rId3" Type="http://schemas.openxmlformats.org/officeDocument/2006/relationships/image" Target="../media/image701.png"/><Relationship Id="rId4" Type="http://schemas.openxmlformats.org/officeDocument/2006/relationships/image" Target="../media/image700.png"/><Relationship Id="rId5" Type="http://schemas.openxmlformats.org/officeDocument/2006/relationships/image" Target="../media/image702.png"/></Relationships>
</file>

<file path=ppt/slides/_rels/slide3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3.png"/><Relationship Id="rId3" Type="http://schemas.openxmlformats.org/officeDocument/2006/relationships/image" Target="../media/image704.png"/></Relationships>
</file>

<file path=ppt/slides/_rels/slide3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5.png"/><Relationship Id="rId3" Type="http://schemas.openxmlformats.org/officeDocument/2006/relationships/image" Target="../media/image706.png"/><Relationship Id="rId4" Type="http://schemas.openxmlformats.org/officeDocument/2006/relationships/image" Target="../media/image707.png"/></Relationships>
</file>

<file path=ppt/slides/_rels/slide3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8.png"/><Relationship Id="rId3" Type="http://schemas.openxmlformats.org/officeDocument/2006/relationships/image" Target="../media/image709.png"/></Relationships>
</file>

<file path=ppt/slides/_rels/slide3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0.png"/><Relationship Id="rId3" Type="http://schemas.openxmlformats.org/officeDocument/2006/relationships/image" Target="../media/image711.png"/></Relationships>
</file>

<file path=ppt/slides/_rels/slide3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2.png"/></Relationships>
</file>

<file path=ppt/slides/_rels/slide3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3.png"/><Relationship Id="rId3" Type="http://schemas.openxmlformats.org/officeDocument/2006/relationships/image" Target="../media/image714.png"/></Relationships>
</file>

<file path=ppt/slides/_rels/slide3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5.png"/><Relationship Id="rId3" Type="http://schemas.openxmlformats.org/officeDocument/2006/relationships/image" Target="../media/image716.png"/><Relationship Id="rId4" Type="http://schemas.openxmlformats.org/officeDocument/2006/relationships/image" Target="../media/image717.png"/></Relationships>
</file>

<file path=ppt/slides/_rels/slide3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8.png"/><Relationship Id="rId3" Type="http://schemas.openxmlformats.org/officeDocument/2006/relationships/image" Target="../media/image719.png"/></Relationships>
</file>

<file path=ppt/slides/_rels/slide3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0.png"/><Relationship Id="rId3" Type="http://schemas.openxmlformats.org/officeDocument/2006/relationships/image" Target="../media/image721.png"/><Relationship Id="rId4" Type="http://schemas.openxmlformats.org/officeDocument/2006/relationships/image" Target="../media/image722.png"/><Relationship Id="rId5" Type="http://schemas.openxmlformats.org/officeDocument/2006/relationships/image" Target="../media/image723.png"/><Relationship Id="rId6" Type="http://schemas.openxmlformats.org/officeDocument/2006/relationships/image" Target="../media/image724.png"/></Relationships>
</file>

<file path=ppt/slides/_rels/slide3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5.png"/></Relationships>
</file>

<file path=ppt/slides/_rels/slide3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6.png"/><Relationship Id="rId3" Type="http://schemas.openxmlformats.org/officeDocument/2006/relationships/image" Target="../media/image727.png"/></Relationships>
</file>

<file path=ppt/slides/_rels/slide3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8.png"/><Relationship Id="rId3" Type="http://schemas.openxmlformats.org/officeDocument/2006/relationships/image" Target="../media/image729.png"/></Relationships>
</file>

<file path=ppt/slides/_rels/slide3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0.png"/></Relationships>
</file>

<file path=ppt/slides/_rels/slide3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1.png"/><Relationship Id="rId3" Type="http://schemas.openxmlformats.org/officeDocument/2006/relationships/image" Target="../media/image732.png"/><Relationship Id="rId4" Type="http://schemas.openxmlformats.org/officeDocument/2006/relationships/image" Target="../media/image733.png"/></Relationships>
</file>

<file path=ppt/slides/_rels/slide3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4.png"/></Relationships>
</file>

<file path=ppt/slides/_rels/slide3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5.png"/></Relationships>
</file>

<file path=ppt/slides/_rels/slide3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6.png"/><Relationship Id="rId3" Type="http://schemas.openxmlformats.org/officeDocument/2006/relationships/image" Target="../media/image737.png"/></Relationships>
</file>

<file path=ppt/slides/_rels/slide3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8.png"/><Relationship Id="rId3" Type="http://schemas.openxmlformats.org/officeDocument/2006/relationships/image" Target="../media/image739.png"/><Relationship Id="rId4" Type="http://schemas.openxmlformats.org/officeDocument/2006/relationships/image" Target="../media/image740.png"/><Relationship Id="rId5" Type="http://schemas.openxmlformats.org/officeDocument/2006/relationships/image" Target="../media/image741.png"/><Relationship Id="rId6" Type="http://schemas.openxmlformats.org/officeDocument/2006/relationships/image" Target="../media/image742.png"/></Relationships>
</file>

<file path=ppt/slides/_rels/slide3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3.png"/><Relationship Id="rId3" Type="http://schemas.openxmlformats.org/officeDocument/2006/relationships/image" Target="../media/image744.png"/></Relationships>
</file>

<file path=ppt/slides/_rels/slide3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5.png"/><Relationship Id="rId3" Type="http://schemas.openxmlformats.org/officeDocument/2006/relationships/image" Target="../media/image746.png"/><Relationship Id="rId4" Type="http://schemas.openxmlformats.org/officeDocument/2006/relationships/image" Target="../media/image747.png"/><Relationship Id="rId5" Type="http://schemas.openxmlformats.org/officeDocument/2006/relationships/image" Target="../media/image748.png"/></Relationships>
</file>

<file path=ppt/slides/_rels/slide3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9.png"/><Relationship Id="rId3" Type="http://schemas.openxmlformats.org/officeDocument/2006/relationships/image" Target="../media/image750.png"/></Relationships>
</file>

<file path=ppt/slides/_rels/slide3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1.png"/><Relationship Id="rId3" Type="http://schemas.openxmlformats.org/officeDocument/2006/relationships/image" Target="../media/image752.png"/></Relationships>
</file>

<file path=ppt/slides/_rels/slide3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3.png"/><Relationship Id="rId3" Type="http://schemas.openxmlformats.org/officeDocument/2006/relationships/image" Target="../media/image754.png"/><Relationship Id="rId4" Type="http://schemas.openxmlformats.org/officeDocument/2006/relationships/image" Target="../media/image740.png"/><Relationship Id="rId5" Type="http://schemas.openxmlformats.org/officeDocument/2006/relationships/image" Target="../media/image755.png"/></Relationships>
</file>

<file path=ppt/slides/_rels/slide3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6.png"/><Relationship Id="rId3" Type="http://schemas.openxmlformats.org/officeDocument/2006/relationships/image" Target="../media/image757.png"/><Relationship Id="rId4" Type="http://schemas.openxmlformats.org/officeDocument/2006/relationships/image" Target="../media/image758.png"/><Relationship Id="rId5" Type="http://schemas.openxmlformats.org/officeDocument/2006/relationships/image" Target="../media/image759.png"/><Relationship Id="rId6" Type="http://schemas.openxmlformats.org/officeDocument/2006/relationships/image" Target="../media/image760.png"/></Relationships>
</file>

<file path=ppt/slides/_rels/slide3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78308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13969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610" b="1" i="0">
                <a:solidFill>
                  <a:srgbClr val="1A1A1A"/>
                </a:solidFill>
                <a:latin typeface="Lexend"/>
              </a:rPr>
              <a:t>Exponents and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34670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42900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703320"/>
            <a:ext cx="106070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6B6B6B"/>
                </a:solidFill>
                <a:latin typeface="Lexend"/>
              </a:rPr>
              <a:t>Ten lessons in teaching order  ·  the next slide jumps to each one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— Exponents and Scientific Notation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Contents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— Exponents and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>
            <a:hlinkClick action="ppaction://hlinksldjump" r:id="rId2"/>
          </p:cNvPr>
          <p:cNvSpPr txBox="1"/>
          <p:nvPr/>
        </p:nvSpPr>
        <p:spPr>
          <a:xfrm>
            <a:off x="1143000" y="1783080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3.01</a:t>
            </a:r>
          </a:p>
        </p:txBody>
      </p:sp>
      <p:sp>
        <p:nvSpPr>
          <p:cNvPr id="9" name="TextBox 8">
            <a:hlinkClick action="ppaction://hlinksldjump" r:id="rId2"/>
          </p:cNvPr>
          <p:cNvSpPr txBox="1"/>
          <p:nvPr/>
        </p:nvSpPr>
        <p:spPr>
          <a:xfrm>
            <a:off x="2560320" y="1783080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Product Laws of Exponents</a:t>
            </a:r>
          </a:p>
        </p:txBody>
      </p:sp>
      <p:sp>
        <p:nvSpPr>
          <p:cNvPr id="10" name="TextBox 9">
            <a:hlinkClick action="ppaction://hlinksldjump" r:id="rId2"/>
          </p:cNvPr>
          <p:cNvSpPr txBox="1"/>
          <p:nvPr/>
        </p:nvSpPr>
        <p:spPr>
          <a:xfrm>
            <a:off x="9555480" y="1783080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3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143000" y="2240280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hlinkClick action="ppaction://hlinksldjump" r:id="rId3"/>
          </p:cNvPr>
          <p:cNvSpPr txBox="1"/>
          <p:nvPr/>
        </p:nvSpPr>
        <p:spPr>
          <a:xfrm>
            <a:off x="1143000" y="2203704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3.02</a:t>
            </a:r>
          </a:p>
        </p:txBody>
      </p:sp>
      <p:sp>
        <p:nvSpPr>
          <p:cNvPr id="13" name="TextBox 12">
            <a:hlinkClick action="ppaction://hlinksldjump" r:id="rId3"/>
          </p:cNvPr>
          <p:cNvSpPr txBox="1"/>
          <p:nvPr/>
        </p:nvSpPr>
        <p:spPr>
          <a:xfrm>
            <a:off x="2560320" y="2203704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Quotient Laws of Exponents</a:t>
            </a:r>
          </a:p>
        </p:txBody>
      </p:sp>
      <p:sp>
        <p:nvSpPr>
          <p:cNvPr id="14" name="TextBox 13">
            <a:hlinkClick action="ppaction://hlinksldjump" r:id="rId3"/>
          </p:cNvPr>
          <p:cNvSpPr txBox="1"/>
          <p:nvPr/>
        </p:nvSpPr>
        <p:spPr>
          <a:xfrm>
            <a:off x="9555480" y="2203704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38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43000" y="2660904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hlinkClick action="ppaction://hlinksldjump" r:id="rId4"/>
          </p:cNvPr>
          <p:cNvSpPr txBox="1"/>
          <p:nvPr/>
        </p:nvSpPr>
        <p:spPr>
          <a:xfrm>
            <a:off x="1143000" y="2624328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3.03</a:t>
            </a:r>
          </a:p>
        </p:txBody>
      </p:sp>
      <p:sp>
        <p:nvSpPr>
          <p:cNvPr id="17" name="TextBox 16">
            <a:hlinkClick action="ppaction://hlinksldjump" r:id="rId4"/>
          </p:cNvPr>
          <p:cNvSpPr txBox="1"/>
          <p:nvPr/>
        </p:nvSpPr>
        <p:spPr>
          <a:xfrm>
            <a:off x="2560320" y="2624328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Exponential Expressions</a:t>
            </a:r>
          </a:p>
        </p:txBody>
      </p:sp>
      <p:sp>
        <p:nvSpPr>
          <p:cNvPr id="18" name="TextBox 17">
            <a:hlinkClick action="ppaction://hlinksldjump" r:id="rId4"/>
          </p:cNvPr>
          <p:cNvSpPr txBox="1"/>
          <p:nvPr/>
        </p:nvSpPr>
        <p:spPr>
          <a:xfrm>
            <a:off x="9555480" y="2624328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72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143000" y="3081528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hlinkClick action="ppaction://hlinksldjump" r:id="rId5"/>
          </p:cNvPr>
          <p:cNvSpPr txBox="1"/>
          <p:nvPr/>
        </p:nvSpPr>
        <p:spPr>
          <a:xfrm>
            <a:off x="1143000" y="3044952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3.04</a:t>
            </a:r>
          </a:p>
        </p:txBody>
      </p:sp>
      <p:sp>
        <p:nvSpPr>
          <p:cNvPr id="21" name="TextBox 20">
            <a:hlinkClick action="ppaction://hlinksldjump" r:id="rId5"/>
          </p:cNvPr>
          <p:cNvSpPr txBox="1"/>
          <p:nvPr/>
        </p:nvSpPr>
        <p:spPr>
          <a:xfrm>
            <a:off x="2560320" y="3044952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Negative Exponent Law</a:t>
            </a:r>
          </a:p>
        </p:txBody>
      </p:sp>
      <p:sp>
        <p:nvSpPr>
          <p:cNvPr id="22" name="TextBox 21">
            <a:hlinkClick action="ppaction://hlinksldjump" r:id="rId5"/>
          </p:cNvPr>
          <p:cNvSpPr txBox="1"/>
          <p:nvPr/>
        </p:nvSpPr>
        <p:spPr>
          <a:xfrm>
            <a:off x="9555480" y="3044952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106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143000" y="3502152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hlinkClick action="ppaction://hlinksldjump" r:id="rId6"/>
          </p:cNvPr>
          <p:cNvSpPr txBox="1"/>
          <p:nvPr/>
        </p:nvSpPr>
        <p:spPr>
          <a:xfrm>
            <a:off x="1143000" y="3465576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3.05</a:t>
            </a:r>
          </a:p>
        </p:txBody>
      </p:sp>
      <p:sp>
        <p:nvSpPr>
          <p:cNvPr id="25" name="TextBox 24">
            <a:hlinkClick action="ppaction://hlinksldjump" r:id="rId6"/>
          </p:cNvPr>
          <p:cNvSpPr txBox="1"/>
          <p:nvPr/>
        </p:nvSpPr>
        <p:spPr>
          <a:xfrm>
            <a:off x="2560320" y="3465576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Applying Exponent Laws</a:t>
            </a:r>
          </a:p>
        </p:txBody>
      </p:sp>
      <p:sp>
        <p:nvSpPr>
          <p:cNvPr id="26" name="TextBox 25">
            <a:hlinkClick action="ppaction://hlinksldjump" r:id="rId6"/>
          </p:cNvPr>
          <p:cNvSpPr txBox="1"/>
          <p:nvPr/>
        </p:nvSpPr>
        <p:spPr>
          <a:xfrm>
            <a:off x="9555480" y="3465576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140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143000" y="3922776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hlinkClick action="ppaction://hlinksldjump" r:id="rId7"/>
          </p:cNvPr>
          <p:cNvSpPr txBox="1"/>
          <p:nvPr/>
        </p:nvSpPr>
        <p:spPr>
          <a:xfrm>
            <a:off x="1143000" y="3886200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3.06–07</a:t>
            </a:r>
          </a:p>
        </p:txBody>
      </p:sp>
      <p:sp>
        <p:nvSpPr>
          <p:cNvPr id="29" name="TextBox 28">
            <a:hlinkClick action="ppaction://hlinksldjump" r:id="rId7"/>
          </p:cNvPr>
          <p:cNvSpPr txBox="1"/>
          <p:nvPr/>
        </p:nvSpPr>
        <p:spPr>
          <a:xfrm>
            <a:off x="2560320" y="3886200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Evaluating and Equivalent Expressions</a:t>
            </a:r>
          </a:p>
        </p:txBody>
      </p:sp>
      <p:sp>
        <p:nvSpPr>
          <p:cNvPr id="30" name="TextBox 29">
            <a:hlinkClick action="ppaction://hlinksldjump" r:id="rId7"/>
          </p:cNvPr>
          <p:cNvSpPr txBox="1"/>
          <p:nvPr/>
        </p:nvSpPr>
        <p:spPr>
          <a:xfrm>
            <a:off x="9555480" y="3886200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174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143000" y="4343400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hlinkClick action="ppaction://hlinksldjump" r:id="rId8"/>
          </p:cNvPr>
          <p:cNvSpPr txBox="1"/>
          <p:nvPr/>
        </p:nvSpPr>
        <p:spPr>
          <a:xfrm>
            <a:off x="1143000" y="4306824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T-A1</a:t>
            </a:r>
          </a:p>
        </p:txBody>
      </p:sp>
      <p:sp>
        <p:nvSpPr>
          <p:cNvPr id="33" name="TextBox 32">
            <a:hlinkClick action="ppaction://hlinksldjump" r:id="rId8"/>
          </p:cNvPr>
          <p:cNvSpPr txBox="1"/>
          <p:nvPr/>
        </p:nvSpPr>
        <p:spPr>
          <a:xfrm>
            <a:off x="2560320" y="4306824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Exponent Laws with Variable Bases</a:t>
            </a:r>
          </a:p>
        </p:txBody>
      </p:sp>
      <p:sp>
        <p:nvSpPr>
          <p:cNvPr id="34" name="TextBox 33">
            <a:hlinkClick action="ppaction://hlinksldjump" r:id="rId8"/>
          </p:cNvPr>
          <p:cNvSpPr txBox="1"/>
          <p:nvPr/>
        </p:nvSpPr>
        <p:spPr>
          <a:xfrm>
            <a:off x="9555480" y="4306824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209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143000" y="4764024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hlinkClick action="ppaction://hlinksldjump" r:id="rId9"/>
          </p:cNvPr>
          <p:cNvSpPr txBox="1"/>
          <p:nvPr/>
        </p:nvSpPr>
        <p:spPr>
          <a:xfrm>
            <a:off x="1143000" y="4727448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T-A2</a:t>
            </a:r>
          </a:p>
        </p:txBody>
      </p:sp>
      <p:sp>
        <p:nvSpPr>
          <p:cNvPr id="37" name="TextBox 36">
            <a:hlinkClick action="ppaction://hlinksldjump" r:id="rId9"/>
          </p:cNvPr>
          <p:cNvSpPr txBox="1"/>
          <p:nvPr/>
        </p:nvSpPr>
        <p:spPr>
          <a:xfrm>
            <a:off x="2560320" y="4727448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Negative Exponents with Variable Bases</a:t>
            </a:r>
          </a:p>
        </p:txBody>
      </p:sp>
      <p:sp>
        <p:nvSpPr>
          <p:cNvPr id="38" name="TextBox 37">
            <a:hlinkClick action="ppaction://hlinksldjump" r:id="rId9"/>
          </p:cNvPr>
          <p:cNvSpPr txBox="1"/>
          <p:nvPr/>
        </p:nvSpPr>
        <p:spPr>
          <a:xfrm>
            <a:off x="9555480" y="4727448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243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143000" y="5184648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hlinkClick action="ppaction://hlinksldjump" r:id="rId10"/>
          </p:cNvPr>
          <p:cNvSpPr txBox="1"/>
          <p:nvPr/>
        </p:nvSpPr>
        <p:spPr>
          <a:xfrm>
            <a:off x="1143000" y="5148072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3.08</a:t>
            </a:r>
          </a:p>
        </p:txBody>
      </p:sp>
      <p:sp>
        <p:nvSpPr>
          <p:cNvPr id="41" name="TextBox 40">
            <a:hlinkClick action="ppaction://hlinksldjump" r:id="rId10"/>
          </p:cNvPr>
          <p:cNvSpPr txBox="1"/>
          <p:nvPr/>
        </p:nvSpPr>
        <p:spPr>
          <a:xfrm>
            <a:off x="2560320" y="5148072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Writing Large Numbers in Scientific Notation</a:t>
            </a:r>
          </a:p>
        </p:txBody>
      </p:sp>
      <p:sp>
        <p:nvSpPr>
          <p:cNvPr id="42" name="TextBox 41">
            <a:hlinkClick action="ppaction://hlinksldjump" r:id="rId10"/>
          </p:cNvPr>
          <p:cNvSpPr txBox="1"/>
          <p:nvPr/>
        </p:nvSpPr>
        <p:spPr>
          <a:xfrm>
            <a:off x="9555480" y="5148072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277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143000" y="5605272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hlinkClick action="ppaction://hlinksldjump" r:id="rId11"/>
          </p:cNvPr>
          <p:cNvSpPr txBox="1"/>
          <p:nvPr/>
        </p:nvSpPr>
        <p:spPr>
          <a:xfrm>
            <a:off x="1143000" y="5568696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3.09</a:t>
            </a:r>
          </a:p>
        </p:txBody>
      </p:sp>
      <p:sp>
        <p:nvSpPr>
          <p:cNvPr id="45" name="TextBox 44">
            <a:hlinkClick action="ppaction://hlinksldjump" r:id="rId11"/>
          </p:cNvPr>
          <p:cNvSpPr txBox="1"/>
          <p:nvPr/>
        </p:nvSpPr>
        <p:spPr>
          <a:xfrm>
            <a:off x="2560320" y="5568696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Writing Small Numbers in Scientific Notation</a:t>
            </a:r>
          </a:p>
        </p:txBody>
      </p:sp>
      <p:sp>
        <p:nvSpPr>
          <p:cNvPr id="46" name="TextBox 45">
            <a:hlinkClick action="ppaction://hlinksldjump" r:id="rId11"/>
          </p:cNvPr>
          <p:cNvSpPr txBox="1"/>
          <p:nvPr/>
        </p:nvSpPr>
        <p:spPr>
          <a:xfrm>
            <a:off x="9555480" y="5568696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311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143000" y="6025896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3  ·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Product Laws of Exponents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MA.7.NSO.1.1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use the product of powers, power of a product, power of a power and identity laws to rewrite and evaluate a numerical expression.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bdfad0a4d6a24e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473708"/>
            <a:ext cx="679704" cy="3901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60630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Between which two whole numbers is </a:t>
            </a:r>
          </a:p>
        </p:txBody>
      </p:sp>
      <p:pic>
        <p:nvPicPr>
          <p:cNvPr id="11" name="Picture 10" descr="77d9db560e6d39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0442" y="2086356"/>
            <a:ext cx="725424" cy="3901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525866" y="2052828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665476"/>
            <a:ext cx="1612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Solve  </a:t>
            </a:r>
          </a:p>
        </p:txBody>
      </p:sp>
      <p:pic>
        <p:nvPicPr>
          <p:cNvPr id="14" name="Picture 13" descr="e6d9f3b3b9bc147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9655" y="2781300"/>
            <a:ext cx="1392936" cy="22555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3343656"/>
            <a:ext cx="21185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  </a:t>
            </a:r>
          </a:p>
        </p:txBody>
      </p:sp>
      <p:pic>
        <p:nvPicPr>
          <p:cNvPr id="16" name="Picture 15" descr="dec811195678918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5915" y="3300984"/>
            <a:ext cx="640080" cy="54254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bdfad0a4d6a24e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473708"/>
            <a:ext cx="679704" cy="3901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37265" y="1440180"/>
            <a:ext cx="3800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60630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Between which two whole numbers is </a:t>
            </a:r>
          </a:p>
        </p:txBody>
      </p:sp>
      <p:pic>
        <p:nvPicPr>
          <p:cNvPr id="12" name="Picture 11" descr="77d9db560e6d39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0442" y="2086356"/>
            <a:ext cx="725424" cy="3901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525866" y="2052828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97977" y="2052828"/>
            <a:ext cx="13045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6 and 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2665476"/>
            <a:ext cx="1612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Solve  </a:t>
            </a:r>
          </a:p>
        </p:txBody>
      </p:sp>
      <p:pic>
        <p:nvPicPr>
          <p:cNvPr id="16" name="Picture 15" descr="e6d9f3b3b9bc147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9655" y="2781300"/>
            <a:ext cx="1392936" cy="22555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291231" y="2665476"/>
            <a:ext cx="9303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x = 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343656"/>
            <a:ext cx="21185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  </a:t>
            </a:r>
          </a:p>
        </p:txBody>
      </p:sp>
      <p:pic>
        <p:nvPicPr>
          <p:cNvPr id="19" name="Picture 18" descr="dec811195678918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5915" y="3300984"/>
            <a:ext cx="640080" cy="542544"/>
          </a:xfrm>
          <a:prstGeom prst="rect">
            <a:avLst/>
          </a:prstGeom>
        </p:spPr>
      </p:pic>
      <p:pic>
        <p:nvPicPr>
          <p:cNvPr id="20" name="Picture 19" descr="2579f76da37693b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44635" y="3300984"/>
            <a:ext cx="198120" cy="53949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A power is a shorthand for repeated multiplication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50392" y="1975104"/>
            <a:ext cx="10405872" cy="585216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2057400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2057400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0B5394"/>
                </a:solidFill>
                <a:latin typeface="Lexend"/>
              </a:rPr>
              <a:t>base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   —   the number used as a factor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0392" y="2706624"/>
            <a:ext cx="10405872" cy="585216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2788920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2788920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0B5394"/>
                </a:solidFill>
                <a:latin typeface="Lexend"/>
              </a:rPr>
              <a:t>exponent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   —   how many times the base is a factor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" y="3438144"/>
            <a:ext cx="10405872" cy="585216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3520439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1912" y="3520439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0B5394"/>
                </a:solidFill>
                <a:latin typeface="Lexend"/>
              </a:rPr>
              <a:t>power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   —   the whole thing, base and exponent together</a:t>
            </a:r>
          </a:p>
        </p:txBody>
      </p:sp>
      <p:pic>
        <p:nvPicPr>
          <p:cNvPr id="19" name="Picture 18" descr="4d4b8fabf53441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8067" y="4357116"/>
            <a:ext cx="2383536" cy="3352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601603" y="4296156"/>
            <a:ext cx="9552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</a:t>
            </a:r>
          </a:p>
        </p:txBody>
      </p:sp>
      <p:pic>
        <p:nvPicPr>
          <p:cNvPr id="21" name="Picture 20" descr="3fda2a639906429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708" y="4187952"/>
            <a:ext cx="2523744" cy="67360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Product of powers — same base, add the exponents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542b4bcba7fe84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2776" y="1993392"/>
            <a:ext cx="4315968" cy="411480"/>
          </a:xfrm>
          <a:prstGeom prst="rect">
            <a:avLst/>
          </a:prstGeom>
        </p:spPr>
      </p:pic>
      <p:pic>
        <p:nvPicPr>
          <p:cNvPr id="11" name="Picture 10" descr="3565be77b64ee51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0812" y="2679192"/>
            <a:ext cx="3627120" cy="411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307932" y="2656332"/>
            <a:ext cx="53099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— different bases, no shortcut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3387852"/>
            <a:ext cx="320371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Product of powers:  </a:t>
            </a:r>
          </a:p>
        </p:txBody>
      </p:sp>
      <p:pic>
        <p:nvPicPr>
          <p:cNvPr id="14" name="Picture 13" descr="968ec809d435da5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54105" y="3471672"/>
            <a:ext cx="2447544" cy="289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4055363"/>
            <a:ext cx="29972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Check with values:  </a:t>
            </a:r>
          </a:p>
        </p:txBody>
      </p:sp>
      <p:pic>
        <p:nvPicPr>
          <p:cNvPr id="16" name="Picture 15" descr="d5d6c6f74431375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7685" y="4113275"/>
            <a:ext cx="3910583" cy="34137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Power of a product — the exponent goes to every factor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c44ef493e450a9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7068" y="1994916"/>
            <a:ext cx="8787384" cy="4084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2702052"/>
            <a:ext cx="33430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Power of a product:  </a:t>
            </a:r>
          </a:p>
        </p:txBody>
      </p:sp>
      <p:pic>
        <p:nvPicPr>
          <p:cNvPr id="12" name="Picture 11" descr="b9ea13f96cb17da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3484" y="2747772"/>
            <a:ext cx="2639568" cy="3657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341071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Works for a product only, never for a sum:</a:t>
            </a:r>
          </a:p>
        </p:txBody>
      </p:sp>
      <p:pic>
        <p:nvPicPr>
          <p:cNvPr id="14" name="Picture 13" descr="39ca05d2d51d133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4125468"/>
            <a:ext cx="3654552" cy="4084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642104" y="4101083"/>
            <a:ext cx="118076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 but   </a:t>
            </a:r>
          </a:p>
        </p:txBody>
      </p:sp>
      <p:pic>
        <p:nvPicPr>
          <p:cNvPr id="16" name="Picture 15" descr="d063d47dd555d85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85713" y="4125468"/>
            <a:ext cx="2779776" cy="40843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IV.  Power of a power, and the exponent 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325879" y="1993392"/>
          <a:ext cx="9509760" cy="15361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26080"/>
                <a:gridCol w="4206240"/>
                <a:gridCol w="237744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10" b="1">
                          <a:solidFill>
                            <a:srgbClr val="1A1A1A"/>
                          </a:solidFill>
                          <a:latin typeface="Lexend"/>
                        </a:rPr>
                        <a:t>Power of a power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1">
                          <a:solidFill>
                            <a:srgbClr val="1A1A1A"/>
                          </a:solidFill>
                          <a:latin typeface="Lexend"/>
                        </a:rPr>
                        <a:t>Repeated multiplication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1">
                          <a:solidFill>
                            <a:srgbClr val="1A1A1A"/>
                          </a:solidFill>
                          <a:latin typeface="Lexend"/>
                        </a:rPr>
                        <a:t>Single power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(4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)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 · 4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 · 4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(10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)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 · 10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 · 10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 · 10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(3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)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3 · 3 · 3 · 3 · 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987552" y="3781044"/>
            <a:ext cx="30937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Power of a power:  </a:t>
            </a:r>
          </a:p>
        </p:txBody>
      </p:sp>
      <p:pic>
        <p:nvPicPr>
          <p:cNvPr id="12" name="Picture 11" descr="d8dde935facf94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4101" y="3828288"/>
            <a:ext cx="1978152" cy="3627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922253" y="3781044"/>
            <a:ext cx="2452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        Identity:  </a:t>
            </a:r>
          </a:p>
        </p:txBody>
      </p:sp>
      <p:pic>
        <p:nvPicPr>
          <p:cNvPr id="14" name="Picture 13" descr="c0cd50cdc3f1313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7259" y="3838956"/>
            <a:ext cx="972311" cy="34137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329b8ca23c9d75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2891" y="2138171"/>
            <a:ext cx="935736" cy="3413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1c20bafbdc63ca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791968" cy="341376"/>
          </a:xfrm>
          <a:prstGeom prst="rect">
            <a:avLst/>
          </a:prstGeom>
        </p:spPr>
      </p:pic>
      <p:pic>
        <p:nvPicPr>
          <p:cNvPr id="9" name="Picture 8" descr="7bb738bd6adb720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35936"/>
            <a:ext cx="1371600" cy="335280"/>
          </a:xfrm>
          <a:prstGeom prst="rect">
            <a:avLst/>
          </a:prstGeom>
        </p:spPr>
      </p:pic>
      <p:pic>
        <p:nvPicPr>
          <p:cNvPr id="10" name="Picture 9" descr="a913e805eb43139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145536"/>
            <a:ext cx="1862328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243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b03341d68f8c14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3351" y="1600200"/>
            <a:ext cx="1194816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51764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e5689ca8283150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1827" y="1600200"/>
            <a:ext cx="1197864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51764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Which law? Then find the value.</a:t>
            </a:r>
          </a:p>
        </p:txBody>
      </p:sp>
      <p:pic>
        <p:nvPicPr>
          <p:cNvPr id="10" name="Picture 9" descr="bfd4a5c1b9d0cb6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4796" y="3184762"/>
            <a:ext cx="2581656" cy="301752"/>
          </a:xfrm>
          <a:prstGeom prst="rect">
            <a:avLst/>
          </a:prstGeom>
        </p:spPr>
      </p:pic>
      <p:pic>
        <p:nvPicPr>
          <p:cNvPr id="11" name="Picture 10" descr="93c08fb8bb36cdb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4796" y="3724258"/>
            <a:ext cx="1197864" cy="3017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7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128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f74b6125835b47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5732" y="2103120"/>
            <a:ext cx="1210056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987870fb252ca50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005072" cy="414528"/>
          </a:xfrm>
          <a:prstGeom prst="rect">
            <a:avLst/>
          </a:prstGeom>
        </p:spPr>
      </p:pic>
      <p:pic>
        <p:nvPicPr>
          <p:cNvPr id="9" name="Picture 8" descr="c753a81ccef19f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9087"/>
            <a:ext cx="1670304" cy="414528"/>
          </a:xfrm>
          <a:prstGeom prst="rect">
            <a:avLst/>
          </a:prstGeom>
        </p:spPr>
      </p:pic>
      <p:pic>
        <p:nvPicPr>
          <p:cNvPr id="10" name="Picture 9" descr="da387a30282d427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97935"/>
            <a:ext cx="1679448" cy="411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cfb8ebff7a58f4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7904" y="1600200"/>
            <a:ext cx="1505712" cy="5120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51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f91f6c751d4e98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7904" y="1600200"/>
            <a:ext cx="1505712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213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Which law? Then find the value.</a:t>
            </a:r>
          </a:p>
        </p:txBody>
      </p:sp>
      <p:pic>
        <p:nvPicPr>
          <p:cNvPr id="10" name="Picture 9" descr="9760ae71abb97b3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9204" y="3244198"/>
            <a:ext cx="3672840" cy="371856"/>
          </a:xfrm>
          <a:prstGeom prst="rect">
            <a:avLst/>
          </a:prstGeom>
        </p:spPr>
      </p:pic>
      <p:pic>
        <p:nvPicPr>
          <p:cNvPr id="11" name="Picture 10" descr="e55c874f9b6e927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9204" y="3783694"/>
            <a:ext cx="1670304" cy="37185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(−3)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729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b1e26e5bc6d682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1827" y="2194560"/>
            <a:ext cx="1197864" cy="420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pic>
        <p:nvPicPr>
          <p:cNvPr id="8" name="Picture 7" descr="a10b19c9014489f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0304" y="2103120"/>
            <a:ext cx="1200912" cy="420624"/>
          </a:xfrm>
          <a:prstGeom prst="rect">
            <a:avLst/>
          </a:prstGeom>
        </p:spPr>
      </p:pic>
      <p:pic>
        <p:nvPicPr>
          <p:cNvPr id="9" name="Picture 8" descr="c3ef13471fa147f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7843" y="2878836"/>
            <a:ext cx="2578608" cy="304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04232" y="459790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1" name="Picture 10" descr="24dca2f9e99e6f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4472" y="4663440"/>
            <a:ext cx="432816" cy="417576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4084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rectangle is  </a:t>
            </a:r>
          </a:p>
        </p:txBody>
      </p:sp>
      <p:pic>
        <p:nvPicPr>
          <p:cNvPr id="9" name="Picture 8" descr="be331936b361ba4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5734" y="1946147"/>
            <a:ext cx="286512" cy="268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792246" y="1851660"/>
            <a:ext cx="37012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centimeters long and  </a:t>
            </a:r>
          </a:p>
        </p:txBody>
      </p:sp>
      <p:pic>
        <p:nvPicPr>
          <p:cNvPr id="11" name="Picture 10" descr="d631b8b2f265b39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6318" y="1943100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30638" y="1851660"/>
            <a:ext cx="30026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centimeters wide.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perimeter is 40 centimeters.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area of the rectangle, in square centimeters?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4084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rectangle is  </a:t>
            </a:r>
          </a:p>
        </p:txBody>
      </p:sp>
      <p:pic>
        <p:nvPicPr>
          <p:cNvPr id="9" name="Picture 8" descr="c15b55b0bc0ad09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5734" y="1944623"/>
            <a:ext cx="289560" cy="2712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795294" y="1851660"/>
            <a:ext cx="37012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centimeters long and  </a:t>
            </a:r>
          </a:p>
        </p:txBody>
      </p:sp>
      <p:pic>
        <p:nvPicPr>
          <p:cNvPr id="11" name="Picture 10" descr="2187ef2d8316cef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9366" y="1943100"/>
            <a:ext cx="277368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36734" y="1851660"/>
            <a:ext cx="30026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centimeters wide.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perimeter is 40 centimeters.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area of the rectangle, in square centimeters?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4522" y="3661376"/>
            <a:ext cx="34096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Area = length × width</a:t>
            </a:r>
          </a:p>
        </p:txBody>
      </p:sp>
      <p:pic>
        <p:nvPicPr>
          <p:cNvPr id="16" name="Picture 15" descr="00eded558c78f14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9386" y="4263356"/>
            <a:ext cx="2194560" cy="259080"/>
          </a:xfrm>
          <a:prstGeom prst="rect">
            <a:avLst/>
          </a:prstGeom>
        </p:spPr>
      </p:pic>
      <p:pic>
        <p:nvPicPr>
          <p:cNvPr id="17" name="Picture 16" descr="8539984585d0f2a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99386" y="4766276"/>
            <a:ext cx="890016" cy="2590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523871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64 square centimeters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5affe015bded252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199" y="2194560"/>
            <a:ext cx="1341120" cy="5059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b79ccee972120db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199" y="2103120"/>
            <a:ext cx="1341120" cy="509016"/>
          </a:xfrm>
          <a:prstGeom prst="rect">
            <a:avLst/>
          </a:prstGeom>
        </p:spPr>
      </p:pic>
      <p:pic>
        <p:nvPicPr>
          <p:cNvPr id="9" name="Picture 8" descr="40c6ca452737ffb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0375" y="2935224"/>
            <a:ext cx="4730496" cy="3688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1000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ef29e4c51122a8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5459" y="2194560"/>
            <a:ext cx="990599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8eed60f03f689e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3936" y="2103120"/>
            <a:ext cx="993648" cy="509016"/>
          </a:xfrm>
          <a:prstGeom prst="rect">
            <a:avLst/>
          </a:prstGeom>
        </p:spPr>
      </p:pic>
      <p:pic>
        <p:nvPicPr>
          <p:cNvPr id="9" name="Picture 8" descr="a192ef6ffd071b6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3667" y="2933699"/>
            <a:ext cx="2343912" cy="3718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05755" y="460095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1" name="Picture 10" descr="4d9300a64068138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5996" y="4663440"/>
            <a:ext cx="429768" cy="423672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8bbe3445ce62554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1347" y="2194560"/>
            <a:ext cx="1258824" cy="4175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4073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070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16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070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1928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1928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19869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76d2e0b73392877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1347" y="2103120"/>
            <a:ext cx="1258824" cy="4175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4929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pic>
        <p:nvPicPr>
          <p:cNvPr id="10" name="Picture 9" descr="3a724d11a6d468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9743" y="3452191"/>
            <a:ext cx="2654808" cy="3017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4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086b323a5a1e494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1367" y="2194560"/>
            <a:ext cx="938784" cy="5059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291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954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954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812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812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8708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9a96c530649f2cb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9844" y="2103120"/>
            <a:ext cx="941832" cy="5059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3768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pic>
        <p:nvPicPr>
          <p:cNvPr id="10" name="Picture 9" descr="5669e1447e03fc5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7383" y="3505531"/>
            <a:ext cx="2316480" cy="3718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d33980bdb1b2c9a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800" y="2194560"/>
            <a:ext cx="2407920" cy="5120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1fa821c78ab6d2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3751" y="2103120"/>
            <a:ext cx="2414016" cy="512064"/>
          </a:xfrm>
          <a:prstGeom prst="rect">
            <a:avLst/>
          </a:prstGeom>
        </p:spPr>
      </p:pic>
      <p:pic>
        <p:nvPicPr>
          <p:cNvPr id="9" name="Picture 8" descr="f1691282fd903bc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5447" y="2936748"/>
            <a:ext cx="4340352" cy="371856"/>
          </a:xfrm>
          <a:prstGeom prst="rect">
            <a:avLst/>
          </a:prstGeom>
        </p:spPr>
      </p:pic>
      <p:pic>
        <p:nvPicPr>
          <p:cNvPr id="10" name="Picture 9" descr="e24b5ec6ef9ddd3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65447" y="3477768"/>
            <a:ext cx="1673352" cy="3688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−27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3d20fb6b472c53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8803" y="2194560"/>
            <a:ext cx="2343912" cy="841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pic>
        <p:nvPicPr>
          <p:cNvPr id="8" name="Picture 7" descr="9bac66b5c58a7c0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0327" y="2103120"/>
            <a:ext cx="2340864" cy="841248"/>
          </a:xfrm>
          <a:prstGeom prst="rect">
            <a:avLst/>
          </a:prstGeom>
        </p:spPr>
      </p:pic>
      <p:pic>
        <p:nvPicPr>
          <p:cNvPr id="9" name="Picture 8" descr="efcb7ed02df521e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6595" y="3246120"/>
            <a:ext cx="4264152" cy="612648"/>
          </a:xfrm>
          <a:prstGeom prst="rect">
            <a:avLst/>
          </a:prstGeom>
        </p:spPr>
      </p:pic>
      <p:pic>
        <p:nvPicPr>
          <p:cNvPr id="10" name="Picture 9" descr="2365def5832106f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6595" y="3986783"/>
            <a:ext cx="1438656" cy="6126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58511" y="488442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2" name="Picture 11" descr="74507af7579a500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8751" y="4736592"/>
            <a:ext cx="524256" cy="844296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Aiyanna says she can use the power of a product law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13590" y="2746579"/>
            <a:ext cx="22220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to evaluate  </a:t>
            </a:r>
          </a:p>
        </p:txBody>
      </p:sp>
      <p:pic>
        <p:nvPicPr>
          <p:cNvPr id="10" name="Picture 9" descr="3c467de68f6a90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8446" y="2770963"/>
            <a:ext cx="1920240" cy="4084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918686" y="2746579"/>
            <a:ext cx="24664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  Is she right?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Aiyanna says she can use the power of a product law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12066" y="2655139"/>
            <a:ext cx="22220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to evaluate  </a:t>
            </a:r>
          </a:p>
        </p:txBody>
      </p:sp>
      <p:pic>
        <p:nvPicPr>
          <p:cNvPr id="10" name="Picture 9" descr="8bb89340cbe9878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6922" y="2679523"/>
            <a:ext cx="1923288" cy="4084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920210" y="2655139"/>
            <a:ext cx="24664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  Is she right?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86746" y="3414091"/>
            <a:ext cx="73251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Inside the parentheses is a sum, not a product.</a:t>
            </a:r>
          </a:p>
        </p:txBody>
      </p:sp>
      <p:pic>
        <p:nvPicPr>
          <p:cNvPr id="13" name="Picture 12" descr="df452ab7ad4dafc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1610" y="4013023"/>
            <a:ext cx="1569720" cy="265176"/>
          </a:xfrm>
          <a:prstGeom prst="rect">
            <a:avLst/>
          </a:prstGeom>
        </p:spPr>
      </p:pic>
      <p:pic>
        <p:nvPicPr>
          <p:cNvPr id="14" name="Picture 13" descr="5b67aed5b26673e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1610" y="4520515"/>
            <a:ext cx="1024128" cy="2560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99143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 — (10 + (−2))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8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512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5044"/>
            <a:ext cx="31696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as one power.  </a:t>
            </a:r>
          </a:p>
        </p:txBody>
      </p:sp>
      <p:pic>
        <p:nvPicPr>
          <p:cNvPr id="10" name="Picture 9" descr="e58cd8710f0bf38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6963" y="1588008"/>
            <a:ext cx="780288" cy="2712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089403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3" name="Picture 12" descr="4b095ad4a4725d9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7878" y="2180844"/>
            <a:ext cx="765048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683763"/>
            <a:ext cx="31696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as one power.  </a:t>
            </a:r>
          </a:p>
        </p:txBody>
      </p:sp>
      <p:pic>
        <p:nvPicPr>
          <p:cNvPr id="16" name="Picture 15" descr="99f4e10d55b01f9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6963" y="2746247"/>
            <a:ext cx="609600" cy="3322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60120" y="327812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278123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9" name="Picture 18" descr="3825344689b6a43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7878" y="3339083"/>
            <a:ext cx="886968" cy="3352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60120" y="38724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3872483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22" name="Picture 21" descr="bb914d77e9f3c46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77878" y="3933444"/>
            <a:ext cx="1591056" cy="3352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60120" y="4466844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466844"/>
            <a:ext cx="26841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 of </a:t>
            </a:r>
          </a:p>
        </p:txBody>
      </p:sp>
      <p:pic>
        <p:nvPicPr>
          <p:cNvPr id="25" name="Picture 24" descr="6d78c2be12150bf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01434" y="4611624"/>
            <a:ext cx="146304" cy="1676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247738" y="4466844"/>
            <a:ext cx="4421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 </a:t>
            </a:r>
          </a:p>
        </p:txBody>
      </p:sp>
      <p:pic>
        <p:nvPicPr>
          <p:cNvPr id="27" name="Picture 26" descr="dc32ec21fb3f891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52689" y="4556760"/>
            <a:ext cx="1392936" cy="277368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Evaluate powers — SZQ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Multiplication with exponents — 5SK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Power rule — 8DA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5495544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Understanding exponents — BFA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3  ·  LESSON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Quotient Laws of Exponents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MA.7.NSO.1.1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use the quotient of powers, power of a quotient and zero exponent laws to rewrite and evaluate a numerical expression.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36644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Write as one power:  </a:t>
            </a:r>
          </a:p>
        </p:txBody>
      </p:sp>
      <p:pic>
        <p:nvPicPr>
          <p:cNvPr id="9" name="Picture 8" descr="0edb9b2424bafe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1774" y="1530096"/>
            <a:ext cx="758952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6856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</a:t>
            </a:r>
          </a:p>
        </p:txBody>
      </p:sp>
      <p:pic>
        <p:nvPicPr>
          <p:cNvPr id="11" name="Picture 10" descr="58c968e8bf18d1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059" y="2086356"/>
            <a:ext cx="862584" cy="3901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665476"/>
            <a:ext cx="1612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Solve  </a:t>
            </a:r>
          </a:p>
        </p:txBody>
      </p:sp>
      <p:pic>
        <p:nvPicPr>
          <p:cNvPr id="13" name="Picture 12" descr="ff0aa95dcc4008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9655" y="2781300"/>
            <a:ext cx="1374648" cy="2255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3340608"/>
            <a:ext cx="20355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Simplify  </a:t>
            </a:r>
          </a:p>
        </p:txBody>
      </p:sp>
      <p:pic>
        <p:nvPicPr>
          <p:cNvPr id="15" name="Picture 14" descr="f6a28b8ae12f374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72937" y="3300984"/>
            <a:ext cx="923544" cy="536448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36644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Write as one power:  </a:t>
            </a:r>
          </a:p>
        </p:txBody>
      </p:sp>
      <p:pic>
        <p:nvPicPr>
          <p:cNvPr id="9" name="Picture 8" descr="0edb9b2424bafe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1774" y="1530096"/>
            <a:ext cx="758952" cy="277368"/>
          </a:xfrm>
          <a:prstGeom prst="rect">
            <a:avLst/>
          </a:prstGeom>
        </p:spPr>
      </p:pic>
      <p:pic>
        <p:nvPicPr>
          <p:cNvPr id="10" name="Picture 9" descr="228b900b807e904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9366" y="1533144"/>
            <a:ext cx="274320" cy="2712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052828"/>
            <a:ext cx="6856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</a:t>
            </a:r>
          </a:p>
        </p:txBody>
      </p:sp>
      <p:pic>
        <p:nvPicPr>
          <p:cNvPr id="12" name="Picture 11" descr="58c968e8bf18d1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3059" y="2086356"/>
            <a:ext cx="862584" cy="3901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834283" y="2052828"/>
            <a:ext cx="5547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−3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1612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Solve  </a:t>
            </a:r>
          </a:p>
        </p:txBody>
      </p:sp>
      <p:pic>
        <p:nvPicPr>
          <p:cNvPr id="15" name="Picture 14" descr="ff0aa95dcc40081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49655" y="2781300"/>
            <a:ext cx="1374648" cy="22555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272943" y="2665476"/>
            <a:ext cx="9259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x &lt;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340608"/>
            <a:ext cx="20355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Simplify  </a:t>
            </a:r>
          </a:p>
        </p:txBody>
      </p:sp>
      <p:pic>
        <p:nvPicPr>
          <p:cNvPr id="18" name="Picture 17" descr="f6a28b8ae12f374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72937" y="3300984"/>
            <a:ext cx="923544" cy="53644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245121" y="3278124"/>
            <a:ext cx="3856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Quotient of powers — same base, subtract the exponents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375c22fc6b7d891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7080" y="1993392"/>
            <a:ext cx="5547360" cy="7955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232404"/>
            <a:ext cx="33331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Quotient of powers:  </a:t>
            </a:r>
          </a:p>
        </p:txBody>
      </p:sp>
      <p:pic>
        <p:nvPicPr>
          <p:cNvPr id="12" name="Picture 11" descr="2719c53adc764b5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3493" y="3108960"/>
            <a:ext cx="1840991" cy="7040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24485" y="3232404"/>
            <a:ext cx="6073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   (</a:t>
            </a:r>
          </a:p>
        </p:txBody>
      </p:sp>
      <p:pic>
        <p:nvPicPr>
          <p:cNvPr id="14" name="Picture 13" descr="47b5f205461fb9c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4692" y="3322320"/>
            <a:ext cx="810768" cy="2773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305460" y="3232404"/>
            <a:ext cx="3250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238244"/>
            <a:ext cx="29972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Check with values:  </a:t>
            </a:r>
          </a:p>
        </p:txBody>
      </p:sp>
      <p:pic>
        <p:nvPicPr>
          <p:cNvPr id="17" name="Picture 16" descr="d483ca18e1ed7f4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7685" y="4069080"/>
            <a:ext cx="3602736" cy="795528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Power of a quotient — the exponent goes top and bottom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9c7f0c386a86fa4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7980" y="1993392"/>
            <a:ext cx="6385560" cy="792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230880"/>
            <a:ext cx="342806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Power of a quotient:  </a:t>
            </a:r>
          </a:p>
        </p:txBody>
      </p:sp>
      <p:pic>
        <p:nvPicPr>
          <p:cNvPr id="12" name="Picture 11" descr="e37a07201392836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8461" y="3105912"/>
            <a:ext cx="1804416" cy="7071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82877" y="3230880"/>
            <a:ext cx="6073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   (</a:t>
            </a:r>
          </a:p>
        </p:txBody>
      </p:sp>
      <p:pic>
        <p:nvPicPr>
          <p:cNvPr id="14" name="Picture 13" descr="cc4966101ceb7e7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3084" y="3314700"/>
            <a:ext cx="798576" cy="289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351660" y="3230880"/>
            <a:ext cx="3250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236720"/>
            <a:ext cx="1950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Either way:  </a:t>
            </a:r>
          </a:p>
        </p:txBody>
      </p:sp>
      <p:pic>
        <p:nvPicPr>
          <p:cNvPr id="17" name="Picture 16" descr="39a07b3eaa91d2f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00543" y="4069080"/>
            <a:ext cx="3233928" cy="7924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4471" y="4236720"/>
            <a:ext cx="12522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9" name="Picture 18" descr="5df7a26ae56fb2a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9569" y="4262628"/>
            <a:ext cx="2240280" cy="405384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The zero exponent — two roads to the same answer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423160" y="1993392"/>
          <a:ext cx="731520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3040"/>
                <a:gridCol w="1463040"/>
                <a:gridCol w="1463040"/>
                <a:gridCol w="1463040"/>
                <a:gridCol w="146304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1" name="Picture 10" descr="36cadf9b5edf76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8266" y="2990088"/>
            <a:ext cx="1581912" cy="7863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00178" y="3154680"/>
            <a:ext cx="19468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and      </a:t>
            </a:r>
          </a:p>
        </p:txBody>
      </p:sp>
      <p:pic>
        <p:nvPicPr>
          <p:cNvPr id="13" name="Picture 12" descr="3f4324b961ec0a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9873" y="2990088"/>
            <a:ext cx="2273808" cy="7863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683681" y="3154680"/>
            <a:ext cx="16914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so      </a:t>
            </a:r>
          </a:p>
        </p:txBody>
      </p:sp>
      <p:pic>
        <p:nvPicPr>
          <p:cNvPr id="15" name="Picture 14" descr="30376742585bb8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7997" y="3214116"/>
            <a:ext cx="905256" cy="33832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4073651"/>
            <a:ext cx="2650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Zero exponent:  </a:t>
            </a:r>
          </a:p>
        </p:txBody>
      </p:sp>
      <p:pic>
        <p:nvPicPr>
          <p:cNvPr id="17" name="Picture 16" descr="6d55b3ee728095c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01385" y="4131563"/>
            <a:ext cx="954023" cy="34137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455409" y="4073651"/>
            <a:ext cx="32477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   for every nonzero </a:t>
            </a:r>
          </a:p>
        </p:txBody>
      </p:sp>
      <p:pic>
        <p:nvPicPr>
          <p:cNvPr id="19" name="Picture 18" descr="7feb388dbf36f76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66025" y="4197096"/>
            <a:ext cx="204216" cy="210312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pic>
        <p:nvPicPr>
          <p:cNvPr id="8" name="Picture 7" descr="6370c244a2f01b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5" y="2103120"/>
            <a:ext cx="886968" cy="9357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54177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b0c94eb2ca76e9c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791712" cy="938784"/>
          </a:xfrm>
          <a:prstGeom prst="rect">
            <a:avLst/>
          </a:prstGeom>
        </p:spPr>
      </p:pic>
      <p:pic>
        <p:nvPicPr>
          <p:cNvPr id="9" name="Picture 8" descr="a554635d943785b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133344"/>
            <a:ext cx="1648968" cy="408432"/>
          </a:xfrm>
          <a:prstGeom prst="rect">
            <a:avLst/>
          </a:prstGeom>
        </p:spPr>
      </p:pic>
      <p:pic>
        <p:nvPicPr>
          <p:cNvPr id="10" name="Picture 9" descr="5c1f83d7f33d27e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816096"/>
            <a:ext cx="2331720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2686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−8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bc1d7f761d4b7d5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7588" y="1600200"/>
            <a:ext cx="466344" cy="100279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059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9a555cc0fb30ff5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0635" y="1600200"/>
            <a:ext cx="460247" cy="9966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9981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Which law? Then find the value.</a:t>
            </a:r>
          </a:p>
        </p:txBody>
      </p:sp>
      <p:pic>
        <p:nvPicPr>
          <p:cNvPr id="10" name="Picture 9" descr="a96092e33ee7290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5399" y="3712066"/>
            <a:ext cx="2063496" cy="722376"/>
          </a:xfrm>
          <a:prstGeom prst="rect">
            <a:avLst/>
          </a:prstGeom>
        </p:spPr>
      </p:pic>
      <p:pic>
        <p:nvPicPr>
          <p:cNvPr id="11" name="Picture 10" descr="2d0acfb864622b9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05399" y="4615798"/>
            <a:ext cx="1030224" cy="304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511109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4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81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02fe0df1b08bc8c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5356" y="2103120"/>
            <a:ext cx="1130808" cy="673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7964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value.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d097b929243b7c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834384" cy="795528"/>
          </a:xfrm>
          <a:prstGeom prst="rect">
            <a:avLst/>
          </a:prstGeom>
        </p:spPr>
      </p:pic>
      <p:pic>
        <p:nvPicPr>
          <p:cNvPr id="9" name="Picture 8" descr="798f0955cfae57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990088"/>
            <a:ext cx="3733799" cy="682752"/>
          </a:xfrm>
          <a:prstGeom prst="rect">
            <a:avLst/>
          </a:prstGeom>
        </p:spPr>
      </p:pic>
      <p:pic>
        <p:nvPicPr>
          <p:cNvPr id="10" name="Picture 9" descr="66e59263d2af30b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947160"/>
            <a:ext cx="3703320" cy="4084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81279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0.00000016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44e7eea339e5c1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6315" y="1600200"/>
            <a:ext cx="1008888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3827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value.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be6f9f06f866032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4791" y="1600200"/>
            <a:ext cx="1011936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3827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value.</a:t>
            </a:r>
          </a:p>
        </p:txBody>
      </p:sp>
      <p:pic>
        <p:nvPicPr>
          <p:cNvPr id="10" name="Picture 9" descr="02ea3d3dd2c1ff1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4627" y="3550522"/>
            <a:ext cx="2215896" cy="7132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34128" y="462534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2" name="Picture 11" descr="b8c676244c610a8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4368" y="4480560"/>
            <a:ext cx="573024" cy="8382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3e9756fa540e4cb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7380" y="2194560"/>
            <a:ext cx="746760" cy="99059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ca365731157fa0d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904" y="2103120"/>
            <a:ext cx="743712" cy="990599"/>
          </a:xfrm>
          <a:prstGeom prst="rect">
            <a:avLst/>
          </a:prstGeom>
        </p:spPr>
      </p:pic>
      <p:pic>
        <p:nvPicPr>
          <p:cNvPr id="9" name="Picture 8" descr="f1d501cf95f3572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8219" y="3395471"/>
            <a:ext cx="2654808" cy="716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783836" y="460095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1" name="Picture 10" descr="20daecf28d21284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4076" y="4663440"/>
            <a:ext cx="673608" cy="423672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5619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website puts  </a:t>
            </a:r>
          </a:p>
        </p:txBody>
      </p:sp>
      <p:pic>
        <p:nvPicPr>
          <p:cNvPr id="9" name="Picture 8" descr="d7dee7bac0eb5ce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9200" y="1946147"/>
            <a:ext cx="295656" cy="268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954856" y="1851660"/>
            <a:ext cx="44741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photos into 8 equal albums.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site is 30 days old.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photos are in each album?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5619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website puts  </a:t>
            </a:r>
          </a:p>
        </p:txBody>
      </p:sp>
      <p:pic>
        <p:nvPicPr>
          <p:cNvPr id="9" name="Picture 8" descr="249c39e6033768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9200" y="1944623"/>
            <a:ext cx="295656" cy="2712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954856" y="1851660"/>
            <a:ext cx="44741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photos into 8 equal albums.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site is 30 days old.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photos are in each album?</a:t>
            </a:r>
          </a:p>
        </p:txBody>
      </p:sp>
      <p:pic>
        <p:nvPicPr>
          <p:cNvPr id="13" name="Picture 12" descr="6c1f346a6254f1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3167" y="3739100"/>
            <a:ext cx="2727960" cy="301752"/>
          </a:xfrm>
          <a:prstGeom prst="rect">
            <a:avLst/>
          </a:prstGeom>
        </p:spPr>
      </p:pic>
      <p:pic>
        <p:nvPicPr>
          <p:cNvPr id="14" name="Picture 13" descr="7e3b81dbc2bff30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3167" y="4277072"/>
            <a:ext cx="1213104" cy="3048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77237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512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pic>
        <p:nvPicPr>
          <p:cNvPr id="8" name="Picture 7" descr="65357565e2967fb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2975" y="2194560"/>
            <a:ext cx="1115568" cy="11673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7a2d988691ed78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4499" y="2103120"/>
            <a:ext cx="1112520" cy="1167384"/>
          </a:xfrm>
          <a:prstGeom prst="rect">
            <a:avLst/>
          </a:prstGeom>
        </p:spPr>
      </p:pic>
      <p:pic>
        <p:nvPicPr>
          <p:cNvPr id="9" name="Picture 8" descr="9ede1db76506798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7743" y="3572255"/>
            <a:ext cx="4178808" cy="8473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−6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dda27b062e079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3728" y="2194560"/>
            <a:ext cx="1274064" cy="841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2be21e0d759d6fd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3728" y="2103120"/>
            <a:ext cx="1274064" cy="841248"/>
          </a:xfrm>
          <a:prstGeom prst="rect">
            <a:avLst/>
          </a:prstGeom>
        </p:spPr>
      </p:pic>
      <p:pic>
        <p:nvPicPr>
          <p:cNvPr id="9" name="Picture 8" descr="3578dff92cd3365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9303" y="3246120"/>
            <a:ext cx="2069591" cy="777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64380" y="4927091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1" name="Picture 10" descr="4ab832f314e81a0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4620" y="4663440"/>
            <a:ext cx="1112520" cy="1075944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24ad149a2162bcd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6731" y="2194560"/>
            <a:ext cx="448056" cy="420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4378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101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101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1959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1/9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1959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01743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1629cabbb0de35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6731" y="2103120"/>
            <a:ext cx="448056" cy="420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5234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53450" y="3377515"/>
            <a:ext cx="739177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Any nonzero number to the power 0 is 1.</a:t>
            </a:r>
          </a:p>
        </p:txBody>
      </p:sp>
      <p:pic>
        <p:nvPicPr>
          <p:cNvPr id="11" name="Picture 10" descr="c09f26f770b7cba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08314" y="3994735"/>
            <a:ext cx="826008" cy="3017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c64457c91756da6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3204" y="2194560"/>
            <a:ext cx="515112" cy="98450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0766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40739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40739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7597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7597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8756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492b406a8f5b14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4727" y="2103120"/>
            <a:ext cx="512064" cy="9875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31927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pic>
        <p:nvPicPr>
          <p:cNvPr id="10" name="Picture 9" descr="131314ea478871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679" y="3967303"/>
            <a:ext cx="2154936" cy="7132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817695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4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0538c15f498df93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4228" y="2194560"/>
            <a:ext cx="893064" cy="9936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0ae3b03db9ce2a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5752" y="2103120"/>
            <a:ext cx="890016" cy="993648"/>
          </a:xfrm>
          <a:prstGeom prst="rect">
            <a:avLst/>
          </a:prstGeom>
        </p:spPr>
      </p:pic>
      <p:pic>
        <p:nvPicPr>
          <p:cNvPr id="9" name="Picture 8" descr="f1adc35cb08825a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9723" y="3398520"/>
            <a:ext cx="2974848" cy="716280"/>
          </a:xfrm>
          <a:prstGeom prst="rect">
            <a:avLst/>
          </a:prstGeom>
        </p:spPr>
      </p:pic>
      <p:pic>
        <p:nvPicPr>
          <p:cNvPr id="10" name="Picture 9" descr="0431727820ff0bd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9723" y="4296156"/>
            <a:ext cx="1783080" cy="304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79145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0.125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6b12155fed1886c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3728" y="2194560"/>
            <a:ext cx="1274064" cy="8442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9336c4e0de941d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3728" y="2103120"/>
            <a:ext cx="1274064" cy="8442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53450" y="3226308"/>
            <a:ext cx="739177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Any nonzero number to the power 0 is 1.</a:t>
            </a:r>
          </a:p>
        </p:txBody>
      </p:sp>
      <p:pic>
        <p:nvPicPr>
          <p:cNvPr id="10" name="Picture 9" descr="57a6de2c0fe6ec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08314" y="3788664"/>
            <a:ext cx="1426464" cy="6126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46769" y="1812036"/>
            <a:ext cx="30346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Hannah cancels:  </a:t>
            </a:r>
          </a:p>
        </p:txBody>
      </p:sp>
      <p:pic>
        <p:nvPicPr>
          <p:cNvPr id="9" name="Picture 8" descr="f187a11a89af76b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4219" y="1645920"/>
            <a:ext cx="1578864" cy="789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723083" y="1812036"/>
            <a:ext cx="40368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   Sebastian subtracts:  </a:t>
            </a:r>
          </a:p>
        </p:txBody>
      </p:sp>
      <p:pic>
        <p:nvPicPr>
          <p:cNvPr id="11" name="Picture 10" descr="f7fea7d63fe294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22764" y="1645920"/>
            <a:ext cx="1143000" cy="7894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765764" y="1812036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70967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Who is right?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43721" y="1810512"/>
            <a:ext cx="30346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Hannah cancels:  </a:t>
            </a:r>
          </a:p>
        </p:txBody>
      </p:sp>
      <p:pic>
        <p:nvPicPr>
          <p:cNvPr id="9" name="Picture 8" descr="36cadf9b5edf76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1171" y="1645920"/>
            <a:ext cx="1581912" cy="7863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723083" y="1810512"/>
            <a:ext cx="40368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   Sebastian subtracts:  </a:t>
            </a:r>
          </a:p>
        </p:txBody>
      </p:sp>
      <p:pic>
        <p:nvPicPr>
          <p:cNvPr id="11" name="Picture 10" descr="481073d0dfc4344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22764" y="1645920"/>
            <a:ext cx="1146048" cy="7863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768812" y="1810512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70662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Who is right?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79017" y="3426283"/>
            <a:ext cx="16516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Hannah:  </a:t>
            </a:r>
          </a:p>
        </p:txBody>
      </p:sp>
      <p:pic>
        <p:nvPicPr>
          <p:cNvPr id="15" name="Picture 14" descr="cccc3c74ba494fe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3468" y="3354655"/>
            <a:ext cx="1213104" cy="60045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279017" y="4118179"/>
            <a:ext cx="19742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Sebastian:  </a:t>
            </a:r>
          </a:p>
        </p:txBody>
      </p:sp>
      <p:pic>
        <p:nvPicPr>
          <p:cNvPr id="17" name="Picture 16" descr="c39e2f4fb056822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6138" y="4046551"/>
            <a:ext cx="1743456" cy="60045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279017" y="4715587"/>
            <a:ext cx="30487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Same fraction, so  </a:t>
            </a:r>
          </a:p>
        </p:txBody>
      </p:sp>
      <p:pic>
        <p:nvPicPr>
          <p:cNvPr id="19" name="Picture 18" descr="c474a6f40cf4113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90606" y="4814647"/>
            <a:ext cx="691896" cy="2590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528708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Both — 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0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1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592182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592182"/>
            <a:ext cx="2654990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Write as one power.  </a:t>
            </a:r>
          </a:p>
        </p:txBody>
      </p:sp>
      <p:pic>
        <p:nvPicPr>
          <p:cNvPr id="10" name="Picture 9" descr="a20fd9ba3a575f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2310" y="1517904"/>
            <a:ext cx="254309" cy="52624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2250219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250219"/>
            <a:ext cx="2069198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3" name="Picture 12" descr="88fae2052833ae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6518" y="2172163"/>
            <a:ext cx="271934" cy="53379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2958614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958614"/>
            <a:ext cx="2069198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6" name="Picture 15" descr="086531e7053a3b9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6518" y="2833977"/>
            <a:ext cx="616888" cy="6269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60120" y="3622945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622945"/>
            <a:ext cx="8520898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Rewrite so the exponent is on the numerator and on the denominator.  </a:t>
            </a:r>
          </a:p>
        </p:txBody>
      </p:sp>
      <p:pic>
        <p:nvPicPr>
          <p:cNvPr id="19" name="Picture 18" descr="eb63da779674ef3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38218" y="3588953"/>
            <a:ext cx="533797" cy="44567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60120" y="4199150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199150"/>
            <a:ext cx="2069198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22" name="Picture 21" descr="5724de55833e2de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86518" y="4162640"/>
            <a:ext cx="667246" cy="45070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60120" y="4801792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801792"/>
            <a:ext cx="2253888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Find the value of </a:t>
            </a:r>
          </a:p>
        </p:txBody>
      </p:sp>
      <p:pic>
        <p:nvPicPr>
          <p:cNvPr id="25" name="Picture 24" descr="6d78c2be12150bf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71208" y="4921393"/>
            <a:ext cx="120859" cy="138485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3792068" y="4801792"/>
            <a:ext cx="401795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.  </a:t>
            </a:r>
          </a:p>
        </p:txBody>
      </p:sp>
      <p:pic>
        <p:nvPicPr>
          <p:cNvPr id="27" name="Picture 26" descr="70948e8ce7156c1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56703" y="4741362"/>
            <a:ext cx="783070" cy="498546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Powers with negative bases — WFW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Division with exponents — XNC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Identify equivalent expressions involving whole-number exponents — KBE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3  ·  LESSON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Exponential Expressions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MA.7.NSO.1.1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apply more than one law of exponents to evaluate an expression and to write an equivalent one.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556004"/>
            <a:ext cx="2921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Find the value:  </a:t>
            </a:r>
          </a:p>
        </p:txBody>
      </p:sp>
      <p:pic>
        <p:nvPicPr>
          <p:cNvPr id="9" name="Picture 8" descr="7eeabcc1a7697b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168" y="1463040"/>
            <a:ext cx="487680" cy="6431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284476"/>
            <a:ext cx="10495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Is </a:t>
            </a:r>
          </a:p>
        </p:txBody>
      </p:sp>
      <p:pic>
        <p:nvPicPr>
          <p:cNvPr id="11" name="Picture 10" descr="bcdd97740536927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6893" y="2318004"/>
            <a:ext cx="710184" cy="3901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497077" y="2284476"/>
            <a:ext cx="290976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closer to 7 or to 8?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897124"/>
            <a:ext cx="1612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Solve  </a:t>
            </a:r>
          </a:p>
        </p:txBody>
      </p:sp>
      <p:pic>
        <p:nvPicPr>
          <p:cNvPr id="14" name="Picture 13" descr="c4840976746a8c6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9655" y="2983992"/>
            <a:ext cx="1673352" cy="28346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3509772"/>
            <a:ext cx="21185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  </a:t>
            </a:r>
          </a:p>
        </p:txBody>
      </p:sp>
      <p:pic>
        <p:nvPicPr>
          <p:cNvPr id="16" name="Picture 15" descr="3d00c0b948695db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5915" y="3599688"/>
            <a:ext cx="1127760" cy="277368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556004"/>
            <a:ext cx="2921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Find the value:  </a:t>
            </a:r>
          </a:p>
        </p:txBody>
      </p:sp>
      <p:pic>
        <p:nvPicPr>
          <p:cNvPr id="9" name="Picture 8" descr="7eeabcc1a7697b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168" y="1463040"/>
            <a:ext cx="487680" cy="6431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95488" y="1440180"/>
            <a:ext cx="7723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284476"/>
            <a:ext cx="10495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Is </a:t>
            </a:r>
          </a:p>
        </p:txBody>
      </p:sp>
      <p:pic>
        <p:nvPicPr>
          <p:cNvPr id="12" name="Picture 11" descr="bcdd97740536927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6893" y="2318004"/>
            <a:ext cx="710184" cy="3901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497077" y="2284476"/>
            <a:ext cx="290976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closer to 7 or to 8?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18326" y="2284476"/>
            <a:ext cx="3729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2897124"/>
            <a:ext cx="1612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Solve  </a:t>
            </a:r>
          </a:p>
        </p:txBody>
      </p:sp>
      <p:pic>
        <p:nvPicPr>
          <p:cNvPr id="16" name="Picture 15" descr="c4840976746a8c6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9655" y="2983992"/>
            <a:ext cx="1673352" cy="28346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571647" y="2897124"/>
            <a:ext cx="9353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x = 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509772"/>
            <a:ext cx="21185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  </a:t>
            </a:r>
          </a:p>
        </p:txBody>
      </p:sp>
      <p:pic>
        <p:nvPicPr>
          <p:cNvPr id="19" name="Picture 18" descr="3d00c0b948695db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5915" y="3599688"/>
            <a:ext cx="1127760" cy="27736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532315" y="3509772"/>
            <a:ext cx="5841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50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The seven laws, in one place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051560" y="1993392"/>
          <a:ext cx="10058400" cy="30723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3657600"/>
                <a:gridCol w="310896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Law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Rule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Example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Product of powers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a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m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· a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n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a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m+n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· 2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2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Quotient of powers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a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m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÷ a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n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a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m-n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(−3)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7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÷ (−3)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(−3)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Power of a product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(ab)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m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a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m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· b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(−7 · 3)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(−7)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· 3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Power of a quotient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(a ÷ b)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m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a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m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÷ b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(13 ÷ 5)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13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÷ 5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Power of a power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(a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m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)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n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a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mn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(6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)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6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12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Identity exponent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a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15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15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Zero exponent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a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0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127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0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More than one law — make a plan, then follow 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405456" y="2159508"/>
            <a:ext cx="17813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Winston:  </a:t>
            </a:r>
          </a:p>
        </p:txBody>
      </p:sp>
      <p:pic>
        <p:nvPicPr>
          <p:cNvPr id="11" name="Picture 10" descr="26de40715e21e66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9695" y="1993392"/>
            <a:ext cx="3706368" cy="7894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981866" y="3297936"/>
            <a:ext cx="16105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Yvette:   </a:t>
            </a:r>
          </a:p>
        </p:txBody>
      </p:sp>
      <p:pic>
        <p:nvPicPr>
          <p:cNvPr id="13" name="Picture 12" descr="354e7e69552fdcc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5253" y="3057144"/>
            <a:ext cx="4724400" cy="9387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334256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Different plans, same value. Any correct sequence of laws gives the same answer.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Order of operations still applies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87552" y="2057400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81912" y="2057400"/>
            <a:ext cx="9537192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Parentheses first — including a fraction bar, which is a pair of parentheses in disguise.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264408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81912" y="3264408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Exponents next — the laws of exponents are applied here.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3995928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995928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Then multiply and divide, left to right; then add and subtract.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727448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1912" y="4686299"/>
            <a:ext cx="39428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Never across a + or a −:  </a:t>
            </a:r>
          </a:p>
        </p:txBody>
      </p:sp>
      <p:pic>
        <p:nvPicPr>
          <p:cNvPr id="18" name="Picture 17" descr="b054382c410b71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7624" y="4745736"/>
            <a:ext cx="3041904" cy="3383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429528" y="4686299"/>
            <a:ext cx="9753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, not </a:t>
            </a:r>
          </a:p>
        </p:txBody>
      </p:sp>
      <p:pic>
        <p:nvPicPr>
          <p:cNvPr id="20" name="Picture 19" descr="b8a8a24b141b26c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67716" y="4748783"/>
            <a:ext cx="335280" cy="33223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602996" y="4686299"/>
            <a:ext cx="2858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pic>
        <p:nvPicPr>
          <p:cNvPr id="8" name="Picture 7" descr="871450e41cfad6f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8883" y="2103120"/>
            <a:ext cx="1063752" cy="792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398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Make a plan. Then find the value.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5359036a1f698d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115056" cy="792480"/>
          </a:xfrm>
          <a:prstGeom prst="rect">
            <a:avLst/>
          </a:prstGeom>
        </p:spPr>
      </p:pic>
      <p:pic>
        <p:nvPicPr>
          <p:cNvPr id="9" name="Picture 8" descr="a9f26448e74da49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987040"/>
            <a:ext cx="3121152" cy="792480"/>
          </a:xfrm>
          <a:prstGeom prst="rect">
            <a:avLst/>
          </a:prstGeom>
        </p:spPr>
      </p:pic>
      <p:pic>
        <p:nvPicPr>
          <p:cNvPr id="10" name="Picture 9" descr="55388f3dbeaaa93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4053839"/>
            <a:ext cx="2014727" cy="7863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29742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64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7c1c49302d0312d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1536" y="1600200"/>
            <a:ext cx="1298448" cy="9966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9981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Make a plan. Then find the value.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64d9077d4a04b7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4583" y="1600200"/>
            <a:ext cx="1292352" cy="9936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967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Make a plan. Then find the value.</a:t>
            </a:r>
          </a:p>
        </p:txBody>
      </p:sp>
      <p:pic>
        <p:nvPicPr>
          <p:cNvPr id="10" name="Picture 9" descr="7d5966605e1b5a7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7217" y="3762358"/>
            <a:ext cx="832104" cy="304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359321" y="3686158"/>
            <a:ext cx="31136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so the top is   </a:t>
            </a:r>
          </a:p>
        </p:txBody>
      </p:sp>
      <p:pic>
        <p:nvPicPr>
          <p:cNvPr id="12" name="Picture 11" descr="cfeba237a81f836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35854" y="3762358"/>
            <a:ext cx="1414272" cy="304800"/>
          </a:xfrm>
          <a:prstGeom prst="rect">
            <a:avLst/>
          </a:prstGeom>
        </p:spPr>
      </p:pic>
      <p:pic>
        <p:nvPicPr>
          <p:cNvPr id="13" name="Picture 12" descr="c9da1d73bbb72ec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7217" y="4248514"/>
            <a:ext cx="2834640" cy="7193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510500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25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2eb7f507fb1bdda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4147" y="2103120"/>
            <a:ext cx="2173224" cy="8625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6862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Make a plan. Then find the value.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466ad9eb1c6c0f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291584" cy="862584"/>
          </a:xfrm>
          <a:prstGeom prst="rect">
            <a:avLst/>
          </a:prstGeom>
        </p:spPr>
      </p:pic>
      <p:pic>
        <p:nvPicPr>
          <p:cNvPr id="9" name="Picture 8" descr="805526f61b3f744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057144"/>
            <a:ext cx="2709672" cy="676656"/>
          </a:xfrm>
          <a:prstGeom prst="rect">
            <a:avLst/>
          </a:prstGeom>
        </p:spPr>
      </p:pic>
      <p:pic>
        <p:nvPicPr>
          <p:cNvPr id="10" name="Picture 9" descr="e03466c326967c3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4008119"/>
            <a:ext cx="2578608" cy="4084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87375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10,000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31005eb0e2b932c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5295" y="1600200"/>
            <a:ext cx="2090928" cy="10698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729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Make a plan. Then find the value.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3c51ce23219019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8344" y="1600200"/>
            <a:ext cx="2084831" cy="10698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729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Make a plan. Then find the value.</a:t>
            </a:r>
          </a:p>
        </p:txBody>
      </p:sp>
      <p:pic>
        <p:nvPicPr>
          <p:cNvPr id="10" name="Picture 9" descr="861380fef57da3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7723" y="3837034"/>
            <a:ext cx="813816" cy="307848"/>
          </a:xfrm>
          <a:prstGeom prst="rect">
            <a:avLst/>
          </a:prstGeom>
        </p:spPr>
      </p:pic>
      <p:pic>
        <p:nvPicPr>
          <p:cNvPr id="11" name="Picture 10" descr="6ae16a65768a73b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7723" y="4324714"/>
            <a:ext cx="4498848" cy="77419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523606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−27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17189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warehouse holds  </a:t>
            </a:r>
          </a:p>
        </p:txBody>
      </p:sp>
      <p:pic>
        <p:nvPicPr>
          <p:cNvPr id="9" name="Picture 8" descr="0ad9a9f5739e68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9171" y="1946147"/>
            <a:ext cx="292608" cy="268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61779" y="1851660"/>
            <a:ext cx="17741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boxes in  </a:t>
            </a:r>
          </a:p>
        </p:txBody>
      </p:sp>
      <p:pic>
        <p:nvPicPr>
          <p:cNvPr id="11" name="Picture 10" descr="90ca6f61d8d9d8f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8724" y="1943100"/>
            <a:ext cx="280416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79140" y="1851660"/>
            <a:ext cx="20589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equal rows.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Each box weighs 3 kilograms.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boxes are in each row?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17189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warehouse holds  </a:t>
            </a:r>
          </a:p>
        </p:txBody>
      </p:sp>
      <p:pic>
        <p:nvPicPr>
          <p:cNvPr id="9" name="Picture 8" descr="39f35dfe45d062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9171" y="1944623"/>
            <a:ext cx="292608" cy="2712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61779" y="1851660"/>
            <a:ext cx="17741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boxes in  </a:t>
            </a:r>
          </a:p>
        </p:txBody>
      </p:sp>
      <p:pic>
        <p:nvPicPr>
          <p:cNvPr id="11" name="Picture 10" descr="83256b733f6eea6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8724" y="1943100"/>
            <a:ext cx="283464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82188" y="1851660"/>
            <a:ext cx="20589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equal rows.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Each box weighs 3 kilograms.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boxes are in each row?</a:t>
            </a:r>
          </a:p>
        </p:txBody>
      </p:sp>
      <p:pic>
        <p:nvPicPr>
          <p:cNvPr id="15" name="Picture 14" descr="7a08f76444d3db9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0119" y="3739100"/>
            <a:ext cx="2727960" cy="301752"/>
          </a:xfrm>
          <a:prstGeom prst="rect">
            <a:avLst/>
          </a:prstGeom>
        </p:spPr>
      </p:pic>
      <p:pic>
        <p:nvPicPr>
          <p:cNvPr id="16" name="Picture 15" descr="8cf4bb25f9be76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0119" y="4277072"/>
            <a:ext cx="1024128" cy="3048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77237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36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pic>
        <p:nvPicPr>
          <p:cNvPr id="8" name="Picture 7" descr="d7dfc0540bf78c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0368" y="2194560"/>
            <a:ext cx="1700784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pic>
        <p:nvPicPr>
          <p:cNvPr id="8" name="Picture 7" descr="1728c2e18e9d37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0368" y="2103120"/>
            <a:ext cx="1700784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36576" y="2891028"/>
            <a:ext cx="24560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Inside first:  </a:t>
            </a:r>
          </a:p>
        </p:txBody>
      </p:sp>
      <p:pic>
        <p:nvPicPr>
          <p:cNvPr id="10" name="Picture 9" descr="a8f80e542aac10d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5479" y="2967228"/>
            <a:ext cx="2569464" cy="304800"/>
          </a:xfrm>
          <a:prstGeom prst="rect">
            <a:avLst/>
          </a:prstGeom>
        </p:spPr>
      </p:pic>
      <p:pic>
        <p:nvPicPr>
          <p:cNvPr id="11" name="Picture 10" descr="562836d64a24986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1440" y="3473195"/>
            <a:ext cx="3206496" cy="37185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729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pic>
        <p:nvPicPr>
          <p:cNvPr id="8" name="Picture 7" descr="853f704f39adc6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9720" y="2194560"/>
            <a:ext cx="1402080" cy="11612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8cfe86bd927791b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2767" y="2103120"/>
            <a:ext cx="1395984" cy="1158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883151" y="3540252"/>
            <a:ext cx="11413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Top:  </a:t>
            </a:r>
          </a:p>
        </p:txBody>
      </p:sp>
      <p:pic>
        <p:nvPicPr>
          <p:cNvPr id="10" name="Picture 9" descr="c8aacd963cc0abc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7295" y="3582923"/>
            <a:ext cx="3212592" cy="371856"/>
          </a:xfrm>
          <a:prstGeom prst="rect">
            <a:avLst/>
          </a:prstGeom>
        </p:spPr>
      </p:pic>
      <p:pic>
        <p:nvPicPr>
          <p:cNvPr id="11" name="Picture 10" descr="024670428e914ad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8015" y="4102607"/>
            <a:ext cx="4395216" cy="7223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96214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0.0625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c1a85d6466844e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0659" y="2194560"/>
            <a:ext cx="1600200" cy="9936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201b523e871425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9135" y="2103120"/>
            <a:ext cx="1603248" cy="990599"/>
          </a:xfrm>
          <a:prstGeom prst="rect">
            <a:avLst/>
          </a:prstGeom>
        </p:spPr>
      </p:pic>
      <p:pic>
        <p:nvPicPr>
          <p:cNvPr id="9" name="Picture 8" descr="559f26ed92ee9a2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0203" y="3395471"/>
            <a:ext cx="2904744" cy="716280"/>
          </a:xfrm>
          <a:prstGeom prst="rect">
            <a:avLst/>
          </a:prstGeom>
        </p:spPr>
      </p:pic>
      <p:pic>
        <p:nvPicPr>
          <p:cNvPr id="10" name="Picture 9" descr="24d3fe5a98bd3a5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0203" y="4259580"/>
            <a:ext cx="2910840" cy="3718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78840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6.25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bc2795e448a34e0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7864" y="2194560"/>
            <a:ext cx="2145792" cy="107899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50215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41684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1/4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41684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8542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8542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8756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0dc5a9a7ac0e32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9387" y="2103120"/>
            <a:ext cx="2142744" cy="10728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0461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pic>
        <p:nvPicPr>
          <p:cNvPr id="10" name="Picture 9" descr="0d09560877107fa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4945" y="4105987"/>
            <a:ext cx="1097280" cy="304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972225" y="4029787"/>
            <a:ext cx="31136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so the top is   </a:t>
            </a:r>
          </a:p>
        </p:txBody>
      </p:sp>
      <p:pic>
        <p:nvPicPr>
          <p:cNvPr id="12" name="Picture 11" descr="2fb277e921b4c8c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8758" y="4072459"/>
            <a:ext cx="2450592" cy="371856"/>
          </a:xfrm>
          <a:prstGeom prst="rect">
            <a:avLst/>
          </a:prstGeom>
        </p:spPr>
      </p:pic>
      <p:pic>
        <p:nvPicPr>
          <p:cNvPr id="13" name="Picture 12" descr="06fcc5f13e11315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74945" y="4592143"/>
            <a:ext cx="3008376" cy="7162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544558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4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4f0d140d692f52a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9680" y="2194560"/>
            <a:ext cx="2042160" cy="98450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0766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40739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0.2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0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· 0.1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40739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0.2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3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· 0.1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7597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0.1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7597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0.1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8756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d5144192dfe296f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6631" y="2103120"/>
            <a:ext cx="2048256" cy="98450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31622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pic>
        <p:nvPicPr>
          <p:cNvPr id="10" name="Picture 9" descr="94a1e1b1de4bfc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2919" y="3964255"/>
            <a:ext cx="2980944" cy="713232"/>
          </a:xfrm>
          <a:prstGeom prst="rect">
            <a:avLst/>
          </a:prstGeom>
        </p:spPr>
      </p:pic>
      <p:pic>
        <p:nvPicPr>
          <p:cNvPr id="11" name="Picture 10" descr="f5db90305a3cc13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2919" y="4858843"/>
            <a:ext cx="3648456" cy="304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535414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0.1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1f6a545d117e0f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3939" y="2194560"/>
            <a:ext cx="2453640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4a52109175a88ef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2416" y="2103120"/>
            <a:ext cx="2456688" cy="509016"/>
          </a:xfrm>
          <a:prstGeom prst="rect">
            <a:avLst/>
          </a:prstGeom>
        </p:spPr>
      </p:pic>
      <p:pic>
        <p:nvPicPr>
          <p:cNvPr id="9" name="Picture 8" descr="9994c4103bc079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4448" y="2933699"/>
            <a:ext cx="3127248" cy="371856"/>
          </a:xfrm>
          <a:prstGeom prst="rect">
            <a:avLst/>
          </a:prstGeom>
        </p:spPr>
      </p:pic>
      <p:pic>
        <p:nvPicPr>
          <p:cNvPr id="10" name="Picture 9" descr="a3962f919eaa2e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4448" y="3506724"/>
            <a:ext cx="5108448" cy="304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0.0001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c207f4faf046fa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3648" y="2194560"/>
            <a:ext cx="2554224" cy="1170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b21b3b08159601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6695" y="2103120"/>
            <a:ext cx="2548128" cy="1170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762714" y="3552444"/>
            <a:ext cx="9967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Top:  </a:t>
            </a:r>
          </a:p>
        </p:txBody>
      </p:sp>
      <p:pic>
        <p:nvPicPr>
          <p:cNvPr id="10" name="Picture 9" descr="7cb6b0e37124900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2333" y="3624072"/>
            <a:ext cx="3776472" cy="3139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762714" y="4055363"/>
            <a:ext cx="15832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Bottom:  </a:t>
            </a:r>
          </a:p>
        </p:txBody>
      </p:sp>
      <p:pic>
        <p:nvPicPr>
          <p:cNvPr id="12" name="Picture 11" descr="7fc1a3bd4f31f49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08824" y="4126992"/>
            <a:ext cx="1103376" cy="313944"/>
          </a:xfrm>
          <a:prstGeom prst="rect">
            <a:avLst/>
          </a:prstGeom>
        </p:spPr>
      </p:pic>
      <p:pic>
        <p:nvPicPr>
          <p:cNvPr id="13" name="Picture 12" descr="9f85f887b8d2d3a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7578" y="4632960"/>
            <a:ext cx="1469136" cy="3078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512978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−64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92037" y="2362199"/>
            <a:ext cx="27712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Winston writes  </a:t>
            </a:r>
          </a:p>
        </p:txBody>
      </p:sp>
      <p:pic>
        <p:nvPicPr>
          <p:cNvPr id="9" name="Picture 8" descr="c980b6f8e4155c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6116" y="2196083"/>
            <a:ext cx="2170176" cy="789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96292" y="2362199"/>
            <a:ext cx="28624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   Yvette writes  </a:t>
            </a:r>
          </a:p>
        </p:txBody>
      </p:sp>
      <p:pic>
        <p:nvPicPr>
          <p:cNvPr id="11" name="Picture 10" descr="149a6d7e3b789f2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1592" y="2194560"/>
            <a:ext cx="1898904" cy="792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720496" y="2362199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261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Do they get the same value? Explain.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90513" y="2270760"/>
            <a:ext cx="27712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Winston writes  </a:t>
            </a:r>
          </a:p>
        </p:txBody>
      </p:sp>
      <p:pic>
        <p:nvPicPr>
          <p:cNvPr id="9" name="Picture 8" descr="e64c2044df8773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4592" y="2104644"/>
            <a:ext cx="2176272" cy="789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00864" y="2270760"/>
            <a:ext cx="28624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   Yvette writes  </a:t>
            </a:r>
          </a:p>
        </p:txBody>
      </p:sp>
      <p:pic>
        <p:nvPicPr>
          <p:cNvPr id="11" name="Picture 10" descr="cee0462912012dc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6164" y="2103120"/>
            <a:ext cx="1895856" cy="792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722020" y="227076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16991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Do they get the same value? Explain.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24019" y="3795091"/>
            <a:ext cx="16907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Winston:  </a:t>
            </a:r>
          </a:p>
        </p:txBody>
      </p:sp>
      <p:pic>
        <p:nvPicPr>
          <p:cNvPr id="15" name="Picture 14" descr="39098cfa8576ec8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7636" y="3866719"/>
            <a:ext cx="1962911" cy="3139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324019" y="4395547"/>
            <a:ext cx="14419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Yvette:  </a:t>
            </a:r>
          </a:p>
        </p:txBody>
      </p:sp>
      <p:pic>
        <p:nvPicPr>
          <p:cNvPr id="17" name="Picture 16" descr="c0e6871a3ee6bdb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28802" y="4320871"/>
            <a:ext cx="2069591" cy="606552"/>
          </a:xfrm>
          <a:prstGeom prst="rect">
            <a:avLst/>
          </a:prstGeom>
        </p:spPr>
      </p:pic>
      <p:pic>
        <p:nvPicPr>
          <p:cNvPr id="18" name="Picture 17" descr="8539984585d0f2a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78883" y="5095063"/>
            <a:ext cx="890016" cy="2590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556750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Yes — both give 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64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610868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610868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0" name="Picture 9" descr="c7e89364d519cf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7878" y="1517904"/>
            <a:ext cx="862584" cy="6431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2321052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21052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3" name="Picture 12" descr="4708afb69f8d23f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7878" y="2383536"/>
            <a:ext cx="1121664" cy="3322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3032760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032760"/>
            <a:ext cx="31696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as one power.  </a:t>
            </a:r>
          </a:p>
        </p:txBody>
      </p:sp>
      <p:pic>
        <p:nvPicPr>
          <p:cNvPr id="16" name="Picture 15" descr="9089217fb5b948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6963" y="2938272"/>
            <a:ext cx="819912" cy="64617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60120" y="3744468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744468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9" name="Picture 18" descr="271b6d25ef87d17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7878" y="3806952"/>
            <a:ext cx="1624584" cy="33223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60120" y="4515611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515611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22" name="Picture 21" descr="4cda08a3e11dfd1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77878" y="4361688"/>
            <a:ext cx="1621536" cy="76504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60120" y="5404104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404104"/>
            <a:ext cx="18133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Show that  </a:t>
            </a:r>
          </a:p>
        </p:txBody>
      </p:sp>
      <p:pic>
        <p:nvPicPr>
          <p:cNvPr id="25" name="Picture 24" descr="ae2b35341e662e1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30690" y="5309616"/>
            <a:ext cx="996696" cy="646176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227386" y="5404104"/>
            <a:ext cx="10875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27" name="Picture 26" descr="b168ae64df955b7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77727" y="5311140"/>
            <a:ext cx="499871" cy="64312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677599" y="5404104"/>
            <a:ext cx="33870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have the same value.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Evaluate expressions using properties of exponents — ZE9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3  ·  LESSON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Negative Exponent Law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rewrite a power with a negative exponent using a positive exponent, and evaluate it.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559052"/>
            <a:ext cx="2921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Find the value:  </a:t>
            </a:r>
          </a:p>
        </p:txBody>
      </p:sp>
      <p:pic>
        <p:nvPicPr>
          <p:cNvPr id="9" name="Picture 8" descr="7e2e2a945d199f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168" y="1463040"/>
            <a:ext cx="844296" cy="649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290572"/>
            <a:ext cx="31594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Which is greater, </a:t>
            </a:r>
          </a:p>
        </p:txBody>
      </p:sp>
      <p:pic>
        <p:nvPicPr>
          <p:cNvPr id="11" name="Picture 10" descr="10d7b99c008a1e6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6762" y="2324100"/>
            <a:ext cx="697992" cy="3901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594754" y="2290572"/>
            <a:ext cx="12259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or 5.5?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903220"/>
            <a:ext cx="1612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Solve  </a:t>
            </a:r>
          </a:p>
        </p:txBody>
      </p:sp>
      <p:pic>
        <p:nvPicPr>
          <p:cNvPr id="14" name="Picture 13" descr="3835561d3a33385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9655" y="3019044"/>
            <a:ext cx="1112520" cy="22555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3579876"/>
            <a:ext cx="42788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What is the reciprocal of </a:t>
            </a:r>
          </a:p>
        </p:txBody>
      </p:sp>
      <p:pic>
        <p:nvPicPr>
          <p:cNvPr id="16" name="Picture 15" descr="f0b15a73405cbe9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16240" y="3538728"/>
            <a:ext cx="198120" cy="53949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214360" y="3579876"/>
            <a:ext cx="39173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  What is the opposite of </a:t>
            </a:r>
          </a:p>
        </p:txBody>
      </p:sp>
      <p:pic>
        <p:nvPicPr>
          <p:cNvPr id="18" name="Picture 17" descr="f0b15a73405cbe9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94595" y="3538728"/>
            <a:ext cx="198120" cy="53949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0192715" y="3579876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559052"/>
            <a:ext cx="2921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Find the value:  </a:t>
            </a:r>
          </a:p>
        </p:txBody>
      </p:sp>
      <p:pic>
        <p:nvPicPr>
          <p:cNvPr id="9" name="Picture 8" descr="7e2e2a945d199f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168" y="1463040"/>
            <a:ext cx="844296" cy="649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52104" y="1440180"/>
            <a:ext cx="546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290572"/>
            <a:ext cx="31594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Which is greater, </a:t>
            </a:r>
          </a:p>
        </p:txBody>
      </p:sp>
      <p:pic>
        <p:nvPicPr>
          <p:cNvPr id="12" name="Picture 11" descr="10d7b99c008a1e6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6762" y="2324100"/>
            <a:ext cx="697992" cy="3901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594754" y="2290572"/>
            <a:ext cx="12259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or 5.5?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32214" y="2290572"/>
            <a:ext cx="6364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5.5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2903220"/>
            <a:ext cx="1612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Solve  </a:t>
            </a:r>
          </a:p>
        </p:txBody>
      </p:sp>
      <p:pic>
        <p:nvPicPr>
          <p:cNvPr id="16" name="Picture 15" descr="3835561d3a33385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9655" y="3019044"/>
            <a:ext cx="1112520" cy="22555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010815" y="2903220"/>
            <a:ext cx="1093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x = −7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579876"/>
            <a:ext cx="42788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What is the reciprocal of </a:t>
            </a:r>
          </a:p>
        </p:txBody>
      </p:sp>
      <p:pic>
        <p:nvPicPr>
          <p:cNvPr id="19" name="Picture 18" descr="f0b15a73405cbe9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16240" y="3538728"/>
            <a:ext cx="198120" cy="53949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214360" y="3579876"/>
            <a:ext cx="39173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  What is the opposite of </a:t>
            </a:r>
          </a:p>
        </p:txBody>
      </p:sp>
      <p:pic>
        <p:nvPicPr>
          <p:cNvPr id="21" name="Picture 20" descr="f0b15a73405cbe9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94595" y="3538728"/>
            <a:ext cx="198120" cy="53949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192715" y="3579876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pic>
        <p:nvPicPr>
          <p:cNvPr id="23" name="Picture 22" descr="fa151ddb9afb949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06040" y="4123944"/>
            <a:ext cx="198120" cy="53949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2804160" y="4165092"/>
            <a:ext cx="11597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  and  </a:t>
            </a:r>
          </a:p>
        </p:txBody>
      </p:sp>
      <p:pic>
        <p:nvPicPr>
          <p:cNvPr id="25" name="Picture 24" descr="8205fb4d0fb708a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26787" y="4123944"/>
            <a:ext cx="365760" cy="539496"/>
          </a:xfrm>
          <a:prstGeom prst="rect">
            <a:avLst/>
          </a:prstGeom>
        </p:spPr>
      </p:pic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The pattern keeps going past zero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77240" y="1993392"/>
          <a:ext cx="1060704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1325880"/>
                <a:gridCol w="1325880"/>
                <a:gridCol w="1325880"/>
                <a:gridCol w="1325880"/>
                <a:gridCol w="1325880"/>
                <a:gridCol w="1325880"/>
                <a:gridCol w="13258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-1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-2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-3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1/2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1/4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1/8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1" name="Picture 10" descr="311a92ab63e08fd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2438" y="2990088"/>
            <a:ext cx="1219200" cy="731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91638" y="3127248"/>
            <a:ext cx="9552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</a:t>
            </a:r>
          </a:p>
        </p:txBody>
      </p:sp>
      <p:pic>
        <p:nvPicPr>
          <p:cNvPr id="13" name="Picture 12" descr="049aeed39d2b92e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9744" y="2990088"/>
            <a:ext cx="1892807" cy="7315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702552" y="3127248"/>
            <a:ext cx="9552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</a:t>
            </a:r>
          </a:p>
        </p:txBody>
      </p:sp>
      <p:pic>
        <p:nvPicPr>
          <p:cNvPr id="15" name="Picture 14" descr="bccda8979946617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0657" y="2991612"/>
            <a:ext cx="1868424" cy="728472"/>
          </a:xfrm>
          <a:prstGeom prst="rect">
            <a:avLst/>
          </a:prstGeom>
        </p:spPr>
      </p:pic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The negative exponent law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28aa15ddbf8bfd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7445" y="1993392"/>
            <a:ext cx="1365504" cy="685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92949" y="2107692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703929da3359c7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7293" y="1993392"/>
            <a:ext cx="1405128" cy="685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902421" y="2107692"/>
            <a:ext cx="12631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(</a:t>
            </a:r>
          </a:p>
        </p:txBody>
      </p:sp>
      <p:pic>
        <p:nvPicPr>
          <p:cNvPr id="14" name="Picture 13" descr="47b5f205461fb9c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8459" y="2197608"/>
            <a:ext cx="810768" cy="2773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839227" y="2107692"/>
            <a:ext cx="33200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)</a:t>
            </a:r>
          </a:p>
        </p:txBody>
      </p:sp>
      <p:pic>
        <p:nvPicPr>
          <p:cNvPr id="16" name="Picture 15" descr="c4472833bac66d5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5979" y="2953512"/>
            <a:ext cx="2103120" cy="73456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749099" y="3092196"/>
            <a:ext cx="18660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but      </a:t>
            </a:r>
          </a:p>
        </p:txBody>
      </p:sp>
      <p:pic>
        <p:nvPicPr>
          <p:cNvPr id="18" name="Picture 17" descr="423c7123e052fac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78014" y="3150108"/>
            <a:ext cx="1581912" cy="34137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059926" y="3092196"/>
            <a:ext cx="19468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and      </a:t>
            </a:r>
          </a:p>
        </p:txBody>
      </p:sp>
      <p:pic>
        <p:nvPicPr>
          <p:cNvPr id="20" name="Picture 19" descr="1f1d03da98083e5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69620" y="3115056"/>
            <a:ext cx="1645920" cy="4114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87552" y="402640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 negative exponent means reciprocal. It never means a negative value.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" y="4911851"/>
            <a:ext cx="44025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The base keeps its own sign:  </a:t>
            </a:r>
          </a:p>
        </p:txBody>
      </p:sp>
      <p:pic>
        <p:nvPicPr>
          <p:cNvPr id="23" name="Picture 22" descr="40306a195e2bf5f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52915" y="4739639"/>
            <a:ext cx="3962399" cy="801624"/>
          </a:xfrm>
          <a:prstGeom prst="rect">
            <a:avLst/>
          </a:prstGeom>
        </p:spPr>
      </p:pic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The laws still work with negative exponents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cc0334afe7b278a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0271" y="1993392"/>
            <a:ext cx="4760976" cy="734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522958" y="2979420"/>
            <a:ext cx="11074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or      </a:t>
            </a:r>
          </a:p>
        </p:txBody>
      </p:sp>
      <p:pic>
        <p:nvPicPr>
          <p:cNvPr id="12" name="Picture 11" descr="9c8b9f7e693c72b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3281" y="3038856"/>
            <a:ext cx="4145280" cy="338328"/>
          </a:xfrm>
          <a:prstGeom prst="rect">
            <a:avLst/>
          </a:prstGeom>
        </p:spPr>
      </p:pic>
      <p:pic>
        <p:nvPicPr>
          <p:cNvPr id="13" name="Picture 12" descr="ba6216107014bb8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9015" y="3688080"/>
            <a:ext cx="3523488" cy="7833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809744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Add, subtract and multiply exponents exactly as before — the exponents are just integers now.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pic>
        <p:nvPicPr>
          <p:cNvPr id="8" name="Picture 7" descr="d8836e49d1cfec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2536" y="2103120"/>
            <a:ext cx="536448" cy="789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39547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Rewrite with positive exponents, then find the value.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b5557daf282610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313688" cy="792480"/>
          </a:xfrm>
          <a:prstGeom prst="rect">
            <a:avLst/>
          </a:prstGeom>
        </p:spPr>
      </p:pic>
      <p:pic>
        <p:nvPicPr>
          <p:cNvPr id="9" name="Picture 8" descr="910e7e74eaed257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987040"/>
            <a:ext cx="2727960" cy="789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81/8 = 10.125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56f58bfbd6c8fb8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0052" y="1600200"/>
            <a:ext cx="661416" cy="9936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967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Rewrite with positive exponents, then find the value.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a614b6a36d8c6f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3099" y="1600200"/>
            <a:ext cx="655320" cy="99059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937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Rewrite with positive exponents, then find the value.</a:t>
            </a:r>
          </a:p>
        </p:txBody>
      </p:sp>
      <p:pic>
        <p:nvPicPr>
          <p:cNvPr id="10" name="Picture 9" descr="a77b1d7cf427ed1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1473" y="3705970"/>
            <a:ext cx="1124712" cy="6644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16185" y="3809602"/>
            <a:ext cx="19394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    and     </a:t>
            </a:r>
          </a:p>
        </p:txBody>
      </p:sp>
      <p:pic>
        <p:nvPicPr>
          <p:cNvPr id="12" name="Picture 11" descr="9dc9678259e96ae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8486" y="3705970"/>
            <a:ext cx="1161288" cy="664464"/>
          </a:xfrm>
          <a:prstGeom prst="rect">
            <a:avLst/>
          </a:prstGeom>
        </p:spPr>
      </p:pic>
      <p:pic>
        <p:nvPicPr>
          <p:cNvPr id="13" name="Picture 12" descr="c675e00ae2c4c27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91473" y="4498450"/>
            <a:ext cx="1749552" cy="7223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981956" y="550124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5" name="Picture 14" descr="7cc84f7ce49a4b3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02196" y="5357986"/>
            <a:ext cx="277368" cy="835152"/>
          </a:xfrm>
          <a:prstGeom prst="rect">
            <a:avLst/>
          </a:prstGeom>
        </p:spPr>
      </p:pic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1d7b994a7331cb7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4915" y="2103120"/>
            <a:ext cx="551688" cy="792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398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value.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a40b57a8a09e72b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855976" cy="789432"/>
          </a:xfrm>
          <a:prstGeom prst="rect">
            <a:avLst/>
          </a:prstGeom>
        </p:spPr>
      </p:pic>
      <p:pic>
        <p:nvPicPr>
          <p:cNvPr id="9" name="Picture 8" descr="cf7273435b0489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983992"/>
            <a:ext cx="2286000" cy="789432"/>
          </a:xfrm>
          <a:prstGeom prst="rect">
            <a:avLst/>
          </a:prstGeom>
        </p:spPr>
      </p:pic>
      <p:pic>
        <p:nvPicPr>
          <p:cNvPr id="10" name="Picture 9" descr="1b79637c342989a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4047744"/>
            <a:ext cx="1584960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84327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2,401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d2b1010d50fd96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199" y="1600200"/>
            <a:ext cx="1341120" cy="1164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6745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value.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7ac64fd7acb912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1600200"/>
            <a:ext cx="1335024" cy="11673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7050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value.</a:t>
            </a:r>
          </a:p>
        </p:txBody>
      </p:sp>
      <p:pic>
        <p:nvPicPr>
          <p:cNvPr id="10" name="Picture 9" descr="7d3ab70b25bdc1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8223" y="3882754"/>
            <a:ext cx="4114800" cy="847344"/>
          </a:xfrm>
          <a:prstGeom prst="rect">
            <a:avLst/>
          </a:prstGeom>
        </p:spPr>
      </p:pic>
      <p:pic>
        <p:nvPicPr>
          <p:cNvPr id="11" name="Picture 10" descr="815116ea7185775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8223" y="4877926"/>
            <a:ext cx="1520952" cy="37185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540675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64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9c3ed80bb4c057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9864" y="2194560"/>
            <a:ext cx="621792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2e28a9bdc45329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8339" y="2103120"/>
            <a:ext cx="624840" cy="414528"/>
          </a:xfrm>
          <a:prstGeom prst="rect">
            <a:avLst/>
          </a:prstGeom>
        </p:spPr>
      </p:pic>
      <p:pic>
        <p:nvPicPr>
          <p:cNvPr id="9" name="Picture 8" descr="15da0b6dbd5791d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4123" y="2819399"/>
            <a:ext cx="1139952" cy="658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81372" y="4843271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1" name="Picture 10" descr="1abbd0053a87d77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1611" y="4663440"/>
            <a:ext cx="478536" cy="908304"/>
          </a:xfrm>
          <a:prstGeom prst="rect">
            <a:avLst/>
          </a:prstGeom>
        </p:spPr>
      </p:pic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sheet of paper 30 centimeters long is folded in half 7 times.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Each fold makes the top layer half as big.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fraction of the whole sheet is the top layer after 7 folds?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sheet of paper 30 centimeters long is folded in half 7 times.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Each fold makes the top layer half as big.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fraction of the whole sheet is the top layer after 7 folds?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5587" y="3712795"/>
            <a:ext cx="37715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Each fold halves it:  </a:t>
            </a:r>
          </a:p>
        </p:txBody>
      </p:sp>
      <p:pic>
        <p:nvPicPr>
          <p:cNvPr id="12" name="Picture 11" descr="55ec7b58e31aa3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9948" y="3610687"/>
            <a:ext cx="1392936" cy="661416"/>
          </a:xfrm>
          <a:prstGeom prst="rect">
            <a:avLst/>
          </a:prstGeom>
        </p:spPr>
      </p:pic>
      <p:pic>
        <p:nvPicPr>
          <p:cNvPr id="13" name="Picture 12" descr="93c08fb8bb36cdb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0451" y="4578427"/>
            <a:ext cx="1197864" cy="3017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818315" y="4500703"/>
            <a:ext cx="13382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5" name="Picture 14" descr="d5cb71527a492aa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9388" y="4400119"/>
            <a:ext cx="1277112" cy="6583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725924" y="5340427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7" name="Picture 16" descr="e1d9433f34f9570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6163" y="5195647"/>
            <a:ext cx="789432" cy="838200"/>
          </a:xfrm>
          <a:prstGeom prst="rect">
            <a:avLst/>
          </a:prstGeom>
        </p:spPr>
      </p:pic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pic>
        <p:nvPicPr>
          <p:cNvPr id="8" name="Picture 7" descr="0f4f7eddbf6258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2891" y="2194560"/>
            <a:ext cx="935736" cy="9174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9a062827f8f12e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4416" y="2103120"/>
            <a:ext cx="932688" cy="917448"/>
          </a:xfrm>
          <a:prstGeom prst="rect">
            <a:avLst/>
          </a:prstGeom>
        </p:spPr>
      </p:pic>
      <p:pic>
        <p:nvPicPr>
          <p:cNvPr id="9" name="Picture 8" descr="cf7fb92401bc0fd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3812" y="3322320"/>
            <a:ext cx="1563624" cy="664464"/>
          </a:xfrm>
          <a:prstGeom prst="rect">
            <a:avLst/>
          </a:prstGeom>
        </p:spPr>
      </p:pic>
      <p:pic>
        <p:nvPicPr>
          <p:cNvPr id="10" name="Picture 9" descr="33a151155381260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53812" y="4168140"/>
            <a:ext cx="1417320" cy="304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100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20cab291981eb64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7444" y="2194560"/>
            <a:ext cx="1246632" cy="5059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b3224c13b7d8fa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5919" y="2103120"/>
            <a:ext cx="1249680" cy="509016"/>
          </a:xfrm>
          <a:prstGeom prst="rect">
            <a:avLst/>
          </a:prstGeom>
        </p:spPr>
      </p:pic>
      <p:pic>
        <p:nvPicPr>
          <p:cNvPr id="9" name="Picture 8" descr="6b0d31b34f4f077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1943" y="2913888"/>
            <a:ext cx="2039112" cy="728472"/>
          </a:xfrm>
          <a:prstGeom prst="rect">
            <a:avLst/>
          </a:prstGeom>
        </p:spPr>
      </p:pic>
      <p:pic>
        <p:nvPicPr>
          <p:cNvPr id="10" name="Picture 9" descr="6a0147d16c9e8ce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1943" y="3950207"/>
            <a:ext cx="1493520" cy="3688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95463" y="3906012"/>
            <a:ext cx="13382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2" name="Picture 11" descr="e42c82d3a51966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6536" y="3770375"/>
            <a:ext cx="1569720" cy="7284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49367" y="4806695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4" name="Picture 13" descr="4df8b33a9d5d56b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9607" y="4663440"/>
            <a:ext cx="542544" cy="835152"/>
          </a:xfrm>
          <a:prstGeom prst="rect">
            <a:avLst/>
          </a:prstGeom>
        </p:spPr>
      </p:pic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9e00e37454aae3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5292" y="2194560"/>
            <a:ext cx="630936" cy="420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4378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101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1/10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101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1/25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1959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−25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1959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−10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01743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34b6c156891d88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3767" y="2103120"/>
            <a:ext cx="633984" cy="420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5234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pic>
        <p:nvPicPr>
          <p:cNvPr id="10" name="Picture 9" descr="b9c8e2103b94912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8551" y="3400375"/>
            <a:ext cx="1908047" cy="6644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1/25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2ea43d19b748a4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5816" y="2194560"/>
            <a:ext cx="1389888" cy="4175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4073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070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6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-10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070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36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1928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6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-7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1928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6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19869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f0604488e0753f6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4291" y="2103120"/>
            <a:ext cx="1392936" cy="4175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4929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pic>
        <p:nvPicPr>
          <p:cNvPr id="10" name="Picture 9" descr="3c35b48e83eedbe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4587" y="3452191"/>
            <a:ext cx="2862072" cy="3017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6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c6574940b1c5ccf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2099" y="2194560"/>
            <a:ext cx="1417320" cy="420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737bd8d522cf781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0576" y="2103120"/>
            <a:ext cx="1420368" cy="420624"/>
          </a:xfrm>
          <a:prstGeom prst="rect">
            <a:avLst/>
          </a:prstGeom>
        </p:spPr>
      </p:pic>
      <p:pic>
        <p:nvPicPr>
          <p:cNvPr id="9" name="Picture 8" descr="cd3edc3f48ebd1c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1791" y="2878836"/>
            <a:ext cx="3410712" cy="304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c069a33fa07e09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2431" y="2194560"/>
            <a:ext cx="676656" cy="9784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3bba102cf2b4d3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5480" y="2103120"/>
            <a:ext cx="670560" cy="981455"/>
          </a:xfrm>
          <a:prstGeom prst="rect">
            <a:avLst/>
          </a:prstGeom>
        </p:spPr>
      </p:pic>
      <p:pic>
        <p:nvPicPr>
          <p:cNvPr id="9" name="Picture 8" descr="0e2ea5a2bdf7f31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5944" y="3386328"/>
            <a:ext cx="2502408" cy="710184"/>
          </a:xfrm>
          <a:prstGeom prst="rect">
            <a:avLst/>
          </a:prstGeom>
        </p:spPr>
      </p:pic>
      <p:pic>
        <p:nvPicPr>
          <p:cNvPr id="10" name="Picture 9" descr="c6e45c9cf6e731b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5944" y="4224528"/>
            <a:ext cx="1149096" cy="658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78324" y="519988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2" name="Picture 11" descr="d47bd37afc5ec3e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8564" y="5020056"/>
            <a:ext cx="484632" cy="908304"/>
          </a:xfrm>
          <a:prstGeom prst="rect">
            <a:avLst/>
          </a:prstGeom>
        </p:spPr>
      </p:pic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44327" y="2171700"/>
            <a:ext cx="39670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Ellen says the value of  </a:t>
            </a:r>
          </a:p>
        </p:txBody>
      </p:sp>
      <p:pic>
        <p:nvPicPr>
          <p:cNvPr id="9" name="Picture 8" descr="64e1dd1e79cf69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4169" y="2229612"/>
            <a:ext cx="505968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80137" y="2171700"/>
            <a:ext cx="14742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is  −25.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Explain why she is wrong, and show the correct value.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44327" y="2080260"/>
            <a:ext cx="39670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Ellen says the value of  </a:t>
            </a:r>
          </a:p>
        </p:txBody>
      </p:sp>
      <p:pic>
        <p:nvPicPr>
          <p:cNvPr id="9" name="Picture 8" descr="c0ab7b0d6a4ecdb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4169" y="2138171"/>
            <a:ext cx="505968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80137" y="2080260"/>
            <a:ext cx="14742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is  −25.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Explain why she is wrong, and show the correct value.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5283" y="3414091"/>
            <a:ext cx="936811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 negative exponent means the reciprocal, not the opposite.</a:t>
            </a:r>
          </a:p>
        </p:txBody>
      </p:sp>
      <p:pic>
        <p:nvPicPr>
          <p:cNvPr id="13" name="Picture 12" descr="f6e64cf386c3791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0147" y="3939871"/>
            <a:ext cx="1612392" cy="5608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1/5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1/25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5044"/>
            <a:ext cx="753320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Rewrite with a positive exponent. Do not evaluate.  </a:t>
            </a:r>
          </a:p>
        </p:txBody>
      </p:sp>
      <p:pic>
        <p:nvPicPr>
          <p:cNvPr id="10" name="Picture 9" descr="53ac0340f6e451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0526" y="1586484"/>
            <a:ext cx="408432" cy="274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089403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3" name="Picture 12" descr="c00456981452036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7878" y="2182367"/>
            <a:ext cx="417576" cy="2712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683763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6" name="Picture 15" descr="ede3a9483986675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77878" y="2744723"/>
            <a:ext cx="838200" cy="3352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60120" y="3368039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368039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9" name="Picture 18" descr="813a84954f7417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7878" y="3300983"/>
            <a:ext cx="606552" cy="59131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60120" y="4052315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052315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22" name="Picture 21" descr="220f65bf45ba478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77878" y="4142231"/>
            <a:ext cx="908304" cy="27736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60120" y="4712207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712207"/>
            <a:ext cx="26841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 of </a:t>
            </a:r>
          </a:p>
        </p:txBody>
      </p:sp>
      <p:pic>
        <p:nvPicPr>
          <p:cNvPr id="25" name="Picture 24" descr="6d78c2be12150bf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01434" y="4856987"/>
            <a:ext cx="146304" cy="1676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247738" y="4712207"/>
            <a:ext cx="4421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 </a:t>
            </a:r>
          </a:p>
        </p:txBody>
      </p:sp>
      <p:pic>
        <p:nvPicPr>
          <p:cNvPr id="27" name="Picture 26" descr="99c5f65aa2cee22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52689" y="4669535"/>
            <a:ext cx="926592" cy="542544"/>
          </a:xfrm>
          <a:prstGeom prst="rect">
            <a:avLst/>
          </a:prstGeom>
        </p:spPr>
      </p:pic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Understanding negative exponents — YBB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Evaluate powers with negative exponents — WGS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3  ·  LESSON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Applying Exponent Laws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rewrite a rational base with a negative exponent using a positive exponent, and apply several laws to generate an equivalent expression.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2921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Find the value:  </a:t>
            </a:r>
          </a:p>
        </p:txBody>
      </p:sp>
      <p:pic>
        <p:nvPicPr>
          <p:cNvPr id="9" name="Picture 8" descr="dfd26d8ad0c549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168" y="1534668"/>
            <a:ext cx="396240" cy="268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142744"/>
            <a:ext cx="55845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Rewrite with a positive exponent:  </a:t>
            </a:r>
          </a:p>
        </p:txBody>
      </p:sp>
      <p:pic>
        <p:nvPicPr>
          <p:cNvPr id="11" name="Picture 10" descr="592658f90555273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1907" y="2075688"/>
            <a:ext cx="432816" cy="5913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845308"/>
            <a:ext cx="29429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Which is larger, </a:t>
            </a:r>
          </a:p>
        </p:txBody>
      </p:sp>
      <p:pic>
        <p:nvPicPr>
          <p:cNvPr id="13" name="Picture 12" descr="6e3fb6dc69f29d2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0300" y="2939796"/>
            <a:ext cx="295656" cy="2682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975956" y="2845308"/>
            <a:ext cx="6745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or </a:t>
            </a:r>
          </a:p>
        </p:txBody>
      </p:sp>
      <p:pic>
        <p:nvPicPr>
          <p:cNvPr id="15" name="Picture 14" descr="f5c888b6c84690f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13305" y="2938272"/>
            <a:ext cx="289560" cy="27127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802865" y="2845308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521964"/>
            <a:ext cx="40653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Write the reciprocal of  </a:t>
            </a:r>
          </a:p>
        </p:txBody>
      </p:sp>
      <p:pic>
        <p:nvPicPr>
          <p:cNvPr id="18" name="Picture 17" descr="1a683e70796a000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02726" y="3480816"/>
            <a:ext cx="350520" cy="539496"/>
          </a:xfrm>
          <a:prstGeom prst="rect">
            <a:avLst/>
          </a:prstGeom>
        </p:spPr>
      </p:pic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2921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Find the value:  </a:t>
            </a:r>
          </a:p>
        </p:txBody>
      </p:sp>
      <p:pic>
        <p:nvPicPr>
          <p:cNvPr id="9" name="Picture 8" descr="dfd26d8ad0c549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168" y="1534668"/>
            <a:ext cx="396240" cy="268224"/>
          </a:xfrm>
          <a:prstGeom prst="rect">
            <a:avLst/>
          </a:prstGeom>
        </p:spPr>
      </p:pic>
      <p:pic>
        <p:nvPicPr>
          <p:cNvPr id="10" name="Picture 9" descr="9353f77b4d8885f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4048" y="1463040"/>
            <a:ext cx="185928" cy="5394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142744"/>
            <a:ext cx="55845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Rewrite with a positive exponent:  </a:t>
            </a:r>
          </a:p>
        </p:txBody>
      </p:sp>
      <p:pic>
        <p:nvPicPr>
          <p:cNvPr id="12" name="Picture 11" descr="592658f90555273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1907" y="2075688"/>
            <a:ext cx="432816" cy="591312"/>
          </a:xfrm>
          <a:prstGeom prst="rect">
            <a:avLst/>
          </a:prstGeom>
        </p:spPr>
      </p:pic>
      <p:pic>
        <p:nvPicPr>
          <p:cNvPr id="13" name="Picture 12" descr="54c7ca2f4972dcb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03363" y="2144268"/>
            <a:ext cx="268224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2845308"/>
            <a:ext cx="29429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Which is larger, </a:t>
            </a:r>
          </a:p>
        </p:txBody>
      </p:sp>
      <p:pic>
        <p:nvPicPr>
          <p:cNvPr id="15" name="Picture 14" descr="6e3fb6dc69f29d2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80300" y="2939796"/>
            <a:ext cx="295656" cy="26822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975956" y="2845308"/>
            <a:ext cx="6745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or </a:t>
            </a:r>
          </a:p>
        </p:txBody>
      </p:sp>
      <p:pic>
        <p:nvPicPr>
          <p:cNvPr id="17" name="Picture 16" descr="f5c888b6c84690f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13305" y="2938272"/>
            <a:ext cx="289560" cy="27127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02865" y="2845308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pic>
        <p:nvPicPr>
          <p:cNvPr id="19" name="Picture 18" descr="3cd5a7bd49e1112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74976" y="2938272"/>
            <a:ext cx="289560" cy="27127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864536" y="2845308"/>
            <a:ext cx="15830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 (81 &gt; 64)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74519" y="3521964"/>
            <a:ext cx="40653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Write the reciprocal of  </a:t>
            </a:r>
          </a:p>
        </p:txBody>
      </p:sp>
      <p:pic>
        <p:nvPicPr>
          <p:cNvPr id="22" name="Picture 21" descr="1a683e70796a000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02726" y="3480816"/>
            <a:ext cx="350520" cy="539496"/>
          </a:xfrm>
          <a:prstGeom prst="rect">
            <a:avLst/>
          </a:prstGeom>
        </p:spPr>
      </p:pic>
      <p:pic>
        <p:nvPicPr>
          <p:cNvPr id="23" name="Picture 22" descr="bf8821cf3198a95c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01886" y="3480816"/>
            <a:ext cx="350520" cy="539496"/>
          </a:xfrm>
          <a:prstGeom prst="rect">
            <a:avLst/>
          </a:prstGeom>
        </p:spPr>
      </p:pic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The pattern with a fraction base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651760" y="1993392"/>
          <a:ext cx="685800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2377440"/>
                <a:gridCol w="237744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10" b="1">
                          <a:solidFill>
                            <a:srgbClr val="1A1A1A"/>
                          </a:solidFill>
                          <a:latin typeface="Lexend"/>
                        </a:rPr>
                        <a:t>Expression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1">
                          <a:solidFill>
                            <a:srgbClr val="1A1A1A"/>
                          </a:solidFill>
                          <a:latin typeface="Lexend"/>
                        </a:rPr>
                        <a:t>Expanded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1">
                          <a:solidFill>
                            <a:srgbClr val="1A1A1A"/>
                          </a:solidFill>
                          <a:latin typeface="Lexend"/>
                        </a:rPr>
                        <a:t>Value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(2/5)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2/5 · 2/5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4/25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(2/5)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2/5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2/5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(2/5)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(2/5)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-1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5/2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5/2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(2/5)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-2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5/2 · 5/2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25/4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Flip the base, make the exponent positive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938dc06abe520ba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3437" y="1993392"/>
            <a:ext cx="2185416" cy="7040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98853" y="2116836"/>
            <a:ext cx="12631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(</a:t>
            </a:r>
          </a:p>
        </p:txBody>
      </p:sp>
      <p:pic>
        <p:nvPicPr>
          <p:cNvPr id="12" name="Picture 11" descr="e8ca827cacc61b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4891" y="2165604"/>
            <a:ext cx="1228344" cy="3596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53235" y="2116836"/>
            <a:ext cx="33200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)</a:t>
            </a:r>
          </a:p>
        </p:txBody>
      </p:sp>
      <p:pic>
        <p:nvPicPr>
          <p:cNvPr id="14" name="Picture 13" descr="9169d867eb22c62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80524" y="2971800"/>
            <a:ext cx="2983992" cy="67665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764516" y="3081528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6" name="Picture 15" descr="f0e84f7b8a0e308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8859" y="2973324"/>
            <a:ext cx="2612136" cy="67360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87552" y="398678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The sign stays with the fraction. Flip the numbers, not the sign.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4806695"/>
            <a:ext cx="54684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A whole number is a fraction over 1:  </a:t>
            </a:r>
          </a:p>
        </p:txBody>
      </p:sp>
      <p:pic>
        <p:nvPicPr>
          <p:cNvPr id="19" name="Picture 18" descr="b03f09abb77756a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18840" y="4700016"/>
            <a:ext cx="3151632" cy="670560"/>
          </a:xfrm>
          <a:prstGeom prst="rect">
            <a:avLst/>
          </a:prstGeom>
        </p:spPr>
      </p:pic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Several laws at once — the plan is still yours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c7035540ba8a05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0948" y="1993392"/>
            <a:ext cx="7659624" cy="792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12420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Any correct order of laws gives the same value. Finish with a positive exponent.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pic>
        <p:nvPicPr>
          <p:cNvPr id="8" name="Picture 7" descr="388277379d8e20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020" y="2103120"/>
            <a:ext cx="1173480" cy="6614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6745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Rewrite with a positive exponent, then find the value.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b545e90417d70b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627376" cy="664464"/>
          </a:xfrm>
          <a:prstGeom prst="rect">
            <a:avLst/>
          </a:prstGeom>
        </p:spPr>
      </p:pic>
      <p:pic>
        <p:nvPicPr>
          <p:cNvPr id="9" name="Picture 8" descr="8945cb43fcf3afe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59024"/>
            <a:ext cx="1853184" cy="673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64/49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4e69c1d91f1a3f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0764" y="1600200"/>
            <a:ext cx="1459992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3827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Rewrite with a positive exponent, then find the value.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8d211e9c6d2b33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0764" y="1600200"/>
            <a:ext cx="1459992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3827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Rewrite with a positive exponent, then find the value.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87326" y="3629770"/>
            <a:ext cx="33587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Flip the fraction:  </a:t>
            </a:r>
          </a:p>
        </p:txBody>
      </p:sp>
      <p:pic>
        <p:nvPicPr>
          <p:cNvPr id="11" name="Picture 10" descr="196afe9826da4a0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8945" y="3550522"/>
            <a:ext cx="2368296" cy="615696"/>
          </a:xfrm>
          <a:prstGeom prst="rect">
            <a:avLst/>
          </a:prstGeom>
        </p:spPr>
      </p:pic>
      <p:pic>
        <p:nvPicPr>
          <p:cNvPr id="12" name="Picture 11" descr="31d33b28236bfbf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2190" y="4294234"/>
            <a:ext cx="2029968" cy="61569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99431" y="519187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4" name="Picture 13" descr="314171b6a1b287c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9671" y="5047090"/>
            <a:ext cx="1042415" cy="838200"/>
          </a:xfrm>
          <a:prstGeom prst="rect">
            <a:avLst/>
          </a:prstGeom>
        </p:spPr>
      </p:pic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17b9fb3163beeb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5963" y="2103120"/>
            <a:ext cx="2069591" cy="6644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70504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with one base and a positive exponent.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415161a3488c782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5111496" cy="667512"/>
          </a:xfrm>
          <a:prstGeom prst="rect">
            <a:avLst/>
          </a:prstGeom>
        </p:spPr>
      </p:pic>
      <p:pic>
        <p:nvPicPr>
          <p:cNvPr id="9" name="Picture 8" descr="0b481a76517fb38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2072"/>
            <a:ext cx="1630680" cy="673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(5/8)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25/64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726f578657118a7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5883" y="1600200"/>
            <a:ext cx="3349752" cy="83210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35224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with one base and a positive exponent.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0084f7f2bc8d15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2836" y="1600200"/>
            <a:ext cx="3355848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38272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with one base and a positive exponent.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66900" y="3957032"/>
            <a:ext cx="756487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Add the exponents, then flip the fraction:</a:t>
            </a:r>
          </a:p>
        </p:txBody>
      </p:sp>
      <p:pic>
        <p:nvPicPr>
          <p:cNvPr id="11" name="Picture 10" descr="42824fa219a1c39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1764" y="4519388"/>
            <a:ext cx="4834128" cy="6065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381499" y="540483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3" name="Picture 12" descr="364254372aca3eb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739" y="5263100"/>
            <a:ext cx="1478280" cy="832104"/>
          </a:xfrm>
          <a:prstGeom prst="rect">
            <a:avLst/>
          </a:prstGeom>
        </p:spPr>
      </p:pic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17192"/>
            <a:ext cx="53641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copier is set to shrink a page to  </a:t>
            </a:r>
          </a:p>
        </p:txBody>
      </p:sp>
      <p:pic>
        <p:nvPicPr>
          <p:cNvPr id="9" name="Picture 8" descr="6fa687cf291616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1418" y="1874519"/>
            <a:ext cx="176784" cy="5425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38202" y="1917192"/>
            <a:ext cx="18413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of its size.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618232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page 6 inches wide is copied 4 times in a row, each copy from the last.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586700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fraction of the original page's size is the last copy?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17192"/>
            <a:ext cx="53641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copier is set to shrink a page to  </a:t>
            </a:r>
          </a:p>
        </p:txBody>
      </p:sp>
      <p:pic>
        <p:nvPicPr>
          <p:cNvPr id="9" name="Picture 8" descr="82207df6c92535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1418" y="1874519"/>
            <a:ext cx="170688" cy="5425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32106" y="1917192"/>
            <a:ext cx="18413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of its size.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618232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page 6 inches wide is copied 4 times in a row, each copy from the last.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586700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fraction of the original page's size is the last copy?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65755" y="4372687"/>
            <a:ext cx="25848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Four copies:  </a:t>
            </a:r>
          </a:p>
        </p:txBody>
      </p:sp>
      <p:pic>
        <p:nvPicPr>
          <p:cNvPr id="14" name="Picture 13" descr="d5a448eea451177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3396" y="4244671"/>
            <a:ext cx="2176272" cy="7132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858511" y="5239843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6" name="Picture 15" descr="62bc59a32308df5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8751" y="5095063"/>
            <a:ext cx="524256" cy="838200"/>
          </a:xfrm>
          <a:prstGeom prst="rect">
            <a:avLst/>
          </a:prstGeom>
        </p:spPr>
      </p:pic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pic>
        <p:nvPicPr>
          <p:cNvPr id="8" name="Picture 7" descr="60a7160d7e15e9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6191" y="2194560"/>
            <a:ext cx="1469136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pic>
        <p:nvPicPr>
          <p:cNvPr id="8" name="Picture 7" descr="ccbe016419b287a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6191" y="2103120"/>
            <a:ext cx="1469136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82754" y="3319272"/>
            <a:ext cx="33587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Flip the fraction:  </a:t>
            </a:r>
          </a:p>
        </p:txBody>
      </p:sp>
      <p:pic>
        <p:nvPicPr>
          <p:cNvPr id="10" name="Picture 9" descr="8696ad001dd2b68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4373" y="3240023"/>
            <a:ext cx="2377440" cy="6156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83608" y="4806695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2" name="Picture 11" descr="c0f8e1841d70d18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3848" y="4663440"/>
            <a:ext cx="1274064" cy="835152"/>
          </a:xfrm>
          <a:prstGeom prst="rect">
            <a:avLst/>
          </a:prstGeom>
        </p:spPr>
      </p:pic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pic>
        <p:nvPicPr>
          <p:cNvPr id="8" name="Picture 7" descr="202d2f9edf4ff6c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3144" y="2194560"/>
            <a:ext cx="1475232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434b7f64e448db1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3144" y="2103120"/>
            <a:ext cx="1475232" cy="838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78182" y="3319272"/>
            <a:ext cx="33587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Flip the fraction:  </a:t>
            </a:r>
          </a:p>
        </p:txBody>
      </p:sp>
      <p:pic>
        <p:nvPicPr>
          <p:cNvPr id="10" name="Picture 9" descr="0c11b020145ca0a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9801" y="3243072"/>
            <a:ext cx="2383536" cy="609600"/>
          </a:xfrm>
          <a:prstGeom prst="rect">
            <a:avLst/>
          </a:prstGeom>
        </p:spPr>
      </p:pic>
      <p:pic>
        <p:nvPicPr>
          <p:cNvPr id="11" name="Picture 10" descr="7480f7bb6438012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3046" y="3980688"/>
            <a:ext cx="1679448" cy="6096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34128" y="487222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3" name="Picture 12" descr="8b23c582eb8d136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4368" y="4727448"/>
            <a:ext cx="573024" cy="838200"/>
          </a:xfrm>
          <a:prstGeom prst="rect">
            <a:avLst/>
          </a:prstGeom>
        </p:spPr>
      </p:pic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aad42ec8f13de1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2099" y="2194560"/>
            <a:ext cx="1417320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8a3193cda974bd8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0576" y="2103120"/>
            <a:ext cx="1420368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317806" y="3314699"/>
            <a:ext cx="33587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Flip the fraction:  </a:t>
            </a:r>
          </a:p>
        </p:txBody>
      </p:sp>
      <p:pic>
        <p:nvPicPr>
          <p:cNvPr id="10" name="Picture 9" descr="f8fd36b400e406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9425" y="3240023"/>
            <a:ext cx="2304288" cy="6065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09516" y="4806695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2" name="Picture 11" descr="d8c9697ca233890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9756" y="4663440"/>
            <a:ext cx="1222248" cy="835152"/>
          </a:xfrm>
          <a:prstGeom prst="rect">
            <a:avLst/>
          </a:prstGeom>
        </p:spPr>
      </p:pic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a6f8febe7f997dd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0" y="2194560"/>
            <a:ext cx="1463040" cy="83210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5526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9215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(7/8)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9215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(−8/7)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6073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(−7/8)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6073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(8/7)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13223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718f106a310bdb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7715" y="2103120"/>
            <a:ext cx="1466088" cy="8290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6077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387" y="3885007"/>
            <a:ext cx="6086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Flip the fraction. The sign stays:  </a:t>
            </a:r>
          </a:p>
        </p:txBody>
      </p:sp>
      <p:pic>
        <p:nvPicPr>
          <p:cNvPr id="11" name="Picture 10" descr="363a60b00e1ac4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9788" y="3808807"/>
            <a:ext cx="2368296" cy="6096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(−8/7)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10298acefb5a4b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4003" y="2194560"/>
            <a:ext cx="2953512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5831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9246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(8/5)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9246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(5/8)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-6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6104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(5/8)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6104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(5/8)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16271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b36e025e50608c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0956" y="2103120"/>
            <a:ext cx="2959608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6687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pic>
        <p:nvPicPr>
          <p:cNvPr id="10" name="Picture 9" descr="898488e370c2978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8060" y="3814903"/>
            <a:ext cx="5215128" cy="60350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(5/8)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d311d29764bdd38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0412" y="2194560"/>
            <a:ext cx="2520696" cy="838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8959dbceac072f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0412" y="2103120"/>
            <a:ext cx="2520696" cy="838200"/>
          </a:xfrm>
          <a:prstGeom prst="rect">
            <a:avLst/>
          </a:prstGeom>
        </p:spPr>
      </p:pic>
      <p:pic>
        <p:nvPicPr>
          <p:cNvPr id="9" name="Picture 8" descr="ffce3c700a0e00c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7783" y="3243072"/>
            <a:ext cx="1941576" cy="615696"/>
          </a:xfrm>
          <a:prstGeom prst="rect">
            <a:avLst/>
          </a:prstGeom>
        </p:spPr>
      </p:pic>
      <p:pic>
        <p:nvPicPr>
          <p:cNvPr id="10" name="Picture 9" descr="d84f4ec980f8ffb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67783" y="3986783"/>
            <a:ext cx="3532632" cy="6126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49367" y="487984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2" name="Picture 11" descr="6ae3029025b12a0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9607" y="4736592"/>
            <a:ext cx="542544" cy="835152"/>
          </a:xfrm>
          <a:prstGeom prst="rect">
            <a:avLst/>
          </a:prstGeom>
        </p:spPr>
      </p:pic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bf74f091e96668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9516" y="2194560"/>
            <a:ext cx="3142488" cy="8442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0c942442683f51c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9516" y="2103120"/>
            <a:ext cx="3142488" cy="841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964155" y="3323844"/>
            <a:ext cx="16337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Inside:  </a:t>
            </a:r>
          </a:p>
        </p:txBody>
      </p:sp>
      <p:pic>
        <p:nvPicPr>
          <p:cNvPr id="10" name="Picture 9" descr="91fa5aa22598ea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0772" y="3246120"/>
            <a:ext cx="4745736" cy="612648"/>
          </a:xfrm>
          <a:prstGeom prst="rect">
            <a:avLst/>
          </a:prstGeom>
        </p:spPr>
      </p:pic>
      <p:pic>
        <p:nvPicPr>
          <p:cNvPr id="11" name="Picture 10" descr="339da7c30fdc7d4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9019" y="3986783"/>
            <a:ext cx="3724656" cy="6126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26864" y="488289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3" name="Picture 12" descr="72cf4eeb1d6aaf7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7104" y="4736592"/>
            <a:ext cx="987552" cy="841248"/>
          </a:xfrm>
          <a:prstGeom prst="rect">
            <a:avLst/>
          </a:prstGeom>
        </p:spPr>
      </p:pic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01793" y="2299715"/>
            <a:ext cx="22113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Marco says  </a:t>
            </a:r>
          </a:p>
        </p:txBody>
      </p:sp>
      <p:pic>
        <p:nvPicPr>
          <p:cNvPr id="9" name="Picture 8" descr="dc9bb23a8d85d0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5959" y="2194560"/>
            <a:ext cx="1161288" cy="6675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537247" y="2299715"/>
            <a:ext cx="3679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can be rewritten as  </a:t>
            </a:r>
          </a:p>
        </p:txBody>
      </p:sp>
      <p:pic>
        <p:nvPicPr>
          <p:cNvPr id="11" name="Picture 10" descr="75b3b503a37e46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9438" y="2194560"/>
            <a:ext cx="780288" cy="6675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313639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because 'two negatives make a positive.'  Is he right?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95697" y="2211323"/>
            <a:ext cx="22113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Marco says  </a:t>
            </a:r>
          </a:p>
        </p:txBody>
      </p:sp>
      <p:pic>
        <p:nvPicPr>
          <p:cNvPr id="9" name="Picture 8" descr="337392e9b7df8f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9863" y="2103120"/>
            <a:ext cx="1167384" cy="673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537247" y="2211323"/>
            <a:ext cx="3679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can be rewritten as  </a:t>
            </a:r>
          </a:p>
        </p:txBody>
      </p:sp>
      <p:pic>
        <p:nvPicPr>
          <p:cNvPr id="11" name="Picture 10" descr="35a9c06a4a4a853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9438" y="2103120"/>
            <a:ext cx="786384" cy="673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305104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because 'two negatives make a positive.'  Is he right?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19625" y="3676219"/>
            <a:ext cx="86594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negative exponent flips the fraction. The sign stays.</a:t>
            </a:r>
          </a:p>
        </p:txBody>
      </p:sp>
      <p:pic>
        <p:nvPicPr>
          <p:cNvPr id="14" name="Picture 13" descr="e6d15a07a9b818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74489" y="4201999"/>
            <a:ext cx="2002536" cy="5151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85427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 — (−2/3)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(−3/2)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559051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559051"/>
            <a:ext cx="51091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Rewrite with a positive exponent.  </a:t>
            </a:r>
          </a:p>
        </p:txBody>
      </p:sp>
      <p:pic>
        <p:nvPicPr>
          <p:cNvPr id="10" name="Picture 9" descr="8957ceb11154703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6480" y="1517904"/>
            <a:ext cx="786384" cy="5394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2281428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281428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3" name="Picture 12" descr="8047be576e0f82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7878" y="2240280"/>
            <a:ext cx="771144" cy="5394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3003804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003804"/>
            <a:ext cx="51091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Rewrite with a positive exponent.  </a:t>
            </a:r>
          </a:p>
        </p:txBody>
      </p:sp>
      <p:pic>
        <p:nvPicPr>
          <p:cNvPr id="16" name="Picture 15" descr="6754f41029653ff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6480" y="2962656"/>
            <a:ext cx="944880" cy="53949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60120" y="3727704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727704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9" name="Picture 18" descr="5d72cdcfdc86596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7878" y="3685032"/>
            <a:ext cx="777240" cy="54254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60120" y="4453128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453128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22" name="Picture 21" descr="987c9144230c553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77878" y="4410456"/>
            <a:ext cx="1633728" cy="54254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60120" y="5175504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175504"/>
            <a:ext cx="26841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 of </a:t>
            </a:r>
          </a:p>
        </p:txBody>
      </p:sp>
      <p:pic>
        <p:nvPicPr>
          <p:cNvPr id="25" name="Picture 24" descr="6d78c2be12150bf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01434" y="5320284"/>
            <a:ext cx="146304" cy="1676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247738" y="5175504"/>
            <a:ext cx="4421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 </a:t>
            </a:r>
          </a:p>
        </p:txBody>
      </p:sp>
      <p:pic>
        <p:nvPicPr>
          <p:cNvPr id="27" name="Picture 26" descr="2b417829a513b45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52689" y="5135880"/>
            <a:ext cx="1664208" cy="536448"/>
          </a:xfrm>
          <a:prstGeom prst="rect">
            <a:avLst/>
          </a:prstGeom>
        </p:spPr>
      </p:pic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Identify equivalent expressions involving exponents I — VLM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3  ·  LESSONS 6–7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Evaluating and Equivalent Expressions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evaluate an expression with integer exponents using the laws, and decide whether two expressions with different bases are equivalent.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505712"/>
            <a:ext cx="76832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Rewrite with a positive exponent, then evaluate:  </a:t>
            </a:r>
          </a:p>
        </p:txBody>
      </p:sp>
      <p:pic>
        <p:nvPicPr>
          <p:cNvPr id="9" name="Picture 8" descr="f3c8135f85cfec4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0585" y="1463040"/>
            <a:ext cx="765048" cy="5425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275332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1" name="Picture 10" descr="eb4b098ae3e189d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306" y="2206752"/>
            <a:ext cx="441960" cy="5943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3096768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3" name="Picture 12" descr="c39296e5705a45b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3002280"/>
            <a:ext cx="499871" cy="6461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3826763"/>
            <a:ext cx="62886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Write 64 as a power of 2, of 4, and of 8.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505712"/>
            <a:ext cx="76832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Rewrite with a positive exponent, then evaluate:  </a:t>
            </a:r>
          </a:p>
        </p:txBody>
      </p:sp>
      <p:pic>
        <p:nvPicPr>
          <p:cNvPr id="9" name="Picture 8" descr="f3c8135f85cfec4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0585" y="1463040"/>
            <a:ext cx="765048" cy="542544"/>
          </a:xfrm>
          <a:prstGeom prst="rect">
            <a:avLst/>
          </a:prstGeom>
        </p:spPr>
      </p:pic>
      <p:pic>
        <p:nvPicPr>
          <p:cNvPr id="10" name="Picture 9" descr="6caafeea515e2e6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6040" y="2051303"/>
            <a:ext cx="1146048" cy="5425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863596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2" name="Picture 11" descr="eb4b098ae3e189d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3306" y="2795016"/>
            <a:ext cx="441960" cy="594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663906" y="2772156"/>
            <a:ext cx="546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3685032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5" name="Picture 14" descr="c39296e5705a45b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7711" y="3590544"/>
            <a:ext cx="499871" cy="64617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716223" y="3567684"/>
            <a:ext cx="7723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4415028"/>
            <a:ext cx="62886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Write 64 as a power of 2, of 4, and of 8.</a:t>
            </a:r>
          </a:p>
        </p:txBody>
      </p:sp>
      <p:pic>
        <p:nvPicPr>
          <p:cNvPr id="18" name="Picture 17" descr="f9e6eaa0e482393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4636" y="4507992"/>
            <a:ext cx="274320" cy="27127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848956" y="4415028"/>
            <a:ext cx="4829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,  </a:t>
            </a:r>
          </a:p>
        </p:txBody>
      </p:sp>
      <p:pic>
        <p:nvPicPr>
          <p:cNvPr id="20" name="Picture 19" descr="bde95a28370ef03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94771" y="4509516"/>
            <a:ext cx="295656" cy="26822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490427" y="4415028"/>
            <a:ext cx="4829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,  </a:t>
            </a:r>
          </a:p>
        </p:txBody>
      </p:sp>
      <p:pic>
        <p:nvPicPr>
          <p:cNvPr id="22" name="Picture 21" descr="dc3644d208527bb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36243" y="4506468"/>
            <a:ext cx="283464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Two students, two plans, one value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530119" y="2132076"/>
            <a:ext cx="17301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Melanie:  </a:t>
            </a:r>
          </a:p>
        </p:txBody>
      </p:sp>
      <p:pic>
        <p:nvPicPr>
          <p:cNvPr id="11" name="Picture 10" descr="00df267b117cf9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3152" y="1993392"/>
            <a:ext cx="3508248" cy="7345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838540" y="3307080"/>
            <a:ext cx="165640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Adonis:   </a:t>
            </a:r>
          </a:p>
        </p:txBody>
      </p:sp>
      <p:pic>
        <p:nvPicPr>
          <p:cNvPr id="13" name="Picture 12" descr="d967a2b39e147d9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7787" y="3002280"/>
            <a:ext cx="4965192" cy="10668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407408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Apply the laws first, evaluate last. The value is the same; the arithmetic is smaller.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Every law, one expression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5b27ed10ad0337d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0920" y="1993392"/>
            <a:ext cx="5059680" cy="8595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191256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Find the step that broke:</a:t>
            </a:r>
          </a:p>
        </p:txBody>
      </p:sp>
      <p:pic>
        <p:nvPicPr>
          <p:cNvPr id="12" name="Picture 11" descr="bbf7af94964783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3904487"/>
            <a:ext cx="3453384" cy="6736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440936" y="4012691"/>
            <a:ext cx="44639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   — wrong: multiplied; should be </a:t>
            </a:r>
          </a:p>
        </p:txBody>
      </p:sp>
      <p:pic>
        <p:nvPicPr>
          <p:cNvPr id="14" name="Picture 13" descr="16b6a750bacccc0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7696" y="3904487"/>
            <a:ext cx="795528" cy="673608"/>
          </a:xfrm>
          <a:prstGeom prst="rect">
            <a:avLst/>
          </a:prstGeom>
        </p:spPr>
      </p:pic>
      <p:pic>
        <p:nvPicPr>
          <p:cNvPr id="15" name="Picture 14" descr="d085f6d1f5151fa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552" y="4834128"/>
            <a:ext cx="1844040" cy="7894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831592" y="5000244"/>
            <a:ext cx="61518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   — wrong: flipped, kept the minus; should be </a:t>
            </a:r>
          </a:p>
        </p:txBody>
      </p:sp>
      <p:pic>
        <p:nvPicPr>
          <p:cNvPr id="17" name="Picture 16" descr="60c0141e8aad4c3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46237" y="4892040"/>
            <a:ext cx="783336" cy="673608"/>
          </a:xfrm>
          <a:prstGeom prst="rect">
            <a:avLst/>
          </a:prstGeom>
        </p:spPr>
      </p:pic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Different bases, same value — rewrite to a common base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377439" y="1993392"/>
          <a:ext cx="7406640" cy="15361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2011680"/>
                <a:gridCol w="2011680"/>
                <a:gridCol w="20116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Base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Square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Cube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Fourth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27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81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5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5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125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5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625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1" name="Picture 10" descr="77b6fa4d0b8ffa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5227" y="3761232"/>
            <a:ext cx="2371344" cy="4053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726571" y="3735324"/>
            <a:ext cx="9552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</a:t>
            </a:r>
          </a:p>
        </p:txBody>
      </p:sp>
      <p:pic>
        <p:nvPicPr>
          <p:cNvPr id="13" name="Picture 12" descr="ae135669eeaf19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4676" y="3761232"/>
            <a:ext cx="2261616" cy="405384"/>
          </a:xfrm>
          <a:prstGeom prst="rect">
            <a:avLst/>
          </a:prstGeom>
        </p:spPr>
      </p:pic>
      <p:pic>
        <p:nvPicPr>
          <p:cNvPr id="14" name="Picture 13" descr="452a14f090d2241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5031" y="4445508"/>
            <a:ext cx="4791456" cy="408432"/>
          </a:xfrm>
          <a:prstGeom prst="rect">
            <a:avLst/>
          </a:prstGeom>
        </p:spPr>
      </p:pic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IV.  Testing equivalence: Xavier's claim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f1f92d6ecfd54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0260" y="1996440"/>
            <a:ext cx="4136136" cy="6675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66396" y="2101596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a226c4dacfbe2ef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0739" y="1993392"/>
            <a:ext cx="4160520" cy="6736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300532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Same base, then compare exponents.</a:t>
            </a:r>
          </a:p>
        </p:txBody>
      </p:sp>
      <p:pic>
        <p:nvPicPr>
          <p:cNvPr id="14" name="Picture 13" descr="da5364dfc120c72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3755136"/>
            <a:ext cx="1386840" cy="3383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374392" y="3695699"/>
            <a:ext cx="33011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— so Xavier is wrong.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ad4c645122a3fc8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3623" y="2103120"/>
            <a:ext cx="1414272" cy="6644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7050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value.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6395c789165e951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099816" cy="670560"/>
          </a:xfrm>
          <a:prstGeom prst="rect">
            <a:avLst/>
          </a:prstGeom>
        </p:spPr>
      </p:pic>
      <p:pic>
        <p:nvPicPr>
          <p:cNvPr id="9" name="Picture 8" descr="670bdda2de14def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5120"/>
            <a:ext cx="1664208" cy="673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16/3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3d228ca9c4261f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2936" y="1600200"/>
            <a:ext cx="1755648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3827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value.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50a8128bf10ae9f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2936" y="1600200"/>
            <a:ext cx="1755648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3827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value.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16638" y="3628246"/>
            <a:ext cx="33587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Flip the fraction:  </a:t>
            </a:r>
          </a:p>
        </p:txBody>
      </p:sp>
      <p:pic>
        <p:nvPicPr>
          <p:cNvPr id="11" name="Picture 10" descr="53cd19114de648f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8257" y="3550522"/>
            <a:ext cx="2703576" cy="612648"/>
          </a:xfrm>
          <a:prstGeom prst="rect">
            <a:avLst/>
          </a:prstGeom>
        </p:spPr>
      </p:pic>
      <p:pic>
        <p:nvPicPr>
          <p:cNvPr id="12" name="Picture 11" descr="955d96682c0ead7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1502" y="4291186"/>
            <a:ext cx="1557528" cy="609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49367" y="518425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4" name="Picture 13" descr="0d571a7f25ddb5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9607" y="5037946"/>
            <a:ext cx="542544" cy="841248"/>
          </a:xfrm>
          <a:prstGeom prst="rect">
            <a:avLst/>
          </a:prstGeom>
        </p:spPr>
      </p:pic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52547" y="2304287"/>
            <a:ext cx="950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Are  </a:t>
            </a:r>
          </a:p>
        </p:txBody>
      </p:sp>
      <p:pic>
        <p:nvPicPr>
          <p:cNvPr id="9" name="Picture 8" descr="0d148dfd488325c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6206" y="2362199"/>
            <a:ext cx="947928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14134" y="2304287"/>
            <a:ext cx="12019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1" name="Picture 10" descr="7449bbc668c15f3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8876" y="2103120"/>
            <a:ext cx="1106424" cy="85953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985300" y="2304287"/>
            <a:ext cx="22608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equivalent?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46557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Rewrite both with the bases 3 and 2, then compare.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eb75ca0841ae7db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215384" cy="341376"/>
          </a:xfrm>
          <a:prstGeom prst="rect">
            <a:avLst/>
          </a:prstGeom>
        </p:spPr>
      </p:pic>
      <p:pic>
        <p:nvPicPr>
          <p:cNvPr id="9" name="Picture 8" descr="ca38d42fdf4407a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35936"/>
            <a:ext cx="3864864" cy="859536"/>
          </a:xfrm>
          <a:prstGeom prst="rect">
            <a:avLst/>
          </a:prstGeom>
        </p:spPr>
      </p:pic>
      <p:pic>
        <p:nvPicPr>
          <p:cNvPr id="10" name="Picture 9" descr="3a6f019e256834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669792"/>
            <a:ext cx="2289048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Yes — both are 3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· 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1944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57831" y="1909572"/>
            <a:ext cx="950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Are  </a:t>
            </a:r>
          </a:p>
        </p:txBody>
      </p:sp>
      <p:pic>
        <p:nvPicPr>
          <p:cNvPr id="9" name="Picture 8" descr="84aa90b249340bc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1490" y="1926335"/>
            <a:ext cx="1441704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13194" y="1909572"/>
            <a:ext cx="12019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1" name="Picture 10" descr="93c2bf6d51952a8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7936" y="1600200"/>
            <a:ext cx="1402080" cy="10759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80016" y="1909572"/>
            <a:ext cx="22608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equivalent?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59355" y="1909572"/>
            <a:ext cx="950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Are  </a:t>
            </a:r>
          </a:p>
        </p:txBody>
      </p:sp>
      <p:pic>
        <p:nvPicPr>
          <p:cNvPr id="9" name="Picture 8" descr="6bdebf666f4e84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3014" y="1926335"/>
            <a:ext cx="1444752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17766" y="1909572"/>
            <a:ext cx="12019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1" name="Picture 10" descr="11cdaf58cd65ad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2508" y="1600200"/>
            <a:ext cx="1395984" cy="10759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78492" y="1909572"/>
            <a:ext cx="22608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equivalent?</a:t>
            </a:r>
          </a:p>
        </p:txBody>
      </p:sp>
      <p:pic>
        <p:nvPicPr>
          <p:cNvPr id="13" name="Picture 12" descr="12bc1171b09321a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7219" y="3144012"/>
            <a:ext cx="3416808" cy="262128"/>
          </a:xfrm>
          <a:prstGeom prst="rect">
            <a:avLst/>
          </a:prstGeom>
        </p:spPr>
      </p:pic>
      <p:pic>
        <p:nvPicPr>
          <p:cNvPr id="14" name="Picture 13" descr="971ad3431ee49ff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27219" y="3572256"/>
            <a:ext cx="2996184" cy="658368"/>
          </a:xfrm>
          <a:prstGeom prst="rect">
            <a:avLst/>
          </a:prstGeom>
        </p:spPr>
      </p:pic>
      <p:pic>
        <p:nvPicPr>
          <p:cNvPr id="15" name="Picture 14" descr="1bb9b59be4ff305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27219" y="4372356"/>
            <a:ext cx="3063240" cy="310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87070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Yes — 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· 5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4000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98d50335413467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3459" y="2194560"/>
            <a:ext cx="2514600" cy="1164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pic>
        <p:nvPicPr>
          <p:cNvPr id="8" name="Picture 7" descr="9efbb2c592ceee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6507" y="2103120"/>
            <a:ext cx="2508504" cy="1164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776094" y="3546348"/>
            <a:ext cx="18356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Bottom:  </a:t>
            </a:r>
          </a:p>
        </p:txBody>
      </p:sp>
      <p:pic>
        <p:nvPicPr>
          <p:cNvPr id="10" name="Picture 9" descr="0d57b7d41c345ae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4585" y="3589020"/>
            <a:ext cx="2910840" cy="371856"/>
          </a:xfrm>
          <a:prstGeom prst="rect">
            <a:avLst/>
          </a:prstGeom>
        </p:spPr>
      </p:pic>
      <p:pic>
        <p:nvPicPr>
          <p:cNvPr id="11" name="Picture 10" descr="3ca69b29105dbe9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30958" y="4108704"/>
            <a:ext cx="4559808" cy="8473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509320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−343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pic>
        <p:nvPicPr>
          <p:cNvPr id="8" name="Picture 7" descr="f80d8fff5950e22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4399" y="1645920"/>
            <a:ext cx="2712720" cy="18196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pic>
        <p:nvPicPr>
          <p:cNvPr id="8" name="Picture 7" descr="18b7b58559baeb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7448" y="1645920"/>
            <a:ext cx="2706624" cy="18196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999824" y="3840480"/>
            <a:ext cx="11413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Top:  </a:t>
            </a:r>
          </a:p>
        </p:txBody>
      </p:sp>
      <p:pic>
        <p:nvPicPr>
          <p:cNvPr id="10" name="Picture 9" descr="fc033812d86956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3967" y="3767328"/>
            <a:ext cx="3163824" cy="603504"/>
          </a:xfrm>
          <a:prstGeom prst="rect">
            <a:avLst/>
          </a:prstGeom>
        </p:spPr>
      </p:pic>
      <p:pic>
        <p:nvPicPr>
          <p:cNvPr id="11" name="Picture 10" descr="586b82ff05c6f1d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54688" y="4498848"/>
            <a:ext cx="3377184" cy="6065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968239" y="538429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3" name="Picture 12" descr="84bf2c5ba00215f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88480" y="5242560"/>
            <a:ext cx="304800" cy="832104"/>
          </a:xfrm>
          <a:prstGeom prst="rect">
            <a:avLst/>
          </a:prstGeom>
        </p:spPr>
      </p:pic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b967aae4e7c30d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3063" y="1645920"/>
            <a:ext cx="2755392" cy="14081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548be30c5a85560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6112" y="1645920"/>
            <a:ext cx="2749296" cy="14051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95239" y="3381756"/>
            <a:ext cx="9967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Top:  </a:t>
            </a:r>
          </a:p>
        </p:txBody>
      </p:sp>
      <p:pic>
        <p:nvPicPr>
          <p:cNvPr id="10" name="Picture 9" descr="090145bfb5fa4fc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4858" y="3453384"/>
            <a:ext cx="1386840" cy="3139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741698" y="3381756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2" name="Picture 11" descr="8f1e7bc2c81192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4587" y="3352800"/>
            <a:ext cx="1313688" cy="5151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38275" y="3381756"/>
            <a:ext cx="11630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4" name="Picture 13" descr="8c42dc4521855ba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64200" y="3480816"/>
            <a:ext cx="1405128" cy="2590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495239" y="3936491"/>
            <a:ext cx="15832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Bottom:  </a:t>
            </a:r>
          </a:p>
        </p:txBody>
      </p:sp>
      <p:pic>
        <p:nvPicPr>
          <p:cNvPr id="16" name="Picture 15" descr="85dfe78cfc49527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41349" y="4035552"/>
            <a:ext cx="1158240" cy="259080"/>
          </a:xfrm>
          <a:prstGeom prst="rect">
            <a:avLst/>
          </a:prstGeom>
        </p:spPr>
      </p:pic>
      <p:pic>
        <p:nvPicPr>
          <p:cNvPr id="17" name="Picture 16" descr="a335dfb088e7c59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50103" y="4462272"/>
            <a:ext cx="2319528" cy="60350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968239" y="534466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9" name="Picture 18" descr="60f3158f055494f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88480" y="5202936"/>
            <a:ext cx="304800" cy="832104"/>
          </a:xfrm>
          <a:prstGeom prst="rect">
            <a:avLst/>
          </a:prstGeom>
        </p:spPr>
      </p:pic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5028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One flash drive holds  </a:t>
            </a:r>
          </a:p>
        </p:txBody>
      </p:sp>
      <p:pic>
        <p:nvPicPr>
          <p:cNvPr id="9" name="Picture 8" descr="467b1d14e5da28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0084" y="1943100"/>
            <a:ext cx="381000" cy="274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81084" y="1851660"/>
            <a:ext cx="21153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megabytes.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24454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Another holds  </a:t>
            </a:r>
          </a:p>
        </p:txBody>
      </p:sp>
      <p:pic>
        <p:nvPicPr>
          <p:cNvPr id="12" name="Picture 11" descr="30913582715e42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2702" y="2558796"/>
            <a:ext cx="280416" cy="2682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823118" y="2464308"/>
            <a:ext cx="65210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megabytes. The first one costs 45 dollars.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holds more — or is it the same? Show why.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5028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One flash drive holds  </a:t>
            </a:r>
          </a:p>
        </p:txBody>
      </p:sp>
      <p:pic>
        <p:nvPicPr>
          <p:cNvPr id="9" name="Picture 8" descr="ae046867a8f4e70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0084" y="1943100"/>
            <a:ext cx="384048" cy="274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84132" y="1851660"/>
            <a:ext cx="21153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megabytes.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24454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Another holds  </a:t>
            </a:r>
          </a:p>
        </p:txBody>
      </p:sp>
      <p:pic>
        <p:nvPicPr>
          <p:cNvPr id="12" name="Picture 11" descr="4b0d991037dffa6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2702" y="2558796"/>
            <a:ext cx="280416" cy="2682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823118" y="2464308"/>
            <a:ext cx="65210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megabytes. The first one costs 45 dollars.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holds more — or is it the same? Show why.</a:t>
            </a:r>
          </a:p>
        </p:txBody>
      </p:sp>
      <p:pic>
        <p:nvPicPr>
          <p:cNvPr id="15" name="Picture 14" descr="4d73f60d98d6278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5047" y="3812650"/>
            <a:ext cx="829056" cy="301752"/>
          </a:xfrm>
          <a:prstGeom prst="rect">
            <a:avLst/>
          </a:prstGeom>
        </p:spPr>
      </p:pic>
      <p:pic>
        <p:nvPicPr>
          <p:cNvPr id="16" name="Picture 15" descr="5fb5e30ab5054ca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5047" y="4317094"/>
            <a:ext cx="3121152" cy="37185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84592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The same: 8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(2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)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15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d4c29a874424d7f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5207" y="2194560"/>
            <a:ext cx="451104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3768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040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040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189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189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19564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ed2e8b94db7fa1f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5207" y="2103120"/>
            <a:ext cx="451104" cy="4175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4929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pic>
        <p:nvPicPr>
          <p:cNvPr id="10" name="Picture 9" descr="78aebac33875984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9243" y="3450667"/>
            <a:ext cx="822960" cy="304800"/>
          </a:xfrm>
          <a:prstGeom prst="rect">
            <a:avLst/>
          </a:prstGeom>
        </p:spPr>
      </p:pic>
      <p:pic>
        <p:nvPicPr>
          <p:cNvPr id="11" name="Picture 10" descr="04672528a36f35f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9243" y="3956635"/>
            <a:ext cx="3029712" cy="37185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3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8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6f49059bfeda69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7779" y="2194560"/>
            <a:ext cx="1965960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5831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9246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-7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9246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6104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-5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6104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-12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16271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2e484734d8312e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6255" y="2103120"/>
            <a:ext cx="1969008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6687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pic>
        <p:nvPicPr>
          <p:cNvPr id="10" name="Picture 9" descr="88e579fcfc3dcf6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9787" y="3814903"/>
            <a:ext cx="2770632" cy="603504"/>
          </a:xfrm>
          <a:prstGeom prst="rect">
            <a:avLst/>
          </a:prstGeom>
        </p:spPr>
      </p:pic>
      <p:pic>
        <p:nvPicPr>
          <p:cNvPr id="11" name="Picture 10" descr="76ebb55f9259b0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9787" y="4599763"/>
            <a:ext cx="3471672" cy="304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509506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-7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8aa79e338eec268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0304" y="2194560"/>
            <a:ext cx="1200912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955eff3a17c3a97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8780" y="2103120"/>
            <a:ext cx="1203960" cy="414528"/>
          </a:xfrm>
          <a:prstGeom prst="rect">
            <a:avLst/>
          </a:prstGeom>
        </p:spPr>
      </p:pic>
      <p:pic>
        <p:nvPicPr>
          <p:cNvPr id="9" name="Picture 8" descr="9b88a36b8746eb6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8511" y="2839211"/>
            <a:ext cx="2063496" cy="371856"/>
          </a:xfrm>
          <a:prstGeom prst="rect">
            <a:avLst/>
          </a:prstGeom>
        </p:spPr>
      </p:pic>
      <p:pic>
        <p:nvPicPr>
          <p:cNvPr id="10" name="Picture 9" descr="73f533a4d1835da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8511" y="3410711"/>
            <a:ext cx="2551176" cy="3078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10327" y="459790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2" name="Picture 11" descr="340250b80ab7283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30567" y="4663440"/>
            <a:ext cx="420624" cy="417576"/>
          </a:xfrm>
          <a:prstGeom prst="rect">
            <a:avLst/>
          </a:prstGeom>
        </p:spPr>
      </p:pic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fabcaa4b09e391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2287" y="2194560"/>
            <a:ext cx="1456944" cy="4175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pic>
        <p:nvPicPr>
          <p:cNvPr id="8" name="Picture 7" descr="cf7aaf90f7175a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2287" y="2103120"/>
            <a:ext cx="1456944" cy="417576"/>
          </a:xfrm>
          <a:prstGeom prst="rect">
            <a:avLst/>
          </a:prstGeom>
        </p:spPr>
      </p:pic>
      <p:pic>
        <p:nvPicPr>
          <p:cNvPr id="9" name="Picture 8" descr="85f7d1d146f1f2c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5047" y="2877312"/>
            <a:ext cx="3124200" cy="301752"/>
          </a:xfrm>
          <a:prstGeom prst="rect">
            <a:avLst/>
          </a:prstGeom>
        </p:spPr>
      </p:pic>
      <p:pic>
        <p:nvPicPr>
          <p:cNvPr id="10" name="Picture 9" descr="a2e7bc9cfa7f6a3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5047" y="3381756"/>
            <a:ext cx="2218944" cy="3718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18888" y="4599431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2" name="Picture 11" descr="00e3982d4021e9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9127" y="4663440"/>
            <a:ext cx="603504" cy="420624"/>
          </a:xfrm>
          <a:prstGeom prst="rect">
            <a:avLst/>
          </a:prstGeom>
        </p:spPr>
      </p:pic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33663" y="2299715"/>
            <a:ext cx="22421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Xavier says  </a:t>
            </a:r>
          </a:p>
        </p:txBody>
      </p:sp>
      <p:pic>
        <p:nvPicPr>
          <p:cNvPr id="9" name="Picture 8" descr="0cca3298828a029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8701" y="2196083"/>
            <a:ext cx="1569720" cy="6644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8421" y="2299715"/>
            <a:ext cx="12019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1" name="Picture 10" descr="410598a25a8c83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163" y="2194560"/>
            <a:ext cx="1575816" cy="6675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48979" y="2299715"/>
            <a:ext cx="27160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are equivalent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41547" y="3113532"/>
            <a:ext cx="54452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because both can be written as  </a:t>
            </a:r>
          </a:p>
        </p:txBody>
      </p:sp>
      <p:pic>
        <p:nvPicPr>
          <p:cNvPr id="14" name="Picture 13" descr="d2ebb822973674f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9605" y="3174491"/>
            <a:ext cx="487680" cy="3352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637285" y="3113532"/>
            <a:ext cx="28198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  Do you agree?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7567" y="2211323"/>
            <a:ext cx="22421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Xavier says  </a:t>
            </a:r>
          </a:p>
        </p:txBody>
      </p:sp>
      <p:pic>
        <p:nvPicPr>
          <p:cNvPr id="9" name="Picture 8" descr="387b1e44b6216a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2605" y="2106168"/>
            <a:ext cx="1575816" cy="6675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8421" y="2211323"/>
            <a:ext cx="12019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1" name="Picture 10" descr="5a4b2276e1b02b4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163" y="2103120"/>
            <a:ext cx="1581912" cy="673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55075" y="2211323"/>
            <a:ext cx="27160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are equivalent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40023" y="3028188"/>
            <a:ext cx="54452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because both can be written as  </a:t>
            </a:r>
          </a:p>
        </p:txBody>
      </p:sp>
      <p:pic>
        <p:nvPicPr>
          <p:cNvPr id="14" name="Picture 13" descr="b57ed0c2af593e6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8081" y="3090672"/>
            <a:ext cx="490727" cy="3322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638809" y="3028188"/>
            <a:ext cx="28198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  Do you agree?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0348" y="3883152"/>
            <a:ext cx="12985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First:  </a:t>
            </a:r>
          </a:p>
        </p:txBody>
      </p:sp>
      <p:pic>
        <p:nvPicPr>
          <p:cNvPr id="17" name="Picture 16" descr="a54eb59ad31b1d2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11706" y="3810000"/>
            <a:ext cx="3749039" cy="60350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350348" y="4619244"/>
            <a:ext cx="18337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Second:  </a:t>
            </a:r>
          </a:p>
        </p:txBody>
      </p:sp>
      <p:pic>
        <p:nvPicPr>
          <p:cNvPr id="19" name="Picture 18" descr="a1e5d3fbd0cb369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46891" y="4541520"/>
            <a:ext cx="3767328" cy="61264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529132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 — the second is 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-6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, not 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-7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668780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668780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0" name="Picture 9" descr="3554ae34b18383f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7878" y="1517904"/>
            <a:ext cx="1652016" cy="7589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2502408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02408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3" name="Picture 12" descr="352eb1a88709caf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7878" y="2459736"/>
            <a:ext cx="1645920" cy="5425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3162300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162300"/>
            <a:ext cx="34776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as a power of 2.  </a:t>
            </a:r>
          </a:p>
        </p:txBody>
      </p:sp>
      <p:pic>
        <p:nvPicPr>
          <p:cNvPr id="16" name="Picture 15" descr="f8a57f68dc51185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4996" y="3256788"/>
            <a:ext cx="417576" cy="26822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60120" y="3756659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756659"/>
            <a:ext cx="34720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as a power of 3.  </a:t>
            </a:r>
          </a:p>
        </p:txBody>
      </p:sp>
      <p:pic>
        <p:nvPicPr>
          <p:cNvPr id="19" name="Picture 18" descr="8991108252781c0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9400" y="3848099"/>
            <a:ext cx="813816" cy="2743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60120" y="4351020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351020"/>
            <a:ext cx="8653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Are  </a:t>
            </a:r>
          </a:p>
        </p:txBody>
      </p:sp>
      <p:pic>
        <p:nvPicPr>
          <p:cNvPr id="22" name="Picture 21" descr="19f6b2e98322074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82713" y="4442460"/>
            <a:ext cx="429768" cy="2743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712481" y="4351020"/>
            <a:ext cx="10875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24" name="Picture 23" descr="f49fd30c1f16e95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62822" y="4445508"/>
            <a:ext cx="414528" cy="2682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077350" y="4351020"/>
            <a:ext cx="35928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equivalent? Show why.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4945380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4945380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28" name="Picture 27" descr="272bae85e8b361c9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77878" y="5007864"/>
            <a:ext cx="1213104" cy="332232"/>
          </a:xfrm>
          <a:prstGeom prst="rect">
            <a:avLst/>
          </a:prstGeom>
        </p:spPr>
      </p:pic>
    </p:spTree>
  </p:cSld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Evaluate expressions using properties of exponents — 6T7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Identify equivalent expressions involving exponents II — QDM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3  ·  THREAD A · DAY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Exponent Laws with Variable Bases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MA.8.AR.1.1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multiply and divide monomials, and raise a monomial to a power, by applying the laws of exponents to variable bases.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2921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Find the value:  </a:t>
            </a:r>
          </a:p>
        </p:txBody>
      </p:sp>
      <p:pic>
        <p:nvPicPr>
          <p:cNvPr id="9" name="Picture 8" descr="84532672c5136f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168" y="1501140"/>
            <a:ext cx="1267968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164080"/>
            <a:ext cx="3678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Write as one power:  </a:t>
            </a:r>
          </a:p>
        </p:txBody>
      </p:sp>
      <p:pic>
        <p:nvPicPr>
          <p:cNvPr id="11" name="Picture 10" descr="dea7bce85a13542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5911" y="2075688"/>
            <a:ext cx="313944" cy="633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887980"/>
            <a:ext cx="6801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</a:t>
            </a:r>
          </a:p>
        </p:txBody>
      </p:sp>
      <p:pic>
        <p:nvPicPr>
          <p:cNvPr id="13" name="Picture 12" descr="bcdd97740536927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17464" y="2921508"/>
            <a:ext cx="710184" cy="3901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127648" y="2887980"/>
            <a:ext cx="57232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is between which two whole numbers?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500628"/>
            <a:ext cx="426679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Write with an exponent:  </a:t>
            </a:r>
          </a:p>
        </p:txBody>
      </p:sp>
      <p:pic>
        <p:nvPicPr>
          <p:cNvPr id="16" name="Picture 15" descr="10f3e19ce6b1934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04151" y="3610356"/>
            <a:ext cx="1679448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2921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Find the value:  </a:t>
            </a:r>
          </a:p>
        </p:txBody>
      </p:sp>
      <p:pic>
        <p:nvPicPr>
          <p:cNvPr id="9" name="Picture 8" descr="84532672c5136f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168" y="1501140"/>
            <a:ext cx="1267968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75776" y="1440180"/>
            <a:ext cx="4050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164080"/>
            <a:ext cx="3678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Write as one power:  </a:t>
            </a:r>
          </a:p>
        </p:txBody>
      </p:sp>
      <p:pic>
        <p:nvPicPr>
          <p:cNvPr id="12" name="Picture 11" descr="dea7bce85a13542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5911" y="2075688"/>
            <a:ext cx="313944" cy="6339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78495" y="2052828"/>
            <a:ext cx="12033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6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2180" b="1" i="0">
                <a:solidFill>
                  <a:srgbClr val="9E1B32"/>
                </a:solidFill>
                <a:latin typeface="Lexend"/>
              </a:rPr>
              <a:t> = 36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887980"/>
            <a:ext cx="6801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</a:t>
            </a:r>
          </a:p>
        </p:txBody>
      </p:sp>
      <p:pic>
        <p:nvPicPr>
          <p:cNvPr id="15" name="Picture 14" descr="bcdd97740536927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17464" y="2921508"/>
            <a:ext cx="710184" cy="3901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127648" y="2887980"/>
            <a:ext cx="57232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is between which two whole numbers?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62405" y="2887980"/>
            <a:ext cx="13104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7 and 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500628"/>
            <a:ext cx="426679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Write with an exponent:  </a:t>
            </a:r>
          </a:p>
        </p:txBody>
      </p:sp>
      <p:pic>
        <p:nvPicPr>
          <p:cNvPr id="19" name="Picture 18" descr="10f3e19ce6b1934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04151" y="3610356"/>
            <a:ext cx="1679448" cy="237744"/>
          </a:xfrm>
          <a:prstGeom prst="rect">
            <a:avLst/>
          </a:prstGeom>
        </p:spPr>
      </p:pic>
      <p:pic>
        <p:nvPicPr>
          <p:cNvPr id="20" name="Picture 19" descr="6318b2f43b5ea30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32239" y="3558540"/>
            <a:ext cx="307848" cy="341376"/>
          </a:xfrm>
          <a:prstGeom prst="rect">
            <a:avLst/>
          </a:prstGeom>
        </p:spPr>
      </p:pic>
    </p:spTree>
  </p:cSld>
  <p:clrMapOvr>
    <a:masterClrMapping/>
  </p:clrMapOvr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Product of powers — the base is a letter now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6d4fe73c289b0e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1780" y="1993392"/>
            <a:ext cx="4459224" cy="411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21004" y="1970532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531b3ca0b6947c4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5347" y="2055876"/>
            <a:ext cx="2374392" cy="286512"/>
          </a:xfrm>
          <a:prstGeom prst="rect">
            <a:avLst/>
          </a:prstGeom>
        </p:spPr>
      </p:pic>
      <p:pic>
        <p:nvPicPr>
          <p:cNvPr id="13" name="Picture 12" descr="3a24062b248a79f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64052" y="2679192"/>
            <a:ext cx="5233416" cy="4145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3432047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Multiply the coefficients. Add the exponents of like bases.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4130040"/>
            <a:ext cx="5140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Different variables stay separate:  </a:t>
            </a:r>
          </a:p>
        </p:txBody>
      </p:sp>
      <p:pic>
        <p:nvPicPr>
          <p:cNvPr id="16" name="Picture 15" descr="cb5cb67ed0c2e13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0725" y="4145280"/>
            <a:ext cx="2788920" cy="426720"/>
          </a:xfrm>
          <a:prstGeom prst="rect">
            <a:avLst/>
          </a:prstGeom>
        </p:spPr>
      </p:pic>
    </p:spTree>
  </p:cSld>
  <p:clrMapOvr>
    <a:masterClrMapping/>
  </p:clrMapOvr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Power of a power, power of a product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d6bfdf3d19b6c69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436" y="1993392"/>
            <a:ext cx="4322064" cy="411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779500" y="1970532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fccf0a74e9f8b1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3843" y="2017776"/>
            <a:ext cx="1920240" cy="362712"/>
          </a:xfrm>
          <a:prstGeom prst="rect">
            <a:avLst/>
          </a:prstGeom>
        </p:spPr>
      </p:pic>
      <p:pic>
        <p:nvPicPr>
          <p:cNvPr id="13" name="Picture 12" descr="ae79d4a9e407b4a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13368" y="2679192"/>
            <a:ext cx="3806952" cy="4267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720320" y="2663952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5" name="Picture 14" descr="4c84c2e4af97e3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4663" y="2679192"/>
            <a:ext cx="3523488" cy="4267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344424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Power of a power: multiply the exponents.  Power of a product: raise every factor.</a:t>
            </a:r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Quotient of powers — dividing monomials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5992b07e12d929b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8480" y="1993392"/>
            <a:ext cx="4517136" cy="7863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945616" y="2157984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e5743ba7bca77d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9959" y="2037588"/>
            <a:ext cx="1783080" cy="697992"/>
          </a:xfrm>
          <a:prstGeom prst="rect">
            <a:avLst/>
          </a:prstGeom>
        </p:spPr>
      </p:pic>
      <p:pic>
        <p:nvPicPr>
          <p:cNvPr id="13" name="Picture 12" descr="bff3d968f5264f4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2652" y="3054096"/>
            <a:ext cx="1840991" cy="7955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883644" y="3223260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5" name="Picture 14" descr="babaa48f738357b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7987" y="3055619"/>
            <a:ext cx="3230880" cy="7924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418795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Divide the coefficients. Subtract the exponents of like bases.</a:t>
            </a:r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pic>
        <p:nvPicPr>
          <p:cNvPr id="8" name="Picture 7" descr="f82502c420b1e8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1644" y="2103120"/>
            <a:ext cx="2618232" cy="426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327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as a single monomial.</a:t>
            </a:r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d34a71302951cd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6248400" cy="426720"/>
          </a:xfrm>
          <a:prstGeom prst="rect">
            <a:avLst/>
          </a:prstGeom>
        </p:spPr>
      </p:pic>
      <p:pic>
        <p:nvPicPr>
          <p:cNvPr id="9" name="Picture 8" descr="9880f38cb80c40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21280"/>
            <a:ext cx="3578352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−8x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y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cebc1086f5007b0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7136" y="1600200"/>
            <a:ext cx="3127248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213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as a single monomial.</a:t>
            </a:r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44018e03469d2a5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5611" y="1600200"/>
            <a:ext cx="3130296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213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as a single monomial.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17719" y="3201526"/>
            <a:ext cx="18411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Numbers:  </a:t>
            </a:r>
          </a:p>
        </p:txBody>
      </p:sp>
      <p:pic>
        <p:nvPicPr>
          <p:cNvPr id="11" name="Picture 10" descr="1f9f47243b423b4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1756" y="3323446"/>
            <a:ext cx="1072896" cy="2133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217719" y="3704446"/>
            <a:ext cx="15080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a's:  </a:t>
            </a:r>
          </a:p>
        </p:txBody>
      </p:sp>
      <p:pic>
        <p:nvPicPr>
          <p:cNvPr id="13" name="Picture 12" descr="5f3fb78ccfb86d8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8645" y="3801982"/>
            <a:ext cx="2282952" cy="2621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217719" y="4207366"/>
            <a:ext cx="15071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b's:  </a:t>
            </a:r>
          </a:p>
        </p:txBody>
      </p:sp>
      <p:pic>
        <p:nvPicPr>
          <p:cNvPr id="15" name="Picture 14" descr="795cd8a8804113a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87696" y="4304902"/>
            <a:ext cx="2362200" cy="26212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77886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15a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b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b9b17b427698fa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1" y="2103120"/>
            <a:ext cx="1408176" cy="8656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7167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as a single monomial.</a:t>
            </a:r>
          </a:p>
        </p:txBody>
      </p:sp>
    </p:spTree>
  </p:cSld>
  <p:clrMapOvr>
    <a:masterClrMapping/>
  </p:clrMapOvr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c921a6ad516c95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087624" cy="414528"/>
          </a:xfrm>
          <a:prstGeom prst="rect">
            <a:avLst/>
          </a:prstGeom>
        </p:spPr>
      </p:pic>
      <p:pic>
        <p:nvPicPr>
          <p:cNvPr id="9" name="Picture 8" descr="69e7633d2c21fbf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9087"/>
            <a:ext cx="5672328" cy="789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n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8188cd9592de45b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8007" y="1600200"/>
            <a:ext cx="1365504" cy="11917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9488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as a single monomial.</a:t>
            </a:r>
          </a:p>
        </p:txBody>
      </p:sp>
    </p:spTree>
  </p:cSld>
  <p:clrMapOvr>
    <a:masterClrMapping/>
  </p:clrMapOvr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3fd6aa4af28a39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9531" y="1600200"/>
            <a:ext cx="1362456" cy="11917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9488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as a single monomial.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26286" y="3884278"/>
            <a:ext cx="16914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Top first:  </a:t>
            </a:r>
          </a:p>
        </p:txBody>
      </p:sp>
      <p:pic>
        <p:nvPicPr>
          <p:cNvPr id="11" name="Picture 10" descr="0a070322ca6b9f4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0553" y="3951334"/>
            <a:ext cx="3151632" cy="3230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726286" y="4387198"/>
            <a:ext cx="18411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Numbers:  </a:t>
            </a:r>
          </a:p>
        </p:txBody>
      </p:sp>
      <p:pic>
        <p:nvPicPr>
          <p:cNvPr id="13" name="Picture 12" descr="6dd81528b6eb109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30323" y="4510642"/>
            <a:ext cx="1176528" cy="2103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726286" y="4890118"/>
            <a:ext cx="15074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p's:  </a:t>
            </a:r>
          </a:p>
        </p:txBody>
      </p:sp>
      <p:pic>
        <p:nvPicPr>
          <p:cNvPr id="15" name="Picture 14" descr="234d1df8f51eff7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96612" y="4957174"/>
            <a:ext cx="2609088" cy="32308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546161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2p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7</a:t>
            </a:r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c22a98d40a0fe3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2872" y="2194560"/>
            <a:ext cx="1255776" cy="4175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7057d29314ff53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9823" y="2103120"/>
            <a:ext cx="1261872" cy="417576"/>
          </a:xfrm>
          <a:prstGeom prst="rect">
            <a:avLst/>
          </a:prstGeom>
        </p:spPr>
      </p:pic>
      <p:pic>
        <p:nvPicPr>
          <p:cNvPr id="9" name="Picture 8" descr="5c18f5c8d80754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5735" y="2877312"/>
            <a:ext cx="2779776" cy="3017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09744" y="4599431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1" name="Picture 10" descr="f1aeccb44d2ab97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9983" y="4663440"/>
            <a:ext cx="621792" cy="420624"/>
          </a:xfrm>
          <a:prstGeom prst="rect">
            <a:avLst/>
          </a:prstGeom>
        </p:spPr>
      </p:pic>
    </p:spTree>
  </p:cSld>
  <p:clrMapOvr>
    <a:masterClrMapping/>
  </p:clrMapOvr>
</p:sld>
</file>

<file path=ppt/slides/slide2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pic>
        <p:nvPicPr>
          <p:cNvPr id="8" name="Picture 7" descr="d27a1b65e2e808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5647" y="2194560"/>
            <a:ext cx="1030224" cy="5242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pic>
        <p:nvPicPr>
          <p:cNvPr id="8" name="Picture 7" descr="b08eef5dde2a507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5647" y="2103120"/>
            <a:ext cx="1030224" cy="524256"/>
          </a:xfrm>
          <a:prstGeom prst="rect">
            <a:avLst/>
          </a:prstGeom>
        </p:spPr>
      </p:pic>
      <p:pic>
        <p:nvPicPr>
          <p:cNvPr id="9" name="Picture 8" descr="4ee0afac3f89913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3083" y="2942844"/>
            <a:ext cx="2542032" cy="3840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797551" y="465429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1" name="Picture 10" descr="aa93a227db193ed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7791" y="4663440"/>
            <a:ext cx="64617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0023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cube has edges  </a:t>
            </a:r>
          </a:p>
        </p:txBody>
      </p:sp>
      <p:pic>
        <p:nvPicPr>
          <p:cNvPr id="9" name="Picture 8" descr="b2218f1b6cc7bf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9618" y="1946147"/>
            <a:ext cx="454152" cy="268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53770" y="1851660"/>
            <a:ext cx="29419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centimeters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30846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surface area is  </a:t>
            </a:r>
          </a:p>
        </p:txBody>
      </p:sp>
      <p:pic>
        <p:nvPicPr>
          <p:cNvPr id="12" name="Picture 11" descr="c9ee10aba476273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1897" y="2557272"/>
            <a:ext cx="655320" cy="2712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37217" y="2464308"/>
            <a:ext cx="33145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square centimeters.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volume of the cube, in cubic centimeters?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0023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cube has edges  </a:t>
            </a:r>
          </a:p>
        </p:txBody>
      </p:sp>
      <p:pic>
        <p:nvPicPr>
          <p:cNvPr id="9" name="Picture 8" descr="47e41d1215f68ba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9618" y="1946147"/>
            <a:ext cx="457200" cy="268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56818" y="1851660"/>
            <a:ext cx="29419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centimeters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30846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surface area is  </a:t>
            </a:r>
          </a:p>
        </p:txBody>
      </p:sp>
      <p:pic>
        <p:nvPicPr>
          <p:cNvPr id="12" name="Picture 11" descr="e168afa666552cb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1897" y="2555748"/>
            <a:ext cx="658368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40265" y="2464308"/>
            <a:ext cx="33145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square centimeters.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volume of the cube, in cubic centimeters?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09370" y="3734926"/>
            <a:ext cx="57716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Volume = edge × edge × edge:  </a:t>
            </a:r>
          </a:p>
        </p:txBody>
      </p:sp>
      <p:pic>
        <p:nvPicPr>
          <p:cNvPr id="16" name="Picture 15" descr="f2db44398d05b71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3845" y="3779122"/>
            <a:ext cx="908304" cy="368808"/>
          </a:xfrm>
          <a:prstGeom prst="rect">
            <a:avLst/>
          </a:prstGeom>
        </p:spPr>
      </p:pic>
      <p:pic>
        <p:nvPicPr>
          <p:cNvPr id="17" name="Picture 16" descr="83e03eeb2170371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64234" y="4315570"/>
            <a:ext cx="3297936" cy="37490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759451" y="478039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9" name="Picture 18" descr="930c42f7a917cf6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9692" y="4845922"/>
            <a:ext cx="722376" cy="417576"/>
          </a:xfrm>
          <a:prstGeom prst="rect">
            <a:avLst/>
          </a:prstGeom>
        </p:spPr>
      </p:pic>
    </p:spTree>
  </p:cSld>
  <p:clrMapOvr>
    <a:masterClrMapping/>
  </p:clrMapOvr>
</p:sld>
</file>

<file path=ppt/slides/slide2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94ae5c6bf68c5fb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9911" y="2194560"/>
            <a:ext cx="2901696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c5f8cdff3a58f6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8387" y="2103120"/>
            <a:ext cx="2904744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37531" y="2891028"/>
            <a:ext cx="18411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Numbers:  </a:t>
            </a:r>
          </a:p>
        </p:txBody>
      </p:sp>
      <p:pic>
        <p:nvPicPr>
          <p:cNvPr id="10" name="Picture 9" descr="10283f176991c3b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1568" y="3012948"/>
            <a:ext cx="1091184" cy="2133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237531" y="3393948"/>
            <a:ext cx="15080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a's:  </a:t>
            </a:r>
          </a:p>
        </p:txBody>
      </p:sp>
      <p:pic>
        <p:nvPicPr>
          <p:cNvPr id="12" name="Picture 11" descr="5f3fb78ccfb86d8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8457" y="3491483"/>
            <a:ext cx="2282952" cy="2621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237531" y="3896867"/>
            <a:ext cx="15071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b's:  </a:t>
            </a:r>
          </a:p>
        </p:txBody>
      </p:sp>
      <p:pic>
        <p:nvPicPr>
          <p:cNvPr id="14" name="Picture 13" descr="32bbfbda57c94e6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07508" y="3994404"/>
            <a:ext cx="2319528" cy="2621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70831" y="460248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6" name="Picture 15" descr="36d05054388e0f5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91071" y="4663440"/>
            <a:ext cx="1499616" cy="426720"/>
          </a:xfrm>
          <a:prstGeom prst="rect">
            <a:avLst/>
          </a:prstGeom>
        </p:spPr>
      </p:pic>
    </p:spTree>
  </p:cSld>
  <p:clrMapOvr>
    <a:masterClrMapping/>
  </p:clrMapOvr>
</p:sld>
</file>

<file path=ppt/slides/slide2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54d7a3db40dafec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6859" y="2194560"/>
            <a:ext cx="1447800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3217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984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25m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984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10m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842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25m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842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9013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71344e364b98fd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5336" y="2103120"/>
            <a:ext cx="1450848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4073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pic>
        <p:nvPicPr>
          <p:cNvPr id="10" name="Picture 9" descr="6dcc307e4b4bb3d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7951" y="3508579"/>
            <a:ext cx="3892296" cy="3718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25m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a573a675710e22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4791" y="2194560"/>
            <a:ext cx="1011936" cy="99059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137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40800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4x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40800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4x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765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9x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765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4x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8756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662958141cc8769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2103120"/>
            <a:ext cx="1005840" cy="9936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32536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90227" y="3950539"/>
            <a:ext cx="21407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Numbers:  </a:t>
            </a:r>
          </a:p>
        </p:txBody>
      </p:sp>
      <p:pic>
        <p:nvPicPr>
          <p:cNvPr id="11" name="Picture 10" descr="2908f8b1131494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3854" y="4052647"/>
            <a:ext cx="1389888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183742" y="3950539"/>
            <a:ext cx="255103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       The x's:  </a:t>
            </a:r>
          </a:p>
        </p:txBody>
      </p:sp>
      <p:pic>
        <p:nvPicPr>
          <p:cNvPr id="13" name="Picture 12" descr="3aeb7558cdc9ff3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97612" y="4026739"/>
            <a:ext cx="2770632" cy="3048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4x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15eaf6bc755cbb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0304" y="2194560"/>
            <a:ext cx="1200912" cy="99059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1f89042524950c8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1827" y="2103120"/>
            <a:ext cx="1197864" cy="9875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591992" y="3369564"/>
            <a:ext cx="18533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The m's:  </a:t>
            </a:r>
          </a:p>
        </p:txBody>
      </p:sp>
      <p:pic>
        <p:nvPicPr>
          <p:cNvPr id="10" name="Picture 9" descr="f17cd6c71b560f6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8167" y="3445764"/>
            <a:ext cx="3261360" cy="304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591992" y="3909059"/>
            <a:ext cx="173239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The n's:  </a:t>
            </a:r>
          </a:p>
        </p:txBody>
      </p:sp>
      <p:pic>
        <p:nvPicPr>
          <p:cNvPr id="12" name="Picture 11" descr="928f349ecf76cfb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7222" y="3986783"/>
            <a:ext cx="3371088" cy="3017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08220" y="459638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4" name="Picture 13" descr="9f07b18d81f5938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8459" y="4663440"/>
            <a:ext cx="624840" cy="414528"/>
          </a:xfrm>
          <a:prstGeom prst="rect">
            <a:avLst/>
          </a:prstGeom>
        </p:spPr>
      </p:pic>
    </p:spTree>
  </p:cSld>
  <p:clrMapOvr>
    <a:masterClrMapping/>
  </p:clrMapOvr>
</p:sld>
</file>

<file path=ppt/slides/slide2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3087" y="2171700"/>
            <a:ext cx="3006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Find the value of </a:t>
            </a:r>
          </a:p>
        </p:txBody>
      </p:sp>
      <p:pic>
        <p:nvPicPr>
          <p:cNvPr id="9" name="Picture 8" descr="f14fce7cf077cd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2662" y="2296668"/>
            <a:ext cx="176784" cy="2072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29446" y="217170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:</a:t>
            </a:r>
          </a:p>
        </p:txBody>
      </p:sp>
      <p:pic>
        <p:nvPicPr>
          <p:cNvPr id="11" name="Picture 10" descr="a981bea298d1f2d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5023" y="2916936"/>
            <a:ext cx="1871472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3087" y="2080260"/>
            <a:ext cx="3006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Find the value of </a:t>
            </a:r>
          </a:p>
        </p:txBody>
      </p:sp>
      <p:pic>
        <p:nvPicPr>
          <p:cNvPr id="9" name="Picture 8" descr="f14fce7cf077cd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2662" y="2205228"/>
            <a:ext cx="176784" cy="2072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29446" y="208026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:</a:t>
            </a:r>
          </a:p>
        </p:txBody>
      </p:sp>
      <p:pic>
        <p:nvPicPr>
          <p:cNvPr id="11" name="Picture 10" descr="8d2620ce0f386fc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5023" y="2825496"/>
            <a:ext cx="1871472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173772" y="3525012"/>
            <a:ext cx="65734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Same base, so the exponents add:  </a:t>
            </a:r>
          </a:p>
        </p:txBody>
      </p:sp>
      <p:pic>
        <p:nvPicPr>
          <p:cNvPr id="13" name="Picture 12" descr="b4a56cf80f1421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10051" y="3627120"/>
            <a:ext cx="1383792" cy="252984"/>
          </a:xfrm>
          <a:prstGeom prst="rect">
            <a:avLst/>
          </a:prstGeom>
        </p:spPr>
      </p:pic>
      <p:pic>
        <p:nvPicPr>
          <p:cNvPr id="14" name="Picture 13" descr="faf016cfea52a86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28636" y="4166616"/>
            <a:ext cx="1889760" cy="2529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 = 8</a:t>
            </a:r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6649" y="2179320"/>
            <a:ext cx="25511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Rachel writes  </a:t>
            </a:r>
          </a:p>
        </p:txBody>
      </p:sp>
      <p:pic>
        <p:nvPicPr>
          <p:cNvPr id="9" name="Picture 8" descr="cfeea6bcd2283eb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0670" y="2194560"/>
            <a:ext cx="1432560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623230" y="2179320"/>
            <a:ext cx="9525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as  </a:t>
            </a:r>
          </a:p>
        </p:txBody>
      </p:sp>
      <p:pic>
        <p:nvPicPr>
          <p:cNvPr id="11" name="Picture 10" descr="bb618bfdbdefcd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8587" y="2226564"/>
            <a:ext cx="5797296" cy="3627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235883" y="217932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0114" y="2878835"/>
            <a:ext cx="34239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Justina writes it as  </a:t>
            </a:r>
          </a:p>
        </p:txBody>
      </p:sp>
      <p:pic>
        <p:nvPicPr>
          <p:cNvPr id="14" name="Picture 13" descr="1693b7be1771319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6927" y="2895600"/>
            <a:ext cx="1703832" cy="42367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490759" y="2878835"/>
            <a:ext cx="43078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  Who is correct? Explain.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5125" y="2087880"/>
            <a:ext cx="25511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Rachel writes  </a:t>
            </a:r>
          </a:p>
        </p:txBody>
      </p:sp>
      <p:pic>
        <p:nvPicPr>
          <p:cNvPr id="9" name="Picture 8" descr="2e7c8f87b9f4d0a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9146" y="2103120"/>
            <a:ext cx="1435608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624754" y="2087880"/>
            <a:ext cx="9525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as  </a:t>
            </a:r>
          </a:p>
        </p:txBody>
      </p:sp>
      <p:pic>
        <p:nvPicPr>
          <p:cNvPr id="11" name="Picture 10" descr="010d92783b6e246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111" y="2135124"/>
            <a:ext cx="5797296" cy="3627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237407" y="208788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98590" y="2788920"/>
            <a:ext cx="34239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Justina writes it as  </a:t>
            </a:r>
          </a:p>
        </p:txBody>
      </p:sp>
      <p:pic>
        <p:nvPicPr>
          <p:cNvPr id="14" name="Picture 13" descr="95db59124d1ea51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5403" y="2804160"/>
            <a:ext cx="1706880" cy="4267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492283" y="2788920"/>
            <a:ext cx="43078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  Who is correct? Explain.</a:t>
            </a:r>
          </a:p>
        </p:txBody>
      </p:sp>
      <p:pic>
        <p:nvPicPr>
          <p:cNvPr id="16" name="Picture 15" descr="cb983d4a48c3fca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2895" y="3649979"/>
            <a:ext cx="2267712" cy="268224"/>
          </a:xfrm>
          <a:prstGeom prst="rect">
            <a:avLst/>
          </a:prstGeom>
        </p:spPr>
      </p:pic>
      <p:pic>
        <p:nvPicPr>
          <p:cNvPr id="17" name="Picture 16" descr="7d1d579d9371e63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82895" y="4160520"/>
            <a:ext cx="1417320" cy="252984"/>
          </a:xfrm>
          <a:prstGeom prst="rect">
            <a:avLst/>
          </a:prstGeom>
        </p:spPr>
      </p:pic>
      <p:pic>
        <p:nvPicPr>
          <p:cNvPr id="18" name="Picture 17" descr="f6926bf22434ff2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82895" y="4626864"/>
            <a:ext cx="2508504" cy="32613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5132832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Both are correct; 15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3,375, x · x · x = x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, and six y's make y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2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5044"/>
            <a:ext cx="31696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as one power.  </a:t>
            </a:r>
          </a:p>
        </p:txBody>
      </p:sp>
      <p:pic>
        <p:nvPicPr>
          <p:cNvPr id="10" name="Picture 9" descr="2eaabd0e034350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6963" y="1588008"/>
            <a:ext cx="813816" cy="2712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089403"/>
            <a:ext cx="43133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as a single monomial.  </a:t>
            </a:r>
          </a:p>
        </p:txBody>
      </p:sp>
      <p:pic>
        <p:nvPicPr>
          <p:cNvPr id="13" name="Picture 12" descr="759d173ab3ce1af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0620" y="2154936"/>
            <a:ext cx="670560" cy="3261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683763"/>
            <a:ext cx="43133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as a single monomial.  </a:t>
            </a:r>
          </a:p>
        </p:txBody>
      </p:sp>
      <p:pic>
        <p:nvPicPr>
          <p:cNvPr id="16" name="Picture 15" descr="21810693e2eaa11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0620" y="2738627"/>
            <a:ext cx="826008" cy="34747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60120" y="327812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278123"/>
            <a:ext cx="43133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as a single monomial.  </a:t>
            </a:r>
          </a:p>
        </p:txBody>
      </p:sp>
      <p:pic>
        <p:nvPicPr>
          <p:cNvPr id="19" name="Picture 18" descr="b4d4ab21b5b301a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30620" y="3343655"/>
            <a:ext cx="1615440" cy="32613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60120" y="3988307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3988307"/>
            <a:ext cx="43133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as a single monomial.  </a:t>
            </a:r>
          </a:p>
        </p:txBody>
      </p:sp>
      <p:pic>
        <p:nvPicPr>
          <p:cNvPr id="22" name="Picture 21" descr="8715ef2ef01682a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30620" y="3895344"/>
            <a:ext cx="685800" cy="6431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60120" y="4698491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698491"/>
            <a:ext cx="26841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 of </a:t>
            </a:r>
          </a:p>
        </p:txBody>
      </p:sp>
      <p:pic>
        <p:nvPicPr>
          <p:cNvPr id="25" name="Picture 24" descr="6d78c2be12150bf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01434" y="4843272"/>
            <a:ext cx="146304" cy="1676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247738" y="4698491"/>
            <a:ext cx="4421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 </a:t>
            </a:r>
          </a:p>
        </p:txBody>
      </p:sp>
      <p:pic>
        <p:nvPicPr>
          <p:cNvPr id="27" name="Picture 26" descr="7739f2fcdf71af3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52689" y="4753356"/>
            <a:ext cx="1588008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2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Multiply powers: variable bases — TR9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Powers of a power: variable bases — 2CU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Divide monomials with positive exponents — C8L</a:t>
            </a:r>
          </a:p>
        </p:txBody>
      </p:sp>
    </p:spTree>
  </p:cSld>
  <p:clrMapOvr>
    <a:masterClrMapping/>
  </p:clrMapOvr>
</p:sld>
</file>

<file path=ppt/slides/slide2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3  ·  THREAD A · DAY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Negative Exponents with Variable Bases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MA.8.AR.1.1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rewrite an algebraic expression with negative exponents using only positive exponents, and apply several laws of exponents to a monomial expression.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477455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Write as a single monomial:  </a:t>
            </a:r>
          </a:p>
        </p:txBody>
      </p:sp>
      <p:pic>
        <p:nvPicPr>
          <p:cNvPr id="9" name="Picture 8" descr="9876647aa2adbdc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1910" y="1501140"/>
            <a:ext cx="813816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1" name="Picture 10" descr="daac0ec1771ab0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306" y="2142744"/>
            <a:ext cx="411480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665476"/>
            <a:ext cx="32361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Which is greater,  </a:t>
            </a:r>
          </a:p>
        </p:txBody>
      </p:sp>
      <p:pic>
        <p:nvPicPr>
          <p:cNvPr id="13" name="Picture 12" descr="36070a9ce391639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3545" y="2699004"/>
            <a:ext cx="713232" cy="3901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86777" y="2665476"/>
            <a:ext cx="11516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or  9?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343656"/>
            <a:ext cx="43612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What is the reciprocal of  </a:t>
            </a:r>
          </a:p>
        </p:txBody>
      </p:sp>
      <p:pic>
        <p:nvPicPr>
          <p:cNvPr id="16" name="Picture 15" descr="6fa687cf2916166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8619" y="3300984"/>
            <a:ext cx="176784" cy="5425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275403" y="3343656"/>
            <a:ext cx="443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</p:spTree>
  </p:cSld>
  <p:clrMapOvr>
    <a:masterClrMapping/>
  </p:clrMapOvr>
</p:sld>
</file>

<file path=ppt/slides/slide2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477455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Write as a single monomial:  </a:t>
            </a:r>
          </a:p>
        </p:txBody>
      </p:sp>
      <p:pic>
        <p:nvPicPr>
          <p:cNvPr id="9" name="Picture 8" descr="9876647aa2adbdc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1910" y="1501140"/>
            <a:ext cx="813816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874366" y="1440180"/>
            <a:ext cx="8233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27x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2" name="Picture 11" descr="daac0ec1771ab0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306" y="2142744"/>
            <a:ext cx="411480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633426" y="2052828"/>
            <a:ext cx="8779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1/25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32361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Which is greater,  </a:t>
            </a:r>
          </a:p>
        </p:txBody>
      </p:sp>
      <p:pic>
        <p:nvPicPr>
          <p:cNvPr id="15" name="Picture 14" descr="36070a9ce391639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3545" y="2699004"/>
            <a:ext cx="713232" cy="3901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686777" y="2665476"/>
            <a:ext cx="11516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or  9?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49902" y="2665476"/>
            <a:ext cx="3800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343656"/>
            <a:ext cx="43612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What is the reciprocal of  </a:t>
            </a:r>
          </a:p>
        </p:txBody>
      </p:sp>
      <p:pic>
        <p:nvPicPr>
          <p:cNvPr id="19" name="Picture 18" descr="6fa687cf2916166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8619" y="3300984"/>
            <a:ext cx="176784" cy="54254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275403" y="3343656"/>
            <a:ext cx="443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pic>
        <p:nvPicPr>
          <p:cNvPr id="21" name="Picture 20" descr="0ef102b5f3cf8fb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29893" y="3300984"/>
            <a:ext cx="176784" cy="542544"/>
          </a:xfrm>
          <a:prstGeom prst="rect">
            <a:avLst/>
          </a:prstGeom>
        </p:spPr>
      </p:pic>
    </p:spTree>
  </p:cSld>
  <p:clrMapOvr>
    <a:masterClrMapping/>
  </p:clrMapOvr>
</p:sld>
</file>

<file path=ppt/slides/slide2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The pattern, with a letter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77240" y="1993392"/>
          <a:ext cx="1060704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1325880"/>
                <a:gridCol w="1325880"/>
                <a:gridCol w="1325880"/>
                <a:gridCol w="1325880"/>
                <a:gridCol w="1325880"/>
                <a:gridCol w="1325880"/>
                <a:gridCol w="13258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x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x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x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x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x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x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-1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x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-2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x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-3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x·x·x·x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x·x·x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x·x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1/x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1/x</a:t>
                      </a:r>
                      <a:r>
                        <a:rPr sz="17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1/x</a:t>
                      </a:r>
                      <a:r>
                        <a:rPr sz="17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1" name="Picture 10" descr="959d23703025cf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8405" y="2990088"/>
            <a:ext cx="1319784" cy="6827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08189" y="3102864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3" name="Picture 12" descr="50055cd3f97ed51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2533" y="2990088"/>
            <a:ext cx="1347216" cy="6827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859749" y="3102864"/>
            <a:ext cx="12631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(</a:t>
            </a:r>
          </a:p>
        </p:txBody>
      </p:sp>
      <p:pic>
        <p:nvPicPr>
          <p:cNvPr id="15" name="Picture 14" descr="69c32b8b9be7844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5787" y="3192780"/>
            <a:ext cx="792480" cy="2773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778267" y="3102864"/>
            <a:ext cx="33200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)</a:t>
            </a:r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Moving factors across the fraction bar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840171f025bff8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8832" y="2036064"/>
            <a:ext cx="1496568" cy="731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805400" y="2173224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b3850983250dec2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9744" y="1993392"/>
            <a:ext cx="2221992" cy="8168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31736" y="2173224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4" name="Picture 13" descr="560526d4cbdf3f8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6079" y="2002536"/>
            <a:ext cx="1816608" cy="798576"/>
          </a:xfrm>
          <a:prstGeom prst="rect">
            <a:avLst/>
          </a:prstGeom>
        </p:spPr>
      </p:pic>
      <p:pic>
        <p:nvPicPr>
          <p:cNvPr id="15" name="Picture 14" descr="e650137e6d4e49d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1372" y="3084575"/>
            <a:ext cx="2398776" cy="88087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4303775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Only the factor with the negative exponent moves. Its exponent turns positive.</a:t>
            </a:r>
          </a:p>
        </p:txBody>
      </p:sp>
    </p:spTree>
  </p:cSld>
  <p:clrMapOvr>
    <a:masterClrMapping/>
  </p:clrMapOvr>
</p:sld>
</file>

<file path=ppt/slides/slide2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The laws with negative exponents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4a24d7800dcaf0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2264" y="2020824"/>
            <a:ext cx="4389120" cy="731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51384" y="2157984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2c9767efe7def64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5727" y="1993392"/>
            <a:ext cx="3843528" cy="786384"/>
          </a:xfrm>
          <a:prstGeom prst="rect">
            <a:avLst/>
          </a:prstGeom>
        </p:spPr>
      </p:pic>
      <p:pic>
        <p:nvPicPr>
          <p:cNvPr id="13" name="Picture 12" descr="84afeb60d2ecec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0351" y="3054096"/>
            <a:ext cx="3480816" cy="8138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20624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Apply the law. Then rewrite so that every exponent is positive.</a:t>
            </a:r>
          </a:p>
        </p:txBody>
      </p:sp>
    </p:spTree>
  </p:cSld>
  <p:clrMapOvr>
    <a:masterClrMapping/>
  </p:clrMapOvr>
</p:sld>
</file>

<file path=ppt/slides/slide2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pic>
        <p:nvPicPr>
          <p:cNvPr id="8" name="Picture 7" descr="c31c4577474535c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2104" y="2103120"/>
            <a:ext cx="2877312" cy="426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327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with positive exponents only.</a:t>
            </a:r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30c11d9477e5ce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6245352" cy="426720"/>
          </a:xfrm>
          <a:prstGeom prst="rect">
            <a:avLst/>
          </a:prstGeom>
        </p:spPr>
      </p:pic>
      <p:pic>
        <p:nvPicPr>
          <p:cNvPr id="9" name="Picture 8" descr="d89781ec390765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21280"/>
            <a:ext cx="2776728" cy="8808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12x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/y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2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69930e82b2e70e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4651" y="1600200"/>
            <a:ext cx="3252216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213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with positive exponents only.</a:t>
            </a:r>
          </a:p>
        </p:txBody>
      </p:sp>
    </p:spTree>
  </p:cSld>
  <p:clrMapOvr>
    <a:masterClrMapping/>
  </p:clrMapOvr>
</p:sld>
</file>

<file path=ppt/slides/slide2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43519e6fe93bd6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4651" y="1600200"/>
            <a:ext cx="3252216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213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with positive exponents only.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78223" y="3201526"/>
            <a:ext cx="15080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a's:  </a:t>
            </a:r>
          </a:p>
        </p:txBody>
      </p:sp>
      <p:pic>
        <p:nvPicPr>
          <p:cNvPr id="11" name="Picture 10" descr="5cce26f9814b90e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9149" y="3299062"/>
            <a:ext cx="2551176" cy="2621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78223" y="3779122"/>
            <a:ext cx="15071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b's:  </a:t>
            </a:r>
          </a:p>
        </p:txBody>
      </p:sp>
      <p:pic>
        <p:nvPicPr>
          <p:cNvPr id="13" name="Picture 12" descr="455b440955e368d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8200" y="3727306"/>
            <a:ext cx="3429000" cy="560832"/>
          </a:xfrm>
          <a:prstGeom prst="rect">
            <a:avLst/>
          </a:prstGeom>
        </p:spPr>
      </p:pic>
      <p:pic>
        <p:nvPicPr>
          <p:cNvPr id="14" name="Picture 13" descr="153f36a6e043485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33087" y="4379578"/>
            <a:ext cx="1996439" cy="60655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09159" y="534579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6" name="Picture 15" descr="682a312527072d3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9400" y="5123290"/>
            <a:ext cx="822960" cy="993648"/>
          </a:xfrm>
          <a:prstGeom prst="rect">
            <a:avLst/>
          </a:prstGeom>
        </p:spPr>
      </p:pic>
    </p:spTree>
  </p:cSld>
  <p:clrMapOvr>
    <a:masterClrMapping/>
  </p:clrMapOvr>
</p:sld>
</file>

<file path=ppt/slides/slide2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7f7328112e67c3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480" y="2103120"/>
            <a:ext cx="1432560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015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with positive exponents only.</a:t>
            </a:r>
          </a:p>
        </p:txBody>
      </p:sp>
    </p:spTree>
  </p:cSld>
  <p:clrMapOvr>
    <a:masterClrMapping/>
  </p:clrMapOvr>
</p:sld>
</file>

<file path=ppt/slides/slide2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855def8551484a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965704" cy="798576"/>
          </a:xfrm>
          <a:prstGeom prst="rect">
            <a:avLst/>
          </a:prstGeom>
        </p:spPr>
      </p:pic>
      <p:pic>
        <p:nvPicPr>
          <p:cNvPr id="9" name="Picture 8" descr="44c539f0c5b2a63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993136"/>
            <a:ext cx="1408176" cy="807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15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b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/1,024</a:t>
            </a:r>
          </a:p>
        </p:txBody>
      </p:sp>
    </p:spTree>
  </p:cSld>
  <p:clrMapOvr>
    <a:masterClrMapping/>
  </p:clrMapOvr>
</p:sld>
</file>

<file path=ppt/slides/slide2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c43798c2465e5d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5148" y="1481328"/>
            <a:ext cx="1411224" cy="88087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651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with positive exponents only.</a:t>
            </a:r>
          </a:p>
        </p:txBody>
      </p:sp>
    </p:spTree>
  </p:cSld>
  <p:clrMapOvr>
    <a:masterClrMapping/>
  </p:clrMapOvr>
</p:sld>
</file>

<file path=ppt/slides/slide2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03a681fbad5650c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2099" y="1481328"/>
            <a:ext cx="1417320" cy="883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681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with positive exponents only.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21617" y="3457558"/>
            <a:ext cx="68554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Cube every part, then move the y up:</a:t>
            </a:r>
          </a:p>
        </p:txBody>
      </p:sp>
      <p:pic>
        <p:nvPicPr>
          <p:cNvPr id="11" name="Picture 10" descr="0c8a8ac9e9217b8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6481" y="4019914"/>
            <a:ext cx="3605784" cy="8808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20767" y="527721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3" name="Picture 12" descr="f55882cbb9feaf6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1007" y="5037946"/>
            <a:ext cx="999743" cy="1027176"/>
          </a:xfrm>
          <a:prstGeom prst="rect">
            <a:avLst/>
          </a:prstGeom>
        </p:spPr>
      </p:pic>
    </p:spTree>
  </p:cSld>
  <p:clrMapOvr>
    <a:masterClrMapping/>
  </p:clrMapOvr>
</p:sld>
</file>

<file path=ppt/slides/slide2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ec408266b045739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2431" y="2194560"/>
            <a:ext cx="676656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d0e787fdcb7c6f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2431" y="2103120"/>
            <a:ext cx="676656" cy="414528"/>
          </a:xfrm>
          <a:prstGeom prst="rect">
            <a:avLst/>
          </a:prstGeom>
        </p:spPr>
      </p:pic>
      <p:pic>
        <p:nvPicPr>
          <p:cNvPr id="9" name="Picture 8" descr="120fc012f8affb5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7547" y="2819399"/>
            <a:ext cx="1207008" cy="658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61560" y="4843271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1" name="Picture 10" descr="fb1ddbcef519bca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1799" y="4663440"/>
            <a:ext cx="518160" cy="908304"/>
          </a:xfrm>
          <a:prstGeom prst="rect">
            <a:avLst/>
          </a:prstGeom>
        </p:spPr>
      </p:pic>
    </p:spTree>
  </p:cSld>
  <p:clrMapOvr>
    <a:masterClrMapping/>
  </p:clrMapOvr>
</p:sld>
</file>

<file path=ppt/slides/slide2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pic>
        <p:nvPicPr>
          <p:cNvPr id="8" name="Picture 7" descr="1b13ec9f58c182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7191" y="2194560"/>
            <a:ext cx="707136" cy="10180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pic>
        <p:nvPicPr>
          <p:cNvPr id="8" name="Picture 7" descr="7eacf3d693b1d7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0239" y="2103120"/>
            <a:ext cx="701040" cy="1018032"/>
          </a:xfrm>
          <a:prstGeom prst="rect">
            <a:avLst/>
          </a:prstGeom>
        </p:spPr>
      </p:pic>
      <p:pic>
        <p:nvPicPr>
          <p:cNvPr id="9" name="Picture 8" descr="6b87df3e62c7c1c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4499" y="3422904"/>
            <a:ext cx="1222248" cy="7406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84419" y="4651247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1" name="Picture 10" descr="552d05db14a8645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4660" y="4663440"/>
            <a:ext cx="472440" cy="524256"/>
          </a:xfrm>
          <a:prstGeom prst="rect">
            <a:avLst/>
          </a:prstGeom>
        </p:spPr>
      </p:pic>
    </p:spTree>
  </p:cSld>
  <p:clrMapOvr>
    <a:masterClrMapping/>
  </p:clrMapOvr>
</p:sld>
</file>

<file path=ppt/slides/slide2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8609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brightness of a lamp from  </a:t>
            </a:r>
          </a:p>
        </p:txBody>
      </p:sp>
      <p:pic>
        <p:nvPicPr>
          <p:cNvPr id="9" name="Picture 8" descr="c15f87ddcb3bf3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8255" y="1997963"/>
            <a:ext cx="170688" cy="1645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28943" y="1851660"/>
            <a:ext cx="27899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meters away is  </a:t>
            </a:r>
          </a:p>
        </p:txBody>
      </p:sp>
      <p:pic>
        <p:nvPicPr>
          <p:cNvPr id="11" name="Picture 10" descr="bea5ec65db107fb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81706" y="1941575"/>
            <a:ext cx="591312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373018" y="1851660"/>
            <a:ext cx="11768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units.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lamp is 15 centimeters tall.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bright is the lamp from 2 meters away?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8609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brightness of a lamp from  </a:t>
            </a:r>
          </a:p>
        </p:txBody>
      </p:sp>
      <p:pic>
        <p:nvPicPr>
          <p:cNvPr id="9" name="Picture 8" descr="c15f87ddcb3bf3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8255" y="1997963"/>
            <a:ext cx="170688" cy="1645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28943" y="1851660"/>
            <a:ext cx="27899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meters away is  </a:t>
            </a:r>
          </a:p>
        </p:txBody>
      </p:sp>
      <p:pic>
        <p:nvPicPr>
          <p:cNvPr id="11" name="Picture 10" descr="751d7165ce0bd9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81706" y="1941575"/>
            <a:ext cx="594360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376066" y="1851660"/>
            <a:ext cx="11768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units.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lamp is 15 centimeters tall.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bright is the lamp from 2 meters away?</a:t>
            </a:r>
          </a:p>
        </p:txBody>
      </p:sp>
      <p:pic>
        <p:nvPicPr>
          <p:cNvPr id="15" name="Picture 14" descr="0c0f23d02279b17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3120" y="3684236"/>
            <a:ext cx="1356360" cy="6614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428256" y="4575776"/>
            <a:ext cx="13421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When </a:t>
            </a:r>
          </a:p>
        </p:txBody>
      </p:sp>
      <p:pic>
        <p:nvPicPr>
          <p:cNvPr id="17" name="Picture 16" descr="07b139cdbb0c92a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3275" y="4679408"/>
            <a:ext cx="704088" cy="249935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37363" y="4575776"/>
            <a:ext cx="606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  </a:t>
            </a:r>
          </a:p>
        </p:txBody>
      </p:sp>
      <p:pic>
        <p:nvPicPr>
          <p:cNvPr id="19" name="Picture 18" descr="317e2464069192f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06671" y="4473668"/>
            <a:ext cx="926592" cy="66141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968239" y="541397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21" name="Picture 20" descr="7857f3e6801ae95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88480" y="5272244"/>
            <a:ext cx="304800" cy="832104"/>
          </a:xfrm>
          <a:prstGeom prst="rect">
            <a:avLst/>
          </a:prstGeom>
        </p:spPr>
      </p:pic>
    </p:spTree>
  </p:cSld>
  <p:clrMapOvr>
    <a:masterClrMapping/>
  </p:clrMapOvr>
</p:sld>
</file>

<file path=ppt/slides/slide2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ad788033b92abbf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4771" y="2194560"/>
            <a:ext cx="1331976" cy="5242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b8711b9cfc864f9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4771" y="2103120"/>
            <a:ext cx="1331976" cy="524256"/>
          </a:xfrm>
          <a:prstGeom prst="rect">
            <a:avLst/>
          </a:prstGeom>
        </p:spPr>
      </p:pic>
      <p:pic>
        <p:nvPicPr>
          <p:cNvPr id="9" name="Picture 8" descr="8a0e20154d3860c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9223" y="2929128"/>
            <a:ext cx="3343656" cy="7406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632960" y="489813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1" name="Picture 10" descr="288f02ec57e3569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3199" y="4663440"/>
            <a:ext cx="975360" cy="1018032"/>
          </a:xfrm>
          <a:prstGeom prst="rect">
            <a:avLst/>
          </a:prstGeom>
        </p:spPr>
      </p:pic>
    </p:spTree>
  </p:cSld>
  <p:clrMapOvr>
    <a:masterClrMapping/>
  </p:clrMapOvr>
</p:sld>
</file>

<file path=ppt/slides/slide2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76e7ce04dbed466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7715" y="2194560"/>
            <a:ext cx="1466088" cy="420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4378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101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−x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101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1/x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1959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1/x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1959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x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01743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57c3b1d76dc5c9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6191" y="2103120"/>
            <a:ext cx="1469136" cy="420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5234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pic>
        <p:nvPicPr>
          <p:cNvPr id="10" name="Picture 9" descr="3dfe241d36c83f1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4275" y="3453715"/>
            <a:ext cx="3279648" cy="304800"/>
          </a:xfrm>
          <a:prstGeom prst="rect">
            <a:avLst/>
          </a:prstGeom>
        </p:spPr>
      </p:pic>
      <p:pic>
        <p:nvPicPr>
          <p:cNvPr id="11" name="Picture 10" descr="b1ab2b2f40b1e3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4275" y="3939871"/>
            <a:ext cx="1173480" cy="661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73844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1/x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2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5ddb63c42875a2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0764" y="2194560"/>
            <a:ext cx="1459992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3217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984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4/x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984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1/(4x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842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2/x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842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4/x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9013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0b4a094821466f7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0" y="2103120"/>
            <a:ext cx="1463040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4073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pic>
        <p:nvPicPr>
          <p:cNvPr id="10" name="Picture 9" descr="7719b4b74c44dd3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8056" y="3508579"/>
            <a:ext cx="3752088" cy="371856"/>
          </a:xfrm>
          <a:prstGeom prst="rect">
            <a:avLst/>
          </a:prstGeom>
        </p:spPr>
      </p:pic>
      <p:pic>
        <p:nvPicPr>
          <p:cNvPr id="11" name="Picture 10" descr="5bac0c5947c6ee5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8056" y="4028263"/>
            <a:ext cx="1389888" cy="661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82683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4/x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2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636cf8092383896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7003" y="2194560"/>
            <a:ext cx="667512" cy="9784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c5cfb9ca7ed5b5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0052" y="2103120"/>
            <a:ext cx="661416" cy="978408"/>
          </a:xfrm>
          <a:prstGeom prst="rect">
            <a:avLst/>
          </a:prstGeom>
        </p:spPr>
      </p:pic>
      <p:pic>
        <p:nvPicPr>
          <p:cNvPr id="9" name="Picture 8" descr="d5d202bb372dce8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5839" y="3383280"/>
            <a:ext cx="2642616" cy="710184"/>
          </a:xfrm>
          <a:prstGeom prst="rect">
            <a:avLst/>
          </a:prstGeom>
        </p:spPr>
      </p:pic>
      <p:pic>
        <p:nvPicPr>
          <p:cNvPr id="10" name="Picture 9" descr="b3a0847db3beb52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5839" y="4221480"/>
            <a:ext cx="1441704" cy="658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774692" y="519684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2" name="Picture 11" descr="c3401cb351d5db0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4932" y="5017008"/>
            <a:ext cx="691896" cy="908304"/>
          </a:xfrm>
          <a:prstGeom prst="rect">
            <a:avLst/>
          </a:prstGeom>
        </p:spPr>
      </p:pic>
    </p:spTree>
  </p:cSld>
  <p:clrMapOvr>
    <a:masterClrMapping/>
  </p:clrMapOvr>
</p:sld>
</file>

<file path=ppt/slides/slide2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3087" y="2171700"/>
            <a:ext cx="3006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Find the value of </a:t>
            </a:r>
          </a:p>
        </p:txBody>
      </p:sp>
      <p:pic>
        <p:nvPicPr>
          <p:cNvPr id="9" name="Picture 8" descr="f14fce7cf077cd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2662" y="2296668"/>
            <a:ext cx="176784" cy="2072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29446" y="217170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:</a:t>
            </a:r>
          </a:p>
        </p:txBody>
      </p:sp>
      <p:pic>
        <p:nvPicPr>
          <p:cNvPr id="11" name="Picture 10" descr="64533c8a20ef975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9115" y="2916936"/>
            <a:ext cx="1923288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3087" y="2080260"/>
            <a:ext cx="3006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Find the value of </a:t>
            </a:r>
          </a:p>
        </p:txBody>
      </p:sp>
      <p:pic>
        <p:nvPicPr>
          <p:cNvPr id="9" name="Picture 8" descr="f14fce7cf077cd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2662" y="2205228"/>
            <a:ext cx="176784" cy="2072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29446" y="208026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:</a:t>
            </a:r>
          </a:p>
        </p:txBody>
      </p:sp>
      <p:pic>
        <p:nvPicPr>
          <p:cNvPr id="11" name="Picture 10" descr="46b0784f7c87339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9115" y="2825496"/>
            <a:ext cx="1923288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143292" y="3525012"/>
            <a:ext cx="65734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Same base, so the exponents add:  </a:t>
            </a:r>
          </a:p>
        </p:txBody>
      </p:sp>
      <p:pic>
        <p:nvPicPr>
          <p:cNvPr id="13" name="Picture 12" descr="448fa4db260ab5e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9571" y="3627120"/>
            <a:ext cx="1438656" cy="252984"/>
          </a:xfrm>
          <a:prstGeom prst="rect">
            <a:avLst/>
          </a:prstGeom>
        </p:spPr>
      </p:pic>
      <p:pic>
        <p:nvPicPr>
          <p:cNvPr id="14" name="Picture 13" descr="070b8a66ba960fd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98156" y="4166616"/>
            <a:ext cx="1746504" cy="2529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 = 7</a:t>
            </a:r>
          </a:p>
        </p:txBody>
      </p:sp>
    </p:spTree>
  </p:cSld>
  <p:clrMapOvr>
    <a:masterClrMapping/>
  </p:clrMapOvr>
</p:sld>
</file>

<file path=ppt/slides/slide2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19191" y="2171700"/>
            <a:ext cx="17385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are  </a:t>
            </a:r>
          </a:p>
        </p:txBody>
      </p:sp>
      <p:pic>
        <p:nvPicPr>
          <p:cNvPr id="9" name="Picture 8" descr="7f8cc9402f9faa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567" y="2232660"/>
            <a:ext cx="362712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3279" y="2171700"/>
            <a:ext cx="12019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1" name="Picture 10" descr="985ff9dbb24c367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8020" y="2232660"/>
            <a:ext cx="521207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069228" y="2171700"/>
            <a:ext cx="17102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related?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335" y="2857500"/>
            <a:ext cx="698683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Explain, and give the value of each when  </a:t>
            </a:r>
          </a:p>
        </p:txBody>
      </p:sp>
      <p:pic>
        <p:nvPicPr>
          <p:cNvPr id="14" name="Picture 13" descr="1c40b7a80b3cb06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44006" y="2948940"/>
            <a:ext cx="774192" cy="2743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18198" y="285750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2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19191" y="2080260"/>
            <a:ext cx="17385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are  </a:t>
            </a:r>
          </a:p>
        </p:txBody>
      </p:sp>
      <p:pic>
        <p:nvPicPr>
          <p:cNvPr id="9" name="Picture 8" descr="fb0a7a04003102d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567" y="2141219"/>
            <a:ext cx="362712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3279" y="2080260"/>
            <a:ext cx="12019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1" name="Picture 10" descr="127b4fbd30bb78c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8020" y="2141219"/>
            <a:ext cx="521207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069228" y="2080260"/>
            <a:ext cx="17102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related?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335" y="2766060"/>
            <a:ext cx="698683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Explain, and give the value of each when  </a:t>
            </a:r>
          </a:p>
        </p:txBody>
      </p:sp>
      <p:pic>
        <p:nvPicPr>
          <p:cNvPr id="14" name="Picture 13" descr="1c40b7a80b3cb06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44006" y="2857500"/>
            <a:ext cx="774192" cy="2743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18198" y="276606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pic>
        <p:nvPicPr>
          <p:cNvPr id="16" name="Picture 15" descr="4b887876abd3325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43157" y="3547872"/>
            <a:ext cx="1164336" cy="65836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07493" y="3648456"/>
            <a:ext cx="38769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the reciprocal of   </a:t>
            </a:r>
          </a:p>
        </p:txBody>
      </p:sp>
      <p:pic>
        <p:nvPicPr>
          <p:cNvPr id="18" name="Picture 17" descr="0273c9ade1e97bb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47312" y="3726180"/>
            <a:ext cx="329184" cy="30175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288293" y="4407408"/>
            <a:ext cx="13421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When </a:t>
            </a:r>
          </a:p>
        </p:txBody>
      </p:sp>
      <p:pic>
        <p:nvPicPr>
          <p:cNvPr id="20" name="Picture 19" descr="07b139cdbb0c92a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93312" y="4511040"/>
            <a:ext cx="704088" cy="24993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197400" y="4407408"/>
            <a:ext cx="606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  </a:t>
            </a:r>
          </a:p>
        </p:txBody>
      </p:sp>
      <p:pic>
        <p:nvPicPr>
          <p:cNvPr id="22" name="Picture 21" descr="5e737102846c642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66708" y="4485132"/>
            <a:ext cx="829056" cy="30175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495764" y="4407408"/>
            <a:ext cx="15240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24" name="Picture 23" descr="175de81595c1b41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82626" y="4334256"/>
            <a:ext cx="987552" cy="60350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77240" y="507492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x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is the reciprocal of x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. When x = 2: x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8 and x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1/8.</a:t>
            </a:r>
          </a:p>
        </p:txBody>
      </p:sp>
    </p:spTree>
  </p:cSld>
  <p:clrMapOvr>
    <a:masterClrMapping/>
  </p:clrMapOvr>
</p:sld>
</file>

<file path=ppt/slides/slide2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5044"/>
            <a:ext cx="58274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Rewrite using only positive exponents.  </a:t>
            </a:r>
          </a:p>
        </p:txBody>
      </p:sp>
      <p:pic>
        <p:nvPicPr>
          <p:cNvPr id="10" name="Picture 9" descr="d0b6a1cb6c5104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4756" y="1588008"/>
            <a:ext cx="524256" cy="2712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089403"/>
            <a:ext cx="58274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Rewrite using only positive exponents.  </a:t>
            </a:r>
          </a:p>
        </p:txBody>
      </p:sp>
      <p:pic>
        <p:nvPicPr>
          <p:cNvPr id="13" name="Picture 12" descr="43c032e9738a93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4756" y="2147315"/>
            <a:ext cx="597408" cy="3413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2772155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772155"/>
            <a:ext cx="58274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Rewrite using only positive exponents.  </a:t>
            </a:r>
          </a:p>
        </p:txBody>
      </p:sp>
      <p:pic>
        <p:nvPicPr>
          <p:cNvPr id="16" name="Picture 15" descr="06266648dc403e6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4756" y="2706623"/>
            <a:ext cx="448056" cy="58826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60120" y="3454907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454907"/>
            <a:ext cx="57118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Simplify. Use positive exponents only.  </a:t>
            </a:r>
          </a:p>
        </p:txBody>
      </p:sp>
      <p:pic>
        <p:nvPicPr>
          <p:cNvPr id="19" name="Picture 18" descr="374d67a93a7cbdf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29157" y="3546347"/>
            <a:ext cx="938784" cy="2743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60120" y="4049267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049267"/>
            <a:ext cx="57118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Simplify. Use positive exponents only.  </a:t>
            </a:r>
          </a:p>
        </p:txBody>
      </p:sp>
      <p:pic>
        <p:nvPicPr>
          <p:cNvPr id="22" name="Picture 21" descr="c40b3e76d5e8f93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29157" y="4111751"/>
            <a:ext cx="1033271" cy="33223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60120" y="4643628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643628"/>
            <a:ext cx="26841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 of </a:t>
            </a:r>
          </a:p>
        </p:txBody>
      </p:sp>
      <p:pic>
        <p:nvPicPr>
          <p:cNvPr id="25" name="Picture 24" descr="6d78c2be12150bf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01434" y="4788408"/>
            <a:ext cx="146304" cy="1676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247738" y="4643628"/>
            <a:ext cx="4421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 </a:t>
            </a:r>
          </a:p>
        </p:txBody>
      </p:sp>
      <p:pic>
        <p:nvPicPr>
          <p:cNvPr id="27" name="Picture 26" descr="6e9a5405552d7f9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52689" y="4701540"/>
            <a:ext cx="1588008" cy="341376"/>
          </a:xfrm>
          <a:prstGeom prst="rect">
            <a:avLst/>
          </a:prstGeom>
        </p:spPr>
      </p:pic>
    </p:spTree>
  </p:cSld>
  <p:clrMapOvr>
    <a:masterClrMapping/>
  </p:clrMapOvr>
</p:sld>
</file>

<file path=ppt/slides/slide2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Variables with negative exponents — 2NL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Multiply and divide powers: variable bases — 85P</a:t>
            </a:r>
          </a:p>
        </p:txBody>
      </p:sp>
    </p:spTree>
  </p:cSld>
  <p:clrMapOvr>
    <a:masterClrMapping/>
  </p:clrMapOvr>
</p:sld>
</file>

<file path=ppt/slides/slide2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3  ·  LESSON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Writing Large Numbers in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write a large number in scientific notation, read one back into standard form, and find how many times larger one number is than another.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55704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Rewrite with a positive exponent:  </a:t>
            </a:r>
          </a:p>
        </p:txBody>
      </p:sp>
      <p:pic>
        <p:nvPicPr>
          <p:cNvPr id="9" name="Picture 8" descr="46ce777176e304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7769" y="1534668"/>
            <a:ext cx="609600" cy="268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1" name="Picture 10" descr="0f586036346000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306" y="2113788"/>
            <a:ext cx="807720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3" name="Picture 12" descr="e90d31abd608137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699004"/>
            <a:ext cx="826008" cy="3901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3278124"/>
            <a:ext cx="59461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In 4,500,000, which place is the 4 in?</a:t>
            </a:r>
          </a:p>
        </p:txBody>
      </p:sp>
    </p:spTree>
  </p:cSld>
  <p:clrMapOvr>
    <a:masterClrMapping/>
  </p:clrMapOvr>
</p:sld>
</file>

<file path=ppt/slides/slide2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55704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Rewrite with a positive exponent:  </a:t>
            </a:r>
          </a:p>
        </p:txBody>
      </p:sp>
      <p:pic>
        <p:nvPicPr>
          <p:cNvPr id="9" name="Picture 8" descr="46ce777176e304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7769" y="1534668"/>
            <a:ext cx="609600" cy="268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66009" y="1440180"/>
            <a:ext cx="8612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4/x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2" name="Picture 11" descr="0f586036346000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306" y="2113788"/>
            <a:ext cx="807720" cy="3352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29666" y="2052828"/>
            <a:ext cx="25812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6</a:t>
            </a:r>
            <a:r>
              <a:rPr sz="2180" b="1" i="0">
                <a:solidFill>
                  <a:srgbClr val="9E1B32"/>
                </a:solidFill>
                <a:latin typeface="Lexend"/>
              </a:rPr>
              <a:t> = 1,000,000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5" name="Picture 14" descr="e90d31abd608137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699004"/>
            <a:ext cx="826008" cy="3901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042359" y="2665476"/>
            <a:ext cx="5403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278124"/>
            <a:ext cx="59461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In 4,500,000, which place is the 4 in?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2133" y="3278124"/>
            <a:ext cx="13806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millions</a:t>
            </a:r>
          </a:p>
        </p:txBody>
      </p:sp>
    </p:spTree>
  </p:cSld>
  <p:clrMapOvr>
    <a:masterClrMapping/>
  </p:clrMapOvr>
</p:sld>
</file>

<file path=ppt/slides/slide2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Powers of ten name the places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142999" y="1993392"/>
          <a:ext cx="987552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10,000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100,000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1,000,000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987552" y="3054096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The exponent counts the zeros — and names the place of the 1.</a:t>
            </a:r>
          </a:p>
        </p:txBody>
      </p:sp>
    </p:spTree>
  </p:cSld>
  <p:clrMapOvr>
    <a:masterClrMapping/>
  </p:clrMapOvr>
</p:sld>
</file>

<file path=ppt/slides/slide2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Scientific notation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c5d2b93ef624f7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3252" y="2054352"/>
            <a:ext cx="1133856" cy="289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17108" y="1970532"/>
            <a:ext cx="14529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with   </a:t>
            </a:r>
          </a:p>
        </p:txBody>
      </p:sp>
      <p:pic>
        <p:nvPicPr>
          <p:cNvPr id="12" name="Picture 11" descr="f3e5877ddc95e30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2931" y="2060448"/>
            <a:ext cx="1545336" cy="277368"/>
          </a:xfrm>
          <a:prstGeom prst="rect">
            <a:avLst/>
          </a:prstGeom>
        </p:spPr>
      </p:pic>
      <p:pic>
        <p:nvPicPr>
          <p:cNvPr id="13" name="Picture 12" descr="e18c35a42d2be4c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41384" y="2679192"/>
            <a:ext cx="3282696" cy="4114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324080" y="2656332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5" name="Picture 14" descr="fa83316ec23a8fb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8423" y="2683764"/>
            <a:ext cx="3791712" cy="40233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342900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The coefficient is at least 1 and less than 10: one nonzero digit before the decimal point.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" y="4636008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The exponent is how many places the decimal point moves: from 26,000,000. to 2.6 is seven places, so 10</a:t>
            </a:r>
            <a:r>
              <a:rPr sz="2180" b="0" i="0" baseline="30000">
                <a:solidFill>
                  <a:srgbClr val="1A1A1A"/>
                </a:solidFill>
                <a:latin typeface="Lexend"/>
              </a:rPr>
              <a:t>7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2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How many times larger?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2171bb0cafdb8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6432" y="1994916"/>
            <a:ext cx="2069591" cy="792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76024" y="2162556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4ecd045e0e8155a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0367" y="1993392"/>
            <a:ext cx="3474720" cy="795528"/>
          </a:xfrm>
          <a:prstGeom prst="rect">
            <a:avLst/>
          </a:prstGeom>
        </p:spPr>
      </p:pic>
      <p:pic>
        <p:nvPicPr>
          <p:cNvPr id="13" name="Picture 12" descr="d1693eaff94ed7e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34027" y="3063240"/>
            <a:ext cx="4093464" cy="7985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20014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Divide the coefficients. Divide the powers of 10. Multiply the two results.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493166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On a screen, 8.4E6 means 8.4 × 10</a:t>
            </a:r>
            <a:r>
              <a:rPr sz="2180" b="0" i="0" baseline="30000">
                <a:solidFill>
                  <a:srgbClr val="1A1A1A"/>
                </a:solidFill>
                <a:latin typeface="Lexend"/>
              </a:rPr>
              <a:t>6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2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In 2018, funding for education in Florida totaled 30,100,000,000 dollars.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0582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Express this value in scientific notation.</a:t>
            </a:r>
          </a:p>
        </p:txBody>
      </p:sp>
    </p:spTree>
  </p:cSld>
  <p:clrMapOvr>
    <a:masterClrMapping/>
  </p:clrMapOvr>
</p:sld>
</file>

<file path=ppt/slides/slide2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602c4ddc3236a1a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937760" cy="408432"/>
          </a:xfrm>
          <a:prstGeom prst="rect">
            <a:avLst/>
          </a:prstGeom>
        </p:spPr>
      </p:pic>
      <p:pic>
        <p:nvPicPr>
          <p:cNvPr id="9" name="Picture 8" descr="d1d3ba89cea32f1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2992"/>
            <a:ext cx="7050024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3.01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10</a:t>
            </a:r>
          </a:p>
        </p:txBody>
      </p:sp>
    </p:spTree>
  </p:cSld>
  <p:clrMapOvr>
    <a:masterClrMapping/>
  </p:clrMapOvr>
</p:sld>
</file>

<file path=ppt/slides/slide2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painting sold for 110,500,000 dollars.  Write this value in scientific notation.</a:t>
            </a:r>
          </a:p>
        </p:txBody>
      </p:sp>
    </p:spTree>
  </p:cSld>
  <p:clrMapOvr>
    <a:masterClrMapping/>
  </p:clrMapOvr>
</p:sld>
</file>

<file path=ppt/slides/slide2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painting sold for 110,500,000 dollars.  Write this value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73649" y="2618960"/>
            <a:ext cx="63513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Move the point 8 places left:  1.105</a:t>
            </a:r>
          </a:p>
        </p:txBody>
      </p:sp>
      <p:pic>
        <p:nvPicPr>
          <p:cNvPr id="10" name="Picture 9" descr="036eb30c5b345b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8513" y="3204176"/>
            <a:ext cx="3971544" cy="365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1.105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8</a:t>
            </a:r>
          </a:p>
        </p:txBody>
      </p:sp>
    </p:spTree>
  </p:cSld>
  <p:clrMapOvr>
    <a:masterClrMapping/>
  </p:clrMapOvr>
</p:sld>
</file>

<file path=ppt/slides/slide2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9206" y="2080260"/>
            <a:ext cx="44882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9" name="Picture 8" descr="e6569deac08d6c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0345" y="2139696"/>
            <a:ext cx="1386840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77185" y="2080260"/>
            <a:ext cx="1316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1" name="Picture 10" descr="416dd2cfada87c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6627" y="2139696"/>
            <a:ext cx="1429512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086139" y="208026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</p:spTree>
  </p:cSld>
  <p:clrMapOvr>
    <a:masterClrMapping/>
  </p:clrMapOvr>
</p:sld>
</file>

<file path=ppt/slides/slide2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9fc71f71d11df77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438656" cy="673608"/>
          </a:xfrm>
          <a:prstGeom prst="rect">
            <a:avLst/>
          </a:prstGeom>
        </p:spPr>
      </p:pic>
      <p:pic>
        <p:nvPicPr>
          <p:cNvPr id="9" name="Picture 8" descr="8ba743c58900114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8168"/>
            <a:ext cx="2359152" cy="795528"/>
          </a:xfrm>
          <a:prstGeom prst="rect">
            <a:avLst/>
          </a:prstGeom>
        </p:spPr>
      </p:pic>
      <p:pic>
        <p:nvPicPr>
          <p:cNvPr id="10" name="Picture 9" descr="9c7006607715b98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938016"/>
            <a:ext cx="1975104" cy="277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7258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15 times larger</a:t>
            </a:r>
          </a:p>
        </p:txBody>
      </p:sp>
    </p:spTree>
  </p:cSld>
  <p:clrMapOvr>
    <a:masterClrMapping/>
  </p:clrMapOvr>
</p:sld>
</file>

<file path=ppt/slides/slide2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4324" y="1581912"/>
            <a:ext cx="38652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Everglades alligators:  </a:t>
            </a:r>
          </a:p>
        </p:txBody>
      </p:sp>
      <p:pic>
        <p:nvPicPr>
          <p:cNvPr id="9" name="Picture 8" descr="3084bf1d1a28c69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2403" y="1600200"/>
            <a:ext cx="1764792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83926" y="2325624"/>
            <a:ext cx="32178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Florida alligators:  </a:t>
            </a:r>
          </a:p>
        </p:txBody>
      </p:sp>
      <p:pic>
        <p:nvPicPr>
          <p:cNvPr id="11" name="Picture 10" descr="8f2aa491890c8b0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4617" y="2340864"/>
            <a:ext cx="1712976" cy="4267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308762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About how many times larger is the Florida number?</a:t>
            </a:r>
          </a:p>
        </p:txBody>
      </p:sp>
    </p:spTree>
  </p:cSld>
  <p:clrMapOvr>
    <a:masterClrMapping/>
  </p:clrMapOvr>
</p:sld>
</file>

<file path=ppt/slides/slide2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2800" y="1581912"/>
            <a:ext cx="38652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Everglades alligators:  </a:t>
            </a:r>
          </a:p>
        </p:txBody>
      </p:sp>
      <p:pic>
        <p:nvPicPr>
          <p:cNvPr id="9" name="Picture 8" descr="cdc1cc7791403f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0879" y="1600200"/>
            <a:ext cx="1767840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85450" y="2325624"/>
            <a:ext cx="32178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Florida alligators:  </a:t>
            </a:r>
          </a:p>
        </p:txBody>
      </p:sp>
      <p:pic>
        <p:nvPicPr>
          <p:cNvPr id="11" name="Picture 10" descr="97a43bfe3668a38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141" y="2340864"/>
            <a:ext cx="1709928" cy="4267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308762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About how many times larger is the Florida number?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8343" y="3677014"/>
            <a:ext cx="34152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numbers:  </a:t>
            </a:r>
          </a:p>
        </p:txBody>
      </p:sp>
      <p:pic>
        <p:nvPicPr>
          <p:cNvPr id="14" name="Picture 13" descr="065d4ec2ea76adf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6464" y="3798934"/>
            <a:ext cx="1892807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498343" y="4179934"/>
            <a:ext cx="31834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powers:  </a:t>
            </a:r>
          </a:p>
        </p:txBody>
      </p:sp>
      <p:pic>
        <p:nvPicPr>
          <p:cNvPr id="16" name="Picture 15" descr="88fcdaa08f344db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4615" y="4277470"/>
            <a:ext cx="1871472" cy="262128"/>
          </a:xfrm>
          <a:prstGeom prst="rect">
            <a:avLst/>
          </a:prstGeom>
        </p:spPr>
      </p:pic>
      <p:pic>
        <p:nvPicPr>
          <p:cNvPr id="17" name="Picture 16" descr="6133d72459d9528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53207" y="4780390"/>
            <a:ext cx="1911095" cy="2621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525435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about 7.5 times larger</a:t>
            </a:r>
          </a:p>
        </p:txBody>
      </p:sp>
    </p:spTree>
  </p:cSld>
  <p:clrMapOvr>
    <a:masterClrMapping/>
  </p:clrMapOvr>
</p:sld>
</file>

<file path=ppt/slides/slide2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 4,000,000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 4,000,000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60795" y="2728291"/>
            <a:ext cx="552649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The 4 is in the millions place:  </a:t>
            </a:r>
          </a:p>
        </p:txBody>
      </p:sp>
      <p:pic>
        <p:nvPicPr>
          <p:cNvPr id="10" name="Picture 9" descr="2fbe08c1a41f36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0132" y="2772487"/>
            <a:ext cx="2450592" cy="368808"/>
          </a:xfrm>
          <a:prstGeom prst="rect">
            <a:avLst/>
          </a:prstGeom>
        </p:spPr>
      </p:pic>
      <p:pic>
        <p:nvPicPr>
          <p:cNvPr id="11" name="Picture 10" descr="05b1e2b22daef4a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5659" y="3311983"/>
            <a:ext cx="3032760" cy="3688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2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3365" y="2171700"/>
            <a:ext cx="12739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Write  </a:t>
            </a:r>
          </a:p>
        </p:txBody>
      </p:sp>
      <p:pic>
        <p:nvPicPr>
          <p:cNvPr id="9" name="Picture 8" descr="23296af58026d09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0193" y="2232660"/>
            <a:ext cx="1405128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35321" y="2171700"/>
            <a:ext cx="3169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in standard form.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3365" y="2080260"/>
            <a:ext cx="12739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Write  </a:t>
            </a:r>
          </a:p>
        </p:txBody>
      </p:sp>
      <p:pic>
        <p:nvPicPr>
          <p:cNvPr id="9" name="Picture 8" descr="e49d7c02aeaf030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0193" y="2139696"/>
            <a:ext cx="1405128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35321" y="2080260"/>
            <a:ext cx="3169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in standard form.</a:t>
            </a:r>
          </a:p>
        </p:txBody>
      </p:sp>
      <p:pic>
        <p:nvPicPr>
          <p:cNvPr id="11" name="Picture 10" descr="f2fdf0be925309c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5799" y="2884932"/>
            <a:ext cx="1950720" cy="365760"/>
          </a:xfrm>
          <a:prstGeom prst="rect">
            <a:avLst/>
          </a:prstGeom>
        </p:spPr>
      </p:pic>
      <p:pic>
        <p:nvPicPr>
          <p:cNvPr id="12" name="Picture 11" descr="134110467fe4e6f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5799" y="3450335"/>
            <a:ext cx="3279648" cy="3139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72,000</a:t>
            </a:r>
          </a:p>
        </p:txBody>
      </p:sp>
    </p:spTree>
  </p:cSld>
  <p:clrMapOvr>
    <a:masterClrMapping/>
  </p:clrMapOvr>
</p:sld>
</file>

<file path=ppt/slides/slide2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stadium's renovation used  356,000  bolts.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stadium seats 71,000 people.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Write the number of bolts in scientific notation.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stadium's renovation used  356,000  bolts.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stadium seats 71,000 people.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Write the number of bolts in scientific notation.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72288" y="3587827"/>
            <a:ext cx="61541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Move the point 5 places left:  3.56</a:t>
            </a:r>
          </a:p>
        </p:txBody>
      </p:sp>
      <p:pic>
        <p:nvPicPr>
          <p:cNvPr id="12" name="Picture 11" descr="ab46d03e7278ad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7152" y="4173043"/>
            <a:ext cx="3112008" cy="3657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9882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3.56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2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57065" y="2171700"/>
            <a:ext cx="30997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Which is greater,  </a:t>
            </a:r>
          </a:p>
        </p:txBody>
      </p:sp>
      <p:pic>
        <p:nvPicPr>
          <p:cNvPr id="9" name="Picture 8" descr="43cb3ae958f537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9659" y="2232660"/>
            <a:ext cx="1405128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24787" y="2171700"/>
            <a:ext cx="9212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or  </a:t>
            </a:r>
          </a:p>
        </p:txBody>
      </p:sp>
      <p:pic>
        <p:nvPicPr>
          <p:cNvPr id="11" name="Picture 10" descr="92daabb7e870f7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8872" y="2231136"/>
            <a:ext cx="1359408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68280" y="217170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57065" y="2080260"/>
            <a:ext cx="30997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Which is greater,  </a:t>
            </a:r>
          </a:p>
        </p:txBody>
      </p:sp>
      <p:pic>
        <p:nvPicPr>
          <p:cNvPr id="9" name="Picture 8" descr="1feacfcb0f3ecc7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9659" y="2141219"/>
            <a:ext cx="1405128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24787" y="2080260"/>
            <a:ext cx="9212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or  </a:t>
            </a:r>
          </a:p>
        </p:txBody>
      </p:sp>
      <p:pic>
        <p:nvPicPr>
          <p:cNvPr id="11" name="Picture 10" descr="73bd38815e7d3f7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8872" y="2138171"/>
            <a:ext cx="1359408" cy="3413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68280" y="208026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pic>
        <p:nvPicPr>
          <p:cNvPr id="13" name="Picture 12" descr="172e9537a453d6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6091" y="2884932"/>
            <a:ext cx="2944368" cy="365760"/>
          </a:xfrm>
          <a:prstGeom prst="rect">
            <a:avLst/>
          </a:prstGeom>
        </p:spPr>
      </p:pic>
      <p:pic>
        <p:nvPicPr>
          <p:cNvPr id="14" name="Picture 13" descr="5bf6050deecf9ad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46091" y="3422904"/>
            <a:ext cx="3179064" cy="36880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2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 52,000,000  written in scientific notation?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5.2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5.2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52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5.2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525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 52,000,000  written in scientific notation?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6872" y="2728291"/>
            <a:ext cx="59449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Move the point 7 places left:  5.2</a:t>
            </a:r>
          </a:p>
        </p:txBody>
      </p:sp>
      <p:pic>
        <p:nvPicPr>
          <p:cNvPr id="10" name="Picture 9" descr="faf48c280b171a9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1736" y="3313507"/>
            <a:ext cx="3453384" cy="365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5.2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7</a:t>
            </a:r>
          </a:p>
        </p:txBody>
      </p:sp>
    </p:spTree>
  </p:cSld>
  <p:clrMapOvr>
    <a:masterClrMapping/>
  </p:clrMapOvr>
</p:sld>
</file>

<file path=ppt/slides/slide3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0102" y="2171700"/>
            <a:ext cx="44882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9" name="Picture 8" descr="f3f7fb3f9c4eb88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1241" y="2231136"/>
            <a:ext cx="1100328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01569" y="2171700"/>
            <a:ext cx="1316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1" name="Picture 10" descr="24010bd5a04baa2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1011" y="2232660"/>
            <a:ext cx="1094232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75243" y="217170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9718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1.6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9718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6576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36576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66344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45530" y="2080260"/>
            <a:ext cx="44882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9" name="Picture 8" descr="f55ab610390199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6669" y="2139696"/>
            <a:ext cx="1106424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03093" y="2080260"/>
            <a:ext cx="1316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1" name="Picture 10" descr="48b21e1c13d68e6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2535" y="2141219"/>
            <a:ext cx="1097280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79815" y="208026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pic>
        <p:nvPicPr>
          <p:cNvPr id="13" name="Picture 12" descr="eb9f83f40dace9f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4091" y="2941320"/>
            <a:ext cx="1197864" cy="252984"/>
          </a:xfrm>
          <a:prstGeom prst="rect">
            <a:avLst/>
          </a:prstGeom>
        </p:spPr>
      </p:pic>
      <p:pic>
        <p:nvPicPr>
          <p:cNvPr id="14" name="Picture 13" descr="b4e216bfcb8fd2e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84091" y="3424427"/>
            <a:ext cx="4700016" cy="3657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1,000</a:t>
            </a:r>
          </a:p>
        </p:txBody>
      </p:sp>
    </p:spTree>
  </p:cSld>
  <p:clrMapOvr>
    <a:masterClrMapping/>
  </p:clrMapOvr>
</p:sld>
</file>

<file path=ppt/slides/slide3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6158" y="2171700"/>
            <a:ext cx="44882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9" name="Picture 8" descr="a21c12e381007ad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7297" y="2231136"/>
            <a:ext cx="1432560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19857" y="2171700"/>
            <a:ext cx="1316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1" name="Picture 10" descr="aaaf2b9082714bc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9299" y="2232660"/>
            <a:ext cx="1389888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089187" y="217170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3110" y="2080260"/>
            <a:ext cx="44882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9" name="Picture 8" descr="6927284ac777f2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4249" y="2138171"/>
            <a:ext cx="1432560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16809" y="2080260"/>
            <a:ext cx="1316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1" name="Picture 10" descr="0e66f4ec969ea39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6251" y="2139696"/>
            <a:ext cx="1395984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092235" y="208026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220" y="2839212"/>
            <a:ext cx="34152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numbers:  </a:t>
            </a:r>
          </a:p>
        </p:txBody>
      </p:sp>
      <p:pic>
        <p:nvPicPr>
          <p:cNvPr id="14" name="Picture 13" descr="024eebcb36c872b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340" y="2961132"/>
            <a:ext cx="1520952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611220" y="3342132"/>
            <a:ext cx="31834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powers:  </a:t>
            </a:r>
          </a:p>
        </p:txBody>
      </p:sp>
      <p:pic>
        <p:nvPicPr>
          <p:cNvPr id="16" name="Picture 15" descr="b4e1be01d60942d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7491" y="3439667"/>
            <a:ext cx="1895856" cy="262128"/>
          </a:xfrm>
          <a:prstGeom prst="rect">
            <a:avLst/>
          </a:prstGeom>
        </p:spPr>
      </p:pic>
      <p:pic>
        <p:nvPicPr>
          <p:cNvPr id="17" name="Picture 16" descr="41bbac836a9b253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66084" y="3942588"/>
            <a:ext cx="1685544" cy="2621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400</a:t>
            </a:r>
          </a:p>
        </p:txBody>
      </p:sp>
    </p:spTree>
  </p:cSld>
  <p:clrMapOvr>
    <a:masterClrMapping/>
  </p:clrMapOvr>
</p:sld>
</file>

<file path=ppt/slides/slide3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A computer displays a number as  3.5E9.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694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the number in standard form.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A computer displays a number as  3.5E9.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779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the number in standard form.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99560" y="3303170"/>
            <a:ext cx="26373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3.5E9 means  </a:t>
            </a:r>
          </a:p>
        </p:txBody>
      </p:sp>
      <p:pic>
        <p:nvPicPr>
          <p:cNvPr id="11" name="Picture 10" descr="b45fb8c7dbcd17f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9755" y="3376322"/>
            <a:ext cx="1274064" cy="310896"/>
          </a:xfrm>
          <a:prstGeom prst="rect">
            <a:avLst/>
          </a:prstGeom>
        </p:spPr>
      </p:pic>
      <p:pic>
        <p:nvPicPr>
          <p:cNvPr id="12" name="Picture 11" descr="5ff869fd9c2b81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4423" y="3885338"/>
            <a:ext cx="3965448" cy="3718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3,500,000,000</a:t>
            </a:r>
          </a:p>
        </p:txBody>
      </p:sp>
    </p:spTree>
  </p:cSld>
  <p:clrMapOvr>
    <a:masterClrMapping/>
  </p:clrMapOvr>
</p:sld>
</file>

<file path=ppt/slides/slide3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44476" y="2171700"/>
            <a:ext cx="49379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Marcus writes  2,000,000  as  </a:t>
            </a:r>
          </a:p>
        </p:txBody>
      </p:sp>
      <p:pic>
        <p:nvPicPr>
          <p:cNvPr id="9" name="Picture 8" descr="1e6b101793739f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5225" y="2232660"/>
            <a:ext cx="1322832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068057" y="217170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03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Is his expression equal to 2,000,000? Is it scientific notation? Explain.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42952" y="2080260"/>
            <a:ext cx="49379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Marcus writes  2,000,000  as  </a:t>
            </a:r>
          </a:p>
        </p:txBody>
      </p:sp>
      <p:pic>
        <p:nvPicPr>
          <p:cNvPr id="9" name="Picture 8" descr="24bd3819b8f5cef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3701" y="2141219"/>
            <a:ext cx="1325880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069581" y="208026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889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Is his expression equal to 2,000,000? Is it scientific notation? Explain.</a:t>
            </a:r>
          </a:p>
        </p:txBody>
      </p:sp>
      <p:pic>
        <p:nvPicPr>
          <p:cNvPr id="12" name="Picture 11" descr="304621095a2a006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2864" y="3433572"/>
            <a:ext cx="2697480" cy="31089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40344" y="3360420"/>
            <a:ext cx="25266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 so it is equal.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8000" y="3863339"/>
            <a:ext cx="95226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first number must be at least 1 and less than 10. 20 is not.</a:t>
            </a:r>
          </a:p>
        </p:txBody>
      </p:sp>
      <p:pic>
        <p:nvPicPr>
          <p:cNvPr id="15" name="Picture 14" descr="5e939c5ec66d914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2864" y="4436364"/>
            <a:ext cx="2514600" cy="31699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93776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Equal, yes. Scientific notation, no: 20 is not less than 10. 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3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5044"/>
            <a:ext cx="56669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 8,200,000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089403"/>
            <a:ext cx="1151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 </a:t>
            </a:r>
          </a:p>
        </p:txBody>
      </p:sp>
      <p:pic>
        <p:nvPicPr>
          <p:cNvPr id="12" name="Picture 11" descr="3e7ab53ed67d416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8615" y="2182367"/>
            <a:ext cx="1158240" cy="2712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726855" y="2089403"/>
            <a:ext cx="28284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in standard form.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683763"/>
            <a:ext cx="59901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 915,000,000  in scientific notation.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27812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278123"/>
            <a:ext cx="27663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Which is greater,  </a:t>
            </a:r>
          </a:p>
        </p:txBody>
      </p:sp>
      <p:pic>
        <p:nvPicPr>
          <p:cNvPr id="18" name="Picture 17" descr="f3e3f368d404e0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3713" y="3371087"/>
            <a:ext cx="1155192" cy="27127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338905" y="3278123"/>
            <a:ext cx="8392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or  </a:t>
            </a:r>
          </a:p>
        </p:txBody>
      </p:sp>
      <p:pic>
        <p:nvPicPr>
          <p:cNvPr id="20" name="Picture 19" descr="bee7f03ef7d076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41011" y="3369563"/>
            <a:ext cx="1133856" cy="2743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174867" y="3278123"/>
            <a:ext cx="443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38724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3872483"/>
            <a:ext cx="39948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24" name="Picture 23" descr="17885e04efb3044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2147" y="3965447"/>
            <a:ext cx="893064" cy="27127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305211" y="3872483"/>
            <a:ext cx="11889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26" name="Picture 25" descr="5fbd47d0e64f50d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57013" y="3965447"/>
            <a:ext cx="902208" cy="27127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259221" y="3872483"/>
            <a:ext cx="443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4466844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4466844"/>
            <a:ext cx="96679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A computer displays a number as  2.6E7.  Write it in standard form.</a:t>
            </a:r>
          </a:p>
        </p:txBody>
      </p:sp>
    </p:spTree>
  </p:cSld>
  <p:clrMapOvr>
    <a:masterClrMapping/>
  </p:clrMapOvr>
</p:sld>
</file>

<file path=ppt/slides/slide3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Convert between standard and scientific notation: large numbers — 2AL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Compare large numbers — WEZ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Powers of ten — LJQ</a:t>
            </a:r>
          </a:p>
        </p:txBody>
      </p:sp>
    </p:spTree>
  </p:cSld>
  <p:clrMapOvr>
    <a:masterClrMapping/>
  </p:clrMapOvr>
</p:sld>
</file>

<file path=ppt/slides/slide3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3  ·  LESSON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Writing Small Numbers in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write very small numbers in scientific notation, read them back, and find how many times larger or smaller one number is than another.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3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1347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Write  4,300,000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16266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Write  </a:t>
            </a:r>
          </a:p>
        </p:txBody>
      </p:sp>
      <p:pic>
        <p:nvPicPr>
          <p:cNvPr id="10" name="Picture 9" descr="b44355ff61a161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4042" y="2145792"/>
            <a:ext cx="560832" cy="2712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924874" y="2052828"/>
            <a:ext cx="22419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as a fraction.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665476"/>
            <a:ext cx="6801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</a:t>
            </a:r>
          </a:p>
        </p:txBody>
      </p:sp>
      <p:pic>
        <p:nvPicPr>
          <p:cNvPr id="13" name="Picture 12" descr="703b0b7ef618e49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7464" y="2699004"/>
            <a:ext cx="691896" cy="3901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109360" y="2665476"/>
            <a:ext cx="58056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is between which two whole numbers?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278124"/>
            <a:ext cx="44415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Write  0.007  as a fraction.</a:t>
            </a:r>
          </a:p>
        </p:txBody>
      </p:sp>
    </p:spTree>
  </p:cSld>
  <p:clrMapOvr>
    <a:masterClrMapping/>
  </p:clrMapOvr>
</p:sld>
</file>

<file path=ppt/slides/slide3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1347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Write  4,300,000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20719" y="1440180"/>
            <a:ext cx="14736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4.3 × 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052828"/>
            <a:ext cx="16266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Write  </a:t>
            </a:r>
          </a:p>
        </p:txBody>
      </p:sp>
      <p:pic>
        <p:nvPicPr>
          <p:cNvPr id="11" name="Picture 10" descr="b44355ff61a161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4042" y="2145792"/>
            <a:ext cx="560832" cy="2712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24874" y="2052828"/>
            <a:ext cx="22419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as a fraction.</a:t>
            </a:r>
          </a:p>
        </p:txBody>
      </p:sp>
      <p:pic>
        <p:nvPicPr>
          <p:cNvPr id="13" name="Picture 12" descr="2b698db5dc091f8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8303" y="2075688"/>
            <a:ext cx="816864" cy="60045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2665476"/>
            <a:ext cx="6801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</a:t>
            </a:r>
          </a:p>
        </p:txBody>
      </p:sp>
      <p:pic>
        <p:nvPicPr>
          <p:cNvPr id="15" name="Picture 14" descr="703b0b7ef618e49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17464" y="2699004"/>
            <a:ext cx="691896" cy="3901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109360" y="2665476"/>
            <a:ext cx="58056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is between which two whole numbers?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495" y="2665476"/>
            <a:ext cx="15047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 and 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278124"/>
            <a:ext cx="44415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Write  0.007  as a fraction.</a:t>
            </a:r>
          </a:p>
        </p:txBody>
      </p:sp>
      <p:pic>
        <p:nvPicPr>
          <p:cNvPr id="19" name="Picture 18" descr="24e3778fee0149c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7589" y="3300984"/>
            <a:ext cx="816864" cy="597408"/>
          </a:xfrm>
          <a:prstGeom prst="rect">
            <a:avLst/>
          </a:prstGeom>
        </p:spPr>
      </p:pic>
    </p:spTree>
  </p:cSld>
  <p:clrMapOvr>
    <a:masterClrMapping/>
  </p:clrMapOvr>
</p:sld>
</file>

<file path=ppt/slides/slide3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Negative powers of ten name the decimal places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142999" y="1993392"/>
          <a:ext cx="987552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-1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-2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-3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-4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-5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0.1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0.01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0.001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0.0001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0.00001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1" name="Picture 10" descr="654e90524fa101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6744" y="3017520"/>
            <a:ext cx="1685544" cy="685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702288" y="3131820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3" name="Picture 12" descr="4ca5845658b16cd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6631" y="2990088"/>
            <a:ext cx="3438144" cy="7406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06908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 negative exponent puts the 1 in that decimal place: 10</a:t>
            </a:r>
            <a:r>
              <a:rPr sz="2180" b="1" i="0" baseline="30000">
                <a:solidFill>
                  <a:srgbClr val="1A1A1A"/>
                </a:solidFill>
                <a:latin typeface="Lexend"/>
              </a:rPr>
              <a:t>-4</a:t>
            </a:r>
            <a:r>
              <a:rPr sz="2180" b="1" i="0">
                <a:solidFill>
                  <a:srgbClr val="1A1A1A"/>
                </a:solidFill>
                <a:latin typeface="Lexend"/>
              </a:rPr>
              <a:t> is a 1 in the fourth place.</a:t>
            </a:r>
          </a:p>
        </p:txBody>
      </p:sp>
    </p:spTree>
  </p:cSld>
  <p:clrMapOvr>
    <a:masterClrMapping/>
  </p:clrMapOvr>
</p:sld>
</file>

<file path=ppt/slides/slide3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Small numbers in scientific notation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37cf70d1664c7cc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1844" y="2028444"/>
            <a:ext cx="3316224" cy="3413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28068" y="1970532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fa88e78fd38d3b8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2411" y="2031492"/>
            <a:ext cx="4017264" cy="335280"/>
          </a:xfrm>
          <a:prstGeom prst="rect">
            <a:avLst/>
          </a:prstGeom>
        </p:spPr>
      </p:pic>
      <p:pic>
        <p:nvPicPr>
          <p:cNvPr id="13" name="Picture 12" descr="fa690032944f268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5615" y="2714244"/>
            <a:ext cx="4590288" cy="3413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342900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The coefficient is still at least 1 and less than 10. The exponent is negative for a number less than 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4636008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The exponent is how many places the point moves: from 0.0000672 to 6.72 is five places right, so 10</a:t>
            </a:r>
            <a:r>
              <a:rPr sz="2180" b="0" i="0" baseline="30000">
                <a:solidFill>
                  <a:srgbClr val="1A1A1A"/>
                </a:solidFill>
                <a:latin typeface="Lexend"/>
              </a:rPr>
              <a:t>-5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3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How many times larger — or smaller?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96cc52bce800e0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3200" y="1993392"/>
            <a:ext cx="4556760" cy="7955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49960" y="2162556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f3a5416871ca108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4303" y="1993392"/>
            <a:ext cx="2414016" cy="7955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3127248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Divide the coefficients. Divide the powers of 10 — subtract the exponents. Multiply the results.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334256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Which is bigger, 10</a:t>
            </a:r>
            <a:r>
              <a:rPr sz="2180" b="0" i="0" baseline="30000">
                <a:solidFill>
                  <a:srgbClr val="1A1A1A"/>
                </a:solidFill>
                <a:latin typeface="Lexend"/>
              </a:rPr>
              <a:t>-5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 or 10</a:t>
            </a:r>
            <a:r>
              <a:rPr sz="2180" b="0" i="0" baseline="30000">
                <a:solidFill>
                  <a:srgbClr val="1A1A1A"/>
                </a:solidFill>
                <a:latin typeface="Lexend"/>
              </a:rPr>
              <a:t>-8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? The one with the larger exponent: −5 &gt; −8, so 10</a:t>
            </a:r>
            <a:r>
              <a:rPr sz="2180" b="0" i="0" baseline="30000">
                <a:solidFill>
                  <a:srgbClr val="1A1A1A"/>
                </a:solidFill>
                <a:latin typeface="Lexend"/>
              </a:rPr>
              <a:t>-5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3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The density of oxygen is 1,332 millionths of a gram per cubic centimeter.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0582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Write this value as a decimal, then in scientific notation.</a:t>
            </a:r>
          </a:p>
        </p:txBody>
      </p:sp>
    </p:spTree>
  </p:cSld>
  <p:clrMapOvr>
    <a:masterClrMapping/>
  </p:clrMapOvr>
</p:sld>
</file>

<file path=ppt/slides/slide3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c6b0aa89dc2547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806952" cy="810768"/>
          </a:xfrm>
          <a:prstGeom prst="rect">
            <a:avLst/>
          </a:prstGeom>
        </p:spPr>
      </p:pic>
      <p:pic>
        <p:nvPicPr>
          <p:cNvPr id="9" name="Picture 8" descr="b11101a855a1dd5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005328"/>
            <a:ext cx="3898392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0.001332 = 1.332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-3</a:t>
            </a:r>
          </a:p>
        </p:txBody>
      </p:sp>
    </p:spTree>
  </p:cSld>
  <p:clrMapOvr>
    <a:masterClrMapping/>
  </p:clrMapOvr>
</p:sld>
</file>

<file path=ppt/slides/slide3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human hair is about 67 hundred-thousandths of an inch thick.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Write this value in scientific notation.</a:t>
            </a:r>
          </a:p>
        </p:txBody>
      </p:sp>
    </p:spTree>
  </p:cSld>
  <p:clrMapOvr>
    <a:masterClrMapping/>
  </p:clrMapOvr>
</p:sld>
</file>

<file path=ppt/slides/slide3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human hair is about 67 hundred-thousandths of an inch thick.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Write this value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30777" y="2728688"/>
            <a:ext cx="54371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67 hundred-thousandths = 0.00067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30777" y="3231608"/>
            <a:ext cx="52939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Move the point 4 places right:  6.7</a:t>
            </a:r>
          </a:p>
        </p:txBody>
      </p:sp>
      <p:pic>
        <p:nvPicPr>
          <p:cNvPr id="12" name="Picture 11" descr="6b2179ecfff78d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5641" y="3835112"/>
            <a:ext cx="2599944" cy="2560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6.7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-4</a:t>
            </a:r>
          </a:p>
        </p:txBody>
      </p:sp>
    </p:spTree>
  </p:cSld>
  <p:clrMapOvr>
    <a:masterClrMapping/>
  </p:clrMapOvr>
</p:sld>
</file>

<file path=ppt/slides/slide3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5094" y="2080260"/>
            <a:ext cx="44882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9" name="Picture 8" descr="b4e84117b325ad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6233" y="2141219"/>
            <a:ext cx="1560576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16809" y="2080260"/>
            <a:ext cx="1316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1" name="Picture 10" descr="23867d22f72f689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6251" y="2139696"/>
            <a:ext cx="1524000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220251" y="208026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</p:spTree>
  </p:cSld>
  <p:clrMapOvr>
    <a:masterClrMapping/>
  </p:clrMapOvr>
</p:sld>
</file>

<file path=ppt/slides/slide3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8663d5441fef8d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146048" cy="676656"/>
          </a:xfrm>
          <a:prstGeom prst="rect">
            <a:avLst/>
          </a:prstGeom>
        </p:spPr>
      </p:pic>
      <p:pic>
        <p:nvPicPr>
          <p:cNvPr id="9" name="Picture 8" descr="101a9ffba773bd4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71215"/>
            <a:ext cx="3624072" cy="795528"/>
          </a:xfrm>
          <a:prstGeom prst="rect">
            <a:avLst/>
          </a:prstGeom>
        </p:spPr>
      </p:pic>
      <p:pic>
        <p:nvPicPr>
          <p:cNvPr id="10" name="Picture 9" descr="8b5cad9d159043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941063"/>
            <a:ext cx="2532888" cy="4053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80364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4,000 times larger</a:t>
            </a:r>
          </a:p>
        </p:txBody>
      </p:sp>
    </p:spTree>
  </p:cSld>
  <p:clrMapOvr>
    <a:masterClrMapping/>
  </p:clrMapOvr>
</p:sld>
</file>

<file path=ppt/slides/slide3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4282" y="1583436"/>
            <a:ext cx="44882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9" name="Picture 8" descr="9c7a204f2876535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5421" y="1601724"/>
            <a:ext cx="1941576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96997" y="1583436"/>
            <a:ext cx="1316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1" name="Picture 10" descr="873100442e093f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6439" y="1600200"/>
            <a:ext cx="1944623" cy="4236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621063" y="1583436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</p:spTree>
  </p:cSld>
  <p:clrMapOvr>
    <a:masterClrMapping/>
  </p:clrMapOvr>
</p:sld>
</file>

<file path=ppt/slides/slide3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1234" y="1583436"/>
            <a:ext cx="44882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9" name="Picture 8" descr="edd08f0868705af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2373" y="1601724"/>
            <a:ext cx="1944623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96997" y="1583436"/>
            <a:ext cx="1316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1" name="Picture 10" descr="c12161b97b98d81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6439" y="1600200"/>
            <a:ext cx="1947672" cy="4236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624111" y="1583436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3688" y="2394204"/>
            <a:ext cx="34152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numbers:  </a:t>
            </a:r>
          </a:p>
        </p:txBody>
      </p:sp>
      <p:pic>
        <p:nvPicPr>
          <p:cNvPr id="14" name="Picture 13" descr="ff9a26e5845eab5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61808" y="2516124"/>
            <a:ext cx="1496568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783688" y="2897124"/>
            <a:ext cx="31834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powers:  </a:t>
            </a:r>
          </a:p>
        </p:txBody>
      </p:sp>
      <p:pic>
        <p:nvPicPr>
          <p:cNvPr id="16" name="Picture 15" descr="e0fb676db25f9e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9959" y="2996184"/>
            <a:ext cx="3550920" cy="259080"/>
          </a:xfrm>
          <a:prstGeom prst="rect">
            <a:avLst/>
          </a:prstGeom>
        </p:spPr>
      </p:pic>
      <p:pic>
        <p:nvPicPr>
          <p:cNvPr id="17" name="Picture 16" descr="2847951d0162e9c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38552" y="3473196"/>
            <a:ext cx="2258568" cy="31089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200,000 times larger</a:t>
            </a:r>
          </a:p>
        </p:txBody>
      </p:sp>
    </p:spTree>
  </p:cSld>
  <p:clrMapOvr>
    <a:masterClrMapping/>
  </p:clrMapOvr>
</p:sld>
</file>

<file path=ppt/slides/slide3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1c75e9d33d93ce5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5752" y="2194560"/>
            <a:ext cx="890016" cy="420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641b1ae2e3e695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5" y="2103120"/>
            <a:ext cx="886968" cy="420624"/>
          </a:xfrm>
          <a:prstGeom prst="rect">
            <a:avLst/>
          </a:prstGeom>
        </p:spPr>
      </p:pic>
      <p:pic>
        <p:nvPicPr>
          <p:cNvPr id="9" name="Picture 8" descr="72478af1c7b01c2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2295" y="2825496"/>
            <a:ext cx="4486656" cy="670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0.0001</a:t>
            </a:r>
          </a:p>
        </p:txBody>
      </p:sp>
    </p:spTree>
  </p:cSld>
  <p:clrMapOvr>
    <a:masterClrMapping/>
  </p:clrMapOvr>
</p:sld>
</file>

<file path=ppt/slides/slide3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 0.003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 0.003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42785" y="2728291"/>
            <a:ext cx="63568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The 3 is in the thousandths place:  </a:t>
            </a:r>
          </a:p>
        </p:txBody>
      </p:sp>
      <p:pic>
        <p:nvPicPr>
          <p:cNvPr id="10" name="Picture 9" descr="830231c5d5c0db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2502" y="2804491"/>
            <a:ext cx="1859280" cy="304800"/>
          </a:xfrm>
          <a:prstGeom prst="rect">
            <a:avLst/>
          </a:prstGeom>
        </p:spPr>
      </p:pic>
      <p:pic>
        <p:nvPicPr>
          <p:cNvPr id="11" name="Picture 10" descr="33c20a97ceac52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7649" y="3343987"/>
            <a:ext cx="2365248" cy="304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-3</a:t>
            </a:r>
          </a:p>
        </p:txBody>
      </p:sp>
    </p:spTree>
  </p:cSld>
  <p:clrMapOvr>
    <a:masterClrMapping/>
  </p:clrMapOvr>
</p:sld>
</file>

<file path=ppt/slides/slide3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9545" y="2171700"/>
            <a:ext cx="12739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Write  </a:t>
            </a:r>
          </a:p>
        </p:txBody>
      </p:sp>
      <p:pic>
        <p:nvPicPr>
          <p:cNvPr id="9" name="Picture 8" descr="a7aaa5b3e98aec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6373" y="2232660"/>
            <a:ext cx="1572768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19141" y="2171700"/>
            <a:ext cx="3169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in standard form.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6497" y="2080260"/>
            <a:ext cx="12739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Write  </a:t>
            </a:r>
          </a:p>
        </p:txBody>
      </p:sp>
      <p:pic>
        <p:nvPicPr>
          <p:cNvPr id="9" name="Picture 8" descr="1b45f78dcdf5221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325" y="2139696"/>
            <a:ext cx="1578864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22189" y="2080260"/>
            <a:ext cx="3169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in standard form.</a:t>
            </a:r>
          </a:p>
        </p:txBody>
      </p:sp>
      <p:pic>
        <p:nvPicPr>
          <p:cNvPr id="11" name="Picture 10" descr="562f191cbb88b9f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3691" y="2915412"/>
            <a:ext cx="2075688" cy="304800"/>
          </a:xfrm>
          <a:prstGeom prst="rect">
            <a:avLst/>
          </a:prstGeom>
        </p:spPr>
      </p:pic>
      <p:pic>
        <p:nvPicPr>
          <p:cNvPr id="12" name="Picture 11" descr="6f8ea1aa564467f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3691" y="3480816"/>
            <a:ext cx="3483864" cy="2529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0.00025</a:t>
            </a:r>
          </a:p>
        </p:txBody>
      </p:sp>
    </p:spTree>
  </p:cSld>
  <p:clrMapOvr>
    <a:masterClrMapping/>
  </p:clrMapOvr>
</p:sld>
</file>

<file path=ppt/slides/slide3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machine's cutting tolerance is  0.0000988  inch.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part it cuts is 4 inches long.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Write the tolerance in scientific notation.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machine's cutting tolerance is  0.0000988  inch.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part it cuts is 4 inches long.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Write the tolerance in scientific notation.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31910" y="3587827"/>
            <a:ext cx="64348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Move the point 5 places right:  9.88</a:t>
            </a:r>
          </a:p>
        </p:txBody>
      </p:sp>
      <p:pic>
        <p:nvPicPr>
          <p:cNvPr id="12" name="Picture 11" descr="45f9f3462ccd01b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6774" y="4203523"/>
            <a:ext cx="3694176" cy="304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9882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9.88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-5</a:t>
            </a:r>
          </a:p>
        </p:txBody>
      </p:sp>
    </p:spTree>
  </p:cSld>
  <p:clrMapOvr>
    <a:masterClrMapping/>
  </p:clrMapOvr>
</p:sld>
</file>

<file path=ppt/slides/slide3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 0.00081  written in scientific notation?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8.1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-3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8.1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81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-5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8.1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-4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525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 0.00081  written in scientific notation?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39092" y="2728291"/>
            <a:ext cx="62204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Move the point 4 places right:  8.1</a:t>
            </a:r>
          </a:p>
        </p:txBody>
      </p:sp>
      <p:pic>
        <p:nvPicPr>
          <p:cNvPr id="10" name="Picture 9" descr="2b19566df5af1f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3956" y="3343987"/>
            <a:ext cx="3048000" cy="304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8.1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-4</a:t>
            </a:r>
          </a:p>
        </p:txBody>
      </p:sp>
    </p:spTree>
  </p:cSld>
  <p:clrMapOvr>
    <a:masterClrMapping/>
  </p:clrMapOvr>
</p:sld>
</file>

<file path=ppt/slides/slide3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99226" y="2171700"/>
            <a:ext cx="44882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9" name="Picture 8" descr="5a2c3be760ccebb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0365" y="2231136"/>
            <a:ext cx="1249680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00045" y="2171700"/>
            <a:ext cx="1316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1" name="Picture 10" descr="9a8c04db501f05e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9487" y="2232660"/>
            <a:ext cx="1246632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926119" y="217170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9718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9718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6576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36576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0.03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66344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96178" y="2080260"/>
            <a:ext cx="44882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9" name="Picture 8" descr="a75ced4ea1776b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7317" y="2139696"/>
            <a:ext cx="1252728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00045" y="2080260"/>
            <a:ext cx="1316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1" name="Picture 10" descr="aed887976cb4b8f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9487" y="2141219"/>
            <a:ext cx="1249680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929167" y="208026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5212" y="2839212"/>
            <a:ext cx="34152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numbers:  </a:t>
            </a:r>
          </a:p>
        </p:txBody>
      </p:sp>
      <p:pic>
        <p:nvPicPr>
          <p:cNvPr id="14" name="Picture 13" descr="38fe3a113732c67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63332" y="2961132"/>
            <a:ext cx="1024128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785212" y="3342132"/>
            <a:ext cx="31834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powers:  </a:t>
            </a:r>
          </a:p>
        </p:txBody>
      </p:sp>
      <p:pic>
        <p:nvPicPr>
          <p:cNvPr id="16" name="Picture 15" descr="65ff84f4a4ec86a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1483" y="3439667"/>
            <a:ext cx="3547872" cy="262128"/>
          </a:xfrm>
          <a:prstGeom prst="rect">
            <a:avLst/>
          </a:prstGeom>
        </p:spPr>
      </p:pic>
      <p:pic>
        <p:nvPicPr>
          <p:cNvPr id="17" name="Picture 16" descr="9d511f57c8dac01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40076" y="3942588"/>
            <a:ext cx="1630680" cy="2621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300</a:t>
            </a:r>
          </a:p>
        </p:txBody>
      </p:sp>
    </p:spTree>
  </p:cSld>
  <p:clrMapOvr>
    <a:masterClrMapping/>
  </p:clrMapOvr>
</p:sld>
</file>

<file path=ppt/slides/slide3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77233" y="2171700"/>
            <a:ext cx="30997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Which is greater,  </a:t>
            </a:r>
          </a:p>
        </p:txBody>
      </p:sp>
      <p:pic>
        <p:nvPicPr>
          <p:cNvPr id="9" name="Picture 8" descr="6b87d3400d9bb2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9827" y="2232660"/>
            <a:ext cx="1551432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91259" y="2171700"/>
            <a:ext cx="9212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or  </a:t>
            </a:r>
          </a:p>
        </p:txBody>
      </p:sp>
      <p:pic>
        <p:nvPicPr>
          <p:cNvPr id="11" name="Picture 10" descr="1da1a250efe2586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5344" y="2231136"/>
            <a:ext cx="1572768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348112" y="217170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75709" y="2080260"/>
            <a:ext cx="30997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Which is greater,  </a:t>
            </a:r>
          </a:p>
        </p:txBody>
      </p:sp>
      <p:pic>
        <p:nvPicPr>
          <p:cNvPr id="9" name="Picture 8" descr="81b1ad24407d186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8303" y="2141219"/>
            <a:ext cx="1554480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92783" y="2080260"/>
            <a:ext cx="9212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or  </a:t>
            </a:r>
          </a:p>
        </p:txBody>
      </p:sp>
      <p:pic>
        <p:nvPicPr>
          <p:cNvPr id="11" name="Picture 10" descr="2167ac4363e0709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6868" y="2139696"/>
            <a:ext cx="1572768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349636" y="208026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pic>
        <p:nvPicPr>
          <p:cNvPr id="13" name="Picture 12" descr="7da4b69f6a4a0e5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2043" y="2915412"/>
            <a:ext cx="3267456" cy="304800"/>
          </a:xfrm>
          <a:prstGeom prst="rect">
            <a:avLst/>
          </a:prstGeom>
        </p:spPr>
      </p:pic>
      <p:pic>
        <p:nvPicPr>
          <p:cNvPr id="14" name="Picture 13" descr="adf9adaf96fc0f9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62043" y="3454908"/>
            <a:ext cx="3947160" cy="3048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3.9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-5</a:t>
            </a:r>
          </a:p>
        </p:txBody>
      </p:sp>
    </p:spTree>
  </p:cSld>
  <p:clrMapOvr>
    <a:masterClrMapping/>
  </p:clrMapOvr>
</p:sld>
</file>

<file path=ppt/slides/slide3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A computer displays a number as  4.2E−6.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694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the number in standard form.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A computer displays a number as  4.2E−6.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779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the number in standard form.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91038" y="3303170"/>
            <a:ext cx="28809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4.2E−6 means  </a:t>
            </a:r>
          </a:p>
        </p:txBody>
      </p:sp>
      <p:pic>
        <p:nvPicPr>
          <p:cNvPr id="11" name="Picture 10" descr="5a5877e7059393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4873" y="3377846"/>
            <a:ext cx="1438656" cy="307848"/>
          </a:xfrm>
          <a:prstGeom prst="rect">
            <a:avLst/>
          </a:prstGeom>
        </p:spPr>
      </p:pic>
      <p:pic>
        <p:nvPicPr>
          <p:cNvPr id="12" name="Picture 11" descr="2ef28584177cdfa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5902" y="3917342"/>
            <a:ext cx="3538728" cy="3078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0.0000042</a:t>
            </a:r>
          </a:p>
        </p:txBody>
      </p:sp>
    </p:spTree>
  </p:cSld>
  <p:clrMapOvr>
    <a:masterClrMapping/>
  </p:clrMapOvr>
</p:sld>
</file>

<file path=ppt/slides/slide3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42662" y="2171700"/>
            <a:ext cx="28846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Fishing line A is  </a:t>
            </a:r>
          </a:p>
        </p:txBody>
      </p:sp>
      <p:pic>
        <p:nvPicPr>
          <p:cNvPr id="9" name="Picture 8" descr="6f28bcb12f677a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0143" y="2229612"/>
            <a:ext cx="1249680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139823" y="2171700"/>
            <a:ext cx="20161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inch thick.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42761" y="2857500"/>
            <a:ext cx="28783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Fishing line B is  </a:t>
            </a:r>
          </a:p>
        </p:txBody>
      </p:sp>
      <p:pic>
        <p:nvPicPr>
          <p:cNvPr id="12" name="Picture 11" descr="d92540804869214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3947" y="2915412"/>
            <a:ext cx="1255776" cy="3413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139723" y="2857500"/>
            <a:ext cx="20161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inch thick.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5661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Which is thicker, and how many times? Name a thickness between them.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41138" y="2080260"/>
            <a:ext cx="28846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Fishing line A is  </a:t>
            </a:r>
          </a:p>
        </p:txBody>
      </p:sp>
      <p:pic>
        <p:nvPicPr>
          <p:cNvPr id="9" name="Picture 8" descr="846d6a6440d7a0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8619" y="2138171"/>
            <a:ext cx="1252728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141347" y="2080260"/>
            <a:ext cx="20161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inch thick.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41237" y="2766060"/>
            <a:ext cx="28783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Fishing line B is  </a:t>
            </a:r>
          </a:p>
        </p:txBody>
      </p:sp>
      <p:pic>
        <p:nvPicPr>
          <p:cNvPr id="12" name="Picture 11" descr="9a59c78d08cd98b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2423" y="2823971"/>
            <a:ext cx="1258824" cy="3413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141247" y="2766060"/>
            <a:ext cx="20161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inch thick.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4747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Which is thicker, and how many times? Name a thickness between them.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74286" y="4046220"/>
            <a:ext cx="615010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Same power of 10, so compare 2 and 6.</a:t>
            </a:r>
          </a:p>
        </p:txBody>
      </p:sp>
      <p:pic>
        <p:nvPicPr>
          <p:cNvPr id="16" name="Picture 15" descr="38fe3a113732c67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9150" y="4671060"/>
            <a:ext cx="1024128" cy="2133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074286" y="5052059"/>
            <a:ext cx="26404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Between them:  </a:t>
            </a:r>
          </a:p>
        </p:txBody>
      </p:sp>
      <p:pic>
        <p:nvPicPr>
          <p:cNvPr id="18" name="Picture 17" descr="581fc6e4e685e84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77529" y="5149596"/>
            <a:ext cx="984504" cy="2621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562356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B; 3 times; e.g. 4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in.</a:t>
            </a:r>
          </a:p>
        </p:txBody>
      </p:sp>
    </p:spTree>
  </p:cSld>
  <p:clrMapOvr>
    <a:masterClrMapping/>
  </p:clrMapOvr>
</p:sld>
</file>

<file path=ppt/slides/slide3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5044"/>
            <a:ext cx="54028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 0.00047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089403"/>
            <a:ext cx="1151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 </a:t>
            </a:r>
          </a:p>
        </p:txBody>
      </p:sp>
      <p:pic>
        <p:nvPicPr>
          <p:cNvPr id="12" name="Picture 11" descr="f029b45e0ecab7c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8615" y="2182367"/>
            <a:ext cx="1261872" cy="2712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830487" y="2089403"/>
            <a:ext cx="28284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in standard form.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683763"/>
            <a:ext cx="57349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 0.0000061  in scientific notation.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27812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278123"/>
            <a:ext cx="27663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Which is greater,  </a:t>
            </a:r>
          </a:p>
        </p:txBody>
      </p:sp>
      <p:pic>
        <p:nvPicPr>
          <p:cNvPr id="18" name="Picture 17" descr="2b6d28ce99c0e7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3713" y="3369563"/>
            <a:ext cx="1280160" cy="2743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463873" y="3278123"/>
            <a:ext cx="8392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or  </a:t>
            </a:r>
          </a:p>
        </p:txBody>
      </p:sp>
      <p:pic>
        <p:nvPicPr>
          <p:cNvPr id="20" name="Picture 19" descr="4f77a3766b4748d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5979" y="3368039"/>
            <a:ext cx="1252728" cy="27736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418707" y="3278123"/>
            <a:ext cx="443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38724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3872483"/>
            <a:ext cx="39948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24" name="Picture 23" descr="36f5a0412d8a35a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2147" y="3962399"/>
            <a:ext cx="1024128" cy="27736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36275" y="3872483"/>
            <a:ext cx="11889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26" name="Picture 25" descr="a131a25e21d7bac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88077" y="3965447"/>
            <a:ext cx="1042415" cy="27127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530493" y="3872483"/>
            <a:ext cx="443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4466844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4466844"/>
            <a:ext cx="98596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A computer displays a number as  3.7E−5.  Write it in standard form.</a:t>
            </a:r>
          </a:p>
        </p:txBody>
      </p:sp>
    </p:spTree>
  </p:cSld>
  <p:clrMapOvr>
    <a:masterClrMapping/>
  </p:clrMapOvr>
</p:sld>
</file>

<file path=ppt/slides/slide3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Convert between standard and scientific notation: small numbers — 85M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Compare small numbers — KDR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Powers of ten with negative exponents — SKD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