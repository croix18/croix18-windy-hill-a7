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2.xml"/><Relationship Id="rId5" Type="http://schemas.openxmlformats.org/officeDocument/2006/relationships/slide" Target="slide106.xml"/><Relationship Id="rId6" Type="http://schemas.openxmlformats.org/officeDocument/2006/relationships/slide" Target="slide140.xml"/><Relationship Id="rId7" Type="http://schemas.openxmlformats.org/officeDocument/2006/relationships/slide" Target="slide174.xml"/><Relationship Id="rId8" Type="http://schemas.openxmlformats.org/officeDocument/2006/relationships/slide" Target="slide209.xml"/><Relationship Id="rId9" Type="http://schemas.openxmlformats.org/officeDocument/2006/relationships/slide" Target="slide243.xml"/><Relationship Id="rId10" Type="http://schemas.openxmlformats.org/officeDocument/2006/relationships/slide" Target="slide277.xml"/><Relationship Id="rId11" Type="http://schemas.openxmlformats.org/officeDocument/2006/relationships/slide" Target="slide3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81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75.png"/><Relationship Id="rId8" Type="http://schemas.openxmlformats.org/officeDocument/2006/relationships/image" Target="../media/image1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Relationship Id="rId3" Type="http://schemas.openxmlformats.org/officeDocument/2006/relationships/image" Target="../media/image217.png"/><Relationship Id="rId4" Type="http://schemas.openxmlformats.org/officeDocument/2006/relationships/image" Target="../media/image218.png"/><Relationship Id="rId5" Type="http://schemas.openxmlformats.org/officeDocument/2006/relationships/image" Target="../media/image219.png"/><Relationship Id="rId6" Type="http://schemas.openxmlformats.org/officeDocument/2006/relationships/image" Target="../media/image22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Relationship Id="rId5" Type="http://schemas.openxmlformats.org/officeDocument/2006/relationships/image" Target="../media/image231.png"/><Relationship Id="rId6" Type="http://schemas.openxmlformats.org/officeDocument/2006/relationships/image" Target="../media/image232.png"/><Relationship Id="rId7" Type="http://schemas.openxmlformats.org/officeDocument/2006/relationships/image" Target="../media/image23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Relationship Id="rId3" Type="http://schemas.openxmlformats.org/officeDocument/2006/relationships/image" Target="../media/image238.png"/><Relationship Id="rId4" Type="http://schemas.openxmlformats.org/officeDocument/2006/relationships/image" Target="../media/image84.png"/><Relationship Id="rId5" Type="http://schemas.openxmlformats.org/officeDocument/2006/relationships/image" Target="../media/image239.png"/><Relationship Id="rId6" Type="http://schemas.openxmlformats.org/officeDocument/2006/relationships/image" Target="../media/image240.png"/><Relationship Id="rId7" Type="http://schemas.openxmlformats.org/officeDocument/2006/relationships/image" Target="../media/image241.png"/><Relationship Id="rId8" Type="http://schemas.openxmlformats.org/officeDocument/2006/relationships/image" Target="../media/image24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Relationship Id="rId3" Type="http://schemas.openxmlformats.org/officeDocument/2006/relationships/image" Target="../media/image257.png"/><Relationship Id="rId4" Type="http://schemas.openxmlformats.org/officeDocument/2006/relationships/image" Target="../media/image258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image" Target="../media/image261.png"/><Relationship Id="rId4" Type="http://schemas.openxmlformats.org/officeDocument/2006/relationships/image" Target="../media/image26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image" Target="../media/image25.png"/><Relationship Id="rId4" Type="http://schemas.openxmlformats.org/officeDocument/2006/relationships/image" Target="../media/image268.png"/><Relationship Id="rId5" Type="http://schemas.openxmlformats.org/officeDocument/2006/relationships/image" Target="../media/image269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Relationship Id="rId3" Type="http://schemas.openxmlformats.org/officeDocument/2006/relationships/image" Target="../media/image276.png"/><Relationship Id="rId4" Type="http://schemas.openxmlformats.org/officeDocument/2006/relationships/image" Target="../media/image60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Relationship Id="rId3" Type="http://schemas.openxmlformats.org/officeDocument/2006/relationships/image" Target="../media/image28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29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Relationship Id="rId3" Type="http://schemas.openxmlformats.org/officeDocument/2006/relationships/image" Target="../media/image29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Relationship Id="rId3" Type="http://schemas.openxmlformats.org/officeDocument/2006/relationships/image" Target="../media/image297.png"/><Relationship Id="rId4" Type="http://schemas.openxmlformats.org/officeDocument/2006/relationships/image" Target="../media/image298.png"/><Relationship Id="rId5" Type="http://schemas.openxmlformats.org/officeDocument/2006/relationships/image" Target="../media/image299.png"/><Relationship Id="rId6" Type="http://schemas.openxmlformats.org/officeDocument/2006/relationships/image" Target="../media/image300.png"/><Relationship Id="rId7" Type="http://schemas.openxmlformats.org/officeDocument/2006/relationships/image" Target="../media/image75.png"/><Relationship Id="rId8" Type="http://schemas.openxmlformats.org/officeDocument/2006/relationships/image" Target="../media/image30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Relationship Id="rId3" Type="http://schemas.openxmlformats.org/officeDocument/2006/relationships/image" Target="../media/image303.png"/><Relationship Id="rId4" Type="http://schemas.openxmlformats.org/officeDocument/2006/relationships/image" Target="../media/image304.png"/><Relationship Id="rId5" Type="http://schemas.openxmlformats.org/officeDocument/2006/relationships/image" Target="../media/image305.png"/><Relationship Id="rId6" Type="http://schemas.openxmlformats.org/officeDocument/2006/relationships/image" Target="../media/image30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Relationship Id="rId3" Type="http://schemas.openxmlformats.org/officeDocument/2006/relationships/image" Target="../media/image307.png"/><Relationship Id="rId4" Type="http://schemas.openxmlformats.org/officeDocument/2006/relationships/image" Target="../media/image303.png"/><Relationship Id="rId5" Type="http://schemas.openxmlformats.org/officeDocument/2006/relationships/image" Target="../media/image308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9.png"/><Relationship Id="rId9" Type="http://schemas.openxmlformats.org/officeDocument/2006/relationships/image" Target="../media/image306.png"/><Relationship Id="rId10" Type="http://schemas.openxmlformats.org/officeDocument/2006/relationships/image" Target="../media/image31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image" Target="../media/image312.png"/><Relationship Id="rId4" Type="http://schemas.openxmlformats.org/officeDocument/2006/relationships/image" Target="../media/image313.png"/><Relationship Id="rId5" Type="http://schemas.openxmlformats.org/officeDocument/2006/relationships/image" Target="../media/image314.png"/><Relationship Id="rId6" Type="http://schemas.openxmlformats.org/officeDocument/2006/relationships/image" Target="../media/image315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Relationship Id="rId3" Type="http://schemas.openxmlformats.org/officeDocument/2006/relationships/image" Target="../media/image322.png"/><Relationship Id="rId4" Type="http://schemas.openxmlformats.org/officeDocument/2006/relationships/image" Target="../media/image323.png"/><Relationship Id="rId5" Type="http://schemas.openxmlformats.org/officeDocument/2006/relationships/image" Target="../media/image324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Relationship Id="rId3" Type="http://schemas.openxmlformats.org/officeDocument/2006/relationships/image" Target="../media/image327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Relationship Id="rId3" Type="http://schemas.openxmlformats.org/officeDocument/2006/relationships/image" Target="../media/image330.png"/><Relationship Id="rId4" Type="http://schemas.openxmlformats.org/officeDocument/2006/relationships/image" Target="../media/image33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Relationship Id="rId4" Type="http://schemas.openxmlformats.org/officeDocument/2006/relationships/image" Target="../media/image33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Relationship Id="rId3" Type="http://schemas.openxmlformats.org/officeDocument/2006/relationships/image" Target="../media/image342.png"/><Relationship Id="rId4" Type="http://schemas.openxmlformats.org/officeDocument/2006/relationships/image" Target="../media/image343.png"/><Relationship Id="rId5" Type="http://schemas.openxmlformats.org/officeDocument/2006/relationships/image" Target="../media/image34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Relationship Id="rId3" Type="http://schemas.openxmlformats.org/officeDocument/2006/relationships/image" Target="../media/image347.png"/><Relationship Id="rId4" Type="http://schemas.openxmlformats.org/officeDocument/2006/relationships/image" Target="../media/image348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Relationship Id="rId3" Type="http://schemas.openxmlformats.org/officeDocument/2006/relationships/image" Target="../media/image35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Relationship Id="rId3" Type="http://schemas.openxmlformats.org/officeDocument/2006/relationships/image" Target="../media/image357.png"/><Relationship Id="rId4" Type="http://schemas.openxmlformats.org/officeDocument/2006/relationships/image" Target="../media/image358.png"/><Relationship Id="rId5" Type="http://schemas.openxmlformats.org/officeDocument/2006/relationships/image" Target="../media/image359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Relationship Id="rId3" Type="http://schemas.openxmlformats.org/officeDocument/2006/relationships/image" Target="../media/image362.png"/><Relationship Id="rId4" Type="http://schemas.openxmlformats.org/officeDocument/2006/relationships/image" Target="../media/image363.png"/><Relationship Id="rId5" Type="http://schemas.openxmlformats.org/officeDocument/2006/relationships/image" Target="../media/image364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image" Target="../media/image366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Relationship Id="rId3" Type="http://schemas.openxmlformats.org/officeDocument/2006/relationships/image" Target="../media/image368.png"/><Relationship Id="rId4" Type="http://schemas.openxmlformats.org/officeDocument/2006/relationships/image" Target="../media/image369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Relationship Id="rId3" Type="http://schemas.openxmlformats.org/officeDocument/2006/relationships/image" Target="../media/image371.png"/><Relationship Id="rId4" Type="http://schemas.openxmlformats.org/officeDocument/2006/relationships/image" Target="../media/image372.png"/><Relationship Id="rId5" Type="http://schemas.openxmlformats.org/officeDocument/2006/relationships/image" Target="../media/image373.png"/><Relationship Id="rId6" Type="http://schemas.openxmlformats.org/officeDocument/2006/relationships/image" Target="../media/image374.png"/><Relationship Id="rId7" Type="http://schemas.openxmlformats.org/officeDocument/2006/relationships/image" Target="../media/image75.png"/><Relationship Id="rId8" Type="http://schemas.openxmlformats.org/officeDocument/2006/relationships/image" Target="../media/image37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Relationship Id="rId3" Type="http://schemas.openxmlformats.org/officeDocument/2006/relationships/image" Target="../media/image377.png"/><Relationship Id="rId4" Type="http://schemas.openxmlformats.org/officeDocument/2006/relationships/image" Target="../media/image378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Relationship Id="rId3" Type="http://schemas.openxmlformats.org/officeDocument/2006/relationships/image" Target="../media/image379.png"/><Relationship Id="rId4" Type="http://schemas.openxmlformats.org/officeDocument/2006/relationships/image" Target="../media/image377.png"/><Relationship Id="rId5" Type="http://schemas.openxmlformats.org/officeDocument/2006/relationships/image" Target="../media/image378.png"/><Relationship Id="rId6" Type="http://schemas.openxmlformats.org/officeDocument/2006/relationships/image" Target="../media/image380.png"/><Relationship Id="rId7" Type="http://schemas.openxmlformats.org/officeDocument/2006/relationships/image" Target="../media/image381.png"/><Relationship Id="rId8" Type="http://schemas.openxmlformats.org/officeDocument/2006/relationships/image" Target="../media/image382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image" Target="../media/image391.png"/><Relationship Id="rId4" Type="http://schemas.openxmlformats.org/officeDocument/2006/relationships/image" Target="../media/image39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Relationship Id="rId4" Type="http://schemas.openxmlformats.org/officeDocument/2006/relationships/image" Target="../media/image395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Relationship Id="rId3" Type="http://schemas.openxmlformats.org/officeDocument/2006/relationships/image" Target="../media/image398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Relationship Id="rId3" Type="http://schemas.openxmlformats.org/officeDocument/2006/relationships/image" Target="../media/image401.png"/><Relationship Id="rId4" Type="http://schemas.openxmlformats.org/officeDocument/2006/relationships/image" Target="../media/image402.png"/><Relationship Id="rId5" Type="http://schemas.openxmlformats.org/officeDocument/2006/relationships/image" Target="../media/image403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Relationship Id="rId3" Type="http://schemas.openxmlformats.org/officeDocument/2006/relationships/image" Target="../media/image405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408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13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png"/><Relationship Id="rId3" Type="http://schemas.openxmlformats.org/officeDocument/2006/relationships/image" Target="../media/image418.png"/><Relationship Id="rId4" Type="http://schemas.openxmlformats.org/officeDocument/2006/relationships/image" Target="../media/image419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1.png"/><Relationship Id="rId3" Type="http://schemas.openxmlformats.org/officeDocument/2006/relationships/image" Target="../media/image422.png"/><Relationship Id="rId4" Type="http://schemas.openxmlformats.org/officeDocument/2006/relationships/image" Target="../media/image423.png"/><Relationship Id="rId5" Type="http://schemas.openxmlformats.org/officeDocument/2006/relationships/image" Target="../media/image42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Relationship Id="rId3" Type="http://schemas.openxmlformats.org/officeDocument/2006/relationships/image" Target="../media/image427.png"/><Relationship Id="rId4" Type="http://schemas.openxmlformats.org/officeDocument/2006/relationships/image" Target="../media/image428.png"/><Relationship Id="rId5" Type="http://schemas.openxmlformats.org/officeDocument/2006/relationships/image" Target="../media/image429.png"/><Relationship Id="rId6" Type="http://schemas.openxmlformats.org/officeDocument/2006/relationships/image" Target="../media/image430.png"/><Relationship Id="rId7" Type="http://schemas.openxmlformats.org/officeDocument/2006/relationships/image" Target="../media/image431.png"/><Relationship Id="rId8" Type="http://schemas.openxmlformats.org/officeDocument/2006/relationships/image" Target="../media/image432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png"/><Relationship Id="rId3" Type="http://schemas.openxmlformats.org/officeDocument/2006/relationships/image" Target="../media/image434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Relationship Id="rId3" Type="http://schemas.openxmlformats.org/officeDocument/2006/relationships/image" Target="../media/image436.png"/><Relationship Id="rId4" Type="http://schemas.openxmlformats.org/officeDocument/2006/relationships/image" Target="../media/image437.png"/><Relationship Id="rId5" Type="http://schemas.openxmlformats.org/officeDocument/2006/relationships/image" Target="../media/image438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png"/><Relationship Id="rId3" Type="http://schemas.openxmlformats.org/officeDocument/2006/relationships/image" Target="../media/image441.png"/><Relationship Id="rId4" Type="http://schemas.openxmlformats.org/officeDocument/2006/relationships/image" Target="../media/image442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3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Relationship Id="rId3" Type="http://schemas.openxmlformats.org/officeDocument/2006/relationships/image" Target="../media/image445.png"/><Relationship Id="rId4" Type="http://schemas.openxmlformats.org/officeDocument/2006/relationships/image" Target="../media/image44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Relationship Id="rId4" Type="http://schemas.openxmlformats.org/officeDocument/2006/relationships/image" Target="../media/image450.png"/><Relationship Id="rId5" Type="http://schemas.openxmlformats.org/officeDocument/2006/relationships/image" Target="../media/image45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3.png"/><Relationship Id="rId3" Type="http://schemas.openxmlformats.org/officeDocument/2006/relationships/image" Target="../media/image454.png"/><Relationship Id="rId4" Type="http://schemas.openxmlformats.org/officeDocument/2006/relationships/image" Target="../media/image455.png"/><Relationship Id="rId5" Type="http://schemas.openxmlformats.org/officeDocument/2006/relationships/image" Target="../media/image456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Relationship Id="rId3" Type="http://schemas.openxmlformats.org/officeDocument/2006/relationships/image" Target="../media/image458.png"/><Relationship Id="rId4" Type="http://schemas.openxmlformats.org/officeDocument/2006/relationships/image" Target="../media/image459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Relationship Id="rId3" Type="http://schemas.openxmlformats.org/officeDocument/2006/relationships/image" Target="../media/image461.png"/><Relationship Id="rId4" Type="http://schemas.openxmlformats.org/officeDocument/2006/relationships/image" Target="../media/image462.png"/><Relationship Id="rId5" Type="http://schemas.openxmlformats.org/officeDocument/2006/relationships/image" Target="../media/image463.png"/><Relationship Id="rId6" Type="http://schemas.openxmlformats.org/officeDocument/2006/relationships/image" Target="../media/image46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5.png"/><Relationship Id="rId3" Type="http://schemas.openxmlformats.org/officeDocument/2006/relationships/image" Target="../media/image466.png"/><Relationship Id="rId4" Type="http://schemas.openxmlformats.org/officeDocument/2006/relationships/image" Target="../media/image467.png"/><Relationship Id="rId5" Type="http://schemas.openxmlformats.org/officeDocument/2006/relationships/image" Target="../media/image468.png"/><Relationship Id="rId6" Type="http://schemas.openxmlformats.org/officeDocument/2006/relationships/image" Target="../media/image469.png"/><Relationship Id="rId7" Type="http://schemas.openxmlformats.org/officeDocument/2006/relationships/image" Target="../media/image470.png"/><Relationship Id="rId8" Type="http://schemas.openxmlformats.org/officeDocument/2006/relationships/image" Target="../media/image47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Relationship Id="rId3" Type="http://schemas.openxmlformats.org/officeDocument/2006/relationships/image" Target="../media/image473.png"/><Relationship Id="rId4" Type="http://schemas.openxmlformats.org/officeDocument/2006/relationships/image" Target="../media/image154.png"/><Relationship Id="rId5" Type="http://schemas.openxmlformats.org/officeDocument/2006/relationships/image" Target="../media/image474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Relationship Id="rId3" Type="http://schemas.openxmlformats.org/officeDocument/2006/relationships/image" Target="../media/image473.png"/><Relationship Id="rId4" Type="http://schemas.openxmlformats.org/officeDocument/2006/relationships/image" Target="../media/image154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6.png"/><Relationship Id="rId3" Type="http://schemas.openxmlformats.org/officeDocument/2006/relationships/image" Target="../media/image477.png"/><Relationship Id="rId4" Type="http://schemas.openxmlformats.org/officeDocument/2006/relationships/image" Target="../media/image478.png"/><Relationship Id="rId5" Type="http://schemas.openxmlformats.org/officeDocument/2006/relationships/image" Target="../media/image479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png"/><Relationship Id="rId3" Type="http://schemas.openxmlformats.org/officeDocument/2006/relationships/image" Target="../media/image481.png"/><Relationship Id="rId4" Type="http://schemas.openxmlformats.org/officeDocument/2006/relationships/image" Target="../media/image482.png"/><Relationship Id="rId5" Type="http://schemas.openxmlformats.org/officeDocument/2006/relationships/image" Target="../media/image483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png"/><Relationship Id="rId3" Type="http://schemas.openxmlformats.org/officeDocument/2006/relationships/image" Target="../media/image485.png"/><Relationship Id="rId4" Type="http://schemas.openxmlformats.org/officeDocument/2006/relationships/image" Target="../media/image486.png"/><Relationship Id="rId5" Type="http://schemas.openxmlformats.org/officeDocument/2006/relationships/image" Target="../media/image48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9.png"/><Relationship Id="rId3" Type="http://schemas.openxmlformats.org/officeDocument/2006/relationships/image" Target="../media/image490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1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Relationship Id="rId3" Type="http://schemas.openxmlformats.org/officeDocument/2006/relationships/image" Target="../media/image493.png"/><Relationship Id="rId4" Type="http://schemas.openxmlformats.org/officeDocument/2006/relationships/image" Target="../media/image494.png"/><Relationship Id="rId5" Type="http://schemas.openxmlformats.org/officeDocument/2006/relationships/image" Target="../media/image495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7.png"/><Relationship Id="rId3" Type="http://schemas.openxmlformats.org/officeDocument/2006/relationships/image" Target="../media/image498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9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0.png"/><Relationship Id="rId3" Type="http://schemas.openxmlformats.org/officeDocument/2006/relationships/image" Target="../media/image501.png"/><Relationship Id="rId4" Type="http://schemas.openxmlformats.org/officeDocument/2006/relationships/image" Target="../media/image502.png"/><Relationship Id="rId5" Type="http://schemas.openxmlformats.org/officeDocument/2006/relationships/image" Target="../media/image503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4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5.png"/><Relationship Id="rId3" Type="http://schemas.openxmlformats.org/officeDocument/2006/relationships/image" Target="../media/image506.png"/><Relationship Id="rId4" Type="http://schemas.openxmlformats.org/officeDocument/2006/relationships/image" Target="../media/image507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8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9.png"/><Relationship Id="rId3" Type="http://schemas.openxmlformats.org/officeDocument/2006/relationships/image" Target="../media/image510.png"/><Relationship Id="rId4" Type="http://schemas.openxmlformats.org/officeDocument/2006/relationships/image" Target="../media/image51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2.png"/><Relationship Id="rId3" Type="http://schemas.openxmlformats.org/officeDocument/2006/relationships/image" Target="../media/image51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4.png"/><Relationship Id="rId3" Type="http://schemas.openxmlformats.org/officeDocument/2006/relationships/image" Target="../media/image515.png"/><Relationship Id="rId4" Type="http://schemas.openxmlformats.org/officeDocument/2006/relationships/image" Target="../media/image516.png"/><Relationship Id="rId5" Type="http://schemas.openxmlformats.org/officeDocument/2006/relationships/image" Target="../media/image517.png"/><Relationship Id="rId6" Type="http://schemas.openxmlformats.org/officeDocument/2006/relationships/image" Target="../media/image518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9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0.png"/><Relationship Id="rId3" Type="http://schemas.openxmlformats.org/officeDocument/2006/relationships/image" Target="../media/image521.png"/><Relationship Id="rId4" Type="http://schemas.openxmlformats.org/officeDocument/2006/relationships/image" Target="../media/image494.png"/><Relationship Id="rId5" Type="http://schemas.openxmlformats.org/officeDocument/2006/relationships/image" Target="../media/image522.png"/><Relationship Id="rId6" Type="http://schemas.openxmlformats.org/officeDocument/2006/relationships/image" Target="../media/image523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4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5.png"/><Relationship Id="rId3" Type="http://schemas.openxmlformats.org/officeDocument/2006/relationships/image" Target="../media/image526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7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8.png"/><Relationship Id="rId3" Type="http://schemas.openxmlformats.org/officeDocument/2006/relationships/image" Target="../media/image529.png"/><Relationship Id="rId4" Type="http://schemas.openxmlformats.org/officeDocument/2006/relationships/image" Target="../media/image530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1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2.png"/><Relationship Id="rId3" Type="http://schemas.openxmlformats.org/officeDocument/2006/relationships/image" Target="../media/image533.png"/><Relationship Id="rId4" Type="http://schemas.openxmlformats.org/officeDocument/2006/relationships/image" Target="../media/image534.png"/><Relationship Id="rId5" Type="http://schemas.openxmlformats.org/officeDocument/2006/relationships/image" Target="../media/image535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537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538.png"/><Relationship Id="rId4" Type="http://schemas.openxmlformats.org/officeDocument/2006/relationships/image" Target="../media/image539.png"/><Relationship Id="rId5" Type="http://schemas.openxmlformats.org/officeDocument/2006/relationships/image" Target="../media/image540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1.png"/><Relationship Id="rId3" Type="http://schemas.openxmlformats.org/officeDocument/2006/relationships/image" Target="../media/image542.png"/><Relationship Id="rId4" Type="http://schemas.openxmlformats.org/officeDocument/2006/relationships/image" Target="../media/image543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4.png"/><Relationship Id="rId3" Type="http://schemas.openxmlformats.org/officeDocument/2006/relationships/image" Target="../media/image545.png"/><Relationship Id="rId4" Type="http://schemas.openxmlformats.org/officeDocument/2006/relationships/image" Target="../media/image546.png"/><Relationship Id="rId5" Type="http://schemas.openxmlformats.org/officeDocument/2006/relationships/image" Target="../media/image547.png"/><Relationship Id="rId6" Type="http://schemas.openxmlformats.org/officeDocument/2006/relationships/image" Target="../media/image548.png"/><Relationship Id="rId7" Type="http://schemas.openxmlformats.org/officeDocument/2006/relationships/image" Target="../media/image549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0.png"/><Relationship Id="rId3" Type="http://schemas.openxmlformats.org/officeDocument/2006/relationships/image" Target="../media/image551.png"/><Relationship Id="rId4" Type="http://schemas.openxmlformats.org/officeDocument/2006/relationships/image" Target="../media/image552.png"/><Relationship Id="rId5" Type="http://schemas.openxmlformats.org/officeDocument/2006/relationships/image" Target="../media/image553.png"/><Relationship Id="rId6" Type="http://schemas.openxmlformats.org/officeDocument/2006/relationships/image" Target="../media/image554.png"/><Relationship Id="rId7" Type="http://schemas.openxmlformats.org/officeDocument/2006/relationships/image" Target="../media/image75.png"/><Relationship Id="rId8" Type="http://schemas.openxmlformats.org/officeDocument/2006/relationships/image" Target="../media/image555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6.png"/><Relationship Id="rId3" Type="http://schemas.openxmlformats.org/officeDocument/2006/relationships/image" Target="../media/image557.png"/><Relationship Id="rId4" Type="http://schemas.openxmlformats.org/officeDocument/2006/relationships/image" Target="../media/image558.png"/><Relationship Id="rId5" Type="http://schemas.openxmlformats.org/officeDocument/2006/relationships/image" Target="../media/image332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6.png"/><Relationship Id="rId3" Type="http://schemas.openxmlformats.org/officeDocument/2006/relationships/image" Target="../media/image557.png"/><Relationship Id="rId4" Type="http://schemas.openxmlformats.org/officeDocument/2006/relationships/image" Target="../media/image558.png"/><Relationship Id="rId5" Type="http://schemas.openxmlformats.org/officeDocument/2006/relationships/image" Target="../media/image332.png"/><Relationship Id="rId6" Type="http://schemas.openxmlformats.org/officeDocument/2006/relationships/image" Target="../media/image559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0.png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3.png"/><Relationship Id="rId3" Type="http://schemas.openxmlformats.org/officeDocument/2006/relationships/image" Target="../media/image564.png"/><Relationship Id="rId4" Type="http://schemas.openxmlformats.org/officeDocument/2006/relationships/image" Target="../media/image565.png"/><Relationship Id="rId5" Type="http://schemas.openxmlformats.org/officeDocument/2006/relationships/image" Target="../media/image5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7.png"/><Relationship Id="rId3" Type="http://schemas.openxmlformats.org/officeDocument/2006/relationships/image" Target="../media/image568.png"/><Relationship Id="rId4" Type="http://schemas.openxmlformats.org/officeDocument/2006/relationships/image" Target="../media/image569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0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1.png"/><Relationship Id="rId3" Type="http://schemas.openxmlformats.org/officeDocument/2006/relationships/image" Target="../media/image572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3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4.png"/><Relationship Id="rId3" Type="http://schemas.openxmlformats.org/officeDocument/2006/relationships/image" Target="../media/image575.png"/><Relationship Id="rId4" Type="http://schemas.openxmlformats.org/officeDocument/2006/relationships/image" Target="../media/image576.png"/><Relationship Id="rId5" Type="http://schemas.openxmlformats.org/officeDocument/2006/relationships/image" Target="../media/image577.png"/><Relationship Id="rId6" Type="http://schemas.openxmlformats.org/officeDocument/2006/relationships/image" Target="../media/image578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9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0.png"/><Relationship Id="rId3" Type="http://schemas.openxmlformats.org/officeDocument/2006/relationships/image" Target="../media/image58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2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3.png"/><Relationship Id="rId3" Type="http://schemas.openxmlformats.org/officeDocument/2006/relationships/image" Target="../media/image584.png"/><Relationship Id="rId4" Type="http://schemas.openxmlformats.org/officeDocument/2006/relationships/image" Target="../media/image585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6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7.png"/><Relationship Id="rId3" Type="http://schemas.openxmlformats.org/officeDocument/2006/relationships/image" Target="../media/image588.png"/><Relationship Id="rId4" Type="http://schemas.openxmlformats.org/officeDocument/2006/relationships/image" Target="../media/image589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0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1.png"/><Relationship Id="rId3" Type="http://schemas.openxmlformats.org/officeDocument/2006/relationships/image" Target="../media/image592.png"/><Relationship Id="rId4" Type="http://schemas.openxmlformats.org/officeDocument/2006/relationships/image" Target="../media/image593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4.png"/><Relationship Id="rId3" Type="http://schemas.openxmlformats.org/officeDocument/2006/relationships/image" Target="../media/image595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4.png"/><Relationship Id="rId3" Type="http://schemas.openxmlformats.org/officeDocument/2006/relationships/image" Target="../media/image596.png"/><Relationship Id="rId4" Type="http://schemas.openxmlformats.org/officeDocument/2006/relationships/image" Target="../media/image597.png"/><Relationship Id="rId5" Type="http://schemas.openxmlformats.org/officeDocument/2006/relationships/image" Target="../media/image598.png"/><Relationship Id="rId6" Type="http://schemas.openxmlformats.org/officeDocument/2006/relationships/image" Target="../media/image599.png"/><Relationship Id="rId7" Type="http://schemas.openxmlformats.org/officeDocument/2006/relationships/image" Target="../media/image254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0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1.png"/><Relationship Id="rId3" Type="http://schemas.openxmlformats.org/officeDocument/2006/relationships/image" Target="../media/image602.png"/><Relationship Id="rId4" Type="http://schemas.openxmlformats.org/officeDocument/2006/relationships/image" Target="../media/image603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4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5.png"/><Relationship Id="rId3" Type="http://schemas.openxmlformats.org/officeDocument/2006/relationships/image" Target="../media/image606.png"/><Relationship Id="rId4" Type="http://schemas.openxmlformats.org/officeDocument/2006/relationships/image" Target="../media/image607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8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9.png"/><Relationship Id="rId3" Type="http://schemas.openxmlformats.org/officeDocument/2006/relationships/image" Target="../media/image610.png"/><Relationship Id="rId4" Type="http://schemas.openxmlformats.org/officeDocument/2006/relationships/image" Target="../media/image611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2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3.png"/><Relationship Id="rId3" Type="http://schemas.openxmlformats.org/officeDocument/2006/relationships/image" Target="../media/image614.png"/><Relationship Id="rId4" Type="http://schemas.openxmlformats.org/officeDocument/2006/relationships/image" Target="../media/image615.png"/><Relationship Id="rId5" Type="http://schemas.openxmlformats.org/officeDocument/2006/relationships/image" Target="../media/image61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617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6.png"/><Relationship Id="rId3" Type="http://schemas.openxmlformats.org/officeDocument/2006/relationships/image" Target="../media/image618.png"/><Relationship Id="rId4" Type="http://schemas.openxmlformats.org/officeDocument/2006/relationships/image" Target="../media/image619.png"/><Relationship Id="rId5" Type="http://schemas.openxmlformats.org/officeDocument/2006/relationships/image" Target="../media/image620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1.png"/><Relationship Id="rId3" Type="http://schemas.openxmlformats.org/officeDocument/2006/relationships/image" Target="../media/image622.png"/><Relationship Id="rId4" Type="http://schemas.openxmlformats.org/officeDocument/2006/relationships/image" Target="../media/image623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4.png"/><Relationship Id="rId3" Type="http://schemas.openxmlformats.org/officeDocument/2006/relationships/image" Target="../media/image625.png"/><Relationship Id="rId4" Type="http://schemas.openxmlformats.org/officeDocument/2006/relationships/image" Target="../media/image623.png"/><Relationship Id="rId5" Type="http://schemas.openxmlformats.org/officeDocument/2006/relationships/image" Target="../media/image626.png"/><Relationship Id="rId6" Type="http://schemas.openxmlformats.org/officeDocument/2006/relationships/image" Target="../media/image627.png"/><Relationship Id="rId7" Type="http://schemas.openxmlformats.org/officeDocument/2006/relationships/image" Target="../media/image628.png"/><Relationship Id="rId8" Type="http://schemas.openxmlformats.org/officeDocument/2006/relationships/image" Target="../media/image629.png"/><Relationship Id="rId9" Type="http://schemas.openxmlformats.org/officeDocument/2006/relationships/image" Target="../media/image630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1.png"/><Relationship Id="rId3" Type="http://schemas.openxmlformats.org/officeDocument/2006/relationships/image" Target="../media/image632.png"/><Relationship Id="rId4" Type="http://schemas.openxmlformats.org/officeDocument/2006/relationships/image" Target="../media/image633.png"/><Relationship Id="rId5" Type="http://schemas.openxmlformats.org/officeDocument/2006/relationships/image" Target="../media/image634.png"/><Relationship Id="rId6" Type="http://schemas.openxmlformats.org/officeDocument/2006/relationships/image" Target="../media/image635.png"/><Relationship Id="rId7" Type="http://schemas.openxmlformats.org/officeDocument/2006/relationships/image" Target="../media/image75.png"/><Relationship Id="rId8" Type="http://schemas.openxmlformats.org/officeDocument/2006/relationships/image" Target="../media/image636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7.png"/><Relationship Id="rId3" Type="http://schemas.openxmlformats.org/officeDocument/2006/relationships/image" Target="../media/image638.png"/><Relationship Id="rId4" Type="http://schemas.openxmlformats.org/officeDocument/2006/relationships/image" Target="../media/image639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7.png"/><Relationship Id="rId3" Type="http://schemas.openxmlformats.org/officeDocument/2006/relationships/image" Target="../media/image638.png"/><Relationship Id="rId4" Type="http://schemas.openxmlformats.org/officeDocument/2006/relationships/image" Target="../media/image639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0.png"/><Relationship Id="rId3" Type="http://schemas.openxmlformats.org/officeDocument/2006/relationships/image" Target="../media/image641.png"/><Relationship Id="rId4" Type="http://schemas.openxmlformats.org/officeDocument/2006/relationships/image" Target="../media/image642.png"/><Relationship Id="rId5" Type="http://schemas.openxmlformats.org/officeDocument/2006/relationships/image" Target="../media/image643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4.png"/><Relationship Id="rId3" Type="http://schemas.openxmlformats.org/officeDocument/2006/relationships/image" Target="../media/image645.png"/><Relationship Id="rId4" Type="http://schemas.openxmlformats.org/officeDocument/2006/relationships/image" Target="../media/image646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7.png"/><Relationship Id="rId3" Type="http://schemas.openxmlformats.org/officeDocument/2006/relationships/image" Target="../media/image648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9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0.png"/><Relationship Id="rId3" Type="http://schemas.openxmlformats.org/officeDocument/2006/relationships/image" Target="../media/image651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2.png"/><Relationship Id="rId3" Type="http://schemas.openxmlformats.org/officeDocument/2006/relationships/image" Target="../media/image653.png"/><Relationship Id="rId4" Type="http://schemas.openxmlformats.org/officeDocument/2006/relationships/image" Target="../media/image654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5.png"/><Relationship Id="rId3" Type="http://schemas.openxmlformats.org/officeDocument/2006/relationships/image" Target="../media/image656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7.png"/><Relationship Id="rId3" Type="http://schemas.openxmlformats.org/officeDocument/2006/relationships/image" Target="../media/image658.png"/><Relationship Id="rId4" Type="http://schemas.openxmlformats.org/officeDocument/2006/relationships/image" Target="../media/image659.png"/><Relationship Id="rId5" Type="http://schemas.openxmlformats.org/officeDocument/2006/relationships/image" Target="../media/image660.png"/><Relationship Id="rId6" Type="http://schemas.openxmlformats.org/officeDocument/2006/relationships/image" Target="../media/image66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2.png"/><Relationship Id="rId3" Type="http://schemas.openxmlformats.org/officeDocument/2006/relationships/image" Target="../media/image663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4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5.png"/><Relationship Id="rId3" Type="http://schemas.openxmlformats.org/officeDocument/2006/relationships/image" Target="../media/image666.png"/><Relationship Id="rId4" Type="http://schemas.openxmlformats.org/officeDocument/2006/relationships/image" Target="../media/image667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8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9.png"/><Relationship Id="rId3" Type="http://schemas.openxmlformats.org/officeDocument/2006/relationships/image" Target="../media/image670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1.png"/><Relationship Id="rId3" Type="http://schemas.openxmlformats.org/officeDocument/2006/relationships/image" Target="../media/image672.png"/><Relationship Id="rId4" Type="http://schemas.openxmlformats.org/officeDocument/2006/relationships/image" Target="../media/image673.png"/><Relationship Id="rId5" Type="http://schemas.openxmlformats.org/officeDocument/2006/relationships/image" Target="../media/image674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5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6.png"/><Relationship Id="rId3" Type="http://schemas.openxmlformats.org/officeDocument/2006/relationships/image" Target="../media/image677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8.png"/><Relationship Id="rId3" Type="http://schemas.openxmlformats.org/officeDocument/2006/relationships/image" Target="../media/image679.png"/><Relationship Id="rId4" Type="http://schemas.openxmlformats.org/officeDocument/2006/relationships/image" Target="../media/image680.png"/><Relationship Id="rId5" Type="http://schemas.openxmlformats.org/officeDocument/2006/relationships/image" Target="../media/image68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2.png"/><Relationship Id="rId3" Type="http://schemas.openxmlformats.org/officeDocument/2006/relationships/image" Target="../media/image683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4.png"/><Relationship Id="rId3" Type="http://schemas.openxmlformats.org/officeDocument/2006/relationships/image" Target="../media/image685.png"/><Relationship Id="rId4" Type="http://schemas.openxmlformats.org/officeDocument/2006/relationships/image" Target="../media/image686.png"/><Relationship Id="rId5" Type="http://schemas.openxmlformats.org/officeDocument/2006/relationships/image" Target="../media/image687.png"/><Relationship Id="rId6" Type="http://schemas.openxmlformats.org/officeDocument/2006/relationships/image" Target="../media/image688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9.png"/><Relationship Id="rId3" Type="http://schemas.openxmlformats.org/officeDocument/2006/relationships/image" Target="../media/image690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1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2.png"/><Relationship Id="rId3" Type="http://schemas.openxmlformats.org/officeDocument/2006/relationships/image" Target="../media/image693.png"/><Relationship Id="rId4" Type="http://schemas.openxmlformats.org/officeDocument/2006/relationships/image" Target="../media/image694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5.png"/><Relationship Id="rId3" Type="http://schemas.openxmlformats.org/officeDocument/2006/relationships/image" Target="../media/image696.png"/><Relationship Id="rId4" Type="http://schemas.openxmlformats.org/officeDocument/2006/relationships/image" Target="../media/image697.png"/><Relationship Id="rId5" Type="http://schemas.openxmlformats.org/officeDocument/2006/relationships/image" Target="../media/image698.png"/><Relationship Id="rId6" Type="http://schemas.openxmlformats.org/officeDocument/2006/relationships/image" Target="../media/image699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0.png"/><Relationship Id="rId3" Type="http://schemas.openxmlformats.org/officeDocument/2006/relationships/image" Target="../media/image70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0.png"/><Relationship Id="rId3" Type="http://schemas.openxmlformats.org/officeDocument/2006/relationships/image" Target="../media/image702.png"/><Relationship Id="rId4" Type="http://schemas.openxmlformats.org/officeDocument/2006/relationships/image" Target="../media/image701.png"/><Relationship Id="rId5" Type="http://schemas.openxmlformats.org/officeDocument/2006/relationships/image" Target="../media/image703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4.png"/><Relationship Id="rId3" Type="http://schemas.openxmlformats.org/officeDocument/2006/relationships/image" Target="../media/image705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6.png"/><Relationship Id="rId3" Type="http://schemas.openxmlformats.org/officeDocument/2006/relationships/image" Target="../media/image707.png"/><Relationship Id="rId4" Type="http://schemas.openxmlformats.org/officeDocument/2006/relationships/image" Target="../media/image708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9.png"/><Relationship Id="rId3" Type="http://schemas.openxmlformats.org/officeDocument/2006/relationships/image" Target="../media/image710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1.png"/><Relationship Id="rId3" Type="http://schemas.openxmlformats.org/officeDocument/2006/relationships/image" Target="../media/image712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3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4.png"/><Relationship Id="rId3" Type="http://schemas.openxmlformats.org/officeDocument/2006/relationships/image" Target="../media/image715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6.png"/><Relationship Id="rId3" Type="http://schemas.openxmlformats.org/officeDocument/2006/relationships/image" Target="../media/image717.png"/><Relationship Id="rId4" Type="http://schemas.openxmlformats.org/officeDocument/2006/relationships/image" Target="../media/image718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9.png"/><Relationship Id="rId3" Type="http://schemas.openxmlformats.org/officeDocument/2006/relationships/image" Target="../media/image720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1.png"/><Relationship Id="rId3" Type="http://schemas.openxmlformats.org/officeDocument/2006/relationships/image" Target="../media/image722.png"/><Relationship Id="rId4" Type="http://schemas.openxmlformats.org/officeDocument/2006/relationships/image" Target="../media/image723.png"/><Relationship Id="rId5" Type="http://schemas.openxmlformats.org/officeDocument/2006/relationships/image" Target="../media/image724.png"/><Relationship Id="rId6" Type="http://schemas.openxmlformats.org/officeDocument/2006/relationships/image" Target="../media/image725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6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7.png"/><Relationship Id="rId3" Type="http://schemas.openxmlformats.org/officeDocument/2006/relationships/image" Target="../media/image728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9.png"/><Relationship Id="rId3" Type="http://schemas.openxmlformats.org/officeDocument/2006/relationships/image" Target="../media/image730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2.png"/><Relationship Id="rId3" Type="http://schemas.openxmlformats.org/officeDocument/2006/relationships/image" Target="../media/image733.png"/><Relationship Id="rId4" Type="http://schemas.openxmlformats.org/officeDocument/2006/relationships/image" Target="../media/image734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5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6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7.png"/><Relationship Id="rId3" Type="http://schemas.openxmlformats.org/officeDocument/2006/relationships/image" Target="../media/image738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9.png"/><Relationship Id="rId3" Type="http://schemas.openxmlformats.org/officeDocument/2006/relationships/image" Target="../media/image740.png"/><Relationship Id="rId4" Type="http://schemas.openxmlformats.org/officeDocument/2006/relationships/image" Target="../media/image741.png"/><Relationship Id="rId5" Type="http://schemas.openxmlformats.org/officeDocument/2006/relationships/image" Target="../media/image742.png"/><Relationship Id="rId6" Type="http://schemas.openxmlformats.org/officeDocument/2006/relationships/image" Target="../media/image743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6.png"/><Relationship Id="rId3" Type="http://schemas.openxmlformats.org/officeDocument/2006/relationships/image" Target="../media/image747.png"/><Relationship Id="rId4" Type="http://schemas.openxmlformats.org/officeDocument/2006/relationships/image" Target="../media/image748.png"/><Relationship Id="rId5" Type="http://schemas.openxmlformats.org/officeDocument/2006/relationships/image" Target="../media/image749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0.png"/><Relationship Id="rId3" Type="http://schemas.openxmlformats.org/officeDocument/2006/relationships/image" Target="../media/image751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2.png"/><Relationship Id="rId3" Type="http://schemas.openxmlformats.org/officeDocument/2006/relationships/image" Target="../media/image753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4.png"/><Relationship Id="rId3" Type="http://schemas.openxmlformats.org/officeDocument/2006/relationships/image" Target="../media/image755.png"/><Relationship Id="rId4" Type="http://schemas.openxmlformats.org/officeDocument/2006/relationships/image" Target="../media/image741.png"/><Relationship Id="rId5" Type="http://schemas.openxmlformats.org/officeDocument/2006/relationships/image" Target="../media/image756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7.png"/><Relationship Id="rId3" Type="http://schemas.openxmlformats.org/officeDocument/2006/relationships/image" Target="../media/image758.png"/><Relationship Id="rId4" Type="http://schemas.openxmlformats.org/officeDocument/2006/relationships/image" Target="../media/image759.png"/><Relationship Id="rId5" Type="http://schemas.openxmlformats.org/officeDocument/2006/relationships/image" Target="../media/image760.png"/><Relationship Id="rId6" Type="http://schemas.openxmlformats.org/officeDocument/2006/relationships/image" Target="../media/image761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Exponents and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Ten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— Exponents and 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— Exponents and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Product Laws of Exponents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3.02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Quotient Laws of Exponents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3.03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Exponential Expressions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3.04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Negative Exponent Law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3.05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Applying Exponent Laws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3.06–07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Evaluating and Equivalent Expressions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hlinkClick action="ppaction://hlinksldjump" r:id="rId8"/>
          </p:cNvPr>
          <p:cNvSpPr txBox="1"/>
          <p:nvPr/>
        </p:nvSpPr>
        <p:spPr>
          <a:xfrm>
            <a:off x="1143000" y="430682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T-A1</a:t>
            </a:r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2560320" y="430682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Exponent Laws with Variable Bases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9555480" y="430682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209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476402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1143000" y="472744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T-A2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2560320" y="472744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Negative Exponents with Variable Bases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9555480" y="472744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243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43000" y="518464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hlinkClick action="ppaction://hlinksldjump" r:id="rId10"/>
          </p:cNvPr>
          <p:cNvSpPr txBox="1"/>
          <p:nvPr/>
        </p:nvSpPr>
        <p:spPr>
          <a:xfrm>
            <a:off x="1143000" y="514807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3.08</a:t>
            </a:r>
          </a:p>
        </p:txBody>
      </p:sp>
      <p:sp>
        <p:nvSpPr>
          <p:cNvPr id="41" name="TextBox 40">
            <a:hlinkClick action="ppaction://hlinksldjump" r:id="rId10"/>
          </p:cNvPr>
          <p:cNvSpPr txBox="1"/>
          <p:nvPr/>
        </p:nvSpPr>
        <p:spPr>
          <a:xfrm>
            <a:off x="2560320" y="514807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Writing Large Numbers in Scientific Notation</a:t>
            </a:r>
          </a:p>
        </p:txBody>
      </p:sp>
      <p:sp>
        <p:nvSpPr>
          <p:cNvPr id="42" name="TextBox 41">
            <a:hlinkClick action="ppaction://hlinksldjump" r:id="rId10"/>
          </p:cNvPr>
          <p:cNvSpPr txBox="1"/>
          <p:nvPr/>
        </p:nvSpPr>
        <p:spPr>
          <a:xfrm>
            <a:off x="9555480" y="514807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277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43000" y="560527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hlinkClick action="ppaction://hlinksldjump" r:id="rId11"/>
          </p:cNvPr>
          <p:cNvSpPr txBox="1"/>
          <p:nvPr/>
        </p:nvSpPr>
        <p:spPr>
          <a:xfrm>
            <a:off x="1143000" y="556869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3.09</a:t>
            </a:r>
          </a:p>
        </p:txBody>
      </p:sp>
      <p:sp>
        <p:nvSpPr>
          <p:cNvPr id="45" name="TextBox 44">
            <a:hlinkClick action="ppaction://hlinksldjump" r:id="rId11"/>
          </p:cNvPr>
          <p:cNvSpPr txBox="1"/>
          <p:nvPr/>
        </p:nvSpPr>
        <p:spPr>
          <a:xfrm>
            <a:off x="2560320" y="556869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Writing Small Numbers in Scientific Notation</a:t>
            </a:r>
          </a:p>
        </p:txBody>
      </p:sp>
      <p:sp>
        <p:nvSpPr>
          <p:cNvPr id="46" name="TextBox 45">
            <a:hlinkClick action="ppaction://hlinksldjump" r:id="rId11"/>
          </p:cNvPr>
          <p:cNvSpPr txBox="1"/>
          <p:nvPr/>
        </p:nvSpPr>
        <p:spPr>
          <a:xfrm>
            <a:off x="9555480" y="556869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311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43000" y="602589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the product of powers, power of a product, power of a power and identity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dfad0a4d6a24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67970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063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Between which two whole numbers is </a:t>
            </a:r>
          </a:p>
        </p:txBody>
      </p:sp>
      <p:pic>
        <p:nvPicPr>
          <p:cNvPr id="11" name="Picture 10" descr="77d9db560e6d3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442" y="2086356"/>
            <a:ext cx="72542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25866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e6d9f3b3b9bc14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92936" cy="225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34365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6" name="Picture 15" descr="dec8111956789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300984"/>
            <a:ext cx="640080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dfad0a4d6a24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67970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37265" y="1440180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063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Between which two whole numbers is </a:t>
            </a:r>
          </a:p>
        </p:txBody>
      </p:sp>
      <p:pic>
        <p:nvPicPr>
          <p:cNvPr id="12" name="Picture 11" descr="77d9db560e6d3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442" y="2086356"/>
            <a:ext cx="72542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25866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7977" y="2052828"/>
            <a:ext cx="13045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and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e6d9f3b3b9bc14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92936" cy="225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91231" y="2665476"/>
            <a:ext cx="9303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365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9" name="Picture 18" descr="dec8111956789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300984"/>
            <a:ext cx="640080" cy="542544"/>
          </a:xfrm>
          <a:prstGeom prst="rect">
            <a:avLst/>
          </a:prstGeom>
        </p:spPr>
      </p:pic>
      <p:pic>
        <p:nvPicPr>
          <p:cNvPr id="20" name="Picture 19" descr="2579f76da3769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635" y="3300984"/>
            <a:ext cx="1981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power is a shorthand for repeated multiplication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0392" y="197510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base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the number used as a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70662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88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78892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exponent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how many times the base is a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343814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2043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3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power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the whole thing, base and exponent together</a:t>
            </a:r>
          </a:p>
        </p:txBody>
      </p:sp>
      <p:pic>
        <p:nvPicPr>
          <p:cNvPr id="19" name="Picture 18" descr="4d4b8fabf5344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67" y="4357116"/>
            <a:ext cx="2383536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01603" y="4296156"/>
            <a:ext cx="955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</a:t>
            </a:r>
          </a:p>
        </p:txBody>
      </p:sp>
      <p:pic>
        <p:nvPicPr>
          <p:cNvPr id="21" name="Picture 20" descr="3fda2a6399064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08" y="4187952"/>
            <a:ext cx="2523744" cy="673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Product of powers — same base, add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42b4bcba7fe8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1993392"/>
            <a:ext cx="4315968" cy="411480"/>
          </a:xfrm>
          <a:prstGeom prst="rect">
            <a:avLst/>
          </a:prstGeom>
        </p:spPr>
      </p:pic>
      <p:pic>
        <p:nvPicPr>
          <p:cNvPr id="11" name="Picture 10" descr="3565be77b64ee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12" y="2679192"/>
            <a:ext cx="362712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7932" y="2656332"/>
            <a:ext cx="5309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— different bases, no shortcut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87852"/>
            <a:ext cx="3203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Product of powers:  </a:t>
            </a:r>
          </a:p>
        </p:txBody>
      </p:sp>
      <p:pic>
        <p:nvPicPr>
          <p:cNvPr id="14" name="Picture 13" descr="968ec809d435da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105" y="3471672"/>
            <a:ext cx="2447544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055363"/>
            <a:ext cx="2997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 with values:  </a:t>
            </a:r>
          </a:p>
        </p:txBody>
      </p:sp>
      <p:pic>
        <p:nvPicPr>
          <p:cNvPr id="16" name="Picture 15" descr="d5d6c6f7443137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85" y="4113275"/>
            <a:ext cx="391058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44ef493e450a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1994916"/>
            <a:ext cx="878738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02052"/>
            <a:ext cx="33430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product:  </a:t>
            </a:r>
          </a:p>
        </p:txBody>
      </p:sp>
      <p:pic>
        <p:nvPicPr>
          <p:cNvPr id="12" name="Picture 11" descr="b9ea13f96cb17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84" y="2747772"/>
            <a:ext cx="2639568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Works for a product only, never for a sum:</a:t>
            </a:r>
          </a:p>
        </p:txBody>
      </p:sp>
      <p:pic>
        <p:nvPicPr>
          <p:cNvPr id="14" name="Picture 13" descr="39ca05d2d51d1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25468"/>
            <a:ext cx="3654552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2104" y="4101083"/>
            <a:ext cx="1180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 but   </a:t>
            </a:r>
          </a:p>
        </p:txBody>
      </p:sp>
      <p:pic>
        <p:nvPicPr>
          <p:cNvPr id="16" name="Picture 15" descr="d063d47dd555d8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713" y="4125468"/>
            <a:ext cx="277977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1993392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(3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781044"/>
            <a:ext cx="3093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power:  </a:t>
            </a:r>
          </a:p>
        </p:txBody>
      </p:sp>
      <p:pic>
        <p:nvPicPr>
          <p:cNvPr id="12" name="Picture 11" descr="d8dde935facf94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01" y="3828288"/>
            <a:ext cx="1978152" cy="3627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22253" y="3781044"/>
            <a:ext cx="2452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     Identity:  </a:t>
            </a:r>
          </a:p>
        </p:txBody>
      </p:sp>
      <p:pic>
        <p:nvPicPr>
          <p:cNvPr id="14" name="Picture 13" descr="c0cd50cdc3f131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259" y="3838956"/>
            <a:ext cx="972311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329b8ca23c9d75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38171"/>
            <a:ext cx="935736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c20bafbdc63ca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1968" cy="341376"/>
          </a:xfrm>
          <a:prstGeom prst="rect">
            <a:avLst/>
          </a:prstGeom>
        </p:spPr>
      </p:pic>
      <p:pic>
        <p:nvPicPr>
          <p:cNvPr id="9" name="Picture 8" descr="7bb738bd6adb7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1371600" cy="335280"/>
          </a:xfrm>
          <a:prstGeom prst="rect">
            <a:avLst/>
          </a:prstGeom>
        </p:spPr>
      </p:pic>
      <p:pic>
        <p:nvPicPr>
          <p:cNvPr id="10" name="Picture 9" descr="a913e805eb431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45536"/>
            <a:ext cx="186232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03341d68f8c1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51" y="1600200"/>
            <a:ext cx="119481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517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e5689ca828315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1600200"/>
            <a:ext cx="119786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517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bfd4a5c1b9d0cb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96" y="3184762"/>
            <a:ext cx="2581656" cy="301752"/>
          </a:xfrm>
          <a:prstGeom prst="rect">
            <a:avLst/>
          </a:prstGeom>
        </p:spPr>
      </p:pic>
      <p:pic>
        <p:nvPicPr>
          <p:cNvPr id="11" name="Picture 10" descr="93c08fb8bb36cd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796" y="3724258"/>
            <a:ext cx="1197864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f74b6125835b4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732" y="2103120"/>
            <a:ext cx="121005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87870fb252ca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005072" cy="414528"/>
          </a:xfrm>
          <a:prstGeom prst="rect">
            <a:avLst/>
          </a:prstGeom>
        </p:spPr>
      </p:pic>
      <p:pic>
        <p:nvPicPr>
          <p:cNvPr id="9" name="Picture 8" descr="c753a81ccef19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1670304" cy="414528"/>
          </a:xfrm>
          <a:prstGeom prst="rect">
            <a:avLst/>
          </a:prstGeom>
        </p:spPr>
      </p:pic>
      <p:pic>
        <p:nvPicPr>
          <p:cNvPr id="10" name="Picture 9" descr="da387a30282d42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7935"/>
            <a:ext cx="167944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cfb8ebff7a58f4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4" y="1600200"/>
            <a:ext cx="1505712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f91f6c751d4e9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4" y="1600200"/>
            <a:ext cx="1505712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9760ae71abb97b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04" y="3244198"/>
            <a:ext cx="3672840" cy="371856"/>
          </a:xfrm>
          <a:prstGeom prst="rect">
            <a:avLst/>
          </a:prstGeom>
        </p:spPr>
      </p:pic>
      <p:pic>
        <p:nvPicPr>
          <p:cNvPr id="11" name="Picture 10" descr="e55c874f9b6e92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204" y="3783694"/>
            <a:ext cx="1670304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(−3)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729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1e26e5bc6d68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2194560"/>
            <a:ext cx="119786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a10b19c9014489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04" y="2103120"/>
            <a:ext cx="1200912" cy="420624"/>
          </a:xfrm>
          <a:prstGeom prst="rect">
            <a:avLst/>
          </a:prstGeom>
        </p:spPr>
      </p:pic>
      <p:pic>
        <p:nvPicPr>
          <p:cNvPr id="9" name="Picture 8" descr="c3ef13471fa147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843" y="2878836"/>
            <a:ext cx="2578608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4232" y="45979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24dca2f9e99e6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472" y="4663440"/>
            <a:ext cx="432816" cy="4175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084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is  </a:t>
            </a:r>
          </a:p>
        </p:txBody>
      </p:sp>
      <p:pic>
        <p:nvPicPr>
          <p:cNvPr id="9" name="Picture 8" descr="be331936b361ba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34" y="1946147"/>
            <a:ext cx="286512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2246" y="1851660"/>
            <a:ext cx="37012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 and  </a:t>
            </a:r>
          </a:p>
        </p:txBody>
      </p:sp>
      <p:pic>
        <p:nvPicPr>
          <p:cNvPr id="11" name="Picture 10" descr="d631b8b2f265b3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18" y="194310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0638" y="185166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084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is  </a:t>
            </a:r>
          </a:p>
        </p:txBody>
      </p:sp>
      <p:pic>
        <p:nvPicPr>
          <p:cNvPr id="9" name="Picture 8" descr="c15b55b0bc0ad0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34" y="1944623"/>
            <a:ext cx="28956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5294" y="1851660"/>
            <a:ext cx="37012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 and  </a:t>
            </a:r>
          </a:p>
        </p:txBody>
      </p:sp>
      <p:pic>
        <p:nvPicPr>
          <p:cNvPr id="11" name="Picture 10" descr="2187ef2d8316ce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366" y="1943100"/>
            <a:ext cx="277368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6734" y="185166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522" y="3661376"/>
            <a:ext cx="34096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= length × width</a:t>
            </a:r>
          </a:p>
        </p:txBody>
      </p:sp>
      <p:pic>
        <p:nvPicPr>
          <p:cNvPr id="16" name="Picture 15" descr="00eded558c78f1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86" y="4263356"/>
            <a:ext cx="2194560" cy="259080"/>
          </a:xfrm>
          <a:prstGeom prst="rect">
            <a:avLst/>
          </a:prstGeom>
        </p:spPr>
      </p:pic>
      <p:pic>
        <p:nvPicPr>
          <p:cNvPr id="17" name="Picture 16" descr="8539984585d0f2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86" y="4766276"/>
            <a:ext cx="890016" cy="259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387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64 square centimeters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613e669cfd3b6d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2194560"/>
            <a:ext cx="1591056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7c404630188da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707" y="2103120"/>
            <a:ext cx="1594104" cy="509016"/>
          </a:xfrm>
          <a:prstGeom prst="rect">
            <a:avLst/>
          </a:prstGeom>
        </p:spPr>
      </p:pic>
      <p:pic>
        <p:nvPicPr>
          <p:cNvPr id="9" name="Picture 8" descr="c7daae656677e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308" y="2935224"/>
            <a:ext cx="5818632" cy="368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27,000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f29e4c51122a8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459" y="2194560"/>
            <a:ext cx="990599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8eed60f03f689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936" y="2103120"/>
            <a:ext cx="993648" cy="509016"/>
          </a:xfrm>
          <a:prstGeom prst="rect">
            <a:avLst/>
          </a:prstGeom>
        </p:spPr>
      </p:pic>
      <p:pic>
        <p:nvPicPr>
          <p:cNvPr id="9" name="Picture 8" descr="a192ef6ffd071b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67" y="2933699"/>
            <a:ext cx="2343912" cy="371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5755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4d9300a6406813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4663440"/>
            <a:ext cx="42976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8bbe3445ce6255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94560"/>
            <a:ext cx="125882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869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6d2e0b7339287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9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3a724d11a6d468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3" y="3452191"/>
            <a:ext cx="2654808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f79d3fb96450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260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23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23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78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78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403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9039f0d29f00b5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76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fbd677bc817940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135" y="3505531"/>
            <a:ext cx="2471928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33980bdb1b2c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194560"/>
            <a:ext cx="2407920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fa821c78ab6d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1" y="2103120"/>
            <a:ext cx="2414016" cy="512064"/>
          </a:xfrm>
          <a:prstGeom prst="rect">
            <a:avLst/>
          </a:prstGeom>
        </p:spPr>
      </p:pic>
      <p:pic>
        <p:nvPicPr>
          <p:cNvPr id="9" name="Picture 8" descr="f1691282fd903b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47" y="2936748"/>
            <a:ext cx="4340352" cy="371856"/>
          </a:xfrm>
          <a:prstGeom prst="rect">
            <a:avLst/>
          </a:prstGeom>
        </p:spPr>
      </p:pic>
      <p:pic>
        <p:nvPicPr>
          <p:cNvPr id="10" name="Picture 9" descr="e24b5ec6ef9ddd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447" y="3477768"/>
            <a:ext cx="1673352" cy="368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3d20fb6b472c53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803" y="2194560"/>
            <a:ext cx="234391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9bac66b5c58a7c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2103120"/>
            <a:ext cx="2340864" cy="841248"/>
          </a:xfrm>
          <a:prstGeom prst="rect">
            <a:avLst/>
          </a:prstGeom>
        </p:spPr>
      </p:pic>
      <p:pic>
        <p:nvPicPr>
          <p:cNvPr id="9" name="Picture 8" descr="efcb7ed02df521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595" y="3246120"/>
            <a:ext cx="4264152" cy="612648"/>
          </a:xfrm>
          <a:prstGeom prst="rect">
            <a:avLst/>
          </a:prstGeom>
        </p:spPr>
      </p:pic>
      <p:pic>
        <p:nvPicPr>
          <p:cNvPr id="10" name="Picture 9" descr="2365def5832106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595" y="3986783"/>
            <a:ext cx="1438656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8511" y="488442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74507af7579a5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751" y="4736592"/>
            <a:ext cx="524256" cy="8442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4842" y="2746579"/>
            <a:ext cx="22220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to evaluate  </a:t>
            </a:r>
          </a:p>
        </p:txBody>
      </p:sp>
      <p:pic>
        <p:nvPicPr>
          <p:cNvPr id="10" name="Picture 9" descr="2ac5303067d16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698" y="2770963"/>
            <a:ext cx="1697736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07434" y="2746579"/>
            <a:ext cx="24664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3318" y="2655139"/>
            <a:ext cx="22220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to evaluate  </a:t>
            </a:r>
          </a:p>
        </p:txBody>
      </p:sp>
      <p:pic>
        <p:nvPicPr>
          <p:cNvPr id="10" name="Picture 9" descr="d92052160a3b4a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174" y="2679523"/>
            <a:ext cx="170078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08958" y="2655139"/>
            <a:ext cx="24664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6746" y="3414091"/>
            <a:ext cx="73251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 is a sum, not a product.</a:t>
            </a:r>
          </a:p>
        </p:txBody>
      </p:sp>
      <p:pic>
        <p:nvPicPr>
          <p:cNvPr id="13" name="Picture 12" descr="5256d7b7f99b4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610" y="4013023"/>
            <a:ext cx="1417320" cy="265176"/>
          </a:xfrm>
          <a:prstGeom prst="rect">
            <a:avLst/>
          </a:prstGeom>
        </p:spPr>
      </p:pic>
      <p:pic>
        <p:nvPicPr>
          <p:cNvPr id="14" name="Picture 13" descr="5fe753b3272aac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610" y="4522039"/>
            <a:ext cx="1018032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(9 + (−3))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e58cd8710f0bf3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63" y="1588008"/>
            <a:ext cx="780288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4b095ad4a4725d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180844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6" name="Picture 15" descr="99f4e10d55b01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63" y="2746247"/>
            <a:ext cx="609600" cy="332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3825344689b6a4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339083"/>
            <a:ext cx="886968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7248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bb914d77e9f3c4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3933444"/>
            <a:ext cx="1591056" cy="335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66844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611624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46684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dc32ec21fb3f89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556760"/>
            <a:ext cx="1392936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powers — SZQ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Multiplication with exponents — 5SK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 rule — 8DA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Understanding exponents — BFA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the quotient of powers, power of a quotient and zero exponent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8c968e8bf18d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3" name="Picture 12" descr="ff0aa95dcc4008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5" name="Picture 14" descr="f6a28b8ae12f37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pic>
        <p:nvPicPr>
          <p:cNvPr id="10" name="Picture 9" descr="228b900b807e9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66" y="1533144"/>
            <a:ext cx="274320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58c968e8bf18d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34283" y="2052828"/>
            <a:ext cx="5547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5" name="Picture 14" descr="ff0aa95dcc4008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72943" y="2665476"/>
            <a:ext cx="92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&lt;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8" name="Picture 17" descr="f6a28b8ae12f3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5121" y="3278124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Quotient of powers — same base, subtract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75c22fc6b7d8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1993392"/>
            <a:ext cx="5547360" cy="795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2404"/>
            <a:ext cx="333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Quotient of powers:  </a:t>
            </a:r>
          </a:p>
        </p:txBody>
      </p:sp>
      <p:pic>
        <p:nvPicPr>
          <p:cNvPr id="12" name="Picture 11" descr="2719c53adc764b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493" y="3108960"/>
            <a:ext cx="1840991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4485" y="3232404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47b5f205461fb9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692" y="3322320"/>
            <a:ext cx="810768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05460" y="3232404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8244"/>
            <a:ext cx="2997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 with values:  </a:t>
            </a:r>
          </a:p>
        </p:txBody>
      </p:sp>
      <p:pic>
        <p:nvPicPr>
          <p:cNvPr id="17" name="Picture 16" descr="d483ca18e1ed7f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85" y="4069080"/>
            <a:ext cx="3602736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c7f0c386a86fa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80" y="1993392"/>
            <a:ext cx="6385560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0880"/>
            <a:ext cx="3428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quotient:  </a:t>
            </a:r>
          </a:p>
        </p:txBody>
      </p:sp>
      <p:pic>
        <p:nvPicPr>
          <p:cNvPr id="12" name="Picture 11" descr="e37a072013928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61" y="3105912"/>
            <a:ext cx="1804416" cy="707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2877" y="3230880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cc4966101ceb7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84" y="3314700"/>
            <a:ext cx="798576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51660" y="3230880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6720"/>
            <a:ext cx="1950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Either way:  </a:t>
            </a:r>
          </a:p>
        </p:txBody>
      </p:sp>
      <p:pic>
        <p:nvPicPr>
          <p:cNvPr id="17" name="Picture 16" descr="39a07b3eaa91d2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543" y="4069080"/>
            <a:ext cx="3233928" cy="792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4471" y="4236720"/>
            <a:ext cx="1252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9" name="Picture 18" descr="5df7a26ae56fb2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569" y="4262628"/>
            <a:ext cx="2240280" cy="4053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1993392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6cadf9b5edf7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66" y="2990088"/>
            <a:ext cx="1581912" cy="786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00178" y="3154680"/>
            <a:ext cx="1946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and      </a:t>
            </a:r>
          </a:p>
        </p:txBody>
      </p:sp>
      <p:pic>
        <p:nvPicPr>
          <p:cNvPr id="13" name="Picture 12" descr="3f4324b961ec0a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873" y="2990088"/>
            <a:ext cx="2273808" cy="786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3681" y="3154680"/>
            <a:ext cx="16914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so      </a:t>
            </a:r>
          </a:p>
        </p:txBody>
      </p:sp>
      <p:pic>
        <p:nvPicPr>
          <p:cNvPr id="15" name="Picture 14" descr="30376742585bb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997" y="3214116"/>
            <a:ext cx="90525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073651"/>
            <a:ext cx="265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Zero exponent:  </a:t>
            </a:r>
          </a:p>
        </p:txBody>
      </p:sp>
      <p:pic>
        <p:nvPicPr>
          <p:cNvPr id="17" name="Picture 16" descr="6d55b3ee72809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385" y="4131563"/>
            <a:ext cx="954023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55409" y="4073651"/>
            <a:ext cx="3247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for every nonzero </a:t>
            </a:r>
          </a:p>
        </p:txBody>
      </p:sp>
      <p:pic>
        <p:nvPicPr>
          <p:cNvPr id="19" name="Picture 18" descr="7feb388dbf36f7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025" y="4197096"/>
            <a:ext cx="204216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6370c244a2f01b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5" y="2103120"/>
            <a:ext cx="886968" cy="935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417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c94eb2ca76e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91712" cy="938784"/>
          </a:xfrm>
          <a:prstGeom prst="rect">
            <a:avLst/>
          </a:prstGeom>
        </p:spPr>
      </p:pic>
      <p:pic>
        <p:nvPicPr>
          <p:cNvPr id="9" name="Picture 8" descr="a554635d943785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3344"/>
            <a:ext cx="1648968" cy="408432"/>
          </a:xfrm>
          <a:prstGeom prst="rect">
            <a:avLst/>
          </a:prstGeom>
        </p:spPr>
      </p:pic>
      <p:pic>
        <p:nvPicPr>
          <p:cNvPr id="10" name="Picture 9" descr="5c1f83d7f33d27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233172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686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c1d7f761d4b7d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1600200"/>
            <a:ext cx="466344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9a555cc0fb30ff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635" y="1600200"/>
            <a:ext cx="460247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a96092e33ee729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99" y="3712066"/>
            <a:ext cx="2063496" cy="722376"/>
          </a:xfrm>
          <a:prstGeom prst="rect">
            <a:avLst/>
          </a:prstGeom>
        </p:spPr>
      </p:pic>
      <p:pic>
        <p:nvPicPr>
          <p:cNvPr id="11" name="Picture 10" descr="2d0acfb864622b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99" y="4615798"/>
            <a:ext cx="103022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1110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02fe0df1b08bc8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356" y="2103120"/>
            <a:ext cx="1130808" cy="673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9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d097b929243b7c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34384" cy="795528"/>
          </a:xfrm>
          <a:prstGeom prst="rect">
            <a:avLst/>
          </a:prstGeom>
        </p:spPr>
      </p:pic>
      <p:pic>
        <p:nvPicPr>
          <p:cNvPr id="9" name="Picture 8" descr="798f0955cfae5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0088"/>
            <a:ext cx="3733799" cy="682752"/>
          </a:xfrm>
          <a:prstGeom prst="rect">
            <a:avLst/>
          </a:prstGeom>
        </p:spPr>
      </p:pic>
      <p:pic>
        <p:nvPicPr>
          <p:cNvPr id="10" name="Picture 9" descr="66e59263d2af3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47160"/>
            <a:ext cx="370332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279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0.00000016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44e7eea339e5c1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1600200"/>
            <a:ext cx="100888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be6f9f06f8660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1600200"/>
            <a:ext cx="10119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  <p:pic>
        <p:nvPicPr>
          <p:cNvPr id="10" name="Picture 9" descr="02ea3d3dd2c1ff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7" y="3550522"/>
            <a:ext cx="221589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4128" y="46253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b8c676244c610a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368" y="4480560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3e9756fa540e4c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380" y="2194560"/>
            <a:ext cx="746760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ca365731157fa0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04" y="2103120"/>
            <a:ext cx="743712" cy="990599"/>
          </a:xfrm>
          <a:prstGeom prst="rect">
            <a:avLst/>
          </a:prstGeom>
        </p:spPr>
      </p:pic>
      <p:pic>
        <p:nvPicPr>
          <p:cNvPr id="9" name="Picture 8" descr="f1d501cf95f357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19" y="3395471"/>
            <a:ext cx="2654808" cy="71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3836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20daecf28d212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076" y="4663440"/>
            <a:ext cx="67360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15b8f32e295ee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6147"/>
            <a:ext cx="280416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9616" y="1851660"/>
            <a:ext cx="44628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7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dc729c1ffc747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4623"/>
            <a:ext cx="283464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2664" y="1851660"/>
            <a:ext cx="44628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7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pic>
        <p:nvPicPr>
          <p:cNvPr id="13" name="Picture 12" descr="95b43b6c839910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75" y="3736052"/>
            <a:ext cx="2673096" cy="307848"/>
          </a:xfrm>
          <a:prstGeom prst="rect">
            <a:avLst/>
          </a:prstGeom>
        </p:spPr>
      </p:pic>
      <p:pic>
        <p:nvPicPr>
          <p:cNvPr id="14" name="Picture 13" descr="64ee76928545b3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075" y="4277072"/>
            <a:ext cx="1213104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343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65357565e2967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5" y="2194560"/>
            <a:ext cx="1115568" cy="1167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a2d988691ed7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9" y="2103120"/>
            <a:ext cx="1112520" cy="1167384"/>
          </a:xfrm>
          <a:prstGeom prst="rect">
            <a:avLst/>
          </a:prstGeom>
        </p:spPr>
      </p:pic>
      <p:pic>
        <p:nvPicPr>
          <p:cNvPr id="9" name="Picture 8" descr="9ede1db765067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43" y="3572255"/>
            <a:ext cx="4178808" cy="847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dda27b062e079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e21e0d759d6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1248"/>
          </a:xfrm>
          <a:prstGeom prst="rect">
            <a:avLst/>
          </a:prstGeom>
        </p:spPr>
      </p:pic>
      <p:pic>
        <p:nvPicPr>
          <p:cNvPr id="9" name="Picture 8" descr="3578dff92cd33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03" y="3246120"/>
            <a:ext cx="2069591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4380" y="492709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4ab832f314e81a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20" y="4663440"/>
            <a:ext cx="1112520" cy="107594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24ad149a2162bc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9456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378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174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1629cabbb0de35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0312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234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450" y="3377515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1" name="Picture 10" descr="c09f26f770b7cb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994735"/>
            <a:ext cx="826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c64457c91756da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04" y="2194560"/>
            <a:ext cx="515112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492b406a8f5b1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2103120"/>
            <a:ext cx="512064" cy="987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92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131314ea478871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79" y="3967303"/>
            <a:ext cx="215493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0538c15f498df9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28" y="2194560"/>
            <a:ext cx="893064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0ae3b03db9ce2a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52" y="2103120"/>
            <a:ext cx="890016" cy="993648"/>
          </a:xfrm>
          <a:prstGeom prst="rect">
            <a:avLst/>
          </a:prstGeom>
        </p:spPr>
      </p:pic>
      <p:pic>
        <p:nvPicPr>
          <p:cNvPr id="9" name="Picture 8" descr="f1adc35cb08825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3" y="3398520"/>
            <a:ext cx="2974848" cy="716280"/>
          </a:xfrm>
          <a:prstGeom prst="rect">
            <a:avLst/>
          </a:prstGeom>
        </p:spPr>
      </p:pic>
      <p:pic>
        <p:nvPicPr>
          <p:cNvPr id="10" name="Picture 9" descr="0431727820ff0b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3" y="4296156"/>
            <a:ext cx="17830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914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0.125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6b12155fed1886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9336c4e0de941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53450" y="3226308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0" name="Picture 9" descr="57a6de2c0fe6ec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788664"/>
            <a:ext cx="1426464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565" y="1813560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6487e9973aa3b8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015" y="1645920"/>
            <a:ext cx="1783080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9095" y="1813560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b9bb78b1e21bea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776" y="1645920"/>
            <a:ext cx="1155192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73968" y="18135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12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517" y="1813560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11d10f7878f2ff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967" y="1645920"/>
            <a:ext cx="1786128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9095" y="1813560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dbd80c8d396a3c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776" y="1645920"/>
            <a:ext cx="1158240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77016" y="18135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12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5969" y="3435427"/>
            <a:ext cx="16516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Hannah:  </a:t>
            </a:r>
          </a:p>
        </p:txBody>
      </p:sp>
      <p:pic>
        <p:nvPicPr>
          <p:cNvPr id="15" name="Picture 14" descr="466255709ad01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420" y="3360751"/>
            <a:ext cx="1368552" cy="606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5969" y="4133419"/>
            <a:ext cx="1974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Sebastian:  </a:t>
            </a:r>
          </a:p>
        </p:txBody>
      </p:sp>
      <p:pic>
        <p:nvPicPr>
          <p:cNvPr id="17" name="Picture 16" descr="44267a0bd970c1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090" y="4058743"/>
            <a:ext cx="1761744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75969" y="4733875"/>
            <a:ext cx="30487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Same fraction, so  </a:t>
            </a:r>
          </a:p>
        </p:txBody>
      </p:sp>
      <p:pic>
        <p:nvPicPr>
          <p:cNvPr id="19" name="Picture 18" descr="7c74b884d49f45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558" y="4832935"/>
            <a:ext cx="697992" cy="25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0537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—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0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9218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92182"/>
            <a:ext cx="265499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a20fd9ba3a575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10" y="1517904"/>
            <a:ext cx="254309" cy="5262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502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50219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88fae2052833ae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518" y="2172163"/>
            <a:ext cx="271934" cy="533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95861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8614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6" name="Picture 15" descr="086531e7053a3b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518" y="2833977"/>
            <a:ext cx="616888" cy="626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62294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22945"/>
            <a:ext cx="85208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Rewrite so the exponent is on the numerator and on the denominator.  </a:t>
            </a:r>
          </a:p>
        </p:txBody>
      </p:sp>
      <p:pic>
        <p:nvPicPr>
          <p:cNvPr id="19" name="Picture 18" descr="eb63da779674ef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8218" y="3588953"/>
            <a:ext cx="533797" cy="4456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199150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99150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5724de55833e2d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518" y="4162640"/>
            <a:ext cx="667246" cy="4507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80179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1792"/>
            <a:ext cx="22538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208" y="4921393"/>
            <a:ext cx="120859" cy="138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92068" y="4801792"/>
            <a:ext cx="40179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0948e8ce7156c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703" y="4741362"/>
            <a:ext cx="783070" cy="49854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with negative bases — WFW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Division with exponents — XNC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apply more than one law of exponents to evaluate an expression and to write an equivalent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1" name="Picture 10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6" name="Picture 15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95488" y="1440180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2" name="Picture 11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8326" y="2284476"/>
            <a:ext cx="372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71647" y="2897124"/>
            <a:ext cx="9353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9" name="Picture 18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32315" y="3509772"/>
            <a:ext cx="584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seven laws, in one place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1993392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7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(−7 · 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(−7)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 ÷ 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(13 ÷ 5)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127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More than one law — make a plan, then follow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05456" y="2159508"/>
            <a:ext cx="17813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1" name="Picture 10" descr="26de40715e21e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95" y="1993392"/>
            <a:ext cx="3706368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1866" y="3297936"/>
            <a:ext cx="16105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Yvette:   </a:t>
            </a:r>
          </a:p>
        </p:txBody>
      </p:sp>
      <p:pic>
        <p:nvPicPr>
          <p:cNvPr id="13" name="Picture 12" descr="354e7e69552fdc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253" y="3057144"/>
            <a:ext cx="4724400" cy="938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34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057400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6440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6440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9592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9592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686299"/>
            <a:ext cx="39428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Never across a + or a −:  </a:t>
            </a:r>
          </a:p>
        </p:txBody>
      </p:sp>
      <p:pic>
        <p:nvPicPr>
          <p:cNvPr id="18" name="Picture 17" descr="b054382c410b7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624" y="4745736"/>
            <a:ext cx="3041904" cy="338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29528" y="4686299"/>
            <a:ext cx="9753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0" name="Picture 19" descr="b8a8a24b141b26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716" y="4748783"/>
            <a:ext cx="335280" cy="332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2996" y="4686299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871450e41cfad6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83" y="2103120"/>
            <a:ext cx="10637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98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359036a1f698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5056" cy="792480"/>
          </a:xfrm>
          <a:prstGeom prst="rect">
            <a:avLst/>
          </a:prstGeom>
        </p:spPr>
      </p:pic>
      <p:pic>
        <p:nvPicPr>
          <p:cNvPr id="9" name="Picture 8" descr="a9f26448e74da4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121152" cy="792480"/>
          </a:xfrm>
          <a:prstGeom prst="rect">
            <a:avLst/>
          </a:prstGeom>
        </p:spPr>
      </p:pic>
      <p:pic>
        <p:nvPicPr>
          <p:cNvPr id="10" name="Picture 9" descr="55388f3dbeaaa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3839"/>
            <a:ext cx="2014727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74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7c1c49302d0312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600200"/>
            <a:ext cx="1298448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64d9077d4a04b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1600200"/>
            <a:ext cx="1292352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6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7d5966605e1b5a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17" y="3762358"/>
            <a:ext cx="832104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9321" y="3686158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cfeba237a81f83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854" y="3762358"/>
            <a:ext cx="1414272" cy="304800"/>
          </a:xfrm>
          <a:prstGeom prst="rect">
            <a:avLst/>
          </a:prstGeom>
        </p:spPr>
      </p:pic>
      <p:pic>
        <p:nvPicPr>
          <p:cNvPr id="13" name="Picture 12" descr="c9da1d73bbb72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217" y="4248514"/>
            <a:ext cx="2834640" cy="719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0500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2eb7f507fb1bdd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147" y="2103120"/>
            <a:ext cx="21732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686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66ad9eb1c6c0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91584" cy="862584"/>
          </a:xfrm>
          <a:prstGeom prst="rect">
            <a:avLst/>
          </a:prstGeom>
        </p:spPr>
      </p:pic>
      <p:pic>
        <p:nvPicPr>
          <p:cNvPr id="9" name="Picture 8" descr="805526f61b3f74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57144"/>
            <a:ext cx="2709672" cy="676656"/>
          </a:xfrm>
          <a:prstGeom prst="rect">
            <a:avLst/>
          </a:prstGeom>
        </p:spPr>
      </p:pic>
      <p:pic>
        <p:nvPicPr>
          <p:cNvPr id="10" name="Picture 9" descr="e03466c326967c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08119"/>
            <a:ext cx="257860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737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10,000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31005eb0e2b93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95" y="1600200"/>
            <a:ext cx="2090928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c51ce23219019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00200"/>
            <a:ext cx="2084831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861380fef57da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23" y="3837034"/>
            <a:ext cx="813816" cy="307848"/>
          </a:xfrm>
          <a:prstGeom prst="rect">
            <a:avLst/>
          </a:prstGeom>
        </p:spPr>
      </p:pic>
      <p:pic>
        <p:nvPicPr>
          <p:cNvPr id="11" name="Picture 10" descr="6ae16a65768a73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723" y="4324714"/>
            <a:ext cx="4498848" cy="774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2360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0ad9a9f5739e6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6147"/>
            <a:ext cx="292608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90ca6f61d8d9d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041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9140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39f35dfe45d06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4623"/>
            <a:ext cx="292608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83256b733f6ee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346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2188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pic>
        <p:nvPicPr>
          <p:cNvPr id="15" name="Picture 14" descr="7a08f76444d3db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119" y="3739100"/>
            <a:ext cx="2727960" cy="301752"/>
          </a:xfrm>
          <a:prstGeom prst="rect">
            <a:avLst/>
          </a:prstGeom>
        </p:spPr>
      </p:pic>
      <p:pic>
        <p:nvPicPr>
          <p:cNvPr id="16" name="Picture 15" descr="8cf4bb25f9be76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119" y="4277072"/>
            <a:ext cx="1024128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d7dfc0540bf78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9456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1728c2e18e9d3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0312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6576" y="2891028"/>
            <a:ext cx="245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Inside first:  </a:t>
            </a:r>
          </a:p>
        </p:txBody>
      </p:sp>
      <p:pic>
        <p:nvPicPr>
          <p:cNvPr id="10" name="Picture 9" descr="a8f80e542aac10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79" y="2967228"/>
            <a:ext cx="2569464" cy="304800"/>
          </a:xfrm>
          <a:prstGeom prst="rect">
            <a:avLst/>
          </a:prstGeom>
        </p:spPr>
      </p:pic>
      <p:pic>
        <p:nvPicPr>
          <p:cNvPr id="11" name="Picture 10" descr="562836d64a2498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440" y="3473195"/>
            <a:ext cx="3206496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853f704f39adc6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20" y="2194560"/>
            <a:ext cx="1402080" cy="1161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8cfe86bd927791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03120"/>
            <a:ext cx="1395984" cy="1158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3151" y="3540252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c8aacd963cc0ab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95" y="3582923"/>
            <a:ext cx="3212592" cy="371856"/>
          </a:xfrm>
          <a:prstGeom prst="rect">
            <a:avLst/>
          </a:prstGeom>
        </p:spPr>
      </p:pic>
      <p:pic>
        <p:nvPicPr>
          <p:cNvPr id="11" name="Picture 10" descr="024670428e914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015" y="4102607"/>
            <a:ext cx="4395216" cy="722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9621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0.0625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c1a85d6466844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01b523e87142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35" y="2103120"/>
            <a:ext cx="1603248" cy="990599"/>
          </a:xfrm>
          <a:prstGeom prst="rect">
            <a:avLst/>
          </a:prstGeom>
        </p:spPr>
      </p:pic>
      <p:pic>
        <p:nvPicPr>
          <p:cNvPr id="9" name="Picture 8" descr="559f26ed92ee9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03" y="3395471"/>
            <a:ext cx="2904744" cy="716280"/>
          </a:xfrm>
          <a:prstGeom prst="rect">
            <a:avLst/>
          </a:prstGeom>
        </p:spPr>
      </p:pic>
      <p:pic>
        <p:nvPicPr>
          <p:cNvPr id="10" name="Picture 9" descr="24d3fe5a98bd3a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4259580"/>
            <a:ext cx="2910840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884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bc2795e448a34e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7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021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dc5a9a7ac0e3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72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46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0d09560877107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945" y="4105987"/>
            <a:ext cx="10972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2225" y="4029787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2fb277e921b4c8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758" y="4072459"/>
            <a:ext cx="2450592" cy="371856"/>
          </a:xfrm>
          <a:prstGeom prst="rect">
            <a:avLst/>
          </a:prstGeom>
        </p:spPr>
      </p:pic>
      <p:pic>
        <p:nvPicPr>
          <p:cNvPr id="13" name="Picture 12" descr="06fcc5f13e1131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945" y="4592143"/>
            <a:ext cx="3008376" cy="71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455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f0d140d692f52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2194560"/>
            <a:ext cx="2042160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0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d5144192dfe29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2103120"/>
            <a:ext cx="2048256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62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94a1e1b1de4bfc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19" y="3964255"/>
            <a:ext cx="2980944" cy="713232"/>
          </a:xfrm>
          <a:prstGeom prst="rect">
            <a:avLst/>
          </a:prstGeom>
        </p:spPr>
      </p:pic>
      <p:pic>
        <p:nvPicPr>
          <p:cNvPr id="11" name="Picture 10" descr="f5db90305a3cc1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19" y="4858843"/>
            <a:ext cx="364845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3541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0.1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1f6a545d117e0f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39" y="2194560"/>
            <a:ext cx="245364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4a52109175a88e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416" y="2103120"/>
            <a:ext cx="2456688" cy="509016"/>
          </a:xfrm>
          <a:prstGeom prst="rect">
            <a:avLst/>
          </a:prstGeom>
        </p:spPr>
      </p:pic>
      <p:pic>
        <p:nvPicPr>
          <p:cNvPr id="9" name="Picture 8" descr="9994c4103bc079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933699"/>
            <a:ext cx="3127248" cy="371856"/>
          </a:xfrm>
          <a:prstGeom prst="rect">
            <a:avLst/>
          </a:prstGeom>
        </p:spPr>
      </p:pic>
      <p:pic>
        <p:nvPicPr>
          <p:cNvPr id="10" name="Picture 9" descr="a3962f919eaa2e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506724"/>
            <a:ext cx="510844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c207f4faf046f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648" y="2194560"/>
            <a:ext cx="2554224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b21b3b0815960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95" y="2103120"/>
            <a:ext cx="2548128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62714" y="355244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7cb6b0e3712490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333" y="3624072"/>
            <a:ext cx="377647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62714" y="40553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7fc1a3bd4f31f4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824" y="4126992"/>
            <a:ext cx="1103376" cy="313944"/>
          </a:xfrm>
          <a:prstGeom prst="rect">
            <a:avLst/>
          </a:prstGeom>
        </p:spPr>
      </p:pic>
      <p:pic>
        <p:nvPicPr>
          <p:cNvPr id="13" name="Picture 12" descr="9f85f887b8d2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578" y="4632960"/>
            <a:ext cx="1469136" cy="3078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2978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3457" y="2362199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fb17c489e50a3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536" y="2196083"/>
            <a:ext cx="2234184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1720" y="2362199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56efae9f876bdc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020" y="2194560"/>
            <a:ext cx="1972056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9076" y="236219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505" y="2269236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aefdad52317ca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584" y="2106168"/>
            <a:ext cx="2234184" cy="783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4768" y="2269236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405cad7d58f4a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068" y="2103120"/>
            <a:ext cx="1965960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6028" y="2269236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2015" y="3792043"/>
            <a:ext cx="1690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5" name="Picture 14" descr="fb99ef7e2271f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632" y="3863671"/>
            <a:ext cx="2023872" cy="3139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92015" y="4390975"/>
            <a:ext cx="14419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Yvette:  </a:t>
            </a:r>
          </a:p>
        </p:txBody>
      </p:sp>
      <p:pic>
        <p:nvPicPr>
          <p:cNvPr id="17" name="Picture 16" descr="ba4bf2d7c561b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798" y="4317823"/>
            <a:ext cx="2054352" cy="603504"/>
          </a:xfrm>
          <a:prstGeom prst="rect">
            <a:avLst/>
          </a:prstGeom>
        </p:spPr>
      </p:pic>
      <p:pic>
        <p:nvPicPr>
          <p:cNvPr id="18" name="Picture 17" descr="45583768a555bd6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879" y="5060011"/>
            <a:ext cx="1338072" cy="316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both give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4,096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108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086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0" name="Picture 9" descr="c7e89364d519cf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8" y="1517904"/>
            <a:ext cx="862584" cy="643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32105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21052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4708afb69f8d23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383536"/>
            <a:ext cx="1121664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2971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29712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6" name="Picture 15" descr="f8e03137ad627c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63" y="2938272"/>
            <a:ext cx="810768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383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38371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271b6d25ef87d1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800855"/>
            <a:ext cx="1624584" cy="332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50951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9516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4cda08a3e11dfd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355592"/>
            <a:ext cx="1621536" cy="765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39800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98008"/>
            <a:ext cx="1813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Show that  </a:t>
            </a:r>
          </a:p>
        </p:txBody>
      </p:sp>
      <p:pic>
        <p:nvPicPr>
          <p:cNvPr id="25" name="Picture 24" descr="ae2b35341e662e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690" y="5303520"/>
            <a:ext cx="996696" cy="6461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27386" y="5398008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7" name="Picture 26" descr="b168ae64df955b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727" y="5305044"/>
            <a:ext cx="499871" cy="6431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77599" y="5398008"/>
            <a:ext cx="338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have the same value.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rewrite a power with a negative exponent using a positive exponent, and evaluate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9052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2e2a945d199f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844296" cy="649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90572"/>
            <a:ext cx="31594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Which is greater, </a:t>
            </a:r>
          </a:p>
        </p:txBody>
      </p:sp>
      <p:pic>
        <p:nvPicPr>
          <p:cNvPr id="11" name="Picture 10" descr="10d7b99c008a1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762" y="2324100"/>
            <a:ext cx="697992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4754" y="2290572"/>
            <a:ext cx="1225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5.5?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03220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3835561d3a3338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3019044"/>
            <a:ext cx="1112520" cy="225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79876"/>
            <a:ext cx="4278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</a:t>
            </a:r>
          </a:p>
        </p:txBody>
      </p:sp>
      <p:pic>
        <p:nvPicPr>
          <p:cNvPr id="16" name="Picture 15" descr="f0b15a73405cbe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240" y="3538728"/>
            <a:ext cx="198120" cy="5394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4360" y="3579876"/>
            <a:ext cx="39173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 What is the opposite of </a:t>
            </a:r>
          </a:p>
        </p:txBody>
      </p:sp>
      <p:pic>
        <p:nvPicPr>
          <p:cNvPr id="18" name="Picture 17" descr="f0b15a73405cbe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595" y="3538728"/>
            <a:ext cx="198120" cy="5394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92715" y="3579876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9052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2e2a945d199f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844296" cy="649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52104" y="1440180"/>
            <a:ext cx="546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90572"/>
            <a:ext cx="31594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Which is greater, </a:t>
            </a:r>
          </a:p>
        </p:txBody>
      </p:sp>
      <p:pic>
        <p:nvPicPr>
          <p:cNvPr id="12" name="Picture 11" descr="10d7b99c008a1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762" y="2324100"/>
            <a:ext cx="697992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94754" y="2290572"/>
            <a:ext cx="12259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2214" y="2290572"/>
            <a:ext cx="6364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03220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3835561d3a3338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3019044"/>
            <a:ext cx="1112520" cy="225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10815" y="2903220"/>
            <a:ext cx="1093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−7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79876"/>
            <a:ext cx="4278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</a:t>
            </a:r>
          </a:p>
        </p:txBody>
      </p:sp>
      <p:pic>
        <p:nvPicPr>
          <p:cNvPr id="19" name="Picture 18" descr="f0b15a73405cbe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240" y="3538728"/>
            <a:ext cx="198120" cy="5394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4360" y="3579876"/>
            <a:ext cx="39173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 What is the opposite of </a:t>
            </a:r>
          </a:p>
        </p:txBody>
      </p:sp>
      <p:pic>
        <p:nvPicPr>
          <p:cNvPr id="21" name="Picture 20" descr="f0b15a73405cbe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595" y="3538728"/>
            <a:ext cx="198120" cy="5394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92715" y="3579876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23" name="Picture 22" descr="fa151ddb9afb94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123944"/>
            <a:ext cx="198120" cy="5394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804160" y="4165092"/>
            <a:ext cx="11597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  and  </a:t>
            </a:r>
          </a:p>
        </p:txBody>
      </p:sp>
      <p:pic>
        <p:nvPicPr>
          <p:cNvPr id="25" name="Picture 24" descr="8205fb4d0fb708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787" y="4123944"/>
            <a:ext cx="36576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pattern keeps going past zero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11a92ab63e08f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38" y="2990088"/>
            <a:ext cx="121920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1638" y="3127248"/>
            <a:ext cx="955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</a:t>
            </a:r>
          </a:p>
        </p:txBody>
      </p:sp>
      <p:pic>
        <p:nvPicPr>
          <p:cNvPr id="13" name="Picture 12" descr="049aeed39d2b92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990088"/>
            <a:ext cx="1892807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02552" y="3127248"/>
            <a:ext cx="955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</a:t>
            </a:r>
          </a:p>
        </p:txBody>
      </p:sp>
      <p:pic>
        <p:nvPicPr>
          <p:cNvPr id="15" name="Picture 14" descr="bccda897994661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657" y="2991612"/>
            <a:ext cx="1868424" cy="728472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8aa15ddbf8bf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445" y="1993392"/>
            <a:ext cx="1365504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92949" y="210769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703929da3359c7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293" y="1993392"/>
            <a:ext cx="1405128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2421" y="2107692"/>
            <a:ext cx="1263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(</a:t>
            </a:r>
          </a:p>
        </p:txBody>
      </p:sp>
      <p:pic>
        <p:nvPicPr>
          <p:cNvPr id="14" name="Picture 13" descr="47b5f205461fb9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59" y="2197608"/>
            <a:ext cx="810768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9227" y="2107692"/>
            <a:ext cx="3320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pic>
        <p:nvPicPr>
          <p:cNvPr id="16" name="Picture 15" descr="c4472833bac66d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79" y="2953512"/>
            <a:ext cx="2103120" cy="734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49099" y="3092196"/>
            <a:ext cx="18660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but      </a:t>
            </a:r>
          </a:p>
        </p:txBody>
      </p:sp>
      <p:pic>
        <p:nvPicPr>
          <p:cNvPr id="18" name="Picture 17" descr="423c7123e052fa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014" y="3150108"/>
            <a:ext cx="1581912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59926" y="3092196"/>
            <a:ext cx="1946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and      </a:t>
            </a:r>
          </a:p>
        </p:txBody>
      </p:sp>
      <p:pic>
        <p:nvPicPr>
          <p:cNvPr id="20" name="Picture 19" descr="1f1d03da98083e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20" y="3115056"/>
            <a:ext cx="164592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0264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911851"/>
            <a:ext cx="4402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base keeps its own sign:  </a:t>
            </a:r>
          </a:p>
        </p:txBody>
      </p:sp>
      <p:pic>
        <p:nvPicPr>
          <p:cNvPr id="23" name="Picture 22" descr="40306a195e2bf5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915" y="4739639"/>
            <a:ext cx="3962399" cy="801624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c0334afe7b278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71" y="1993392"/>
            <a:ext cx="4760976" cy="734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2958" y="2979420"/>
            <a:ext cx="1107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or      </a:t>
            </a:r>
          </a:p>
        </p:txBody>
      </p:sp>
      <p:pic>
        <p:nvPicPr>
          <p:cNvPr id="12" name="Picture 11" descr="9c8b9f7e693c72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281" y="3038856"/>
            <a:ext cx="4145280" cy="338328"/>
          </a:xfrm>
          <a:prstGeom prst="rect">
            <a:avLst/>
          </a:prstGeom>
        </p:spPr>
      </p:pic>
      <p:pic>
        <p:nvPicPr>
          <p:cNvPr id="13" name="Picture 12" descr="ba6216107014bb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015" y="3688080"/>
            <a:ext cx="3523488" cy="783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974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d8836e49d1cfec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536" y="2103120"/>
            <a:ext cx="536448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954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5557daf28261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13688" cy="792480"/>
          </a:xfrm>
          <a:prstGeom prst="rect">
            <a:avLst/>
          </a:prstGeom>
        </p:spPr>
      </p:pic>
      <p:pic>
        <p:nvPicPr>
          <p:cNvPr id="9" name="Picture 8" descr="910e7e74eaed25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2727960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81/8 = 10.125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6f58bfbd6c8fb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1600200"/>
            <a:ext cx="661416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6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614b6a36d8c6f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099" y="1600200"/>
            <a:ext cx="655320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3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positive exponents, then find the value.</a:t>
            </a:r>
          </a:p>
        </p:txBody>
      </p:sp>
      <p:pic>
        <p:nvPicPr>
          <p:cNvPr id="10" name="Picture 9" descr="a77b1d7cf427ed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73" y="3705970"/>
            <a:ext cx="1124712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6185" y="3809602"/>
            <a:ext cx="193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2" name="Picture 11" descr="9dc9678259e96a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486" y="3705970"/>
            <a:ext cx="1161288" cy="664464"/>
          </a:xfrm>
          <a:prstGeom prst="rect">
            <a:avLst/>
          </a:prstGeom>
        </p:spPr>
      </p:pic>
      <p:pic>
        <p:nvPicPr>
          <p:cNvPr id="13" name="Picture 12" descr="c675e00ae2c4c2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473" y="4498450"/>
            <a:ext cx="1749552" cy="722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81956" y="550124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5" name="Picture 14" descr="7cc84f7ce49a4b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196" y="5357986"/>
            <a:ext cx="277368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d7b994a7331cb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915" y="2103120"/>
            <a:ext cx="551688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98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a40b57a8a09e72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55976" cy="789432"/>
          </a:xfrm>
          <a:prstGeom prst="rect">
            <a:avLst/>
          </a:prstGeom>
        </p:spPr>
      </p:pic>
      <p:pic>
        <p:nvPicPr>
          <p:cNvPr id="9" name="Picture 8" descr="cf7273435b0489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3992"/>
            <a:ext cx="2286000" cy="789432"/>
          </a:xfrm>
          <a:prstGeom prst="rect">
            <a:avLst/>
          </a:prstGeom>
        </p:spPr>
      </p:pic>
      <p:pic>
        <p:nvPicPr>
          <p:cNvPr id="10" name="Picture 9" descr="1b79637c342989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47744"/>
            <a:ext cx="158496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432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2,401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2b1010d50fd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1600200"/>
            <a:ext cx="1341120" cy="1164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74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7ac64fd7acb912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600200"/>
            <a:ext cx="1335024" cy="1167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05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  <p:pic>
        <p:nvPicPr>
          <p:cNvPr id="10" name="Picture 9" descr="7d3ab70b25bdc1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3" y="3882754"/>
            <a:ext cx="4114800" cy="847344"/>
          </a:xfrm>
          <a:prstGeom prst="rect">
            <a:avLst/>
          </a:prstGeom>
        </p:spPr>
      </p:pic>
      <p:pic>
        <p:nvPicPr>
          <p:cNvPr id="11" name="Picture 10" descr="815116ea718577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3" y="4877926"/>
            <a:ext cx="1520952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0675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9c3ed80bb4c05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194560"/>
            <a:ext cx="621792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e28a9bdc45329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339" y="2103120"/>
            <a:ext cx="624840" cy="414528"/>
          </a:xfrm>
          <a:prstGeom prst="rect">
            <a:avLst/>
          </a:prstGeom>
        </p:spPr>
      </p:pic>
      <p:pic>
        <p:nvPicPr>
          <p:cNvPr id="9" name="Picture 8" descr="15da0b6dbd5791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3" y="2819399"/>
            <a:ext cx="1139952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1372" y="484327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1abbd0053a87d7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611" y="4663440"/>
            <a:ext cx="478536" cy="908304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sheet of paper 30 centimeters long is folded in half 7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fold makes the top layer half as big.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whole sheet is the top layer after 7 folds?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5587" y="3712795"/>
            <a:ext cx="37715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Each fold halves it:  </a:t>
            </a:r>
          </a:p>
        </p:txBody>
      </p:sp>
      <p:pic>
        <p:nvPicPr>
          <p:cNvPr id="12" name="Picture 11" descr="55ec7b58e31aa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48" y="3610687"/>
            <a:ext cx="1392936" cy="661416"/>
          </a:xfrm>
          <a:prstGeom prst="rect">
            <a:avLst/>
          </a:prstGeom>
        </p:spPr>
      </p:pic>
      <p:pic>
        <p:nvPicPr>
          <p:cNvPr id="13" name="Picture 12" descr="93c08fb8bb36c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451" y="4578427"/>
            <a:ext cx="1197864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18315" y="4500703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5" name="Picture 14" descr="d5cb71527a492a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388" y="4400119"/>
            <a:ext cx="1277112" cy="658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25924" y="534042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7" name="Picture 16" descr="e1d9433f34f95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163" y="5195647"/>
            <a:ext cx="78943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0f4f7eddbf6258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94560"/>
            <a:ext cx="935736" cy="917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a062827f8f12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03120"/>
            <a:ext cx="932688" cy="917448"/>
          </a:xfrm>
          <a:prstGeom prst="rect">
            <a:avLst/>
          </a:prstGeom>
        </p:spPr>
      </p:pic>
      <p:pic>
        <p:nvPicPr>
          <p:cNvPr id="9" name="Picture 8" descr="cf7fb92401bc0f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12" y="3322320"/>
            <a:ext cx="1563624" cy="664464"/>
          </a:xfrm>
          <a:prstGeom prst="rect">
            <a:avLst/>
          </a:prstGeom>
        </p:spPr>
      </p:pic>
      <p:pic>
        <p:nvPicPr>
          <p:cNvPr id="10" name="Picture 9" descr="33a15115538126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4168140"/>
            <a:ext cx="141732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05ed5994341d2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015" y="2194560"/>
            <a:ext cx="1237488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3e235a5ec086a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491" y="2103120"/>
            <a:ext cx="1240536" cy="509016"/>
          </a:xfrm>
          <a:prstGeom prst="rect">
            <a:avLst/>
          </a:prstGeom>
        </p:spPr>
      </p:pic>
      <p:pic>
        <p:nvPicPr>
          <p:cNvPr id="9" name="Picture 8" descr="a99396db6bc2a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159" y="2913888"/>
            <a:ext cx="2023872" cy="728472"/>
          </a:xfrm>
          <a:prstGeom prst="rect">
            <a:avLst/>
          </a:prstGeom>
        </p:spPr>
      </p:pic>
      <p:pic>
        <p:nvPicPr>
          <p:cNvPr id="10" name="Picture 9" descr="e24b5ec6ef9ddd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59" y="3950207"/>
            <a:ext cx="1673352" cy="368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98511" y="3906012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2" name="Picture 11" descr="0b6efffc5fd5cf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584" y="3770375"/>
            <a:ext cx="1740408" cy="728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5924" y="480822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4a899f6d16bb64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163" y="4663440"/>
            <a:ext cx="78943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cd97e5aee2cc52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2194560"/>
            <a:ext cx="609600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869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292c6252f152d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2103120"/>
            <a:ext cx="609600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9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0d046fd1892be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3397327"/>
            <a:ext cx="1898904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1/49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efb7beb69be3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2194560"/>
            <a:ext cx="1450848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76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04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04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89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56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5354deec5b025c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2103120"/>
            <a:ext cx="1450848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62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61de82c6fa4065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867" y="3449143"/>
            <a:ext cx="295351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c6574940b1c5cc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94560"/>
            <a:ext cx="141732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737bd8d522cf78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76" y="2103120"/>
            <a:ext cx="1420368" cy="420624"/>
          </a:xfrm>
          <a:prstGeom prst="rect">
            <a:avLst/>
          </a:prstGeom>
        </p:spPr>
      </p:pic>
      <p:pic>
        <p:nvPicPr>
          <p:cNvPr id="9" name="Picture 8" descr="cd3edc3f48ebd1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791" y="2878836"/>
            <a:ext cx="3410712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70520fa2fb515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084" y="2194560"/>
            <a:ext cx="911352" cy="981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5083a771fa167e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131" y="2103120"/>
            <a:ext cx="905256" cy="984504"/>
          </a:xfrm>
          <a:prstGeom prst="rect">
            <a:avLst/>
          </a:prstGeom>
        </p:spPr>
      </p:pic>
      <p:pic>
        <p:nvPicPr>
          <p:cNvPr id="9" name="Picture 8" descr="26bb29da2dcbe9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531" y="3389376"/>
            <a:ext cx="2999232" cy="713232"/>
          </a:xfrm>
          <a:prstGeom prst="rect">
            <a:avLst/>
          </a:prstGeom>
        </p:spPr>
      </p:pic>
      <p:pic>
        <p:nvPicPr>
          <p:cNvPr id="10" name="Picture 9" descr="657ab801421f25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531" y="4230624"/>
            <a:ext cx="1435608" cy="661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74692" y="52105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6b831c282b463c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932" y="5029200"/>
            <a:ext cx="691896" cy="911352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8271" y="2171700"/>
            <a:ext cx="39670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Ellen says the value of  </a:t>
            </a:r>
          </a:p>
        </p:txBody>
      </p:sp>
      <p:pic>
        <p:nvPicPr>
          <p:cNvPr id="9" name="Picture 8" descr="b511c60c185ded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13" y="2231136"/>
            <a:ext cx="67056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8673" y="2171700"/>
            <a:ext cx="1681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 −144.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8271" y="2080260"/>
            <a:ext cx="39670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Ellen says the value of  </a:t>
            </a:r>
          </a:p>
        </p:txBody>
      </p:sp>
      <p:pic>
        <p:nvPicPr>
          <p:cNvPr id="9" name="Picture 8" descr="1d6981f2fce93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13" y="2139696"/>
            <a:ext cx="67056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8673" y="2080260"/>
            <a:ext cx="1681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is  −144.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she is wrong, and show the correct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5283" y="3414091"/>
            <a:ext cx="93681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negative exponent means the reciprocal, not the opposite.</a:t>
            </a:r>
          </a:p>
        </p:txBody>
      </p:sp>
      <p:pic>
        <p:nvPicPr>
          <p:cNvPr id="13" name="Picture 12" descr="aed21e693a3711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47" y="3939871"/>
            <a:ext cx="2066543" cy="557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1/12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1/144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75332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with a positive exponent. Do not evaluate.  </a:t>
            </a:r>
          </a:p>
        </p:txBody>
      </p:sp>
      <p:pic>
        <p:nvPicPr>
          <p:cNvPr id="10" name="Picture 9" descr="53ac0340f6e45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526" y="1586484"/>
            <a:ext cx="408432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c004569814520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182367"/>
            <a:ext cx="417576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6" name="Picture 15" descr="ede3a948398667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878" y="2744723"/>
            <a:ext cx="838200" cy="335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3680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68039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813a84954f7417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300983"/>
            <a:ext cx="606552" cy="5913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5231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52315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220f65bf45ba47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142231"/>
            <a:ext cx="908304" cy="277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7122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12207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856987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712207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99c5f65aa2cee2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669535"/>
            <a:ext cx="926592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Understanding negative exponents — YBB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rewrite a rational base with a negative exponent using a positive exponent, and apply several laws to generate an equivalent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dfd26d8ad0c54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34668"/>
            <a:ext cx="39624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42744"/>
            <a:ext cx="5584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Rewrite with a positive exponent:  </a:t>
            </a:r>
          </a:p>
        </p:txBody>
      </p:sp>
      <p:pic>
        <p:nvPicPr>
          <p:cNvPr id="11" name="Picture 10" descr="592658f9055527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907" y="2075688"/>
            <a:ext cx="432816" cy="591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45308"/>
            <a:ext cx="2942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larger, </a:t>
            </a:r>
          </a:p>
        </p:txBody>
      </p:sp>
      <p:pic>
        <p:nvPicPr>
          <p:cNvPr id="13" name="Picture 12" descr="6e3fb6dc69f29d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00" y="2939796"/>
            <a:ext cx="295656" cy="268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5956" y="2845308"/>
            <a:ext cx="674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</a:t>
            </a:r>
          </a:p>
        </p:txBody>
      </p:sp>
      <p:pic>
        <p:nvPicPr>
          <p:cNvPr id="15" name="Picture 14" descr="f5c888b6c84690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305" y="2938272"/>
            <a:ext cx="289560" cy="271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02865" y="284530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21964"/>
            <a:ext cx="40653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the reciprocal of  </a:t>
            </a:r>
          </a:p>
        </p:txBody>
      </p:sp>
      <p:pic>
        <p:nvPicPr>
          <p:cNvPr id="18" name="Picture 17" descr="1a683e70796a000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726" y="3480816"/>
            <a:ext cx="3505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dfd26d8ad0c54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34668"/>
            <a:ext cx="396240" cy="268224"/>
          </a:xfrm>
          <a:prstGeom prst="rect">
            <a:avLst/>
          </a:prstGeom>
        </p:spPr>
      </p:pic>
      <p:pic>
        <p:nvPicPr>
          <p:cNvPr id="10" name="Picture 9" descr="9353f77b4d8885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048" y="1463040"/>
            <a:ext cx="185928" cy="539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142744"/>
            <a:ext cx="5584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Rewrite with a positive exponent:  </a:t>
            </a:r>
          </a:p>
        </p:txBody>
      </p:sp>
      <p:pic>
        <p:nvPicPr>
          <p:cNvPr id="12" name="Picture 11" descr="592658f9055527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907" y="2075688"/>
            <a:ext cx="432816" cy="591312"/>
          </a:xfrm>
          <a:prstGeom prst="rect">
            <a:avLst/>
          </a:prstGeom>
        </p:spPr>
      </p:pic>
      <p:pic>
        <p:nvPicPr>
          <p:cNvPr id="13" name="Picture 12" descr="54c7ca2f4972dc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363" y="2144268"/>
            <a:ext cx="268224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845308"/>
            <a:ext cx="2942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larger, </a:t>
            </a:r>
          </a:p>
        </p:txBody>
      </p:sp>
      <p:pic>
        <p:nvPicPr>
          <p:cNvPr id="15" name="Picture 14" descr="6e3fb6dc69f29d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300" y="2939796"/>
            <a:ext cx="295656" cy="268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75956" y="2845308"/>
            <a:ext cx="674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or </a:t>
            </a:r>
          </a:p>
        </p:txBody>
      </p:sp>
      <p:pic>
        <p:nvPicPr>
          <p:cNvPr id="17" name="Picture 16" descr="f5c888b6c84690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305" y="2938272"/>
            <a:ext cx="289560" cy="2712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02865" y="284530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9" name="Picture 18" descr="3cd5a7bd49e111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976" y="2938272"/>
            <a:ext cx="289560" cy="271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64536" y="2845308"/>
            <a:ext cx="15830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 (81 &gt; 64)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521964"/>
            <a:ext cx="40653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the reciprocal of  </a:t>
            </a:r>
          </a:p>
        </p:txBody>
      </p:sp>
      <p:pic>
        <p:nvPicPr>
          <p:cNvPr id="22" name="Picture 21" descr="1a683e70796a000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2726" y="3480816"/>
            <a:ext cx="350520" cy="539496"/>
          </a:xfrm>
          <a:prstGeom prst="rect">
            <a:avLst/>
          </a:prstGeom>
        </p:spPr>
      </p:pic>
      <p:pic>
        <p:nvPicPr>
          <p:cNvPr id="23" name="Picture 22" descr="bf8821cf3198a95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1886" y="3480816"/>
            <a:ext cx="3505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pattern with a fraction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651760" y="1993392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(2/5)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8dc06abe520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437" y="1993392"/>
            <a:ext cx="2185416" cy="704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8853" y="2116836"/>
            <a:ext cx="1263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(</a:t>
            </a:r>
          </a:p>
        </p:txBody>
      </p:sp>
      <p:pic>
        <p:nvPicPr>
          <p:cNvPr id="12" name="Picture 11" descr="e8ca827cacc61b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91" y="2165604"/>
            <a:ext cx="1228344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53235" y="2116836"/>
            <a:ext cx="3320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pic>
        <p:nvPicPr>
          <p:cNvPr id="14" name="Picture 13" descr="9169d867eb22c6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524" y="2971800"/>
            <a:ext cx="2983992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4516" y="30815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6" name="Picture 15" descr="f0e84f7b8a0e3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859" y="2973324"/>
            <a:ext cx="2612136" cy="673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3986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806695"/>
            <a:ext cx="5468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whole number is a fraction over 1:  </a:t>
            </a:r>
          </a:p>
        </p:txBody>
      </p:sp>
      <p:pic>
        <p:nvPicPr>
          <p:cNvPr id="19" name="Picture 18" descr="b03f09abb77756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840" y="4700016"/>
            <a:ext cx="3151632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c7035540ba8a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48" y="1993392"/>
            <a:ext cx="7659624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24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388277379d8e20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66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74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545e90417d70b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27376" cy="664464"/>
          </a:xfrm>
          <a:prstGeom prst="rect">
            <a:avLst/>
          </a:prstGeom>
        </p:spPr>
      </p:pic>
      <p:pic>
        <p:nvPicPr>
          <p:cNvPr id="9" name="Picture 8" descr="8945cb43fcf3af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59024"/>
            <a:ext cx="1853184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64/49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e69c1d91f1a3f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1600200"/>
            <a:ext cx="145999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8d211e9c6d2b33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1600200"/>
            <a:ext cx="145999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with a positive exponent, then 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326" y="3629770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1" name="Picture 10" descr="196afe9826da4a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45" y="3550522"/>
            <a:ext cx="2368296" cy="615696"/>
          </a:xfrm>
          <a:prstGeom prst="rect">
            <a:avLst/>
          </a:prstGeom>
        </p:spPr>
      </p:pic>
      <p:pic>
        <p:nvPicPr>
          <p:cNvPr id="12" name="Picture 11" descr="31d33b28236bfb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90" y="4294234"/>
            <a:ext cx="2029968" cy="615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9431" y="519187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314171b6a1b287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1" y="5047090"/>
            <a:ext cx="104241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7b9fb3163beeb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963" y="2103120"/>
            <a:ext cx="2069591" cy="664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050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5161a3488c78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11496" cy="667512"/>
          </a:xfrm>
          <a:prstGeom prst="rect">
            <a:avLst/>
          </a:prstGeom>
        </p:spPr>
      </p:pic>
      <p:pic>
        <p:nvPicPr>
          <p:cNvPr id="9" name="Picture 8" descr="0b481a76517fb3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1630680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(5/8)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25/64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26f578657118a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83" y="1600200"/>
            <a:ext cx="3349752" cy="832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5224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0084f7f2bc8d15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1600200"/>
            <a:ext cx="335584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one base and a positive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6900" y="3957032"/>
            <a:ext cx="7564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Add the exponents, then flip the fraction:</a:t>
            </a:r>
          </a:p>
        </p:txBody>
      </p:sp>
      <p:pic>
        <p:nvPicPr>
          <p:cNvPr id="11" name="Picture 10" descr="42824fa219a1c3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64" y="4519388"/>
            <a:ext cx="4834128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1499" y="5404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364254372aca3e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39" y="5263100"/>
            <a:ext cx="1478280" cy="832104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192"/>
            <a:ext cx="5364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copier is set to shrink a page to  </a:t>
            </a:r>
          </a:p>
        </p:txBody>
      </p:sp>
      <p:pic>
        <p:nvPicPr>
          <p:cNvPr id="9" name="Picture 8" descr="6fa687cf291616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18" y="1874519"/>
            <a:ext cx="176784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38202" y="1917192"/>
            <a:ext cx="1841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232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86700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192"/>
            <a:ext cx="5364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copier is set to shrink a page to  </a:t>
            </a:r>
          </a:p>
        </p:txBody>
      </p:sp>
      <p:pic>
        <p:nvPicPr>
          <p:cNvPr id="9" name="Picture 8" descr="82207df6c9253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418" y="1874519"/>
            <a:ext cx="170688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32106" y="1917192"/>
            <a:ext cx="1841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of its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232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page 6 inches wide is copied 4 times in a row, each copy from the last.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86700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fraction of the original page's size is the last copy?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5755" y="4372687"/>
            <a:ext cx="258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Four copies:  </a:t>
            </a:r>
          </a:p>
        </p:txBody>
      </p:sp>
      <p:pic>
        <p:nvPicPr>
          <p:cNvPr id="14" name="Picture 13" descr="d5a448eea45117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96" y="4244671"/>
            <a:ext cx="2176272" cy="713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8511" y="523984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62bc59a32308df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751" y="5095063"/>
            <a:ext cx="524256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0a7160d7e15e9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191" y="2194560"/>
            <a:ext cx="14691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ccbe016419b287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191" y="2103120"/>
            <a:ext cx="14691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82754" y="3319272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8696ad001dd2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73" y="3240023"/>
            <a:ext cx="2377440" cy="615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3608" y="480669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c0f8e1841d70d1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848" y="4663440"/>
            <a:ext cx="1274064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202d2f9edf4ff6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44" y="2194560"/>
            <a:ext cx="1475232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434b7f64e448db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44" y="2103120"/>
            <a:ext cx="1475232" cy="83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78182" y="3319272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0c11b020145ca0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01" y="3243072"/>
            <a:ext cx="2383536" cy="609600"/>
          </a:xfrm>
          <a:prstGeom prst="rect">
            <a:avLst/>
          </a:prstGeom>
        </p:spPr>
      </p:pic>
      <p:pic>
        <p:nvPicPr>
          <p:cNvPr id="11" name="Picture 10" descr="7480f7bb64380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046" y="3980688"/>
            <a:ext cx="1679448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34128" y="48722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8b23c582eb8d13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68" y="4727448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aad42ec8f13de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2194560"/>
            <a:ext cx="1417320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a3193cda974bd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576" y="2103120"/>
            <a:ext cx="142036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7806" y="3314699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0" name="Picture 9" descr="f8fd36b400e406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425" y="3240023"/>
            <a:ext cx="2304288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9516" y="480669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d8c9697ca23389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756" y="4663440"/>
            <a:ext cx="1222248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933a5614c6140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194560"/>
            <a:ext cx="1722120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440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(7/10)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(−10/7)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(−7/10)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(10/7)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2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c8cc7f17e57404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103120"/>
            <a:ext cx="1722120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4459" y="3903295"/>
            <a:ext cx="6086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fraction. The sign stays:  </a:t>
            </a:r>
          </a:p>
        </p:txBody>
      </p:sp>
      <p:pic>
        <p:nvPicPr>
          <p:cNvPr id="11" name="Picture 10" descr="30f8381f78b3ba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860" y="3820999"/>
            <a:ext cx="2746248" cy="621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(−10/7)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be0e3dab7c06cf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94560"/>
            <a:ext cx="29077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440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(9/2)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0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6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(2/9)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2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c2209fde782f6b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03120"/>
            <a:ext cx="29077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8c530bb460efa1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112" y="3820999"/>
            <a:ext cx="5154168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(2/9)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6f7df90f5a7cc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39" y="2194560"/>
            <a:ext cx="2529840" cy="83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71606c5cb17b31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39" y="2103120"/>
            <a:ext cx="2529840" cy="841248"/>
          </a:xfrm>
          <a:prstGeom prst="rect">
            <a:avLst/>
          </a:prstGeom>
        </p:spPr>
      </p:pic>
      <p:pic>
        <p:nvPicPr>
          <p:cNvPr id="9" name="Picture 8" descr="b66b632c66dd8f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020" y="3246120"/>
            <a:ext cx="1947672" cy="609600"/>
          </a:xfrm>
          <a:prstGeom prst="rect">
            <a:avLst/>
          </a:prstGeom>
        </p:spPr>
      </p:pic>
      <p:pic>
        <p:nvPicPr>
          <p:cNvPr id="10" name="Picture 9" descr="7f6a024804d011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020" y="3983736"/>
            <a:ext cx="3563112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4128" y="487832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7511c6a209ecd3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68" y="4733544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bf74f091e96668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516" y="2194560"/>
            <a:ext cx="3142488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c942442683f51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516" y="2103120"/>
            <a:ext cx="314248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64155" y="3323844"/>
            <a:ext cx="1633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Inside:  </a:t>
            </a:r>
          </a:p>
        </p:txBody>
      </p:sp>
      <p:pic>
        <p:nvPicPr>
          <p:cNvPr id="10" name="Picture 9" descr="91fa5aa22598ea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772" y="3246120"/>
            <a:ext cx="4745736" cy="612648"/>
          </a:xfrm>
          <a:prstGeom prst="rect">
            <a:avLst/>
          </a:prstGeom>
        </p:spPr>
      </p:pic>
      <p:pic>
        <p:nvPicPr>
          <p:cNvPr id="11" name="Picture 10" descr="339da7c30fdc7d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019" y="3986783"/>
            <a:ext cx="3724656" cy="612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6864" y="48828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72cf4eeb1d6aaf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4736592"/>
            <a:ext cx="987552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8057" y="2298192"/>
            <a:ext cx="2211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Marco says  </a:t>
            </a:r>
          </a:p>
        </p:txBody>
      </p:sp>
      <p:pic>
        <p:nvPicPr>
          <p:cNvPr id="9" name="Picture 8" descr="91c18cfbfd314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223" y="2194560"/>
            <a:ext cx="1335024" cy="66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47" y="2298192"/>
            <a:ext cx="3679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can be rewritten as  </a:t>
            </a:r>
          </a:p>
        </p:txBody>
      </p:sp>
      <p:pic>
        <p:nvPicPr>
          <p:cNvPr id="11" name="Picture 10" descr="4ea189ef1afd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438" y="2194560"/>
            <a:ext cx="954023" cy="664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13334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5009" y="2208276"/>
            <a:ext cx="2211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Marco says  </a:t>
            </a:r>
          </a:p>
        </p:txBody>
      </p:sp>
      <p:pic>
        <p:nvPicPr>
          <p:cNvPr id="9" name="Picture 8" descr="a601e11597070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175" y="2103120"/>
            <a:ext cx="1338072" cy="66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7247" y="2208276"/>
            <a:ext cx="3679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can be rewritten as  </a:t>
            </a:r>
          </a:p>
        </p:txBody>
      </p:sp>
      <p:pic>
        <p:nvPicPr>
          <p:cNvPr id="11" name="Picture 10" descr="84af40a7a998b6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438" y="2103120"/>
            <a:ext cx="957072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0449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'two negatives make a positive.'  Is he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9625" y="3670123"/>
            <a:ext cx="8659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negative exponent flips the fraction. The sign stays.</a:t>
            </a:r>
          </a:p>
        </p:txBody>
      </p:sp>
      <p:pic>
        <p:nvPicPr>
          <p:cNvPr id="14" name="Picture 13" descr="6134488e046327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489" y="4195903"/>
            <a:ext cx="2258568" cy="518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512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(−4/11)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-7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(−11/4)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90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9051"/>
            <a:ext cx="5109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with a positive exponent.  </a:t>
            </a:r>
          </a:p>
        </p:txBody>
      </p:sp>
      <p:pic>
        <p:nvPicPr>
          <p:cNvPr id="10" name="Picture 9" descr="8957ceb111547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80" y="1517904"/>
            <a:ext cx="786384" cy="539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814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142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6e6b6af109cf88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240280"/>
            <a:ext cx="768096" cy="5394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038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03804"/>
            <a:ext cx="5109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with a positive exponent.  </a:t>
            </a:r>
          </a:p>
        </p:txBody>
      </p:sp>
      <p:pic>
        <p:nvPicPr>
          <p:cNvPr id="16" name="Picture 15" descr="6754f41029653f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480" y="2962656"/>
            <a:ext cx="944880" cy="5394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277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27704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5d72cdcfdc8659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685032"/>
            <a:ext cx="777240" cy="5425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4531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5312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987c9144230c55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410456"/>
            <a:ext cx="1633728" cy="5425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1755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75504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5320284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517550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2b417829a513b4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5135880"/>
            <a:ext cx="1664208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an expression with integer exponents using the laws, and decide whether two expressions with different bases are equivalent.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05712"/>
            <a:ext cx="76832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Rewrite with a positive exponent, then evaluate:  </a:t>
            </a:r>
          </a:p>
        </p:txBody>
      </p:sp>
      <p:pic>
        <p:nvPicPr>
          <p:cNvPr id="9" name="Picture 8" descr="f3c8135f85cfec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585" y="1463040"/>
            <a:ext cx="765048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75332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eb4b098ae3e189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206752"/>
            <a:ext cx="441960" cy="594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096768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c39296e5705a45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3002280"/>
            <a:ext cx="499871" cy="646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826763"/>
            <a:ext cx="6288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05712"/>
            <a:ext cx="76832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Rewrite with a positive exponent, then evaluate:  </a:t>
            </a:r>
          </a:p>
        </p:txBody>
      </p:sp>
      <p:pic>
        <p:nvPicPr>
          <p:cNvPr id="9" name="Picture 8" descr="f3c8135f85cfec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585" y="1463040"/>
            <a:ext cx="765048" cy="542544"/>
          </a:xfrm>
          <a:prstGeom prst="rect">
            <a:avLst/>
          </a:prstGeom>
        </p:spPr>
      </p:pic>
      <p:pic>
        <p:nvPicPr>
          <p:cNvPr id="10" name="Picture 9" descr="6caafeea515e2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051303"/>
            <a:ext cx="1146048" cy="5425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863596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eb4b098ae3e189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306" y="2795016"/>
            <a:ext cx="4419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3906" y="2772156"/>
            <a:ext cx="546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685032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c39296e5705a45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711" y="3590544"/>
            <a:ext cx="499871" cy="646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6223" y="3567684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15028"/>
            <a:ext cx="6288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64 as a power of 2, of 4, and of 8.</a:t>
            </a:r>
          </a:p>
        </p:txBody>
      </p:sp>
      <p:pic>
        <p:nvPicPr>
          <p:cNvPr id="18" name="Picture 17" descr="f9e6eaa0e48239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636" y="4507992"/>
            <a:ext cx="274320" cy="271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48956" y="4415028"/>
            <a:ext cx="482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,  </a:t>
            </a:r>
          </a:p>
        </p:txBody>
      </p:sp>
      <p:pic>
        <p:nvPicPr>
          <p:cNvPr id="20" name="Picture 19" descr="bde95a28370ef0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4771" y="4509516"/>
            <a:ext cx="295656" cy="2682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90427" y="4415028"/>
            <a:ext cx="482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,  </a:t>
            </a:r>
          </a:p>
        </p:txBody>
      </p:sp>
      <p:pic>
        <p:nvPicPr>
          <p:cNvPr id="22" name="Picture 21" descr="dc3644d208527b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6243" y="4506468"/>
            <a:ext cx="28346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30119" y="2132076"/>
            <a:ext cx="17301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Melanie:  </a:t>
            </a:r>
          </a:p>
        </p:txBody>
      </p:sp>
      <p:pic>
        <p:nvPicPr>
          <p:cNvPr id="11" name="Picture 10" descr="00df267b117cf9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152" y="1993392"/>
            <a:ext cx="3508248" cy="73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38540" y="3307080"/>
            <a:ext cx="16564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Adonis:   </a:t>
            </a:r>
          </a:p>
        </p:txBody>
      </p:sp>
      <p:pic>
        <p:nvPicPr>
          <p:cNvPr id="13" name="Picture 12" descr="d967a2b39e147d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87" y="3002280"/>
            <a:ext cx="4965192" cy="1066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4074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Every law, one expression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b27ed10ad0337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920" y="1993392"/>
            <a:ext cx="5059680" cy="859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91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Find the step that broke:</a:t>
            </a:r>
          </a:p>
        </p:txBody>
      </p:sp>
      <p:pic>
        <p:nvPicPr>
          <p:cNvPr id="12" name="Picture 11" descr="bbf7af94964783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04487"/>
            <a:ext cx="34533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40936" y="4012691"/>
            <a:ext cx="4463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  — wrong: multiplied; should be </a:t>
            </a:r>
          </a:p>
        </p:txBody>
      </p:sp>
      <p:pic>
        <p:nvPicPr>
          <p:cNvPr id="14" name="Picture 13" descr="16b6a750baccc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696" y="3904487"/>
            <a:ext cx="795528" cy="673608"/>
          </a:xfrm>
          <a:prstGeom prst="rect">
            <a:avLst/>
          </a:prstGeom>
        </p:spPr>
      </p:pic>
      <p:pic>
        <p:nvPicPr>
          <p:cNvPr id="15" name="Picture 14" descr="d085f6d1f5151f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834128"/>
            <a:ext cx="1844040" cy="78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31592" y="5000244"/>
            <a:ext cx="6151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  — wrong: flipped, kept the minus; should be </a:t>
            </a:r>
          </a:p>
        </p:txBody>
      </p:sp>
      <p:pic>
        <p:nvPicPr>
          <p:cNvPr id="17" name="Picture 16" descr="60c0141e8aad4c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237" y="4892040"/>
            <a:ext cx="783336" cy="67360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1993392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77b6fa4d0b8ffa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227" y="3761232"/>
            <a:ext cx="2371344" cy="405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26571" y="3735324"/>
            <a:ext cx="955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</a:t>
            </a:r>
          </a:p>
        </p:txBody>
      </p:sp>
      <p:pic>
        <p:nvPicPr>
          <p:cNvPr id="13" name="Picture 12" descr="ae135669eeaf19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676" y="3761232"/>
            <a:ext cx="2261616" cy="405384"/>
          </a:xfrm>
          <a:prstGeom prst="rect">
            <a:avLst/>
          </a:prstGeom>
        </p:spPr>
      </p:pic>
      <p:pic>
        <p:nvPicPr>
          <p:cNvPr id="14" name="Picture 13" descr="452a14f090d224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1" y="4445508"/>
            <a:ext cx="479145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f1f92d6ecfd54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60" y="1996440"/>
            <a:ext cx="4136136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6396" y="210159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a226c4dacfbe2e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739" y="1993392"/>
            <a:ext cx="4160520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0053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base, then compare exponents.</a:t>
            </a:r>
          </a:p>
        </p:txBody>
      </p:sp>
      <p:pic>
        <p:nvPicPr>
          <p:cNvPr id="14" name="Picture 13" descr="da5364dfc120c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755136"/>
            <a:ext cx="1386840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74392" y="3695699"/>
            <a:ext cx="3301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— so Xavier is wrong.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ad4c645122a3f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64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05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6395c789165e95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99816" cy="670560"/>
          </a:xfrm>
          <a:prstGeom prst="rect">
            <a:avLst/>
          </a:prstGeom>
        </p:spPr>
      </p:pic>
      <p:pic>
        <p:nvPicPr>
          <p:cNvPr id="9" name="Picture 8" descr="670bdda2de14de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1664208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16/3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3d228ca9c4261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1600200"/>
            <a:ext cx="175564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50a8128bf10ae9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1600200"/>
            <a:ext cx="175564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6638" y="3628246"/>
            <a:ext cx="3358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Flip the fraction:  </a:t>
            </a:r>
          </a:p>
        </p:txBody>
      </p:sp>
      <p:pic>
        <p:nvPicPr>
          <p:cNvPr id="11" name="Picture 10" descr="53cd19114de64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57" y="3550522"/>
            <a:ext cx="2703576" cy="612648"/>
          </a:xfrm>
          <a:prstGeom prst="rect">
            <a:avLst/>
          </a:prstGeom>
        </p:spPr>
      </p:pic>
      <p:pic>
        <p:nvPicPr>
          <p:cNvPr id="12" name="Picture 11" descr="955d96682c0ead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502" y="4291186"/>
            <a:ext cx="1557528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9367" y="518425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0d571a7f25ddb5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607" y="5037946"/>
            <a:ext cx="542544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2547" y="2304287"/>
            <a:ext cx="95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Are  </a:t>
            </a:r>
          </a:p>
        </p:txBody>
      </p:sp>
      <p:pic>
        <p:nvPicPr>
          <p:cNvPr id="9" name="Picture 8" descr="0d148dfd48832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206" y="2362199"/>
            <a:ext cx="947928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14134" y="2304287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7449bbc668c15f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76" y="2103120"/>
            <a:ext cx="1106424" cy="859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85300" y="2304287"/>
            <a:ext cx="2260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equivalent?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eb75ca0841ae7d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15384" cy="341376"/>
          </a:xfrm>
          <a:prstGeom prst="rect">
            <a:avLst/>
          </a:prstGeom>
        </p:spPr>
      </p:pic>
      <p:pic>
        <p:nvPicPr>
          <p:cNvPr id="9" name="Picture 8" descr="ca38d42fdf4407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3864864" cy="859536"/>
          </a:xfrm>
          <a:prstGeom prst="rect">
            <a:avLst/>
          </a:prstGeom>
        </p:spPr>
      </p:pic>
      <p:pic>
        <p:nvPicPr>
          <p:cNvPr id="10" name="Picture 9" descr="3a6f019e256834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69792"/>
            <a:ext cx="2289048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both are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·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1944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7831" y="1909572"/>
            <a:ext cx="95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Are  </a:t>
            </a:r>
          </a:p>
        </p:txBody>
      </p:sp>
      <p:pic>
        <p:nvPicPr>
          <p:cNvPr id="9" name="Picture 8" descr="84aa90b249340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0" y="1926335"/>
            <a:ext cx="144170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13194" y="1909572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93c2bf6d51952a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936" y="1600200"/>
            <a:ext cx="1402080" cy="1075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0016" y="1909572"/>
            <a:ext cx="2260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equivalent?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9355" y="1909572"/>
            <a:ext cx="95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Are  </a:t>
            </a:r>
          </a:p>
        </p:txBody>
      </p:sp>
      <p:pic>
        <p:nvPicPr>
          <p:cNvPr id="9" name="Picture 8" descr="6bdebf666f4e8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014" y="1926335"/>
            <a:ext cx="1444752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17766" y="1909572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11cdaf58cd65a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508" y="1600200"/>
            <a:ext cx="1395984" cy="1075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8492" y="1909572"/>
            <a:ext cx="2260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equivalent?</a:t>
            </a:r>
          </a:p>
        </p:txBody>
      </p:sp>
      <p:pic>
        <p:nvPicPr>
          <p:cNvPr id="13" name="Picture 12" descr="12bc1171b09321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219" y="3144012"/>
            <a:ext cx="3416808" cy="262128"/>
          </a:xfrm>
          <a:prstGeom prst="rect">
            <a:avLst/>
          </a:prstGeom>
        </p:spPr>
      </p:pic>
      <p:pic>
        <p:nvPicPr>
          <p:cNvPr id="14" name="Picture 13" descr="971ad3431ee49f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219" y="3572256"/>
            <a:ext cx="2996184" cy="658368"/>
          </a:xfrm>
          <a:prstGeom prst="rect">
            <a:avLst/>
          </a:prstGeom>
        </p:spPr>
      </p:pic>
      <p:pic>
        <p:nvPicPr>
          <p:cNvPr id="15" name="Picture 14" descr="1bb9b59be4ff30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219" y="4372356"/>
            <a:ext cx="3063240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70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· 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4000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98d5033541346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59" y="2194560"/>
            <a:ext cx="2514600" cy="1164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efbb2c592ceee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507" y="2103120"/>
            <a:ext cx="2508504" cy="1164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76094" y="3546348"/>
            <a:ext cx="18356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0" name="Picture 9" descr="0d57b7d41c345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585" y="3589020"/>
            <a:ext cx="2910840" cy="371856"/>
          </a:xfrm>
          <a:prstGeom prst="rect">
            <a:avLst/>
          </a:prstGeom>
        </p:spPr>
      </p:pic>
      <p:pic>
        <p:nvPicPr>
          <p:cNvPr id="11" name="Picture 10" descr="3ca69b29105dbe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958" y="4108704"/>
            <a:ext cx="4559808" cy="847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932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−343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f80d8fff5950e2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399" y="1645920"/>
            <a:ext cx="2712720" cy="1819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18b7b58559baeb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645920"/>
            <a:ext cx="2706624" cy="1819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9824" y="3840480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fc033812d86956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967" y="3767328"/>
            <a:ext cx="3163824" cy="603504"/>
          </a:xfrm>
          <a:prstGeom prst="rect">
            <a:avLst/>
          </a:prstGeom>
        </p:spPr>
      </p:pic>
      <p:pic>
        <p:nvPicPr>
          <p:cNvPr id="11" name="Picture 10" descr="586b82ff05c6f1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688" y="4498848"/>
            <a:ext cx="3377184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68239" y="538429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84bf2c5ba00215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480" y="5242560"/>
            <a:ext cx="304800" cy="832104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b967aae4e7c30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063" y="1645920"/>
            <a:ext cx="2755392" cy="1408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548be30c5a8556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12" y="1645920"/>
            <a:ext cx="2749296" cy="1405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95239" y="3381756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090145bfb5fa4f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858" y="3453384"/>
            <a:ext cx="1386840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41698" y="3381756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2" name="Picture 11" descr="8f1e7bc2c81192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87" y="3352800"/>
            <a:ext cx="1313688" cy="515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8275" y="3381756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4" name="Picture 13" descr="8c42dc4521855b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200" y="3480816"/>
            <a:ext cx="1405128" cy="259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95239" y="3936491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6" name="Picture 15" descr="85dfe78cfc4952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349" y="4035552"/>
            <a:ext cx="1158240" cy="259080"/>
          </a:xfrm>
          <a:prstGeom prst="rect">
            <a:avLst/>
          </a:prstGeom>
        </p:spPr>
      </p:pic>
      <p:pic>
        <p:nvPicPr>
          <p:cNvPr id="17" name="Picture 16" descr="a335dfb088e7c5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0103" y="4462272"/>
            <a:ext cx="2319528" cy="603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68239" y="534466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9" name="Picture 18" descr="60f3158f055494f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480" y="5202936"/>
            <a:ext cx="304800" cy="832104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028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flash drive holds  </a:t>
            </a:r>
          </a:p>
        </p:txBody>
      </p:sp>
      <p:pic>
        <p:nvPicPr>
          <p:cNvPr id="9" name="Picture 8" descr="7365b91e0a0f6b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84" y="1943100"/>
            <a:ext cx="402336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2420" y="1851660"/>
            <a:ext cx="2115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454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Another holds  </a:t>
            </a:r>
          </a:p>
        </p:txBody>
      </p:sp>
      <p:pic>
        <p:nvPicPr>
          <p:cNvPr id="12" name="Picture 11" descr="7fd1db2cf8c506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702" y="2558796"/>
            <a:ext cx="420624" cy="268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63326" y="2464308"/>
            <a:ext cx="6521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holds more — or is it the same? Show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028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flash drive holds  </a:t>
            </a:r>
          </a:p>
        </p:txBody>
      </p:sp>
      <p:pic>
        <p:nvPicPr>
          <p:cNvPr id="9" name="Picture 8" descr="5d60df96ac6a5d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84" y="1943100"/>
            <a:ext cx="40538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5468" y="1851660"/>
            <a:ext cx="2115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4454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Another holds  </a:t>
            </a:r>
          </a:p>
        </p:txBody>
      </p:sp>
      <p:pic>
        <p:nvPicPr>
          <p:cNvPr id="12" name="Picture 11" descr="01ba1addb14af4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702" y="2558796"/>
            <a:ext cx="420624" cy="2682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63326" y="2464308"/>
            <a:ext cx="6521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megabytes. The first one costs 45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holds more — or is it the same? Show why.</a:t>
            </a:r>
          </a:p>
        </p:txBody>
      </p:sp>
      <p:pic>
        <p:nvPicPr>
          <p:cNvPr id="15" name="Picture 14" descr="f534f4da616d64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747" y="3812650"/>
            <a:ext cx="1005840" cy="301752"/>
          </a:xfrm>
          <a:prstGeom prst="rect">
            <a:avLst/>
          </a:prstGeom>
        </p:spPr>
      </p:pic>
      <p:pic>
        <p:nvPicPr>
          <p:cNvPr id="16" name="Picture 15" descr="32a554851bde61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747" y="4317094"/>
            <a:ext cx="3349752" cy="3718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same: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(2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a834fafe1e7c82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12" y="2194560"/>
            <a:ext cx="69189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869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889972c2e26fe7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103120"/>
            <a:ext cx="69494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9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53e0e696fae7cd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3450667"/>
            <a:ext cx="1030224" cy="304800"/>
          </a:xfrm>
          <a:prstGeom prst="rect">
            <a:avLst/>
          </a:prstGeom>
        </p:spPr>
      </p:pic>
      <p:pic>
        <p:nvPicPr>
          <p:cNvPr id="11" name="Picture 10" descr="addec46f494d81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3956635"/>
            <a:ext cx="3340608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14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b0d7aaeb31fb59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539" y="2194560"/>
            <a:ext cx="1996439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583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627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359f836e76d10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16" y="2103120"/>
            <a:ext cx="1999487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f705f97336b48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875" y="3814903"/>
            <a:ext cx="2791968" cy="603504"/>
          </a:xfrm>
          <a:prstGeom prst="rect">
            <a:avLst/>
          </a:prstGeom>
        </p:spPr>
      </p:pic>
      <p:pic>
        <p:nvPicPr>
          <p:cNvPr id="11" name="Picture 10" descr="4967ca317ddbfd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75" y="4601287"/>
            <a:ext cx="3587496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9506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-13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656e9da10d728f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2194560"/>
            <a:ext cx="122529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aa3e79b08e350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064" y="2103120"/>
            <a:ext cx="1231392" cy="417576"/>
          </a:xfrm>
          <a:prstGeom prst="rect">
            <a:avLst/>
          </a:prstGeom>
        </p:spPr>
      </p:pic>
      <p:pic>
        <p:nvPicPr>
          <p:cNvPr id="9" name="Picture 8" descr="40efc5fe73000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535" y="2842259"/>
            <a:ext cx="2209800" cy="371856"/>
          </a:xfrm>
          <a:prstGeom prst="rect">
            <a:avLst/>
          </a:prstGeom>
        </p:spPr>
      </p:pic>
      <p:pic>
        <p:nvPicPr>
          <p:cNvPr id="10" name="Picture 9" descr="f47aa3c800adc4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535" y="3415284"/>
            <a:ext cx="2935224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2603" y="459943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0cb920e6a32bf9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4663440"/>
            <a:ext cx="576072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fabcaa4b09e39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94560"/>
            <a:ext cx="145694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cf7aaf90f7175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03120"/>
            <a:ext cx="1456944" cy="417576"/>
          </a:xfrm>
          <a:prstGeom prst="rect">
            <a:avLst/>
          </a:prstGeom>
        </p:spPr>
      </p:pic>
      <p:pic>
        <p:nvPicPr>
          <p:cNvPr id="9" name="Picture 8" descr="85f7d1d146f1f2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47" y="2877312"/>
            <a:ext cx="3124200" cy="301752"/>
          </a:xfrm>
          <a:prstGeom prst="rect">
            <a:avLst/>
          </a:prstGeom>
        </p:spPr>
      </p:pic>
      <p:pic>
        <p:nvPicPr>
          <p:cNvPr id="10" name="Picture 9" descr="a2e7bc9cfa7f6a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47" y="3381756"/>
            <a:ext cx="2218944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8888" y="459943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00e3982d4021e9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7" y="4663440"/>
            <a:ext cx="60350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0239" y="2302764"/>
            <a:ext cx="2242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Xavier says  </a:t>
            </a:r>
          </a:p>
        </p:txBody>
      </p:sp>
      <p:pic>
        <p:nvPicPr>
          <p:cNvPr id="9" name="Picture 8" descr="0664013df43bb1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277" y="2194560"/>
            <a:ext cx="1545336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20613" y="2302764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6d3dba428ef905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55" y="2197608"/>
            <a:ext cx="1527048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12403" y="2302764"/>
            <a:ext cx="27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975" y="3119628"/>
            <a:ext cx="5445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because both can be written as  </a:t>
            </a:r>
          </a:p>
        </p:txBody>
      </p:sp>
      <p:pic>
        <p:nvPicPr>
          <p:cNvPr id="14" name="Picture 13" descr="5409fbe234c1f4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033" y="3179064"/>
            <a:ext cx="496824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1857" y="3119628"/>
            <a:ext cx="28198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5667" y="2211323"/>
            <a:ext cx="2242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Xavier says  </a:t>
            </a:r>
          </a:p>
        </p:txBody>
      </p:sp>
      <p:pic>
        <p:nvPicPr>
          <p:cNvPr id="9" name="Picture 8" descr="3c5660d2a81795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05" y="2103120"/>
            <a:ext cx="1548384" cy="673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9089" y="2211323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53a7bdac80b143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31" y="2103120"/>
            <a:ext cx="1533144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16975" y="2211323"/>
            <a:ext cx="27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are equivalent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5451" y="3028188"/>
            <a:ext cx="5445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because both can be written as  </a:t>
            </a:r>
          </a:p>
        </p:txBody>
      </p:sp>
      <p:pic>
        <p:nvPicPr>
          <p:cNvPr id="14" name="Picture 13" descr="8d9dc5c0e5cd5b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509" y="3086100"/>
            <a:ext cx="499871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43381" y="3028188"/>
            <a:ext cx="28198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Do you agree?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8448" y="3887724"/>
            <a:ext cx="1298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First:  </a:t>
            </a:r>
          </a:p>
        </p:txBody>
      </p:sp>
      <p:pic>
        <p:nvPicPr>
          <p:cNvPr id="17" name="Picture 16" descr="b8f6ab93db3df89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06" y="3810000"/>
            <a:ext cx="3721608" cy="612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8448" y="4628388"/>
            <a:ext cx="18337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Second:  </a:t>
            </a:r>
          </a:p>
        </p:txBody>
      </p:sp>
      <p:pic>
        <p:nvPicPr>
          <p:cNvPr id="19" name="Picture 18" descr="12a68962e6720d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991" y="4550664"/>
            <a:ext cx="3688080" cy="6126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004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the second is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-8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not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-9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687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68780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0" name="Picture 9" descr="3554ae34b18383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8" y="1517904"/>
            <a:ext cx="1652016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50240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0240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352eb1a88709ca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459736"/>
            <a:ext cx="1645920" cy="5425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16230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62300"/>
            <a:ext cx="34776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power of 2.  </a:t>
            </a:r>
          </a:p>
        </p:txBody>
      </p:sp>
      <p:pic>
        <p:nvPicPr>
          <p:cNvPr id="16" name="Picture 15" descr="f8a57f68dc5118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996" y="3256788"/>
            <a:ext cx="417576" cy="2682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5665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56659"/>
            <a:ext cx="3472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power of 3.  </a:t>
            </a:r>
          </a:p>
        </p:txBody>
      </p:sp>
      <p:pic>
        <p:nvPicPr>
          <p:cNvPr id="19" name="Picture 18" descr="8991108252781c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400" y="3848099"/>
            <a:ext cx="813816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3510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51020"/>
            <a:ext cx="8653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Are  </a:t>
            </a:r>
          </a:p>
        </p:txBody>
      </p:sp>
      <p:pic>
        <p:nvPicPr>
          <p:cNvPr id="22" name="Picture 21" descr="19f6b2e9832207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2713" y="4442460"/>
            <a:ext cx="429768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12481" y="4351020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4" name="Picture 23" descr="f49fd30c1f16e9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822" y="4445508"/>
            <a:ext cx="414528" cy="2682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77350" y="4351020"/>
            <a:ext cx="3592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equivalent? Show why.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453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45380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8" name="Picture 27" descr="272bae85e8b361c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7878" y="5007864"/>
            <a:ext cx="1213104" cy="332232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expressions using properties of exponents — 6T7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monomials, and raise a monomial to a power, by applying the laws of exponents to variable bases.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3" name="Picture 12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6" name="Picture 15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84532672c5136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01140"/>
            <a:ext cx="12679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5776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4080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dea7bce85a13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313944" cy="633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495" y="2052828"/>
            <a:ext cx="120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2180" b="1" i="0">
                <a:solidFill>
                  <a:srgbClr val="9E1B32"/>
                </a:solidFill>
                <a:latin typeface="Lexend"/>
              </a:rPr>
              <a:t> =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7980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5" name="Picture 14" descr="bcdd9774053692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921508"/>
            <a:ext cx="710184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27648" y="2887980"/>
            <a:ext cx="5723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405" y="2887980"/>
            <a:ext cx="1310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and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0628"/>
            <a:ext cx="4266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with an exponent:  </a:t>
            </a:r>
          </a:p>
        </p:txBody>
      </p:sp>
      <p:pic>
        <p:nvPicPr>
          <p:cNvPr id="19" name="Picture 18" descr="10f3e19ce6b193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151" y="3610356"/>
            <a:ext cx="1679448" cy="237744"/>
          </a:xfrm>
          <a:prstGeom prst="rect">
            <a:avLst/>
          </a:prstGeom>
        </p:spPr>
      </p:pic>
      <p:pic>
        <p:nvPicPr>
          <p:cNvPr id="20" name="Picture 19" descr="6318b2f43b5ea3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239" y="3558540"/>
            <a:ext cx="30784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Product of powers — the base is a letter now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d4fe73c289b0e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80" y="1993392"/>
            <a:ext cx="445922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1004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31b3ca0b6947c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347" y="2055876"/>
            <a:ext cx="2374392" cy="286512"/>
          </a:xfrm>
          <a:prstGeom prst="rect">
            <a:avLst/>
          </a:prstGeom>
        </p:spPr>
      </p:pic>
      <p:pic>
        <p:nvPicPr>
          <p:cNvPr id="13" name="Picture 12" descr="3a24062b248a79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052" y="2679192"/>
            <a:ext cx="5233416" cy="414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20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of like bases.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30040"/>
            <a:ext cx="5140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variables stay separate:  </a:t>
            </a:r>
          </a:p>
        </p:txBody>
      </p:sp>
      <p:pic>
        <p:nvPicPr>
          <p:cNvPr id="16" name="Picture 15" descr="cb5cb67ed0c2e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725" y="4145280"/>
            <a:ext cx="278892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6bfdf3d19b6c6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36" y="1993392"/>
            <a:ext cx="43220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9500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ccf0a74e9f8b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43" y="2017776"/>
            <a:ext cx="1920240" cy="362712"/>
          </a:xfrm>
          <a:prstGeom prst="rect">
            <a:avLst/>
          </a:prstGeom>
        </p:spPr>
      </p:pic>
      <p:pic>
        <p:nvPicPr>
          <p:cNvPr id="13" name="Picture 12" descr="ae79d4a9e407b4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368" y="2679192"/>
            <a:ext cx="3806952" cy="426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0320" y="266395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4c84c2e4af97e3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63" y="2679192"/>
            <a:ext cx="3523488" cy="426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4424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992b07e12d929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80" y="1993392"/>
            <a:ext cx="4517136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5616" y="215798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e5743ba7bca77d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959" y="2037588"/>
            <a:ext cx="1783080" cy="697992"/>
          </a:xfrm>
          <a:prstGeom prst="rect">
            <a:avLst/>
          </a:prstGeom>
        </p:spPr>
      </p:pic>
      <p:pic>
        <p:nvPicPr>
          <p:cNvPr id="13" name="Picture 12" descr="bff3d968f5264f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652" y="3054096"/>
            <a:ext cx="1840991" cy="795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83644" y="322326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babaa48f738357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987" y="3055619"/>
            <a:ext cx="3230880" cy="792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187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f82502c420b1e8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2103120"/>
            <a:ext cx="261823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d34a71302951cd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48400" cy="426720"/>
          </a:xfrm>
          <a:prstGeom prst="rect">
            <a:avLst/>
          </a:prstGeom>
        </p:spPr>
      </p:pic>
      <p:pic>
        <p:nvPicPr>
          <p:cNvPr id="9" name="Picture 8" descr="9880f38cb80c4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357835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cebc1086f5007b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1600200"/>
            <a:ext cx="31272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4018e03469d2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611" y="1600200"/>
            <a:ext cx="31302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7719" y="3201526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1f9f47243b423b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56" y="3323446"/>
            <a:ext cx="1072896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17719" y="3704446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3" name="Picture 12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645" y="3801982"/>
            <a:ext cx="2282952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719" y="4207366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5" name="Picture 14" descr="795cd8a8804113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696" y="4304902"/>
            <a:ext cx="2362200" cy="262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88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b9b17b427698fa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1" y="2103120"/>
            <a:ext cx="1408176" cy="865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16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c921a6ad516c9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87624" cy="414528"/>
          </a:xfrm>
          <a:prstGeom prst="rect">
            <a:avLst/>
          </a:prstGeom>
        </p:spPr>
      </p:pic>
      <p:pic>
        <p:nvPicPr>
          <p:cNvPr id="9" name="Picture 8" descr="69e7633d2c21f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5672328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8188cd9592de45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007" y="1600200"/>
            <a:ext cx="1365504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fd6aa4af28a3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1" y="1600200"/>
            <a:ext cx="1362456" cy="1191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948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as a single monomial.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286" y="3884278"/>
            <a:ext cx="16914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 first:  </a:t>
            </a:r>
          </a:p>
        </p:txBody>
      </p:sp>
      <p:pic>
        <p:nvPicPr>
          <p:cNvPr id="11" name="Picture 10" descr="0a070322ca6b9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553" y="3951334"/>
            <a:ext cx="3151632" cy="3230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26286" y="438719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3" name="Picture 12" descr="6dd81528b6eb1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323" y="4510642"/>
            <a:ext cx="1176528" cy="210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26286" y="4890118"/>
            <a:ext cx="15074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p's:  </a:t>
            </a:r>
          </a:p>
        </p:txBody>
      </p:sp>
      <p:pic>
        <p:nvPicPr>
          <p:cNvPr id="15" name="Picture 14" descr="234d1df8f51eff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6612" y="4957174"/>
            <a:ext cx="2609088" cy="323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54616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2p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c22a98d40a0fe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72" y="2194560"/>
            <a:ext cx="125577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057d29314ff5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3" y="2103120"/>
            <a:ext cx="1261872" cy="417576"/>
          </a:xfrm>
          <a:prstGeom prst="rect">
            <a:avLst/>
          </a:prstGeom>
        </p:spPr>
      </p:pic>
      <p:pic>
        <p:nvPicPr>
          <p:cNvPr id="9" name="Picture 8" descr="5c18f5c8d8075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5" y="2877312"/>
            <a:ext cx="2779776" cy="301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9744" y="459943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f1aeccb44d2ab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3" y="4663440"/>
            <a:ext cx="621792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fc4ca0383286b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2194560"/>
            <a:ext cx="1011936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39b1b73431d5a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03120"/>
            <a:ext cx="1014984" cy="524256"/>
          </a:xfrm>
          <a:prstGeom prst="rect">
            <a:avLst/>
          </a:prstGeom>
        </p:spPr>
      </p:pic>
      <p:pic>
        <p:nvPicPr>
          <p:cNvPr id="9" name="Picture 8" descr="142a7df11ceea4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2942844"/>
            <a:ext cx="2514600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99076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88d04d46c5235e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315" y="4663440"/>
            <a:ext cx="643128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b2218f1b6cc7b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4152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3770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c9ee10aba4762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7272"/>
            <a:ext cx="65532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37217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0023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cube has edges  </a:t>
            </a:r>
          </a:p>
        </p:txBody>
      </p:sp>
      <p:pic>
        <p:nvPicPr>
          <p:cNvPr id="9" name="Picture 8" descr="47e41d1215f68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8" y="1946147"/>
            <a:ext cx="45720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818" y="1851660"/>
            <a:ext cx="29419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3084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surface area is  </a:t>
            </a:r>
          </a:p>
        </p:txBody>
      </p:sp>
      <p:pic>
        <p:nvPicPr>
          <p:cNvPr id="12" name="Picture 11" descr="e168afa666552c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897" y="2555748"/>
            <a:ext cx="658368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0265" y="2464308"/>
            <a:ext cx="3314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square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volume of the cube, in cubic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9370" y="3734926"/>
            <a:ext cx="57716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Volume = edge × edge × edge:  </a:t>
            </a:r>
          </a:p>
        </p:txBody>
      </p:sp>
      <p:pic>
        <p:nvPicPr>
          <p:cNvPr id="16" name="Picture 15" descr="f2db44398d05b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845" y="3779122"/>
            <a:ext cx="908304" cy="368808"/>
          </a:xfrm>
          <a:prstGeom prst="rect">
            <a:avLst/>
          </a:prstGeom>
        </p:spPr>
      </p:pic>
      <p:pic>
        <p:nvPicPr>
          <p:cNvPr id="17" name="Picture 16" descr="83e03eeb217037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234" y="4315570"/>
            <a:ext cx="3297936" cy="3749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9451" y="47803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9" name="Picture 18" descr="930c42f7a917cf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4845922"/>
            <a:ext cx="722376" cy="417576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4ae5c6bf68c5f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5f8cdff3a58f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87" y="2103120"/>
            <a:ext cx="290474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37531" y="2891028"/>
            <a:ext cx="18411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0" name="Picture 9" descr="10283f176991c3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568" y="3012948"/>
            <a:ext cx="1091184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37531" y="3393948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2" name="Picture 11" descr="5f3fb78ccfb86d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457" y="3491483"/>
            <a:ext cx="2282952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7531" y="3896867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4" name="Picture 13" descr="32bbfbda57c94e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508" y="3994404"/>
            <a:ext cx="231952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0831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36d05054388e0f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1" y="4663440"/>
            <a:ext cx="1499616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54d7a3db40dafe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217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01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71344e364b98f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2103120"/>
            <a:ext cx="145084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6dcc307e4b4bb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1" y="3508579"/>
            <a:ext cx="3892296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25m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a573a675710e2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2194560"/>
            <a:ext cx="1011936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137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800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65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62958141cc876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100584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253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227" y="3950539"/>
            <a:ext cx="21407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Numbers:  </a:t>
            </a:r>
          </a:p>
        </p:txBody>
      </p:sp>
      <p:pic>
        <p:nvPicPr>
          <p:cNvPr id="11" name="Picture 10" descr="2908f8b113149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854" y="4052647"/>
            <a:ext cx="138988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3742" y="3950539"/>
            <a:ext cx="25510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   The x's:  </a:t>
            </a:r>
          </a:p>
        </p:txBody>
      </p:sp>
      <p:pic>
        <p:nvPicPr>
          <p:cNvPr id="13" name="Picture 12" descr="3aeb7558cdc9ff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612" y="4026739"/>
            <a:ext cx="2770632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4x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09665619072acc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80" y="2194560"/>
            <a:ext cx="1203960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fa028d663fe2f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2103120"/>
            <a:ext cx="1197864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82736" y="3378708"/>
            <a:ext cx="1710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c's:  </a:t>
            </a:r>
          </a:p>
        </p:txBody>
      </p:sp>
      <p:pic>
        <p:nvPicPr>
          <p:cNvPr id="10" name="Picture 9" descr="41cf13457f6ca2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737" y="3454908"/>
            <a:ext cx="299008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82736" y="3918203"/>
            <a:ext cx="1746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d's:  </a:t>
            </a:r>
          </a:p>
        </p:txBody>
      </p:sp>
      <p:pic>
        <p:nvPicPr>
          <p:cNvPr id="12" name="Picture 11" descr="3cec43e7944d31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455" y="3994404"/>
            <a:ext cx="3386328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1183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4" name="Picture 13" descr="c4c6f47ddd42ac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3" y="4663440"/>
            <a:ext cx="43891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17170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9666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a981bea298d1f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91693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08026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0522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8d2620ce0f386f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23" y="2825496"/>
            <a:ext cx="187147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73772" y="3525012"/>
            <a:ext cx="65734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base, so the exponents add:  </a:t>
            </a:r>
          </a:p>
        </p:txBody>
      </p:sp>
      <p:pic>
        <p:nvPicPr>
          <p:cNvPr id="13" name="Picture 12" descr="b4a56cf80f1421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051" y="3627120"/>
            <a:ext cx="1383792" cy="252984"/>
          </a:xfrm>
          <a:prstGeom prst="rect">
            <a:avLst/>
          </a:prstGeom>
        </p:spPr>
      </p:pic>
      <p:pic>
        <p:nvPicPr>
          <p:cNvPr id="14" name="Picture 13" descr="faf016cfea52a8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636" y="4166616"/>
            <a:ext cx="188976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2430" y="162306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0f4a528fb553ff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50" y="1647444"/>
            <a:ext cx="14935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9970" y="1623060"/>
            <a:ext cx="7662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</a:t>
            </a:r>
          </a:p>
        </p:txBody>
      </p:sp>
      <p:pic>
        <p:nvPicPr>
          <p:cNvPr id="11" name="Picture 10" descr="e0c3dd1cea0c7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22" y="2392680"/>
            <a:ext cx="7485888" cy="289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9210" y="23088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8298" y="2994660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141b9ad3a73872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11" y="3020568"/>
            <a:ext cx="180746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2575" y="2994660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906" y="1623060"/>
            <a:ext cx="25511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Rachel writes  </a:t>
            </a:r>
          </a:p>
        </p:txBody>
      </p:sp>
      <p:pic>
        <p:nvPicPr>
          <p:cNvPr id="9" name="Picture 8" descr="a3dcfdf926345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926" y="1647444"/>
            <a:ext cx="149656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1494" y="1623060"/>
            <a:ext cx="7662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as</a:t>
            </a:r>
          </a:p>
        </p:txBody>
      </p:sp>
      <p:pic>
        <p:nvPicPr>
          <p:cNvPr id="11" name="Picture 10" descr="1584e3327bf07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846" y="2392680"/>
            <a:ext cx="7482840" cy="289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47686" y="23088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5250" y="2994660"/>
            <a:ext cx="3423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Justina writes it as  </a:t>
            </a:r>
          </a:p>
        </p:txBody>
      </p:sp>
      <p:pic>
        <p:nvPicPr>
          <p:cNvPr id="14" name="Picture 13" descr="a051b135e43659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63" y="3017520"/>
            <a:ext cx="181356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5623" y="2994660"/>
            <a:ext cx="4307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Who is correct? Explain.</a:t>
            </a:r>
          </a:p>
        </p:txBody>
      </p:sp>
      <p:pic>
        <p:nvPicPr>
          <p:cNvPr id="16" name="Picture 15" descr="a5dbe839110f56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333" y="3825240"/>
            <a:ext cx="2798064" cy="313944"/>
          </a:xfrm>
          <a:prstGeom prst="rect">
            <a:avLst/>
          </a:prstGeom>
        </p:spPr>
      </p:pic>
      <p:pic>
        <p:nvPicPr>
          <p:cNvPr id="17" name="Picture 16" descr="cb303afaf851bb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333" y="4366259"/>
            <a:ext cx="4386072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7405" y="4293107"/>
            <a:ext cx="15240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9" name="Picture 18" descr="e58666b48c9703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266" y="4369308"/>
            <a:ext cx="1761744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864608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are correct; 14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2,744, nine a's make 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9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and b · b · b = 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2eaabd0e0343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63" y="1588008"/>
            <a:ext cx="813816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3" name="Picture 12" descr="759d173ab3ce1a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20" y="2154936"/>
            <a:ext cx="670560" cy="3261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6" name="Picture 15" descr="b2f7ca41cd8de6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620" y="2740151"/>
            <a:ext cx="856488" cy="3444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19" name="Picture 18" descr="b4d4ab21b5b301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620" y="3343655"/>
            <a:ext cx="1615440" cy="3261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9883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88307"/>
            <a:ext cx="43133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a single monomial.  </a:t>
            </a:r>
          </a:p>
        </p:txBody>
      </p:sp>
      <p:pic>
        <p:nvPicPr>
          <p:cNvPr id="22" name="Picture 21" descr="8715ef2ef01682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620" y="3895344"/>
            <a:ext cx="685800" cy="643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9849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8491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843272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698491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739f2fcdf71af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753356"/>
            <a:ext cx="1588008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powers: variable bases — TR9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a power: variable bases — 2CU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THREAD A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Negative Exponents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rewrite an algebraic expression with negative exponents using only positive exponents, and apply several laws of exponents to a monomial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774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a single monomial:  </a:t>
            </a:r>
          </a:p>
        </p:txBody>
      </p:sp>
      <p:pic>
        <p:nvPicPr>
          <p:cNvPr id="9" name="Picture 8" descr="9876647aa2adb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10" y="1501140"/>
            <a:ext cx="81381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daac0ec1771ab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42744"/>
            <a:ext cx="4114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236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greater,  </a:t>
            </a:r>
          </a:p>
        </p:txBody>
      </p:sp>
      <p:pic>
        <p:nvPicPr>
          <p:cNvPr id="13" name="Picture 12" descr="36070a9ce3916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545" y="2699004"/>
            <a:ext cx="713232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6777" y="2665476"/>
            <a:ext cx="1151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9?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43656"/>
            <a:ext cx="43612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 </a:t>
            </a:r>
          </a:p>
        </p:txBody>
      </p:sp>
      <p:pic>
        <p:nvPicPr>
          <p:cNvPr id="16" name="Picture 15" descr="6fa687cf291616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19" y="3300984"/>
            <a:ext cx="176784" cy="5425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75403" y="3343656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4774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a single monomial:  </a:t>
            </a:r>
          </a:p>
        </p:txBody>
      </p:sp>
      <p:pic>
        <p:nvPicPr>
          <p:cNvPr id="9" name="Picture 8" descr="9876647aa2adb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10" y="1501140"/>
            <a:ext cx="81381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4366" y="1440180"/>
            <a:ext cx="8233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27x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daac0ec1771ab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42744"/>
            <a:ext cx="41148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33426" y="2052828"/>
            <a:ext cx="8779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236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Which is greater,  </a:t>
            </a:r>
          </a:p>
        </p:txBody>
      </p:sp>
      <p:pic>
        <p:nvPicPr>
          <p:cNvPr id="15" name="Picture 14" descr="36070a9ce3916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545" y="2699004"/>
            <a:ext cx="713232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86777" y="2665476"/>
            <a:ext cx="1151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9?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9902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3656"/>
            <a:ext cx="43612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What is the reciprocal of  </a:t>
            </a:r>
          </a:p>
        </p:txBody>
      </p:sp>
      <p:pic>
        <p:nvPicPr>
          <p:cNvPr id="19" name="Picture 18" descr="6fa687cf291616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19" y="3300984"/>
            <a:ext cx="176784" cy="5425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75403" y="3343656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21" name="Picture 20" descr="0ef102b5f3cf8f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893" y="3300984"/>
            <a:ext cx="176784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pattern, with a letter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93392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x·x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  <a:r>
                        <a:rPr sz="17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1/x</a:t>
                      </a:r>
                      <a:r>
                        <a:rPr sz="17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959d23703025cf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405" y="2990088"/>
            <a:ext cx="1319784" cy="682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8189" y="310286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3" name="Picture 12" descr="50055cd3f97ed5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533" y="2990088"/>
            <a:ext cx="1347216" cy="682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9749" y="3102864"/>
            <a:ext cx="1263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(</a:t>
            </a:r>
          </a:p>
        </p:txBody>
      </p:sp>
      <p:pic>
        <p:nvPicPr>
          <p:cNvPr id="15" name="Picture 14" descr="69c32b8b9be784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787" y="3192780"/>
            <a:ext cx="792480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67" y="3102864"/>
            <a:ext cx="3320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Moving factors across the fraction bar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40171f025bff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32" y="2036064"/>
            <a:ext cx="1496568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05400" y="217322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b3850983250dec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993392"/>
            <a:ext cx="2221992" cy="816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31736" y="217322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560526d4cbdf3f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079" y="2002536"/>
            <a:ext cx="1816608" cy="798576"/>
          </a:xfrm>
          <a:prstGeom prst="rect">
            <a:avLst/>
          </a:prstGeom>
        </p:spPr>
      </p:pic>
      <p:pic>
        <p:nvPicPr>
          <p:cNvPr id="15" name="Picture 14" descr="e650137e6d4e49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372" y="3084575"/>
            <a:ext cx="2398776" cy="8808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3037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Only the factor with the negative exponent moves. Its exponent turns positive.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laws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a24d7800dcaf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64" y="2020824"/>
            <a:ext cx="43891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1384" y="2157984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c9767efe7def6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727" y="1993392"/>
            <a:ext cx="3843528" cy="786384"/>
          </a:xfrm>
          <a:prstGeom prst="rect">
            <a:avLst/>
          </a:prstGeom>
        </p:spPr>
      </p:pic>
      <p:pic>
        <p:nvPicPr>
          <p:cNvPr id="13" name="Picture 12" descr="84afeb60d2ecec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51" y="3054096"/>
            <a:ext cx="3480816" cy="813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Apply the law. Then rewrite so that every exponent is positive.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c31c4577474535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04" y="2103120"/>
            <a:ext cx="2877312" cy="426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30c11d9477e5c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245352" cy="426720"/>
          </a:xfrm>
          <a:prstGeom prst="rect">
            <a:avLst/>
          </a:prstGeom>
        </p:spPr>
      </p:pic>
      <p:pic>
        <p:nvPicPr>
          <p:cNvPr id="9" name="Picture 8" descr="d89781ec390765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21280"/>
            <a:ext cx="2776728" cy="880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/y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69930e82b2e70e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651" y="1600200"/>
            <a:ext cx="325221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3519e6fe93bd6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651" y="1600200"/>
            <a:ext cx="3252216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8223" y="3201526"/>
            <a:ext cx="1508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a's:  </a:t>
            </a:r>
          </a:p>
        </p:txBody>
      </p:sp>
      <p:pic>
        <p:nvPicPr>
          <p:cNvPr id="11" name="Picture 10" descr="5cce26f9814b90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149" y="3299062"/>
            <a:ext cx="2551176" cy="262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78223" y="3779122"/>
            <a:ext cx="1507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b's:  </a:t>
            </a:r>
          </a:p>
        </p:txBody>
      </p:sp>
      <p:pic>
        <p:nvPicPr>
          <p:cNvPr id="13" name="Picture 12" descr="455b440955e368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00" y="3727306"/>
            <a:ext cx="3429000" cy="560832"/>
          </a:xfrm>
          <a:prstGeom prst="rect">
            <a:avLst/>
          </a:prstGeom>
        </p:spPr>
      </p:pic>
      <p:pic>
        <p:nvPicPr>
          <p:cNvPr id="14" name="Picture 13" descr="153f36a6e04348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087" y="4379578"/>
            <a:ext cx="1996439" cy="606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9159" y="534579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6" name="Picture 15" descr="682a312527072d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123290"/>
            <a:ext cx="822960" cy="993648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7f7328112e67c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2103120"/>
            <a:ext cx="143256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1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55def8551484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798576"/>
          </a:xfrm>
          <a:prstGeom prst="rect">
            <a:avLst/>
          </a:prstGeom>
        </p:spPr>
      </p:pic>
      <p:pic>
        <p:nvPicPr>
          <p:cNvPr id="9" name="Picture 8" descr="44c539f0c5b2a6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3136"/>
            <a:ext cx="14081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b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/1,024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43798c2465e5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1481328"/>
            <a:ext cx="1411224" cy="880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5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03a681fbad5650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099" y="1481328"/>
            <a:ext cx="1417320" cy="883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681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Write an equivalent expression with positive exponents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1617" y="3457558"/>
            <a:ext cx="68554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Cube every part, then move the y up:</a:t>
            </a:r>
          </a:p>
        </p:txBody>
      </p:sp>
      <p:pic>
        <p:nvPicPr>
          <p:cNvPr id="11" name="Picture 10" descr="0c8a8ac9e9217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481" y="4019914"/>
            <a:ext cx="360578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0767" y="527721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3" name="Picture 12" descr="f55882cbb9fea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007" y="5037946"/>
            <a:ext cx="999743" cy="1027176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6674280269050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94560"/>
            <a:ext cx="661416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01db6ee3c3d8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528" y="2103120"/>
            <a:ext cx="664464" cy="417576"/>
          </a:xfrm>
          <a:prstGeom prst="rect">
            <a:avLst/>
          </a:prstGeom>
        </p:spPr>
      </p:pic>
      <p:pic>
        <p:nvPicPr>
          <p:cNvPr id="9" name="Picture 8" descr="d97f5e29590d2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15" y="2822448"/>
            <a:ext cx="1188720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67656" y="484327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32577d3055fb5c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896" y="4663440"/>
            <a:ext cx="505968" cy="908304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93407e2af196c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39" y="2194560"/>
            <a:ext cx="701040" cy="1021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777177b459190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103120"/>
            <a:ext cx="694944" cy="1021080"/>
          </a:xfrm>
          <a:prstGeom prst="rect">
            <a:avLst/>
          </a:prstGeom>
        </p:spPr>
      </p:pic>
      <p:pic>
        <p:nvPicPr>
          <p:cNvPr id="9" name="Picture 8" descr="ed6b513a0faffd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023" y="3425952"/>
            <a:ext cx="1222248" cy="743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82896" y="465277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739c7a2665113b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663440"/>
            <a:ext cx="475488" cy="527304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6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brightness of a lamp from  </a:t>
            </a:r>
          </a:p>
        </p:txBody>
      </p:sp>
      <p:pic>
        <p:nvPicPr>
          <p:cNvPr id="9" name="Picture 8" descr="c15f87ddcb3bf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55" y="1997963"/>
            <a:ext cx="170688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8943" y="1851660"/>
            <a:ext cx="27899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meters away is  </a:t>
            </a:r>
          </a:p>
        </p:txBody>
      </p:sp>
      <p:pic>
        <p:nvPicPr>
          <p:cNvPr id="11" name="Picture 10" descr="84926e2d69875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706" y="1941575"/>
            <a:ext cx="59740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9114" y="1851660"/>
            <a:ext cx="1176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bright is the lamp from 3 meters away?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6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brightness of a lamp from  </a:t>
            </a:r>
          </a:p>
        </p:txBody>
      </p:sp>
      <p:pic>
        <p:nvPicPr>
          <p:cNvPr id="9" name="Picture 8" descr="c15f87ddcb3bf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55" y="1997963"/>
            <a:ext cx="170688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8943" y="1851660"/>
            <a:ext cx="27899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meters away is  </a:t>
            </a:r>
          </a:p>
        </p:txBody>
      </p:sp>
      <p:pic>
        <p:nvPicPr>
          <p:cNvPr id="11" name="Picture 10" descr="59a0045a99994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706" y="1941575"/>
            <a:ext cx="60045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82162" y="1851660"/>
            <a:ext cx="11768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lamp is 15 centimeters 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bright is the lamp from 3 meters away?</a:t>
            </a:r>
          </a:p>
        </p:txBody>
      </p:sp>
      <p:pic>
        <p:nvPicPr>
          <p:cNvPr id="15" name="Picture 14" descr="5c284e4651c465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84" y="3684236"/>
            <a:ext cx="1365504" cy="661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5020" y="4577300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7" name="Picture 16" descr="c75e225ddc1423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039" y="4680932"/>
            <a:ext cx="691896" cy="2499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41935" y="4577300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9" name="Picture 18" descr="797e4763244917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243" y="4473668"/>
            <a:ext cx="902208" cy="6644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1956" y="541854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21" name="Picture 20" descr="7cc84f7ce49a4b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2196" y="5275292"/>
            <a:ext cx="277368" cy="835152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dffbc97436ffe1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388" y="2194560"/>
            <a:ext cx="1380744" cy="52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379041f8448abc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863" y="2103120"/>
            <a:ext cx="1383792" cy="524256"/>
          </a:xfrm>
          <a:prstGeom prst="rect">
            <a:avLst/>
          </a:prstGeom>
        </p:spPr>
      </p:pic>
      <p:pic>
        <p:nvPicPr>
          <p:cNvPr id="9" name="Picture 8" descr="df4259ca5ca27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2929128"/>
            <a:ext cx="3486912" cy="7376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6384" y="48981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ae9b9921835656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624" y="4663440"/>
            <a:ext cx="1048512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8fef075fd5991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67" y="2194560"/>
            <a:ext cx="162458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378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174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15fe40f55398ba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67" y="2103120"/>
            <a:ext cx="162458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234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fa30cce62b615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635" y="3455239"/>
            <a:ext cx="3617976" cy="301752"/>
          </a:xfrm>
          <a:prstGeom prst="rect">
            <a:avLst/>
          </a:prstGeom>
        </p:spPr>
      </p:pic>
      <p:pic>
        <p:nvPicPr>
          <p:cNvPr id="11" name="Picture 10" descr="62056a37b2fbb2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635" y="3939871"/>
            <a:ext cx="1392936" cy="661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738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1/x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cf3a56c40449a5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146304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217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84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1/(9x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4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9/x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901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0a90fe1e36bfa0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03120"/>
            <a:ext cx="1466088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8fdbef022020a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144" y="3508579"/>
            <a:ext cx="3870960" cy="371856"/>
          </a:xfrm>
          <a:prstGeom prst="rect">
            <a:avLst/>
          </a:prstGeom>
        </p:spPr>
      </p:pic>
      <p:pic>
        <p:nvPicPr>
          <p:cNvPr id="11" name="Picture 10" descr="6b6d8bee23985d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144" y="4028263"/>
            <a:ext cx="1636776" cy="661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26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9/x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250187780958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384" y="2194560"/>
            <a:ext cx="682752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80545a7c6c29eb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1" y="2103120"/>
            <a:ext cx="676656" cy="993648"/>
          </a:xfrm>
          <a:prstGeom prst="rect">
            <a:avLst/>
          </a:prstGeom>
        </p:spPr>
      </p:pic>
      <p:pic>
        <p:nvPicPr>
          <p:cNvPr id="9" name="Picture 8" descr="827875b902783b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5" y="3398520"/>
            <a:ext cx="2554224" cy="722376"/>
          </a:xfrm>
          <a:prstGeom prst="rect">
            <a:avLst/>
          </a:prstGeom>
        </p:spPr>
      </p:pic>
      <p:pic>
        <p:nvPicPr>
          <p:cNvPr id="10" name="Picture 9" descr="7f1840715d0010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5" y="4248912"/>
            <a:ext cx="1219200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5464" y="52349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dbcbf103259ff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5050536"/>
            <a:ext cx="530352" cy="917448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17170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9666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64533c8a20ef97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15" y="2916936"/>
            <a:ext cx="192328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3087" y="2080260"/>
            <a:ext cx="3006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9" name="Picture 8" descr="f14fce7cf077c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62" y="2205228"/>
            <a:ext cx="176784" cy="20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9446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1" name="Picture 10" descr="46b0784f7c8733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15" y="2825496"/>
            <a:ext cx="192328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3292" y="3525012"/>
            <a:ext cx="65734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base, so the exponents add:  </a:t>
            </a:r>
          </a:p>
        </p:txBody>
      </p:sp>
      <p:pic>
        <p:nvPicPr>
          <p:cNvPr id="13" name="Picture 12" descr="448fa4db260ab5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571" y="3627120"/>
            <a:ext cx="1438656" cy="252984"/>
          </a:xfrm>
          <a:prstGeom prst="rect">
            <a:avLst/>
          </a:prstGeom>
        </p:spPr>
      </p:pic>
      <p:pic>
        <p:nvPicPr>
          <p:cNvPr id="14" name="Picture 13" descr="070b8a66ba960f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156" y="4166616"/>
            <a:ext cx="17465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7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6143" y="2171700"/>
            <a:ext cx="1738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are  </a:t>
            </a:r>
          </a:p>
        </p:txBody>
      </p:sp>
      <p:pic>
        <p:nvPicPr>
          <p:cNvPr id="9" name="Picture 8" descr="fe49da65f71bd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9" y="2234184"/>
            <a:ext cx="365760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3279" y="217170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0b08484e668b31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20" y="2234184"/>
            <a:ext cx="524256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2276" y="2171700"/>
            <a:ext cx="17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335" y="2857500"/>
            <a:ext cx="6986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Explain, and give the value of each when  </a:t>
            </a:r>
          </a:p>
        </p:txBody>
      </p:sp>
      <p:pic>
        <p:nvPicPr>
          <p:cNvPr id="14" name="Picture 13" descr="1c40b7a80b3cb0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006" y="2948940"/>
            <a:ext cx="774192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18198" y="2857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6143" y="2080260"/>
            <a:ext cx="1738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are  </a:t>
            </a:r>
          </a:p>
        </p:txBody>
      </p:sp>
      <p:pic>
        <p:nvPicPr>
          <p:cNvPr id="9" name="Picture 8" descr="d6ec3cb3152693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9" y="2142744"/>
            <a:ext cx="365760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3279" y="2080260"/>
            <a:ext cx="12019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1" name="Picture 10" descr="95ab217f46ae0a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20" y="2142744"/>
            <a:ext cx="524256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2276" y="2080260"/>
            <a:ext cx="17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related?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335" y="2766060"/>
            <a:ext cx="6986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Explain, and give the value of each when  </a:t>
            </a:r>
          </a:p>
        </p:txBody>
      </p:sp>
      <p:pic>
        <p:nvPicPr>
          <p:cNvPr id="14" name="Picture 13" descr="1c40b7a80b3cb0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006" y="2857500"/>
            <a:ext cx="774192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18198" y="27660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6" name="Picture 15" descr="5d03ae494c5143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181" y="3547872"/>
            <a:ext cx="1182624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36805" y="3648456"/>
            <a:ext cx="3876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the reciprocal of   </a:t>
            </a:r>
          </a:p>
        </p:txBody>
      </p:sp>
      <p:pic>
        <p:nvPicPr>
          <p:cNvPr id="18" name="Picture 17" descr="5a584fe5a654e3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624" y="3726180"/>
            <a:ext cx="33223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99317" y="4410456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20" name="Picture 19" descr="07b139cdbb0c92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336" y="4514088"/>
            <a:ext cx="704088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08424" y="4410456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22" name="Picture 21" descr="3bf425c97d8d91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7732" y="4486656"/>
            <a:ext cx="102108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98812" y="4410456"/>
            <a:ext cx="15240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24" name="Picture 23" descr="b22ccf291db4015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5674" y="4334256"/>
            <a:ext cx="1170432" cy="60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081016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is the reciprocal of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When x = 2: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32 and x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1/32.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0" name="Picture 9" descr="d0b6a1cb6c510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56" y="1588008"/>
            <a:ext cx="524256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3" name="Picture 12" descr="43c032e9738a9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756" y="2147315"/>
            <a:ext cx="59740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7721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72155"/>
            <a:ext cx="58274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Rewrite using only positive exponents.  </a:t>
            </a:r>
          </a:p>
        </p:txBody>
      </p:sp>
      <p:pic>
        <p:nvPicPr>
          <p:cNvPr id="16" name="Picture 15" descr="06266648dc403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756" y="2706623"/>
            <a:ext cx="448056" cy="5882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45490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54907"/>
            <a:ext cx="5711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Simplify. Use positive exponents only.  </a:t>
            </a:r>
          </a:p>
        </p:txBody>
      </p:sp>
      <p:pic>
        <p:nvPicPr>
          <p:cNvPr id="19" name="Picture 18" descr="374d67a93a7cbd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157" y="3546347"/>
            <a:ext cx="93878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04926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49267"/>
            <a:ext cx="5711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Simplify. Use positive exponents only.  </a:t>
            </a:r>
          </a:p>
        </p:txBody>
      </p:sp>
      <p:pic>
        <p:nvPicPr>
          <p:cNvPr id="22" name="Picture 21" descr="50045c27c617c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157" y="4114800"/>
            <a:ext cx="1042415" cy="3261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64362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43628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788408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643628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6e9a5405552d7f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701540"/>
            <a:ext cx="1588008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Thread A · Day 2 — Negative Exponents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Variables with negative exponents — 2NL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and divide powers: variable bases — 85P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write a large number in scientific notation, read one back into standard form, and find how many times larger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5704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Rewrite with a positive exponent:  </a:t>
            </a:r>
          </a:p>
        </p:txBody>
      </p:sp>
      <p:pic>
        <p:nvPicPr>
          <p:cNvPr id="9" name="Picture 8" descr="46ce777176e30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69" y="1534668"/>
            <a:ext cx="60960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0f586036346000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13788"/>
            <a:ext cx="807720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e90d31abd60813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26008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278124"/>
            <a:ext cx="59461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5704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Rewrite with a positive exponent:  </a:t>
            </a:r>
          </a:p>
        </p:txBody>
      </p:sp>
      <p:pic>
        <p:nvPicPr>
          <p:cNvPr id="9" name="Picture 8" descr="46ce777176e30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69" y="1534668"/>
            <a:ext cx="609600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66009" y="1440180"/>
            <a:ext cx="861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4/x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0f586036346000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113788"/>
            <a:ext cx="807720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9666" y="2052828"/>
            <a:ext cx="2581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2180" b="1" i="0">
                <a:solidFill>
                  <a:srgbClr val="9E1B32"/>
                </a:solidFill>
                <a:latin typeface="Lexend"/>
              </a:rPr>
              <a:t> = 1,000,000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e90d31abd60813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99004"/>
            <a:ext cx="826008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42359" y="2665476"/>
            <a:ext cx="540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59461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In 4,500,000, which place is the 4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2133" y="3278124"/>
            <a:ext cx="13806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millions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Powers of ten name the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0540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5d2b93ef624f7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252" y="2054352"/>
            <a:ext cx="1133856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7108" y="1970532"/>
            <a:ext cx="1452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with   </a:t>
            </a:r>
          </a:p>
        </p:txBody>
      </p:sp>
      <p:pic>
        <p:nvPicPr>
          <p:cNvPr id="12" name="Picture 11" descr="f3e5877ddc95e3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931" y="2060448"/>
            <a:ext cx="1545336" cy="277368"/>
          </a:xfrm>
          <a:prstGeom prst="rect">
            <a:avLst/>
          </a:prstGeom>
        </p:spPr>
      </p:pic>
      <p:pic>
        <p:nvPicPr>
          <p:cNvPr id="13" name="Picture 12" descr="e18c35a42d2be4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384" y="2679192"/>
            <a:ext cx="3282696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24080" y="26563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5" name="Picture 14" descr="fa83316ec23a8f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423" y="2683764"/>
            <a:ext cx="3791712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exponent is how many places the decimal point moves: from 26,000,000. to 2.6 is seven places, so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7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2171bb0cafdb8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32" y="1994916"/>
            <a:ext cx="2069591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6024" y="216255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4ecd045e0e8155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367" y="1993392"/>
            <a:ext cx="3474720" cy="795528"/>
          </a:xfrm>
          <a:prstGeom prst="rect">
            <a:avLst/>
          </a:prstGeom>
        </p:spPr>
      </p:pic>
      <p:pic>
        <p:nvPicPr>
          <p:cNvPr id="13" name="Picture 12" descr="d1693eaff94ed7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027" y="3063240"/>
            <a:ext cx="4093464" cy="798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00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316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a screen, 8.4E6 means 8.4 ×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6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2018, funding for education in Florida totaled 30,100,000,000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602c4ddc3236a1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937760" cy="408432"/>
          </a:xfrm>
          <a:prstGeom prst="rect">
            <a:avLst/>
          </a:prstGeom>
        </p:spPr>
      </p:pic>
      <p:pic>
        <p:nvPicPr>
          <p:cNvPr id="9" name="Picture 8" descr="d1d3ba89cea32f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7050024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painting sold for 110,500,000 dollars.  Write this value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3649" y="2618960"/>
            <a:ext cx="63513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8 places left:  1.105</a:t>
            </a:r>
          </a:p>
        </p:txBody>
      </p:sp>
      <p:pic>
        <p:nvPicPr>
          <p:cNvPr id="10" name="Picture 9" descr="036eb30c5b345b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13" y="3204176"/>
            <a:ext cx="3971544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1.105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9206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e6569deac08d6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345" y="2139696"/>
            <a:ext cx="138684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77185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416dd2cfada87c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627" y="2139696"/>
            <a:ext cx="142951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86139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9fc71f71d11df7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73608"/>
          </a:xfrm>
          <a:prstGeom prst="rect">
            <a:avLst/>
          </a:prstGeom>
        </p:spPr>
      </p:pic>
      <p:pic>
        <p:nvPicPr>
          <p:cNvPr id="9" name="Picture 8" descr="8ba743c5890011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359152" cy="795528"/>
          </a:xfrm>
          <a:prstGeom prst="rect">
            <a:avLst/>
          </a:prstGeom>
        </p:spPr>
      </p:pic>
      <p:pic>
        <p:nvPicPr>
          <p:cNvPr id="10" name="Picture 9" descr="9c7006607715b9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38016"/>
            <a:ext cx="197510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7258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4324" y="1581912"/>
            <a:ext cx="386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Everglades alligators:  </a:t>
            </a:r>
          </a:p>
        </p:txBody>
      </p:sp>
      <p:pic>
        <p:nvPicPr>
          <p:cNvPr id="9" name="Picture 8" descr="3084bf1d1a28c6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403" y="1600200"/>
            <a:ext cx="1764792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83926" y="2325624"/>
            <a:ext cx="32178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Florida alligators:  </a:t>
            </a:r>
          </a:p>
        </p:txBody>
      </p:sp>
      <p:pic>
        <p:nvPicPr>
          <p:cNvPr id="11" name="Picture 10" descr="8f2aa491890c8b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17" y="2340864"/>
            <a:ext cx="1712976" cy="426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0876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2800" y="1581912"/>
            <a:ext cx="386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Everglades alligators:  </a:t>
            </a:r>
          </a:p>
        </p:txBody>
      </p:sp>
      <p:pic>
        <p:nvPicPr>
          <p:cNvPr id="9" name="Picture 8" descr="cdc1cc7791403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879" y="1600200"/>
            <a:ext cx="17678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85450" y="2325624"/>
            <a:ext cx="32178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Florida alligators:  </a:t>
            </a:r>
          </a:p>
        </p:txBody>
      </p:sp>
      <p:pic>
        <p:nvPicPr>
          <p:cNvPr id="11" name="Picture 10" descr="97a43bfe3668a3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41" y="2340864"/>
            <a:ext cx="1709928" cy="426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0876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About how many times larger is the Florida number?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8343" y="3677014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065d4ec2ea76ad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464" y="3798934"/>
            <a:ext cx="1892807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98343" y="4179934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88fcdaa08f344d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615" y="4277470"/>
            <a:ext cx="1871472" cy="262128"/>
          </a:xfrm>
          <a:prstGeom prst="rect">
            <a:avLst/>
          </a:prstGeom>
        </p:spPr>
      </p:pic>
      <p:pic>
        <p:nvPicPr>
          <p:cNvPr id="17" name="Picture 16" descr="6133d72459d952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207" y="4780390"/>
            <a:ext cx="1911095" cy="2621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5435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795" y="2728291"/>
            <a:ext cx="55264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4 is in the millions place:  </a:t>
            </a:r>
          </a:p>
        </p:txBody>
      </p:sp>
      <p:pic>
        <p:nvPicPr>
          <p:cNvPr id="10" name="Picture 9" descr="2fbe08c1a41f3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32" y="2772487"/>
            <a:ext cx="2450592" cy="368808"/>
          </a:xfrm>
          <a:prstGeom prst="rect">
            <a:avLst/>
          </a:prstGeom>
        </p:spPr>
      </p:pic>
      <p:pic>
        <p:nvPicPr>
          <p:cNvPr id="11" name="Picture 10" descr="05b1e2b22daef4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659" y="3311983"/>
            <a:ext cx="3032760" cy="368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3365" y="217170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23296af58026d0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93" y="2232660"/>
            <a:ext cx="140512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5321" y="217170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3365" y="208026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e49d7c02aeaf0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193" y="2139696"/>
            <a:ext cx="14051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5321" y="208026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pic>
        <p:nvPicPr>
          <p:cNvPr id="11" name="Picture 10" descr="f2fdf0be925309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99" y="2884932"/>
            <a:ext cx="1950720" cy="365760"/>
          </a:xfrm>
          <a:prstGeom prst="rect">
            <a:avLst/>
          </a:prstGeom>
        </p:spPr>
      </p:pic>
      <p:pic>
        <p:nvPicPr>
          <p:cNvPr id="12" name="Picture 11" descr="134110467fe4e6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799" y="3450335"/>
            <a:ext cx="3279648" cy="313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72,000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288" y="3587827"/>
            <a:ext cx="61541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5 places left:  3.56</a:t>
            </a:r>
          </a:p>
        </p:txBody>
      </p:sp>
      <p:pic>
        <p:nvPicPr>
          <p:cNvPr id="12" name="Picture 11" descr="ab46d03e7278ad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152" y="4173043"/>
            <a:ext cx="3112008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988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3.56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7065" y="217170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43cb3ae958f53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659" y="2232660"/>
            <a:ext cx="140512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4787" y="217170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92daabb7e870f7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872" y="2231136"/>
            <a:ext cx="135940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68280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7065" y="208026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1feacfcb0f3ecc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659" y="2141219"/>
            <a:ext cx="140512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24787" y="208026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73bd38815e7d3f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872" y="2138171"/>
            <a:ext cx="1359408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68280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3" name="Picture 12" descr="172e9537a453d6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091" y="2884932"/>
            <a:ext cx="2944368" cy="365760"/>
          </a:xfrm>
          <a:prstGeom prst="rect">
            <a:avLst/>
          </a:prstGeom>
        </p:spPr>
      </p:pic>
      <p:pic>
        <p:nvPicPr>
          <p:cNvPr id="14" name="Picture 13" descr="5bf6050deecf9a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91" y="3422904"/>
            <a:ext cx="3179064" cy="368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5.2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5.2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5.2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6872" y="2728291"/>
            <a:ext cx="59449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7 places left:  5.2</a:t>
            </a:r>
          </a:p>
        </p:txBody>
      </p:sp>
      <p:pic>
        <p:nvPicPr>
          <p:cNvPr id="10" name="Picture 9" descr="faf48c280b171a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736" y="3313507"/>
            <a:ext cx="3453384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0102" y="217170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f3f7fb3f9c4eb8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241" y="2231136"/>
            <a:ext cx="11003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1569" y="217170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24010bd5a04baa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011" y="2232660"/>
            <a:ext cx="109423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5243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5530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f55ab61039019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69" y="2139696"/>
            <a:ext cx="1106424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3093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48b21e1c13d68e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535" y="2141219"/>
            <a:ext cx="1097280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9815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3" name="Picture 12" descr="eb9f83f40dace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091" y="2941320"/>
            <a:ext cx="1197864" cy="252984"/>
          </a:xfrm>
          <a:prstGeom prst="rect">
            <a:avLst/>
          </a:prstGeom>
        </p:spPr>
      </p:pic>
      <p:pic>
        <p:nvPicPr>
          <p:cNvPr id="14" name="Picture 13" descr="b4e216bfcb8fd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091" y="3424427"/>
            <a:ext cx="4700016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1,000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5114" y="217170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ff1a9295d4f9c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53" y="2231136"/>
            <a:ext cx="1411224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7477" y="217170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4a611148313ce0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919" y="2232660"/>
            <a:ext cx="135331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60231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5114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1771eb862b537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53" y="2138171"/>
            <a:ext cx="1411224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7477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ee586f35845cd3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919" y="2141219"/>
            <a:ext cx="135331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60231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696" y="2839212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828e2ca31e32a7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816" y="2961132"/>
            <a:ext cx="148437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09696" y="3342132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e0ebbf9fd4a713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67" y="3439667"/>
            <a:ext cx="1895856" cy="262128"/>
          </a:xfrm>
          <a:prstGeom prst="rect">
            <a:avLst/>
          </a:prstGeom>
        </p:spPr>
      </p:pic>
      <p:pic>
        <p:nvPicPr>
          <p:cNvPr id="17" name="Picture 16" descr="1f2c0dea7d4e84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560" y="3918203"/>
            <a:ext cx="210312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50,000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9560" y="3303170"/>
            <a:ext cx="26373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3.5E9 means  </a:t>
            </a:r>
          </a:p>
        </p:txBody>
      </p:sp>
      <p:pic>
        <p:nvPicPr>
          <p:cNvPr id="11" name="Picture 10" descr="b45fb8c7dbcd1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755" y="3376322"/>
            <a:ext cx="1274064" cy="310896"/>
          </a:xfrm>
          <a:prstGeom prst="rect">
            <a:avLst/>
          </a:prstGeom>
        </p:spPr>
      </p:pic>
      <p:pic>
        <p:nvPicPr>
          <p:cNvPr id="12" name="Picture 11" descr="5ff869fd9c2b8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423" y="3885338"/>
            <a:ext cx="3965448" cy="371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3,500,000,000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538" y="2171700"/>
            <a:ext cx="51377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Marcus writes  70,000,000  as  </a:t>
            </a:r>
          </a:p>
        </p:txBody>
      </p:sp>
      <p:pic>
        <p:nvPicPr>
          <p:cNvPr id="9" name="Picture 8" descr="53cf5421affa4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63" y="2231136"/>
            <a:ext cx="1322832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67995" y="21717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Is his expression equal to 70,000,000? Is it scientific notation?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538" y="2080260"/>
            <a:ext cx="51377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Marcus writes  70,000,000  as  </a:t>
            </a:r>
          </a:p>
        </p:txBody>
      </p:sp>
      <p:pic>
        <p:nvPicPr>
          <p:cNvPr id="9" name="Picture 8" descr="9e4c84b90592d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63" y="2138171"/>
            <a:ext cx="132283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67995" y="20802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Is his expression equal to 70,000,000? Is it scientific notation? Explain.</a:t>
            </a:r>
          </a:p>
        </p:txBody>
      </p:sp>
      <p:pic>
        <p:nvPicPr>
          <p:cNvPr id="12" name="Picture 11" descr="d769b2a64e8c7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813" y="3430524"/>
            <a:ext cx="2868168" cy="316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1981" y="3360420"/>
            <a:ext cx="25266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it is equal.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8949" y="3863339"/>
            <a:ext cx="9520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first number must be at least 1 and less than 10. 70 is not.</a:t>
            </a:r>
          </a:p>
        </p:txBody>
      </p:sp>
      <p:pic>
        <p:nvPicPr>
          <p:cNvPr id="15" name="Picture 14" descr="db40a7b92f09ec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13" y="4439412"/>
            <a:ext cx="2685288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93776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Equal, yes. Scientific notation, no: 70 is not less than 10. 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666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8,200,000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9403"/>
            <a:ext cx="1151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12" name="Picture 11" descr="3e7ab53ed67d41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615" y="2182367"/>
            <a:ext cx="1158240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26855" y="2089403"/>
            <a:ext cx="282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59901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915,000,000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8123"/>
            <a:ext cx="27663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18" name="Picture 17" descr="f3e3f368d404e0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13" y="3371087"/>
            <a:ext cx="1155192" cy="271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8905" y="3278123"/>
            <a:ext cx="839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20" name="Picture 19" descr="bee7f03ef7d076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011" y="3369563"/>
            <a:ext cx="1133856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4867" y="327812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2483"/>
            <a:ext cx="39948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24" name="Picture 23" descr="17885e04efb304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147" y="3965447"/>
            <a:ext cx="893064" cy="2712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5211" y="3872483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26" name="Picture 25" descr="5fbd47d0e64f50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013" y="3965447"/>
            <a:ext cx="902208" cy="271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9221" y="387248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6844"/>
            <a:ext cx="9688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computer displays a number as  7.4E8.  Write it in standard form.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standard and scientific notation: large numbers — 2AL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large numbers — WEZ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ten — LJQ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write very small numbers in scientific notation, read them back, and find how many times larger or smaller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1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1626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 </a:t>
            </a:r>
          </a:p>
        </p:txBody>
      </p:sp>
      <p:pic>
        <p:nvPicPr>
          <p:cNvPr id="10" name="Picture 9" descr="b44355ff61a16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042" y="2145792"/>
            <a:ext cx="560832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24874" y="2052828"/>
            <a:ext cx="22419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fraction.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65476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3" name="Picture 12" descr="703b0b7ef618e4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464" y="2699004"/>
            <a:ext cx="69189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9360" y="2665476"/>
            <a:ext cx="58056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44415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1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0719" y="1440180"/>
            <a:ext cx="14736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4.3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1626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 </a:t>
            </a:r>
          </a:p>
        </p:txBody>
      </p:sp>
      <p:pic>
        <p:nvPicPr>
          <p:cNvPr id="11" name="Picture 10" descr="b44355ff61a16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042" y="2145792"/>
            <a:ext cx="56083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24874" y="2052828"/>
            <a:ext cx="22419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fraction.</a:t>
            </a:r>
          </a:p>
        </p:txBody>
      </p:sp>
      <p:pic>
        <p:nvPicPr>
          <p:cNvPr id="13" name="Picture 12" descr="2b698db5dc091f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03" y="2075688"/>
            <a:ext cx="816864" cy="600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665476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5" name="Picture 14" descr="703b0b7ef618e4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699004"/>
            <a:ext cx="691896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09360" y="2665476"/>
            <a:ext cx="58056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495" y="2665476"/>
            <a:ext cx="15047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44415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 0.007  as a fraction.</a:t>
            </a:r>
          </a:p>
        </p:txBody>
      </p:sp>
      <p:pic>
        <p:nvPicPr>
          <p:cNvPr id="19" name="Picture 18" descr="24e3778fee0149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589" y="3300984"/>
            <a:ext cx="816864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Negative powers of ten name the decimal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654e90524fa10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744" y="3017520"/>
            <a:ext cx="1685544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2288" y="313182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3" name="Picture 12" descr="4ca5845658b16c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31" y="2990088"/>
            <a:ext cx="3438144" cy="7406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0690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negative exponent puts the 1 in that decimal place: 10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-4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7cf70d1664c7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44" y="2028444"/>
            <a:ext cx="33162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8068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a88e78fd38d3b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11" y="2031492"/>
            <a:ext cx="4017264" cy="335280"/>
          </a:xfrm>
          <a:prstGeom prst="rect">
            <a:avLst/>
          </a:prstGeom>
        </p:spPr>
      </p:pic>
      <p:pic>
        <p:nvPicPr>
          <p:cNvPr id="13" name="Picture 12" descr="fa690032944f26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5" y="2714244"/>
            <a:ext cx="459028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exponent is how many places the point moves: from 0.0000672 to 6.72 is five places right, so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6cc52bce800e0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00" y="1993392"/>
            <a:ext cx="4556760" cy="795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49960" y="216255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3a5416871ca10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303" y="1993392"/>
            <a:ext cx="2414016" cy="795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12724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342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Which is bigger,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or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-8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? The one with the larger exponent: −5 &gt; −8, so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density of oxygen is 1,332 millionths of a gram per cubic centimeter.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6b0aa89dc254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06952" cy="810768"/>
          </a:xfrm>
          <a:prstGeom prst="rect">
            <a:avLst/>
          </a:prstGeom>
        </p:spPr>
      </p:pic>
      <p:pic>
        <p:nvPicPr>
          <p:cNvPr id="9" name="Picture 8" descr="b11101a855a1dd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898392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0.001332 = 1.332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0777" y="2728688"/>
            <a:ext cx="54371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67 hundred-thousandths = 0.00067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0777" y="3231608"/>
            <a:ext cx="52939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Move the point 4 places right:  6.7</a:t>
            </a:r>
          </a:p>
        </p:txBody>
      </p:sp>
      <p:pic>
        <p:nvPicPr>
          <p:cNvPr id="12" name="Picture 11" descr="6b2179ecfff78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641" y="3835112"/>
            <a:ext cx="2599944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5094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b4e84117b325a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33" y="2141219"/>
            <a:ext cx="15605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6809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23867d22f72f6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251" y="2139696"/>
            <a:ext cx="1524000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20251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663d5441fef8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46048" cy="676656"/>
          </a:xfrm>
          <a:prstGeom prst="rect">
            <a:avLst/>
          </a:prstGeom>
        </p:spPr>
      </p:pic>
      <p:pic>
        <p:nvPicPr>
          <p:cNvPr id="9" name="Picture 8" descr="101a9ffba773b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624072" cy="795528"/>
          </a:xfrm>
          <a:prstGeom prst="rect">
            <a:avLst/>
          </a:prstGeom>
        </p:spPr>
      </p:pic>
      <p:pic>
        <p:nvPicPr>
          <p:cNvPr id="10" name="Picture 9" descr="8b5cad9d15904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41063"/>
            <a:ext cx="2532888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4282" y="1583436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9c7a204f28765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21" y="1601724"/>
            <a:ext cx="1941576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6997" y="1583436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873100442e093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439" y="1600200"/>
            <a:ext cx="1944623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21063" y="1583436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234" y="1583436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edd08f0868705a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73" y="1601724"/>
            <a:ext cx="1944623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6997" y="1583436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c12161b97b98d8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439" y="1600200"/>
            <a:ext cx="1947672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24111" y="1583436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3688" y="2394204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ff9a26e5845ea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808" y="2516124"/>
            <a:ext cx="149656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3688" y="2897124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e0fb676db25f9e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959" y="2996184"/>
            <a:ext cx="3550920" cy="259080"/>
          </a:xfrm>
          <a:prstGeom prst="rect">
            <a:avLst/>
          </a:prstGeom>
        </p:spPr>
      </p:pic>
      <p:pic>
        <p:nvPicPr>
          <p:cNvPr id="17" name="Picture 16" descr="2847951d0162e9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552" y="3473196"/>
            <a:ext cx="2258568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4c6e3c9e0240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194560"/>
            <a:ext cx="86868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df6df4192e8ef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103120"/>
            <a:ext cx="868680" cy="420624"/>
          </a:xfrm>
          <a:prstGeom prst="rect">
            <a:avLst/>
          </a:prstGeom>
        </p:spPr>
      </p:pic>
      <p:pic>
        <p:nvPicPr>
          <p:cNvPr id="9" name="Picture 8" descr="bd3a4c29b92dda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2825496"/>
            <a:ext cx="581558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0.0000001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2785" y="2728291"/>
            <a:ext cx="63568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3 is in the thousandths place:  </a:t>
            </a:r>
          </a:p>
        </p:txBody>
      </p:sp>
      <p:pic>
        <p:nvPicPr>
          <p:cNvPr id="10" name="Picture 9" descr="830231c5d5c0db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02" y="2804491"/>
            <a:ext cx="1859280" cy="304800"/>
          </a:xfrm>
          <a:prstGeom prst="rect">
            <a:avLst/>
          </a:prstGeom>
        </p:spPr>
      </p:pic>
      <p:pic>
        <p:nvPicPr>
          <p:cNvPr id="11" name="Picture 10" descr="33c20a97ceac52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49" y="3343987"/>
            <a:ext cx="2365248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5" y="217170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a7aaa5b3e98ae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373" y="2232660"/>
            <a:ext cx="15727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19141" y="217170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6497" y="208026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1b45f78dcdf522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25" y="2139696"/>
            <a:ext cx="1578864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22189" y="208026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pic>
        <p:nvPicPr>
          <p:cNvPr id="11" name="Picture 10" descr="562f191cbb88b9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1" y="2915412"/>
            <a:ext cx="2075688" cy="304800"/>
          </a:xfrm>
          <a:prstGeom prst="rect">
            <a:avLst/>
          </a:prstGeom>
        </p:spPr>
      </p:pic>
      <p:pic>
        <p:nvPicPr>
          <p:cNvPr id="12" name="Picture 11" descr="6f8ea1aa564467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1" y="3480816"/>
            <a:ext cx="3483864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0.00025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910" y="3587827"/>
            <a:ext cx="64348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5 places right:  9.88</a:t>
            </a:r>
          </a:p>
        </p:txBody>
      </p:sp>
      <p:pic>
        <p:nvPicPr>
          <p:cNvPr id="12" name="Picture 11" descr="45f9f3462ccd0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74" y="4203523"/>
            <a:ext cx="3694176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988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9.88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9092" y="2728291"/>
            <a:ext cx="62204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4 places right:  8.1</a:t>
            </a:r>
          </a:p>
        </p:txBody>
      </p:sp>
      <p:pic>
        <p:nvPicPr>
          <p:cNvPr id="10" name="Picture 9" descr="2b19566df5af1f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56" y="3343987"/>
            <a:ext cx="3048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8.1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226" y="217170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5a2c3be760cce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65" y="2231136"/>
            <a:ext cx="124968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0045" y="217170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9a8c04db501f05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7" y="2232660"/>
            <a:ext cx="124663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6119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6178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a75ced4ea1776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317" y="2139696"/>
            <a:ext cx="12527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0045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aed887976cb4b8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7" y="2141219"/>
            <a:ext cx="1249680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9167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5212" y="2839212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38fe3a113732c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332" y="2961132"/>
            <a:ext cx="102412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5212" y="3342132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65ff84f4a4ec86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483" y="3439667"/>
            <a:ext cx="3547872" cy="262128"/>
          </a:xfrm>
          <a:prstGeom prst="rect">
            <a:avLst/>
          </a:prstGeom>
        </p:spPr>
      </p:pic>
      <p:pic>
        <p:nvPicPr>
          <p:cNvPr id="17" name="Picture 16" descr="9d511f57c8dac0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076" y="3942588"/>
            <a:ext cx="1630680" cy="2621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300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137" y="217170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d2459244fa239e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31" y="2232660"/>
            <a:ext cx="15727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06499" y="217170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864747ff02180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84" y="2231136"/>
            <a:ext cx="1563624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54208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137" y="208026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43c7aae94098e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31" y="2139696"/>
            <a:ext cx="157276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06499" y="208026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f23f4cda83ccbf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84" y="2138171"/>
            <a:ext cx="15636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54208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3" name="Picture 12" descr="2ae882816ad8ae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596" y="2915412"/>
            <a:ext cx="3072384" cy="304800"/>
          </a:xfrm>
          <a:prstGeom prst="rect">
            <a:avLst/>
          </a:prstGeom>
        </p:spPr>
      </p:pic>
      <p:pic>
        <p:nvPicPr>
          <p:cNvPr id="14" name="Picture 13" descr="d1a7b376b364cf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96" y="3453383"/>
            <a:ext cx="3499104" cy="307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5.3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1038" y="3303170"/>
            <a:ext cx="2880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4.2E−6 means  </a:t>
            </a:r>
          </a:p>
        </p:txBody>
      </p:sp>
      <p:pic>
        <p:nvPicPr>
          <p:cNvPr id="11" name="Picture 10" descr="5a5877e7059393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73" y="3377846"/>
            <a:ext cx="1438656" cy="307848"/>
          </a:xfrm>
          <a:prstGeom prst="rect">
            <a:avLst/>
          </a:prstGeom>
        </p:spPr>
      </p:pic>
      <p:pic>
        <p:nvPicPr>
          <p:cNvPr id="12" name="Picture 11" descr="2ef28584177cd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902" y="3917342"/>
            <a:ext cx="3538728" cy="307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0.0000042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2662" y="2171700"/>
            <a:ext cx="2884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A is  </a:t>
            </a:r>
          </a:p>
        </p:txBody>
      </p:sp>
      <p:pic>
        <p:nvPicPr>
          <p:cNvPr id="9" name="Picture 8" descr="6f28bcb12f677a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43" y="2229612"/>
            <a:ext cx="124968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9823" y="217170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2761" y="2857500"/>
            <a:ext cx="2878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B is  </a:t>
            </a:r>
          </a:p>
        </p:txBody>
      </p:sp>
      <p:pic>
        <p:nvPicPr>
          <p:cNvPr id="12" name="Picture 11" descr="d925408048692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947" y="2915412"/>
            <a:ext cx="1255776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9723" y="285750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1138" y="2080260"/>
            <a:ext cx="2884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A is  </a:t>
            </a:r>
          </a:p>
        </p:txBody>
      </p:sp>
      <p:pic>
        <p:nvPicPr>
          <p:cNvPr id="9" name="Picture 8" descr="846d6a6440d7a0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19" y="2138171"/>
            <a:ext cx="1252728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1347" y="208026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1237" y="2766060"/>
            <a:ext cx="2878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B is  </a:t>
            </a:r>
          </a:p>
        </p:txBody>
      </p:sp>
      <p:pic>
        <p:nvPicPr>
          <p:cNvPr id="12" name="Picture 11" descr="9a59c78d08cd98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423" y="2823971"/>
            <a:ext cx="125882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247" y="276606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4286" y="4046220"/>
            <a:ext cx="61501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Same power of 10, so compare 2 and 6.</a:t>
            </a:r>
          </a:p>
        </p:txBody>
      </p:sp>
      <p:pic>
        <p:nvPicPr>
          <p:cNvPr id="16" name="Picture 15" descr="38fe3a113732c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150" y="4671060"/>
            <a:ext cx="1024128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74286" y="5052059"/>
            <a:ext cx="26404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Between them:  </a:t>
            </a:r>
          </a:p>
        </p:txBody>
      </p:sp>
      <p:pic>
        <p:nvPicPr>
          <p:cNvPr id="18" name="Picture 17" descr="581fc6e4e685e8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529" y="5149596"/>
            <a:ext cx="984504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B; 3 times; e.g. 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in.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402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0.00047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9403"/>
            <a:ext cx="1151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12" name="Picture 11" descr="0784cf502c291e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615" y="2182367"/>
            <a:ext cx="1283208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51823" y="2089403"/>
            <a:ext cx="282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57349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0.0000061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8123"/>
            <a:ext cx="27663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18" name="Picture 17" descr="2b6d28ce99c0e7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13" y="3369563"/>
            <a:ext cx="128016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63873" y="3278123"/>
            <a:ext cx="839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20" name="Picture 19" descr="4f77a3766b474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79" y="3368039"/>
            <a:ext cx="125272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18707" y="327812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2483"/>
            <a:ext cx="39948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24" name="Picture 23" descr="36f5a0412d8a35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147" y="3962399"/>
            <a:ext cx="1024128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36275" y="3872483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26" name="Picture 25" descr="a131a25e21d7ba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077" y="3965447"/>
            <a:ext cx="1042415" cy="271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30493" y="387248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6844"/>
            <a:ext cx="9859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computer displays a number as  3.7E−5.  Write it in standard form.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standard and scientific notation: small numbers — 85M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small numbers — KDR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