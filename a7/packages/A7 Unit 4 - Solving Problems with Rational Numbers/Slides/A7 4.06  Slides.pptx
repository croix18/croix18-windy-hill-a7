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4  ·  LESSON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Order of Operations with Radicals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evaluate a multi-step expression with rational numbers, exponents and radicals by reading its structure.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 the radical bar grouped whatever sat under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Today: all the grouping symbols — structure sets the order.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7206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</a:t>
            </a:r>
          </a:p>
        </p:txBody>
      </p:sp>
      <p:pic>
        <p:nvPicPr>
          <p:cNvPr id="10" name="Picture 9" descr="535c314b8c201a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965" y="1784604"/>
            <a:ext cx="1143000" cy="4084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372868"/>
            <a:ext cx="68127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How many significant digits are in  1.020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057144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3" name="Picture 12" descr="70fd4f7c195b27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3008376"/>
            <a:ext cx="795528" cy="5547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4519" y="3741420"/>
            <a:ext cx="22765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Evaluate:  </a:t>
            </a:r>
          </a:p>
        </p:txBody>
      </p:sp>
      <p:pic>
        <p:nvPicPr>
          <p:cNvPr id="15" name="Picture 14" descr="9720c4bedb33ef6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3878" y="3854196"/>
            <a:ext cx="1088136" cy="2316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7206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</a:t>
            </a:r>
          </a:p>
        </p:txBody>
      </p:sp>
      <p:pic>
        <p:nvPicPr>
          <p:cNvPr id="10" name="Picture 9" descr="535c314b8c201a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965" y="1784604"/>
            <a:ext cx="1143000" cy="4084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49605" y="1760220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372868"/>
            <a:ext cx="68127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How many significant digits are in  1.020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791" y="2372868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057144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5" name="Picture 14" descr="70fd4f7c195b27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3008376"/>
            <a:ext cx="795528" cy="5547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46467" y="2985516"/>
            <a:ext cx="6518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9/4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741420"/>
            <a:ext cx="22765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Evaluate:  </a:t>
            </a:r>
          </a:p>
        </p:txBody>
      </p:sp>
      <p:pic>
        <p:nvPicPr>
          <p:cNvPr id="18" name="Picture 17" descr="9720c4bedb33ef6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3878" y="3854196"/>
            <a:ext cx="1088136" cy="2316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50654" y="3741420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table.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The structure, not a mnemonic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103120" y="2340864"/>
          <a:ext cx="795528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/>
                <a:gridCol w="2743200"/>
                <a:gridCol w="45720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A1A1A"/>
                          </a:solidFill>
                          <a:latin typeface="Century Schoolbook"/>
                        </a:rPr>
                        <a:t>Level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A1A1A"/>
                          </a:solidFill>
                          <a:latin typeface="Century Schoolbook"/>
                        </a:rPr>
                        <a:t>What it means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Grouping symbols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( ), [ ], the radical bar, the fraction bar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Powers and roots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the same level as each other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Multiply and divide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left to right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Add and subtract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left to right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987552" y="455371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Innermost grouping symbol first, then 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Left to right means left to right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e75470b2ad78cf1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001" y="2406396"/>
            <a:ext cx="2962656" cy="2804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90657" y="2318004"/>
            <a:ext cx="19773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,     never   </a:t>
            </a:r>
          </a:p>
        </p:txBody>
      </p:sp>
      <p:pic>
        <p:nvPicPr>
          <p:cNvPr id="12" name="Picture 11" descr="0c14e80cd2eaab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0854" y="2403348"/>
            <a:ext cx="1502664" cy="286512"/>
          </a:xfrm>
          <a:prstGeom prst="rect">
            <a:avLst/>
          </a:prstGeom>
        </p:spPr>
      </p:pic>
      <p:pic>
        <p:nvPicPr>
          <p:cNvPr id="13" name="Picture 12" descr="c6cb11828cf708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2261" y="3084576"/>
            <a:ext cx="3343656" cy="2956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65917" y="3003804"/>
            <a:ext cx="19773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,     never   </a:t>
            </a:r>
          </a:p>
        </p:txBody>
      </p:sp>
      <p:pic>
        <p:nvPicPr>
          <p:cNvPr id="15" name="Picture 14" descr="3d97c3435e5f926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6114" y="3092196"/>
            <a:ext cx="1533144" cy="2804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3776472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Multiplication and division are one level. Addition and subtraction are one level. Left to right, both times.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The fraction bar groups, top and bottom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152b1d3b1e5b1c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4796" y="2340864"/>
            <a:ext cx="2471928" cy="810768"/>
          </a:xfrm>
          <a:prstGeom prst="rect">
            <a:avLst/>
          </a:prstGeom>
        </p:spPr>
      </p:pic>
      <p:pic>
        <p:nvPicPr>
          <p:cNvPr id="11" name="Picture 10" descr="ffadcec50e54c83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4532" y="3425952"/>
            <a:ext cx="5172456" cy="8717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4636008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Finish the numerator and finish the denominator before you divide.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grouping symbol inside a grouping symbol.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9" name="Picture 8" descr="4b1ef9fa2dcb4d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036" y="2103120"/>
            <a:ext cx="3965448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1089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Evaluate.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353dd49f16316f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231136" cy="4053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17136" y="189433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innermost: the power inside the parentheses</a:t>
            </a:r>
          </a:p>
        </p:txBody>
      </p:sp>
      <p:pic>
        <p:nvPicPr>
          <p:cNvPr id="11" name="Picture 10" descr="340b208cd1f743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99944"/>
            <a:ext cx="6973824" cy="35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59824" y="2546604"/>
            <a:ext cx="212445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finish the parentheses, then multiply</a:t>
            </a:r>
          </a:p>
        </p:txBody>
      </p:sp>
      <p:pic>
        <p:nvPicPr>
          <p:cNvPr id="13" name="Picture 12" descr="90bf680791a0f6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24783"/>
            <a:ext cx="2944368" cy="2956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30368" y="3144011"/>
            <a:ext cx="6153911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the cube root is 5; add last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−1.44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dcc7e91a07786a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1523" y="2194560"/>
            <a:ext cx="4538472" cy="6309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7d9dafa919c33a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571" y="2194560"/>
            <a:ext cx="4532376" cy="6309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14553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3(0.99) + 7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9.97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fraction bar and a radical in one expression.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9657b87afa13d5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7" y="2103120"/>
            <a:ext cx="2798064" cy="8717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777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Evaluate.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184a5d14892d37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676144" cy="810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62144" y="2097024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numerator and denominator, each finished</a:t>
            </a:r>
          </a:p>
        </p:txBody>
      </p:sp>
      <p:pic>
        <p:nvPicPr>
          <p:cNvPr id="11" name="Picture 10" descr="d857c92eedcaec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005328"/>
            <a:ext cx="3627120" cy="813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13120" y="3183636"/>
            <a:ext cx="547115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under the bar, then the root</a:t>
            </a:r>
          </a:p>
        </p:txBody>
      </p:sp>
      <p:pic>
        <p:nvPicPr>
          <p:cNvPr id="13" name="Picture 12" descr="72e6766a18ceae4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093464"/>
            <a:ext cx="1984248" cy="6797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70248" y="4204716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subtract last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3036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−1/4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c8e5417f2d59a8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747" y="2194560"/>
            <a:ext cx="4002024" cy="10850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9" name="Picture 8" descr="7dacaa3a652d27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1271" y="2194560"/>
            <a:ext cx="3998975" cy="10881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60273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a half plus a half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9" name="Picture 8" descr="6f2b5e6da5da13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199" y="2260092"/>
            <a:ext cx="1341120" cy="2804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Left to right.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9" name="Picture 8" descr="2fd862883ce8c3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199" y="2168652"/>
            <a:ext cx="1341120" cy="2804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12 ÷ 3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51660"/>
            <a:ext cx="36063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square tile has side  </a:t>
            </a:r>
          </a:p>
        </p:txBody>
      </p:sp>
      <p:pic>
        <p:nvPicPr>
          <p:cNvPr id="10" name="Picture 9" descr="9fe57fc54286b2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591" y="1876043"/>
            <a:ext cx="853440" cy="4084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57031" y="1851660"/>
            <a:ext cx="22338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centimeters.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Its diagonal is about 19.8 centimeters.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What is the perimeter of the tile?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51660"/>
            <a:ext cx="36063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square tile has side  </a:t>
            </a:r>
          </a:p>
        </p:txBody>
      </p:sp>
      <p:pic>
        <p:nvPicPr>
          <p:cNvPr id="10" name="Picture 9" descr="538eaa100b231b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591" y="1876043"/>
            <a:ext cx="847344" cy="4084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50935" y="1851660"/>
            <a:ext cx="22338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centimeters.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Its diagonal is about 19.8 centimeters.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What is the perimeter of the tile?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656804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4 sides of 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56 centimeters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pic>
        <p:nvPicPr>
          <p:cNvPr id="9" name="Picture 8" descr="0bd57d1fcf1bcfb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187" y="2253996"/>
            <a:ext cx="1533144" cy="292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Left to right.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9" name="Picture 8" descr="e06ac948f72f4e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187" y="2164080"/>
            <a:ext cx="1533144" cy="289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10 − 4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4a8f8f45b07cb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495" y="2194560"/>
            <a:ext cx="1176528" cy="8168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Finish the top and the bottom.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19aa5c3e206c11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020" y="2103120"/>
            <a:ext cx="1173480" cy="810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33927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 over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1/3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9" name="Picture 8" descr="0e9d178742cadf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59" y="2223516"/>
            <a:ext cx="1371600" cy="353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146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383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d34694b9b55f63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59" y="2133599"/>
            <a:ext cx="1371600" cy="35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146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B.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410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410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4687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B — 50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076eeeb065b72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4604" y="2194560"/>
            <a:ext cx="972311" cy="804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73551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9398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9398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35.5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6256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62567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31511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db4460c0abb0f5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127" y="2103120"/>
            <a:ext cx="969264" cy="8016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179064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8453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8453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35.5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5311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0.5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5311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537023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d135167dce315e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3687" y="2196083"/>
            <a:ext cx="1914144" cy="408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What is each exponent attached to?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43cce3e34e7bfbf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164" y="2106168"/>
            <a:ext cx="1917192" cy="4053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−4 and +4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9" name="Picture 8" descr="cafb332c72f7d8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503" y="2194560"/>
            <a:ext cx="2572512" cy="6766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Inside first.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9" name="Picture 8" descr="11864b2915a669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980" y="2103120"/>
            <a:ext cx="2575560" cy="6766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09981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one eighth plus one ninth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17/6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1691" y="2232660"/>
            <a:ext cx="30681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Roscoe says that  </a:t>
            </a:r>
          </a:p>
        </p:txBody>
      </p:sp>
      <p:pic>
        <p:nvPicPr>
          <p:cNvPr id="10" name="Picture 9" descr="71ab7e8131bab8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679" y="2194560"/>
            <a:ext cx="1969008" cy="533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41687" y="2232660"/>
            <a:ext cx="3315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is always positive,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0228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because a square is always positive.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3913" y="3554299"/>
            <a:ext cx="46413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Is he right? Give a value of </a:t>
            </a:r>
          </a:p>
        </p:txBody>
      </p:sp>
      <p:pic>
        <p:nvPicPr>
          <p:cNvPr id="14" name="Picture 13" descr="ce9b607ea85ce7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114" y="3691459"/>
            <a:ext cx="19202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10138" y="3554299"/>
            <a:ext cx="25746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that settles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4001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84751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Try to make the inside zero.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1691" y="2139696"/>
            <a:ext cx="30681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Roscoe says that  </a:t>
            </a:r>
          </a:p>
        </p:txBody>
      </p:sp>
      <p:pic>
        <p:nvPicPr>
          <p:cNvPr id="10" name="Picture 9" descr="3cbcfcb0399747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679" y="2103120"/>
            <a:ext cx="1969008" cy="5303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41687" y="2139696"/>
            <a:ext cx="3315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is always positive,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07791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because a square is always positive.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3913" y="3459811"/>
            <a:ext cx="46413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Is he right? Give a value of </a:t>
            </a:r>
          </a:p>
        </p:txBody>
      </p:sp>
      <p:pic>
        <p:nvPicPr>
          <p:cNvPr id="14" name="Picture 13" descr="ce9b607ea85ce7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114" y="3596971"/>
            <a:ext cx="19202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10138" y="3459811"/>
            <a:ext cx="25746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that settles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214191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never negative is not the same as always positive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94571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No — at n = 121 the value is 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6 — Order of Operations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Evaluate radical expressions — D8J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