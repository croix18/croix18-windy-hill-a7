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Order of Operations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evaluate a multi-step expression with rational numbers, exponents and radicals by reading its structure.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radical bar grouped whatever sat under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every grouping symbol at once — and the order comes from the structure, not from a mnemonic.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535c314b8c201a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7132" y="1784604"/>
            <a:ext cx="1143000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7501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How many significant digits are in  1.020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990088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3" name="Picture 12" descr="fb6a4badbefdb6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9296" y="3008376"/>
            <a:ext cx="701040" cy="4206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607308"/>
            <a:ext cx="2640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5" name="Picture 14" descr="9720c4bedb33ef6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7944" y="3720084"/>
            <a:ext cx="1088136" cy="2316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535c314b8c201a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7132" y="1784604"/>
            <a:ext cx="1143000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98772" y="1760220"/>
            <a:ext cx="379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7501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How many significant digits are in  1.020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7127" y="2372868"/>
            <a:ext cx="379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90088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5" name="Picture 14" descr="fb6a4badbefdb6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9296" y="3008376"/>
            <a:ext cx="701040" cy="4206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8976" y="2985516"/>
            <a:ext cx="7185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9/4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607308"/>
            <a:ext cx="2640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8" name="Picture 17" descr="9720c4bedb33ef6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7944" y="3720084"/>
            <a:ext cx="1088136" cy="2316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14720" y="3607308"/>
            <a:ext cx="379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structure, not a mnemonic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103120" y="2340864"/>
          <a:ext cx="795528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0080"/>
                <a:gridCol w="274320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Level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What it means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Grouping symbols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( ), [ ], the radical bar, the fraction bar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Powers and roots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the same level as each 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Multiply and divide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Add and subtract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87552" y="45537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Innermost grouping symbol first, then 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Left to right means left to right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85a6188b74d51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9595" y="2406396"/>
            <a:ext cx="2962656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2252" y="2318004"/>
            <a:ext cx="2614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 never   </a:t>
            </a:r>
          </a:p>
        </p:txBody>
      </p:sp>
      <p:pic>
        <p:nvPicPr>
          <p:cNvPr id="12" name="Picture 11" descr="e89cc2754f656b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9259" y="2403348"/>
            <a:ext cx="1502664" cy="286512"/>
          </a:xfrm>
          <a:prstGeom prst="rect">
            <a:avLst/>
          </a:prstGeom>
        </p:spPr>
      </p:pic>
      <p:pic>
        <p:nvPicPr>
          <p:cNvPr id="13" name="Picture 12" descr="85d1e53feff52d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3856" y="3083052"/>
            <a:ext cx="3343656" cy="2987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47512" y="3003804"/>
            <a:ext cx="2614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 never   </a:t>
            </a:r>
          </a:p>
        </p:txBody>
      </p:sp>
      <p:pic>
        <p:nvPicPr>
          <p:cNvPr id="15" name="Picture 14" descr="5d0dbfdc3ba2bcf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4520" y="3092196"/>
            <a:ext cx="1533144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7764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Multiplication and division are one level. Addition and subtraction are one level. Left to right, both times.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fraction bar groups,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55821c927b681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492" y="2340864"/>
            <a:ext cx="2002536" cy="606552"/>
          </a:xfrm>
          <a:prstGeom prst="rect">
            <a:avLst/>
          </a:prstGeom>
        </p:spPr>
      </p:pic>
      <p:pic>
        <p:nvPicPr>
          <p:cNvPr id="11" name="Picture 10" descr="355b73be997f15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2191" y="3221736"/>
            <a:ext cx="4517136" cy="682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24281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Finish the numerator and finish the denominator before you divide.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grouping symbol inside a grouping symbol.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4b1ef9fa2dcb4d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036" y="2103120"/>
            <a:ext cx="3965448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08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3a15f3326d8bf6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228088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14088" y="189585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innermost: the power inside the parentheses</a:t>
            </a:r>
          </a:p>
        </p:txBody>
      </p:sp>
      <p:pic>
        <p:nvPicPr>
          <p:cNvPr id="11" name="Picture 10" descr="8feabb5e10fcf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6973824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59824" y="2551176"/>
            <a:ext cx="212445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finish the parentheses, then multiply</a:t>
            </a:r>
          </a:p>
        </p:txBody>
      </p:sp>
      <p:pic>
        <p:nvPicPr>
          <p:cNvPr id="13" name="Picture 12" descr="11af785c9847d03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0880"/>
            <a:ext cx="2941320" cy="2987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27320" y="3151631"/>
            <a:ext cx="615695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cube root is 5; add last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−1.44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dcc7e91a07786a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1523" y="2194560"/>
            <a:ext cx="4538472" cy="6309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dcc7e91a07786a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1523" y="2194560"/>
            <a:ext cx="4538472" cy="6309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455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3(0.99) + 7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9.97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fraction bar and a radical in one expression.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669e393f46eb0f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0515" y="2103120"/>
            <a:ext cx="2380488" cy="6827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887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8be85ae969d2fd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145792" cy="6065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31792" y="199491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numerator and denominator, each finished</a:t>
            </a:r>
          </a:p>
        </p:txBody>
      </p:sp>
      <p:pic>
        <p:nvPicPr>
          <p:cNvPr id="11" name="Picture 10" descr="aa52295ca59ce4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01112"/>
            <a:ext cx="3322320" cy="643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08320" y="2894076"/>
            <a:ext cx="577596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under the bar, then the root</a:t>
            </a:r>
          </a:p>
        </p:txBody>
      </p:sp>
      <p:pic>
        <p:nvPicPr>
          <p:cNvPr id="13" name="Picture 12" descr="6ffd3a6d582247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718560"/>
            <a:ext cx="1746504" cy="5151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32504" y="3747515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subtract last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908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−1/4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17399fcdc2a8f5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5028" y="2194560"/>
            <a:ext cx="3331464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17399fcdc2a8f5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5028" y="2194560"/>
            <a:ext cx="3331464" cy="8503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649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 half plus a half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6f2b5e6da5da13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199" y="2260092"/>
            <a:ext cx="1341120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Left to right.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6f2b5e6da5da13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199" y="2168652"/>
            <a:ext cx="1341120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12 ÷ 3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19451" y="2217420"/>
            <a:ext cx="43312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square tile has side  </a:t>
            </a:r>
          </a:p>
        </p:txBody>
      </p:sp>
      <p:pic>
        <p:nvPicPr>
          <p:cNvPr id="10" name="Picture 9" descr="ae9cca3e3cb96a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3500" y="2194560"/>
            <a:ext cx="105156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65060" y="2217420"/>
            <a:ext cx="2614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centimetres.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Its diagonal is about 19.8 centimetres.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466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perimeter of the tile?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side, then the perimeter.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19451" y="2125979"/>
            <a:ext cx="43312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square tile has side  </a:t>
            </a:r>
          </a:p>
        </p:txBody>
      </p:sp>
      <p:pic>
        <p:nvPicPr>
          <p:cNvPr id="10" name="Picture 9" descr="ae9cca3e3cb96a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3500" y="2103120"/>
            <a:ext cx="105156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65060" y="2125979"/>
            <a:ext cx="2614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centimetres.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Its diagonal is about 19.8 centimetres.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perimeter of the tile?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07583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sides of 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0735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56 centimetres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0bd57d1fcf1bcf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187" y="2253996"/>
            <a:ext cx="1533144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Left to right.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0bd57d1fcf1bcf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187" y="2162556"/>
            <a:ext cx="1533144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10 − 4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aa891813ee6f3e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7755" y="2194560"/>
            <a:ext cx="826008" cy="6065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the top and the bottom.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aa891813ee6f3e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7755" y="2103120"/>
            <a:ext cx="826008" cy="6065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297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over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1/3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0e9d178742cadf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59" y="2223516"/>
            <a:ext cx="1371600" cy="353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0e9d178742cadf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59" y="2132076"/>
            <a:ext cx="1371600" cy="353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50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33871d1afe5a4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9384" y="2194560"/>
            <a:ext cx="682752" cy="6004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6933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7356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7356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35.5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4214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4214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42729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33871d1afe5a4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9384" y="2103120"/>
            <a:ext cx="682752" cy="6004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7789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442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442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35.5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3300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3300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3585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d135167dce315e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687" y="2196083"/>
            <a:ext cx="1914144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What is each exponent attached to?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d135167dce315e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687" y="2104643"/>
            <a:ext cx="1914144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−4 and +4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b12816ac4480e6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9847" y="2194560"/>
            <a:ext cx="2401824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Inside first.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b12816ac4480e6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9847" y="2103120"/>
            <a:ext cx="2401824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3827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one eighth plus one ninth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17/6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74876" y="2232660"/>
            <a:ext cx="3300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Roscoe says that  </a:t>
            </a:r>
          </a:p>
        </p:txBody>
      </p:sp>
      <p:pic>
        <p:nvPicPr>
          <p:cNvPr id="10" name="Picture 9" descr="71ab7e8131bab8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8699" y="2194560"/>
            <a:ext cx="1969008" cy="533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07707" y="2232660"/>
            <a:ext cx="38160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always positive,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0228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a square is always positive.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2404" y="3554299"/>
            <a:ext cx="51897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Is he right? Give a value of </a:t>
            </a:r>
          </a:p>
        </p:txBody>
      </p:sp>
      <p:pic>
        <p:nvPicPr>
          <p:cNvPr id="14" name="Picture 13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4972" y="3691459"/>
            <a:ext cx="19202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06996" y="3554299"/>
            <a:ext cx="3129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that settles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001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84751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Try to make the inside zero.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74876" y="2141219"/>
            <a:ext cx="3300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Roscoe says that  </a:t>
            </a:r>
          </a:p>
        </p:txBody>
      </p:sp>
      <p:pic>
        <p:nvPicPr>
          <p:cNvPr id="10" name="Picture 9" descr="71ab7e8131bab8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8699" y="2103120"/>
            <a:ext cx="1969008" cy="533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07707" y="2141219"/>
            <a:ext cx="38160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always positive,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1084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a square is always positive.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2404" y="3462859"/>
            <a:ext cx="51897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Is he right? Give a value of </a:t>
            </a:r>
          </a:p>
        </p:txBody>
      </p:sp>
      <p:pic>
        <p:nvPicPr>
          <p:cNvPr id="14" name="Picture 13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4972" y="3600019"/>
            <a:ext cx="19202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06996" y="3462859"/>
            <a:ext cx="3129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that settles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2172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never negative is not the same as always positive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94875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at n = 121 the value is 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radical expressions — D8J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