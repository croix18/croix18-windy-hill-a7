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</p:sldIdLst>
  <p:sldSz cx="12191969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image" Target="../media/image2.png"/><Relationship Id="rId4" Type="http://schemas.openxmlformats.org/officeDocument/2006/relationships/image" Target="../media/image3.png"/><Relationship Id="rId5" Type="http://schemas.openxmlformats.org/officeDocument/2006/relationships/image" Target="../media/image4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image" Target="../media/image8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3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4.png"/><Relationship Id="rId3" Type="http://schemas.openxmlformats.org/officeDocument/2006/relationships/image" Target="../media/image15.png"/><Relationship Id="rId4" Type="http://schemas.openxmlformats.org/officeDocument/2006/relationships/image" Target="../media/image1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7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8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9.png"/><Relationship Id="rId3" Type="http://schemas.openxmlformats.org/officeDocument/2006/relationships/image" Target="../media/image20.png"/><Relationship Id="rId4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2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3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4.png"/><Relationship Id="rId3" Type="http://schemas.openxmlformats.org/officeDocument/2006/relationships/image" Target="../media/image25.png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6.png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7.png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8.png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9.png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0.png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1.png"/><Relationship Id="rId3" Type="http://schemas.openxmlformats.org/officeDocument/2006/relationships/image" Target="../media/image32.png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3.png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1691640"/>
            <a:ext cx="10607040" cy="347472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500" b="0" i="0">
                <a:solidFill>
                  <a:srgbClr val="6B6B6B"/>
                </a:solidFill>
                <a:latin typeface="Century Schoolbook"/>
              </a:rPr>
              <a:t>GRADE 7 ACCELERATED  ·  UNIT 4  ·  LESSON 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777240" y="2048256"/>
            <a:ext cx="10607040" cy="100584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ctr"/>
            <a:r>
              <a:rPr sz="3400" b="1" i="0">
                <a:solidFill>
                  <a:srgbClr val="1A1A1A"/>
                </a:solidFill>
                <a:latin typeface="Century Schoolbook"/>
              </a:rPr>
              <a:t>Adding and Subtracting in Scientific Notation</a:t>
            </a:r>
          </a:p>
        </p:txBody>
      </p:sp>
      <p:cxnSp>
        <p:nvCxnSpPr>
          <p:cNvPr id="4" name="Connector 3"/>
          <p:cNvCxnSpPr/>
          <p:nvPr/>
        </p:nvCxnSpPr>
        <p:spPr>
          <a:xfrm>
            <a:off x="3291840" y="3255264"/>
            <a:ext cx="55778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3291840" y="3337560"/>
            <a:ext cx="55778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350215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600" b="1" i="0">
                <a:solidFill>
                  <a:srgbClr val="1A1A1A"/>
                </a:solidFill>
                <a:latin typeface="Century Schoolbook"/>
              </a:rPr>
              <a:t>MA.8.NSO.1.5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3840480"/>
            <a:ext cx="10607040" cy="7315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1A1A1A"/>
                </a:solidFill>
                <a:latin typeface="Century Schoolbook"/>
              </a:rPr>
              <a:t>I can add and subtract two numbers written in scientific notation, and write the answer in scientific notation.</a:t>
            </a:r>
          </a:p>
        </p:txBody>
      </p:sp>
      <p:sp>
        <p:nvSpPr>
          <p:cNvPr id="8" name="Rectangle 7"/>
          <p:cNvSpPr/>
          <p:nvPr/>
        </p:nvSpPr>
        <p:spPr>
          <a:xfrm>
            <a:off x="2377440" y="4736592"/>
            <a:ext cx="7406640" cy="1051560"/>
          </a:xfrm>
          <a:prstGeom prst="rect">
            <a:avLst/>
          </a:prstGeom>
          <a:solidFill>
            <a:srgbClr val="F2F2F0"/>
          </a:solidFill>
          <a:ln w="9525">
            <a:solidFill>
              <a:srgbClr val="BFBFB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606040" y="4892040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0" i="1">
                <a:solidFill>
                  <a:srgbClr val="6B6B6B"/>
                </a:solidFill>
                <a:latin typeface="Century Schoolbook"/>
              </a:rPr>
              <a:t>Last unit you learned to write numbers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606040" y="5276088"/>
            <a:ext cx="69494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700" b="1" i="0">
                <a:solidFill>
                  <a:srgbClr val="1A1A1A"/>
                </a:solidFill>
                <a:latin typeface="Century Schoolbook"/>
              </a:rPr>
              <a:t>Today you put two of them together — and the powers of ten have to match first.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On your own. Four minutes. No notes.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68935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0.00062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874519" y="2372868"/>
            <a:ext cx="49189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How many times larger is  </a:t>
            </a:r>
          </a:p>
        </p:txBody>
      </p:sp>
      <p:pic>
        <p:nvPicPr>
          <p:cNvPr id="11" name="Picture 10" descr="6e4449454b7e3e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6324" y="2461260"/>
            <a:ext cx="890016" cy="280416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546340" y="2372868"/>
            <a:ext cx="1425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3" name="Picture 12" descr="7da0da260d230a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4628" y="2458212"/>
            <a:ext cx="905256" cy="286512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739884" y="2372868"/>
            <a:ext cx="5140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2985516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6" name="Picture 15" descr="c100c4232230d0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9296" y="3009900"/>
            <a:ext cx="853440" cy="408432"/>
          </a:xfrm>
          <a:prstGeom prst="rect">
            <a:avLst/>
          </a:prstGeom>
        </p:spPr>
      </p:pic>
      <p:sp>
        <p:nvSpPr>
          <p:cNvPr id="17" name="TextBox 16"/>
          <p:cNvSpPr txBox="1"/>
          <p:nvPr/>
        </p:nvSpPr>
        <p:spPr>
          <a:xfrm>
            <a:off x="1874519" y="3598164"/>
            <a:ext cx="32481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Find the sum:  </a:t>
            </a:r>
          </a:p>
        </p:txBody>
      </p:sp>
      <p:pic>
        <p:nvPicPr>
          <p:cNvPr id="18" name="Picture 17" descr="bdc1cddc07790a7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5512" y="3706368"/>
            <a:ext cx="1298448" cy="240791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Warm-Up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74519" y="1760220"/>
            <a:ext cx="689356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1.   Write  0.00062  in scientific notation.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9179560" y="1760220"/>
            <a:ext cx="190449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6.2 × 10</a:t>
            </a:r>
            <a:r>
              <a:rPr sz="23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372868"/>
            <a:ext cx="49189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2.   How many times larger is  </a:t>
            </a:r>
          </a:p>
        </p:txBody>
      </p:sp>
      <p:pic>
        <p:nvPicPr>
          <p:cNvPr id="12" name="Picture 11" descr="6e4449454b7e3ea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656324" y="2461260"/>
            <a:ext cx="890016" cy="280416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546340" y="2372868"/>
            <a:ext cx="14254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 than  </a:t>
            </a:r>
          </a:p>
        </p:txBody>
      </p:sp>
      <p:pic>
        <p:nvPicPr>
          <p:cNvPr id="14" name="Picture 13" descr="7da0da260d230a6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834628" y="2458212"/>
            <a:ext cx="905256" cy="286512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739884" y="2372868"/>
            <a:ext cx="514095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606040" y="2830068"/>
            <a:ext cx="105740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4,000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74519" y="3442716"/>
            <a:ext cx="355193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3.   Find the value:  </a:t>
            </a:r>
          </a:p>
        </p:txBody>
      </p:sp>
      <p:pic>
        <p:nvPicPr>
          <p:cNvPr id="18" name="Picture 17" descr="c100c4232230d0d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89296" y="3467100"/>
            <a:ext cx="853440" cy="408432"/>
          </a:xfrm>
          <a:prstGeom prst="rect">
            <a:avLst/>
          </a:prstGeom>
        </p:spPr>
      </p:pic>
      <p:sp>
        <p:nvSpPr>
          <p:cNvPr id="19" name="TextBox 18"/>
          <p:cNvSpPr txBox="1"/>
          <p:nvPr/>
        </p:nvSpPr>
        <p:spPr>
          <a:xfrm>
            <a:off x="6691376" y="3442716"/>
            <a:ext cx="54914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12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4055363"/>
            <a:ext cx="324815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4.   Find the sum:  </a:t>
            </a:r>
          </a:p>
        </p:txBody>
      </p:sp>
      <p:pic>
        <p:nvPicPr>
          <p:cNvPr id="21" name="Picture 20" descr="bdc1cddc07790a7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985512" y="4163568"/>
            <a:ext cx="1298448" cy="240791"/>
          </a:xfrm>
          <a:prstGeom prst="rect">
            <a:avLst/>
          </a:prstGeom>
        </p:spPr>
      </p:pic>
      <p:sp>
        <p:nvSpPr>
          <p:cNvPr id="22" name="TextBox 21"/>
          <p:cNvSpPr txBox="1"/>
          <p:nvPr/>
        </p:nvSpPr>
        <p:spPr>
          <a:xfrm>
            <a:off x="6832600" y="4055363"/>
            <a:ext cx="887983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300" b="1" i="0">
                <a:solidFill>
                  <a:srgbClr val="9E1B32"/>
                </a:solidFill>
                <a:latin typeface="Century Schoolbook"/>
              </a:rPr>
              <a:t>1.69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Copy the table.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I.  A power of ten is a place value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1874520" y="2340864"/>
          <a:ext cx="8412480" cy="76809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103120"/>
                <a:gridCol w="2103120"/>
                <a:gridCol w="2103120"/>
                <a:gridCol w="2103120"/>
              </a:tblGrid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6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3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6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4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6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5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1">
                          <a:solidFill>
                            <a:srgbClr val="1A1A1A"/>
                          </a:solidFill>
                          <a:latin typeface="Century Schoolbook"/>
                        </a:rPr>
                        <a:t>10</a:t>
                      </a:r>
                      <a:r>
                        <a:rPr sz="1600" b="1" baseline="30000">
                          <a:solidFill>
                            <a:srgbClr val="1A1A1A"/>
                          </a:solidFill>
                          <a:latin typeface="Century Schoolbook"/>
                        </a:rPr>
                        <a:t>6</a:t>
                      </a:r>
                    </a:p>
                  </a:txBody>
                  <a:tcPr marL="73152" marR="73152" marT="27432" marB="27432" anchor="ctr">
                    <a:solidFill>
                      <a:srgbClr val="D9D9D9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ten 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hundred thousands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  <a:tc>
                  <a:txBody>
                    <a:bodyPr wrap="square"/>
                    <a:lstStyle/>
                    <a:p>
                      <a:pPr algn="ctr"/>
                      <a:r>
                        <a:rPr sz="1600" b="0">
                          <a:solidFill>
                            <a:srgbClr val="1A1A1A"/>
                          </a:solidFill>
                          <a:latin typeface="Century Schoolbook"/>
                        </a:rPr>
                        <a:t>millions</a:t>
                      </a:r>
                    </a:p>
                  </a:txBody>
                  <a:tcPr marL="73152" marR="73152" marT="27432" marB="27432" anchor="ctr">
                    <a:solidFill>
                      <a:srgbClr val="FFFFFF"/>
                    </a:solidFill>
                    <a:lnL w="9525" cap="flat" cmpd="sng" algn="ctr">
                      <a:solidFill>
                        <a:srgbClr val="1A1A1A"/>
                      </a:solidFill>
                      <a:prstDash val="solid"/>
                    </a:lnL>
                    <a:lnR w="9525" cap="flat" cmpd="sng" algn="ctr">
                      <a:solidFill>
                        <a:srgbClr val="1A1A1A"/>
                      </a:solidFill>
                      <a:prstDash val="solid"/>
                    </a:lnR>
                    <a:lnT w="9525" cap="flat" cmpd="sng" algn="ctr">
                      <a:solidFill>
                        <a:srgbClr val="1A1A1A"/>
                      </a:solidFill>
                      <a:prstDash val="solid"/>
                    </a:lnT>
                    <a:lnB w="9525" cap="flat" cmpd="sng" algn="ctr">
                      <a:solidFill>
                        <a:srgbClr val="1A1A1A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pic>
        <p:nvPicPr>
          <p:cNvPr id="12" name="Picture 11" descr="bbfa79e578c1bcfd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11523" y="3375660"/>
            <a:ext cx="4538472" cy="335280"/>
          </a:xfrm>
          <a:prstGeom prst="rect">
            <a:avLst/>
          </a:prstGeom>
        </p:spPr>
      </p:pic>
      <p:pic>
        <p:nvPicPr>
          <p:cNvPr id="13" name="Picture 12" descr="9ff30f06d7f01d4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79675" y="4049267"/>
            <a:ext cx="8202168" cy="359664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987552" y="4773168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Two numbers can be added only when they carry the same power of ten.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II.  Same power: add or subtract the coefficients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4f6c226d06735b9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49168" y="2340864"/>
            <a:ext cx="5663184" cy="414528"/>
          </a:xfrm>
          <a:prstGeom prst="rect">
            <a:avLst/>
          </a:prstGeom>
        </p:spPr>
      </p:pic>
      <p:pic>
        <p:nvPicPr>
          <p:cNvPr id="11" name="Picture 10" descr="9b82ecd7b67495d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290572" y="3029711"/>
            <a:ext cx="7580375" cy="4114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987552" y="3779520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Add or subtract the coefficients. The power of ten does not change.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87552" y="4511040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Then check the coefficient: if it is not between 1 and 10, the answer is not finished.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Notes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5" name="Connector 4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TextBox 5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77240" y="1737360"/>
            <a:ext cx="10607040" cy="40233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500" b="1" i="0">
                <a:solidFill>
                  <a:srgbClr val="1A1A1A"/>
                </a:solidFill>
                <a:latin typeface="Century Schoolbook"/>
              </a:rPr>
              <a:t>III.  Different powers: rewrite one of them first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777240" y="2176272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10" name="Picture 9" descr="2d6fbc773b8152b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340864"/>
            <a:ext cx="3816095" cy="414528"/>
          </a:xfrm>
          <a:prstGeom prst="rect">
            <a:avLst/>
          </a:prstGeom>
        </p:spPr>
      </p:pic>
      <p:pic>
        <p:nvPicPr>
          <p:cNvPr id="11" name="Picture 10" descr="1c7540b1a6b4a5e4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7668" y="3029711"/>
            <a:ext cx="6806184" cy="414528"/>
          </a:xfrm>
          <a:prstGeom prst="rect">
            <a:avLst/>
          </a:prstGeom>
        </p:spPr>
      </p:pic>
      <p:pic>
        <p:nvPicPr>
          <p:cNvPr id="12" name="Picture 11" descr="825d9ae5f625f16e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85163" y="3718560"/>
            <a:ext cx="6062472" cy="414528"/>
          </a:xfrm>
          <a:prstGeom prst="rect">
            <a:avLst/>
          </a:prstGeom>
        </p:spPr>
      </p:pic>
      <p:sp>
        <p:nvSpPr>
          <p:cNvPr id="13" name="TextBox 12"/>
          <p:cNvSpPr txBox="1"/>
          <p:nvPr/>
        </p:nvSpPr>
        <p:spPr>
          <a:xfrm>
            <a:off x="7247635" y="3697223"/>
            <a:ext cx="244246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,    never   </a:t>
            </a:r>
          </a:p>
        </p:txBody>
      </p:sp>
      <p:pic>
        <p:nvPicPr>
          <p:cNvPr id="14" name="Picture 13" descr="f343a03614d42048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52939" y="3750564"/>
            <a:ext cx="1423416" cy="350520"/>
          </a:xfrm>
          <a:prstGeom prst="rect">
            <a:avLst/>
          </a:prstGeom>
        </p:spPr>
      </p:pic>
      <p:sp>
        <p:nvSpPr>
          <p:cNvPr id="15" name="TextBox 14"/>
          <p:cNvSpPr txBox="1"/>
          <p:nvPr/>
        </p:nvSpPr>
        <p:spPr>
          <a:xfrm>
            <a:off x="987552" y="4471416"/>
            <a:ext cx="10131551" cy="95097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1" i="0">
                <a:solidFill>
                  <a:srgbClr val="1A1A1A"/>
                </a:solidFill>
                <a:latin typeface="Century Schoolbook"/>
              </a:rPr>
              <a:t>Rewrite one number so both carry the same power of ten, then add or subtract the coefficients.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87552" y="5678424"/>
            <a:ext cx="10131551" cy="475488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300" b="0" i="0">
                <a:solidFill>
                  <a:srgbClr val="1A1A1A"/>
                </a:solidFill>
                <a:latin typeface="Century Schoolbook"/>
              </a:rPr>
              <a:t>Exponent up one, decimal point one place left. The value does not move.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power, and the answer is not finished.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7</a:t>
            </a:r>
          </a:p>
        </p:txBody>
      </p:sp>
      <p:pic>
        <p:nvPicPr>
          <p:cNvPr id="9" name="Picture 8" descr="b322f8f789aa083c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06168"/>
            <a:ext cx="3816095" cy="4053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1752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Add. Write the answer in scientific notation.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1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8</a:t>
            </a:r>
          </a:p>
        </p:txBody>
      </p:sp>
      <p:pic>
        <p:nvPicPr>
          <p:cNvPr id="9" name="Picture 8" descr="0ae1a71b0a56e81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5861304" cy="40538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8147304" y="1894332"/>
            <a:ext cx="3236975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same power: add the coefficients</a:t>
            </a:r>
          </a:p>
        </p:txBody>
      </p:sp>
      <p:pic>
        <p:nvPicPr>
          <p:cNvPr id="11" name="Picture 10" descr="572ca3421419729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99944"/>
            <a:ext cx="3642360" cy="35052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5928360" y="2546604"/>
            <a:ext cx="545591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14.5 is not less than 10: point one place left, exponent up one</a:t>
            </a:r>
          </a:p>
        </p:txBody>
      </p:sp>
      <p:pic>
        <p:nvPicPr>
          <p:cNvPr id="13" name="Picture 12" descr="381484e91c5c03fc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24783"/>
            <a:ext cx="1981199" cy="33528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4267199" y="3163823"/>
            <a:ext cx="6400800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 in standard 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1.45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9</a:t>
            </a:r>
          </a:p>
        </p:txBody>
      </p:sp>
      <p:pic>
        <p:nvPicPr>
          <p:cNvPr id="9" name="Picture 8" descr="2ae36fee79b20f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3383" y="2194560"/>
            <a:ext cx="5254752" cy="512064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10</a:t>
            </a:r>
          </a:p>
        </p:txBody>
      </p:sp>
      <p:pic>
        <p:nvPicPr>
          <p:cNvPr id="9" name="Picture 8" descr="2ae36fee79b20f8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3383" y="2194560"/>
            <a:ext cx="5254752" cy="512064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26664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12.3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, then repair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1.23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Different powers, and a subtraction.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11</a:t>
            </a:r>
          </a:p>
        </p:txBody>
      </p:sp>
      <p:pic>
        <p:nvPicPr>
          <p:cNvPr id="9" name="Picture 8" descr="4549981a84cc89c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03120"/>
            <a:ext cx="3816095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20568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1" i="0">
                <a:solidFill>
                  <a:srgbClr val="1A1A1A"/>
                </a:solidFill>
                <a:latin typeface="Century Schoolbook"/>
              </a:rPr>
              <a:t>Subtract. Write the answer in scientific notation.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Example 2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Worked.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12</a:t>
            </a:r>
          </a:p>
        </p:txBody>
      </p:sp>
      <p:pic>
        <p:nvPicPr>
          <p:cNvPr id="9" name="Picture 8" descr="5104406dc1aaf70b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828800" y="1920240"/>
            <a:ext cx="3486912" cy="35356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5772912" y="1868424"/>
            <a:ext cx="5611367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rewrite over 10</a:t>
            </a:r>
            <a:r>
              <a:rPr sz="2100" b="0" i="1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pic>
        <p:nvPicPr>
          <p:cNvPr id="11" name="Picture 10" descr="1401d0e9d97ea6c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828800" y="2548128"/>
            <a:ext cx="6071616" cy="414528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8357616" y="2526792"/>
            <a:ext cx="3026663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same power: subtract the coefficients</a:t>
            </a:r>
          </a:p>
        </p:txBody>
      </p:sp>
      <p:pic>
        <p:nvPicPr>
          <p:cNvPr id="13" name="Picture 12" descr="1fa6d8003172c6b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828800" y="3236975"/>
            <a:ext cx="5349240" cy="338328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635240" y="3177539"/>
            <a:ext cx="3749039" cy="502920"/>
          </a:xfrm>
          <a:prstGeom prst="rect">
            <a:avLst/>
          </a:prstGeom>
          <a:noFill/>
        </p:spPr>
        <p:txBody>
          <a:bodyPr wrap="square" lIns="45720" rIns="45720" tIns="18288" bIns="18288" anchor="ctr">
            <a:spAutoFit/>
          </a:bodyPr>
          <a:lstStyle/>
          <a:p>
            <a:pPr algn="l"/>
            <a:r>
              <a:rPr sz="2100" b="0" i="1">
                <a:solidFill>
                  <a:srgbClr val="6B6B6B"/>
                </a:solidFill>
                <a:latin typeface="Century Schoolbook"/>
              </a:rPr>
              <a:t>check in standard form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6.85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6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Same steps, your numbers. Boards up when done.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13</a:t>
            </a:r>
          </a:p>
        </p:txBody>
      </p:sp>
      <p:pic>
        <p:nvPicPr>
          <p:cNvPr id="9" name="Picture 8" descr="e4f0a8415ed569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3383" y="2194560"/>
            <a:ext cx="5254752" cy="518160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Your Turn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14</a:t>
            </a:r>
          </a:p>
        </p:txBody>
      </p:sp>
      <p:pic>
        <p:nvPicPr>
          <p:cNvPr id="9" name="Picture 8" descr="e4f0a8415ed5696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453383" y="2194560"/>
            <a:ext cx="5254752" cy="51816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3032760"/>
            <a:ext cx="10607040" cy="42937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0.09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-4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comes off 5.6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57200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5.51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15</a:t>
            </a:r>
          </a:p>
        </p:txBody>
      </p:sp>
      <p:pic>
        <p:nvPicPr>
          <p:cNvPr id="9" name="Picture 8" descr="3cd7ad48ef74b5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4560"/>
            <a:ext cx="3816095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Same power.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1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16</a:t>
            </a:r>
          </a:p>
        </p:txBody>
      </p:sp>
      <p:pic>
        <p:nvPicPr>
          <p:cNvPr id="9" name="Picture 8" descr="3cd7ad48ef74b5a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03120"/>
            <a:ext cx="3816095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3768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add the coefficients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7.3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17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507" y="2171700"/>
            <a:ext cx="29575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stadium sold  </a:t>
            </a:r>
          </a:p>
        </p:txBody>
      </p:sp>
      <p:pic>
        <p:nvPicPr>
          <p:cNvPr id="10" name="Picture 9" descr="a93ebd6024c356c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924" y="2225040"/>
            <a:ext cx="1432560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39484" y="217170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tickets on Friday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6528" y="2857500"/>
            <a:ext cx="1068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 </a:t>
            </a:r>
          </a:p>
        </p:txBody>
      </p:sp>
      <p:pic>
        <p:nvPicPr>
          <p:cNvPr id="13" name="Picture 12" descr="ec31129b2b046b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8200" y="2910840"/>
            <a:ext cx="1420368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28567" y="2857500"/>
            <a:ext cx="7593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on Saturday. Each ticket cost 38 dollars.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56616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tickets were sold on the two days?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Same power.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2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18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286507" y="2080260"/>
            <a:ext cx="295757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 stadium sold  </a:t>
            </a:r>
          </a:p>
        </p:txBody>
      </p:sp>
      <p:pic>
        <p:nvPicPr>
          <p:cNvPr id="10" name="Picture 9" descr="a93ebd6024c356c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106924" y="2133599"/>
            <a:ext cx="1432560" cy="350520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6539484" y="2080260"/>
            <a:ext cx="347268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tickets on Friday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76528" y="2766060"/>
            <a:ext cx="1068832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and  </a:t>
            </a:r>
          </a:p>
        </p:txBody>
      </p:sp>
      <p:pic>
        <p:nvPicPr>
          <p:cNvPr id="13" name="Picture 12" descr="ec31129b2b046b12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108200" y="2819399"/>
            <a:ext cx="1420368" cy="3505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3528567" y="2766060"/>
            <a:ext cx="7593584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 on Saturday. Each ticket cost 38 dollars.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3474720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How many tickets were sold on the two days?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28800" y="409531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4.2 + 3.5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4826839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7.7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4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19</a:t>
            </a:r>
          </a:p>
        </p:txBody>
      </p:sp>
      <p:pic>
        <p:nvPicPr>
          <p:cNvPr id="9" name="Picture 8" descr="01e04974dac9eb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2439" y="2194560"/>
            <a:ext cx="3596640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Finish the answer.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3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20</a:t>
            </a:r>
          </a:p>
        </p:txBody>
      </p:sp>
      <p:pic>
        <p:nvPicPr>
          <p:cNvPr id="9" name="Picture 8" descr="01e04974dac9eb6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82439" y="2103120"/>
            <a:ext cx="3596640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3768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13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-5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is not finished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1.3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-4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21</a:t>
            </a:r>
          </a:p>
        </p:txBody>
      </p:sp>
      <p:pic>
        <p:nvPicPr>
          <p:cNvPr id="9" name="Picture 8" descr="340f3053f5991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4560"/>
            <a:ext cx="3816095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Finish the answer.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4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22</a:t>
            </a:r>
          </a:p>
        </p:txBody>
      </p:sp>
      <p:pic>
        <p:nvPicPr>
          <p:cNvPr id="9" name="Picture 8" descr="340f3053f5991007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03120"/>
            <a:ext cx="3816095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0.7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8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is not finished either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23</a:t>
            </a:r>
          </a:p>
        </p:txBody>
      </p:sp>
      <p:pic>
        <p:nvPicPr>
          <p:cNvPr id="9" name="Picture 8" descr="d60eac1f99916e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4560"/>
            <a:ext cx="3816095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sum?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3.413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4.7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4.7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3.53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41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5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24</a:t>
            </a:r>
          </a:p>
        </p:txBody>
      </p:sp>
      <p:pic>
        <p:nvPicPr>
          <p:cNvPr id="9" name="Picture 8" descr="d60eac1f99916ea9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03120"/>
            <a:ext cx="3816095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sum?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5828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3.413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5828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4.7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8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4408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4.7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4408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3.53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5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4992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3.413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25</a:t>
            </a:r>
          </a:p>
        </p:txBody>
      </p:sp>
      <p:pic>
        <p:nvPicPr>
          <p:cNvPr id="9" name="Picture 8" descr="f600c7d1ad07bb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94560"/>
            <a:ext cx="3816095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sum, written in scientific notation?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A.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1.23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5497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23552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1.23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241367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6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26</a:t>
            </a:r>
          </a:p>
        </p:txBody>
      </p:sp>
      <p:pic>
        <p:nvPicPr>
          <p:cNvPr id="9" name="Picture 8" descr="f600c7d1ad07bbc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172712" y="2103120"/>
            <a:ext cx="3816095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Which is the sum, written in scientific notation?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345828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9E1B32"/>
                </a:solidFill>
                <a:latin typeface="Century Schoolbook"/>
              </a:rPr>
              <a:t>A.   </a:t>
            </a:r>
            <a:r>
              <a:rPr sz="2400" b="1" i="0">
                <a:solidFill>
                  <a:srgbClr val="9E1B32"/>
                </a:solidFill>
                <a:latin typeface="Century Schoolbook"/>
              </a:rPr>
              <a:t>1.23 × 10</a:t>
            </a:r>
            <a:r>
              <a:rPr sz="24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629400" y="345828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B.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74519" y="414408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C.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12.3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12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629400" y="4144087"/>
            <a:ext cx="457200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400" b="1" i="0">
                <a:solidFill>
                  <a:srgbClr val="1A1A1A"/>
                </a:solidFill>
                <a:latin typeface="Century Schoolbook"/>
              </a:rPr>
              <a:t>D.   </a:t>
            </a:r>
            <a:r>
              <a:rPr sz="2400" b="0" i="0">
                <a:solidFill>
                  <a:srgbClr val="1A1A1A"/>
                </a:solidFill>
                <a:latin typeface="Century Schoolbook"/>
              </a:rPr>
              <a:t>1.23 × 10</a:t>
            </a:r>
            <a:r>
              <a:rPr sz="2400" b="0" i="0" baseline="30000">
                <a:solidFill>
                  <a:srgbClr val="1A1A1A"/>
                </a:solidFill>
                <a:latin typeface="Century Schoolbook"/>
              </a:rPr>
              <a:t>6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77240" y="5149927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A — 1.23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7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27</a:t>
            </a:r>
          </a:p>
        </p:txBody>
      </p:sp>
      <p:pic>
        <p:nvPicPr>
          <p:cNvPr id="9" name="Picture 8" descr="7996c8675edf51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2194560"/>
            <a:ext cx="4206240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one of them first.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7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28</a:t>
            </a:r>
          </a:p>
        </p:txBody>
      </p:sp>
      <p:pic>
        <p:nvPicPr>
          <p:cNvPr id="9" name="Picture 8" descr="7996c8675edf517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977639" y="2103120"/>
            <a:ext cx="4206240" cy="411480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1828800" y="2834639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6.4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-3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0.64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-2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7.16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-2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Boards up on three.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29</a:t>
            </a:r>
          </a:p>
        </p:txBody>
      </p:sp>
      <p:pic>
        <p:nvPicPr>
          <p:cNvPr id="9" name="Picture 8" descr="cbd13eb8faf9a4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2507" y="2194560"/>
            <a:ext cx="5556504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37000" y="2860547"/>
            <a:ext cx="38160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</a:t>
            </a:r>
          </a:p>
        </p:txBody>
      </p:sp>
      <p:pic>
        <p:nvPicPr>
          <p:cNvPr id="11" name="Picture 10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5936" y="2997707"/>
            <a:ext cx="19202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07960" y="2860547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Answer it.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Rewrite the answer over 10</a:t>
            </a:r>
            <a:r>
              <a:rPr sz="1900" b="0" i="1" baseline="30000">
                <a:solidFill>
                  <a:srgbClr val="6B6B6B"/>
                </a:solidFill>
                <a:latin typeface="Century Schoolbook"/>
              </a:rPr>
              <a:t>6</a:t>
            </a:r>
            <a:r>
              <a:rPr sz="1900" b="0" i="1">
                <a:solidFill>
                  <a:srgbClr val="6B6B6B"/>
                </a:solidFill>
                <a:latin typeface="Century Schoolbook"/>
              </a:rPr>
              <a:t> first.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8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30</a:t>
            </a:r>
          </a:p>
        </p:txBody>
      </p:sp>
      <p:pic>
        <p:nvPicPr>
          <p:cNvPr id="9" name="Picture 8" descr="cbd13eb8faf9a4e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02507" y="2103120"/>
            <a:ext cx="5556504" cy="414528"/>
          </a:xfrm>
          <a:prstGeom prst="rect">
            <a:avLst/>
          </a:prstGeom>
        </p:spPr>
      </p:pic>
      <p:sp>
        <p:nvSpPr>
          <p:cNvPr id="10" name="TextBox 9"/>
          <p:cNvSpPr txBox="1"/>
          <p:nvPr/>
        </p:nvSpPr>
        <p:spPr>
          <a:xfrm>
            <a:off x="3937000" y="2769107"/>
            <a:ext cx="381609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What is the value of </a:t>
            </a:r>
          </a:p>
        </p:txBody>
      </p:sp>
      <p:pic>
        <p:nvPicPr>
          <p:cNvPr id="11" name="Picture 10" descr="ce9b607ea85ce74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615936" y="2906267"/>
            <a:ext cx="192024" cy="182880"/>
          </a:xfrm>
          <a:prstGeom prst="rect">
            <a:avLst/>
          </a:prstGeom>
        </p:spPr>
      </p:pic>
      <p:sp>
        <p:nvSpPr>
          <p:cNvPr id="12" name="TextBox 11"/>
          <p:cNvSpPr txBox="1"/>
          <p:nvPr/>
        </p:nvSpPr>
        <p:spPr>
          <a:xfrm>
            <a:off x="7807960" y="2769107"/>
            <a:ext cx="553720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 ?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52348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1.02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7</a:t>
            </a:r>
            <a:r>
              <a:rPr sz="2400" b="0" i="0">
                <a:solidFill>
                  <a:srgbClr val="6B6B6B"/>
                </a:solidFill>
                <a:latin typeface="Century Schoolbook"/>
              </a:rPr>
              <a:t> = 10.2 × 10</a:t>
            </a:r>
            <a:r>
              <a:rPr sz="2400" b="0" i="0" baseline="30000">
                <a:solidFill>
                  <a:srgbClr val="6B6B6B"/>
                </a:solidFill>
                <a:latin typeface="Century Schoolbook"/>
              </a:rPr>
              <a:t>6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n = 5.7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Take your time. Boards up when you have written it.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31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91284" y="2173224"/>
            <a:ext cx="2614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Devon writes  </a:t>
            </a:r>
          </a:p>
        </p:txBody>
      </p:sp>
      <p:pic>
        <p:nvPicPr>
          <p:cNvPr id="10" name="Picture 9" descr="82e722a216f1ae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8292" y="2194560"/>
            <a:ext cx="5657088" cy="4145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025380" y="2173224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88340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Name the two mistakes he made, and give the correct sum.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240" y="4343400"/>
            <a:ext cx="10607040" cy="45720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1" i="0">
                <a:solidFill>
                  <a:srgbClr val="1A1A1A"/>
                </a:solidFill>
                <a:latin typeface="Century Schoolbook"/>
              </a:rPr>
              <a:t>Write your answer in sentences.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828032"/>
            <a:ext cx="1060704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1900" b="0" i="1">
                <a:solidFill>
                  <a:srgbClr val="6B6B6B"/>
                </a:solidFill>
                <a:latin typeface="Century Schoolbook"/>
              </a:rPr>
              <a:t>Two mistakes, then the sum.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400" b="1" i="0">
                <a:solidFill>
                  <a:srgbClr val="1A1A1A"/>
                </a:solidFill>
                <a:latin typeface="Century Schoolbook"/>
              </a:rPr>
              <a:t>Whiteboards   ·   Question 9 of 9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Answer.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32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891284" y="2081783"/>
            <a:ext cx="2614168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Devon writes  </a:t>
            </a:r>
          </a:p>
        </p:txBody>
      </p:sp>
      <p:pic>
        <p:nvPicPr>
          <p:cNvPr id="10" name="Picture 9" descr="82e722a216f1ae2f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68292" y="2103120"/>
            <a:ext cx="5657088" cy="414528"/>
          </a:xfrm>
          <a:prstGeom prst="rect">
            <a:avLst/>
          </a:prstGeom>
        </p:spPr>
      </p:pic>
      <p:sp>
        <p:nvSpPr>
          <p:cNvPr id="11" name="TextBox 10"/>
          <p:cNvSpPr txBox="1"/>
          <p:nvPr/>
        </p:nvSpPr>
        <p:spPr>
          <a:xfrm>
            <a:off x="10025380" y="2081783"/>
            <a:ext cx="382016" cy="457200"/>
          </a:xfrm>
          <a:prstGeom prst="rect">
            <a:avLst/>
          </a:prstGeom>
          <a:noFill/>
        </p:spPr>
        <p:txBody>
          <a:bodyPr wrap="none" lIns="45720" rIns="45720" tIns="18288" bIns="18288" anchor="ctr">
            <a:spAutoFit/>
          </a:bodyPr>
          <a:lstStyle/>
          <a:p>
            <a:pPr algn="l"/>
            <a:r>
              <a:rPr sz="2600" b="0" i="0">
                <a:solidFill>
                  <a:srgbClr val="1A1A1A"/>
                </a:solidFill>
                <a:latin typeface="Century Schoolbook"/>
              </a:rPr>
              <a:t>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77240" y="2791967"/>
            <a:ext cx="10607040" cy="465151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600" b="0" i="0">
                <a:solidFill>
                  <a:srgbClr val="1A1A1A"/>
                </a:solidFill>
                <a:latin typeface="Century Schoolbook"/>
              </a:rPr>
              <a:t>Name the two mistakes he made, and give the correct sum.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28800" y="3412567"/>
            <a:ext cx="850392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2400" b="0" i="0">
                <a:solidFill>
                  <a:srgbClr val="6B6B6B"/>
                </a:solidFill>
                <a:latin typeface="Century Schoolbook"/>
              </a:rPr>
              <a:t>one mistake in the coefficients, one in the exponents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4663440"/>
            <a:ext cx="10607040" cy="54864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ctr"/>
            <a:r>
              <a:rPr sz="3200" b="1" i="0">
                <a:solidFill>
                  <a:srgbClr val="9E1B32"/>
                </a:solidFill>
                <a:latin typeface="Century Schoolbook"/>
              </a:rPr>
              <a:t>Answer:   3.413 × 10</a:t>
            </a:r>
            <a:r>
              <a:rPr sz="3200" b="1" i="0" baseline="30000">
                <a:solidFill>
                  <a:srgbClr val="9E1B32"/>
                </a:solidFill>
                <a:latin typeface="Century Schoolbook"/>
              </a:rPr>
              <a:t>5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Independent Set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Six questions. On your own, in silence.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201168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201168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Six questions. Work down the page.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55117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551176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Show the step that does the work, not just the answer.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090672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090672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Silence until the six minutes are up.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777240" y="365760"/>
            <a:ext cx="10607040" cy="6400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3600" b="1" i="0">
                <a:solidFill>
                  <a:srgbClr val="1A1A1A"/>
                </a:solidFill>
                <a:latin typeface="Century Schoolbook"/>
              </a:rPr>
              <a:t>IXL</a:t>
            </a:r>
          </a:p>
        </p:txBody>
      </p:sp>
      <p:cxnSp>
        <p:nvCxnSpPr>
          <p:cNvPr id="3" name="Connector 2"/>
          <p:cNvCxnSpPr/>
          <p:nvPr/>
        </p:nvCxnSpPr>
        <p:spPr>
          <a:xfrm>
            <a:off x="777240" y="1097280"/>
            <a:ext cx="10607040" cy="0"/>
          </a:xfrm>
          <a:prstGeom prst="line">
            <a:avLst/>
          </a:prstGeom>
          <a:ln w="19050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4" name="Connector 3"/>
          <p:cNvCxnSpPr/>
          <p:nvPr/>
        </p:nvCxnSpPr>
        <p:spPr>
          <a:xfrm>
            <a:off x="777240" y="1179576"/>
            <a:ext cx="10607040" cy="0"/>
          </a:xfrm>
          <a:prstGeom prst="line">
            <a:avLst/>
          </a:prstGeom>
          <a:ln w="9525">
            <a:solidFill>
              <a:srgbClr val="1A1A1A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5" name="TextBox 4"/>
          <p:cNvSpPr txBox="1"/>
          <p:nvPr/>
        </p:nvSpPr>
        <p:spPr>
          <a:xfrm>
            <a:off x="777240" y="1261872"/>
            <a:ext cx="10607040" cy="3108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700" b="0" i="1">
                <a:solidFill>
                  <a:srgbClr val="6B6B6B"/>
                </a:solidFill>
                <a:latin typeface="Century Schoolbook"/>
              </a:rPr>
              <a:t>Last five minutes.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777240" y="6199632"/>
            <a:ext cx="10607040" cy="0"/>
          </a:xfrm>
          <a:prstGeom prst="line">
            <a:avLst/>
          </a:prstGeom>
          <a:ln w="9525">
            <a:solidFill>
              <a:srgbClr val="6B6B6B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TextBox 6"/>
          <p:cNvSpPr txBox="1"/>
          <p:nvPr/>
        </p:nvSpPr>
        <p:spPr>
          <a:xfrm>
            <a:off x="777240" y="6272784"/>
            <a:ext cx="969264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100" b="0" i="1">
                <a:solidFill>
                  <a:srgbClr val="6B6B6B"/>
                </a:solidFill>
                <a:latin typeface="Century Schoolbook"/>
              </a:rPr>
              <a:t>Grade 7 Accelerated · Unit 4 · Lesson 1 — Adding and Subtracting in Scientific Notation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0744200" y="6272784"/>
            <a:ext cx="640080" cy="27432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r"/>
            <a:r>
              <a:rPr sz="1100" b="0" i="0">
                <a:solidFill>
                  <a:srgbClr val="6B6B6B"/>
                </a:solidFill>
                <a:latin typeface="Century Schoolbook"/>
              </a:rPr>
              <a:t>34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960120" y="182880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554480" y="1828800"/>
            <a:ext cx="9829800" cy="41148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Open IXL and start today's skills.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20" y="2331720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2.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54480" y="2331720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Work on paper where the question needs work. The answer box does not show it.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60120" y="3191256"/>
            <a:ext cx="548640" cy="35661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0B5394"/>
                </a:solidFill>
                <a:latin typeface="Century Schoolbook"/>
              </a:rPr>
              <a:t>3.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54480" y="3191256"/>
            <a:ext cx="9829800" cy="768096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0" i="0">
                <a:solidFill>
                  <a:srgbClr val="1A1A1A"/>
                </a:solidFill>
                <a:latin typeface="Century Schoolbook"/>
              </a:rPr>
              <a:t>Every skill listed is required, to a SmartScore of 67. Due at the start of the next class.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4096511"/>
            <a:ext cx="10241280" cy="365760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2100" b="1" i="0">
                <a:solidFill>
                  <a:srgbClr val="1A1A1A"/>
                </a:solidFill>
                <a:latin typeface="Century Schoolbook"/>
              </a:rPr>
              <a:t>Today's skills — all required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25880" y="4507992"/>
            <a:ext cx="9692640" cy="329184"/>
          </a:xfrm>
          <a:prstGeom prst="rect">
            <a:avLst/>
          </a:prstGeom>
          <a:noFill/>
        </p:spPr>
        <p:txBody>
          <a:bodyPr wrap="square" lIns="45720" rIns="45720" tIns="18288" bIns="18288" anchor="t">
            <a:spAutoFit/>
          </a:bodyPr>
          <a:lstStyle/>
          <a:p>
            <a:pPr algn="l"/>
            <a:r>
              <a:rPr sz="1900" b="0" i="0">
                <a:solidFill>
                  <a:srgbClr val="1A1A1A"/>
                </a:solidFill>
                <a:latin typeface="Century Schoolbook"/>
              </a:rPr>
              <a:t>Add and subtract numbers written in scientific notation — HUR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