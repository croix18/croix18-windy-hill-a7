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substitute values into a formula and evaluate it, reading what the situation does rather than hunting for key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read an expression's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expression arrives wrapped in a sentence — and the sentence is not a list of key words.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8" name="Picture 17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108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081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3122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21" name="Picture 20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1880" y="374446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Substituting: the value goes in parentheses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adc02d1493e5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665" y="2340864"/>
            <a:ext cx="1557528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3193" y="2449068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3" name="Picture 12" descr="c5ae5c8435316f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88" y="2534412"/>
            <a:ext cx="1082040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92928" y="2449068"/>
            <a:ext cx="1403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5" name="Picture 14" descr="93a35f9de365d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202" y="2535936"/>
            <a:ext cx="966216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5418" y="24490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7" name="Picture 16" descr="d74aec1c3ec8a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734" y="3288792"/>
            <a:ext cx="5285232" cy="673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70966" y="3396996"/>
            <a:ext cx="1441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joules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0315" y="4213859"/>
            <a:ext cx="1233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with   </a:t>
            </a:r>
          </a:p>
        </p:txBody>
      </p:sp>
      <p:pic>
        <p:nvPicPr>
          <p:cNvPr id="20" name="Picture 19" descr="470a2cb670592e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159" y="4302251"/>
            <a:ext cx="1063752" cy="2804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9911" y="4213859"/>
            <a:ext cx="6967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    </a:t>
            </a:r>
          </a:p>
        </p:txBody>
      </p:sp>
      <p:pic>
        <p:nvPicPr>
          <p:cNvPr id="22" name="Picture 21" descr="8b91d3b79ed4a5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482" y="4239767"/>
            <a:ext cx="2484120" cy="4053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63602" y="4213859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24" name="Picture 23" descr="e047b6631084f9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6516" y="4271771"/>
            <a:ext cx="1694688" cy="34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7552" y="49865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problems.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Key words do not decide the operation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19924" y="2318004"/>
            <a:ext cx="78588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plus 4 dollars for each of 6 gigabytes:</a:t>
            </a:r>
          </a:p>
        </p:txBody>
      </p:sp>
      <p:pic>
        <p:nvPicPr>
          <p:cNvPr id="12" name="Picture 11" descr="df4025967bb63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3057144"/>
            <a:ext cx="22219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6180" y="3689604"/>
            <a:ext cx="82063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for each of 4 lines, plus 6 dollars of tax:</a:t>
            </a:r>
          </a:p>
        </p:txBody>
      </p:sp>
      <p:pic>
        <p:nvPicPr>
          <p:cNvPr id="14" name="Picture 13" descr="d2efbf0da391d0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716" y="4428744"/>
            <a:ext cx="222808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51480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9481ee0e1540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339" y="2340864"/>
            <a:ext cx="4690872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0211" y="236372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7423" y="3095244"/>
            <a:ext cx="5087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rounding the side to 14 first:   </a:t>
            </a:r>
          </a:p>
        </p:txBody>
      </p:sp>
      <p:pic>
        <p:nvPicPr>
          <p:cNvPr id="13" name="Picture 12" descr="e6ef06ed6a80f4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20" y="3148584"/>
            <a:ext cx="1664208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12128" y="309524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679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formula with a power in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151" y="2211323"/>
            <a:ext cx="3131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0" name="Picture 9" descr="69f338afbe2042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52" y="2103120"/>
            <a:ext cx="1554480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9932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8839" y="3073908"/>
            <a:ext cx="16747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mass </a:t>
            </a:r>
          </a:p>
        </p:txBody>
      </p:sp>
      <p:pic>
        <p:nvPicPr>
          <p:cNvPr id="13" name="Picture 12" descr="24e87f5600a7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404" y="3211068"/>
            <a:ext cx="28346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89868" y="3073908"/>
            <a:ext cx="41655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kilograms and speed </a:t>
            </a:r>
          </a:p>
        </p:txBody>
      </p:sp>
      <p:pic>
        <p:nvPicPr>
          <p:cNvPr id="15" name="Picture 14" descr="fcb4fcf2c8052f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219" y="3208020"/>
            <a:ext cx="167640" cy="188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5859" y="3073908"/>
            <a:ext cx="3743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meters per second.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688" y="3805427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8" name="Picture 17" descr="c3de325f2afb27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676" y="3899915"/>
            <a:ext cx="295656" cy="2682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84332" y="3805427"/>
            <a:ext cx="77546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a car of mass 1,200 kg travelling at 15 m/s.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426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75f9c90e035e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6080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2028444"/>
            <a:ext cx="617219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substitute, each value in parentheses</a:t>
            </a:r>
          </a:p>
        </p:txBody>
      </p:sp>
      <p:pic>
        <p:nvPicPr>
          <p:cNvPr id="11" name="Picture 10" descr="97f8b90e9d71c5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2618232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04232" y="29763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power first — it belongs to the 15 alone</a:t>
            </a:r>
          </a:p>
        </p:txBody>
      </p:sp>
      <p:pic>
        <p:nvPicPr>
          <p:cNvPr id="13" name="Picture 12" descr="a0f52d5d0e25f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35173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03392" y="3762756"/>
            <a:ext cx="55808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then the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38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135,000 joules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8372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87c9946de92fdd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60" y="2194560"/>
            <a:ext cx="1941576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2af650365bdc2c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363ced5d02a269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3960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87638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5324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ccc487dd163a74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12" y="2194560"/>
            <a:ext cx="1944623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5bea3106422a0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412fe3e32d9c15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7008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0686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425 times 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61,200 joules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cost with a rate and a flat fee.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floor of side 9 feet is carpeted.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4221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Carpet is 2.89 dollars a square foot and padding is 0.75 dollars a square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068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8a80bd66be46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2783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13831" y="1894332"/>
            <a:ext cx="587044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area times the per-square-foot prices, then the flat fee</a:t>
            </a:r>
          </a:p>
        </p:txBody>
      </p:sp>
      <p:pic>
        <p:nvPicPr>
          <p:cNvPr id="11" name="Picture 10" descr="01bf3bc2e6345c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248412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0120" y="25466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area and the rate, each finished</a:t>
            </a:r>
          </a:p>
        </p:txBody>
      </p:sp>
      <p:pic>
        <p:nvPicPr>
          <p:cNvPr id="13" name="Picture 12" descr="6a57c082688f8b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3745992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1992" y="3142488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multiply, then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185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36(4.25) then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5999" y="217170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8b9f54f367bfb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662" y="2229612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4014" y="217170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c0822ea9a5c4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332" y="226009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5084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Substitute in parentheses.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4475" y="208026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dfb9a8ed903d42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138" y="2138171"/>
            <a:ext cx="533400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5538" y="208026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a9ba365712c4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856" y="216865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6608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has a mass of 70 kilograms and rides at 8 meters per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27807"/>
            <a:ext cx="2906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2" name="Picture 11" descr="8419d3078da366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988" y="3382087"/>
            <a:ext cx="1261872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5860" y="3427807"/>
            <a:ext cx="2190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,  for a mass  </a:t>
            </a:r>
          </a:p>
        </p:txBody>
      </p:sp>
      <p:pic>
        <p:nvPicPr>
          <p:cNvPr id="14" name="Picture 13" descr="38ea68753f0734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56" y="3581731"/>
            <a:ext cx="231648" cy="149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1204" y="3427807"/>
            <a:ext cx="23349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and a speed  </a:t>
            </a:r>
          </a:p>
        </p:txBody>
      </p:sp>
      <p:pic>
        <p:nvPicPr>
          <p:cNvPr id="16" name="Picture 15" descr="17f1143b444dcf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038" y="3580207"/>
            <a:ext cx="13716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86198" y="3427807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31895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5387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has a mass of 70 kilograms and rides at 8 meters per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29331"/>
            <a:ext cx="2906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2" name="Picture 11" descr="2b860bf135a1b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988" y="3382087"/>
            <a:ext cx="1261872" cy="551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5860" y="3429331"/>
            <a:ext cx="2190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,  for a mass  </a:t>
            </a:r>
          </a:p>
        </p:txBody>
      </p:sp>
      <p:pic>
        <p:nvPicPr>
          <p:cNvPr id="14" name="Picture 13" descr="38ea68753f0734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56" y="3583255"/>
            <a:ext cx="231648" cy="149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1204" y="3429331"/>
            <a:ext cx="23349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and a speed  </a:t>
            </a:r>
          </a:p>
        </p:txBody>
      </p:sp>
      <p:pic>
        <p:nvPicPr>
          <p:cNvPr id="16" name="Picture 15" descr="17f1143b444dcf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038" y="3581731"/>
            <a:ext cx="13716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86198" y="3429331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34943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6548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35 times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9700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2,240 joules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happens six times?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15 + 4(6)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price depends on the area?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19806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64(3.50) + 60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284 dollars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7790" y="2302764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0c3f0450f52693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453" y="2194560"/>
            <a:ext cx="89001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5469" y="2302764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87" y="2391156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4827" y="230276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33" y="2391156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3293" y="230276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42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04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6266" y="2211323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9a895d34bc456d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29" y="2103120"/>
            <a:ext cx="893064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6993" y="2211323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11" y="2299715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6351" y="2211323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057" y="2299715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4817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5104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090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71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6309" y="2217420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68e9635cc791ae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10" y="2194560"/>
            <a:ext cx="105156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8870" y="2217420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Round once, at the end.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881" y="2125979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12e2a7d6e4336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882" y="2103120"/>
            <a:ext cx="104241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4298" y="2125979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009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 × 14.1421…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84.85 feet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9362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63c59621754cfc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94560"/>
            <a:ext cx="993648" cy="655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1914" y="229362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fd02e8179cc96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32" y="2386584"/>
            <a:ext cx="774192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342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90e8bcce6a738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28" y="2380487"/>
            <a:ext cx="783336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07fcb1bbd55c69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380487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936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00655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e228efb5a3a6a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03120"/>
            <a:ext cx="987552" cy="652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5818" y="2200655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9ac445d0700059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36" y="2293620"/>
            <a:ext cx="77724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0376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d05130d66ecf91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380" y="2287524"/>
            <a:ext cx="78638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23b44b96e08919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287524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00655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7543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45 over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The same three numbers, the same words.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1246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39 and 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 and 66 dollars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