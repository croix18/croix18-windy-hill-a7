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38.xml"/><Relationship Id="rId4" Type="http://schemas.openxmlformats.org/officeDocument/2006/relationships/slide" Target="slide73.xml"/><Relationship Id="rId5" Type="http://schemas.openxmlformats.org/officeDocument/2006/relationships/slide" Target="slide108.xml"/><Relationship Id="rId6" Type="http://schemas.openxmlformats.org/officeDocument/2006/relationships/slide" Target="slide143.xml"/><Relationship Id="rId7" Type="http://schemas.openxmlformats.org/officeDocument/2006/relationships/slide" Target="slide17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3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Relationship Id="rId5" Type="http://schemas.openxmlformats.org/officeDocument/2006/relationships/image" Target="../media/image6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68.png"/><Relationship Id="rId5" Type="http://schemas.openxmlformats.org/officeDocument/2006/relationships/image" Target="../media/image69.png"/><Relationship Id="rId6" Type="http://schemas.openxmlformats.org/officeDocument/2006/relationships/image" Target="../media/image7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80.png"/><Relationship Id="rId7" Type="http://schemas.openxmlformats.org/officeDocument/2006/relationships/image" Target="../media/image81.png"/><Relationship Id="rId8" Type="http://schemas.openxmlformats.org/officeDocument/2006/relationships/image" Target="../media/image8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9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Relationship Id="rId3" Type="http://schemas.openxmlformats.org/officeDocument/2006/relationships/image" Target="../media/image9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Relationship Id="rId3" Type="http://schemas.openxmlformats.org/officeDocument/2006/relationships/image" Target="../media/image97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Relationship Id="rId3" Type="http://schemas.openxmlformats.org/officeDocument/2006/relationships/image" Target="../media/image100.png"/><Relationship Id="rId4" Type="http://schemas.openxmlformats.org/officeDocument/2006/relationships/image" Target="../media/image10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Relationship Id="rId3" Type="http://schemas.openxmlformats.org/officeDocument/2006/relationships/image" Target="../media/image104.png"/><Relationship Id="rId4" Type="http://schemas.openxmlformats.org/officeDocument/2006/relationships/image" Target="../media/image105.png"/><Relationship Id="rId5" Type="http://schemas.openxmlformats.org/officeDocument/2006/relationships/image" Target="../media/image10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Relationship Id="rId3" Type="http://schemas.openxmlformats.org/officeDocument/2006/relationships/image" Target="../media/image109.png"/><Relationship Id="rId4" Type="http://schemas.openxmlformats.org/officeDocument/2006/relationships/image" Target="../media/image11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Relationship Id="rId3" Type="http://schemas.openxmlformats.org/officeDocument/2006/relationships/image" Target="../media/image124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Relationship Id="rId3" Type="http://schemas.openxmlformats.org/officeDocument/2006/relationships/image" Target="../media/image126.png"/><Relationship Id="rId4" Type="http://schemas.openxmlformats.org/officeDocument/2006/relationships/image" Target="../media/image127.png"/><Relationship Id="rId5" Type="http://schemas.openxmlformats.org/officeDocument/2006/relationships/image" Target="../media/image128.png"/><Relationship Id="rId6" Type="http://schemas.openxmlformats.org/officeDocument/2006/relationships/image" Target="../media/image129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Relationship Id="rId3" Type="http://schemas.openxmlformats.org/officeDocument/2006/relationships/image" Target="../media/image132.png"/><Relationship Id="rId4" Type="http://schemas.openxmlformats.org/officeDocument/2006/relationships/image" Target="../media/image133.png"/><Relationship Id="rId5" Type="http://schemas.openxmlformats.org/officeDocument/2006/relationships/image" Target="../media/image13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Relationship Id="rId3" Type="http://schemas.openxmlformats.org/officeDocument/2006/relationships/image" Target="../media/image137.png"/><Relationship Id="rId4" Type="http://schemas.openxmlformats.org/officeDocument/2006/relationships/image" Target="../media/image138.png"/><Relationship Id="rId5" Type="http://schemas.openxmlformats.org/officeDocument/2006/relationships/image" Target="../media/image139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Relationship Id="rId3" Type="http://schemas.openxmlformats.org/officeDocument/2006/relationships/image" Target="../media/image142.png"/><Relationship Id="rId4" Type="http://schemas.openxmlformats.org/officeDocument/2006/relationships/image" Target="../media/image143.png"/><Relationship Id="rId5" Type="http://schemas.openxmlformats.org/officeDocument/2006/relationships/image" Target="../media/image144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Relationship Id="rId3" Type="http://schemas.openxmlformats.org/officeDocument/2006/relationships/image" Target="../media/image147.png"/><Relationship Id="rId4" Type="http://schemas.openxmlformats.org/officeDocument/2006/relationships/image" Target="../media/image148.png"/><Relationship Id="rId5" Type="http://schemas.openxmlformats.org/officeDocument/2006/relationships/image" Target="../media/image149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Relationship Id="rId3" Type="http://schemas.openxmlformats.org/officeDocument/2006/relationships/image" Target="../media/image152.png"/><Relationship Id="rId4" Type="http://schemas.openxmlformats.org/officeDocument/2006/relationships/image" Target="../media/image153.png"/><Relationship Id="rId5" Type="http://schemas.openxmlformats.org/officeDocument/2006/relationships/image" Target="../media/image154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Relationship Id="rId3" Type="http://schemas.openxmlformats.org/officeDocument/2006/relationships/image" Target="../media/image7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Relationship Id="rId3" Type="http://schemas.openxmlformats.org/officeDocument/2006/relationships/image" Target="../media/image7.png"/><Relationship Id="rId4" Type="http://schemas.openxmlformats.org/officeDocument/2006/relationships/image" Target="../media/image157.png"/><Relationship Id="rId5" Type="http://schemas.openxmlformats.org/officeDocument/2006/relationships/image" Target="../media/image158.png"/><Relationship Id="rId6" Type="http://schemas.openxmlformats.org/officeDocument/2006/relationships/image" Target="../media/image159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Relationship Id="rId3" Type="http://schemas.openxmlformats.org/officeDocument/2006/relationships/image" Target="../media/image161.png"/><Relationship Id="rId4" Type="http://schemas.openxmlformats.org/officeDocument/2006/relationships/image" Target="../media/image162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Relationship Id="rId3" Type="http://schemas.openxmlformats.org/officeDocument/2006/relationships/image" Target="../media/image164.png"/><Relationship Id="rId4" Type="http://schemas.openxmlformats.org/officeDocument/2006/relationships/image" Target="../media/image165.png"/><Relationship Id="rId5" Type="http://schemas.openxmlformats.org/officeDocument/2006/relationships/image" Target="../media/image166.png"/><Relationship Id="rId6" Type="http://schemas.openxmlformats.org/officeDocument/2006/relationships/image" Target="../media/image167.png"/><Relationship Id="rId7" Type="http://schemas.openxmlformats.org/officeDocument/2006/relationships/image" Target="../media/image168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Relationship Id="rId3" Type="http://schemas.openxmlformats.org/officeDocument/2006/relationships/image" Target="../media/image170.png"/><Relationship Id="rId4" Type="http://schemas.openxmlformats.org/officeDocument/2006/relationships/image" Target="../media/image171.png"/><Relationship Id="rId5" Type="http://schemas.openxmlformats.org/officeDocument/2006/relationships/image" Target="../media/image172.png"/><Relationship Id="rId6" Type="http://schemas.openxmlformats.org/officeDocument/2006/relationships/image" Target="../media/image173.png"/><Relationship Id="rId7" Type="http://schemas.openxmlformats.org/officeDocument/2006/relationships/image" Target="../media/image81.png"/><Relationship Id="rId8" Type="http://schemas.openxmlformats.org/officeDocument/2006/relationships/image" Target="../media/image174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Relationship Id="rId3" Type="http://schemas.openxmlformats.org/officeDocument/2006/relationships/image" Target="../media/image176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Relationship Id="rId3" Type="http://schemas.openxmlformats.org/officeDocument/2006/relationships/image" Target="../media/image178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Relationship Id="rId3" Type="http://schemas.openxmlformats.org/officeDocument/2006/relationships/image" Target="../media/image180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Relationship Id="rId3" Type="http://schemas.openxmlformats.org/officeDocument/2006/relationships/image" Target="../media/image182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Relationship Id="rId3" Type="http://schemas.openxmlformats.org/officeDocument/2006/relationships/image" Target="../media/image184.png"/><Relationship Id="rId4" Type="http://schemas.openxmlformats.org/officeDocument/2006/relationships/image" Target="../media/image185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Relationship Id="rId3" Type="http://schemas.openxmlformats.org/officeDocument/2006/relationships/image" Target="../media/image18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Relationship Id="rId3" Type="http://schemas.openxmlformats.org/officeDocument/2006/relationships/image" Target="../media/image189.png"/><Relationship Id="rId4" Type="http://schemas.openxmlformats.org/officeDocument/2006/relationships/image" Target="../media/image190.png"/><Relationship Id="rId5" Type="http://schemas.openxmlformats.org/officeDocument/2006/relationships/image" Target="../media/image191.png"/><Relationship Id="rId6" Type="http://schemas.openxmlformats.org/officeDocument/2006/relationships/image" Target="../media/image192.png"/><Relationship Id="rId7" Type="http://schemas.openxmlformats.org/officeDocument/2006/relationships/image" Target="../media/image193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Relationship Id="rId3" Type="http://schemas.openxmlformats.org/officeDocument/2006/relationships/image" Target="../media/image195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Relationship Id="rId3" Type="http://schemas.openxmlformats.org/officeDocument/2006/relationships/image" Target="../media/image197.png"/><Relationship Id="rId4" Type="http://schemas.openxmlformats.org/officeDocument/2006/relationships/image" Target="../media/image198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Relationship Id="rId3" Type="http://schemas.openxmlformats.org/officeDocument/2006/relationships/image" Target="../media/image200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Relationship Id="rId3" Type="http://schemas.openxmlformats.org/officeDocument/2006/relationships/image" Target="../media/image202.png"/><Relationship Id="rId4" Type="http://schemas.openxmlformats.org/officeDocument/2006/relationships/image" Target="../media/image203.png"/><Relationship Id="rId5" Type="http://schemas.openxmlformats.org/officeDocument/2006/relationships/image" Target="../media/image204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Relationship Id="rId3" Type="http://schemas.openxmlformats.org/officeDocument/2006/relationships/image" Target="../media/image206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Relationship Id="rId3" Type="http://schemas.openxmlformats.org/officeDocument/2006/relationships/image" Target="../media/image208.png"/><Relationship Id="rId4" Type="http://schemas.openxmlformats.org/officeDocument/2006/relationships/image" Target="../media/image209.png"/><Relationship Id="rId5" Type="http://schemas.openxmlformats.org/officeDocument/2006/relationships/image" Target="../media/image210.png"/><Relationship Id="rId6" Type="http://schemas.openxmlformats.org/officeDocument/2006/relationships/image" Target="../media/image211.png"/><Relationship Id="rId7" Type="http://schemas.openxmlformats.org/officeDocument/2006/relationships/image" Target="../media/image21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Relationship Id="rId3" Type="http://schemas.openxmlformats.org/officeDocument/2006/relationships/image" Target="../media/image215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Relationship Id="rId3" Type="http://schemas.openxmlformats.org/officeDocument/2006/relationships/image" Target="../media/image22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Relationship Id="rId3" Type="http://schemas.openxmlformats.org/officeDocument/2006/relationships/image" Target="../media/image223.png"/><Relationship Id="rId4" Type="http://schemas.openxmlformats.org/officeDocument/2006/relationships/image" Target="../media/image224.png"/><Relationship Id="rId5" Type="http://schemas.openxmlformats.org/officeDocument/2006/relationships/image" Target="../media/image191.png"/><Relationship Id="rId6" Type="http://schemas.openxmlformats.org/officeDocument/2006/relationships/image" Target="../media/image225.png"/><Relationship Id="rId7" Type="http://schemas.openxmlformats.org/officeDocument/2006/relationships/image" Target="../media/image226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Relationship Id="rId3" Type="http://schemas.openxmlformats.org/officeDocument/2006/relationships/image" Target="../media/image229.png"/><Relationship Id="rId4" Type="http://schemas.openxmlformats.org/officeDocument/2006/relationships/image" Target="../media/image207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Relationship Id="rId3" Type="http://schemas.openxmlformats.org/officeDocument/2006/relationships/image" Target="../media/image23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Relationship Id="rId3" Type="http://schemas.openxmlformats.org/officeDocument/2006/relationships/image" Target="../media/image233.png"/><Relationship Id="rId4" Type="http://schemas.openxmlformats.org/officeDocument/2006/relationships/image" Target="../media/image234.png"/><Relationship Id="rId5" Type="http://schemas.openxmlformats.org/officeDocument/2006/relationships/image" Target="../media/image235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Relationship Id="rId3" Type="http://schemas.openxmlformats.org/officeDocument/2006/relationships/image" Target="../media/image237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Relationship Id="rId3" Type="http://schemas.openxmlformats.org/officeDocument/2006/relationships/image" Target="../media/image239.png"/><Relationship Id="rId4" Type="http://schemas.openxmlformats.org/officeDocument/2006/relationships/image" Target="../media/image240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Relationship Id="rId3" Type="http://schemas.openxmlformats.org/officeDocument/2006/relationships/image" Target="../media/image242.png"/><Relationship Id="rId4" Type="http://schemas.openxmlformats.org/officeDocument/2006/relationships/image" Target="../media/image243.png"/><Relationship Id="rId5" Type="http://schemas.openxmlformats.org/officeDocument/2006/relationships/image" Target="../media/image244.png"/><Relationship Id="rId6" Type="http://schemas.openxmlformats.org/officeDocument/2006/relationships/image" Target="../media/image245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247.png"/><Relationship Id="rId4" Type="http://schemas.openxmlformats.org/officeDocument/2006/relationships/image" Target="../media/image248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Relationship Id="rId3" Type="http://schemas.openxmlformats.org/officeDocument/2006/relationships/image" Target="../media/image247.png"/><Relationship Id="rId4" Type="http://schemas.openxmlformats.org/officeDocument/2006/relationships/image" Target="../media/image248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Relationship Id="rId3" Type="http://schemas.openxmlformats.org/officeDocument/2006/relationships/image" Target="../media/image250.png"/><Relationship Id="rId4" Type="http://schemas.openxmlformats.org/officeDocument/2006/relationships/image" Target="../media/image251.png"/><Relationship Id="rId5" Type="http://schemas.openxmlformats.org/officeDocument/2006/relationships/image" Target="../media/image252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Relationship Id="rId3" Type="http://schemas.openxmlformats.org/officeDocument/2006/relationships/image" Target="../media/image258.png"/><Relationship Id="rId4" Type="http://schemas.openxmlformats.org/officeDocument/2006/relationships/image" Target="../media/image259.png"/><Relationship Id="rId5" Type="http://schemas.openxmlformats.org/officeDocument/2006/relationships/image" Target="../media/image260.png"/><Relationship Id="rId6" Type="http://schemas.openxmlformats.org/officeDocument/2006/relationships/image" Target="../media/image26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Relationship Id="rId3" Type="http://schemas.openxmlformats.org/officeDocument/2006/relationships/image" Target="../media/image263.png"/><Relationship Id="rId4" Type="http://schemas.openxmlformats.org/officeDocument/2006/relationships/image" Target="../media/image264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Relationship Id="rId3" Type="http://schemas.openxmlformats.org/officeDocument/2006/relationships/image" Target="../media/image254.png"/><Relationship Id="rId4" Type="http://schemas.openxmlformats.org/officeDocument/2006/relationships/image" Target="../media/image267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Relationship Id="rId3" Type="http://schemas.openxmlformats.org/officeDocument/2006/relationships/image" Target="../media/image270.png"/><Relationship Id="rId4" Type="http://schemas.openxmlformats.org/officeDocument/2006/relationships/image" Target="../media/image271.png"/><Relationship Id="rId5" Type="http://schemas.openxmlformats.org/officeDocument/2006/relationships/image" Target="../media/image272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Relationship Id="rId3" Type="http://schemas.openxmlformats.org/officeDocument/2006/relationships/image" Target="../media/image275.png"/><Relationship Id="rId4" Type="http://schemas.openxmlformats.org/officeDocument/2006/relationships/image" Target="../media/image276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Relationship Id="rId3" Type="http://schemas.openxmlformats.org/officeDocument/2006/relationships/image" Target="../media/image279.png"/><Relationship Id="rId4" Type="http://schemas.openxmlformats.org/officeDocument/2006/relationships/image" Target="../media/image280.png"/><Relationship Id="rId5" Type="http://schemas.openxmlformats.org/officeDocument/2006/relationships/image" Target="../media/image28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Relationship Id="rId3" Type="http://schemas.openxmlformats.org/officeDocument/2006/relationships/image" Target="../media/image284.png"/><Relationship Id="rId4" Type="http://schemas.openxmlformats.org/officeDocument/2006/relationships/image" Target="../media/image285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Relationship Id="rId3" Type="http://schemas.openxmlformats.org/officeDocument/2006/relationships/image" Target="../media/image28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Relationship Id="rId3" Type="http://schemas.openxmlformats.org/officeDocument/2006/relationships/image" Target="../media/image290.png"/><Relationship Id="rId4" Type="http://schemas.openxmlformats.org/officeDocument/2006/relationships/image" Target="../media/image29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Relationship Id="rId3" Type="http://schemas.openxmlformats.org/officeDocument/2006/relationships/image" Target="../media/image294.png"/><Relationship Id="rId4" Type="http://schemas.openxmlformats.org/officeDocument/2006/relationships/image" Target="../media/image295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Relationship Id="rId3" Type="http://schemas.openxmlformats.org/officeDocument/2006/relationships/image" Target="../media/image298.png"/><Relationship Id="rId4" Type="http://schemas.openxmlformats.org/officeDocument/2006/relationships/image" Target="../media/image299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Relationship Id="rId3" Type="http://schemas.openxmlformats.org/officeDocument/2006/relationships/image" Target="../media/image302.png"/><Relationship Id="rId4" Type="http://schemas.openxmlformats.org/officeDocument/2006/relationships/image" Target="../media/image303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Relationship Id="rId3" Type="http://schemas.openxmlformats.org/officeDocument/2006/relationships/image" Target="../media/image306.png"/><Relationship Id="rId4" Type="http://schemas.openxmlformats.org/officeDocument/2006/relationships/image" Target="../media/image307.png"/><Relationship Id="rId5" Type="http://schemas.openxmlformats.org/officeDocument/2006/relationships/image" Target="../media/image308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Relationship Id="rId3" Type="http://schemas.openxmlformats.org/officeDocument/2006/relationships/image" Target="../media/image311.png"/><Relationship Id="rId4" Type="http://schemas.openxmlformats.org/officeDocument/2006/relationships/image" Target="../media/image312.png"/><Relationship Id="rId5" Type="http://schemas.openxmlformats.org/officeDocument/2006/relationships/image" Target="../media/image313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Relationship Id="rId3" Type="http://schemas.openxmlformats.org/officeDocument/2006/relationships/image" Target="../media/image316.png"/><Relationship Id="rId4" Type="http://schemas.openxmlformats.org/officeDocument/2006/relationships/image" Target="../media/image317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Relationship Id="rId3" Type="http://schemas.openxmlformats.org/officeDocument/2006/relationships/image" Target="../media/image319.png"/><Relationship Id="rId4" Type="http://schemas.openxmlformats.org/officeDocument/2006/relationships/image" Target="../media/image320.png"/><Relationship Id="rId5" Type="http://schemas.openxmlformats.org/officeDocument/2006/relationships/image" Target="../media/image321.png"/><Relationship Id="rId6" Type="http://schemas.openxmlformats.org/officeDocument/2006/relationships/image" Target="../media/image322.png"/><Relationship Id="rId7" Type="http://schemas.openxmlformats.org/officeDocument/2006/relationships/image" Target="../media/image323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Relationship Id="rId3" Type="http://schemas.openxmlformats.org/officeDocument/2006/relationships/image" Target="../media/image325.png"/><Relationship Id="rId4" Type="http://schemas.openxmlformats.org/officeDocument/2006/relationships/image" Target="../media/image32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Relationship Id="rId3" Type="http://schemas.openxmlformats.org/officeDocument/2006/relationships/image" Target="../media/image325.png"/><Relationship Id="rId4" Type="http://schemas.openxmlformats.org/officeDocument/2006/relationships/image" Target="../media/image326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Relationship Id="rId3" Type="http://schemas.openxmlformats.org/officeDocument/2006/relationships/image" Target="../media/image332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Relationship Id="rId3" Type="http://schemas.openxmlformats.org/officeDocument/2006/relationships/image" Target="../media/image335.png"/><Relationship Id="rId4" Type="http://schemas.openxmlformats.org/officeDocument/2006/relationships/image" Target="../media/image336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Relationship Id="rId3" Type="http://schemas.openxmlformats.org/officeDocument/2006/relationships/image" Target="../media/image339.png"/><Relationship Id="rId4" Type="http://schemas.openxmlformats.org/officeDocument/2006/relationships/image" Target="../media/image257.png"/><Relationship Id="rId5" Type="http://schemas.openxmlformats.org/officeDocument/2006/relationships/image" Target="../media/image340.png"/><Relationship Id="rId6" Type="http://schemas.openxmlformats.org/officeDocument/2006/relationships/image" Target="../media/image34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Relationship Id="rId3" Type="http://schemas.openxmlformats.org/officeDocument/2006/relationships/image" Target="../media/image344.png"/><Relationship Id="rId4" Type="http://schemas.openxmlformats.org/officeDocument/2006/relationships/image" Target="../media/image345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Relationship Id="rId3" Type="http://schemas.openxmlformats.org/officeDocument/2006/relationships/image" Target="../media/image348.png"/><Relationship Id="rId4" Type="http://schemas.openxmlformats.org/officeDocument/2006/relationships/image" Target="../media/image349.png"/><Relationship Id="rId5" Type="http://schemas.openxmlformats.org/officeDocument/2006/relationships/image" Target="../media/image350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Relationship Id="rId3" Type="http://schemas.openxmlformats.org/officeDocument/2006/relationships/image" Target="../media/image353.png"/><Relationship Id="rId4" Type="http://schemas.openxmlformats.org/officeDocument/2006/relationships/image" Target="../media/image3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Relationship Id="rId3" Type="http://schemas.openxmlformats.org/officeDocument/2006/relationships/image" Target="../media/image356.png"/><Relationship Id="rId4" Type="http://schemas.openxmlformats.org/officeDocument/2006/relationships/image" Target="../media/image357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Relationship Id="rId3" Type="http://schemas.openxmlformats.org/officeDocument/2006/relationships/image" Target="../media/image360.png"/><Relationship Id="rId4" Type="http://schemas.openxmlformats.org/officeDocument/2006/relationships/image" Target="../media/image36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Relationship Id="rId3" Type="http://schemas.openxmlformats.org/officeDocument/2006/relationships/image" Target="../media/image364.png"/><Relationship Id="rId4" Type="http://schemas.openxmlformats.org/officeDocument/2006/relationships/image" Target="../media/image365.png"/><Relationship Id="rId5" Type="http://schemas.openxmlformats.org/officeDocument/2006/relationships/image" Target="../media/image366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Relationship Id="rId3" Type="http://schemas.openxmlformats.org/officeDocument/2006/relationships/image" Target="../media/image369.png"/><Relationship Id="rId4" Type="http://schemas.openxmlformats.org/officeDocument/2006/relationships/image" Target="../media/image370.png"/><Relationship Id="rId5" Type="http://schemas.openxmlformats.org/officeDocument/2006/relationships/image" Target="../media/image37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2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3.png"/><Relationship Id="rId3" Type="http://schemas.openxmlformats.org/officeDocument/2006/relationships/image" Target="../media/image374.png"/><Relationship Id="rId4" Type="http://schemas.openxmlformats.org/officeDocument/2006/relationships/image" Target="../media/image375.png"/><Relationship Id="rId5" Type="http://schemas.openxmlformats.org/officeDocument/2006/relationships/image" Target="../media/image37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8.png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2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3.png"/><Relationship Id="rId3" Type="http://schemas.openxmlformats.org/officeDocument/2006/relationships/image" Target="../media/image384.png"/><Relationship Id="rId4" Type="http://schemas.openxmlformats.org/officeDocument/2006/relationships/image" Target="../media/image385.png"/><Relationship Id="rId5" Type="http://schemas.openxmlformats.org/officeDocument/2006/relationships/image" Target="../media/image386.png"/><Relationship Id="rId6" Type="http://schemas.openxmlformats.org/officeDocument/2006/relationships/image" Target="../media/image387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8.png"/><Relationship Id="rId3" Type="http://schemas.openxmlformats.org/officeDocument/2006/relationships/image" Target="../media/image7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9.png"/><Relationship Id="rId3" Type="http://schemas.openxmlformats.org/officeDocument/2006/relationships/image" Target="../media/image7.png"/><Relationship Id="rId4" Type="http://schemas.openxmlformats.org/officeDocument/2006/relationships/image" Target="../media/image390.png"/><Relationship Id="rId5" Type="http://schemas.openxmlformats.org/officeDocument/2006/relationships/image" Target="../media/image391.png"/><Relationship Id="rId6" Type="http://schemas.openxmlformats.org/officeDocument/2006/relationships/image" Target="../media/image39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3.png"/><Relationship Id="rId3" Type="http://schemas.openxmlformats.org/officeDocument/2006/relationships/image" Target="../media/image394.png"/><Relationship Id="rId4" Type="http://schemas.openxmlformats.org/officeDocument/2006/relationships/image" Target="../media/image395.png"/><Relationship Id="rId5" Type="http://schemas.openxmlformats.org/officeDocument/2006/relationships/image" Target="../media/image396.png"/><Relationship Id="rId6" Type="http://schemas.openxmlformats.org/officeDocument/2006/relationships/image" Target="../media/image397.png"/><Relationship Id="rId7" Type="http://schemas.openxmlformats.org/officeDocument/2006/relationships/image" Target="../media/image398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Relationship Id="rId6" Type="http://schemas.openxmlformats.org/officeDocument/2006/relationships/image" Target="../media/image403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9.png"/><Relationship Id="rId3" Type="http://schemas.openxmlformats.org/officeDocument/2006/relationships/image" Target="../media/image400.png"/><Relationship Id="rId4" Type="http://schemas.openxmlformats.org/officeDocument/2006/relationships/image" Target="../media/image401.png"/><Relationship Id="rId5" Type="http://schemas.openxmlformats.org/officeDocument/2006/relationships/image" Target="../media/image402.png"/><Relationship Id="rId6" Type="http://schemas.openxmlformats.org/officeDocument/2006/relationships/image" Target="../media/image403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06.png"/><Relationship Id="rId4" Type="http://schemas.openxmlformats.org/officeDocument/2006/relationships/image" Target="../media/image407.png"/><Relationship Id="rId5" Type="http://schemas.openxmlformats.org/officeDocument/2006/relationships/image" Target="../media/image408.png"/><Relationship Id="rId6" Type="http://schemas.openxmlformats.org/officeDocument/2006/relationships/image" Target="../media/image409.png"/><Relationship Id="rId7" Type="http://schemas.openxmlformats.org/officeDocument/2006/relationships/image" Target="../media/image410.png"/><Relationship Id="rId8" Type="http://schemas.openxmlformats.org/officeDocument/2006/relationships/image" Target="../media/image41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2.png"/><Relationship Id="rId3" Type="http://schemas.openxmlformats.org/officeDocument/2006/relationships/image" Target="../media/image4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4.png"/><Relationship Id="rId3" Type="http://schemas.openxmlformats.org/officeDocument/2006/relationships/image" Target="../media/image415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Relationship Id="rId5" Type="http://schemas.openxmlformats.org/officeDocument/2006/relationships/image" Target="../media/image418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9.png"/><Relationship Id="rId3" Type="http://schemas.openxmlformats.org/officeDocument/2006/relationships/image" Target="../media/image420.png"/><Relationship Id="rId4" Type="http://schemas.openxmlformats.org/officeDocument/2006/relationships/image" Target="../media/image42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22.png"/><Relationship Id="rId4" Type="http://schemas.openxmlformats.org/officeDocument/2006/relationships/image" Target="../media/image423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24.png"/><Relationship Id="rId4" Type="http://schemas.openxmlformats.org/officeDocument/2006/relationships/image" Target="../media/image425.png"/><Relationship Id="rId5" Type="http://schemas.openxmlformats.org/officeDocument/2006/relationships/image" Target="../media/image426.png"/><Relationship Id="rId6" Type="http://schemas.openxmlformats.org/officeDocument/2006/relationships/image" Target="../media/image427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8.png"/><Relationship Id="rId3" Type="http://schemas.openxmlformats.org/officeDocument/2006/relationships/image" Target="../media/image429.png"/><Relationship Id="rId4" Type="http://schemas.openxmlformats.org/officeDocument/2006/relationships/image" Target="../media/image430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1.png"/><Relationship Id="rId3" Type="http://schemas.openxmlformats.org/officeDocument/2006/relationships/image" Target="../media/image432.png"/><Relationship Id="rId4" Type="http://schemas.openxmlformats.org/officeDocument/2006/relationships/image" Target="../media/image433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4.png"/><Relationship Id="rId3" Type="http://schemas.openxmlformats.org/officeDocument/2006/relationships/image" Target="../media/image435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6.png"/><Relationship Id="rId3" Type="http://schemas.openxmlformats.org/officeDocument/2006/relationships/image" Target="../media/image435.png"/><Relationship Id="rId4" Type="http://schemas.openxmlformats.org/officeDocument/2006/relationships/image" Target="../media/image437.png"/><Relationship Id="rId5" Type="http://schemas.openxmlformats.org/officeDocument/2006/relationships/image" Target="../media/image380.png"/><Relationship Id="rId6" Type="http://schemas.openxmlformats.org/officeDocument/2006/relationships/image" Target="../media/image438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4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5.png"/><Relationship Id="rId3" Type="http://schemas.openxmlformats.org/officeDocument/2006/relationships/image" Target="../media/image416.png"/><Relationship Id="rId4" Type="http://schemas.openxmlformats.org/officeDocument/2006/relationships/image" Target="../media/image417.png"/><Relationship Id="rId5" Type="http://schemas.openxmlformats.org/officeDocument/2006/relationships/image" Target="../media/image439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0.png"/><Relationship Id="rId3" Type="http://schemas.openxmlformats.org/officeDocument/2006/relationships/image" Target="../media/image44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2.png"/><Relationship Id="rId3" Type="http://schemas.openxmlformats.org/officeDocument/2006/relationships/image" Target="../media/image443.png"/><Relationship Id="rId4" Type="http://schemas.openxmlformats.org/officeDocument/2006/relationships/image" Target="../media/image444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5.png"/><Relationship Id="rId3" Type="http://schemas.openxmlformats.org/officeDocument/2006/relationships/image" Target="../media/image446.png"/><Relationship Id="rId4" Type="http://schemas.openxmlformats.org/officeDocument/2006/relationships/image" Target="../media/image447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8.png"/><Relationship Id="rId3" Type="http://schemas.openxmlformats.org/officeDocument/2006/relationships/image" Target="../media/image449.png"/><Relationship Id="rId4" Type="http://schemas.openxmlformats.org/officeDocument/2006/relationships/image" Target="../media/image447.png"/><Relationship Id="rId5" Type="http://schemas.openxmlformats.org/officeDocument/2006/relationships/image" Target="../media/image450.png"/><Relationship Id="rId6" Type="http://schemas.openxmlformats.org/officeDocument/2006/relationships/image" Target="../media/image45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2.png"/><Relationship Id="rId3" Type="http://schemas.openxmlformats.org/officeDocument/2006/relationships/image" Target="../media/image453.png"/><Relationship Id="rId4" Type="http://schemas.openxmlformats.org/officeDocument/2006/relationships/image" Target="../media/image454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5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6.png"/><Relationship Id="rId3" Type="http://schemas.openxmlformats.org/officeDocument/2006/relationships/image" Target="../media/image457.png"/><Relationship Id="rId4" Type="http://schemas.openxmlformats.org/officeDocument/2006/relationships/image" Target="../media/image458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9.png"/><Relationship Id="rId3" Type="http://schemas.openxmlformats.org/officeDocument/2006/relationships/image" Target="../media/image460.png"/><Relationship Id="rId4" Type="http://schemas.openxmlformats.org/officeDocument/2006/relationships/image" Target="../media/image461.png"/><Relationship Id="rId5" Type="http://schemas.openxmlformats.org/officeDocument/2006/relationships/image" Target="../media/image462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3.png"/><Relationship Id="rId3" Type="http://schemas.openxmlformats.org/officeDocument/2006/relationships/image" Target="../media/image460.png"/><Relationship Id="rId4" Type="http://schemas.openxmlformats.org/officeDocument/2006/relationships/image" Target="../media/image464.png"/><Relationship Id="rId5" Type="http://schemas.openxmlformats.org/officeDocument/2006/relationships/image" Target="../media/image465.png"/><Relationship Id="rId6" Type="http://schemas.openxmlformats.org/officeDocument/2006/relationships/image" Target="../media/image466.png"/><Relationship Id="rId7" Type="http://schemas.openxmlformats.org/officeDocument/2006/relationships/image" Target="../media/image467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8.png"/><Relationship Id="rId3" Type="http://schemas.openxmlformats.org/officeDocument/2006/relationships/image" Target="../media/image469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0.png"/><Relationship Id="rId3" Type="http://schemas.openxmlformats.org/officeDocument/2006/relationships/image" Target="../media/image471.png"/><Relationship Id="rId4" Type="http://schemas.openxmlformats.org/officeDocument/2006/relationships/image" Target="../media/image472.png"/><Relationship Id="rId5" Type="http://schemas.openxmlformats.org/officeDocument/2006/relationships/image" Target="../media/image473.png"/><Relationship Id="rId6" Type="http://schemas.openxmlformats.org/officeDocument/2006/relationships/image" Target="../media/image474.png"/><Relationship Id="rId7" Type="http://schemas.openxmlformats.org/officeDocument/2006/relationships/image" Target="../media/image475.png"/><Relationship Id="rId8" Type="http://schemas.openxmlformats.org/officeDocument/2006/relationships/image" Target="../media/image476.png"/><Relationship Id="rId9" Type="http://schemas.openxmlformats.org/officeDocument/2006/relationships/image" Target="../media/image477.png"/><Relationship Id="rId10" Type="http://schemas.openxmlformats.org/officeDocument/2006/relationships/image" Target="../media/image478.png"/><Relationship Id="rId11" Type="http://schemas.openxmlformats.org/officeDocument/2006/relationships/image" Target="../media/image479.png"/><Relationship Id="rId12" Type="http://schemas.openxmlformats.org/officeDocument/2006/relationships/image" Target="../media/image480.png"/><Relationship Id="rId13" Type="http://schemas.openxmlformats.org/officeDocument/2006/relationships/image" Target="../media/image481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78308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13969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610" b="1" i="0">
                <a:solidFill>
                  <a:srgbClr val="1A1A1A"/>
                </a:solidFill>
                <a:latin typeface="Lexend"/>
              </a:rPr>
              <a:t>Solving Problems with Rational Numbers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34670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42900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703320"/>
            <a:ext cx="106070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6B6B6B"/>
                </a:solidFill>
                <a:latin typeface="Lexend"/>
              </a:rPr>
              <a:t>Six lessons in teaching order  ·  the next slide jumps to each 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Contents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— Solving Problems with Rational Numbers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>
            <a:hlinkClick action="ppaction://hlinksldjump" r:id="rId2"/>
          </p:cNvPr>
          <p:cNvSpPr txBox="1"/>
          <p:nvPr/>
        </p:nvSpPr>
        <p:spPr>
          <a:xfrm>
            <a:off x="1143000" y="178308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4.01</a:t>
            </a:r>
          </a:p>
        </p:txBody>
      </p:sp>
      <p:sp>
        <p:nvSpPr>
          <p:cNvPr id="9" name="TextBox 8">
            <a:hlinkClick action="ppaction://hlinksldjump" r:id="rId2"/>
          </p:cNvPr>
          <p:cNvSpPr txBox="1"/>
          <p:nvPr/>
        </p:nvSpPr>
        <p:spPr>
          <a:xfrm>
            <a:off x="2560320" y="178308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sp>
        <p:nvSpPr>
          <p:cNvPr id="10" name="TextBox 9">
            <a:hlinkClick action="ppaction://hlinksldjump" r:id="rId2"/>
          </p:cNvPr>
          <p:cNvSpPr txBox="1"/>
          <p:nvPr/>
        </p:nvSpPr>
        <p:spPr>
          <a:xfrm>
            <a:off x="9555480" y="178308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143000" y="224028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hlinkClick action="ppaction://hlinksldjump" r:id="rId3"/>
          </p:cNvPr>
          <p:cNvSpPr txBox="1"/>
          <p:nvPr/>
        </p:nvSpPr>
        <p:spPr>
          <a:xfrm>
            <a:off x="1143000" y="2203704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4.02–03</a:t>
            </a:r>
          </a:p>
        </p:txBody>
      </p:sp>
      <p:sp>
        <p:nvSpPr>
          <p:cNvPr id="13" name="TextBox 12">
            <a:hlinkClick action="ppaction://hlinksldjump" r:id="rId3"/>
          </p:cNvPr>
          <p:cNvSpPr txBox="1"/>
          <p:nvPr/>
        </p:nvSpPr>
        <p:spPr>
          <a:xfrm>
            <a:off x="2560320" y="2203704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sp>
        <p:nvSpPr>
          <p:cNvPr id="14" name="TextBox 13">
            <a:hlinkClick action="ppaction://hlinksldjump" r:id="rId3"/>
          </p:cNvPr>
          <p:cNvSpPr txBox="1"/>
          <p:nvPr/>
        </p:nvSpPr>
        <p:spPr>
          <a:xfrm>
            <a:off x="9555480" y="2203704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38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43000" y="2660904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hlinkClick action="ppaction://hlinksldjump" r:id="rId4"/>
          </p:cNvPr>
          <p:cNvSpPr txBox="1"/>
          <p:nvPr/>
        </p:nvSpPr>
        <p:spPr>
          <a:xfrm>
            <a:off x="1143000" y="2624328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4.04</a:t>
            </a:r>
          </a:p>
        </p:txBody>
      </p:sp>
      <p:sp>
        <p:nvSpPr>
          <p:cNvPr id="17" name="TextBox 16">
            <a:hlinkClick action="ppaction://hlinksldjump" r:id="rId4"/>
          </p:cNvPr>
          <p:cNvSpPr txBox="1"/>
          <p:nvPr/>
        </p:nvSpPr>
        <p:spPr>
          <a:xfrm>
            <a:off x="2560320" y="2624328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sp>
        <p:nvSpPr>
          <p:cNvPr id="18" name="TextBox 17">
            <a:hlinkClick action="ppaction://hlinksldjump" r:id="rId4"/>
          </p:cNvPr>
          <p:cNvSpPr txBox="1"/>
          <p:nvPr/>
        </p:nvSpPr>
        <p:spPr>
          <a:xfrm>
            <a:off x="9555480" y="2624328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73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43000" y="3081528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hlinkClick action="ppaction://hlinksldjump" r:id="rId5"/>
          </p:cNvPr>
          <p:cNvSpPr txBox="1"/>
          <p:nvPr/>
        </p:nvSpPr>
        <p:spPr>
          <a:xfrm>
            <a:off x="1143000" y="3044952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4.05</a:t>
            </a:r>
          </a:p>
        </p:txBody>
      </p:sp>
      <p:sp>
        <p:nvSpPr>
          <p:cNvPr id="21" name="TextBox 20">
            <a:hlinkClick action="ppaction://hlinksldjump" r:id="rId5"/>
          </p:cNvPr>
          <p:cNvSpPr txBox="1"/>
          <p:nvPr/>
        </p:nvSpPr>
        <p:spPr>
          <a:xfrm>
            <a:off x="2560320" y="3044952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sp>
        <p:nvSpPr>
          <p:cNvPr id="22" name="TextBox 21">
            <a:hlinkClick action="ppaction://hlinksldjump" r:id="rId5"/>
          </p:cNvPr>
          <p:cNvSpPr txBox="1"/>
          <p:nvPr/>
        </p:nvSpPr>
        <p:spPr>
          <a:xfrm>
            <a:off x="9555480" y="3044952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108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43000" y="3502152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hlinkClick action="ppaction://hlinksldjump" r:id="rId6"/>
          </p:cNvPr>
          <p:cNvSpPr txBox="1"/>
          <p:nvPr/>
        </p:nvSpPr>
        <p:spPr>
          <a:xfrm>
            <a:off x="1143000" y="3465576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4.06</a:t>
            </a:r>
          </a:p>
        </p:txBody>
      </p:sp>
      <p:sp>
        <p:nvSpPr>
          <p:cNvPr id="25" name="TextBox 24">
            <a:hlinkClick action="ppaction://hlinksldjump" r:id="rId6"/>
          </p:cNvPr>
          <p:cNvSpPr txBox="1"/>
          <p:nvPr/>
        </p:nvSpPr>
        <p:spPr>
          <a:xfrm>
            <a:off x="2560320" y="3465576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sp>
        <p:nvSpPr>
          <p:cNvPr id="26" name="TextBox 25">
            <a:hlinkClick action="ppaction://hlinksldjump" r:id="rId6"/>
          </p:cNvPr>
          <p:cNvSpPr txBox="1"/>
          <p:nvPr/>
        </p:nvSpPr>
        <p:spPr>
          <a:xfrm>
            <a:off x="9555480" y="3465576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143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43000" y="3922776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hlinkClick action="ppaction://hlinksldjump" r:id="rId7"/>
          </p:cNvPr>
          <p:cNvSpPr txBox="1"/>
          <p:nvPr/>
        </p:nvSpPr>
        <p:spPr>
          <a:xfrm>
            <a:off x="1143000" y="3886200"/>
            <a:ext cx="132588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1" i="0">
                <a:solidFill>
                  <a:srgbClr val="1A1A1A"/>
                </a:solidFill>
                <a:latin typeface="Lexend"/>
              </a:rPr>
              <a:t>4.07–08</a:t>
            </a:r>
          </a:p>
        </p:txBody>
      </p:sp>
      <p:sp>
        <p:nvSpPr>
          <p:cNvPr id="29" name="TextBox 28">
            <a:hlinkClick action="ppaction://hlinksldjump" r:id="rId7"/>
          </p:cNvPr>
          <p:cNvSpPr txBox="1"/>
          <p:nvPr/>
        </p:nvSpPr>
        <p:spPr>
          <a:xfrm>
            <a:off x="2560320" y="3886200"/>
            <a:ext cx="69494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sp>
        <p:nvSpPr>
          <p:cNvPr id="30" name="TextBox 29">
            <a:hlinkClick action="ppaction://hlinksldjump" r:id="rId7"/>
          </p:cNvPr>
          <p:cNvSpPr txBox="1"/>
          <p:nvPr/>
        </p:nvSpPr>
        <p:spPr>
          <a:xfrm>
            <a:off x="9555480" y="3886200"/>
            <a:ext cx="1463040" cy="40233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610" b="0" i="0">
                <a:solidFill>
                  <a:srgbClr val="6B6B6B"/>
                </a:solidFill>
                <a:latin typeface="Lexend"/>
              </a:rPr>
              <a:t>slide 178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43000" y="4343400"/>
            <a:ext cx="9875519" cy="0"/>
          </a:xfrm>
          <a:prstGeom prst="line">
            <a:avLst/>
          </a:prstGeom>
          <a:ln w="635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add and subtract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0" name="Picture 9" descr="d51fbdb9eea8f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32274"/>
            <a:ext cx="856765" cy="2634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4340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2" name="Picture 11" descr="a8a2907cf3f34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3" y="2134647"/>
            <a:ext cx="863885" cy="261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980028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c5ba369a2497f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7272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17" name="Picture 16" descr="0438a9bb4c3d55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402663"/>
            <a:ext cx="1253109" cy="2183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5853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Write  0.00062  in scientific notation.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39214" y="1440180"/>
            <a:ext cx="16174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447021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times larger is  </a:t>
            </a:r>
          </a:p>
        </p:txBody>
      </p:sp>
      <p:pic>
        <p:nvPicPr>
          <p:cNvPr id="11" name="Picture 10" descr="d51fbdb9eea8fe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7574" y="2132274"/>
            <a:ext cx="856765" cy="26343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4340" y="2052828"/>
            <a:ext cx="1188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than  </a:t>
            </a:r>
          </a:p>
        </p:txBody>
      </p:sp>
      <p:pic>
        <p:nvPicPr>
          <p:cNvPr id="13" name="Picture 12" descr="a8a2907cf3f341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143" y="2134647"/>
            <a:ext cx="863885" cy="261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980028" y="2052828"/>
            <a:ext cx="443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34518" y="2052828"/>
            <a:ext cx="1085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4,000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7" name="Picture 16" descr="c5ba369a2497f72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709322"/>
            <a:ext cx="847272" cy="37261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63623" y="2665476"/>
            <a:ext cx="5365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278124"/>
            <a:ext cx="27738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sum:  </a:t>
            </a:r>
          </a:p>
        </p:txBody>
      </p:sp>
      <p:pic>
        <p:nvPicPr>
          <p:cNvPr id="20" name="Picture 19" descr="0438a9bb4c3d550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1197" y="3402663"/>
            <a:ext cx="1253109" cy="21834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12946" y="3278124"/>
            <a:ext cx="7909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1.69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scientific notation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30323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number written as </a:t>
            </a:r>
          </a:p>
        </p:txBody>
      </p:sp>
      <p:pic>
        <p:nvPicPr>
          <p:cNvPr id="10" name="Picture 9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202" y="1991803"/>
            <a:ext cx="844486" cy="21566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82689" y="1869550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11185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where </a:t>
            </a:r>
          </a:p>
        </p:txBody>
      </p:sp>
      <p:pic>
        <p:nvPicPr>
          <p:cNvPr id="13" name="Picture 12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363" y="2535459"/>
            <a:ext cx="152098" cy="15663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76462" y="2354182"/>
            <a:ext cx="47741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at least 1 and less than 10 and </a:t>
            </a:r>
          </a:p>
        </p:txBody>
      </p:sp>
      <p:pic>
        <p:nvPicPr>
          <p:cNvPr id="15" name="Picture 14" descr="f14fce7cf077cd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3403" y="2533188"/>
            <a:ext cx="131667" cy="15436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045070" y="2354182"/>
            <a:ext cx="198177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an integer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coefficient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3396200"/>
            <a:ext cx="16348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factor </a:t>
            </a:r>
          </a:p>
        </p:txBody>
      </p:sp>
      <p:pic>
        <p:nvPicPr>
          <p:cNvPr id="19" name="Picture 18" descr="658262df29b49a9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40665" y="3577477"/>
            <a:ext cx="152098" cy="15663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792763" y="3396200"/>
            <a:ext cx="61351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in </a:t>
            </a:r>
          </a:p>
        </p:txBody>
      </p:sp>
      <p:pic>
        <p:nvPicPr>
          <p:cNvPr id="21" name="Picture 20" descr="5c7736c1398d0b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9116" y="3518454"/>
            <a:ext cx="844486" cy="21566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113602" y="3396200"/>
            <a:ext cx="56882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. In a finished answer it always satisfies </a:t>
            </a:r>
          </a:p>
        </p:txBody>
      </p:sp>
      <p:pic>
        <p:nvPicPr>
          <p:cNvPr id="23" name="Picture 22" descr="bfdcfbaf2cf7af2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64700" y="3527534"/>
            <a:ext cx="1148683" cy="20658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77240" y="403170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common power of 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3000" y="4461079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matching power that two numbers are written over before they are added or subtracted — the place value they 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A power of ten is a place value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874520" y="1993392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1">
                          <a:solidFill>
                            <a:srgbClr val="1A1A1A"/>
                          </a:solidFill>
                          <a:latin typeface="Lexend"/>
                        </a:rPr>
                        <a:t>10</a:t>
                      </a:r>
                      <a:r>
                        <a:rPr sz="1520" b="1" baseline="30000">
                          <a:solidFill>
                            <a:srgbClr val="1A1A1A"/>
                          </a:solidFill>
                          <a:latin typeface="Lexend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20" b="0">
                          <a:solidFill>
                            <a:srgbClr val="1A1A1A"/>
                          </a:solidFill>
                          <a:latin typeface="Lexend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1" name="Picture 10" descr="864bf61ed56dcd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127" y="3240405"/>
            <a:ext cx="4779264" cy="350520"/>
          </a:xfrm>
          <a:prstGeom prst="rect">
            <a:avLst/>
          </a:prstGeom>
        </p:spPr>
      </p:pic>
      <p:pic>
        <p:nvPicPr>
          <p:cNvPr id="12" name="Picture 11" descr="2417d66e2dd592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9300" y="3986784"/>
            <a:ext cx="8122920" cy="3383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493776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cc98597e79ddba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8604" y="2194560"/>
            <a:ext cx="5544312" cy="414528"/>
          </a:xfrm>
          <a:prstGeom prst="rect">
            <a:avLst/>
          </a:prstGeom>
        </p:spPr>
      </p:pic>
      <p:pic>
        <p:nvPicPr>
          <p:cNvPr id="11" name="Picture 10" descr="a46e16cf656fad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5164" y="2993136"/>
            <a:ext cx="7251192" cy="4084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94411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67563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6f0baaf26a407df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8807" y="1993392"/>
            <a:ext cx="3803904" cy="408432"/>
          </a:xfrm>
          <a:prstGeom prst="rect">
            <a:avLst/>
          </a:prstGeom>
        </p:spPr>
      </p:pic>
      <p:pic>
        <p:nvPicPr>
          <p:cNvPr id="11" name="Picture 10" descr="4fc26d98a263c89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02052" y="2679192"/>
            <a:ext cx="6757416" cy="405384"/>
          </a:xfrm>
          <a:prstGeom prst="rect">
            <a:avLst/>
          </a:prstGeom>
        </p:spPr>
      </p:pic>
      <p:pic>
        <p:nvPicPr>
          <p:cNvPr id="12" name="Picture 11" descr="ae1a5a7207b817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9061" y="3399440"/>
            <a:ext cx="5247703" cy="35950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16765" y="3342132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83c5d338eb6c26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34189" y="3402123"/>
            <a:ext cx="1258268" cy="29779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11480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3218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b073017cb63050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03120"/>
            <a:ext cx="378561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9f41e57a08380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797296" cy="405384"/>
          </a:xfrm>
          <a:prstGeom prst="rect">
            <a:avLst/>
          </a:prstGeom>
        </p:spPr>
      </p:pic>
      <p:pic>
        <p:nvPicPr>
          <p:cNvPr id="9" name="Picture 8" descr="9886ab42ab881df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24072" cy="338328"/>
          </a:xfrm>
          <a:prstGeom prst="rect">
            <a:avLst/>
          </a:prstGeom>
        </p:spPr>
      </p:pic>
      <p:pic>
        <p:nvPicPr>
          <p:cNvPr id="10" name="Picture 9" descr="a3c2876c6f516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2592"/>
            <a:ext cx="2215896" cy="34747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4cde0a73e6462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9772" y="1600200"/>
            <a:ext cx="5141976" cy="50596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0908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6341fce2cb0bbc8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8248" y="1600200"/>
            <a:ext cx="5145024" cy="5090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21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Add.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5623" y="32015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1" name="Picture 10" descr="5b336a90532d52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11" y="3322398"/>
            <a:ext cx="2240184" cy="251364"/>
          </a:xfrm>
          <a:prstGeom prst="rect">
            <a:avLst/>
          </a:prstGeom>
        </p:spPr>
      </p:pic>
      <p:pic>
        <p:nvPicPr>
          <p:cNvPr id="12" name="Picture 11" descr="30762fde1252fc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90487" y="3809030"/>
            <a:ext cx="3486912" cy="3048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f4da8d69ae35f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014276d232b37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505200" cy="341376"/>
          </a:xfrm>
          <a:prstGeom prst="rect">
            <a:avLst/>
          </a:prstGeom>
        </p:spPr>
      </p:pic>
      <p:pic>
        <p:nvPicPr>
          <p:cNvPr id="9" name="Picture 8" descr="934206aface5fa5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35936"/>
            <a:ext cx="6050280" cy="414528"/>
          </a:xfrm>
          <a:prstGeom prst="rect">
            <a:avLst/>
          </a:prstGeom>
        </p:spPr>
      </p:pic>
      <p:pic>
        <p:nvPicPr>
          <p:cNvPr id="10" name="Picture 9" descr="5c58ea87206358f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5779008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6.85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1b8e06632cef40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9104" y="1600200"/>
            <a:ext cx="5163312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248bda730bf17b8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579" y="1600200"/>
            <a:ext cx="5166360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Subtract.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4513" y="3204574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5bc38d7f5f1bbf5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2309" y="3293156"/>
            <a:ext cx="2914697" cy="261366"/>
          </a:xfrm>
          <a:prstGeom prst="rect">
            <a:avLst/>
          </a:prstGeom>
        </p:spPr>
      </p:pic>
      <p:pic>
        <p:nvPicPr>
          <p:cNvPr id="12" name="Picture 11" descr="bd4649ecf62b8ad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9377" y="3845511"/>
            <a:ext cx="2069591" cy="213360"/>
          </a:xfrm>
          <a:prstGeom prst="rect">
            <a:avLst/>
          </a:prstGeom>
        </p:spPr>
      </p:pic>
      <p:pic>
        <p:nvPicPr>
          <p:cNvPr id="13" name="Picture 12" descr="fb181fe42321e2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69377" y="4305759"/>
            <a:ext cx="1362456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5.51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09fad54e403494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2524" y="2194560"/>
            <a:ext cx="3776472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2a3c75618fa7d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0999" y="2103120"/>
            <a:ext cx="3779520" cy="40538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1970" y="2839212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0" name="Picture 9" descr="375fe00662e453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2058" y="2960084"/>
            <a:ext cx="2030253" cy="251364"/>
          </a:xfrm>
          <a:prstGeom prst="rect">
            <a:avLst/>
          </a:prstGeom>
        </p:spPr>
      </p:pic>
      <p:pic>
        <p:nvPicPr>
          <p:cNvPr id="11" name="Picture 10" descr="b4ec2c46247ef0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96834" y="3446716"/>
            <a:ext cx="1246632" cy="30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22d45fd8e21928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27098"/>
            <a:ext cx="1176337" cy="27241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773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198fb6ef1993745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39746"/>
            <a:ext cx="1156525" cy="27241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7472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5791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stadium sold  </a:t>
            </a:r>
          </a:p>
        </p:txBody>
      </p:sp>
      <p:pic>
        <p:nvPicPr>
          <p:cNvPr id="9" name="Picture 8" descr="e7eb40717fc0f1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435" y="1924621"/>
            <a:ext cx="1176337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852773" y="1851660"/>
            <a:ext cx="28658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tickets on Friday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9536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 </a:t>
            </a:r>
          </a:p>
        </p:txBody>
      </p:sp>
      <p:pic>
        <p:nvPicPr>
          <p:cNvPr id="12" name="Picture 11" descr="fbd1eec05c786fa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0946" y="2537269"/>
            <a:ext cx="1159002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209948" y="2464308"/>
            <a:ext cx="6284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on Saturday. Each ticket cost 38 dollars.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tickets were sold on the two days?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29540" y="3734926"/>
            <a:ext cx="59872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Same power, so add the fronts:  </a:t>
            </a:r>
          </a:p>
        </p:txBody>
      </p:sp>
      <p:pic>
        <p:nvPicPr>
          <p:cNvPr id="16" name="Picture 15" descr="806e43a7c385a4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628" y="3855798"/>
            <a:ext cx="2052351" cy="251364"/>
          </a:xfrm>
          <a:prstGeom prst="rect">
            <a:avLst/>
          </a:prstGeom>
        </p:spPr>
      </p:pic>
      <p:pic>
        <p:nvPicPr>
          <p:cNvPr id="17" name="Picture 16" descr="3665917b6f2092c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4404" y="4342430"/>
            <a:ext cx="1271016" cy="3048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4592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9a1c5b83d56645e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7304" y="2194560"/>
            <a:ext cx="348691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b4e4dff994d3b29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780" y="2103120"/>
            <a:ext cx="3489960" cy="414528"/>
          </a:xfrm>
          <a:prstGeom prst="rect">
            <a:avLst/>
          </a:prstGeom>
        </p:spPr>
      </p:pic>
      <p:pic>
        <p:nvPicPr>
          <p:cNvPr id="9" name="Picture 8" descr="74a99bec27e47ca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1435" y="2962084"/>
            <a:ext cx="1365504" cy="252984"/>
          </a:xfrm>
          <a:prstGeom prst="rect">
            <a:avLst/>
          </a:prstGeom>
        </p:spPr>
      </p:pic>
      <p:pic>
        <p:nvPicPr>
          <p:cNvPr id="10" name="Picture 9" descr="3dc41426a2cb472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31435" y="3446716"/>
            <a:ext cx="3008376" cy="3078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1e4655248ebd17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6c08936514ac2e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1188" y="2103120"/>
            <a:ext cx="3819144" cy="408432"/>
          </a:xfrm>
          <a:prstGeom prst="rect">
            <a:avLst/>
          </a:prstGeom>
        </p:spPr>
      </p:pic>
      <p:pic>
        <p:nvPicPr>
          <p:cNvPr id="9" name="Picture 8" descr="428101046aa75a5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8887" y="2955988"/>
            <a:ext cx="2084831" cy="256032"/>
          </a:xfrm>
          <a:prstGeom prst="rect">
            <a:avLst/>
          </a:prstGeom>
        </p:spPr>
      </p:pic>
      <p:pic>
        <p:nvPicPr>
          <p:cNvPr id="10" name="Picture 9" descr="e9dcbdc19c34f04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18887" y="3446716"/>
            <a:ext cx="2639568" cy="3048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458ce47e03352da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8620" y="2194560"/>
            <a:ext cx="3764279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3.9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2.316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2.46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0a5ae3f69ac2c6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2103120"/>
            <a:ext cx="3767328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3355" y="3417139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1" name="Picture 10" descr="38a98cc775ba9a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151" y="3505721"/>
            <a:ext cx="2777013" cy="261366"/>
          </a:xfrm>
          <a:prstGeom prst="rect">
            <a:avLst/>
          </a:prstGeom>
        </p:spPr>
      </p:pic>
      <p:pic>
        <p:nvPicPr>
          <p:cNvPr id="12" name="Picture 11" descr="121dee4f34127b1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8219" y="4058076"/>
            <a:ext cx="2365248" cy="213360"/>
          </a:xfrm>
          <a:prstGeom prst="rect">
            <a:avLst/>
          </a:prstGeom>
        </p:spPr>
      </p:pic>
      <p:pic>
        <p:nvPicPr>
          <p:cNvPr id="13" name="Picture 12" descr="d9fd5fe20052fef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38219" y="4512228"/>
            <a:ext cx="1377696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2.316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c56988b1bd43427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6428" y="2194560"/>
            <a:ext cx="3788664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12.3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1.23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9def6d28be26225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4903" y="2103120"/>
            <a:ext cx="3791712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sum, written in scientific notation?</a:t>
            </a:r>
          </a:p>
        </p:txBody>
      </p:sp>
      <p:pic>
        <p:nvPicPr>
          <p:cNvPr id="10" name="Picture 9" descr="7a92f566b3dc9a9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0851" y="3536963"/>
            <a:ext cx="2209800" cy="252984"/>
          </a:xfrm>
          <a:prstGeom prst="rect">
            <a:avLst/>
          </a:prstGeom>
        </p:spPr>
      </p:pic>
      <p:pic>
        <p:nvPicPr>
          <p:cNvPr id="11" name="Picture 10" descr="4253edb8e6cb150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0851" y="4021595"/>
            <a:ext cx="3209544" cy="30784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1.23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8364ffedb5ab9d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6408" y="2194560"/>
            <a:ext cx="4108704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95877dd6e3ac64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4883" y="2103120"/>
            <a:ext cx="411175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121513" y="2839212"/>
            <a:ext cx="31549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Match the powers:  </a:t>
            </a:r>
          </a:p>
        </p:txBody>
      </p:sp>
      <p:pic>
        <p:nvPicPr>
          <p:cNvPr id="10" name="Picture 9" descr="6ede306f727ce1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39310" y="2927794"/>
            <a:ext cx="2903029" cy="261366"/>
          </a:xfrm>
          <a:prstGeom prst="rect">
            <a:avLst/>
          </a:prstGeom>
        </p:spPr>
      </p:pic>
      <p:pic>
        <p:nvPicPr>
          <p:cNvPr id="11" name="Picture 10" descr="40578aa67f396b1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6377" y="3480149"/>
            <a:ext cx="2066543" cy="213360"/>
          </a:xfrm>
          <a:prstGeom prst="rect">
            <a:avLst/>
          </a:prstGeom>
        </p:spPr>
      </p:pic>
      <p:pic>
        <p:nvPicPr>
          <p:cNvPr id="12" name="Picture 11" descr="859794e45c118a3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6377" y="3934301"/>
            <a:ext cx="1331976" cy="2621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7.16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f6d6560049ba7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20795" y="2194560"/>
            <a:ext cx="551992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2857500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031998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2857500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a7b6204384889c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9272" y="2103120"/>
            <a:ext cx="552297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2769107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2943605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2769107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pic>
        <p:nvPicPr>
          <p:cNvPr id="12" name="Picture 11" descr="af0a0edef72ddd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03" y="3617309"/>
            <a:ext cx="2761488" cy="262128"/>
          </a:xfrm>
          <a:prstGeom prst="rect">
            <a:avLst/>
          </a:prstGeom>
        </p:spPr>
      </p:pic>
      <p:pic>
        <p:nvPicPr>
          <p:cNvPr id="13" name="Picture 12" descr="e0b2ab7a4c26bc0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6403" y="4168997"/>
            <a:ext cx="1694688" cy="213360"/>
          </a:xfrm>
          <a:prstGeom prst="rect">
            <a:avLst/>
          </a:prstGeom>
        </p:spPr>
      </p:pic>
      <p:pic>
        <p:nvPicPr>
          <p:cNvPr id="14" name="Picture 13" descr="1dcdac54ad1451b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6403" y="4671917"/>
            <a:ext cx="2353056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1054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5.7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3065" y="2171700"/>
            <a:ext cx="2314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0a7a4307a87a1af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0841" y="2242185"/>
            <a:ext cx="4534471" cy="3318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65312" y="21717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51827" y="2080260"/>
            <a:ext cx="23149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Devon writes  </a:t>
            </a:r>
          </a:p>
        </p:txBody>
      </p:sp>
      <p:pic>
        <p:nvPicPr>
          <p:cNvPr id="9" name="Picture 8" descr="595d18b76e1d00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603" y="2145792"/>
            <a:ext cx="4536948" cy="33680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66551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Name the two mistakes he made, and give the correct sum.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54232" y="3414091"/>
            <a:ext cx="87902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powers do not match, and exponents are not added.</a:t>
            </a:r>
          </a:p>
        </p:txBody>
      </p:sp>
      <p:pic>
        <p:nvPicPr>
          <p:cNvPr id="13" name="Picture 12" descr="afb9dc22174bd3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9096" y="4006260"/>
            <a:ext cx="2773680" cy="262128"/>
          </a:xfrm>
          <a:prstGeom prst="rect">
            <a:avLst/>
          </a:prstGeom>
        </p:spPr>
      </p:pic>
      <p:pic>
        <p:nvPicPr>
          <p:cNvPr id="14" name="Picture 13" descr="e099433ce822c8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096" y="4555186"/>
            <a:ext cx="2377963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187060" y="4419931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447aa636a4e8a62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12985" y="4510847"/>
            <a:ext cx="1400175" cy="2590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6.619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bb51b7cdaedca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7527"/>
            <a:ext cx="3066288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da4b5382fbcdf2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53411"/>
            <a:ext cx="330403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95d8ded1b0db29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7771"/>
            <a:ext cx="3063240" cy="3291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2781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0bd66daf20240d1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40607"/>
            <a:ext cx="3060192" cy="3322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38724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ca328e324458575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3933444"/>
            <a:ext cx="337413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466844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466844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461162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4466844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4634cfd84477cb3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4527804"/>
            <a:ext cx="4541520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7045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56805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a52f8f8855a86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77035" cy="61943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873430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17277"/>
            <a:ext cx="806926" cy="37261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42589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960b9ab8e07f4c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08938"/>
            <a:ext cx="431942" cy="524502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7045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56805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a52f8f8855a860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77035" cy="61943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41587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873430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f8833b322411a1a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17277"/>
            <a:ext cx="806926" cy="37261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23277" y="2873430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42589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960b9ab8e07f4c1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08938"/>
            <a:ext cx="431942" cy="52450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01200" y="3486078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product of powers law</a:t>
            </a:r>
          </a:p>
        </p:txBody>
      </p:sp>
      <p:pic>
        <p:nvPicPr>
          <p:cNvPr id="9" name="Picture 8" descr="50a410785dbdd9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1991803"/>
            <a:ext cx="2186130" cy="21566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329130" y="1869550"/>
            <a:ext cx="30076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the law from 3.01,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54182"/>
            <a:ext cx="57641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now doing the work on the powers of 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quotient of powers law</a:t>
            </a:r>
          </a:p>
        </p:txBody>
      </p:sp>
      <p:pic>
        <p:nvPicPr>
          <p:cNvPr id="13" name="Picture 12" descr="5b8488cf2680dc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3419060"/>
            <a:ext cx="1620869" cy="52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763869" y="3451525"/>
            <a:ext cx="44544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— top minus bottom, from 3.02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14235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regrouping a product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548868"/>
            <a:ext cx="82517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using the commutative and associative properties to write </a:t>
            </a:r>
          </a:p>
        </p:txBody>
      </p:sp>
      <p:pic>
        <p:nvPicPr>
          <p:cNvPr id="17" name="Picture 16" descr="030f336ef028bc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7622" y="4634799"/>
            <a:ext cx="2093055" cy="30192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43000" y="5033500"/>
            <a:ext cx="6019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as </a:t>
            </a:r>
          </a:p>
        </p:txBody>
      </p:sp>
      <p:pic>
        <p:nvPicPr>
          <p:cNvPr id="19" name="Picture 18" descr="b19aa5f8730d723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7812" y="5119431"/>
            <a:ext cx="1956847" cy="301926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2194560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5873" y="3027584"/>
            <a:ext cx="968517" cy="30048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04391" y="2970276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935" y="3027584"/>
            <a:ext cx="1110710" cy="3004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944112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2194560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377184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71220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2194560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993136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334256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3120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3291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ea6a661eb9c799b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480" y="3342163"/>
            <a:ext cx="1414176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3291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65dec0c199cc01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1648" y="3796076"/>
            <a:ext cx="1976580" cy="261366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8155" y="4302711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508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088335619175ea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702" y="3901375"/>
            <a:ext cx="1201816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6519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9063011fd4a202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9408" y="3857036"/>
            <a:ext cx="1960244" cy="26136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508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e6738f5137934c1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478" y="4408963"/>
            <a:ext cx="1211151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6630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0ffcd1c9127d2ea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19519" y="4359956"/>
            <a:ext cx="2009251" cy="261366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947" y="4860495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4560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4294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66ed94db7950c1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483" y="2977514"/>
            <a:ext cx="991790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4294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4e53ca6ef94821c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650" y="3433762"/>
            <a:ext cx="1934575" cy="261366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9158" y="3934301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06cea9a990494b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24621"/>
            <a:ext cx="911351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ba28393e900a87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34793"/>
            <a:ext cx="1136713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60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7d5296eed19f353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24621"/>
            <a:ext cx="913828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6620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9d812d5ce25c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34793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107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4466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13f318c4be7054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7656" y="3872515"/>
            <a:ext cx="1416510" cy="212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4466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978c2af6aaa0f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2823" y="4326428"/>
            <a:ext cx="1834229" cy="261366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9330" y="4826967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5559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2afa0ecaaccf2cf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9997" y="3358515"/>
            <a:ext cx="1481851" cy="2146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5559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effc1051f2cab5f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2060" y="3817096"/>
            <a:ext cx="1873900" cy="259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60423" y="4321397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91211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873dff747dac94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5649" y="3360848"/>
            <a:ext cx="1869233" cy="21235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91211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bb59bb17419b6b4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712" y="3814762"/>
            <a:ext cx="2104929" cy="261366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6075" y="4324445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4560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845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8d09ea86a99343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649" y="3554727"/>
            <a:ext cx="1022127" cy="21002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845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65dc7db8ffa94a6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816" y="4008641"/>
            <a:ext cx="1946243" cy="261366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3323" y="4509180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4560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133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85e851d4ab26f9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322" y="3554727"/>
            <a:ext cx="1199483" cy="21235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133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0bfdc3409913d16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490" y="4008641"/>
            <a:ext cx="1838896" cy="261366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6997" y="4509180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59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896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f8e310da8c2a7a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3401" y="3364611"/>
            <a:ext cx="996457" cy="2100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896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ff9e89295ad61d4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464" y="3820858"/>
            <a:ext cx="3407092" cy="261366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827" y="4321397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3241548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416046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3241548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288069" y="3150108"/>
            <a:ext cx="32629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3872" y="3324606"/>
            <a:ext cx="143637" cy="16840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557509" y="3150108"/>
            <a:ext cx="4531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1888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775bb7f5e11f761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4799" y="4029932"/>
            <a:ext cx="1831371" cy="2513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6170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99f2245ca8eda25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7243" y="4029932"/>
            <a:ext cx="2345150" cy="2513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1888" y="4603289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973861c4e17ee29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6232" y="4471416"/>
            <a:ext cx="3002565" cy="72094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95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7813" y="1741741"/>
            <a:ext cx="87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5488" y="1645920"/>
            <a:ext cx="1263014" cy="6488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8503" y="1741741"/>
            <a:ext cx="26109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2322" y="1814703"/>
            <a:ext cx="1171384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81515" y="2546223"/>
            <a:ext cx="272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4639" y="2616708"/>
            <a:ext cx="1015365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254883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59051" y="1741741"/>
            <a:ext cx="87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6726" y="1645920"/>
            <a:ext cx="1258062" cy="64884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254788" y="1741741"/>
            <a:ext cx="261097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8607" y="1814703"/>
            <a:ext cx="1173861" cy="27489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80277" y="2546223"/>
            <a:ext cx="2720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63400" y="2616708"/>
            <a:ext cx="1017841" cy="2773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254883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826383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9b1aa9fd86bde0f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466891"/>
            <a:ext cx="1493520" cy="2123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69120" y="4329303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6cba3e2ec22eaa9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2009" y="4417885"/>
            <a:ext cx="1967245" cy="261366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4924520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40372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Problems and Significant Digits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solve a real-world problem with numbers in scientific notation and report the answer with the right number of significant digits.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9693"/>
            <a:ext cx="3057144" cy="3322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9ef93e9422ec80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2417064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74625" y="1440180"/>
            <a:ext cx="14403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872c396e107e43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119693"/>
            <a:ext cx="3057144" cy="3322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28843" y="2052828"/>
            <a:ext cx="16123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5.89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665476"/>
            <a:ext cx="58599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Write  0.00902  in scientific notation.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45958" y="2665476"/>
            <a:ext cx="18000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9.02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63019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Round  4.738  to the nearest hundredth.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87924" y="3278124"/>
            <a:ext cx="8306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4.74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56629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the digits of a measurement that carry information: every nonzero digit, every zero between nonzero digits, and a trailing zero only when a decimal point is written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09990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leading zero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203580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zero before the first nonzero digit. 0.0047 has two leading zeros and two significant digits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56941"/>
            <a:ext cx="1060704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1" i="0">
                <a:solidFill>
                  <a:srgbClr val="0B5394"/>
                </a:solidFill>
                <a:latin typeface="Lexend"/>
              </a:rPr>
              <a:t>measurement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550531"/>
            <a:ext cx="10241280" cy="715617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Lexend"/>
              </a:rPr>
              <a:t>a quantity that was measured, so its last digit is uncertain. A count is not a measurement — 24 students is exactly 24, and 60 seconds in a minute is exact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Which digits are significant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285999" y="1993392"/>
          <a:ext cx="758952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188720"/>
                <a:gridCol w="4389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Measurement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Digits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Why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4,207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middle zero counts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0.0058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leading zeros never count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3.200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trailing zeros count after a decimal point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52,000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no decimal point, so they do not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Multiplying or dividing: count the digits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7e6ff835d857c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1716" y="2194560"/>
            <a:ext cx="6038088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26336" y="2967228"/>
            <a:ext cx="82333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2 significant digits and 3, so the answer keeps 2:   </a:t>
            </a:r>
          </a:p>
        </p:txBody>
      </p:sp>
      <p:pic>
        <p:nvPicPr>
          <p:cNvPr id="12" name="Picture 11" descr="723af09f9a41839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2524" y="3029902"/>
            <a:ext cx="1212659" cy="2951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9410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or divide: the answer takes the smaller of the two significant-digit counts.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Adding or subtracting: a different rule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ac84020e548be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243709"/>
            <a:ext cx="338328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20000" y="2967228"/>
            <a:ext cx="86586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1,234 stops at the ones place;  5.6 stops at the tenths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8092" y="3762756"/>
            <a:ext cx="61149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so the sum stops at the ones place:   </a:t>
            </a:r>
          </a:p>
        </p:txBody>
      </p:sp>
      <p:pic>
        <p:nvPicPr>
          <p:cNvPr id="13" name="Picture 12" descr="40647922f9acd2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75919" y="3820064"/>
            <a:ext cx="2787507" cy="35682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3659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Add or subtract: the answer stops at the leftmost of the two last-digit places.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2728" y="1714500"/>
            <a:ext cx="3819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solar array measures  </a:t>
            </a:r>
          </a:p>
        </p:txBody>
      </p:sp>
      <p:pic>
        <p:nvPicPr>
          <p:cNvPr id="9" name="Picture 8" descr="ff2cbfe6b6afaa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5347" y="1784985"/>
            <a:ext cx="1280350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25697" y="171450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a26922bd492b4c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764" y="1784985"/>
            <a:ext cx="1124331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401095" y="171450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4231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4513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to the correct number of significant digits.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d7b7c5abadb0c1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151120" cy="411480"/>
          </a:xfrm>
          <a:prstGeom prst="rect">
            <a:avLst/>
          </a:prstGeom>
        </p:spPr>
      </p:pic>
      <p:pic>
        <p:nvPicPr>
          <p:cNvPr id="9" name="Picture 8" descr="a08d6ab77e17239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248400" cy="387096"/>
          </a:xfrm>
          <a:prstGeom prst="rect">
            <a:avLst/>
          </a:prstGeom>
        </p:spPr>
      </p:pic>
      <p:pic>
        <p:nvPicPr>
          <p:cNvPr id="10" name="Picture 9" descr="a93125fbd09b82b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67456"/>
            <a:ext cx="4462272" cy="4053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3353" y="1577340"/>
            <a:ext cx="2856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44c2bf593fa0248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2809" y="1647825"/>
            <a:ext cx="116395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6764" y="157734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14b23867f6fdf4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7830" y="1647825"/>
            <a:ext cx="1302639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50469" y="157734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12115" y="1577340"/>
            <a:ext cx="28566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field measures  </a:t>
            </a:r>
          </a:p>
        </p:txBody>
      </p:sp>
      <p:pic>
        <p:nvPicPr>
          <p:cNvPr id="9" name="Picture 8" descr="87a1fbfe2ae1b81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1570" y="1647825"/>
            <a:ext cx="116395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95525" y="157734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f5dd2a15c5c66d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6592" y="1647825"/>
            <a:ext cx="1305115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951707" y="157734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2860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What is its area?</a:t>
            </a:r>
          </a:p>
        </p:txBody>
      </p:sp>
      <p:pic>
        <p:nvPicPr>
          <p:cNvPr id="14" name="Picture 13" descr="df377020efabce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68481" y="3010645"/>
            <a:ext cx="2186606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955087" y="287539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1f20c58a7a5bfe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976" y="2963972"/>
            <a:ext cx="1855231" cy="261366"/>
          </a:xfrm>
          <a:prstGeom prst="rect">
            <a:avLst/>
          </a:prstGeom>
        </p:spPr>
      </p:pic>
      <p:pic>
        <p:nvPicPr>
          <p:cNvPr id="17" name="Picture 16" descr="c8c5f1b26c2cdc8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8481" y="3467559"/>
            <a:ext cx="275844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713617" y="3881230"/>
            <a:ext cx="58493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(4.6 has 2):   </a:t>
            </a:r>
          </a:p>
        </p:txBody>
      </p:sp>
      <p:pic>
        <p:nvPicPr>
          <p:cNvPr id="19" name="Picture 18" descr="0fcaf31c9964322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5774" y="3974480"/>
            <a:ext cx="1022127" cy="2566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97036" y="1714500"/>
            <a:ext cx="29736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container holds  </a:t>
            </a:r>
          </a:p>
        </p:txBody>
      </p:sp>
      <p:pic>
        <p:nvPicPr>
          <p:cNvPr id="9" name="Picture 8" descr="14e0b9b3df93fb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3490" y="1787461"/>
            <a:ext cx="1448752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2242" y="1714500"/>
            <a:ext cx="32194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cubic feet of liquid.</a:t>
            </a:r>
          </a:p>
        </p:txBody>
      </p:sp>
      <p:pic>
        <p:nvPicPr>
          <p:cNvPr id="11" name="Picture 10" descr="a3b236c4480db3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93001" y="2475738"/>
            <a:ext cx="1624584" cy="27241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17585" y="2400300"/>
            <a:ext cx="368809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cubic feet evaporates.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918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How much is left? Give the answer with the correct precision.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7330ec204f7748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358128" cy="280416"/>
          </a:xfrm>
          <a:prstGeom prst="rect">
            <a:avLst/>
          </a:prstGeom>
        </p:spPr>
      </p:pic>
      <p:pic>
        <p:nvPicPr>
          <p:cNvPr id="9" name="Picture 8" descr="bb89500147edd4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474976"/>
            <a:ext cx="3895344" cy="417576"/>
          </a:xfrm>
          <a:prstGeom prst="rect">
            <a:avLst/>
          </a:prstGeom>
        </p:spPr>
      </p:pic>
      <p:pic>
        <p:nvPicPr>
          <p:cNvPr id="10" name="Picture 9" descr="675b2dce7029d49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6871"/>
            <a:ext cx="6041136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cubic feet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8573" y="1577340"/>
            <a:ext cx="1695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08a04405287c787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7235" y="1650301"/>
            <a:ext cx="1317498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4733" y="1577340"/>
            <a:ext cx="1465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4202" y="2263140"/>
            <a:ext cx="1748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5e32de29ecd0922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5669" y="2333625"/>
            <a:ext cx="1322451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8120" y="2263140"/>
            <a:ext cx="3096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335" y="1577340"/>
            <a:ext cx="1695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road is  </a:t>
            </a:r>
          </a:p>
        </p:txBody>
      </p:sp>
      <p:pic>
        <p:nvPicPr>
          <p:cNvPr id="9" name="Picture 8" descr="c2efbce8eea1c4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997" y="1650301"/>
            <a:ext cx="1319974" cy="27489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5972" y="1577340"/>
            <a:ext cx="146537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32964" y="2263140"/>
            <a:ext cx="17486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section  </a:t>
            </a:r>
          </a:p>
        </p:txBody>
      </p:sp>
      <p:pic>
        <p:nvPicPr>
          <p:cNvPr id="12" name="Picture 11" descr="56a45577f708deb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4431" y="2333625"/>
            <a:ext cx="1324927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69358" y="2263140"/>
            <a:ext cx="30963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long is repaved.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9718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How much of the road is not repaved?</a:t>
            </a:r>
          </a:p>
        </p:txBody>
      </p:sp>
      <p:pic>
        <p:nvPicPr>
          <p:cNvPr id="15" name="Picture 14" descr="df3a7677f047d40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0235" y="3693111"/>
            <a:ext cx="2529840" cy="26822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055371" y="4064110"/>
            <a:ext cx="8187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3,850 stops at the tens place, so round to tens:  3,580</a:t>
            </a:r>
          </a:p>
        </p:txBody>
      </p:sp>
      <p:pic>
        <p:nvPicPr>
          <p:cNvPr id="17" name="Picture 16" descr="e2ff5572229200e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0235" y="4656279"/>
            <a:ext cx="2270760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13853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3.58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0.00470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40987" y="2728291"/>
            <a:ext cx="52306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40987" y="3231211"/>
            <a:ext cx="7016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4, 7 and the final 0 count:  3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a7946796b3d2e7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22145"/>
            <a:ext cx="1124331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8665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a6a6c57be53ee6d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9731" y="1922145"/>
            <a:ext cx="1129284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69015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43670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pond's surface measures  </a:t>
            </a:r>
          </a:p>
        </p:txBody>
      </p:sp>
      <p:pic>
        <p:nvPicPr>
          <p:cNvPr id="9" name="Picture 8" descr="21b219ba43567f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4334" y="1922145"/>
            <a:ext cx="1126807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91141" y="1851660"/>
            <a:ext cx="12882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1" name="Picture 10" descr="046ade4f82d7b81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2208" y="1922145"/>
            <a:ext cx="1129284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71492" y="1851660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The pond is 3 meters deep.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26266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the surface area. Round to the correct number of significant digits.</a:t>
            </a:r>
          </a:p>
        </p:txBody>
      </p:sp>
      <p:pic>
        <p:nvPicPr>
          <p:cNvPr id="15" name="Picture 14" descr="44e63c88951851e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3001" y="4226002"/>
            <a:ext cx="1822561" cy="21469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95562" y="4090747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de20136ea86b668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78451" y="4179329"/>
            <a:ext cx="1827228" cy="261366"/>
          </a:xfrm>
          <a:prstGeom prst="rect">
            <a:avLst/>
          </a:prstGeom>
        </p:spPr>
      </p:pic>
      <p:pic>
        <p:nvPicPr>
          <p:cNvPr id="18" name="Picture 17" descr="ca43b17f8102147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73001" y="4682916"/>
            <a:ext cx="2362200" cy="31089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518137" y="5096587"/>
            <a:ext cx="4209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digits:   </a:t>
            </a:r>
          </a:p>
        </p:txBody>
      </p:sp>
      <p:pic>
        <p:nvPicPr>
          <p:cNvPr id="20" name="Picture 19" descr="dbc7cf508525fbf8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590917" y="5187503"/>
            <a:ext cx="1054798" cy="259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77240" y="566808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4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square meters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3417" y="2692908"/>
            <a:ext cx="6439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f5a6805642b36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12" y="2768346"/>
            <a:ext cx="1649349" cy="2724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84961" y="269290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015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Two measurements are multiplied. One has 3 significant digits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33417" y="2601468"/>
            <a:ext cx="64393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and the other has 5. The exact product is  </a:t>
            </a:r>
          </a:p>
        </p:txBody>
      </p:sp>
      <p:pic>
        <p:nvPicPr>
          <p:cNvPr id="10" name="Picture 9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612" y="2676906"/>
            <a:ext cx="1649349" cy="272415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984961" y="2601468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101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should the answer be written?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6369" y="3935299"/>
            <a:ext cx="86459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answer keeps the smaller count: 3 significant digits.</a:t>
            </a:r>
          </a:p>
        </p:txBody>
      </p:sp>
      <p:pic>
        <p:nvPicPr>
          <p:cNvPr id="14" name="Picture 13" descr="b41e0e74d053423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1233" y="4531469"/>
            <a:ext cx="1554194" cy="25669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435428" y="4438219"/>
            <a:ext cx="2100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becomes   </a:t>
            </a:r>
          </a:p>
        </p:txBody>
      </p:sp>
      <p:pic>
        <p:nvPicPr>
          <p:cNvPr id="16" name="Picture 15" descr="04bd18778892b9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8489" y="4531469"/>
            <a:ext cx="1227486" cy="25669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097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7.41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c7912e820c52de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8529" y="2239708"/>
            <a:ext cx="3236785" cy="334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5314" y="2171700"/>
            <a:ext cx="398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d295e21d6a5af5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7291" y="2148268"/>
            <a:ext cx="3239262" cy="3343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76553" y="2080260"/>
            <a:ext cx="398483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 meters, both measured.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Write the sum with the correct precision.</a:t>
            </a:r>
          </a:p>
        </p:txBody>
      </p:sp>
      <p:pic>
        <p:nvPicPr>
          <p:cNvPr id="11" name="Picture 10" descr="9677988c74c08a0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422" y="3546012"/>
            <a:ext cx="2499360" cy="2682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63558" y="3917011"/>
            <a:ext cx="977156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2,500 stops at the hundreds place, so round to hundreds:  3,000</a:t>
            </a:r>
          </a:p>
        </p:txBody>
      </p:sp>
      <p:pic>
        <p:nvPicPr>
          <p:cNvPr id="13" name="Picture 12" descr="1b2a94b567e4496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422" y="4509180"/>
            <a:ext cx="2130552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8608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525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How many significant digits are in  0.03080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54399" y="2728291"/>
            <a:ext cx="504046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Leading zeros do not count:  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4399" y="3231211"/>
            <a:ext cx="7389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3, 0, 8 and the final 0 count:  4 significant digits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2817" y="2171700"/>
            <a:ext cx="360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bdf46868d006cd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5118" y="2242185"/>
            <a:ext cx="1154049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89167" y="2171700"/>
            <a:ext cx="14524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4ada1bcfda5f9a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4441" y="2242185"/>
            <a:ext cx="1332357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36798" y="2171700"/>
            <a:ext cx="899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26.1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4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2.61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5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cm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61578" y="2080260"/>
            <a:ext cx="360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9" name="Picture 8" descr="1aaeee8bfa6e8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33880" y="2150745"/>
            <a:ext cx="115652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690406" y="2080260"/>
            <a:ext cx="14524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 by  </a:t>
            </a:r>
          </a:p>
        </p:txBody>
      </p:sp>
      <p:pic>
        <p:nvPicPr>
          <p:cNvPr id="11" name="Picture 10" descr="ba0b2a6dbe833f8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5679" y="2150745"/>
            <a:ext cx="1332357" cy="2773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338036" y="2080260"/>
            <a:ext cx="8990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area, to the correct significant digits?</a:t>
            </a:r>
          </a:p>
        </p:txBody>
      </p:sp>
      <p:pic>
        <p:nvPicPr>
          <p:cNvPr id="14" name="Picture 13" descr="bbac96af5f9ecf7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8360" y="3549346"/>
            <a:ext cx="2030253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78613" y="3414091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6" name="Picture 15" descr="1f20c58a7a5bfe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1502" y="3502673"/>
            <a:ext cx="1855231" cy="261366"/>
          </a:xfrm>
          <a:prstGeom prst="rect">
            <a:avLst/>
          </a:prstGeom>
        </p:spPr>
      </p:pic>
      <p:pic>
        <p:nvPicPr>
          <p:cNvPr id="17" name="Picture 16" descr="35eed8d154d098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8360" y="4006260"/>
            <a:ext cx="2602992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93496" y="4419931"/>
            <a:ext cx="58452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Keep 2 significant digits (6.0 has 2):   </a:t>
            </a:r>
          </a:p>
        </p:txBody>
      </p:sp>
      <p:pic>
        <p:nvPicPr>
          <p:cNvPr id="19" name="Picture 18" descr="1d4326cbde9a9c9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01557" y="4513181"/>
            <a:ext cx="1068800" cy="25669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2.6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cm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619" y="2171700"/>
            <a:ext cx="2251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b5f5674feeb41d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099" y="2242185"/>
            <a:ext cx="13496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54792" y="2171700"/>
            <a:ext cx="2853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90619" y="2080260"/>
            <a:ext cx="22516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9" name="Picture 8" descr="4947c0dc47f86a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5099" y="2150745"/>
            <a:ext cx="134969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54792" y="2080260"/>
            <a:ext cx="28532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km in  3.0  hours.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What is its average speed, to the right number of significant digits?</a:t>
            </a:r>
          </a:p>
        </p:txBody>
      </p:sp>
      <p:pic>
        <p:nvPicPr>
          <p:cNvPr id="12" name="Picture 11" descr="b7f3f89b7670fb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35986" y="3498437"/>
            <a:ext cx="1981199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581122" y="3863339"/>
            <a:ext cx="60769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3.0 has 2 significant digits, so keep 2:   </a:t>
            </a:r>
          </a:p>
        </p:txBody>
      </p:sp>
      <p:pic>
        <p:nvPicPr>
          <p:cNvPr id="14" name="Picture 13" descr="21b219ba43567f3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0932" y="3951922"/>
            <a:ext cx="1061799" cy="261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1.4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km/h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7358" y="2746579"/>
            <a:ext cx="685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66c8c788a53acf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5648" y="2819540"/>
            <a:ext cx="1131760" cy="274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07408" y="2746579"/>
            <a:ext cx="42270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e3528be3edfa664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7274" y="2817064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6464" y="2746579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A measured length times a measured width gives an 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26120" y="2655139"/>
            <a:ext cx="6854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of  </a:t>
            </a:r>
          </a:p>
        </p:txBody>
      </p:sp>
      <p:pic>
        <p:nvPicPr>
          <p:cNvPr id="10" name="Picture 9" descr="96dda91be14bb1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4410" y="2728100"/>
            <a:ext cx="1134237" cy="27489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08647" y="2655139"/>
            <a:ext cx="42270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. The length measured  </a:t>
            </a:r>
          </a:p>
        </p:txBody>
      </p:sp>
      <p:pic>
        <p:nvPicPr>
          <p:cNvPr id="12" name="Picture 11" descr="b0f75faad513fd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8512" y="2725624"/>
            <a:ext cx="113919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7702" y="2655139"/>
            <a:ext cx="7348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What did the width measure, to two significant digits?</a:t>
            </a:r>
          </a:p>
        </p:txBody>
      </p:sp>
      <p:pic>
        <p:nvPicPr>
          <p:cNvPr id="15" name="Picture 14" descr="90203440ac2af94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5977" y="4102699"/>
            <a:ext cx="2377440" cy="31699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291113" y="4528466"/>
            <a:ext cx="44209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Two significant digits:   </a:t>
            </a:r>
          </a:p>
        </p:txBody>
      </p:sp>
      <p:pic>
        <p:nvPicPr>
          <p:cNvPr id="17" name="Picture 16" descr="8973d474b1ce85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74911" y="4591331"/>
            <a:ext cx="1295495" cy="30937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0999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4.0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 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6073" y="2746579"/>
            <a:ext cx="19855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9630dac2daa1a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484" y="2864117"/>
            <a:ext cx="1510664" cy="28232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5149" y="2746579"/>
            <a:ext cx="3924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ca0b1ffd8d5f75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927" y="2819540"/>
            <a:ext cx="1119378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2305" y="274657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Ellis says: 9,145 has 4 significant digits and 4.8 has 2,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6073" y="2655139"/>
            <a:ext cx="19855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so the sum  </a:t>
            </a:r>
          </a:p>
        </p:txBody>
      </p:sp>
      <p:pic>
        <p:nvPicPr>
          <p:cNvPr id="10" name="Picture 9" descr="76e99574fb2593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4484" y="2770201"/>
            <a:ext cx="1510664" cy="284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235149" y="2655139"/>
            <a:ext cx="39249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must be written with 2:  </a:t>
            </a:r>
          </a:p>
        </p:txBody>
      </p:sp>
      <p:pic>
        <p:nvPicPr>
          <p:cNvPr id="12" name="Picture 11" descr="4947c6a9376ae7a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2927" y="2728100"/>
            <a:ext cx="1119378" cy="27489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0142305" y="2655139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correct sum.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7221" y="3988970"/>
            <a:ext cx="77200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Adding uses decimal places, not a count of digits.</a:t>
            </a:r>
          </a:p>
        </p:txBody>
      </p:sp>
      <p:pic>
        <p:nvPicPr>
          <p:cNvPr id="16" name="Picture 15" descr="990cd9202cebfc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085" y="4623811"/>
            <a:ext cx="2673096" cy="2682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997221" y="4994810"/>
            <a:ext cx="83042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9,145 stops at the ones place, so round to ones:  9,150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5663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9,150 = 9.150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9019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499019"/>
            <a:ext cx="600178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6,030  grams?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66953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66953"/>
            <a:ext cx="6343588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How many significant digits are in  0.00710  meters?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434888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434888"/>
            <a:ext cx="290142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rectangle measures  </a:t>
            </a:r>
          </a:p>
        </p:txBody>
      </p:sp>
      <p:pic>
        <p:nvPicPr>
          <p:cNvPr id="14" name="Picture 13" descr="7d17691463990a5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746" y="2509166"/>
            <a:ext cx="954289" cy="22913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273035" y="2434888"/>
            <a:ext cx="106372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 by  </a:t>
            </a:r>
          </a:p>
        </p:txBody>
      </p:sp>
      <p:pic>
        <p:nvPicPr>
          <p:cNvPr id="16" name="Picture 15" descr="35e387f60425e7c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596" y="2509166"/>
            <a:ext cx="1072630" cy="22913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72227" y="2434888"/>
            <a:ext cx="396130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m. Find its area, to the correct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2802238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3270172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20" name="Picture 19" descr="2f8ec9a9220ceb3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3323048"/>
            <a:ext cx="2696684" cy="27193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324316" y="3270172"/>
            <a:ext cx="6831265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meters, both measured. Write the sum with the correct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3637522"/>
            <a:ext cx="13294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precision.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105457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105457"/>
            <a:ext cx="1826459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 car travels  </a:t>
            </a:r>
          </a:p>
        </p:txBody>
      </p:sp>
      <p:pic>
        <p:nvPicPr>
          <p:cNvPr id="25" name="Picture 24" descr="d28efaf6c4b6b0d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43779" y="4179735"/>
            <a:ext cx="1080184" cy="22913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323963" y="4105457"/>
            <a:ext cx="6869881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km in  4.0  hours. Find its average speed, to the correct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4472807"/>
            <a:ext cx="35186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number of significant digits.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4940741"/>
            <a:ext cx="548640" cy="377686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81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29" name="Picture 28" descr="f68f597f3be75e8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991100"/>
            <a:ext cx="2913225" cy="27697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40857" y="4940741"/>
            <a:ext cx="6571740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  grams, both measured. Write the difference with the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5308092"/>
            <a:ext cx="2233056" cy="377686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correct precision.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4 — Real-World Problems and Significant Digits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Add, subtract, multiply, and divide numbers written in scientific notation: word problems — D5S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Evaluating Expressions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an expression that contains square roots, cube roots and integer exponents.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0" name="Picture 9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22741"/>
            <a:ext cx="2404872" cy="3291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25d82099734b37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fa7316af9afa4f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405036"/>
            <a:ext cx="1134443" cy="215971"/>
          </a:xfrm>
          <a:prstGeom prst="rect">
            <a:avLst/>
          </a:prstGeom>
        </p:spPr>
      </p:pic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8747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How many significant digits are in  0.0250 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60777" y="144018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56d20e268514a0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059" y="2122741"/>
            <a:ext cx="2404872" cy="3291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376571" y="2052828"/>
            <a:ext cx="136535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-3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665476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25d82099734b37e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709322"/>
            <a:ext cx="806926" cy="37261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23277" y="2665476"/>
            <a:ext cx="5700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278124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fa7316af9afa4f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405036"/>
            <a:ext cx="1134443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06040" y="3278124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69550"/>
            <a:ext cx="751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root symbol together with everything under its bar: </a:t>
            </a:r>
          </a:p>
        </p:txBody>
      </p:sp>
      <p:pic>
        <p:nvPicPr>
          <p:cNvPr id="10" name="Picture 9" descr="7fc2ce39b1027a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961" y="1921429"/>
            <a:ext cx="622014" cy="35640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42976" y="1869550"/>
            <a:ext cx="17701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square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54182"/>
            <a:ext cx="9199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root, </a:t>
            </a:r>
          </a:p>
        </p:txBody>
      </p:sp>
      <p:pic>
        <p:nvPicPr>
          <p:cNvPr id="13" name="Picture 12" descr="5f7b58e3a97823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25786" y="2406061"/>
            <a:ext cx="649255" cy="35640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575041" y="2354182"/>
            <a:ext cx="21407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 cube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8969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radicand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41906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number under the radical bar. The bar groups it, so whatever is under it is evaluated before the root is taken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4439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principal square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850494"/>
            <a:ext cx="31639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the nonnegative one. </a:t>
            </a:r>
          </a:p>
        </p:txBody>
      </p:sp>
      <p:pic>
        <p:nvPicPr>
          <p:cNvPr id="19" name="Picture 18" descr="66ed9a548d73b0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9838" y="4902373"/>
            <a:ext cx="646985" cy="35640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16824" y="4850494"/>
            <a:ext cx="39348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7 — not −7, and not both,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5335126"/>
            <a:ext cx="19851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even though </a:t>
            </a:r>
          </a:p>
        </p:txBody>
      </p:sp>
      <p:pic>
        <p:nvPicPr>
          <p:cNvPr id="22" name="Picture 21" descr="955753387502252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90961" y="5416517"/>
            <a:ext cx="626554" cy="30646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3617516" y="5335126"/>
            <a:ext cx="15457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 is also 49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radical bar is a grouping symbol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f0301447559f26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7184" y="2194560"/>
            <a:ext cx="5407152" cy="478536"/>
          </a:xfrm>
          <a:prstGeom prst="rect">
            <a:avLst/>
          </a:prstGeom>
        </p:spPr>
      </p:pic>
      <p:pic>
        <p:nvPicPr>
          <p:cNvPr id="11" name="Picture 10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3057144"/>
            <a:ext cx="3185160" cy="478536"/>
          </a:xfrm>
          <a:prstGeom prst="rect">
            <a:avLst/>
          </a:prstGeom>
        </p:spPr>
      </p:pic>
      <p:pic>
        <p:nvPicPr>
          <p:cNvPr id="12" name="Picture 11" descr="4a07f45d5d9ca5f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0740" y="3919728"/>
            <a:ext cx="2825067" cy="42121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285807" y="3901733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14" name="Picture 13" descr="fbd6d5a320033c4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03232" y="4018065"/>
            <a:ext cx="697547" cy="24145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88043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Everything under the bar is evaluated before the root is taken.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Square roots and cube roots are not the same shape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14243ac5c29f50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6784" y="2194560"/>
            <a:ext cx="1423416" cy="4785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110200" y="22052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59fd66553504e96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4543" y="2194560"/>
            <a:ext cx="1453896" cy="4785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568439" y="2205228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4" name="Picture 13" descr="138d560710ac33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2783" y="2194560"/>
            <a:ext cx="1901952" cy="478536"/>
          </a:xfrm>
          <a:prstGeom prst="rect">
            <a:avLst/>
          </a:prstGeom>
        </p:spPr>
      </p:pic>
      <p:pic>
        <p:nvPicPr>
          <p:cNvPr id="15" name="Picture 14" descr="b169188f81dcb70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8596" y="3057144"/>
            <a:ext cx="1246632" cy="7894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365228" y="3227832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7" name="Picture 16" descr="df602f9237f1cb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9571" y="3057144"/>
            <a:ext cx="1673352" cy="79857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87552" y="43952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An odd root keeps the sign of its radicand. A square root sign never gives a negative value.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Radicals alongside exponents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5f3f835e2d872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6328" y="2194560"/>
            <a:ext cx="2286000" cy="731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2328" y="2331720"/>
            <a:ext cx="11415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       </a:t>
            </a:r>
          </a:p>
        </p:txBody>
      </p:sp>
      <p:pic>
        <p:nvPicPr>
          <p:cNvPr id="12" name="Picture 11" descr="24b3a5f09066cb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6671" y="2306193"/>
            <a:ext cx="3398520" cy="478536"/>
          </a:xfrm>
          <a:prstGeom prst="rect">
            <a:avLst/>
          </a:prstGeom>
        </p:spPr>
      </p:pic>
      <p:pic>
        <p:nvPicPr>
          <p:cNvPr id="13" name="Picture 12" descr="0416a625cfa02c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1232" y="3310127"/>
            <a:ext cx="4639056" cy="67360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52323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each piece — the radical, the power — and only then put them together.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5e47ed58306c9a9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1059" y="2103120"/>
            <a:ext cx="2819400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7355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d6c9f96a3ec0d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1630680" cy="673608"/>
          </a:xfrm>
          <a:prstGeom prst="rect">
            <a:avLst/>
          </a:prstGeom>
        </p:spPr>
      </p:pic>
      <p:pic>
        <p:nvPicPr>
          <p:cNvPr id="9" name="Picture 8" descr="3737ed6aaf20179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8168"/>
            <a:ext cx="3185160" cy="478536"/>
          </a:xfrm>
          <a:prstGeom prst="rect">
            <a:avLst/>
          </a:prstGeom>
        </p:spPr>
      </p:pic>
      <p:pic>
        <p:nvPicPr>
          <p:cNvPr id="10" name="Picture 9" descr="48d618d0a819b8c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21024"/>
            <a:ext cx="1661160" cy="6675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74573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17/4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b20bcbb3e5acef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163" y="1600200"/>
            <a:ext cx="3441192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39a98bd65ba9c0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4735" y="1600200"/>
            <a:ext cx="3432048" cy="8412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43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dcdcd24bba7458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0055" y="3556618"/>
            <a:ext cx="1219200" cy="515112"/>
          </a:xfrm>
          <a:prstGeom prst="rect">
            <a:avLst/>
          </a:prstGeom>
        </p:spPr>
      </p:pic>
      <p:pic>
        <p:nvPicPr>
          <p:cNvPr id="11" name="Picture 10" descr="56c69e6e26de48c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0055" y="4196031"/>
            <a:ext cx="2234184" cy="368808"/>
          </a:xfrm>
          <a:prstGeom prst="rect">
            <a:avLst/>
          </a:prstGeom>
        </p:spPr>
      </p:pic>
      <p:pic>
        <p:nvPicPr>
          <p:cNvPr id="12" name="Picture 11" descr="a96b4c18555835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0055" y="4666090"/>
            <a:ext cx="1399032" cy="5151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31836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−17/9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8d7699a30e9dd19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116" y="2103120"/>
            <a:ext cx="3447288" cy="49987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0591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0e80ddb964149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822191" cy="478536"/>
          </a:xfrm>
          <a:prstGeom prst="rect">
            <a:avLst/>
          </a:prstGeom>
        </p:spPr>
      </p:pic>
      <p:pic>
        <p:nvPicPr>
          <p:cNvPr id="9" name="Picture 8" descr="a2a1fa108c11dcc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73096"/>
            <a:ext cx="3989832" cy="478536"/>
          </a:xfrm>
          <a:prstGeom prst="rect">
            <a:avLst/>
          </a:prstGeom>
        </p:spPr>
      </p:pic>
      <p:pic>
        <p:nvPicPr>
          <p:cNvPr id="10" name="Picture 9" descr="64f4a386edd009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425952"/>
            <a:ext cx="1972056" cy="2773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0.2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d6d7dee63e8529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0" y="1600200"/>
            <a:ext cx="4358640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e55928de2d14c9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9915" y="1600200"/>
            <a:ext cx="4361688" cy="624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279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3d08e3b9f0cd12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1811" y="3373071"/>
            <a:ext cx="1261872" cy="368808"/>
          </a:xfrm>
          <a:prstGeom prst="rect">
            <a:avLst/>
          </a:prstGeom>
        </p:spPr>
      </p:pic>
      <p:pic>
        <p:nvPicPr>
          <p:cNvPr id="11" name="Picture 10" descr="97af87df177bbd2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91811" y="3875991"/>
            <a:ext cx="2438400" cy="368808"/>
          </a:xfrm>
          <a:prstGeom prst="rect">
            <a:avLst/>
          </a:prstGeom>
        </p:spPr>
      </p:pic>
      <p:pic>
        <p:nvPicPr>
          <p:cNvPr id="12" name="Picture 11" descr="dbd85bfcc6699fc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91811" y="4461207"/>
            <a:ext cx="3087624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946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ea03e9b9b6d508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3268" y="2194560"/>
            <a:ext cx="101498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6c4a40349de610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6315" y="2103120"/>
            <a:ext cx="1008888" cy="478536"/>
          </a:xfrm>
          <a:prstGeom prst="rect">
            <a:avLst/>
          </a:prstGeom>
        </p:spPr>
      </p:pic>
      <p:pic>
        <p:nvPicPr>
          <p:cNvPr id="9" name="Picture 8" descr="ac1e77065a05d76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3209" y="3035474"/>
            <a:ext cx="1814798" cy="2486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58007" y="2917364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5c398753ce4ec6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9080" y="2929128"/>
            <a:ext cx="1574482" cy="433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11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patio has an area of  169  square feet.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41361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Fencing for it costs 12 dollars a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9527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long is one side of the patio?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2768" y="3587827"/>
            <a:ext cx="31317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Side × side = 169</a:t>
            </a:r>
          </a:p>
        </p:txBody>
      </p:sp>
      <p:pic>
        <p:nvPicPr>
          <p:cNvPr id="12" name="Picture 11" descr="02c22c2952ba09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7632" y="4256529"/>
            <a:ext cx="1864518" cy="25412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62150" y="413841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4" name="Picture 13" descr="8a48b6ab05ac2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224" y="4150183"/>
            <a:ext cx="1613154" cy="43367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2101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 feet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3a9e56c707a61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2194560"/>
            <a:ext cx="126492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84e87a07475feb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478536"/>
          </a:xfrm>
          <a:prstGeom prst="rect">
            <a:avLst/>
          </a:prstGeom>
        </p:spPr>
      </p:pic>
      <p:pic>
        <p:nvPicPr>
          <p:cNvPr id="9" name="Picture 8" descr="b0df40523fe93d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316" y="3032712"/>
            <a:ext cx="3632358" cy="31765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28675" y="2917364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1" name="Picture 10" descr="c1de8963302adf8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9748" y="2929128"/>
            <a:ext cx="1853469" cy="43367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−5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7058abdbd15292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74bb924378d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5043" y="2103120"/>
            <a:ext cx="15514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64480" y="2906268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0" name="Picture 9" descr="f5329d2eda710a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242" y="2969133"/>
            <a:ext cx="2947320" cy="306609"/>
          </a:xfrm>
          <a:prstGeom prst="rect">
            <a:avLst/>
          </a:prstGeom>
        </p:spPr>
      </p:pic>
      <p:pic>
        <p:nvPicPr>
          <p:cNvPr id="11" name="Picture 10" descr="5127a0c173e3949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9344" y="3468624"/>
            <a:ext cx="1271016" cy="4328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0287c1279b1b6e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880" y="2194560"/>
            <a:ext cx="1889760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94741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6137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84.5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99535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305375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627b4a23b9288a9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2103120"/>
            <a:ext cx="188366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55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37384" y="3481147"/>
            <a:ext cx="38279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Under the bar first:  </a:t>
            </a:r>
          </a:p>
        </p:txBody>
      </p:sp>
      <p:pic>
        <p:nvPicPr>
          <p:cNvPr id="11" name="Picture 10" descr="6f0e461534c4fda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8146" y="3596495"/>
            <a:ext cx="2198751" cy="254126"/>
          </a:xfrm>
          <a:prstGeom prst="rect">
            <a:avLst/>
          </a:prstGeom>
        </p:spPr>
      </p:pic>
      <p:pic>
        <p:nvPicPr>
          <p:cNvPr id="12" name="Picture 11" descr="296c25346e41fa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2248" y="4043503"/>
            <a:ext cx="1612392" cy="4328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13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4ebae5e5d7579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4688" y="2194560"/>
            <a:ext cx="1152144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5831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46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not a real number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−1/8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0431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1/4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6271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3d615a9b7c2dc05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6212" y="2103120"/>
            <a:ext cx="1149096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0" name="Picture 9" descr="44ca813e0eef5cc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7179" y="3814903"/>
            <a:ext cx="4053840" cy="60655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52316" y="4678582"/>
            <a:ext cx="9276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so   </a:t>
            </a:r>
          </a:p>
        </p:txBody>
      </p:sp>
      <p:pic>
        <p:nvPicPr>
          <p:cNvPr id="12" name="Picture 11" descr="057b68cb0facbc9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2795" y="4549471"/>
            <a:ext cx="1787175" cy="7154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0205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−1/4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3bd5897204bf8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7591" y="2194560"/>
            <a:ext cx="192633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e6bc0b83f8afa4f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115" y="2103120"/>
            <a:ext cx="1923288" cy="789432"/>
          </a:xfrm>
          <a:prstGeom prst="rect">
            <a:avLst/>
          </a:prstGeom>
        </p:spPr>
      </p:pic>
      <p:pic>
        <p:nvPicPr>
          <p:cNvPr id="9" name="Picture 8" descr="7f97372ca3358ff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8698" y="3240023"/>
            <a:ext cx="1157382" cy="71542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46081" y="3369135"/>
            <a:ext cx="19394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814fb0376044ab2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8382" y="3240023"/>
            <a:ext cx="1325880" cy="715422"/>
          </a:xfrm>
          <a:prstGeom prst="rect">
            <a:avLst/>
          </a:prstGeom>
        </p:spPr>
      </p:pic>
      <p:pic>
        <p:nvPicPr>
          <p:cNvPr id="12" name="Picture 11" descr="27befd5d1612721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8698" y="4083462"/>
            <a:ext cx="1350264" cy="60655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82717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4/3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7513eedb387e93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9744" y="2194560"/>
            <a:ext cx="2542032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41217f15035bee5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220" y="2103120"/>
            <a:ext cx="2545080" cy="478536"/>
          </a:xfrm>
          <a:prstGeom prst="rect">
            <a:avLst/>
          </a:prstGeom>
        </p:spPr>
      </p:pic>
      <p:pic>
        <p:nvPicPr>
          <p:cNvPr id="9" name="Picture 8" descr="3837c1f0f17629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99" y="2961989"/>
            <a:ext cx="4651248" cy="368808"/>
          </a:xfrm>
          <a:prstGeom prst="rect">
            <a:avLst/>
          </a:prstGeom>
        </p:spPr>
      </p:pic>
      <p:pic>
        <p:nvPicPr>
          <p:cNvPr id="10" name="Picture 9" descr="a0f3c47d5d7510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09999" y="3432047"/>
            <a:ext cx="1584960" cy="569976"/>
          </a:xfrm>
          <a:prstGeom prst="rect">
            <a:avLst/>
          </a:prstGeom>
        </p:spPr>
      </p:pic>
      <p:pic>
        <p:nvPicPr>
          <p:cNvPr id="11" name="Picture 10" descr="894447109a3e5d6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99" y="4093464"/>
            <a:ext cx="3218688" cy="5730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80364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1/100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9094" y="2171700"/>
            <a:ext cx="2757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a849ea34284e1e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9485" y="2207514"/>
            <a:ext cx="861821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1307" y="2171700"/>
            <a:ext cx="3418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45523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332" y="2080260"/>
            <a:ext cx="2757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Simon says that  </a:t>
            </a:r>
          </a:p>
        </p:txBody>
      </p:sp>
      <p:pic>
        <p:nvPicPr>
          <p:cNvPr id="9" name="Picture 8" descr="dc8e0a2c2f29ccd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0723" y="2116074"/>
            <a:ext cx="859345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80069" y="2080260"/>
            <a:ext cx="34182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not a real number,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you cannot take the root of a negative.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637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Explain why he is wrong, and give the value.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3154" y="3988970"/>
            <a:ext cx="105123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 cube root can be negative: three negatives multiply to a negative.</a:t>
            </a:r>
          </a:p>
        </p:txBody>
      </p:sp>
      <p:pic>
        <p:nvPicPr>
          <p:cNvPr id="14" name="Picture 13" descr="32fe0726ff7037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018" y="4624811"/>
            <a:ext cx="2886694" cy="268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834712" y="4491890"/>
            <a:ext cx="116308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6" name="Picture 15" descr="06859444d1f0d67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60637" y="4547802"/>
            <a:ext cx="1404842" cy="3663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06339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−3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e838230098c6497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28572"/>
            <a:ext cx="862584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c2339290e86818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22931"/>
            <a:ext cx="676656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ad02206568954f6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17291"/>
            <a:ext cx="127101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242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64b69718fca3659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566928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10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3f6f87e04710f31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34612"/>
            <a:ext cx="1484376" cy="3901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6097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07d37168da60879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18304"/>
            <a:ext cx="2304288" cy="542544"/>
          </a:xfrm>
          <a:prstGeom prst="rect">
            <a:avLst/>
          </a:prstGeom>
        </p:spPr>
      </p:pic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5 — Evaluating Expressions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This skill continues tomorrow: one assignment, due at the start of the class after 4.06.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Order of Operations with Radicals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evaluate a multi-step expression with rational numbers, exponents and radicals by reading its structure.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0469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719613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2" name="Picture 11" descr="45dfe0c1090fb1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33353" cy="519755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86399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4" name="Picture 13" descr="8c31237e42b535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13312"/>
            <a:ext cx="1077483" cy="215971"/>
          </a:xfrm>
          <a:prstGeom prst="rect">
            <a:avLst/>
          </a:prstGeom>
        </p:spPr>
      </p:pic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380cdbfed5fb59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470469"/>
            <a:ext cx="1118616" cy="3901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076177" y="1440180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6903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How many significant digits are in  1.020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76387" y="2052828"/>
            <a:ext cx="4050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719613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4" name="Picture 13" descr="45dfe0c1090fb1f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711" y="2688336"/>
            <a:ext cx="733353" cy="51975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949704" y="2665476"/>
            <a:ext cx="71742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9/4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386399"/>
            <a:ext cx="218559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Evaluate:  </a:t>
            </a:r>
          </a:p>
        </p:txBody>
      </p:sp>
      <p:pic>
        <p:nvPicPr>
          <p:cNvPr id="17" name="Picture 16" descr="8c31237e42b535d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22957" y="3513312"/>
            <a:ext cx="1077483" cy="21597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549081" y="3386399"/>
            <a:ext cx="38650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grouping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892410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anything that holds part of an expression together and is finished first: parentheses, brackets, the radical bar and the fraction bar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1733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nested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346704"/>
            <a:ext cx="10241280" cy="39358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grouping symbol inside another. The innermost one is finished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7803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multi-step expression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4407407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one that takes more than one operation to evaluate. Everything in this unit takes six steps or fewer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The structure, not a mnemonic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103120" y="1993392"/>
          <a:ext cx="7955280" cy="1920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40080"/>
                <a:gridCol w="274320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Level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1">
                          <a:solidFill>
                            <a:srgbClr val="1A1A1A"/>
                          </a:solidFill>
                          <a:latin typeface="Lexend"/>
                        </a:rPr>
                        <a:t>What it means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Grouping symbols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( ), [ ], the radical bar, the fraction bar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Powers and roots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the same level as each other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Multiply and divide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Add and subtract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20" b="0">
                          <a:solidFill>
                            <a:srgbClr val="1A1A1A"/>
                          </a:solidFill>
                          <a:latin typeface="Lexend"/>
                        </a:rPr>
                        <a:t>left to right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20624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Innermost grouping symbol first, then out.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Left to right means left to right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201d3ee15bc2ba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453" y="2285349"/>
            <a:ext cx="2647997" cy="24414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31450" y="217170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2" name="Picture 11" descr="f0147313abe6d96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1994" y="2279983"/>
            <a:ext cx="1336071" cy="244141"/>
          </a:xfrm>
          <a:prstGeom prst="rect">
            <a:avLst/>
          </a:prstGeom>
        </p:spPr>
      </p:pic>
      <p:pic>
        <p:nvPicPr>
          <p:cNvPr id="13" name="Picture 12" descr="0ee3a056470a442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0041" y="3078194"/>
            <a:ext cx="2892139" cy="2468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52180" y="2967228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 never   </a:t>
            </a:r>
          </a:p>
        </p:txBody>
      </p:sp>
      <p:pic>
        <p:nvPicPr>
          <p:cNvPr id="15" name="Picture 14" descr="b927c0f461bb71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62724" y="3080877"/>
            <a:ext cx="1338754" cy="244141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3941064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Multiplication and division are one level. Addition and subtraction are one level. Left to right, both times.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The fraction bar groups, top and bottom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b676b63d56095f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1372" y="2194560"/>
            <a:ext cx="2398776" cy="792480"/>
          </a:xfrm>
          <a:prstGeom prst="rect">
            <a:avLst/>
          </a:prstGeom>
        </p:spPr>
      </p:pic>
      <p:pic>
        <p:nvPicPr>
          <p:cNvPr id="11" name="Picture 10" descr="fb1e10d5d1f5e9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7496" y="3371088"/>
            <a:ext cx="4986528" cy="847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75792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Finish the numerator and finish the denominator before you divide.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6b6fcd5e7b2e72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02607" y="2103120"/>
            <a:ext cx="3956304" cy="47853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8457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04e54fe9a154095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249424" cy="411480"/>
          </a:xfrm>
          <a:prstGeom prst="rect">
            <a:avLst/>
          </a:prstGeom>
        </p:spPr>
      </p:pic>
      <p:pic>
        <p:nvPicPr>
          <p:cNvPr id="9" name="Picture 8" descr="21bef9986283dc4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6989064" cy="353568"/>
          </a:xfrm>
          <a:prstGeom prst="rect">
            <a:avLst/>
          </a:prstGeom>
        </p:spPr>
      </p:pic>
      <p:pic>
        <p:nvPicPr>
          <p:cNvPr id="10" name="Picture 9" descr="09e7e44a6e73f25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29108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−1.44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47f83e2b495dac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952" y="1600200"/>
            <a:ext cx="4547616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aac90390d93a983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99" y="1600200"/>
            <a:ext cx="4541520" cy="5943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9748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9097" y="3286870"/>
            <a:ext cx="30852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Powers and roots:  </a:t>
            </a:r>
          </a:p>
        </p:txBody>
      </p:sp>
      <p:pic>
        <p:nvPicPr>
          <p:cNvPr id="11" name="Picture 10" descr="7ac03a8924eefbd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7204" y="3373119"/>
            <a:ext cx="1549527" cy="3150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96731" y="3286870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14243ac5c29f5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79620" y="3342782"/>
            <a:ext cx="1089802" cy="366379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699097" y="3789790"/>
            <a:ext cx="393812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Inside the parentheses:  </a:t>
            </a:r>
          </a:p>
        </p:txBody>
      </p:sp>
      <p:pic>
        <p:nvPicPr>
          <p:cNvPr id="15" name="Picture 14" descr="50cf6f024a53d9b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0064" y="3925045"/>
            <a:ext cx="2109597" cy="214693"/>
          </a:xfrm>
          <a:prstGeom prst="rect">
            <a:avLst/>
          </a:prstGeom>
        </p:spPr>
      </p:pic>
      <p:pic>
        <p:nvPicPr>
          <p:cNvPr id="16" name="Picture 15" descr="9835c37dc0133d28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53961" y="4430727"/>
            <a:ext cx="3514344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6421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9.97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b808d9623aef05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3731" y="2103120"/>
            <a:ext cx="2734056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533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9aec3c395596e36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593848" cy="792480"/>
          </a:xfrm>
          <a:prstGeom prst="rect">
            <a:avLst/>
          </a:prstGeom>
        </p:spPr>
      </p:pic>
      <p:pic>
        <p:nvPicPr>
          <p:cNvPr id="9" name="Picture 8" descr="fd77386a9e66a33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987040"/>
            <a:ext cx="3694176" cy="789432"/>
          </a:xfrm>
          <a:prstGeom prst="rect">
            <a:avLst/>
          </a:prstGeom>
        </p:spPr>
      </p:pic>
      <p:pic>
        <p:nvPicPr>
          <p:cNvPr id="10" name="Picture 9" descr="69a6d692b4cc56e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050791"/>
            <a:ext cx="1895856" cy="6705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178552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−1/4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a0165d764fa847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39996" y="1481328"/>
            <a:ext cx="3081528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93f2d6cae19f44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519" y="1481328"/>
            <a:ext cx="3078480" cy="847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31592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</a:t>
            </a:r>
          </a:p>
        </p:txBody>
      </p:sp>
      <p:pic>
        <p:nvPicPr>
          <p:cNvPr id="10" name="Picture 9" descr="6565c690921d94d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803" y="3443842"/>
            <a:ext cx="1810512" cy="609600"/>
          </a:xfrm>
          <a:prstGeom prst="rect">
            <a:avLst/>
          </a:prstGeom>
        </p:spPr>
      </p:pic>
      <p:pic>
        <p:nvPicPr>
          <p:cNvPr id="11" name="Picture 10" descr="a2173ad1551df9c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7803" y="4144882"/>
            <a:ext cx="3212592" cy="612648"/>
          </a:xfrm>
          <a:prstGeom prst="rect">
            <a:avLst/>
          </a:prstGeom>
        </p:spPr>
      </p:pic>
      <p:pic>
        <p:nvPicPr>
          <p:cNvPr id="12" name="Picture 11" descr="03d6a17384790a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7803" y="4848970"/>
            <a:ext cx="1091184" cy="51206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54981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25a7622aecf1eba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249805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pic>
        <p:nvPicPr>
          <p:cNvPr id="8" name="Picture 7" descr="36fd5fdafeb181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2287" y="2158365"/>
            <a:ext cx="1456944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11631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eeef22e3ceb66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1210" y="2957322"/>
            <a:ext cx="1618678" cy="254126"/>
          </a:xfrm>
          <a:prstGeom prst="rect">
            <a:avLst/>
          </a:prstGeom>
        </p:spPr>
      </p:pic>
      <p:pic>
        <p:nvPicPr>
          <p:cNvPr id="11" name="Picture 10" descr="58b50d1f788fe12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66495" y="3498532"/>
            <a:ext cx="14782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54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25d82099734b37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7473"/>
            <a:ext cx="842010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4907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35456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tile has side  </a:t>
            </a:r>
          </a:p>
        </p:txBody>
      </p:sp>
      <p:pic>
        <p:nvPicPr>
          <p:cNvPr id="9" name="Picture 8" descr="6003818e495bb7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897" y="1887473"/>
            <a:ext cx="839533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2430" y="1851660"/>
            <a:ext cx="22114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centimeters.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8716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Its diagonal is about 19.8 centimeters.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02626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What is the perimeter of the tile?</a:t>
            </a:r>
          </a:p>
        </p:txBody>
      </p:sp>
      <p:pic>
        <p:nvPicPr>
          <p:cNvPr id="13" name="Picture 12" descr="fe182c84c4bdb5f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5277" y="3684236"/>
            <a:ext cx="1642872" cy="4328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10413" y="4222208"/>
            <a:ext cx="227022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Perimeter:  </a:t>
            </a:r>
          </a:p>
        </p:txBody>
      </p:sp>
      <p:pic>
        <p:nvPicPr>
          <p:cNvPr id="15" name="Picture 14" descr="17f44b5618a9d3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3477" y="4337556"/>
            <a:ext cx="1607629" cy="25412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79370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56 centimeters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7d69da8346cb7c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246757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9dc4fd86eed7f2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55317"/>
            <a:ext cx="1554480" cy="2804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58589" y="2839212"/>
            <a:ext cx="26567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Left to right:  </a:t>
            </a:r>
          </a:p>
        </p:txBody>
      </p:sp>
      <p:pic>
        <p:nvPicPr>
          <p:cNvPr id="10" name="Picture 9" descr="8d7f8b36a59e9cb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8168" y="2954559"/>
            <a:ext cx="1524762" cy="254126"/>
          </a:xfrm>
          <a:prstGeom prst="rect">
            <a:avLst/>
          </a:prstGeom>
        </p:spPr>
      </p:pic>
      <p:pic>
        <p:nvPicPr>
          <p:cNvPr id="11" name="Picture 10" descr="1f8367c1c48b434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3453" y="3495484"/>
            <a:ext cx="1554480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15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2b230be022ca8b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8591" y="2194560"/>
            <a:ext cx="116433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0893d505426886e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639" y="2103120"/>
            <a:ext cx="1158240" cy="7985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022871" y="3226307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0" name="Picture 9" descr="abe72144a9717f4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2490" y="3317224"/>
            <a:ext cx="2482977" cy="259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22871" y="3729227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2" name="Picture 11" descr="c8750695812e33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981" y="3817810"/>
            <a:ext cx="2672000" cy="261366"/>
          </a:xfrm>
          <a:prstGeom prst="rect">
            <a:avLst/>
          </a:prstGeom>
        </p:spPr>
      </p:pic>
      <p:pic>
        <p:nvPicPr>
          <p:cNvPr id="13" name="Picture 12" descr="3d14f1f915bfc6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7735" y="4255007"/>
            <a:ext cx="807720" cy="5151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072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3/5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594d57048b4f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7339" y="2194560"/>
            <a:ext cx="1386840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146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53291355aab2c4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5816" y="2103120"/>
            <a:ext cx="1389888" cy="3413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69823" y="3414091"/>
            <a:ext cx="2089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Power first:  </a:t>
            </a:r>
          </a:p>
        </p:txBody>
      </p:sp>
      <p:pic>
        <p:nvPicPr>
          <p:cNvPr id="11" name="Picture 10" descr="39ff18f997e09d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2294" y="3500340"/>
            <a:ext cx="877443" cy="25903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269823" y="3917011"/>
            <a:ext cx="24988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multiply:  </a:t>
            </a:r>
          </a:p>
        </p:txBody>
      </p:sp>
      <p:pic>
        <p:nvPicPr>
          <p:cNvPr id="13" name="Picture 12" descr="1a56c2424612d0a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1539" y="4052266"/>
            <a:ext cx="1262491" cy="21469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9823" y="4419931"/>
            <a:ext cx="18774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Then add:  </a:t>
            </a:r>
          </a:p>
        </p:txBody>
      </p:sp>
      <p:pic>
        <p:nvPicPr>
          <p:cNvPr id="15" name="Picture 14" descr="345d1dacfb918cd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10128" y="4557519"/>
            <a:ext cx="1400175" cy="212359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991431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B — 50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266fcce5418af2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3" y="2194560"/>
            <a:ext cx="987552" cy="792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261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927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35.5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0.5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613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619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286b5294f6ed7d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0032" y="2103120"/>
            <a:ext cx="981455" cy="789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66871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8467" y="3792043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57304b44759ca8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8087" y="3880625"/>
            <a:ext cx="2387298" cy="26136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58467" y="4294963"/>
            <a:ext cx="15832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Bottom:  </a:t>
            </a:r>
          </a:p>
        </p:txBody>
      </p:sp>
      <p:pic>
        <p:nvPicPr>
          <p:cNvPr id="13" name="Picture 12" descr="8824add34145570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4578" y="4385879"/>
            <a:ext cx="702421" cy="256698"/>
          </a:xfrm>
          <a:prstGeom prst="rect">
            <a:avLst/>
          </a:prstGeom>
        </p:spPr>
      </p:pic>
      <p:pic>
        <p:nvPicPr>
          <p:cNvPr id="14" name="Picture 13" descr="e3ce27ebfe1bfdd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13331" y="4932852"/>
            <a:ext cx="1219200" cy="2133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5369383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4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6ce0d9f4982b699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3" y="2194560"/>
            <a:ext cx="1810512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74e67f9444e645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3980" y="2103120"/>
            <a:ext cx="1813560" cy="411480"/>
          </a:xfrm>
          <a:prstGeom prst="rect">
            <a:avLst/>
          </a:prstGeom>
        </p:spPr>
      </p:pic>
      <p:pic>
        <p:nvPicPr>
          <p:cNvPr id="9" name="Picture 8" descr="db68b18bfb41eb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6128" y="2925460"/>
            <a:ext cx="1066466" cy="2590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22595" y="2839212"/>
            <a:ext cx="5234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(the exponent is on the 2 only)</a:t>
            </a:r>
          </a:p>
        </p:txBody>
      </p:sp>
      <p:pic>
        <p:nvPicPr>
          <p:cNvPr id="11" name="Picture 10" descr="a8317bc2e11e2fe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56128" y="3431381"/>
            <a:ext cx="1115568" cy="313944"/>
          </a:xfrm>
          <a:prstGeom prst="rect">
            <a:avLst/>
          </a:prstGeom>
        </p:spPr>
      </p:pic>
      <p:pic>
        <p:nvPicPr>
          <p:cNvPr id="12" name="Picture 11" descr="ab059e2234c1904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6128" y="3980021"/>
            <a:ext cx="1252728" cy="2133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0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f06e7d14029634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603" y="2194560"/>
            <a:ext cx="2496312" cy="6675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pic>
        <p:nvPicPr>
          <p:cNvPr id="8" name="Picture 7" descr="3edde1adf91d2fc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80" y="2103120"/>
            <a:ext cx="2499360" cy="673608"/>
          </a:xfrm>
          <a:prstGeom prst="rect">
            <a:avLst/>
          </a:prstGeom>
        </p:spPr>
      </p:pic>
      <p:pic>
        <p:nvPicPr>
          <p:cNvPr id="9" name="Picture 8" descr="3fa91d29a0671f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8946" y="3124200"/>
            <a:ext cx="1061799" cy="51573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0745" y="3153465"/>
            <a:ext cx="167094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  and     </a:t>
            </a:r>
          </a:p>
        </p:txBody>
      </p:sp>
      <p:pic>
        <p:nvPicPr>
          <p:cNvPr id="11" name="Picture 10" descr="8172b02b515cb1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4530" y="3126533"/>
            <a:ext cx="835437" cy="513397"/>
          </a:xfrm>
          <a:prstGeom prst="rect">
            <a:avLst/>
          </a:prstGeom>
        </p:spPr>
      </p:pic>
      <p:pic>
        <p:nvPicPr>
          <p:cNvPr id="12" name="Picture 11" descr="116226914234f12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18946" y="3731371"/>
            <a:ext cx="2569464" cy="515112"/>
          </a:xfrm>
          <a:prstGeom prst="rect">
            <a:avLst/>
          </a:prstGeom>
        </p:spPr>
      </p:pic>
      <p:pic>
        <p:nvPicPr>
          <p:cNvPr id="13" name="Picture 12" descr="ea27676c0bb8583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8946" y="4337923"/>
            <a:ext cx="1481328" cy="5120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98714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17/6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5069" y="2171700"/>
            <a:ext cx="2902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c79d4acb3ae0bdb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284" y="2194560"/>
            <a:ext cx="1545336" cy="4061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5620" y="217170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2807" y="3432379"/>
            <a:ext cx="43093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52" y="3606877"/>
            <a:ext cx="143637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8589" y="3432379"/>
            <a:ext cx="2317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3830" y="2080260"/>
            <a:ext cx="29023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Roscoe says that  </a:t>
            </a:r>
          </a:p>
        </p:txBody>
      </p:sp>
      <p:pic>
        <p:nvPicPr>
          <p:cNvPr id="9" name="Picture 8" descr="349a51316d69c5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9046" y="2103120"/>
            <a:ext cx="1547812" cy="40614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776858" y="2080260"/>
            <a:ext cx="30579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is always positive,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because a square is always positive.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2807" y="3340939"/>
            <a:ext cx="43093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Is he right? Give a value of </a:t>
            </a:r>
          </a:p>
        </p:txBody>
      </p:sp>
      <p:pic>
        <p:nvPicPr>
          <p:cNvPr id="13" name="Picture 12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4952" y="3515437"/>
            <a:ext cx="143637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48589" y="3340939"/>
            <a:ext cx="23172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that settles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89600" y="4110987"/>
            <a:ext cx="13421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When </a:t>
            </a:r>
          </a:p>
        </p:txBody>
      </p:sp>
      <p:pic>
        <p:nvPicPr>
          <p:cNvPr id="16" name="Picture 15" descr="9784f3a1f264e16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94619" y="4229097"/>
            <a:ext cx="1033081" cy="24860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27701" y="4110987"/>
            <a:ext cx="606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:   </a:t>
            </a:r>
          </a:p>
        </p:txBody>
      </p:sp>
      <p:pic>
        <p:nvPicPr>
          <p:cNvPr id="18" name="Picture 17" descr="a4391d9dd133494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97009" y="4122751"/>
            <a:ext cx="3483197" cy="433673"/>
          </a:xfrm>
          <a:prstGeom prst="rect">
            <a:avLst/>
          </a:prstGeom>
        </p:spPr>
      </p:pic>
      <p:pic>
        <p:nvPicPr>
          <p:cNvPr id="19" name="Picture 18" descr="a2ae239b6083298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44464" y="4724445"/>
            <a:ext cx="870108" cy="30937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914572" y="4661580"/>
            <a:ext cx="43212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and 0 is not positive.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3308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No — at n = 121 the value is 0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7297de9a2fe9374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610867"/>
            <a:ext cx="1676400" cy="22555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08940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503ca8bbf5ad037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205227"/>
            <a:ext cx="1167384" cy="22555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68376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fee2d71f7c46e5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744723"/>
            <a:ext cx="1630680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3954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4e620423e0fdea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300983"/>
            <a:ext cx="780288" cy="64617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10717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749d7946d074ee2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168139"/>
            <a:ext cx="1514856" cy="3352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470153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pic>
        <p:nvPicPr>
          <p:cNvPr id="19" name="Picture 18" descr="16b03c438ff63fe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4735067"/>
            <a:ext cx="2215896" cy="390144"/>
          </a:xfrm>
          <a:prstGeom prst="rect">
            <a:avLst/>
          </a:prstGeom>
        </p:spPr>
      </p:pic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 6 — Order of Operations with Radicals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radical expressions — D8J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7–8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Real-World Order of Operations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substitute values into a formula and evaluate it, reading what the situation does rather than hunting for key words.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  <p:sp>
        <p:nvSpPr>
          <p:cNvPr id="11" name="TextBox 10">
            <a:hlinkClick action="ppaction://hlinksldjump" r:id="rId2"/>
          </p:cNvPr>
          <p:cNvSpPr txBox="1"/>
          <p:nvPr/>
        </p:nvSpPr>
        <p:spPr>
          <a:xfrm>
            <a:off x="9372600" y="201168"/>
            <a:ext cx="201168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40" b="0" i="0">
                <a:solidFill>
                  <a:srgbClr val="6B6B6B"/>
                </a:solidFill>
                <a:latin typeface="Arial"/>
              </a:rPr>
              <a:t>←</a:t>
            </a:r>
            <a:r>
              <a:rPr sz="1140" b="0" i="0">
                <a:solidFill>
                  <a:srgbClr val="6B6B6B"/>
                </a:solidFill>
                <a:latin typeface="Lexend"/>
              </a:rPr>
              <a:t> Contents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1" name="Picture 10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3117"/>
            <a:ext cx="1578864" cy="3901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718427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55999f3eae65eb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35726" cy="51738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38402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5" name="Picture 14" descr="9999ab29d2b72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58725"/>
            <a:ext cx="441436" cy="26343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97351" y="338402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7" name="Picture 16" descr="48277941d45974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660" y="3513312"/>
            <a:ext cx="595701" cy="21359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53361" y="338402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a7bbd4c851f1e1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3997"/>
            <a:ext cx="1484376" cy="335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41937" y="1440180"/>
            <a:ext cx="4088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052828"/>
            <a:ext cx="68569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</a:t>
            </a:r>
          </a:p>
        </p:txBody>
      </p:sp>
      <p:pic>
        <p:nvPicPr>
          <p:cNvPr id="12" name="Picture 11" descr="f84234db65bcdb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059" y="2083117"/>
            <a:ext cx="1578864" cy="39014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50563" y="2052828"/>
            <a:ext cx="8623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25/2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718427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55999f3eae65eb7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688336"/>
            <a:ext cx="735726" cy="51738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952078" y="2665476"/>
            <a:ext cx="75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4/3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384026"/>
            <a:ext cx="2118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Evaluate  </a:t>
            </a:r>
          </a:p>
        </p:txBody>
      </p:sp>
      <p:pic>
        <p:nvPicPr>
          <p:cNvPr id="18" name="Picture 17" descr="9999ab29d2b7274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55915" y="3458725"/>
            <a:ext cx="441436" cy="263437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297351" y="338402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0" name="Picture 19" descr="48277941d45974da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7660" y="3513312"/>
            <a:ext cx="595701" cy="21359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053361" y="3384026"/>
            <a:ext cx="27735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42195" y="3384026"/>
            <a:ext cx="55151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18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Vocabulary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formula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912389"/>
            <a:ext cx="4870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a rule written with letters, such as </a:t>
            </a:r>
          </a:p>
        </p:txBody>
      </p:sp>
      <p:pic>
        <p:nvPicPr>
          <p:cNvPr id="10" name="Picture 9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5907" y="1892410"/>
            <a:ext cx="1189545" cy="49715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5453" y="1912389"/>
            <a:ext cx="2854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39859"/>
            <a:ext cx="87905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that becomes a number once each letter is replaced by a value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7536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substitute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504738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replace a letter with its value — in parentheses, so that a negative value keeps its sign and a power stays attached to the whole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29661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0B5394"/>
                </a:solidFill>
                <a:latin typeface="Lexend"/>
              </a:rPr>
              <a:t>unit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959031"/>
            <a:ext cx="10241280" cy="787179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90" b="0" i="0">
                <a:solidFill>
                  <a:srgbClr val="1A1A1A"/>
                </a:solidFill>
                <a:latin typeface="Lexend"/>
              </a:rPr>
              <a:t>what the answer is counted in: feet, dollars, joules. A real-world answer without a unit is not an answer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Substituting: the value goes in parentheses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8994" y="1993392"/>
            <a:ext cx="1408509" cy="590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97503" y="2059908"/>
            <a:ext cx="1452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with   </a:t>
            </a:r>
          </a:p>
        </p:txBody>
      </p:sp>
      <p:pic>
        <p:nvPicPr>
          <p:cNvPr id="12" name="Picture 11" descr="c40d2caa36f208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3327" y="2170874"/>
            <a:ext cx="989980" cy="2468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03308" y="2059908"/>
            <a:ext cx="138813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4" name="Picture 13" descr="039a12261cb8388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4287" y="2173557"/>
            <a:ext cx="869251" cy="244141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923539" y="2059908"/>
            <a:ext cx="28614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</a:t>
            </a:r>
          </a:p>
        </p:txBody>
      </p:sp>
      <p:pic>
        <p:nvPicPr>
          <p:cNvPr id="16" name="Picture 15" descr="8d85e48358ee9db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2506" y="2857944"/>
            <a:ext cx="4856003" cy="5902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868509" y="2924460"/>
            <a:ext cx="14176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joules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32394" y="3699636"/>
            <a:ext cx="11736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with   </a:t>
            </a:r>
          </a:p>
        </p:txBody>
      </p:sp>
      <p:pic>
        <p:nvPicPr>
          <p:cNvPr id="19" name="Picture 18" descr="baf1e744513c75c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8860" y="3813286"/>
            <a:ext cx="901446" cy="23877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170306" y="3699636"/>
            <a:ext cx="6586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:    </a:t>
            </a:r>
          </a:p>
        </p:txBody>
      </p:sp>
      <p:pic>
        <p:nvPicPr>
          <p:cNvPr id="21" name="Picture 20" descr="37650f0ab64081b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91768" y="3754262"/>
            <a:ext cx="2122154" cy="36218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13923" y="3699636"/>
            <a:ext cx="1854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</a:t>
            </a:r>
          </a:p>
        </p:txBody>
      </p:sp>
      <p:pic>
        <p:nvPicPr>
          <p:cNvPr id="23" name="Picture 22" descr="9d75179d4c71dcb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1347" y="3754262"/>
            <a:ext cx="1397777" cy="29779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87552" y="4472305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Substitute in parentheses, then evaluate by the structure — powers before products.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Key words do not decide the operation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213983" y="1970532"/>
            <a:ext cx="787071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plus 4 dollars for each of 6 gigabytes:</a:t>
            </a:r>
          </a:p>
        </p:txBody>
      </p:sp>
      <p:pic>
        <p:nvPicPr>
          <p:cNvPr id="11" name="Picture 10" descr="bbb5fdfab9bb65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2728341"/>
            <a:ext cx="2249424" cy="35356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091939" y="3342132"/>
            <a:ext cx="81148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15 dollars for each of 4 lines, plus 6 dollars of tax:</a:t>
            </a:r>
          </a:p>
        </p:txBody>
      </p:sp>
      <p:pic>
        <p:nvPicPr>
          <p:cNvPr id="13" name="Picture 12" descr="452f0d3dea2c60f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9952" y="4099940"/>
            <a:ext cx="2261616" cy="35356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80060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The same words, the same numbers, different structures. Read the situation.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Round once, at the end — and say the unit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aa366538d8b58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9336" y="2194560"/>
            <a:ext cx="4128944" cy="4212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48280" y="2176565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0392" y="2976959"/>
            <a:ext cx="50028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rounding the side to 14 first:   </a:t>
            </a:r>
          </a:p>
        </p:txBody>
      </p:sp>
      <p:pic>
        <p:nvPicPr>
          <p:cNvPr id="13" name="Picture 12" descr="54bb3b3bdd6a6a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034" y="3082559"/>
            <a:ext cx="1521190" cy="3112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77224" y="2976959"/>
            <a:ext cx="11310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 feet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7552" y="395079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Carry the exact value, round once at the end, and write the unit.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0377" y="1779936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375" y="1737360"/>
            <a:ext cx="1297686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16061" y="1779936"/>
            <a:ext cx="29224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30828" y="2531173"/>
            <a:ext cx="158017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for mass </a:t>
            </a:r>
          </a:p>
        </p:txBody>
      </p:sp>
      <p:pic>
        <p:nvPicPr>
          <p:cNvPr id="12" name="Picture 11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3841" y="2705671"/>
            <a:ext cx="250126" cy="168401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323967" y="2531173"/>
            <a:ext cx="3836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kilograms and speed </a:t>
            </a:r>
          </a:p>
        </p:txBody>
      </p:sp>
      <p:pic>
        <p:nvPicPr>
          <p:cNvPr id="14" name="Picture 13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3771" y="2708148"/>
            <a:ext cx="168401" cy="165925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92173" y="2531173"/>
            <a:ext cx="3475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in meters per second.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62803" y="3216973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17" name="Picture 16" descr="e17610a9e5f4689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69219" y="3339465"/>
            <a:ext cx="190690" cy="2204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59909" y="3216973"/>
            <a:ext cx="717596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a car of mass 1,200 kg travelling at 15 m/s.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108513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Give the answer with its unit.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593a1a205fd7f58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965704" cy="670560"/>
          </a:xfrm>
          <a:prstGeom prst="rect">
            <a:avLst/>
          </a:prstGeom>
        </p:spPr>
      </p:pic>
      <p:pic>
        <p:nvPicPr>
          <p:cNvPr id="9" name="Picture 8" descr="6c72b1ad8ee77d5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65120"/>
            <a:ext cx="2700528" cy="670560"/>
          </a:xfrm>
          <a:prstGeom prst="rect">
            <a:avLst/>
          </a:prstGeom>
        </p:spPr>
      </p:pic>
      <p:pic>
        <p:nvPicPr>
          <p:cNvPr id="10" name="Picture 9" descr="7be42c48f704a7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810000"/>
            <a:ext cx="3648456" cy="35356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62076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135,000 joules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9174" y="1642776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5590" y="1600200"/>
            <a:ext cx="1297686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3276" y="1642776"/>
            <a:ext cx="895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ffb5ee49e4e6dbd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183" y="1765268"/>
            <a:ext cx="1099566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0749" y="1642776"/>
            <a:ext cx="1664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fcf34a7dd0413e5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8339" y="1762791"/>
            <a:ext cx="787527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65866" y="1642776"/>
            <a:ext cx="1043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87936" y="1644015"/>
            <a:ext cx="94357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9" name="Picture 8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4352" y="1600200"/>
            <a:ext cx="1300162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4514" y="1644015"/>
            <a:ext cx="8950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for  </a:t>
            </a:r>
          </a:p>
        </p:txBody>
      </p:sp>
      <p:pic>
        <p:nvPicPr>
          <p:cNvPr id="11" name="Picture 10" descr="68a8df29f71021b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2422" y="1766506"/>
            <a:ext cx="1099566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51988" y="1644015"/>
            <a:ext cx="16647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kg  and  </a:t>
            </a:r>
          </a:p>
        </p:txBody>
      </p:sp>
      <p:pic>
        <p:nvPicPr>
          <p:cNvPr id="13" name="Picture 12" descr="9a2812485007914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9577" y="1764030"/>
            <a:ext cx="787527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767104" y="1644015"/>
            <a:ext cx="104363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m/s.</a:t>
            </a:r>
          </a:p>
        </p:txBody>
      </p:sp>
      <p:pic>
        <p:nvPicPr>
          <p:cNvPr id="15" name="Picture 14" descr="3762f247991bf7e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8688" y="2534602"/>
            <a:ext cx="2112264" cy="301752"/>
          </a:xfrm>
          <a:prstGeom prst="rect">
            <a:avLst/>
          </a:prstGeom>
        </p:spPr>
      </p:pic>
      <p:pic>
        <p:nvPicPr>
          <p:cNvPr id="16" name="Picture 15" descr="ca71fa474550c7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8688" y="3031997"/>
            <a:ext cx="5836920" cy="60655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61,200 joules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floor of side 9 feet is carpeted.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276458"/>
            <a:ext cx="1060704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Carpet is 2.89 dollars a square foot and padding is 0.75 dollars a square foot.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44927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Installation is a flat 95 dollars. Find the total cost.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f0ec63a4d8a0e1e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285744" cy="411480"/>
          </a:xfrm>
          <a:prstGeom prst="rect">
            <a:avLst/>
          </a:prstGeom>
        </p:spPr>
      </p:pic>
      <p:pic>
        <p:nvPicPr>
          <p:cNvPr id="9" name="Picture 8" descr="704c60e1909449b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6040"/>
            <a:ext cx="2499360" cy="353568"/>
          </a:xfrm>
          <a:prstGeom prst="rect">
            <a:avLst/>
          </a:prstGeom>
        </p:spPr>
      </p:pic>
      <p:pic>
        <p:nvPicPr>
          <p:cNvPr id="10" name="Picture 9" descr="12efb6d72685203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3928"/>
            <a:ext cx="3825240" cy="2804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389.84 dollars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0020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A square bathroom floor of side 6 feet is tiled.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3929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Tile is 4.25 dollars a square foot and grout is a flat 13.48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783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45131" y="3267787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030c2bd87e10b7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793" y="3356369"/>
            <a:ext cx="865774" cy="26136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245131" y="3770707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24cf65e451cd10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1861" y="3905962"/>
            <a:ext cx="1887902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245131" y="4273627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2dabb82215e595d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2728" y="4408882"/>
            <a:ext cx="2615993" cy="214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451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166.48 dollars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5958" y="2171700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011b5debc6280b6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1981" y="2242185"/>
            <a:ext cx="463105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5087" y="2171700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2604" y="2291715"/>
            <a:ext cx="809815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2420" y="217170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94720" y="2080260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1f66cf6f8dfc2b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0743" y="2150745"/>
            <a:ext cx="465582" cy="2773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06325" y="2080260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808745f769ad109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3843" y="2200275"/>
            <a:ext cx="809815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023658" y="2080260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pic>
        <p:nvPicPr>
          <p:cNvPr id="13" name="Picture 12" descr="f32b4b5eddd9123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64479" y="2928461"/>
            <a:ext cx="1539240" cy="313944"/>
          </a:xfrm>
          <a:prstGeom prst="rect">
            <a:avLst/>
          </a:prstGeom>
        </p:spPr>
      </p:pic>
      <p:pic>
        <p:nvPicPr>
          <p:cNvPr id="14" name="Picture 13" descr="a8317bc2e11e2fe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64479" y="3431381"/>
            <a:ext cx="1115568" cy="313944"/>
          </a:xfrm>
          <a:prstGeom prst="rect">
            <a:avLst/>
          </a:prstGeom>
        </p:spPr>
      </p:pic>
      <p:pic>
        <p:nvPicPr>
          <p:cNvPr id="15" name="Picture 14" descr="946a1754962a1d8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479" y="3980021"/>
            <a:ext cx="1161288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12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4664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5d0fc710cd4502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297686" cy="54235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0123" y="3424664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3048" y="3599162"/>
            <a:ext cx="250126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3175" y="3424664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2638" y="3601638"/>
            <a:ext cx="168401" cy="1659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1040" y="3424664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560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84758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74519"/>
            <a:ext cx="10058400" cy="8587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cyclist has a mass of 70 kilograms and rides at 8 meters per second.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842988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Her bicycle cost 480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425902"/>
            <a:ext cx="28651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Kinetic energy is  </a:t>
            </a:r>
          </a:p>
        </p:txBody>
      </p:sp>
      <p:pic>
        <p:nvPicPr>
          <p:cNvPr id="11" name="Picture 10" descr="4ee9fb59b86866b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2437" y="3382087"/>
            <a:ext cx="1300162" cy="54483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62600" y="3425902"/>
            <a:ext cx="22000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for a mass  </a:t>
            </a:r>
          </a:p>
        </p:txBody>
      </p:sp>
      <p:pic>
        <p:nvPicPr>
          <p:cNvPr id="13" name="Picture 12" descr="cdb2d0303764b98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25525" y="3600400"/>
            <a:ext cx="250126" cy="168401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575651" y="3425902"/>
            <a:ext cx="238662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a speed  </a:t>
            </a:r>
          </a:p>
        </p:txBody>
      </p:sp>
      <p:pic>
        <p:nvPicPr>
          <p:cNvPr id="15" name="Picture 14" descr="ed57ccb980491c8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5114" y="3602876"/>
            <a:ext cx="168401" cy="1659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993516" y="3425902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28085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Find her kinetic energy.</a:t>
            </a:r>
          </a:p>
        </p:txBody>
      </p:sp>
      <p:pic>
        <p:nvPicPr>
          <p:cNvPr id="18" name="Picture 17" descr="39c59a038134af7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50563" y="4786055"/>
            <a:ext cx="4770120" cy="60655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52976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2,240 joules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Renting a kayak costs 17 dollars plus 9 dollars for each hour.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cost of 3 hours.</a:t>
            </a:r>
          </a:p>
        </p:txBody>
      </p:sp>
      <p:pic>
        <p:nvPicPr>
          <p:cNvPr id="10" name="Picture 9" descr="4878fd7dba5b8d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4939" y="3369323"/>
            <a:ext cx="1365504" cy="252984"/>
          </a:xfrm>
          <a:prstGeom prst="rect">
            <a:avLst/>
          </a:prstGeom>
        </p:spPr>
      </p:pic>
      <p:pic>
        <p:nvPicPr>
          <p:cNvPr id="11" name="Picture 10" descr="fcf2b27a5b2a715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4939" y="3902723"/>
            <a:ext cx="1801368" cy="252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44 dollars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floor of side 8 feet is tiled at 3.50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Installation is a flat 60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1009" y="3824378"/>
            <a:ext cx="117782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Area:  </a:t>
            </a:r>
          </a:p>
        </p:txBody>
      </p:sp>
      <p:pic>
        <p:nvPicPr>
          <p:cNvPr id="12" name="Picture 11" descr="c7c93517f0e2c3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41671" y="3912961"/>
            <a:ext cx="893778" cy="259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01009" y="4327298"/>
            <a:ext cx="98389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Tile:  </a:t>
            </a:r>
          </a:p>
        </p:txBody>
      </p:sp>
      <p:pic>
        <p:nvPicPr>
          <p:cNvPr id="14" name="Picture 13" descr="d34fe4cc863321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7739" y="4462553"/>
            <a:ext cx="1934575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601009" y="4830218"/>
            <a:ext cx="119475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Total:  </a:t>
            </a:r>
          </a:p>
        </p:txBody>
      </p:sp>
      <p:pic>
        <p:nvPicPr>
          <p:cNvPr id="16" name="Picture 15" descr="ac2fcdbdf825fb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606" y="4965473"/>
            <a:ext cx="1904238" cy="214693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540171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284 dollars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8187" y="2237136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afdff26349098b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4211" y="2194560"/>
            <a:ext cx="804862" cy="54235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9073" y="2237136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938dd359498bb5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6591" y="2359628"/>
            <a:ext cx="933640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0231" y="2237136"/>
            <a:ext cx="1125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8589" y="2362104"/>
            <a:ext cx="621601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0190" y="2237136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011233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36775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29400" y="36775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43633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360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363352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3,600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369192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56949" y="2146935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1e305187b6b37f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2973" y="2103120"/>
            <a:ext cx="807339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0312" y="2146935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68297ebc4f2432d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7829" y="2269426"/>
            <a:ext cx="933640" cy="22536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451470" y="2146935"/>
            <a:ext cx="112551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3" name="Picture 12" descr="f632c3e74aa9099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39827" y="2271903"/>
            <a:ext cx="621601" cy="22288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061429" y="2146935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92226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value?</a:t>
            </a:r>
          </a:p>
        </p:txBody>
      </p:sp>
      <p:pic>
        <p:nvPicPr>
          <p:cNvPr id="16" name="Picture 15" descr="1adf52fb308924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47971" y="3615449"/>
            <a:ext cx="1517904" cy="304800"/>
          </a:xfrm>
          <a:prstGeom prst="rect">
            <a:avLst/>
          </a:prstGeom>
        </p:spPr>
      </p:pic>
      <p:pic>
        <p:nvPicPr>
          <p:cNvPr id="17" name="Picture 16" descr="f5a67ba185f37fd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7971" y="4109797"/>
            <a:ext cx="3578352" cy="60655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485350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A — 180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06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12(1.25) + 38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569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 + 1.25 + 38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 + 38)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2766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12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2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(1.25) + 38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48606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 square patio of side 12 feet is sealed at 1.25 dollars a square foot.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Delivery of the sealer is a flat 38 dollars.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92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expression gives the total cost?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8974" y="3824378"/>
            <a:ext cx="11063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Area  </a:t>
            </a:r>
          </a:p>
        </p:txBody>
      </p:sp>
      <p:pic>
        <p:nvPicPr>
          <p:cNvPr id="12" name="Picture 11" descr="8267fb8fcdfcb9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198" y="3910627"/>
            <a:ext cx="392049" cy="2590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0247" y="3824378"/>
            <a:ext cx="553164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square feet, at 1.25 dollars each:   </a:t>
            </a:r>
          </a:p>
        </p:txBody>
      </p:sp>
      <p:pic>
        <p:nvPicPr>
          <p:cNvPr id="14" name="Picture 13" descr="7b1b2eac3aeeeb7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4730" y="3912961"/>
            <a:ext cx="1187815" cy="26136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974" y="4327298"/>
            <a:ext cx="48466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The 38 dollars is added once:   </a:t>
            </a:r>
          </a:p>
        </p:txBody>
      </p:sp>
      <p:pic>
        <p:nvPicPr>
          <p:cNvPr id="16" name="Picture 15" descr="ce65cf9872ebd8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8502" y="4415881"/>
            <a:ext cx="2557653" cy="26136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77240" y="4898798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12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2</a:t>
            </a:r>
            <a:r>
              <a:rPr sz="3040" b="1" i="0">
                <a:solidFill>
                  <a:srgbClr val="9E1B32"/>
                </a:solidFill>
                <a:latin typeface="Lexend"/>
              </a:rPr>
              <a:t>(1.25) + 38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4344" y="2171700"/>
            <a:ext cx="546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798a5139adaa76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5332" y="2207514"/>
            <a:ext cx="864298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59631" y="2171700"/>
            <a:ext cx="1774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6820" y="2080260"/>
            <a:ext cx="5468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square garden has 4 sides, each  </a:t>
            </a:r>
          </a:p>
        </p:txBody>
      </p:sp>
      <p:pic>
        <p:nvPicPr>
          <p:cNvPr id="9" name="Picture 8" descr="d8ed0de82c731b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7809" y="2116074"/>
            <a:ext cx="859345" cy="3888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357154" y="2080260"/>
            <a:ext cx="1774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feet long.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Find its perimeter, to the nearest hundredth of a foot.</a:t>
            </a:r>
          </a:p>
        </p:txBody>
      </p:sp>
      <p:pic>
        <p:nvPicPr>
          <p:cNvPr id="12" name="Picture 11" descr="aa26d55f7ae6496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2771" y="3436951"/>
            <a:ext cx="2532888" cy="432816"/>
          </a:xfrm>
          <a:prstGeom prst="rect">
            <a:avLst/>
          </a:prstGeom>
        </p:spPr>
      </p:pic>
      <p:pic>
        <p:nvPicPr>
          <p:cNvPr id="13" name="Picture 12" descr="351ed85fae5af76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52771" y="4094747"/>
            <a:ext cx="2968752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48.99 feet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4744" y="2238375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d07fc0815ebc50d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767" y="2194560"/>
            <a:ext cx="839533" cy="54483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20301" y="2238375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7818" y="2363343"/>
            <a:ext cx="641413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9232" y="2238375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f4a366969adde49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6164" y="2350960"/>
            <a:ext cx="651319" cy="235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47483" y="2238375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43fbcf2c2a45ea2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4415" y="2363343"/>
            <a:ext cx="609219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83634" y="2238375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33506" y="2148173"/>
            <a:ext cx="16831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Evaluate  </a:t>
            </a:r>
          </a:p>
        </p:txBody>
      </p:sp>
      <p:pic>
        <p:nvPicPr>
          <p:cNvPr id="9" name="Picture 8" descr="e9fde38d04c0ca8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9529" y="2103120"/>
            <a:ext cx="837057" cy="54730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16586" y="2148173"/>
            <a:ext cx="134467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b10d32bef8baa2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4104" y="2273141"/>
            <a:ext cx="641413" cy="22288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165517" y="2148173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3" name="Picture 12" descr="723048b2d1c4883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2449" y="2260758"/>
            <a:ext cx="653796" cy="23526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146245" y="2148173"/>
            <a:ext cx="46409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15" name="Picture 14" descr="848bbba5727756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73177" y="2273141"/>
            <a:ext cx="611695" cy="22288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084872" y="2148173"/>
            <a:ext cx="28030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2318" y="2975038"/>
            <a:ext cx="114130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8" name="Picture 17" descr="e81a928ba8ce6df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6461" y="3035141"/>
            <a:ext cx="2872740" cy="309372"/>
          </a:xfrm>
          <a:prstGeom prst="rect">
            <a:avLst/>
          </a:prstGeom>
        </p:spPr>
      </p:pic>
      <p:pic>
        <p:nvPicPr>
          <p:cNvPr id="19" name="Picture 18" descr="aafef2d9b5795f3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197182" y="3631310"/>
            <a:ext cx="1453896" cy="25298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1576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3697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One pizza order costs 13 dollars plus 2 dollars for each of 5 toppings.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24328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Another costs 13 dollars for each of 2 pizzas, plus 5 dollars for delivery.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4553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Find both totals, and say why the key words could not have told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49011" y="3717036"/>
            <a:ext cx="203792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First order:  </a:t>
            </a:r>
          </a:p>
        </p:txBody>
      </p:sp>
      <p:pic>
        <p:nvPicPr>
          <p:cNvPr id="12" name="Picture 11" descr="db2cb275f08ab7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777" y="3854624"/>
            <a:ext cx="2919364" cy="2123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749011" y="4219956"/>
            <a:ext cx="24900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Second order:  </a:t>
            </a:r>
          </a:p>
        </p:txBody>
      </p:sp>
      <p:pic>
        <p:nvPicPr>
          <p:cNvPr id="14" name="Picture 13" descr="ecde91c60d696d5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1885" y="4355211"/>
            <a:ext cx="2760678" cy="21469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749011" y="4722876"/>
            <a:ext cx="880065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Both say "plus" and "for each". What repeats is different.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29437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23 dollars and 31 dollars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8e7af367fc956fb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86484"/>
            <a:ext cx="466344" cy="2743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2093976" y="1495044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1" name="Picture 10" descr="368514c03b325e8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4284" y="1612391"/>
            <a:ext cx="810768" cy="22250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154936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3" name="Picture 12" descr="76e92664c8540a7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112263"/>
            <a:ext cx="807720" cy="5425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435352" y="2154936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15" name="Picture 14" descr="0531a46c557d60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95660" y="2270759"/>
            <a:ext cx="908304" cy="22555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503964" y="2154936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17" name="Picture 16" descr="db6b9bf3d6868ca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54305" y="2273807"/>
            <a:ext cx="649224" cy="21945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2881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9" name="Picture 18" descr="2ccaff4dbf2c8eb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627632" y="2837687"/>
            <a:ext cx="841248" cy="5455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468880" y="2881883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21" name="Picture 20" descr="bd1f822a1acce55c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29188" y="2997707"/>
            <a:ext cx="646176" cy="225552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275364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3" name="Picture 22" descr="ca3738318bc6ad64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91805" y="2993135"/>
            <a:ext cx="630936" cy="23469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222741" y="2881883"/>
            <a:ext cx="4536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,  </a:t>
            </a:r>
          </a:p>
        </p:txBody>
      </p:sp>
      <p:pic>
        <p:nvPicPr>
          <p:cNvPr id="25" name="Picture 24" descr="26463fb98544f316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539182" y="3000755"/>
            <a:ext cx="609600" cy="219456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960120" y="3543299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3543299"/>
            <a:ext cx="95440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square room of side 10 feet is carpeted at 2.65 dollars a square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3982211"/>
            <a:ext cx="80930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foot, with a flat 55 dollars for fitting. Find the total cost.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57657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30" name="Picture 29" descr="51cdd467e13c212c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27632" y="4631436"/>
            <a:ext cx="1627632" cy="34747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255264" y="4576571"/>
            <a:ext cx="12974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when  </a:t>
            </a:r>
          </a:p>
        </p:txBody>
      </p:sp>
      <p:pic>
        <p:nvPicPr>
          <p:cNvPr id="32" name="Picture 31" descr="213bf21424f7f3b9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15572" y="4695444"/>
            <a:ext cx="646176" cy="21945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061748" y="4576571"/>
            <a:ext cx="108750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  and  </a:t>
            </a:r>
          </a:p>
        </p:txBody>
      </p:sp>
      <p:pic>
        <p:nvPicPr>
          <p:cNvPr id="34" name="Picture 33" descr="393881ab0a530490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12089" y="4657344"/>
            <a:ext cx="612648" cy="295656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960120" y="517093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54480" y="5170931"/>
            <a:ext cx="985119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A gym charges 25 dollars to join plus 8 dollars for each of 6 classes.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609844"/>
            <a:ext cx="2861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the total cost.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7–8 — Real-World Order of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Evaluate variable expressions: word problems — DPG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