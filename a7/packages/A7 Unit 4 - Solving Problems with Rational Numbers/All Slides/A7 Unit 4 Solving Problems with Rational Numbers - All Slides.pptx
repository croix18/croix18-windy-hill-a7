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8.xml"/><Relationship Id="rId4" Type="http://schemas.openxmlformats.org/officeDocument/2006/relationships/slide" Target="slide73.xml"/><Relationship Id="rId5" Type="http://schemas.openxmlformats.org/officeDocument/2006/relationships/slide" Target="slide108.xml"/><Relationship Id="rId6" Type="http://schemas.openxmlformats.org/officeDocument/2006/relationships/slide" Target="slide143.xml"/><Relationship Id="rId7" Type="http://schemas.openxmlformats.org/officeDocument/2006/relationships/slide" Target="slide17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Relationship Id="rId3" Type="http://schemas.openxmlformats.org/officeDocument/2006/relationships/image" Target="../media/image100.png"/><Relationship Id="rId4" Type="http://schemas.openxmlformats.org/officeDocument/2006/relationships/image" Target="../media/image10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Relationship Id="rId3" Type="http://schemas.openxmlformats.org/officeDocument/2006/relationships/image" Target="../media/image104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13.png"/><Relationship Id="rId4" Type="http://schemas.openxmlformats.org/officeDocument/2006/relationships/image" Target="../media/image114.png"/><Relationship Id="rId5" Type="http://schemas.openxmlformats.org/officeDocument/2006/relationships/image" Target="../media/image115.png"/><Relationship Id="rId6" Type="http://schemas.openxmlformats.org/officeDocument/2006/relationships/image" Target="../media/image116.png"/><Relationship Id="rId7" Type="http://schemas.openxmlformats.org/officeDocument/2006/relationships/image" Target="../media/image11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Relationship Id="rId4" Type="http://schemas.openxmlformats.org/officeDocument/2006/relationships/image" Target="../media/image121.png"/><Relationship Id="rId5" Type="http://schemas.openxmlformats.org/officeDocument/2006/relationships/image" Target="../media/image12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png"/><Relationship Id="rId3" Type="http://schemas.openxmlformats.org/officeDocument/2006/relationships/image" Target="../media/image126.png"/><Relationship Id="rId4" Type="http://schemas.openxmlformats.org/officeDocument/2006/relationships/image" Target="../media/image127.png"/><Relationship Id="rId5" Type="http://schemas.openxmlformats.org/officeDocument/2006/relationships/image" Target="../media/image128.png"/><Relationship Id="rId6" Type="http://schemas.openxmlformats.org/officeDocument/2006/relationships/image" Target="../media/image12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png"/><Relationship Id="rId3" Type="http://schemas.openxmlformats.org/officeDocument/2006/relationships/image" Target="../media/image132.png"/><Relationship Id="rId4" Type="http://schemas.openxmlformats.org/officeDocument/2006/relationships/image" Target="../media/image133.png"/><Relationship Id="rId5" Type="http://schemas.openxmlformats.org/officeDocument/2006/relationships/image" Target="../media/image13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png"/><Relationship Id="rId3" Type="http://schemas.openxmlformats.org/officeDocument/2006/relationships/image" Target="../media/image137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png"/><Relationship Id="rId3" Type="http://schemas.openxmlformats.org/officeDocument/2006/relationships/image" Target="../media/image142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47.png"/><Relationship Id="rId4" Type="http://schemas.openxmlformats.org/officeDocument/2006/relationships/image" Target="../media/image148.png"/><Relationship Id="rId5" Type="http://schemas.openxmlformats.org/officeDocument/2006/relationships/image" Target="../media/image149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png"/><Relationship Id="rId3" Type="http://schemas.openxmlformats.org/officeDocument/2006/relationships/image" Target="../media/image152.png"/><Relationship Id="rId4" Type="http://schemas.openxmlformats.org/officeDocument/2006/relationships/image" Target="../media/image153.png"/><Relationship Id="rId5" Type="http://schemas.openxmlformats.org/officeDocument/2006/relationships/image" Target="../media/image15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png"/><Relationship Id="rId3" Type="http://schemas.openxmlformats.org/officeDocument/2006/relationships/image" Target="../media/image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png"/><Relationship Id="rId3" Type="http://schemas.openxmlformats.org/officeDocument/2006/relationships/image" Target="../media/image7.png"/><Relationship Id="rId4" Type="http://schemas.openxmlformats.org/officeDocument/2006/relationships/image" Target="../media/image157.png"/><Relationship Id="rId5" Type="http://schemas.openxmlformats.org/officeDocument/2006/relationships/image" Target="../media/image158.png"/><Relationship Id="rId6" Type="http://schemas.openxmlformats.org/officeDocument/2006/relationships/image" Target="../media/image15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png"/><Relationship Id="rId3" Type="http://schemas.openxmlformats.org/officeDocument/2006/relationships/image" Target="../media/image161.png"/><Relationship Id="rId4" Type="http://schemas.openxmlformats.org/officeDocument/2006/relationships/image" Target="../media/image16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64.png"/><Relationship Id="rId4" Type="http://schemas.openxmlformats.org/officeDocument/2006/relationships/image" Target="../media/image165.png"/><Relationship Id="rId5" Type="http://schemas.openxmlformats.org/officeDocument/2006/relationships/image" Target="../media/image166.png"/><Relationship Id="rId6" Type="http://schemas.openxmlformats.org/officeDocument/2006/relationships/image" Target="../media/image167.png"/><Relationship Id="rId7" Type="http://schemas.openxmlformats.org/officeDocument/2006/relationships/image" Target="../media/image168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png"/><Relationship Id="rId3" Type="http://schemas.openxmlformats.org/officeDocument/2006/relationships/image" Target="../media/image170.png"/><Relationship Id="rId4" Type="http://schemas.openxmlformats.org/officeDocument/2006/relationships/image" Target="../media/image171.png"/><Relationship Id="rId5" Type="http://schemas.openxmlformats.org/officeDocument/2006/relationships/image" Target="../media/image172.png"/><Relationship Id="rId6" Type="http://schemas.openxmlformats.org/officeDocument/2006/relationships/image" Target="../media/image173.png"/><Relationship Id="rId7" Type="http://schemas.openxmlformats.org/officeDocument/2006/relationships/image" Target="../media/image81.png"/><Relationship Id="rId8" Type="http://schemas.openxmlformats.org/officeDocument/2006/relationships/image" Target="../media/image17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76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76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png"/><Relationship Id="rId3" Type="http://schemas.openxmlformats.org/officeDocument/2006/relationships/image" Target="../media/image17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png"/><Relationship Id="rId3" Type="http://schemas.openxmlformats.org/officeDocument/2006/relationships/image" Target="../media/image180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png"/><Relationship Id="rId3" Type="http://schemas.openxmlformats.org/officeDocument/2006/relationships/image" Target="../media/image18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3.png"/><Relationship Id="rId3" Type="http://schemas.openxmlformats.org/officeDocument/2006/relationships/image" Target="../media/image184.png"/><Relationship Id="rId4" Type="http://schemas.openxmlformats.org/officeDocument/2006/relationships/image" Target="../media/image185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8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89.png"/><Relationship Id="rId4" Type="http://schemas.openxmlformats.org/officeDocument/2006/relationships/image" Target="../media/image190.png"/><Relationship Id="rId5" Type="http://schemas.openxmlformats.org/officeDocument/2006/relationships/image" Target="../media/image191.png"/><Relationship Id="rId6" Type="http://schemas.openxmlformats.org/officeDocument/2006/relationships/image" Target="../media/image192.png"/><Relationship Id="rId7" Type="http://schemas.openxmlformats.org/officeDocument/2006/relationships/image" Target="../media/image19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4.png"/><Relationship Id="rId3" Type="http://schemas.openxmlformats.org/officeDocument/2006/relationships/image" Target="../media/image195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png"/><Relationship Id="rId3" Type="http://schemas.openxmlformats.org/officeDocument/2006/relationships/image" Target="../media/image197.png"/><Relationship Id="rId4" Type="http://schemas.openxmlformats.org/officeDocument/2006/relationships/image" Target="../media/image19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9.png"/><Relationship Id="rId3" Type="http://schemas.openxmlformats.org/officeDocument/2006/relationships/image" Target="../media/image200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png"/><Relationship Id="rId3" Type="http://schemas.openxmlformats.org/officeDocument/2006/relationships/image" Target="../media/image202.png"/><Relationship Id="rId4" Type="http://schemas.openxmlformats.org/officeDocument/2006/relationships/image" Target="../media/image203.png"/><Relationship Id="rId5" Type="http://schemas.openxmlformats.org/officeDocument/2006/relationships/image" Target="../media/image204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png"/><Relationship Id="rId3" Type="http://schemas.openxmlformats.org/officeDocument/2006/relationships/image" Target="../media/image206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7.png"/><Relationship Id="rId3" Type="http://schemas.openxmlformats.org/officeDocument/2006/relationships/image" Target="../media/image208.png"/><Relationship Id="rId4" Type="http://schemas.openxmlformats.org/officeDocument/2006/relationships/image" Target="../media/image209.png"/><Relationship Id="rId5" Type="http://schemas.openxmlformats.org/officeDocument/2006/relationships/image" Target="../media/image210.png"/><Relationship Id="rId6" Type="http://schemas.openxmlformats.org/officeDocument/2006/relationships/image" Target="../media/image211.png"/><Relationship Id="rId7" Type="http://schemas.openxmlformats.org/officeDocument/2006/relationships/image" Target="../media/image21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7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219.png"/><Relationship Id="rId4" Type="http://schemas.openxmlformats.org/officeDocument/2006/relationships/image" Target="../media/image220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1.png"/><Relationship Id="rId3" Type="http://schemas.openxmlformats.org/officeDocument/2006/relationships/image" Target="../media/image222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3.png"/><Relationship Id="rId3" Type="http://schemas.openxmlformats.org/officeDocument/2006/relationships/image" Target="../media/image224.png"/><Relationship Id="rId4" Type="http://schemas.openxmlformats.org/officeDocument/2006/relationships/image" Target="../media/image225.png"/><Relationship Id="rId5" Type="http://schemas.openxmlformats.org/officeDocument/2006/relationships/image" Target="../media/image191.png"/><Relationship Id="rId6" Type="http://schemas.openxmlformats.org/officeDocument/2006/relationships/image" Target="../media/image226.png"/><Relationship Id="rId7" Type="http://schemas.openxmlformats.org/officeDocument/2006/relationships/image" Target="../media/image227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8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9.png"/><Relationship Id="rId3" Type="http://schemas.openxmlformats.org/officeDocument/2006/relationships/image" Target="../media/image230.png"/><Relationship Id="rId4" Type="http://schemas.openxmlformats.org/officeDocument/2006/relationships/image" Target="../media/image23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2.png"/><Relationship Id="rId3" Type="http://schemas.openxmlformats.org/officeDocument/2006/relationships/image" Target="../media/image233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239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0.png"/><Relationship Id="rId3" Type="http://schemas.openxmlformats.org/officeDocument/2006/relationships/image" Target="../media/image241.png"/><Relationship Id="rId4" Type="http://schemas.openxmlformats.org/officeDocument/2006/relationships/image" Target="../media/image24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3.png"/><Relationship Id="rId3" Type="http://schemas.openxmlformats.org/officeDocument/2006/relationships/image" Target="../media/image244.png"/><Relationship Id="rId4" Type="http://schemas.openxmlformats.org/officeDocument/2006/relationships/image" Target="../media/image245.png"/><Relationship Id="rId5" Type="http://schemas.openxmlformats.org/officeDocument/2006/relationships/image" Target="../media/image246.png"/><Relationship Id="rId6" Type="http://schemas.openxmlformats.org/officeDocument/2006/relationships/image" Target="../media/image247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8.png"/><Relationship Id="rId3" Type="http://schemas.openxmlformats.org/officeDocument/2006/relationships/image" Target="../media/image249.png"/><Relationship Id="rId4" Type="http://schemas.openxmlformats.org/officeDocument/2006/relationships/image" Target="../media/image250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8.png"/><Relationship Id="rId3" Type="http://schemas.openxmlformats.org/officeDocument/2006/relationships/image" Target="../media/image249.png"/><Relationship Id="rId4" Type="http://schemas.openxmlformats.org/officeDocument/2006/relationships/image" Target="../media/image250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png"/><Relationship Id="rId3" Type="http://schemas.openxmlformats.org/officeDocument/2006/relationships/image" Target="../media/image252.png"/><Relationship Id="rId4" Type="http://schemas.openxmlformats.org/officeDocument/2006/relationships/image" Target="../media/image253.png"/><Relationship Id="rId5" Type="http://schemas.openxmlformats.org/officeDocument/2006/relationships/image" Target="../media/image254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png"/><Relationship Id="rId3" Type="http://schemas.openxmlformats.org/officeDocument/2006/relationships/image" Target="../media/image256.png"/><Relationship Id="rId4" Type="http://schemas.openxmlformats.org/officeDocument/2006/relationships/image" Target="../media/image257.png"/><Relationship Id="rId5" Type="http://schemas.openxmlformats.org/officeDocument/2006/relationships/image" Target="../media/image258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260.png"/><Relationship Id="rId4" Type="http://schemas.openxmlformats.org/officeDocument/2006/relationships/image" Target="../media/image261.png"/><Relationship Id="rId5" Type="http://schemas.openxmlformats.org/officeDocument/2006/relationships/image" Target="../media/image262.png"/><Relationship Id="rId6" Type="http://schemas.openxmlformats.org/officeDocument/2006/relationships/image" Target="../media/image263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4.png"/><Relationship Id="rId3" Type="http://schemas.openxmlformats.org/officeDocument/2006/relationships/image" Target="../media/image265.png"/><Relationship Id="rId4" Type="http://schemas.openxmlformats.org/officeDocument/2006/relationships/image" Target="../media/image266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7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8.png"/><Relationship Id="rId3" Type="http://schemas.openxmlformats.org/officeDocument/2006/relationships/image" Target="../media/image256.png"/><Relationship Id="rId4" Type="http://schemas.openxmlformats.org/officeDocument/2006/relationships/image" Target="../media/image26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0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1.png"/><Relationship Id="rId3" Type="http://schemas.openxmlformats.org/officeDocument/2006/relationships/image" Target="../media/image272.png"/><Relationship Id="rId4" Type="http://schemas.openxmlformats.org/officeDocument/2006/relationships/image" Target="../media/image273.png"/><Relationship Id="rId5" Type="http://schemas.openxmlformats.org/officeDocument/2006/relationships/image" Target="../media/image274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5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6.png"/><Relationship Id="rId3" Type="http://schemas.openxmlformats.org/officeDocument/2006/relationships/image" Target="../media/image277.png"/><Relationship Id="rId4" Type="http://schemas.openxmlformats.org/officeDocument/2006/relationships/image" Target="../media/image278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9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0.png"/><Relationship Id="rId3" Type="http://schemas.openxmlformats.org/officeDocument/2006/relationships/image" Target="../media/image281.png"/><Relationship Id="rId4" Type="http://schemas.openxmlformats.org/officeDocument/2006/relationships/image" Target="../media/image282.png"/><Relationship Id="rId5" Type="http://schemas.openxmlformats.org/officeDocument/2006/relationships/image" Target="../media/image283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4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5.png"/><Relationship Id="rId3" Type="http://schemas.openxmlformats.org/officeDocument/2006/relationships/image" Target="../media/image286.png"/><Relationship Id="rId4" Type="http://schemas.openxmlformats.org/officeDocument/2006/relationships/image" Target="../media/image287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8.png"/><Relationship Id="rId3" Type="http://schemas.openxmlformats.org/officeDocument/2006/relationships/image" Target="../media/image289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1.png"/><Relationship Id="rId3" Type="http://schemas.openxmlformats.org/officeDocument/2006/relationships/image" Target="../media/image292.png"/><Relationship Id="rId4" Type="http://schemas.openxmlformats.org/officeDocument/2006/relationships/image" Target="../media/image29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4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5.png"/><Relationship Id="rId3" Type="http://schemas.openxmlformats.org/officeDocument/2006/relationships/image" Target="../media/image296.png"/><Relationship Id="rId4" Type="http://schemas.openxmlformats.org/officeDocument/2006/relationships/image" Target="../media/image297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8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9.png"/><Relationship Id="rId3" Type="http://schemas.openxmlformats.org/officeDocument/2006/relationships/image" Target="../media/image300.png"/><Relationship Id="rId4" Type="http://schemas.openxmlformats.org/officeDocument/2006/relationships/image" Target="../media/image289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2.png"/><Relationship Id="rId3" Type="http://schemas.openxmlformats.org/officeDocument/2006/relationships/image" Target="../media/image303.png"/><Relationship Id="rId4" Type="http://schemas.openxmlformats.org/officeDocument/2006/relationships/image" Target="../media/image304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5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6.png"/><Relationship Id="rId3" Type="http://schemas.openxmlformats.org/officeDocument/2006/relationships/image" Target="../media/image307.png"/><Relationship Id="rId4" Type="http://schemas.openxmlformats.org/officeDocument/2006/relationships/image" Target="../media/image308.png"/><Relationship Id="rId5" Type="http://schemas.openxmlformats.org/officeDocument/2006/relationships/image" Target="../media/image30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1.png"/><Relationship Id="rId3" Type="http://schemas.openxmlformats.org/officeDocument/2006/relationships/image" Target="../media/image312.png"/><Relationship Id="rId4" Type="http://schemas.openxmlformats.org/officeDocument/2006/relationships/image" Target="../media/image313.png"/><Relationship Id="rId5" Type="http://schemas.openxmlformats.org/officeDocument/2006/relationships/image" Target="../media/image314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5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6.png"/><Relationship Id="rId3" Type="http://schemas.openxmlformats.org/officeDocument/2006/relationships/image" Target="../media/image317.png"/><Relationship Id="rId4" Type="http://schemas.openxmlformats.org/officeDocument/2006/relationships/image" Target="../media/image318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9.png"/><Relationship Id="rId3" Type="http://schemas.openxmlformats.org/officeDocument/2006/relationships/image" Target="../media/image320.png"/><Relationship Id="rId4" Type="http://schemas.openxmlformats.org/officeDocument/2006/relationships/image" Target="../media/image321.png"/><Relationship Id="rId5" Type="http://schemas.openxmlformats.org/officeDocument/2006/relationships/image" Target="../media/image322.png"/><Relationship Id="rId6" Type="http://schemas.openxmlformats.org/officeDocument/2006/relationships/image" Target="../media/image323.png"/><Relationship Id="rId7" Type="http://schemas.openxmlformats.org/officeDocument/2006/relationships/image" Target="../media/image324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5.png"/><Relationship Id="rId3" Type="http://schemas.openxmlformats.org/officeDocument/2006/relationships/image" Target="../media/image326.png"/><Relationship Id="rId4" Type="http://schemas.openxmlformats.org/officeDocument/2006/relationships/image" Target="../media/image327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5.png"/><Relationship Id="rId3" Type="http://schemas.openxmlformats.org/officeDocument/2006/relationships/image" Target="../media/image326.png"/><Relationship Id="rId4" Type="http://schemas.openxmlformats.org/officeDocument/2006/relationships/image" Target="../media/image327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8.png"/><Relationship Id="rId3" Type="http://schemas.openxmlformats.org/officeDocument/2006/relationships/image" Target="../media/image329.png"/><Relationship Id="rId4" Type="http://schemas.openxmlformats.org/officeDocument/2006/relationships/image" Target="../media/image330.png"/><Relationship Id="rId5" Type="http://schemas.openxmlformats.org/officeDocument/2006/relationships/image" Target="../media/image33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2.png"/><Relationship Id="rId3" Type="http://schemas.openxmlformats.org/officeDocument/2006/relationships/image" Target="../media/image333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5.png"/><Relationship Id="rId3" Type="http://schemas.openxmlformats.org/officeDocument/2006/relationships/image" Target="../media/image336.png"/><Relationship Id="rId4" Type="http://schemas.openxmlformats.org/officeDocument/2006/relationships/image" Target="../media/image337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8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9.png"/><Relationship Id="rId3" Type="http://schemas.openxmlformats.org/officeDocument/2006/relationships/image" Target="../media/image340.png"/><Relationship Id="rId4" Type="http://schemas.openxmlformats.org/officeDocument/2006/relationships/image" Target="../media/image341.png"/><Relationship Id="rId5" Type="http://schemas.openxmlformats.org/officeDocument/2006/relationships/image" Target="../media/image342.png"/><Relationship Id="rId6" Type="http://schemas.openxmlformats.org/officeDocument/2006/relationships/image" Target="../media/image343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4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5.png"/><Relationship Id="rId3" Type="http://schemas.openxmlformats.org/officeDocument/2006/relationships/image" Target="../media/image346.png"/><Relationship Id="rId4" Type="http://schemas.openxmlformats.org/officeDocument/2006/relationships/image" Target="../media/image347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8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9.png"/><Relationship Id="rId3" Type="http://schemas.openxmlformats.org/officeDocument/2006/relationships/image" Target="../media/image350.png"/><Relationship Id="rId4" Type="http://schemas.openxmlformats.org/officeDocument/2006/relationships/image" Target="../media/image351.png"/><Relationship Id="rId5" Type="http://schemas.openxmlformats.org/officeDocument/2006/relationships/image" Target="../media/image352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4.png"/><Relationship Id="rId3" Type="http://schemas.openxmlformats.org/officeDocument/2006/relationships/image" Target="../media/image355.png"/><Relationship Id="rId4" Type="http://schemas.openxmlformats.org/officeDocument/2006/relationships/image" Target="../media/image356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7.png"/><Relationship Id="rId3" Type="http://schemas.openxmlformats.org/officeDocument/2006/relationships/image" Target="../media/image358.png"/><Relationship Id="rId4" Type="http://schemas.openxmlformats.org/officeDocument/2006/relationships/image" Target="../media/image359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0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1.png"/><Relationship Id="rId3" Type="http://schemas.openxmlformats.org/officeDocument/2006/relationships/image" Target="../media/image362.png"/><Relationship Id="rId4" Type="http://schemas.openxmlformats.org/officeDocument/2006/relationships/image" Target="../media/image363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4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5.png"/><Relationship Id="rId3" Type="http://schemas.openxmlformats.org/officeDocument/2006/relationships/image" Target="../media/image366.png"/><Relationship Id="rId4" Type="http://schemas.openxmlformats.org/officeDocument/2006/relationships/image" Target="../media/image367.png"/><Relationship Id="rId5" Type="http://schemas.openxmlformats.org/officeDocument/2006/relationships/image" Target="../media/image368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9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0.png"/><Relationship Id="rId3" Type="http://schemas.openxmlformats.org/officeDocument/2006/relationships/image" Target="../media/image371.png"/><Relationship Id="rId4" Type="http://schemas.openxmlformats.org/officeDocument/2006/relationships/image" Target="../media/image372.png"/><Relationship Id="rId5" Type="http://schemas.openxmlformats.org/officeDocument/2006/relationships/image" Target="../media/image373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4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5.png"/><Relationship Id="rId3" Type="http://schemas.openxmlformats.org/officeDocument/2006/relationships/image" Target="../media/image376.png"/><Relationship Id="rId4" Type="http://schemas.openxmlformats.org/officeDocument/2006/relationships/image" Target="../media/image377.png"/><Relationship Id="rId5" Type="http://schemas.openxmlformats.org/officeDocument/2006/relationships/image" Target="../media/image378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9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0.png"/><Relationship Id="rId3" Type="http://schemas.openxmlformats.org/officeDocument/2006/relationships/image" Target="../media/image381.png"/><Relationship Id="rId4" Type="http://schemas.openxmlformats.org/officeDocument/2006/relationships/image" Target="../media/image382.png"/><Relationship Id="rId5" Type="http://schemas.openxmlformats.org/officeDocument/2006/relationships/image" Target="../media/image383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4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5.png"/><Relationship Id="rId3" Type="http://schemas.openxmlformats.org/officeDocument/2006/relationships/image" Target="../media/image386.png"/><Relationship Id="rId4" Type="http://schemas.openxmlformats.org/officeDocument/2006/relationships/image" Target="../media/image387.png"/><Relationship Id="rId5" Type="http://schemas.openxmlformats.org/officeDocument/2006/relationships/image" Target="../media/image388.png"/><Relationship Id="rId6" Type="http://schemas.openxmlformats.org/officeDocument/2006/relationships/image" Target="../media/image389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0.png"/><Relationship Id="rId3" Type="http://schemas.openxmlformats.org/officeDocument/2006/relationships/image" Target="../media/image7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1.png"/><Relationship Id="rId3" Type="http://schemas.openxmlformats.org/officeDocument/2006/relationships/image" Target="../media/image7.png"/><Relationship Id="rId4" Type="http://schemas.openxmlformats.org/officeDocument/2006/relationships/image" Target="../media/image392.png"/><Relationship Id="rId5" Type="http://schemas.openxmlformats.org/officeDocument/2006/relationships/image" Target="../media/image393.png"/><Relationship Id="rId6" Type="http://schemas.openxmlformats.org/officeDocument/2006/relationships/image" Target="../media/image394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5.png"/><Relationship Id="rId3" Type="http://schemas.openxmlformats.org/officeDocument/2006/relationships/image" Target="../media/image396.png"/><Relationship Id="rId4" Type="http://schemas.openxmlformats.org/officeDocument/2006/relationships/image" Target="../media/image397.png"/><Relationship Id="rId5" Type="http://schemas.openxmlformats.org/officeDocument/2006/relationships/image" Target="../media/image398.png"/><Relationship Id="rId6" Type="http://schemas.openxmlformats.org/officeDocument/2006/relationships/image" Target="../media/image399.png"/><Relationship Id="rId7" Type="http://schemas.openxmlformats.org/officeDocument/2006/relationships/image" Target="../media/image400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1.png"/><Relationship Id="rId3" Type="http://schemas.openxmlformats.org/officeDocument/2006/relationships/image" Target="../media/image402.png"/><Relationship Id="rId4" Type="http://schemas.openxmlformats.org/officeDocument/2006/relationships/image" Target="../media/image403.png"/><Relationship Id="rId5" Type="http://schemas.openxmlformats.org/officeDocument/2006/relationships/image" Target="../media/image404.png"/><Relationship Id="rId6" Type="http://schemas.openxmlformats.org/officeDocument/2006/relationships/image" Target="../media/image405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1.png"/><Relationship Id="rId3" Type="http://schemas.openxmlformats.org/officeDocument/2006/relationships/image" Target="../media/image402.png"/><Relationship Id="rId4" Type="http://schemas.openxmlformats.org/officeDocument/2006/relationships/image" Target="../media/image403.png"/><Relationship Id="rId5" Type="http://schemas.openxmlformats.org/officeDocument/2006/relationships/image" Target="../media/image404.png"/><Relationship Id="rId6" Type="http://schemas.openxmlformats.org/officeDocument/2006/relationships/image" Target="../media/image405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6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7.png"/><Relationship Id="rId3" Type="http://schemas.openxmlformats.org/officeDocument/2006/relationships/image" Target="../media/image408.png"/><Relationship Id="rId4" Type="http://schemas.openxmlformats.org/officeDocument/2006/relationships/image" Target="../media/image409.png"/><Relationship Id="rId5" Type="http://schemas.openxmlformats.org/officeDocument/2006/relationships/image" Target="../media/image410.png"/><Relationship Id="rId6" Type="http://schemas.openxmlformats.org/officeDocument/2006/relationships/image" Target="../media/image411.png"/><Relationship Id="rId7" Type="http://schemas.openxmlformats.org/officeDocument/2006/relationships/image" Target="../media/image412.png"/><Relationship Id="rId8" Type="http://schemas.openxmlformats.org/officeDocument/2006/relationships/image" Target="../media/image413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4.png"/><Relationship Id="rId3" Type="http://schemas.openxmlformats.org/officeDocument/2006/relationships/image" Target="../media/image415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6.png"/><Relationship Id="rId3" Type="http://schemas.openxmlformats.org/officeDocument/2006/relationships/image" Target="../media/image417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6.png"/><Relationship Id="rId3" Type="http://schemas.openxmlformats.org/officeDocument/2006/relationships/image" Target="../media/image418.png"/><Relationship Id="rId4" Type="http://schemas.openxmlformats.org/officeDocument/2006/relationships/image" Target="../media/image419.png"/><Relationship Id="rId5" Type="http://schemas.openxmlformats.org/officeDocument/2006/relationships/image" Target="../media/image4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1.png"/><Relationship Id="rId3" Type="http://schemas.openxmlformats.org/officeDocument/2006/relationships/image" Target="../media/image422.png"/><Relationship Id="rId4" Type="http://schemas.openxmlformats.org/officeDocument/2006/relationships/image" Target="../media/image423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4.png"/><Relationship Id="rId3" Type="http://schemas.openxmlformats.org/officeDocument/2006/relationships/image" Target="../media/image425.png"/><Relationship Id="rId4" Type="http://schemas.openxmlformats.org/officeDocument/2006/relationships/image" Target="../media/image426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7.png"/><Relationship Id="rId3" Type="http://schemas.openxmlformats.org/officeDocument/2006/relationships/image" Target="../media/image428.png"/><Relationship Id="rId4" Type="http://schemas.openxmlformats.org/officeDocument/2006/relationships/image" Target="../media/image429.png"/><Relationship Id="rId5" Type="http://schemas.openxmlformats.org/officeDocument/2006/relationships/image" Target="../media/image430.png"/><Relationship Id="rId6" Type="http://schemas.openxmlformats.org/officeDocument/2006/relationships/image" Target="../media/image43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2.png"/><Relationship Id="rId3" Type="http://schemas.openxmlformats.org/officeDocument/2006/relationships/image" Target="../media/image433.png"/><Relationship Id="rId4" Type="http://schemas.openxmlformats.org/officeDocument/2006/relationships/image" Target="../media/image434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5.png"/><Relationship Id="rId3" Type="http://schemas.openxmlformats.org/officeDocument/2006/relationships/image" Target="../media/image436.png"/><Relationship Id="rId4" Type="http://schemas.openxmlformats.org/officeDocument/2006/relationships/image" Target="../media/image437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8.png"/><Relationship Id="rId3" Type="http://schemas.openxmlformats.org/officeDocument/2006/relationships/image" Target="../media/image439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0.png"/><Relationship Id="rId3" Type="http://schemas.openxmlformats.org/officeDocument/2006/relationships/image" Target="../media/image439.png"/><Relationship Id="rId4" Type="http://schemas.openxmlformats.org/officeDocument/2006/relationships/image" Target="../media/image441.png"/><Relationship Id="rId5" Type="http://schemas.openxmlformats.org/officeDocument/2006/relationships/image" Target="../media/image382.png"/><Relationship Id="rId6" Type="http://schemas.openxmlformats.org/officeDocument/2006/relationships/image" Target="../media/image442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3.png"/><Relationship Id="rId3" Type="http://schemas.openxmlformats.org/officeDocument/2006/relationships/image" Target="../media/image444.png"/><Relationship Id="rId4" Type="http://schemas.openxmlformats.org/officeDocument/2006/relationships/image" Target="../media/image445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6.png"/><Relationship Id="rId3" Type="http://schemas.openxmlformats.org/officeDocument/2006/relationships/image" Target="../media/image444.png"/><Relationship Id="rId4" Type="http://schemas.openxmlformats.org/officeDocument/2006/relationships/image" Target="../media/image445.png"/><Relationship Id="rId5" Type="http://schemas.openxmlformats.org/officeDocument/2006/relationships/image" Target="../media/image447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8.png"/><Relationship Id="rId3" Type="http://schemas.openxmlformats.org/officeDocument/2006/relationships/image" Target="../media/image449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0.png"/><Relationship Id="rId3" Type="http://schemas.openxmlformats.org/officeDocument/2006/relationships/image" Target="../media/image451.png"/><Relationship Id="rId4" Type="http://schemas.openxmlformats.org/officeDocument/2006/relationships/image" Target="../media/image452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3.png"/><Relationship Id="rId3" Type="http://schemas.openxmlformats.org/officeDocument/2006/relationships/image" Target="../media/image454.png"/><Relationship Id="rId4" Type="http://schemas.openxmlformats.org/officeDocument/2006/relationships/image" Target="../media/image455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6.png"/><Relationship Id="rId3" Type="http://schemas.openxmlformats.org/officeDocument/2006/relationships/image" Target="../media/image457.png"/><Relationship Id="rId4" Type="http://schemas.openxmlformats.org/officeDocument/2006/relationships/image" Target="../media/image455.png"/><Relationship Id="rId5" Type="http://schemas.openxmlformats.org/officeDocument/2006/relationships/image" Target="../media/image458.png"/><Relationship Id="rId6" Type="http://schemas.openxmlformats.org/officeDocument/2006/relationships/image" Target="../media/image459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0.png"/><Relationship Id="rId3" Type="http://schemas.openxmlformats.org/officeDocument/2006/relationships/image" Target="../media/image461.png"/><Relationship Id="rId4" Type="http://schemas.openxmlformats.org/officeDocument/2006/relationships/image" Target="../media/image462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3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4.png"/><Relationship Id="rId3" Type="http://schemas.openxmlformats.org/officeDocument/2006/relationships/image" Target="../media/image465.png"/><Relationship Id="rId4" Type="http://schemas.openxmlformats.org/officeDocument/2006/relationships/image" Target="../media/image466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7.png"/><Relationship Id="rId3" Type="http://schemas.openxmlformats.org/officeDocument/2006/relationships/image" Target="../media/image468.png"/><Relationship Id="rId4" Type="http://schemas.openxmlformats.org/officeDocument/2006/relationships/image" Target="../media/image469.png"/><Relationship Id="rId5" Type="http://schemas.openxmlformats.org/officeDocument/2006/relationships/image" Target="../media/image470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1.png"/><Relationship Id="rId3" Type="http://schemas.openxmlformats.org/officeDocument/2006/relationships/image" Target="../media/image468.png"/><Relationship Id="rId4" Type="http://schemas.openxmlformats.org/officeDocument/2006/relationships/image" Target="../media/image472.png"/><Relationship Id="rId5" Type="http://schemas.openxmlformats.org/officeDocument/2006/relationships/image" Target="../media/image473.png"/><Relationship Id="rId6" Type="http://schemas.openxmlformats.org/officeDocument/2006/relationships/image" Target="../media/image474.png"/><Relationship Id="rId7" Type="http://schemas.openxmlformats.org/officeDocument/2006/relationships/image" Target="../media/image475.pn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6.png"/><Relationship Id="rId3" Type="http://schemas.openxmlformats.org/officeDocument/2006/relationships/image" Target="../media/image477.pn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8.png"/><Relationship Id="rId3" Type="http://schemas.openxmlformats.org/officeDocument/2006/relationships/image" Target="../media/image479.png"/><Relationship Id="rId4" Type="http://schemas.openxmlformats.org/officeDocument/2006/relationships/image" Target="../media/image480.png"/><Relationship Id="rId5" Type="http://schemas.openxmlformats.org/officeDocument/2006/relationships/image" Target="../media/image481.png"/><Relationship Id="rId6" Type="http://schemas.openxmlformats.org/officeDocument/2006/relationships/image" Target="../media/image482.png"/><Relationship Id="rId7" Type="http://schemas.openxmlformats.org/officeDocument/2006/relationships/image" Target="../media/image483.png"/><Relationship Id="rId8" Type="http://schemas.openxmlformats.org/officeDocument/2006/relationships/image" Target="../media/image484.png"/><Relationship Id="rId9" Type="http://schemas.openxmlformats.org/officeDocument/2006/relationships/image" Target="../media/image485.png"/><Relationship Id="rId10" Type="http://schemas.openxmlformats.org/officeDocument/2006/relationships/image" Target="../media/image486.png"/><Relationship Id="rId11" Type="http://schemas.openxmlformats.org/officeDocument/2006/relationships/image" Target="../media/image487.png"/><Relationship Id="rId12" Type="http://schemas.openxmlformats.org/officeDocument/2006/relationships/image" Target="../media/image488.png"/><Relationship Id="rId13" Type="http://schemas.openxmlformats.org/officeDocument/2006/relationships/image" Target="../media/image489.pn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8308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3969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10" b="1" i="0">
                <a:solidFill>
                  <a:srgbClr val="1A1A1A"/>
                </a:solidFill>
                <a:latin typeface="Lexend"/>
              </a:rPr>
              <a:t>Solving Problems with Rational Numbers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34670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42900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703320"/>
            <a:ext cx="106070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6B6B6B"/>
                </a:solidFill>
                <a:latin typeface="Lexend"/>
              </a:rPr>
              <a:t>Six lessons in teaching order  ·  the next slide jumps to each one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— Solving Problems with Rational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Contents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— Solving Problems with Rational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>
            <a:hlinkClick action="ppaction://hlinksldjump" r:id="rId2"/>
          </p:cNvPr>
          <p:cNvSpPr txBox="1"/>
          <p:nvPr/>
        </p:nvSpPr>
        <p:spPr>
          <a:xfrm>
            <a:off x="1143000" y="178308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4.01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2560320" y="178308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Adding and Subtracting in Scientific Notation</a:t>
            </a:r>
          </a:p>
        </p:txBody>
      </p:sp>
      <p:sp>
        <p:nvSpPr>
          <p:cNvPr id="10" name="TextBox 9">
            <a:hlinkClick action="ppaction://hlinksldjump" r:id="rId2"/>
          </p:cNvPr>
          <p:cNvSpPr txBox="1"/>
          <p:nvPr/>
        </p:nvSpPr>
        <p:spPr>
          <a:xfrm>
            <a:off x="9555480" y="178308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224028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hlinkClick action="ppaction://hlinksldjump" r:id="rId3"/>
          </p:cNvPr>
          <p:cNvSpPr txBox="1"/>
          <p:nvPr/>
        </p:nvSpPr>
        <p:spPr>
          <a:xfrm>
            <a:off x="1143000" y="2203704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4.02–03</a:t>
            </a:r>
          </a:p>
        </p:txBody>
      </p:sp>
      <p:sp>
        <p:nvSpPr>
          <p:cNvPr id="13" name="TextBox 12">
            <a:hlinkClick action="ppaction://hlinksldjump" r:id="rId3"/>
          </p:cNvPr>
          <p:cNvSpPr txBox="1"/>
          <p:nvPr/>
        </p:nvSpPr>
        <p:spPr>
          <a:xfrm>
            <a:off x="2560320" y="2203704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Multiplying and Dividing in Scientific Notation</a:t>
            </a:r>
          </a:p>
        </p:txBody>
      </p:sp>
      <p:sp>
        <p:nvSpPr>
          <p:cNvPr id="14" name="TextBox 13">
            <a:hlinkClick action="ppaction://hlinksldjump" r:id="rId3"/>
          </p:cNvPr>
          <p:cNvSpPr txBox="1"/>
          <p:nvPr/>
        </p:nvSpPr>
        <p:spPr>
          <a:xfrm>
            <a:off x="9555480" y="2203704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38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2660904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143000" y="2624328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4.04</a:t>
            </a:r>
          </a:p>
        </p:txBody>
      </p:sp>
      <p:sp>
        <p:nvSpPr>
          <p:cNvPr id="17" name="TextBox 16">
            <a:hlinkClick action="ppaction://hlinksldjump" r:id="rId4"/>
          </p:cNvPr>
          <p:cNvSpPr txBox="1"/>
          <p:nvPr/>
        </p:nvSpPr>
        <p:spPr>
          <a:xfrm>
            <a:off x="2560320" y="2624328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Real-World Problems and Significant Digits</a:t>
            </a:r>
          </a:p>
        </p:txBody>
      </p:sp>
      <p:sp>
        <p:nvSpPr>
          <p:cNvPr id="18" name="TextBox 17">
            <a:hlinkClick action="ppaction://hlinksldjump" r:id="rId4"/>
          </p:cNvPr>
          <p:cNvSpPr txBox="1"/>
          <p:nvPr/>
        </p:nvSpPr>
        <p:spPr>
          <a:xfrm>
            <a:off x="9555480" y="2624328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73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3081528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hlinkClick action="ppaction://hlinksldjump" r:id="rId5"/>
          </p:cNvPr>
          <p:cNvSpPr txBox="1"/>
          <p:nvPr/>
        </p:nvSpPr>
        <p:spPr>
          <a:xfrm>
            <a:off x="1143000" y="3044952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4.05</a:t>
            </a:r>
          </a:p>
        </p:txBody>
      </p:sp>
      <p:sp>
        <p:nvSpPr>
          <p:cNvPr id="21" name="TextBox 20">
            <a:hlinkClick action="ppaction://hlinksldjump" r:id="rId5"/>
          </p:cNvPr>
          <p:cNvSpPr txBox="1"/>
          <p:nvPr/>
        </p:nvSpPr>
        <p:spPr>
          <a:xfrm>
            <a:off x="2560320" y="3044952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Evaluating Expressions with Radicals</a:t>
            </a:r>
          </a:p>
        </p:txBody>
      </p:sp>
      <p:sp>
        <p:nvSpPr>
          <p:cNvPr id="22" name="TextBox 21">
            <a:hlinkClick action="ppaction://hlinksldjump" r:id="rId5"/>
          </p:cNvPr>
          <p:cNvSpPr txBox="1"/>
          <p:nvPr/>
        </p:nvSpPr>
        <p:spPr>
          <a:xfrm>
            <a:off x="9555480" y="3044952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108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43000" y="3502152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hlinkClick action="ppaction://hlinksldjump" r:id="rId6"/>
          </p:cNvPr>
          <p:cNvSpPr txBox="1"/>
          <p:nvPr/>
        </p:nvSpPr>
        <p:spPr>
          <a:xfrm>
            <a:off x="1143000" y="3465576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4.06</a:t>
            </a:r>
          </a:p>
        </p:txBody>
      </p:sp>
      <p:sp>
        <p:nvSpPr>
          <p:cNvPr id="25" name="TextBox 24">
            <a:hlinkClick action="ppaction://hlinksldjump" r:id="rId6"/>
          </p:cNvPr>
          <p:cNvSpPr txBox="1"/>
          <p:nvPr/>
        </p:nvSpPr>
        <p:spPr>
          <a:xfrm>
            <a:off x="2560320" y="3465576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Order of Operations with Radicals</a:t>
            </a:r>
          </a:p>
        </p:txBody>
      </p:sp>
      <p:sp>
        <p:nvSpPr>
          <p:cNvPr id="26" name="TextBox 25">
            <a:hlinkClick action="ppaction://hlinksldjump" r:id="rId6"/>
          </p:cNvPr>
          <p:cNvSpPr txBox="1"/>
          <p:nvPr/>
        </p:nvSpPr>
        <p:spPr>
          <a:xfrm>
            <a:off x="9555480" y="3465576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143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43000" y="3922776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hlinkClick action="ppaction://hlinksldjump" r:id="rId7"/>
          </p:cNvPr>
          <p:cNvSpPr txBox="1"/>
          <p:nvPr/>
        </p:nvSpPr>
        <p:spPr>
          <a:xfrm>
            <a:off x="1143000" y="388620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4.07–08</a:t>
            </a:r>
          </a:p>
        </p:txBody>
      </p:sp>
      <p:sp>
        <p:nvSpPr>
          <p:cNvPr id="29" name="TextBox 28">
            <a:hlinkClick action="ppaction://hlinksldjump" r:id="rId7"/>
          </p:cNvPr>
          <p:cNvSpPr txBox="1"/>
          <p:nvPr/>
        </p:nvSpPr>
        <p:spPr>
          <a:xfrm>
            <a:off x="2560320" y="388620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Real-World Order of Operations</a:t>
            </a:r>
          </a:p>
        </p:txBody>
      </p:sp>
      <p:sp>
        <p:nvSpPr>
          <p:cNvPr id="30" name="TextBox 29">
            <a:hlinkClick action="ppaction://hlinksldjump" r:id="rId7"/>
          </p:cNvPr>
          <p:cNvSpPr txBox="1"/>
          <p:nvPr/>
        </p:nvSpPr>
        <p:spPr>
          <a:xfrm>
            <a:off x="9555480" y="388620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178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43000" y="434340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Adding and Subtracting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add and subtract two numbers written in scientific notation, and write the answer in scientific notation.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58532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Write  0.00062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44702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many times larger is  </a:t>
            </a:r>
          </a:p>
        </p:txBody>
      </p:sp>
      <p:pic>
        <p:nvPicPr>
          <p:cNvPr id="10" name="Picture 9" descr="322d90d803ad0d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574" y="2145792"/>
            <a:ext cx="896112" cy="271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03686" y="2052828"/>
            <a:ext cx="1188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12" name="Picture 11" descr="91469e0de639e7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489" y="2145792"/>
            <a:ext cx="899160" cy="271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4649" y="2052828"/>
            <a:ext cx="443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5" name="Picture 14" descr="f53f316f2160c0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699004"/>
            <a:ext cx="886968" cy="3901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278124"/>
            <a:ext cx="27738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sum:  </a:t>
            </a:r>
          </a:p>
        </p:txBody>
      </p:sp>
      <p:pic>
        <p:nvPicPr>
          <p:cNvPr id="17" name="Picture 16" descr="bd88d4ecf7738e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197" y="3393948"/>
            <a:ext cx="1307592" cy="2255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58532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Write  0.00062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9214" y="1440180"/>
            <a:ext cx="1617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6.2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52828"/>
            <a:ext cx="44702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many times larger is  </a:t>
            </a:r>
          </a:p>
        </p:txBody>
      </p:sp>
      <p:pic>
        <p:nvPicPr>
          <p:cNvPr id="11" name="Picture 10" descr="322d90d803ad0d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574" y="2145792"/>
            <a:ext cx="896112" cy="2712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03686" y="2052828"/>
            <a:ext cx="1188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13" name="Picture 12" descr="91469e0de639e7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489" y="2145792"/>
            <a:ext cx="899160" cy="271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54649" y="2052828"/>
            <a:ext cx="443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9139" y="2052828"/>
            <a:ext cx="1085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7" name="Picture 16" descr="f53f316f2160c0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699004"/>
            <a:ext cx="886968" cy="3901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03319" y="2665476"/>
            <a:ext cx="5365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278124"/>
            <a:ext cx="27738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sum:  </a:t>
            </a:r>
          </a:p>
        </p:txBody>
      </p:sp>
      <p:pic>
        <p:nvPicPr>
          <p:cNvPr id="20" name="Picture 19" descr="bd88d4ecf7738e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197" y="3393948"/>
            <a:ext cx="1307592" cy="2255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67429" y="3278124"/>
            <a:ext cx="7909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1.69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scientific notation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69550"/>
            <a:ext cx="30323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 number written as </a:t>
            </a:r>
          </a:p>
        </p:txBody>
      </p:sp>
      <p:pic>
        <p:nvPicPr>
          <p:cNvPr id="10" name="Picture 9" descr="5c7736c1398d0b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202" y="1953370"/>
            <a:ext cx="1133856" cy="289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72058" y="1869550"/>
            <a:ext cx="2854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354182"/>
            <a:ext cx="11185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where </a:t>
            </a:r>
          </a:p>
        </p:txBody>
      </p:sp>
      <p:pic>
        <p:nvPicPr>
          <p:cNvPr id="13" name="Picture 12" descr="658262df29b49a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363" y="2477626"/>
            <a:ext cx="204216" cy="2103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28579" y="2354182"/>
            <a:ext cx="4774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at least 1 and less than 10 and </a:t>
            </a:r>
          </a:p>
        </p:txBody>
      </p:sp>
      <p:pic>
        <p:nvPicPr>
          <p:cNvPr id="15" name="Picture 14" descr="f14fce7cf077cd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520" y="2479150"/>
            <a:ext cx="176784" cy="2072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42304" y="2354182"/>
            <a:ext cx="19817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an integer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8969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coefficient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96200"/>
            <a:ext cx="16348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factor </a:t>
            </a:r>
          </a:p>
        </p:txBody>
      </p:sp>
      <p:pic>
        <p:nvPicPr>
          <p:cNvPr id="19" name="Picture 18" descr="658262df29b49a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665" y="3519644"/>
            <a:ext cx="204216" cy="2103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844881" y="3396200"/>
            <a:ext cx="6135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in </a:t>
            </a:r>
          </a:p>
        </p:txBody>
      </p:sp>
      <p:pic>
        <p:nvPicPr>
          <p:cNvPr id="21" name="Picture 20" descr="5c7736c1398d0b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233" y="3480020"/>
            <a:ext cx="1133856" cy="2895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455089" y="3396200"/>
            <a:ext cx="2744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880832"/>
            <a:ext cx="55453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In a finished answer it always satisfies </a:t>
            </a:r>
          </a:p>
        </p:txBody>
      </p:sp>
      <p:pic>
        <p:nvPicPr>
          <p:cNvPr id="24" name="Picture 23" descr="bfdcfbaf2cf7af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171" y="3970748"/>
            <a:ext cx="1542288" cy="2773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45163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common power of ten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945711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matching power that two numbers are written over before they are added or subtracted — the place value they share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 power of ten is a place value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74520" y="1993392"/>
          <a:ext cx="841248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520" b="1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520" b="1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520" b="1" baseline="30000">
                          <a:solidFill>
                            <a:srgbClr val="1A1A1A"/>
                          </a:solidFill>
                          <a:latin typeface="Lexend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520" b="1" baseline="30000">
                          <a:solidFill>
                            <a:srgbClr val="1A1A1A"/>
                          </a:solidFill>
                          <a:latin typeface="Lexend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thousands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ten thousands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hundred thousands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millions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864bf61ed56dc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127" y="3020568"/>
            <a:ext cx="4779264" cy="350520"/>
          </a:xfrm>
          <a:prstGeom prst="rect">
            <a:avLst/>
          </a:prstGeom>
        </p:spPr>
      </p:pic>
      <p:pic>
        <p:nvPicPr>
          <p:cNvPr id="12" name="Picture 11" descr="2417d66e2dd592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3712464"/>
            <a:ext cx="8122920" cy="338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442569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Two numbers can be added only when they carry the same power of ten.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Same power: add or subtract the coefficients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cc98597e79ddb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604" y="1993392"/>
            <a:ext cx="5544312" cy="414528"/>
          </a:xfrm>
          <a:prstGeom prst="rect">
            <a:avLst/>
          </a:prstGeom>
        </p:spPr>
      </p:pic>
      <p:pic>
        <p:nvPicPr>
          <p:cNvPr id="11" name="Picture 10" descr="a46e16cf656fad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164" y="2683763"/>
            <a:ext cx="7251192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43204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Add or subtract the coefficients. The power of ten does not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163568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Then check the coefficient: if it is not between 1 and 10, the answer is not finished.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Different powers: rewrite one of them first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6f0baaf26a407d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7" y="1994916"/>
            <a:ext cx="3803904" cy="408432"/>
          </a:xfrm>
          <a:prstGeom prst="rect">
            <a:avLst/>
          </a:prstGeom>
        </p:spPr>
      </p:pic>
      <p:pic>
        <p:nvPicPr>
          <p:cNvPr id="11" name="Picture 10" descr="4fc26d98a263c8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052" y="2682240"/>
            <a:ext cx="6757416" cy="405384"/>
          </a:xfrm>
          <a:prstGeom prst="rect">
            <a:avLst/>
          </a:prstGeom>
        </p:spPr>
      </p:pic>
      <p:pic>
        <p:nvPicPr>
          <p:cNvPr id="12" name="Picture 11" descr="ae1a5a7207b8178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6347" y="3366516"/>
            <a:ext cx="596188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88235" y="3342132"/>
            <a:ext cx="18545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never   </a:t>
            </a:r>
          </a:p>
        </p:txBody>
      </p:sp>
      <p:pic>
        <p:nvPicPr>
          <p:cNvPr id="14" name="Picture 13" descr="83c5d338eb6c26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5660" y="3401568"/>
            <a:ext cx="1429512" cy="3383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11480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Rewrite one number so both carry the same power of ten, then add or subtract the coefficients.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32180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Exponent up one, decimal point one place left. The value does not move.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b073017cb63050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2104643"/>
            <a:ext cx="3785615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Add. Write the answer in scientific notation.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29f41e57a08380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797296" cy="405384"/>
          </a:xfrm>
          <a:prstGeom prst="rect">
            <a:avLst/>
          </a:prstGeom>
        </p:spPr>
      </p:pic>
      <p:pic>
        <p:nvPicPr>
          <p:cNvPr id="9" name="Picture 8" descr="9886ab42ab881d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9944"/>
            <a:ext cx="3624072" cy="338328"/>
          </a:xfrm>
          <a:prstGeom prst="rect">
            <a:avLst/>
          </a:prstGeom>
        </p:spPr>
      </p:pic>
      <p:pic>
        <p:nvPicPr>
          <p:cNvPr id="10" name="Picture 9" descr="a3c2876c6f516a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12592"/>
            <a:ext cx="2215896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1.45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b4cde0a73e6462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772" y="1600200"/>
            <a:ext cx="5141976" cy="505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090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Add. Write the answer in scientific notation.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6341fce2cb0bbc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248" y="1600200"/>
            <a:ext cx="5145024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21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Add. Write the answer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5576" y="3201526"/>
            <a:ext cx="59872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Same power, so add the fronts:  </a:t>
            </a:r>
          </a:p>
        </p:txBody>
      </p:sp>
      <p:pic>
        <p:nvPicPr>
          <p:cNvPr id="11" name="Picture 10" descr="bcb34fa03e0895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663" y="3303634"/>
            <a:ext cx="2240280" cy="252984"/>
          </a:xfrm>
          <a:prstGeom prst="rect">
            <a:avLst/>
          </a:prstGeom>
        </p:spPr>
      </p:pic>
      <p:pic>
        <p:nvPicPr>
          <p:cNvPr id="12" name="Picture 11" descr="30762fde1252fc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440" y="3817222"/>
            <a:ext cx="3486912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1.23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bf4da8d69ae35f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903" y="2104643"/>
            <a:ext cx="3791712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Subtract. Write the answer in scientific notation.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f0014276d232b3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505200" cy="341376"/>
          </a:xfrm>
          <a:prstGeom prst="rect">
            <a:avLst/>
          </a:prstGeom>
        </p:spPr>
      </p:pic>
      <p:pic>
        <p:nvPicPr>
          <p:cNvPr id="9" name="Picture 8" descr="934206aface5fa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6050280" cy="414528"/>
          </a:xfrm>
          <a:prstGeom prst="rect">
            <a:avLst/>
          </a:prstGeom>
        </p:spPr>
      </p:pic>
      <p:pic>
        <p:nvPicPr>
          <p:cNvPr id="10" name="Picture 9" descr="5c58ea87206358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24783"/>
            <a:ext cx="5779008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6.85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1b8e06632cef40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104" y="1600200"/>
            <a:ext cx="5163312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5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Subtract. Write the answer in scientific notation.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248bda730bf17b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79" y="1600200"/>
            <a:ext cx="5166360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5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Subtract. Write the answer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3393" y="3204574"/>
            <a:ext cx="31549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Match the powers:  </a:t>
            </a:r>
          </a:p>
        </p:txBody>
      </p:sp>
      <p:pic>
        <p:nvPicPr>
          <p:cNvPr id="11" name="Picture 10" descr="9ce2865529b18e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190" y="3302110"/>
            <a:ext cx="2913888" cy="262128"/>
          </a:xfrm>
          <a:prstGeom prst="rect">
            <a:avLst/>
          </a:prstGeom>
        </p:spPr>
      </p:pic>
      <p:pic>
        <p:nvPicPr>
          <p:cNvPr id="12" name="Picture 11" descr="bd4649ecf62b8a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257" y="3829414"/>
            <a:ext cx="2069591" cy="213360"/>
          </a:xfrm>
          <a:prstGeom prst="rect">
            <a:avLst/>
          </a:prstGeom>
        </p:spPr>
      </p:pic>
      <p:pic>
        <p:nvPicPr>
          <p:cNvPr id="13" name="Picture 12" descr="fb181fe42321e2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8257" y="4310998"/>
            <a:ext cx="1362456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78191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5.51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09fad54e40349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524" y="2197608"/>
            <a:ext cx="3776472" cy="4053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2a3c75618fa7d5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999" y="2106168"/>
            <a:ext cx="3779520" cy="4053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42256" y="2839212"/>
            <a:ext cx="59872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Same power, so add the fronts:  </a:t>
            </a:r>
          </a:p>
        </p:txBody>
      </p:sp>
      <p:pic>
        <p:nvPicPr>
          <p:cNvPr id="10" name="Picture 9" descr="691fe688d72e9d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343" y="2941320"/>
            <a:ext cx="2026920" cy="252984"/>
          </a:xfrm>
          <a:prstGeom prst="rect">
            <a:avLst/>
          </a:prstGeom>
        </p:spPr>
      </p:pic>
      <p:pic>
        <p:nvPicPr>
          <p:cNvPr id="11" name="Picture 10" descr="b4ec2c46247ef0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120" y="3454908"/>
            <a:ext cx="1246632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7.3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5791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stadium sold  </a:t>
            </a:r>
          </a:p>
        </p:txBody>
      </p:sp>
      <p:pic>
        <p:nvPicPr>
          <p:cNvPr id="9" name="Picture 8" descr="5243cc360be291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435" y="1944623"/>
            <a:ext cx="1173480" cy="271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49915" y="1851660"/>
            <a:ext cx="28658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tickets on Friday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 </a:t>
            </a:r>
          </a:p>
        </p:txBody>
      </p:sp>
      <p:pic>
        <p:nvPicPr>
          <p:cNvPr id="12" name="Picture 11" descr="5ce3a6a6b398a3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946" y="2557272"/>
            <a:ext cx="1152144" cy="271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03090" y="2464308"/>
            <a:ext cx="62846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on Saturday. Each ticket cost 38 dollars.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tickets were sold on the two days?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5791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stadium sold  </a:t>
            </a:r>
          </a:p>
        </p:txBody>
      </p:sp>
      <p:pic>
        <p:nvPicPr>
          <p:cNvPr id="9" name="Picture 8" descr="a8bb2f17f73fb1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435" y="1943100"/>
            <a:ext cx="117348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49915" y="1851660"/>
            <a:ext cx="28658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tickets on Friday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 </a:t>
            </a:r>
          </a:p>
        </p:txBody>
      </p:sp>
      <p:pic>
        <p:nvPicPr>
          <p:cNvPr id="12" name="Picture 11" descr="ca70dd33a6d37a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946" y="2555748"/>
            <a:ext cx="1155192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06138" y="2464308"/>
            <a:ext cx="62846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on Saturday. Each ticket cost 38 dollars.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tickets were sold on the two days?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0064" y="3734926"/>
            <a:ext cx="59872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Same power, so add the fronts:  </a:t>
            </a:r>
          </a:p>
        </p:txBody>
      </p:sp>
      <p:pic>
        <p:nvPicPr>
          <p:cNvPr id="16" name="Picture 15" descr="884fc76005d8767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151" y="3837034"/>
            <a:ext cx="2057400" cy="252984"/>
          </a:xfrm>
          <a:prstGeom prst="rect">
            <a:avLst/>
          </a:prstGeom>
        </p:spPr>
      </p:pic>
      <p:pic>
        <p:nvPicPr>
          <p:cNvPr id="17" name="Picture 16" descr="3665917b6f2092c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4928" y="4350622"/>
            <a:ext cx="1271016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84592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7.7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9a1c5b83d56645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304" y="2196083"/>
            <a:ext cx="3486912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b4e4dff994d3b2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780" y="2103120"/>
            <a:ext cx="3489960" cy="414528"/>
          </a:xfrm>
          <a:prstGeom prst="rect">
            <a:avLst/>
          </a:prstGeom>
        </p:spPr>
      </p:pic>
      <p:pic>
        <p:nvPicPr>
          <p:cNvPr id="9" name="Picture 8" descr="74a99bec27e47c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435" y="2944368"/>
            <a:ext cx="1365504" cy="252984"/>
          </a:xfrm>
          <a:prstGeom prst="rect">
            <a:avLst/>
          </a:prstGeom>
        </p:spPr>
      </p:pic>
      <p:pic>
        <p:nvPicPr>
          <p:cNvPr id="10" name="Picture 9" descr="3dc41426a2cb47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435" y="3456431"/>
            <a:ext cx="3008376" cy="3078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1e4655248ebd17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96083"/>
            <a:ext cx="3816095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6c08936514ac2e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104643"/>
            <a:ext cx="3819144" cy="408432"/>
          </a:xfrm>
          <a:prstGeom prst="rect">
            <a:avLst/>
          </a:prstGeom>
        </p:spPr>
      </p:pic>
      <p:pic>
        <p:nvPicPr>
          <p:cNvPr id="9" name="Picture 8" descr="428101046aa75a5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7" y="2939796"/>
            <a:ext cx="2084831" cy="256032"/>
          </a:xfrm>
          <a:prstGeom prst="rect">
            <a:avLst/>
          </a:prstGeom>
        </p:spPr>
      </p:pic>
      <p:pic>
        <p:nvPicPr>
          <p:cNvPr id="10" name="Picture 9" descr="e9dcbdc19c34f0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7" y="3454908"/>
            <a:ext cx="2639568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458ce47e03352d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620" y="2196083"/>
            <a:ext cx="3764279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sum?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3.9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3.9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2.316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2.46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0a5ae3f69ac2c6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096" y="2103120"/>
            <a:ext cx="3767328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9196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sum?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1973" y="3417139"/>
            <a:ext cx="31549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Match the powers:  </a:t>
            </a:r>
          </a:p>
        </p:txBody>
      </p:sp>
      <p:pic>
        <p:nvPicPr>
          <p:cNvPr id="11" name="Picture 10" descr="27f7e9522e6b32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770" y="3514675"/>
            <a:ext cx="2782824" cy="262128"/>
          </a:xfrm>
          <a:prstGeom prst="rect">
            <a:avLst/>
          </a:prstGeom>
        </p:spPr>
      </p:pic>
      <p:pic>
        <p:nvPicPr>
          <p:cNvPr id="12" name="Picture 11" descr="121dee4f34127b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837" y="4041979"/>
            <a:ext cx="2365248" cy="213360"/>
          </a:xfrm>
          <a:prstGeom prst="rect">
            <a:avLst/>
          </a:prstGeom>
        </p:spPr>
      </p:pic>
      <p:pic>
        <p:nvPicPr>
          <p:cNvPr id="13" name="Picture 12" descr="d9fd5fe20052fef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6837" y="4520515"/>
            <a:ext cx="1377696" cy="262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9944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2.316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c56988b1bd4342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428" y="2196083"/>
            <a:ext cx="3788664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sum,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12.3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12.3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1.23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1.23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9def6d28be26225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903" y="2103120"/>
            <a:ext cx="3791712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9196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sum, written in scientific notation?</a:t>
            </a:r>
          </a:p>
        </p:txBody>
      </p:sp>
      <p:pic>
        <p:nvPicPr>
          <p:cNvPr id="10" name="Picture 9" descr="7a92f566b3dc9a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1" y="3519247"/>
            <a:ext cx="2209800" cy="252984"/>
          </a:xfrm>
          <a:prstGeom prst="rect">
            <a:avLst/>
          </a:prstGeom>
        </p:spPr>
      </p:pic>
      <p:pic>
        <p:nvPicPr>
          <p:cNvPr id="11" name="Picture 10" descr="4253edb8e6cb15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851" y="4031311"/>
            <a:ext cx="3209544" cy="3078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1.23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8364ffedb5ab9d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408" y="2194560"/>
            <a:ext cx="4108704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95877dd6e3ac64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883" y="2103120"/>
            <a:ext cx="4111752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19489" y="2839212"/>
            <a:ext cx="31549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Match the powers:  </a:t>
            </a:r>
          </a:p>
        </p:txBody>
      </p:sp>
      <p:pic>
        <p:nvPicPr>
          <p:cNvPr id="10" name="Picture 9" descr="2c3b2befdb898d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286" y="2936748"/>
            <a:ext cx="2904744" cy="262128"/>
          </a:xfrm>
          <a:prstGeom prst="rect">
            <a:avLst/>
          </a:prstGeom>
        </p:spPr>
      </p:pic>
      <p:pic>
        <p:nvPicPr>
          <p:cNvPr id="11" name="Picture 10" descr="40578aa67f396b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353" y="3464052"/>
            <a:ext cx="2066543" cy="213360"/>
          </a:xfrm>
          <a:prstGeom prst="rect">
            <a:avLst/>
          </a:prstGeom>
        </p:spPr>
      </p:pic>
      <p:pic>
        <p:nvPicPr>
          <p:cNvPr id="12" name="Picture 11" descr="859794e45c118a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353" y="3942588"/>
            <a:ext cx="1331976" cy="262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7.16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5f6d6560049ba7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795" y="2196083"/>
            <a:ext cx="5519928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34140" y="2857500"/>
            <a:ext cx="35174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What is the value of </a:t>
            </a:r>
          </a:p>
        </p:txBody>
      </p:sp>
      <p:pic>
        <p:nvPicPr>
          <p:cNvPr id="10" name="Picture 9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421" y="2982468"/>
            <a:ext cx="176784" cy="207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91205" y="2857500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a7b6204384889c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2103120"/>
            <a:ext cx="5522976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34140" y="2769107"/>
            <a:ext cx="35174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What is the value of </a:t>
            </a:r>
          </a:p>
        </p:txBody>
      </p:sp>
      <p:pic>
        <p:nvPicPr>
          <p:cNvPr id="10" name="Picture 9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421" y="2894075"/>
            <a:ext cx="176784" cy="207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91205" y="2769107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pic>
        <p:nvPicPr>
          <p:cNvPr id="12" name="Picture 11" descr="af0a0edef72ddd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403" y="3625595"/>
            <a:ext cx="2761488" cy="262128"/>
          </a:xfrm>
          <a:prstGeom prst="rect">
            <a:avLst/>
          </a:prstGeom>
        </p:spPr>
      </p:pic>
      <p:pic>
        <p:nvPicPr>
          <p:cNvPr id="13" name="Picture 12" descr="e0b2ab7a4c26bc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403" y="4152899"/>
            <a:ext cx="1694688" cy="213360"/>
          </a:xfrm>
          <a:prstGeom prst="rect">
            <a:avLst/>
          </a:prstGeom>
        </p:spPr>
      </p:pic>
      <p:pic>
        <p:nvPicPr>
          <p:cNvPr id="14" name="Picture 13" descr="1dcdac54ad1451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6403" y="4655819"/>
            <a:ext cx="2353056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1054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 = 5.7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9261" y="2171700"/>
            <a:ext cx="24902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Devon writes  </a:t>
            </a:r>
          </a:p>
        </p:txBody>
      </p:sp>
      <p:pic>
        <p:nvPicPr>
          <p:cNvPr id="9" name="Picture 8" descr="0a7a4307a87a1a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384" y="2196083"/>
            <a:ext cx="5580888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73272" y="217170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Name the two mistakes he made, and give the correct sum.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7737" y="2081783"/>
            <a:ext cx="24902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Devon writes  </a:t>
            </a:r>
          </a:p>
        </p:txBody>
      </p:sp>
      <p:pic>
        <p:nvPicPr>
          <p:cNvPr id="9" name="Picture 8" descr="595d18b76e1d00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860" y="2103120"/>
            <a:ext cx="5583936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74796" y="2081783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9196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Name the two mistakes he made, and give the correct sum.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4232" y="3417139"/>
            <a:ext cx="87902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powers do not match, and exponents are not added.</a:t>
            </a:r>
          </a:p>
        </p:txBody>
      </p:sp>
      <p:pic>
        <p:nvPicPr>
          <p:cNvPr id="13" name="Picture 12" descr="afb9dc22174bd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096" y="4017595"/>
            <a:ext cx="2773680" cy="262128"/>
          </a:xfrm>
          <a:prstGeom prst="rect">
            <a:avLst/>
          </a:prstGeom>
        </p:spPr>
      </p:pic>
      <p:pic>
        <p:nvPicPr>
          <p:cNvPr id="14" name="Picture 13" descr="0920ee9ba6d56a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096" y="4544899"/>
            <a:ext cx="2380488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89584" y="4422979"/>
            <a:ext cx="11630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6" name="Picture 15" descr="5bab4917e6b979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5509" y="4523563"/>
            <a:ext cx="1399032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9944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6.619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8bb51b7cdaedca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557527"/>
            <a:ext cx="3066288" cy="332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1" name="Picture 10" descr="6da4b5382fbcdf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153411"/>
            <a:ext cx="3304032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3" name="Picture 12" descr="95d8ded1b0db296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747771"/>
            <a:ext cx="3063240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5" name="Picture 14" descr="0bd66daf20240d1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340607"/>
            <a:ext cx="3060192" cy="3322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17" name="Picture 16" descr="ca328e32445857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3933444"/>
            <a:ext cx="3374136" cy="335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44668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66844"/>
            <a:ext cx="913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20" name="Picture 19" descr="6d78c2be12150b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0372" y="4611624"/>
            <a:ext cx="146304" cy="167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476676" y="4466844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 </a:t>
            </a:r>
          </a:p>
        </p:txBody>
      </p:sp>
      <p:pic>
        <p:nvPicPr>
          <p:cNvPr id="22" name="Picture 21" descr="d4634cfd84477cb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1626" y="4527804"/>
            <a:ext cx="4541520" cy="3352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Add and subtract numbers written in scientific notation — HUR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LESSONS 2–3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Multiplying and Dividing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multiply and divide two numbers written in scientific notation, and write the answer in scientific notation.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ffd4838a463a73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2664"/>
            <a:ext cx="3087624" cy="332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170176"/>
            <a:ext cx="3678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Write as one power:  </a:t>
            </a:r>
          </a:p>
        </p:txBody>
      </p:sp>
      <p:pic>
        <p:nvPicPr>
          <p:cNvPr id="11" name="Picture 10" descr="164f8cc2081518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11" y="2075688"/>
            <a:ext cx="499871" cy="646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900172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3" name="Picture 12" descr="1cd87bae707e9a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933700"/>
            <a:ext cx="844296" cy="3901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579876"/>
            <a:ext cx="33832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quotient:  </a:t>
            </a:r>
          </a:p>
        </p:txBody>
      </p:sp>
      <p:pic>
        <p:nvPicPr>
          <p:cNvPr id="15" name="Picture 14" descr="fe7c9d77350b9e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18" y="3535680"/>
            <a:ext cx="451104" cy="54559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ffd4838a463a73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2664"/>
            <a:ext cx="3087624" cy="332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45185" y="1440180"/>
            <a:ext cx="14365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6.2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170176"/>
            <a:ext cx="3678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Write as one power:  </a:t>
            </a:r>
          </a:p>
        </p:txBody>
      </p:sp>
      <p:pic>
        <p:nvPicPr>
          <p:cNvPr id="12" name="Picture 11" descr="164f8cc2081518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11" y="2075688"/>
            <a:ext cx="499871" cy="6461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64423" y="2052828"/>
            <a:ext cx="6821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00172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5" name="Picture 14" descr="1cd87bae707e9a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933700"/>
            <a:ext cx="844296" cy="3901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60647" y="2900172"/>
            <a:ext cx="5491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79876"/>
            <a:ext cx="33832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quotient:  </a:t>
            </a:r>
          </a:p>
        </p:txBody>
      </p:sp>
      <p:pic>
        <p:nvPicPr>
          <p:cNvPr id="18" name="Picture 17" descr="fe7c9d77350b9e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18" y="3535680"/>
            <a:ext cx="451104" cy="5455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20362" y="3512820"/>
            <a:ext cx="384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product of powers law</a:t>
            </a:r>
          </a:p>
        </p:txBody>
      </p:sp>
      <p:pic>
        <p:nvPicPr>
          <p:cNvPr id="9" name="Picture 8" descr="50a410785dbdd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53370"/>
            <a:ext cx="2935224" cy="289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78224" y="1869550"/>
            <a:ext cx="30076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— the law from 3.01,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54182"/>
            <a:ext cx="57641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now doing the work on the powers of 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8969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quotient of powers law</a:t>
            </a:r>
          </a:p>
        </p:txBody>
      </p:sp>
      <p:pic>
        <p:nvPicPr>
          <p:cNvPr id="13" name="Picture 12" descr="5b8488cf2680dc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419060"/>
            <a:ext cx="2176272" cy="701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9272" y="3540980"/>
            <a:ext cx="44544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— top minus bottom, from 3.02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212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regrouping a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727779"/>
            <a:ext cx="81730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using the commutative and associative properties to write</a:t>
            </a:r>
          </a:p>
        </p:txBody>
      </p:sp>
      <p:pic>
        <p:nvPicPr>
          <p:cNvPr id="17" name="Picture 16" descr="030f336ef028bc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238319"/>
            <a:ext cx="2810256" cy="4053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953256" y="5212411"/>
            <a:ext cx="6807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as </a:t>
            </a:r>
          </a:p>
        </p:txBody>
      </p:sp>
      <p:pic>
        <p:nvPicPr>
          <p:cNvPr id="19" name="Picture 18" descr="b19aa5f8730d72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849" y="5238319"/>
            <a:ext cx="2627376" cy="40538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Multiplying: regroup, then use the laws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24f6cc700f6311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112" y="1993392"/>
            <a:ext cx="7321295" cy="414528"/>
          </a:xfrm>
          <a:prstGeom prst="rect">
            <a:avLst/>
          </a:prstGeom>
        </p:spPr>
      </p:pic>
      <p:pic>
        <p:nvPicPr>
          <p:cNvPr id="11" name="Picture 10" descr="d894b08558ca6c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387" y="2717292"/>
            <a:ext cx="1100328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94715" y="2659380"/>
            <a:ext cx="19477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never    </a:t>
            </a:r>
          </a:p>
        </p:txBody>
      </p:sp>
      <p:pic>
        <p:nvPicPr>
          <p:cNvPr id="13" name="Picture 12" descr="f59bf4b41a85ed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260" y="2717292"/>
            <a:ext cx="1261872" cy="341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3432047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Multiply the coefficients. Add the exponents — that is the product of powers law, not a new rule.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Dividing: the same move with the quotient law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efa08aa797f44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380" y="1993392"/>
            <a:ext cx="5318760" cy="798576"/>
          </a:xfrm>
          <a:prstGeom prst="rect">
            <a:avLst/>
          </a:prstGeom>
        </p:spPr>
      </p:pic>
      <p:pic>
        <p:nvPicPr>
          <p:cNvPr id="11" name="Picture 10" descr="44f28ecf0a9cf8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3066288"/>
            <a:ext cx="5193792" cy="7955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20014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Divide the coefficients. Subtract the exponents, top minus bottom.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Finish the answer — both directions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40551c03da2c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268" y="1993392"/>
            <a:ext cx="6348984" cy="414528"/>
          </a:xfrm>
          <a:prstGeom prst="rect">
            <a:avLst/>
          </a:prstGeom>
        </p:spPr>
      </p:pic>
      <p:pic>
        <p:nvPicPr>
          <p:cNvPr id="11" name="Picture 10" descr="acee3a8d1b6720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580" y="2682240"/>
            <a:ext cx="5928360" cy="8016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822191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Every answer ends with a coefficient at least 1 and less than 10.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c7ebac9815df25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2104643"/>
            <a:ext cx="3282696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Multiply. Write the answer in scientific notation.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25f7ed4f25353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772656" cy="408432"/>
          </a:xfrm>
          <a:prstGeom prst="rect">
            <a:avLst/>
          </a:prstGeom>
        </p:spPr>
      </p:pic>
      <p:pic>
        <p:nvPicPr>
          <p:cNvPr id="9" name="Picture 8" descr="54ffb222fc56be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2992"/>
            <a:ext cx="1609344" cy="338328"/>
          </a:xfrm>
          <a:prstGeom prst="rect">
            <a:avLst/>
          </a:prstGeom>
        </p:spPr>
      </p:pic>
      <p:pic>
        <p:nvPicPr>
          <p:cNvPr id="10" name="Picture 9" descr="bb053a1b635793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15640"/>
            <a:ext cx="3108960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2.7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a28d7c387e5fd6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027" y="1600200"/>
            <a:ext cx="4093464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5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Multiply. Write the answer in scientific notation.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816312d3d4d789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027" y="1600200"/>
            <a:ext cx="4093464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5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Multiply. Write the answer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505" y="3204574"/>
            <a:ext cx="32203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Multiply the fronts:  </a:t>
            </a:r>
          </a:p>
        </p:txBody>
      </p:sp>
      <p:pic>
        <p:nvPicPr>
          <p:cNvPr id="11" name="Picture 10" descr="04263b59ab134a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695" y="3326494"/>
            <a:ext cx="1414272" cy="213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02505" y="3707494"/>
            <a:ext cx="3315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 the exponents:  </a:t>
            </a:r>
          </a:p>
        </p:txBody>
      </p:sp>
      <p:pic>
        <p:nvPicPr>
          <p:cNvPr id="13" name="Picture 12" descr="2e6e8e2b001e1a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862" y="3805030"/>
            <a:ext cx="1981199" cy="262128"/>
          </a:xfrm>
          <a:prstGeom prst="rect">
            <a:avLst/>
          </a:prstGeom>
        </p:spPr>
      </p:pic>
      <p:pic>
        <p:nvPicPr>
          <p:cNvPr id="14" name="Picture 13" descr="52d05dcb8358be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369" y="4310998"/>
            <a:ext cx="2173224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78191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99e2cda0670996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2103120"/>
            <a:ext cx="3163824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747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 Write the answer in scientific notation.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e1f7b5cd77abb9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858512" cy="414528"/>
          </a:xfrm>
          <a:prstGeom prst="rect">
            <a:avLst/>
          </a:prstGeom>
        </p:spPr>
      </p:pic>
      <p:pic>
        <p:nvPicPr>
          <p:cNvPr id="9" name="Picture 8" descr="cef6ad8a508151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9087"/>
            <a:ext cx="3102864" cy="801624"/>
          </a:xfrm>
          <a:prstGeom prst="rect">
            <a:avLst/>
          </a:prstGeom>
        </p:spPr>
      </p:pic>
      <p:pic>
        <p:nvPicPr>
          <p:cNvPr id="10" name="Picture 9" descr="06feb2f012fdd5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85031"/>
            <a:ext cx="3057144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af033f99401fce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047" y="1600200"/>
            <a:ext cx="3773424" cy="1075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790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 Write the answer in scientific notation.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6065c2d5f71d0c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096" y="1600200"/>
            <a:ext cx="3767328" cy="1075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790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 Write the answer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4773" y="3768454"/>
            <a:ext cx="996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1" name="Picture 10" descr="a056522f38be10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393" y="3891898"/>
            <a:ext cx="1203960" cy="2103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98353" y="3768454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3" name="Picture 12" descr="d07cb81e712af3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242" y="3865990"/>
            <a:ext cx="1965960" cy="262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34773" y="4271374"/>
            <a:ext cx="1427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Divide:  </a:t>
            </a:r>
          </a:p>
        </p:txBody>
      </p:sp>
      <p:pic>
        <p:nvPicPr>
          <p:cNvPr id="15" name="Picture 14" descr="5bba082eb9d2489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5169" y="4393294"/>
            <a:ext cx="1213104" cy="213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38273" y="4271374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7" name="Picture 16" descr="256bb6140aa7ae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1162" y="4368910"/>
            <a:ext cx="2011680" cy="262128"/>
          </a:xfrm>
          <a:prstGeom prst="rect">
            <a:avLst/>
          </a:prstGeom>
        </p:spPr>
      </p:pic>
      <p:pic>
        <p:nvPicPr>
          <p:cNvPr id="18" name="Picture 17" descr="28b3729f21e06a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9637" y="4871830"/>
            <a:ext cx="957072" cy="2621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534579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71829a44e81d10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823" y="2196083"/>
            <a:ext cx="2785872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9a64fed63dd040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2103120"/>
            <a:ext cx="2788920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23841" y="2842259"/>
            <a:ext cx="32203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Multiply the fronts:  </a:t>
            </a:r>
          </a:p>
        </p:txBody>
      </p:sp>
      <p:pic>
        <p:nvPicPr>
          <p:cNvPr id="10" name="Picture 9" descr="515cb46100c899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031" y="2964179"/>
            <a:ext cx="987552" cy="21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23841" y="3345179"/>
            <a:ext cx="3315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 the exponents:  </a:t>
            </a:r>
          </a:p>
        </p:txBody>
      </p:sp>
      <p:pic>
        <p:nvPicPr>
          <p:cNvPr id="12" name="Picture 11" descr="b08638df285abcb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198" y="3442715"/>
            <a:ext cx="1941576" cy="262128"/>
          </a:xfrm>
          <a:prstGeom prst="rect">
            <a:avLst/>
          </a:prstGeom>
        </p:spPr>
      </p:pic>
      <p:pic>
        <p:nvPicPr>
          <p:cNvPr id="13" name="Picture 12" descr="f2052183a017b1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705" y="3945635"/>
            <a:ext cx="932688" cy="262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9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7455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printer makes  </a:t>
            </a:r>
          </a:p>
        </p:txBody>
      </p:sp>
      <p:pic>
        <p:nvPicPr>
          <p:cNvPr id="9" name="Picture 8" descr="63d362095a3f34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791" y="1944623"/>
            <a:ext cx="911352" cy="271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143" y="1851660"/>
            <a:ext cx="27259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copies per hour.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18846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 runs for  </a:t>
            </a:r>
          </a:p>
        </p:txBody>
      </p:sp>
      <p:pic>
        <p:nvPicPr>
          <p:cNvPr id="12" name="Picture 11" descr="9fc66bb1f34c49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888" y="2554224"/>
            <a:ext cx="1136904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8792" y="2464308"/>
            <a:ext cx="5481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hours. Paper costs 3 cents a sheet.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copies does it make?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7455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printer makes  </a:t>
            </a:r>
          </a:p>
        </p:txBody>
      </p:sp>
      <p:pic>
        <p:nvPicPr>
          <p:cNvPr id="9" name="Picture 8" descr="e21453500b5879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791" y="1944623"/>
            <a:ext cx="914400" cy="271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7191" y="1851660"/>
            <a:ext cx="27259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copies per hour.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18846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 runs for  </a:t>
            </a:r>
          </a:p>
        </p:txBody>
      </p:sp>
      <p:pic>
        <p:nvPicPr>
          <p:cNvPr id="12" name="Picture 11" descr="dcfe01e2266e7d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888" y="2554224"/>
            <a:ext cx="1143000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24888" y="2464308"/>
            <a:ext cx="5481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hours. Paper costs 3 cents a sheet.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copies does it make?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2609" y="3734926"/>
            <a:ext cx="32203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Multiply the fronts:  </a:t>
            </a:r>
          </a:p>
        </p:txBody>
      </p:sp>
      <p:pic>
        <p:nvPicPr>
          <p:cNvPr id="16" name="Picture 15" descr="4841b499496deb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799" y="3856846"/>
            <a:ext cx="1417320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72609" y="4237846"/>
            <a:ext cx="3315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 the exponents:  </a:t>
            </a:r>
          </a:p>
        </p:txBody>
      </p:sp>
      <p:pic>
        <p:nvPicPr>
          <p:cNvPr id="18" name="Picture 17" descr="a2fcaba2a23dd2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0966" y="4335382"/>
            <a:ext cx="1840991" cy="262128"/>
          </a:xfrm>
          <a:prstGeom prst="rect">
            <a:avLst/>
          </a:prstGeom>
        </p:spPr>
      </p:pic>
      <p:pic>
        <p:nvPicPr>
          <p:cNvPr id="19" name="Picture 18" descr="2a1f3e18aef4b3d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7473" y="4838302"/>
            <a:ext cx="2127504" cy="2621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531226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aa8aaa91edd783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859" y="2194560"/>
            <a:ext cx="1447800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3b2db2bf563f5f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908" y="2103120"/>
            <a:ext cx="1441704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3725" y="3223260"/>
            <a:ext cx="29915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fronts:  </a:t>
            </a:r>
          </a:p>
        </p:txBody>
      </p:sp>
      <p:pic>
        <p:nvPicPr>
          <p:cNvPr id="10" name="Picture 9" descr="68d052e64ee558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163" y="3345180"/>
            <a:ext cx="1481328" cy="21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3725" y="3726179"/>
            <a:ext cx="40136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Subtract the exponents:  </a:t>
            </a:r>
          </a:p>
        </p:txBody>
      </p:sp>
      <p:pic>
        <p:nvPicPr>
          <p:cNvPr id="12" name="Picture 11" descr="93ba4e388683b6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226" y="3826763"/>
            <a:ext cx="1880616" cy="256032"/>
          </a:xfrm>
          <a:prstGeom prst="rect">
            <a:avLst/>
          </a:prstGeom>
        </p:spPr>
      </p:pic>
      <p:pic>
        <p:nvPicPr>
          <p:cNvPr id="13" name="Picture 12" descr="c6369a2a18532f7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8589" y="4329683"/>
            <a:ext cx="847344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8006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ffdc47127232dd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276" y="2194560"/>
            <a:ext cx="1648968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e0912071a11b6e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323" y="2103120"/>
            <a:ext cx="1642872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89425" y="3223260"/>
            <a:ext cx="29915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fronts:  </a:t>
            </a:r>
          </a:p>
        </p:txBody>
      </p:sp>
      <p:pic>
        <p:nvPicPr>
          <p:cNvPr id="10" name="Picture 9" descr="b4106f1670f349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863" y="3345180"/>
            <a:ext cx="1865376" cy="21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89425" y="3726179"/>
            <a:ext cx="40136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Subtract the exponents:  </a:t>
            </a:r>
          </a:p>
        </p:txBody>
      </p:sp>
      <p:pic>
        <p:nvPicPr>
          <p:cNvPr id="12" name="Picture 11" descr="006020145e4625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926" y="3823716"/>
            <a:ext cx="2109216" cy="262128"/>
          </a:xfrm>
          <a:prstGeom prst="rect">
            <a:avLst/>
          </a:prstGeom>
        </p:spPr>
      </p:pic>
      <p:pic>
        <p:nvPicPr>
          <p:cNvPr id="13" name="Picture 12" descr="c559c147ffe46a9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4289" y="4329683"/>
            <a:ext cx="2889504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8006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8.2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3853590bf44167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536" y="2196083"/>
            <a:ext cx="2822448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product?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6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172da9cf6bf1b7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2103120"/>
            <a:ext cx="2825496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9196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product?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7745" y="3417139"/>
            <a:ext cx="32203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Multiply the fronts:  </a:t>
            </a:r>
          </a:p>
        </p:txBody>
      </p:sp>
      <p:pic>
        <p:nvPicPr>
          <p:cNvPr id="11" name="Picture 10" descr="441dd60a023e07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935" y="3540583"/>
            <a:ext cx="1021080" cy="2103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17745" y="3920059"/>
            <a:ext cx="3315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 the exponents:  </a:t>
            </a:r>
          </a:p>
        </p:txBody>
      </p:sp>
      <p:pic>
        <p:nvPicPr>
          <p:cNvPr id="13" name="Picture 12" descr="579cc9c9ffeab55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102" y="4017595"/>
            <a:ext cx="1950720" cy="262128"/>
          </a:xfrm>
          <a:prstGeom prst="rect">
            <a:avLst/>
          </a:prstGeom>
        </p:spPr>
      </p:pic>
      <p:pic>
        <p:nvPicPr>
          <p:cNvPr id="14" name="Picture 13" descr="10c89d61f9e09d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2609" y="4520515"/>
            <a:ext cx="954023" cy="2621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9944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8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811d128c9a4cb3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2196083"/>
            <a:ext cx="2825496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product,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20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20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d3ea7b9b7f4f76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487" y="2103120"/>
            <a:ext cx="2828544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9196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product,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2609" y="3417139"/>
            <a:ext cx="32203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Multiply the fronts:  </a:t>
            </a:r>
          </a:p>
        </p:txBody>
      </p:sp>
      <p:pic>
        <p:nvPicPr>
          <p:cNvPr id="11" name="Picture 10" descr="95ecba0795db8e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799" y="3539059"/>
            <a:ext cx="1197864" cy="213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72609" y="3920059"/>
            <a:ext cx="3315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 the exponents:  </a:t>
            </a:r>
          </a:p>
        </p:txBody>
      </p:sp>
      <p:pic>
        <p:nvPicPr>
          <p:cNvPr id="13" name="Picture 12" descr="d8f8e59949bbed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966" y="4017595"/>
            <a:ext cx="1840991" cy="262128"/>
          </a:xfrm>
          <a:prstGeom prst="rect">
            <a:avLst/>
          </a:prstGeom>
        </p:spPr>
      </p:pic>
      <p:pic>
        <p:nvPicPr>
          <p:cNvPr id="14" name="Picture 13" descr="a7b20829de9c08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7473" y="4520515"/>
            <a:ext cx="2273808" cy="2621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9944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c4bdb38362d4e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583" y="2194560"/>
            <a:ext cx="1292352" cy="801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117d387ca555e4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632" y="2103120"/>
            <a:ext cx="1286256" cy="801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37153" y="3229356"/>
            <a:ext cx="29915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fronts:  </a:t>
            </a:r>
          </a:p>
        </p:txBody>
      </p:sp>
      <p:pic>
        <p:nvPicPr>
          <p:cNvPr id="10" name="Picture 9" descr="e20244de15a0b9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591" y="3352800"/>
            <a:ext cx="996696" cy="2103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37153" y="3732275"/>
            <a:ext cx="40136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Subtract the exponents:  </a:t>
            </a:r>
          </a:p>
        </p:txBody>
      </p:sp>
      <p:pic>
        <p:nvPicPr>
          <p:cNvPr id="12" name="Picture 11" descr="03a763d23ef38b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654" y="3829812"/>
            <a:ext cx="3416808" cy="262128"/>
          </a:xfrm>
          <a:prstGeom prst="rect">
            <a:avLst/>
          </a:prstGeom>
        </p:spPr>
      </p:pic>
      <p:pic>
        <p:nvPicPr>
          <p:cNvPr id="13" name="Picture 12" descr="9b9b4517e7c627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2017" y="4332732"/>
            <a:ext cx="917448" cy="262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806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dfc728df3a4406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2194560"/>
            <a:ext cx="3310128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34140" y="3241548"/>
            <a:ext cx="35174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What is the value of </a:t>
            </a:r>
          </a:p>
        </p:txBody>
      </p:sp>
      <p:pic>
        <p:nvPicPr>
          <p:cNvPr id="10" name="Picture 9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421" y="3366516"/>
            <a:ext cx="176784" cy="207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91205" y="3241548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594e88537557ce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172" y="2103120"/>
            <a:ext cx="3313176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34140" y="3150108"/>
            <a:ext cx="35174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What is the value of </a:t>
            </a:r>
          </a:p>
        </p:txBody>
      </p:sp>
      <p:pic>
        <p:nvPicPr>
          <p:cNvPr id="10" name="Picture 9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421" y="3275076"/>
            <a:ext cx="176784" cy="207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91205" y="3150108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0887" y="3909059"/>
            <a:ext cx="16400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Fronts:  </a:t>
            </a:r>
          </a:p>
        </p:txBody>
      </p:sp>
      <p:pic>
        <p:nvPicPr>
          <p:cNvPr id="13" name="Picture 12" descr="e920add2c6370e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799" y="4011168"/>
            <a:ext cx="1834896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78695" y="3909059"/>
            <a:ext cx="1338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5" name="Picture 14" descr="8691e6c5c0ab487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768" y="4011168"/>
            <a:ext cx="2346960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40887" y="4602480"/>
            <a:ext cx="16015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Check:  </a:t>
            </a:r>
          </a:p>
        </p:txBody>
      </p:sp>
      <p:pic>
        <p:nvPicPr>
          <p:cNvPr id="17" name="Picture 16" descr="dedb3e2327f40b6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5232" y="4471416"/>
            <a:ext cx="3002280" cy="7193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53279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 = 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9107" y="1816608"/>
            <a:ext cx="9301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For  </a:t>
            </a:r>
          </a:p>
        </p:txBody>
      </p:sp>
      <p:pic>
        <p:nvPicPr>
          <p:cNvPr id="9" name="Picture 8" descr="60ccdbf7926155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134" y="1645920"/>
            <a:ext cx="1554480" cy="798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6614" y="1816608"/>
            <a:ext cx="28112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Marcus writes  </a:t>
            </a:r>
          </a:p>
        </p:txBody>
      </p:sp>
      <p:pic>
        <p:nvPicPr>
          <p:cNvPr id="11" name="Picture 10" descr="7f9ab9ea310fee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708" y="1876044"/>
            <a:ext cx="1441704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59724" y="2695956"/>
            <a:ext cx="2929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and Sara writes  </a:t>
            </a:r>
          </a:p>
        </p:txBody>
      </p:sp>
      <p:pic>
        <p:nvPicPr>
          <p:cNvPr id="13" name="Picture 12" descr="f48b4bb2456d35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2115" y="2753868"/>
            <a:ext cx="1249680" cy="341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3404616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Name what each one did wrong, and give the correct quotient.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0631" y="1816608"/>
            <a:ext cx="9301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For  </a:t>
            </a:r>
          </a:p>
        </p:txBody>
      </p:sp>
      <p:pic>
        <p:nvPicPr>
          <p:cNvPr id="9" name="Picture 8" descr="eb274165a95bfc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658" y="1645920"/>
            <a:ext cx="1548384" cy="798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2042" y="1816608"/>
            <a:ext cx="28112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Marcus writes  </a:t>
            </a:r>
          </a:p>
        </p:txBody>
      </p:sp>
      <p:pic>
        <p:nvPicPr>
          <p:cNvPr id="11" name="Picture 10" descr="031963a342c3fd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136" y="1876044"/>
            <a:ext cx="144475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58200" y="2695956"/>
            <a:ext cx="2929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and Sara writes  </a:t>
            </a:r>
          </a:p>
        </p:txBody>
      </p:sp>
      <p:pic>
        <p:nvPicPr>
          <p:cNvPr id="13" name="Picture 12" descr="f762cb430573f2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591" y="2753868"/>
            <a:ext cx="1252728" cy="341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3404616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Name what each one did wrong, and give the correct quotient.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0736" y="3976115"/>
            <a:ext cx="88572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Marcus subtracted the fronts. Sara added the exponents.</a:t>
            </a:r>
          </a:p>
        </p:txBody>
      </p:sp>
      <p:pic>
        <p:nvPicPr>
          <p:cNvPr id="16" name="Picture 15" descr="da3880d2244724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5600" y="4600956"/>
            <a:ext cx="1496568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272168" y="4479035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8" name="Picture 17" descr="e5d4b81feea7d9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5057" y="4576572"/>
            <a:ext cx="1972056" cy="262128"/>
          </a:xfrm>
          <a:prstGeom prst="rect">
            <a:avLst/>
          </a:prstGeom>
        </p:spPr>
      </p:pic>
      <p:pic>
        <p:nvPicPr>
          <p:cNvPr id="19" name="Picture 18" descr="9fe0ce93fe0b7e9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5600" y="5082539"/>
            <a:ext cx="841248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555345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6e0be8365ac4f5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559051"/>
            <a:ext cx="229209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2205227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1" name="Picture 10" descr="62a20c5f23ea4b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112263"/>
            <a:ext cx="1167384" cy="6431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91541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3" name="Picture 12" descr="d61c32ba4971b5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977895"/>
            <a:ext cx="2407920" cy="3322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625595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5" name="Picture 14" descr="8867f8a3b1816d8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532631"/>
            <a:ext cx="1155192" cy="6431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445465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17" name="Picture 16" descr="b725906188c6ae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4358639"/>
            <a:ext cx="1060704" cy="6492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51678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67883"/>
            <a:ext cx="913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20" name="Picture 19" descr="6d78c2be12150b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0372" y="5312664"/>
            <a:ext cx="146304" cy="167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476676" y="5167883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 </a:t>
            </a:r>
          </a:p>
        </p:txBody>
      </p:sp>
      <p:pic>
        <p:nvPicPr>
          <p:cNvPr id="22" name="Picture 21" descr="d7bf46933a52690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1626" y="5228844"/>
            <a:ext cx="3621024" cy="33528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Multiply numbers written in scientific notation — YZU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Divide numbers written in scientific notation — SGT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Real-World Problems and Significant Digits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solve a real-world problem with numbers in scientific notation and report the answer with the right number of significant digits.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9ef93e9422ec80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1140"/>
            <a:ext cx="2417064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1" name="Picture 10" descr="872c396e107e43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059" y="2115312"/>
            <a:ext cx="3057144" cy="332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665476"/>
            <a:ext cx="58599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Write  0.00902  in scientific notation.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278124"/>
            <a:ext cx="63019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Round  4.738  to the nearest hundredth.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9ef93e9422ec80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1140"/>
            <a:ext cx="2417064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74625" y="1440180"/>
            <a:ext cx="14403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1.2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2" name="Picture 11" descr="872c396e107e43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059" y="2115312"/>
            <a:ext cx="3057144" cy="3322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28843" y="2052828"/>
            <a:ext cx="16123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5.89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58599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Write  0.00902  in scientific notation.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5958" y="2665476"/>
            <a:ext cx="18000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9.02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-3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278124"/>
            <a:ext cx="63019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Round  4.738  to the nearest hundredth.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7924" y="3278124"/>
            <a:ext cx="8306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4.74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significant digits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56629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digits of a measurement that carry information: every nonzero digit, every zero between nonzero digits, and a trailing zero only when a decimal point is written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0999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leading zero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03580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zero before the first nonzero digit. 0.0047 has two leading zeros and two significant digits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56941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measurement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50531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quantity that was measured, so its last digit is uncertain. A count is not a measurement — 24 students is exactly 24, and 60 seconds in a minute is exact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Which digits are significant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5999" y="1993392"/>
          <a:ext cx="758952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188720"/>
                <a:gridCol w="43891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1">
                          <a:solidFill>
                            <a:srgbClr val="1A1A1A"/>
                          </a:solidFill>
                          <a:latin typeface="Lexend"/>
                        </a:rPr>
                        <a:t>Measurement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1">
                          <a:solidFill>
                            <a:srgbClr val="1A1A1A"/>
                          </a:solidFill>
                          <a:latin typeface="Lexend"/>
                        </a:rPr>
                        <a:t>Digits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1">
                          <a:solidFill>
                            <a:srgbClr val="1A1A1A"/>
                          </a:solidFill>
                          <a:latin typeface="Lexend"/>
                        </a:rPr>
                        <a:t>Why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4,207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the middle zero counts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0.0058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leading zeros never count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3.200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trailing zeros count after a decimal point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52,000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no decimal point, so they do not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Multiplying or dividing: count the digits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c7e6ff835d857c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716" y="1993392"/>
            <a:ext cx="6038088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3817" y="2656332"/>
            <a:ext cx="82333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2 significant digits and 3, so the answer keeps 2:   </a:t>
            </a:r>
          </a:p>
        </p:txBody>
      </p:sp>
      <p:pic>
        <p:nvPicPr>
          <p:cNvPr id="12" name="Picture 11" descr="723af09f9a4183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0006" y="2717292"/>
            <a:ext cx="1377696" cy="335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42900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Multiply or divide: the answer takes the smaller of the two significant-digit counts.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Adding or subtracting: a different rule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c84020e548be5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023872"/>
            <a:ext cx="3383280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0000" y="2656332"/>
            <a:ext cx="86586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1,234 stops at the ones place;  5.6 stops at the tenths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410" y="3342132"/>
            <a:ext cx="6114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so the sum stops at the ones place:   </a:t>
            </a:r>
          </a:p>
        </p:txBody>
      </p:sp>
      <p:pic>
        <p:nvPicPr>
          <p:cNvPr id="13" name="Picture 12" descr="40647922f9acd2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237" y="3368040"/>
            <a:ext cx="3166872" cy="4053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1148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Add or subtract: the answer stops at the leftmost of the two last-digit places.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8053" y="1714500"/>
            <a:ext cx="4120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solar array measures  </a:t>
            </a:r>
          </a:p>
        </p:txBody>
      </p:sp>
      <p:pic>
        <p:nvPicPr>
          <p:cNvPr id="9" name="Picture 8" descr="ff2cbfe6b6afaa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411" y="1772412"/>
            <a:ext cx="1575816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27227" y="1714500"/>
            <a:ext cx="1378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 by  </a:t>
            </a:r>
          </a:p>
        </p:txBody>
      </p:sp>
      <p:pic>
        <p:nvPicPr>
          <p:cNvPr id="11" name="Picture 10" descr="aa26922bd492b4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215" y="1772412"/>
            <a:ext cx="1383792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52007" y="1714500"/>
            <a:ext cx="7786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6888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What is its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908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Give the answer to the correct number of significant digits.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d7b7c5abadb0c1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151120" cy="411480"/>
          </a:xfrm>
          <a:prstGeom prst="rect">
            <a:avLst/>
          </a:prstGeom>
        </p:spPr>
      </p:pic>
      <p:pic>
        <p:nvPicPr>
          <p:cNvPr id="9" name="Picture 8" descr="a08d6ab77e1723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6248400" cy="387096"/>
          </a:xfrm>
          <a:prstGeom prst="rect">
            <a:avLst/>
          </a:prstGeom>
        </p:spPr>
      </p:pic>
      <p:pic>
        <p:nvPicPr>
          <p:cNvPr id="10" name="Picture 9" descr="a93125fbd09b82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67456"/>
            <a:ext cx="4462272" cy="405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4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square meters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0625" y="1583436"/>
            <a:ext cx="30771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field measures  </a:t>
            </a:r>
          </a:p>
        </p:txBody>
      </p:sp>
      <p:pic>
        <p:nvPicPr>
          <p:cNvPr id="9" name="Picture 8" descr="1645c9c47acde3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639" y="1600200"/>
            <a:ext cx="1792224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02863" y="1583436"/>
            <a:ext cx="1378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 by  </a:t>
            </a:r>
          </a:p>
        </p:txBody>
      </p:sp>
      <p:pic>
        <p:nvPicPr>
          <p:cNvPr id="11" name="Picture 10" descr="debdcb1f492603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851" y="1600200"/>
            <a:ext cx="2005584" cy="423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49435" y="1583436"/>
            <a:ext cx="7786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439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What is its area?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9101" y="1583436"/>
            <a:ext cx="30771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field measures  </a:t>
            </a:r>
          </a:p>
        </p:txBody>
      </p:sp>
      <p:pic>
        <p:nvPicPr>
          <p:cNvPr id="9" name="Picture 8" descr="19219eb587cce9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15" y="1600200"/>
            <a:ext cx="1792224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01339" y="1583436"/>
            <a:ext cx="1378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 by  </a:t>
            </a:r>
          </a:p>
        </p:txBody>
      </p:sp>
      <p:pic>
        <p:nvPicPr>
          <p:cNvPr id="11" name="Picture 10" descr="acda4b72b75ce9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327" y="1600200"/>
            <a:ext cx="2008632" cy="423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50959" y="1583436"/>
            <a:ext cx="7786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439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What is its area?</a:t>
            </a:r>
          </a:p>
        </p:txBody>
      </p:sp>
      <p:pic>
        <p:nvPicPr>
          <p:cNvPr id="14" name="Picture 13" descr="94a8240adc6e96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957" y="3055222"/>
            <a:ext cx="2185416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51373" y="2933302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6" name="Picture 15" descr="6dc7d095c18b426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261" y="3030838"/>
            <a:ext cx="1859280" cy="262128"/>
          </a:xfrm>
          <a:prstGeom prst="rect">
            <a:avLst/>
          </a:prstGeom>
        </p:spPr>
      </p:pic>
      <p:pic>
        <p:nvPicPr>
          <p:cNvPr id="17" name="Picture 16" descr="c8c5f1b26c2cdc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5957" y="3509374"/>
            <a:ext cx="2758440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11093" y="3939142"/>
            <a:ext cx="58493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Keep 2 significant digits (4.6 has 2):   </a:t>
            </a:r>
          </a:p>
        </p:txBody>
      </p:sp>
      <p:pic>
        <p:nvPicPr>
          <p:cNvPr id="19" name="Picture 18" descr="7eec2dad996b77d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250" y="4039726"/>
            <a:ext cx="1030224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square meters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9331" y="1714500"/>
            <a:ext cx="32038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container holds  </a:t>
            </a:r>
          </a:p>
        </p:txBody>
      </p:sp>
      <p:pic>
        <p:nvPicPr>
          <p:cNvPr id="9" name="Picture 8" descr="14e0b9b3df93fb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985" y="1773936"/>
            <a:ext cx="1783080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39065" y="1714500"/>
            <a:ext cx="34702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cubic feet of liquid.</a:t>
            </a:r>
          </a:p>
        </p:txBody>
      </p:sp>
      <p:pic>
        <p:nvPicPr>
          <p:cNvPr id="11" name="Picture 10" descr="a3b236c4480db3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625" y="2506980"/>
            <a:ext cx="1999487" cy="335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60113" y="2446020"/>
            <a:ext cx="39779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cubic feet evaporates.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much is left? Give the answer with the correct precision.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7330ec204f7748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358128" cy="280416"/>
          </a:xfrm>
          <a:prstGeom prst="rect">
            <a:avLst/>
          </a:prstGeom>
        </p:spPr>
      </p:pic>
      <p:pic>
        <p:nvPicPr>
          <p:cNvPr id="9" name="Picture 8" descr="bb89500147edd4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4976"/>
            <a:ext cx="3895344" cy="417576"/>
          </a:xfrm>
          <a:prstGeom prst="rect">
            <a:avLst/>
          </a:prstGeom>
        </p:spPr>
      </p:pic>
      <p:pic>
        <p:nvPicPr>
          <p:cNvPr id="10" name="Picture 9" descr="675b2dce7029d4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66871"/>
            <a:ext cx="6041136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3.06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cubic feet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9636" y="1581912"/>
            <a:ext cx="18196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road is  </a:t>
            </a:r>
          </a:p>
        </p:txBody>
      </p:sp>
      <p:pic>
        <p:nvPicPr>
          <p:cNvPr id="9" name="Picture 8" descr="7085e71197c76e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141" y="1600200"/>
            <a:ext cx="2026920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19061" y="1581912"/>
            <a:ext cx="15699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3031" y="2324100"/>
            <a:ext cx="18768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section  </a:t>
            </a:r>
          </a:p>
        </p:txBody>
      </p:sp>
      <p:pic>
        <p:nvPicPr>
          <p:cNvPr id="12" name="Picture 11" descr="8ca2d2fd49f849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686" y="2340864"/>
            <a:ext cx="2036064" cy="4236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68750" y="2324100"/>
            <a:ext cx="33368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 long is repaved.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8457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much of the road is not repaved?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8112" y="1581912"/>
            <a:ext cx="18196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road is  </a:t>
            </a:r>
          </a:p>
        </p:txBody>
      </p:sp>
      <p:pic>
        <p:nvPicPr>
          <p:cNvPr id="9" name="Picture 8" descr="792d949c5a21a6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617" y="1600200"/>
            <a:ext cx="2029968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20585" y="1581912"/>
            <a:ext cx="15699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1507" y="2324100"/>
            <a:ext cx="18768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section  </a:t>
            </a:r>
          </a:p>
        </p:txBody>
      </p:sp>
      <p:pic>
        <p:nvPicPr>
          <p:cNvPr id="12" name="Picture 11" descr="b395e7df8785e0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162" y="2340864"/>
            <a:ext cx="2039112" cy="4236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70274" y="2324100"/>
            <a:ext cx="33368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 long is repaved.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8457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much of the road is not repaved?</a:t>
            </a:r>
          </a:p>
        </p:txBody>
      </p:sp>
      <p:pic>
        <p:nvPicPr>
          <p:cNvPr id="15" name="Picture 14" descr="df3a7677f047d4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0235" y="3768454"/>
            <a:ext cx="2529840" cy="2682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55371" y="4176886"/>
            <a:ext cx="81879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3,850 stops at the tens place, so round to tens:  3,580</a:t>
            </a:r>
          </a:p>
        </p:txBody>
      </p:sp>
      <p:pic>
        <p:nvPicPr>
          <p:cNvPr id="17" name="Picture 16" descr="e2ff5572229200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0235" y="4752958"/>
            <a:ext cx="2270760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525130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3.58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m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How many significant digits are in  0.00470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How many significant digits are in  0.00470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0987" y="2728291"/>
            <a:ext cx="52306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Leading zeros do not count:  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0987" y="3231211"/>
            <a:ext cx="70167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4, 7 and the final 0 count:  3 significant digits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670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pond's surface measures  </a:t>
            </a:r>
          </a:p>
        </p:txBody>
      </p:sp>
      <p:pic>
        <p:nvPicPr>
          <p:cNvPr id="9" name="Picture 8" descr="cb6705e7e3c134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334" y="1941575"/>
            <a:ext cx="1130808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95142" y="1851660"/>
            <a:ext cx="1288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 by  </a:t>
            </a:r>
          </a:p>
        </p:txBody>
      </p:sp>
      <p:pic>
        <p:nvPicPr>
          <p:cNvPr id="11" name="Picture 10" descr="fe2d8d13976231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208" y="1941575"/>
            <a:ext cx="1127760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73968" y="1851660"/>
            <a:ext cx="734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pond is 3 meters deep.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surface area. Round to the correct number of significant digits.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670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pond's surface measures  </a:t>
            </a:r>
          </a:p>
        </p:txBody>
      </p:sp>
      <p:pic>
        <p:nvPicPr>
          <p:cNvPr id="9" name="Picture 8" descr="14e1bd54084a46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334" y="1941575"/>
            <a:ext cx="1130808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95142" y="1851660"/>
            <a:ext cx="1288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 by  </a:t>
            </a:r>
          </a:p>
        </p:txBody>
      </p:sp>
      <p:pic>
        <p:nvPicPr>
          <p:cNvPr id="11" name="Picture 10" descr="5ace9ec4312072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208" y="1941575"/>
            <a:ext cx="1127760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73968" y="1851660"/>
            <a:ext cx="734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pond is 3 meters deep.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surface area. Round to the correct number of significant digits.</a:t>
            </a:r>
          </a:p>
        </p:txBody>
      </p:sp>
      <p:pic>
        <p:nvPicPr>
          <p:cNvPr id="15" name="Picture 14" descr="0dcb6b3604aaf1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929" y="4212667"/>
            <a:ext cx="1825752" cy="213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97681" y="4090747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7" name="Picture 16" descr="a732557401dc8ad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570" y="4188283"/>
            <a:ext cx="1831848" cy="262128"/>
          </a:xfrm>
          <a:prstGeom prst="rect">
            <a:avLst/>
          </a:prstGeom>
        </p:spPr>
      </p:pic>
      <p:pic>
        <p:nvPicPr>
          <p:cNvPr id="18" name="Picture 17" descr="ca43b17f8102147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1929" y="4666819"/>
            <a:ext cx="2362200" cy="31089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17065" y="5096587"/>
            <a:ext cx="42099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Keep 2 significant digits:   </a:t>
            </a:r>
          </a:p>
        </p:txBody>
      </p:sp>
      <p:pic>
        <p:nvPicPr>
          <p:cNvPr id="20" name="Picture 19" descr="018e3913f4d433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846" y="5197171"/>
            <a:ext cx="1057656" cy="256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566808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4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square meters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Two measurements are multiplied. One has 3 significant digits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0585" y="2692908"/>
            <a:ext cx="69585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and the other has 5. The exact product is  </a:t>
            </a:r>
          </a:p>
        </p:txBody>
      </p:sp>
      <p:pic>
        <p:nvPicPr>
          <p:cNvPr id="10" name="Picture 9" descr="f5a6805642b36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980" y="2753867"/>
            <a:ext cx="2029968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31948" y="2692908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015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How should the answer be written?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Two measurements are multiplied. One has 3 significant digits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0585" y="2601468"/>
            <a:ext cx="69585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and the other has 5. The exact product is  </a:t>
            </a:r>
          </a:p>
        </p:txBody>
      </p:sp>
      <p:pic>
        <p:nvPicPr>
          <p:cNvPr id="10" name="Picture 9" descr="b41e0e74d05342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980" y="2662428"/>
            <a:ext cx="2029968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31948" y="2601468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101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How should the answer be written?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6369" y="3935299"/>
            <a:ext cx="86459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answer keeps the smaller count: 3 significant digits.</a:t>
            </a:r>
          </a:p>
        </p:txBody>
      </p:sp>
      <p:pic>
        <p:nvPicPr>
          <p:cNvPr id="14" name="Picture 13" descr="40ace4bdf802fb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233" y="4538803"/>
            <a:ext cx="1557528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38761" y="4438219"/>
            <a:ext cx="21002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becomes   </a:t>
            </a:r>
          </a:p>
        </p:txBody>
      </p:sp>
      <p:pic>
        <p:nvPicPr>
          <p:cNvPr id="16" name="Picture 15" descr="ecdbdf53729bbd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823" y="4538803"/>
            <a:ext cx="1231392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00971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7.41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c7912e820c52de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740" y="2194560"/>
            <a:ext cx="3983736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91476" y="2171700"/>
            <a:ext cx="42994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meters, both measured.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Write the sum with the correct precision.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d295e21d6a5af5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216" y="2103120"/>
            <a:ext cx="3986784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93000" y="2080260"/>
            <a:ext cx="42994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meters, both measured.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Write the sum with the correct precision.</a:t>
            </a:r>
          </a:p>
        </p:txBody>
      </p:sp>
      <p:pic>
        <p:nvPicPr>
          <p:cNvPr id="11" name="Picture 10" descr="9677988c74c08a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422" y="3508579"/>
            <a:ext cx="2499360" cy="268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63558" y="3917011"/>
            <a:ext cx="97715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2,500 stops at the hundreds place, so round to hundreds:  3,000</a:t>
            </a:r>
          </a:p>
        </p:txBody>
      </p:sp>
      <p:pic>
        <p:nvPicPr>
          <p:cNvPr id="13" name="Picture 12" descr="1b2a94b567e449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422" y="4493083"/>
            <a:ext cx="2130552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99143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3.0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m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How many significant digits are in  0.03080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How many significant digits are in  0.03080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4399" y="2728291"/>
            <a:ext cx="50404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Leading zeros do not count:  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4399" y="3231211"/>
            <a:ext cx="73898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3, 0, 8 and the final 0 count:  4 significant digits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3716" y="2171700"/>
            <a:ext cx="38928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rectangle measures  </a:t>
            </a:r>
          </a:p>
        </p:txBody>
      </p:sp>
      <p:pic>
        <p:nvPicPr>
          <p:cNvPr id="9" name="Picture 8" descr="bdf46868d006cd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372" y="2229612"/>
            <a:ext cx="1420368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29740" y="2171700"/>
            <a:ext cx="15560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cm by  </a:t>
            </a:r>
          </a:p>
        </p:txBody>
      </p:sp>
      <p:pic>
        <p:nvPicPr>
          <p:cNvPr id="11" name="Picture 10" descr="4ada1bcfda5f9a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624" y="2229612"/>
            <a:ext cx="1639824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88448" y="2171700"/>
            <a:ext cx="9565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cm.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area, to the correct significant digits?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26.1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cm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2.6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5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cm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2.6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cm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2.61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5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cm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2192" y="2080260"/>
            <a:ext cx="38928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rectangle measures  </a:t>
            </a:r>
          </a:p>
        </p:txBody>
      </p:sp>
      <p:pic>
        <p:nvPicPr>
          <p:cNvPr id="9" name="Picture 8" descr="1aaeee8bfa6e84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848" y="2138171"/>
            <a:ext cx="1423416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31264" y="2080260"/>
            <a:ext cx="15560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cm by  </a:t>
            </a:r>
          </a:p>
        </p:txBody>
      </p:sp>
      <p:pic>
        <p:nvPicPr>
          <p:cNvPr id="11" name="Picture 10" descr="ba0b2a6dbe833f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148" y="2138171"/>
            <a:ext cx="1639824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89972" y="2080260"/>
            <a:ext cx="9565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cm.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area, to the correct significant digits?</a:t>
            </a:r>
          </a:p>
        </p:txBody>
      </p:sp>
      <p:pic>
        <p:nvPicPr>
          <p:cNvPr id="14" name="Picture 13" descr="7be216ecf24c5d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6669" y="3536011"/>
            <a:ext cx="2029968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76637" y="3414091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6" name="Picture 15" descr="6dc7d095c18b426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9526" y="3511627"/>
            <a:ext cx="1859280" cy="262128"/>
          </a:xfrm>
          <a:prstGeom prst="rect">
            <a:avLst/>
          </a:prstGeom>
        </p:spPr>
      </p:pic>
      <p:pic>
        <p:nvPicPr>
          <p:cNvPr id="17" name="Picture 16" descr="35eed8d154d098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6669" y="3990163"/>
            <a:ext cx="2602992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91805" y="4419931"/>
            <a:ext cx="58452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Keep 2 significant digits (6.0 has 2):   </a:t>
            </a:r>
          </a:p>
        </p:txBody>
      </p:sp>
      <p:pic>
        <p:nvPicPr>
          <p:cNvPr id="19" name="Picture 18" descr="9b8a502d8aaa20e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9866" y="4520515"/>
            <a:ext cx="1069848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99143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2.6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9605" y="2171700"/>
            <a:ext cx="2421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car travels  </a:t>
            </a:r>
          </a:p>
        </p:txBody>
      </p:sp>
      <p:pic>
        <p:nvPicPr>
          <p:cNvPr id="9" name="Picture 8" descr="b5f5674feeb41d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287" y="2229612"/>
            <a:ext cx="1661160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5447" y="2171700"/>
            <a:ext cx="3073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km in  3.0  hours.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What is its average speed, to the right number of significant digits?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9605" y="2080260"/>
            <a:ext cx="2421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car travels  </a:t>
            </a:r>
          </a:p>
        </p:txBody>
      </p:sp>
      <p:pic>
        <p:nvPicPr>
          <p:cNvPr id="9" name="Picture 8" descr="4947c0dc47f86a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287" y="2138171"/>
            <a:ext cx="1661160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5447" y="2080260"/>
            <a:ext cx="3073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km in  3.0  hours.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What is its average speed, to the right number of significant digits?</a:t>
            </a:r>
          </a:p>
        </p:txBody>
      </p:sp>
      <p:pic>
        <p:nvPicPr>
          <p:cNvPr id="12" name="Picture 11" descr="b7f3f89b7670fb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366" y="3482340"/>
            <a:ext cx="1981199" cy="21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80502" y="3863339"/>
            <a:ext cx="60769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3.0 has 2 significant digits, so keep 2:   </a:t>
            </a:r>
          </a:p>
        </p:txBody>
      </p:sp>
      <p:pic>
        <p:nvPicPr>
          <p:cNvPr id="14" name="Picture 13" descr="a617e99eac0e99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313" y="3960876"/>
            <a:ext cx="1063752" cy="2621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1.4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km/h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A measured length times a measured width gives an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6207" y="2746579"/>
            <a:ext cx="7250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of  </a:t>
            </a:r>
          </a:p>
        </p:txBody>
      </p:sp>
      <p:pic>
        <p:nvPicPr>
          <p:cNvPr id="10" name="Picture 9" descr="66c8c788a53acf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112" y="2806015"/>
            <a:ext cx="1392936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37048" y="2746579"/>
            <a:ext cx="45618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</a:t>
            </a:r>
            <a:r>
              <a:rPr sz="247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470" b="0" i="0">
                <a:solidFill>
                  <a:srgbClr val="1A1A1A"/>
                </a:solidFill>
                <a:latin typeface="Lexend"/>
              </a:rPr>
              <a:t>. The length measured  </a:t>
            </a:r>
          </a:p>
        </p:txBody>
      </p:sp>
      <p:pic>
        <p:nvPicPr>
          <p:cNvPr id="12" name="Picture 11" descr="e3528be3edfa66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773" y="2804491"/>
            <a:ext cx="1402080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63853" y="2746579"/>
            <a:ext cx="7786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What did the width measure, to two significant digits?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A measured length times a measured width gives an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4683" y="2655139"/>
            <a:ext cx="7250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of  </a:t>
            </a:r>
          </a:p>
        </p:txBody>
      </p:sp>
      <p:pic>
        <p:nvPicPr>
          <p:cNvPr id="10" name="Picture 9" descr="96dda91be14bb1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588" y="2714575"/>
            <a:ext cx="1395984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38572" y="2655139"/>
            <a:ext cx="45618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</a:t>
            </a:r>
            <a:r>
              <a:rPr sz="247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470" b="0" i="0">
                <a:solidFill>
                  <a:srgbClr val="1A1A1A"/>
                </a:solidFill>
                <a:latin typeface="Lexend"/>
              </a:rPr>
              <a:t>. The length measured  </a:t>
            </a:r>
          </a:p>
        </p:txBody>
      </p:sp>
      <p:pic>
        <p:nvPicPr>
          <p:cNvPr id="12" name="Picture 11" descr="b0f75faad513fd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297" y="2713051"/>
            <a:ext cx="1402080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65377" y="2655139"/>
            <a:ext cx="7786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What did the width measure, to two significant digits?</a:t>
            </a:r>
          </a:p>
        </p:txBody>
      </p:sp>
      <p:pic>
        <p:nvPicPr>
          <p:cNvPr id="15" name="Picture 14" descr="90203440ac2af9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025" y="4059074"/>
            <a:ext cx="2377440" cy="3169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91161" y="4528466"/>
            <a:ext cx="44209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Two significant digits:   </a:t>
            </a:r>
          </a:p>
        </p:txBody>
      </p:sp>
      <p:pic>
        <p:nvPicPr>
          <p:cNvPr id="17" name="Picture 16" descr="83b7c76269977cf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958" y="4604666"/>
            <a:ext cx="1301496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509996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4.0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m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Ellis says: 9,145 has 4 significant digits and 4.8 has 2,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0808" y="2746579"/>
            <a:ext cx="21335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so the sum  </a:t>
            </a:r>
          </a:p>
        </p:txBody>
      </p:sp>
      <p:pic>
        <p:nvPicPr>
          <p:cNvPr id="10" name="Picture 9" descr="9630dac2daa1a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190" y="2801443"/>
            <a:ext cx="1859280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96470" y="2746579"/>
            <a:ext cx="42347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must be written with 2:  </a:t>
            </a:r>
          </a:p>
        </p:txBody>
      </p:sp>
      <p:pic>
        <p:nvPicPr>
          <p:cNvPr id="12" name="Picture 11" descr="ca0b1ffd8d5f75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4029" y="2806015"/>
            <a:ext cx="1377696" cy="338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671725" y="2746579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Explain why he is wrong, and give the correct sum.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Ellis says: 9,145 has 4 significant digits and 4.8 has 2,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0808" y="2655139"/>
            <a:ext cx="21335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so the sum  </a:t>
            </a:r>
          </a:p>
        </p:txBody>
      </p:sp>
      <p:pic>
        <p:nvPicPr>
          <p:cNvPr id="10" name="Picture 9" descr="76e99574fb2593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190" y="2708479"/>
            <a:ext cx="1859280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96470" y="2655139"/>
            <a:ext cx="42347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must be written with 2:  </a:t>
            </a:r>
          </a:p>
        </p:txBody>
      </p:sp>
      <p:pic>
        <p:nvPicPr>
          <p:cNvPr id="12" name="Picture 11" descr="4947c6a9376ae7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4029" y="2714575"/>
            <a:ext cx="1377696" cy="338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671725" y="2655139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Explain why he is wrong, and give the correct sum.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7221" y="3988970"/>
            <a:ext cx="77200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Adding uses decimal places, not a count of digits.</a:t>
            </a:r>
          </a:p>
        </p:txBody>
      </p:sp>
      <p:pic>
        <p:nvPicPr>
          <p:cNvPr id="16" name="Picture 15" descr="990cd9202cebfc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085" y="4586378"/>
            <a:ext cx="2673096" cy="2682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97221" y="4994810"/>
            <a:ext cx="83042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9,145 stops at the ones place, so round to ones:  9,150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6631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9,150 = 9.150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9019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9019"/>
            <a:ext cx="6001785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How many significant digits are in  6,030  grams?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66953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66953"/>
            <a:ext cx="634358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How many significant digits are in  0.00710  meters?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34888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34888"/>
            <a:ext cx="290142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rectangle measures  </a:t>
            </a:r>
          </a:p>
        </p:txBody>
      </p:sp>
      <p:pic>
        <p:nvPicPr>
          <p:cNvPr id="14" name="Picture 13" descr="7d17691463990a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746" y="2509166"/>
            <a:ext cx="954289" cy="22913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73035" y="2434888"/>
            <a:ext cx="106372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 m by  </a:t>
            </a:r>
          </a:p>
        </p:txBody>
      </p:sp>
      <p:pic>
        <p:nvPicPr>
          <p:cNvPr id="16" name="Picture 15" descr="35e387f60425e7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596" y="2509166"/>
            <a:ext cx="1072630" cy="2291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72227" y="2434888"/>
            <a:ext cx="396130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 m. Find its area, to the correct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802238"/>
            <a:ext cx="351864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number of significant digits.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270172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20" name="Picture 19" descr="2f8ec9a9220ceb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3323048"/>
            <a:ext cx="2696684" cy="27193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324316" y="3270172"/>
            <a:ext cx="6831265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 meters, both measured. Write the sum with the correct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637522"/>
            <a:ext cx="132944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precision.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105457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105457"/>
            <a:ext cx="182645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car travels  </a:t>
            </a:r>
          </a:p>
        </p:txBody>
      </p:sp>
      <p:pic>
        <p:nvPicPr>
          <p:cNvPr id="25" name="Picture 24" descr="d28efaf6c4b6b0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3779" y="4179735"/>
            <a:ext cx="1080184" cy="22913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323963" y="4105457"/>
            <a:ext cx="686988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 km in  4.0  hours. Find its average speed, to the correct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472807"/>
            <a:ext cx="351864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number of significant digits.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940741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pic>
        <p:nvPicPr>
          <p:cNvPr id="29" name="Picture 28" descr="f68f597f3be75e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4991100"/>
            <a:ext cx="2913225" cy="27697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40857" y="4940741"/>
            <a:ext cx="657174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 grams, both measured. Write the difference with the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308092"/>
            <a:ext cx="223305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correct precision.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Add, subtract, multiply, and divide numbers written in scientific notation: word problems — D5S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Evaluating Expressions with Radicals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evaluate an expression that contains square roots, cube roots and integer exponents.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8747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How many significant digits are in  0.0250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0" name="Picture 9" descr="56d20e268514a0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059" y="2116836"/>
            <a:ext cx="2404872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2" name="Picture 11" descr="97c530a75d29d3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711" y="2699004"/>
            <a:ext cx="844296" cy="390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278124"/>
            <a:ext cx="21855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Evaluate:  </a:t>
            </a:r>
          </a:p>
        </p:txBody>
      </p:sp>
      <p:pic>
        <p:nvPicPr>
          <p:cNvPr id="14" name="Picture 13" descr="b791e832d65b0b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957" y="3393948"/>
            <a:ext cx="1182624" cy="225552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8747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How many significant digits are in  0.0250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60777" y="1440180"/>
            <a:ext cx="384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1" name="Picture 10" descr="56d20e268514a0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059" y="2116836"/>
            <a:ext cx="2404872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76571" y="2052828"/>
            <a:ext cx="13653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4" name="Picture 13" descr="97c530a75d29d3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711" y="2699004"/>
            <a:ext cx="844296" cy="3901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60647" y="2665476"/>
            <a:ext cx="5700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278124"/>
            <a:ext cx="21855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Evaluate:  </a:t>
            </a:r>
          </a:p>
        </p:txBody>
      </p:sp>
      <p:pic>
        <p:nvPicPr>
          <p:cNvPr id="17" name="Picture 16" descr="b791e832d65b0b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957" y="3393948"/>
            <a:ext cx="1182624" cy="2255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54221" y="3278124"/>
            <a:ext cx="3865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radical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03078"/>
            <a:ext cx="75151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 root symbol together with everything under its bar: </a:t>
            </a:r>
          </a:p>
        </p:txBody>
      </p:sp>
      <p:pic>
        <p:nvPicPr>
          <p:cNvPr id="10" name="Picture 9" descr="7fc2ce39b1027a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961" y="1892410"/>
            <a:ext cx="835152" cy="47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56113" y="1903078"/>
            <a:ext cx="17701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a square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54766"/>
            <a:ext cx="919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root, </a:t>
            </a:r>
          </a:p>
        </p:txBody>
      </p:sp>
      <p:pic>
        <p:nvPicPr>
          <p:cNvPr id="13" name="Picture 12" descr="5f7b58e3a97823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786" y="2444098"/>
            <a:ext cx="871728" cy="4785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97514" y="2454766"/>
            <a:ext cx="21407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a cube 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2380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radicand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553172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number under the radical bar. The bar groups it, so whatever is under it is evaluated before the root is taken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80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principal square root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018134"/>
            <a:ext cx="31639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nonnegative one. </a:t>
            </a:r>
          </a:p>
        </p:txBody>
      </p:sp>
      <p:pic>
        <p:nvPicPr>
          <p:cNvPr id="19" name="Picture 18" descr="66ed9a548d73b0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838" y="5007466"/>
            <a:ext cx="868680" cy="4785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38518" y="5018134"/>
            <a:ext cx="39348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7 — not −7, and not both,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536294"/>
            <a:ext cx="19851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even though </a:t>
            </a:r>
          </a:p>
        </p:txBody>
      </p:sp>
      <p:pic>
        <p:nvPicPr>
          <p:cNvPr id="22" name="Picture 21" descr="95575338750225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961" y="5559154"/>
            <a:ext cx="841248" cy="411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832209" y="5536294"/>
            <a:ext cx="15457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also 49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radical bar is a grouping symbol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0301447559f26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184" y="1993392"/>
            <a:ext cx="5407152" cy="478536"/>
          </a:xfrm>
          <a:prstGeom prst="rect">
            <a:avLst/>
          </a:prstGeom>
        </p:spPr>
      </p:pic>
      <p:pic>
        <p:nvPicPr>
          <p:cNvPr id="11" name="Picture 10" descr="3737ed6aaf2017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180" y="2746248"/>
            <a:ext cx="3185160" cy="478536"/>
          </a:xfrm>
          <a:prstGeom prst="rect">
            <a:avLst/>
          </a:prstGeom>
        </p:spPr>
      </p:pic>
      <p:pic>
        <p:nvPicPr>
          <p:cNvPr id="12" name="Picture 11" descr="4a07f45d5d9ca5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1035" y="3499104"/>
            <a:ext cx="3209544" cy="478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30579" y="3509772"/>
            <a:ext cx="18545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never   </a:t>
            </a:r>
          </a:p>
        </p:txBody>
      </p:sp>
      <p:pic>
        <p:nvPicPr>
          <p:cNvPr id="14" name="Picture 13" descr="fbd6d5a320033c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8004" y="3601212"/>
            <a:ext cx="792480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31596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Everything under the bar is evaluated before the root is taken.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Square roots and cube roots are not the same shape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4243ac5c29f50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784" y="1993392"/>
            <a:ext cx="1423416" cy="47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0200" y="2004060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59fd66553504e9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543" y="1993392"/>
            <a:ext cx="1453896" cy="478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68439" y="2004060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4" name="Picture 13" descr="138d560710ac33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783" y="1993392"/>
            <a:ext cx="1901952" cy="478536"/>
          </a:xfrm>
          <a:prstGeom prst="rect">
            <a:avLst/>
          </a:prstGeom>
        </p:spPr>
      </p:pic>
      <p:pic>
        <p:nvPicPr>
          <p:cNvPr id="15" name="Picture 14" descr="b169188f81dcb7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8596" y="2750820"/>
            <a:ext cx="1246632" cy="7894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65228" y="2916936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7" name="Picture 16" descr="df602f9237f1cb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9571" y="2746248"/>
            <a:ext cx="1673352" cy="7985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7552" y="388315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An odd root keeps the sign of its radicand. A square root sign never gives a negative value.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Radicals alongside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d5f3f835e2d872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328" y="1993392"/>
            <a:ext cx="2286000" cy="731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2328" y="2130552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24b3a5f09066cb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671" y="2119884"/>
            <a:ext cx="3398520" cy="478536"/>
          </a:xfrm>
          <a:prstGeom prst="rect">
            <a:avLst/>
          </a:prstGeom>
        </p:spPr>
      </p:pic>
      <p:pic>
        <p:nvPicPr>
          <p:cNvPr id="13" name="Picture 12" descr="0416a625cfa02c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1232" y="2999232"/>
            <a:ext cx="4639056" cy="673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01116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Finish each piece — the radical, the power — and only then put them together.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5e47ed58306c9a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059" y="2103120"/>
            <a:ext cx="2819400" cy="667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7355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0d6c9f96a3ec0d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630680" cy="673608"/>
          </a:xfrm>
          <a:prstGeom prst="rect">
            <a:avLst/>
          </a:prstGeom>
        </p:spPr>
      </p:pic>
      <p:pic>
        <p:nvPicPr>
          <p:cNvPr id="9" name="Picture 8" descr="3737ed6aaf2017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8168"/>
            <a:ext cx="3185160" cy="478536"/>
          </a:xfrm>
          <a:prstGeom prst="rect">
            <a:avLst/>
          </a:prstGeom>
        </p:spPr>
      </p:pic>
      <p:pic>
        <p:nvPicPr>
          <p:cNvPr id="10" name="Picture 9" descr="48d618d0a819b8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21024"/>
            <a:ext cx="1661160" cy="667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74573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17/4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b20bcbb3e5acef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163" y="1600200"/>
            <a:ext cx="3441192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443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39a98bd65ba9c0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735" y="1600200"/>
            <a:ext cx="3432048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443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  <p:pic>
        <p:nvPicPr>
          <p:cNvPr id="10" name="Picture 9" descr="6dcdcd24bba745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5" y="3556618"/>
            <a:ext cx="1219200" cy="515112"/>
          </a:xfrm>
          <a:prstGeom prst="rect">
            <a:avLst/>
          </a:prstGeom>
        </p:spPr>
      </p:pic>
      <p:pic>
        <p:nvPicPr>
          <p:cNvPr id="11" name="Picture 10" descr="56c69e6e26de48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5" y="4184506"/>
            <a:ext cx="2234184" cy="368808"/>
          </a:xfrm>
          <a:prstGeom prst="rect">
            <a:avLst/>
          </a:prstGeom>
        </p:spPr>
      </p:pic>
      <p:pic>
        <p:nvPicPr>
          <p:cNvPr id="12" name="Picture 11" descr="a96b4c18555835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055" y="4666090"/>
            <a:ext cx="1399032" cy="515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31836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−17/9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8d7699a30e9dd1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116" y="2103120"/>
            <a:ext cx="3447288" cy="4998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059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0e80ddb964149c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822191" cy="478536"/>
          </a:xfrm>
          <a:prstGeom prst="rect">
            <a:avLst/>
          </a:prstGeom>
        </p:spPr>
      </p:pic>
      <p:pic>
        <p:nvPicPr>
          <p:cNvPr id="9" name="Picture 8" descr="a2a1fa108c11dc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73096"/>
            <a:ext cx="3989832" cy="478536"/>
          </a:xfrm>
          <a:prstGeom prst="rect">
            <a:avLst/>
          </a:prstGeom>
        </p:spPr>
      </p:pic>
      <p:pic>
        <p:nvPicPr>
          <p:cNvPr id="10" name="Picture 9" descr="64f4a386edd009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425952"/>
            <a:ext cx="1972056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0.2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d6d7dee63e8529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440" y="1600200"/>
            <a:ext cx="4358640" cy="62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279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7e55928de2d14c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15" y="1600200"/>
            <a:ext cx="4361688" cy="62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279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  <p:pic>
        <p:nvPicPr>
          <p:cNvPr id="10" name="Picture 9" descr="3d08e3b9f0cd12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811" y="3361546"/>
            <a:ext cx="1261872" cy="368808"/>
          </a:xfrm>
          <a:prstGeom prst="rect">
            <a:avLst/>
          </a:prstGeom>
        </p:spPr>
      </p:pic>
      <p:pic>
        <p:nvPicPr>
          <p:cNvPr id="11" name="Picture 10" descr="97af87df177bbd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811" y="3864466"/>
            <a:ext cx="2438400" cy="368808"/>
          </a:xfrm>
          <a:prstGeom prst="rect">
            <a:avLst/>
          </a:prstGeom>
        </p:spPr>
      </p:pic>
      <p:pic>
        <p:nvPicPr>
          <p:cNvPr id="12" name="Picture 11" descr="dbd85bfcc6699f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811" y="4445110"/>
            <a:ext cx="3087624" cy="21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89469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ea03e9b9b6d508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268" y="2194560"/>
            <a:ext cx="1014984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6c4a40349de610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315" y="2103120"/>
            <a:ext cx="1008888" cy="478536"/>
          </a:xfrm>
          <a:prstGeom prst="rect">
            <a:avLst/>
          </a:prstGeom>
        </p:spPr>
      </p:pic>
      <p:pic>
        <p:nvPicPr>
          <p:cNvPr id="9" name="Picture 8" descr="e345b1c8704f7b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399" y="3020568"/>
            <a:ext cx="1819656" cy="2499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0055" y="2916936"/>
            <a:ext cx="1338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1" name="Picture 10" descr="ca3e1ca339eb78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128" y="2929128"/>
            <a:ext cx="1572768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11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square patio has an area of  169  square feet.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Fencing for it costs 12 dollars a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one side of the patio?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square patio has an area of  169  square feet.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Fencing for it costs 12 dollars a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one side of the patio?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9815" y="3587827"/>
            <a:ext cx="3131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Side × side = 169</a:t>
            </a:r>
          </a:p>
        </p:txBody>
      </p:sp>
      <p:pic>
        <p:nvPicPr>
          <p:cNvPr id="12" name="Picture 11" descr="389a35c8a60827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679" y="4238575"/>
            <a:ext cx="1868424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3103" y="4137991"/>
            <a:ext cx="1338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4" name="Picture 13" descr="296c25346e41fa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176" y="4150183"/>
            <a:ext cx="1612392" cy="4328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72015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13 feet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33a9e56c707a61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0" y="2194560"/>
            <a:ext cx="1264920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84e87a07475feb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347" y="2103120"/>
            <a:ext cx="1258824" cy="478536"/>
          </a:xfrm>
          <a:prstGeom prst="rect">
            <a:avLst/>
          </a:prstGeom>
        </p:spPr>
      </p:pic>
      <p:pic>
        <p:nvPicPr>
          <p:cNvPr id="9" name="Picture 8" descr="6b0304793847f9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935" y="2987040"/>
            <a:ext cx="3630168" cy="3169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25103" y="2916936"/>
            <a:ext cx="1338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1" name="Picture 10" descr="754dfe5956abcf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176" y="2929128"/>
            <a:ext cx="1853184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−5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7058abdbd15292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996" y="2194560"/>
            <a:ext cx="1557528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074bb924378dc9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043" y="2103120"/>
            <a:ext cx="1551432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63194" y="2906268"/>
            <a:ext cx="3827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Under the bar first:  </a:t>
            </a:r>
          </a:p>
        </p:txBody>
      </p:sp>
      <p:pic>
        <p:nvPicPr>
          <p:cNvPr id="10" name="Picture 9" descr="5105a5010efd45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957" y="2982468"/>
            <a:ext cx="2944368" cy="304800"/>
          </a:xfrm>
          <a:prstGeom prst="rect">
            <a:avLst/>
          </a:prstGeom>
        </p:spPr>
      </p:pic>
      <p:pic>
        <p:nvPicPr>
          <p:cNvPr id="11" name="Picture 10" descr="5127a0c173e394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8058" y="3468623"/>
            <a:ext cx="1271016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0287c1279b1b6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880" y="2194560"/>
            <a:ext cx="1889760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4741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61373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61373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9953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84.5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9953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0537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627b4a23b9288a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7" y="2103120"/>
            <a:ext cx="1883664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5597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574" y="3481147"/>
            <a:ext cx="3827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Under the bar first:  </a:t>
            </a:r>
          </a:p>
        </p:txBody>
      </p:sp>
      <p:pic>
        <p:nvPicPr>
          <p:cNvPr id="11" name="Picture 10" descr="d050f197a4a44d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337" y="3581731"/>
            <a:ext cx="2197608" cy="256032"/>
          </a:xfrm>
          <a:prstGeom prst="rect">
            <a:avLst/>
          </a:prstGeom>
        </p:spPr>
      </p:pic>
      <p:pic>
        <p:nvPicPr>
          <p:cNvPr id="12" name="Picture 11" descr="296c25346e41fa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438" y="4043503"/>
            <a:ext cx="1612392" cy="4328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13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24ebae5e5d7579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2194560"/>
            <a:ext cx="1152144" cy="789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5831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9246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−1/4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9246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not a real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10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−1/8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10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1/4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1627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3d615a9b7c2dc0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212" y="2103120"/>
            <a:ext cx="1149096" cy="789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6687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pic>
        <p:nvPicPr>
          <p:cNvPr id="10" name="Picture 9" descr="44ca813e0eef5c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179" y="3814903"/>
            <a:ext cx="4053840" cy="6065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52316" y="4679011"/>
            <a:ext cx="9276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so   </a:t>
            </a:r>
          </a:p>
        </p:txBody>
      </p:sp>
      <p:pic>
        <p:nvPicPr>
          <p:cNvPr id="12" name="Picture 11" descr="712e2a339e91aa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795" y="4549471"/>
            <a:ext cx="1786128" cy="716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40291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−1/4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13bd5897204bf8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591" y="2194560"/>
            <a:ext cx="1926335" cy="789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e6bc0b83f8afa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115" y="2103120"/>
            <a:ext cx="1923288" cy="789432"/>
          </a:xfrm>
          <a:prstGeom prst="rect">
            <a:avLst/>
          </a:prstGeom>
        </p:spPr>
      </p:pic>
      <p:pic>
        <p:nvPicPr>
          <p:cNvPr id="9" name="Picture 8" descr="ab1c6f19d3960fb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317" y="3240023"/>
            <a:ext cx="1161288" cy="716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47605" y="3369563"/>
            <a:ext cx="19394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   and     </a:t>
            </a:r>
          </a:p>
        </p:txBody>
      </p:sp>
      <p:pic>
        <p:nvPicPr>
          <p:cNvPr id="11" name="Picture 10" descr="7b48005c9016cd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906" y="3240023"/>
            <a:ext cx="1322832" cy="716280"/>
          </a:xfrm>
          <a:prstGeom prst="rect">
            <a:avLst/>
          </a:prstGeom>
        </p:spPr>
      </p:pic>
      <p:pic>
        <p:nvPicPr>
          <p:cNvPr id="12" name="Picture 11" descr="27befd5d161272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6317" y="4084320"/>
            <a:ext cx="1350264" cy="6065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82803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4/3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7513eedb387e9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194560"/>
            <a:ext cx="2542032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41217f15035bee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220" y="2103120"/>
            <a:ext cx="2545080" cy="478536"/>
          </a:xfrm>
          <a:prstGeom prst="rect">
            <a:avLst/>
          </a:prstGeom>
        </p:spPr>
      </p:pic>
      <p:pic>
        <p:nvPicPr>
          <p:cNvPr id="9" name="Picture 8" descr="3837c1f0f17629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9" y="2950464"/>
            <a:ext cx="4651248" cy="368808"/>
          </a:xfrm>
          <a:prstGeom prst="rect">
            <a:avLst/>
          </a:prstGeom>
        </p:spPr>
      </p:pic>
      <p:pic>
        <p:nvPicPr>
          <p:cNvPr id="10" name="Picture 9" descr="a0f3c47d5d7510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99" y="3432047"/>
            <a:ext cx="1584960" cy="569976"/>
          </a:xfrm>
          <a:prstGeom prst="rect">
            <a:avLst/>
          </a:prstGeom>
        </p:spPr>
      </p:pic>
      <p:pic>
        <p:nvPicPr>
          <p:cNvPr id="11" name="Picture 10" descr="894447109a3e5d6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99" y="4093464"/>
            <a:ext cx="3218688" cy="5730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80364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1/100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9886" y="2205228"/>
            <a:ext cx="29697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Simon says that  </a:t>
            </a:r>
          </a:p>
        </p:txBody>
      </p:sp>
      <p:pic>
        <p:nvPicPr>
          <p:cNvPr id="9" name="Picture 8" descr="a849ea34284e1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443" y="2194560"/>
            <a:ext cx="1060704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3147" y="2205228"/>
            <a:ext cx="36856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is not a real number,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4741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because you cannot take the root of a negative.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2229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Explain why he is wrong, and give the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1410" y="2113788"/>
            <a:ext cx="29697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Simon says that  </a:t>
            </a:r>
          </a:p>
        </p:txBody>
      </p:sp>
      <p:pic>
        <p:nvPicPr>
          <p:cNvPr id="9" name="Picture 8" descr="dc8e0a2c2f29cc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967" y="2103120"/>
            <a:ext cx="1057656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1623" y="2113788"/>
            <a:ext cx="36856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is not a real number,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5597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because you cannot take the root of a negative.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3085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Explain why he is wrong, and give the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154" y="4056026"/>
            <a:ext cx="105123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 cube root can be negative: three negatives multiply to a negative.</a:t>
            </a:r>
          </a:p>
        </p:txBody>
      </p:sp>
      <p:pic>
        <p:nvPicPr>
          <p:cNvPr id="14" name="Picture 13" descr="cbf83985c3ed1e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18" y="4654958"/>
            <a:ext cx="2889504" cy="2651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37522" y="4558946"/>
            <a:ext cx="11630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6" name="Picture 15" descr="590e54612c7e6e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3447" y="4603142"/>
            <a:ext cx="1405128" cy="3688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13044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−3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e838230098c649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528572"/>
            <a:ext cx="862584" cy="390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1" name="Picture 10" descr="c2339290e86818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122931"/>
            <a:ext cx="676656" cy="390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3" name="Picture 12" descr="ad02206568954f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717291"/>
            <a:ext cx="1271016" cy="3901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3924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5" name="Picture 14" descr="64b69718fca365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300983"/>
            <a:ext cx="566928" cy="640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41010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17" name="Picture 16" descr="3f6f87e04710f3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4134612"/>
            <a:ext cx="1484376" cy="3901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4760976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pic>
        <p:nvPicPr>
          <p:cNvPr id="19" name="Picture 18" descr="07d37168da60879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7632" y="4718304"/>
            <a:ext cx="2304288" cy="542544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This skill continues tomorrow: one assignment, due at the start of the class after 4.06.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Evaluate radical expressions — D8J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Order of Operations with Radicals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evaluate a multi-step expression with rational numbers, exponents and radicals by reading its structure.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380cdbfed5fb5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473708"/>
            <a:ext cx="1118616" cy="390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66903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many significant digits are in  1.020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731008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2" name="Picture 11" descr="f3c8135f85cfec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711" y="2688336"/>
            <a:ext cx="765048" cy="5425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409188"/>
            <a:ext cx="21855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Evaluate:  </a:t>
            </a:r>
          </a:p>
        </p:txBody>
      </p:sp>
      <p:pic>
        <p:nvPicPr>
          <p:cNvPr id="14" name="Picture 13" descr="8de25ca1bc5f4d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957" y="3525012"/>
            <a:ext cx="1127760" cy="225552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380cdbfed5fb5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473708"/>
            <a:ext cx="1118616" cy="390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76177" y="1440180"/>
            <a:ext cx="4050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66903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many significant digits are in  1.020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6387" y="2052828"/>
            <a:ext cx="4050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731008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4" name="Picture 13" descr="f3c8135f85cfec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711" y="2688336"/>
            <a:ext cx="765048" cy="5425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81399" y="2665476"/>
            <a:ext cx="7174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9/4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409188"/>
            <a:ext cx="21855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Evaluate:  </a:t>
            </a:r>
          </a:p>
        </p:txBody>
      </p:sp>
      <p:pic>
        <p:nvPicPr>
          <p:cNvPr id="17" name="Picture 16" descr="8de25ca1bc5f4d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957" y="3525012"/>
            <a:ext cx="1127760" cy="2255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599357" y="3409188"/>
            <a:ext cx="3865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grouping symbol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anything that holds part of an expression together and is finished first: parentheses, brackets, the radical bar and the fraction 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1733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nested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46704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one grouping symbol inside another. The innermost one is finished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803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multi-step expression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07407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one that takes more than one operation to evaluate. Everything in this unit takes six steps or fewer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structure, not a mnemonic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103120" y="1993392"/>
          <a:ext cx="795528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/>
                <a:gridCol w="2743200"/>
                <a:gridCol w="4572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1">
                          <a:solidFill>
                            <a:srgbClr val="1A1A1A"/>
                          </a:solidFill>
                          <a:latin typeface="Lexend"/>
                        </a:rPr>
                        <a:t>Level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1">
                          <a:solidFill>
                            <a:srgbClr val="1A1A1A"/>
                          </a:solidFill>
                          <a:latin typeface="Lexend"/>
                        </a:rPr>
                        <a:t>What it means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Grouping symbols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( ), [ ], the radical bar, the fraction bar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Powers and roots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the same level as each other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Multiply and divide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left to right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Add and subtract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left to right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7552" y="420624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Innermost grouping symbol first, then out.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Left to right means left to right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2201d3ee15bc2b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347" y="2060448"/>
            <a:ext cx="3008376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0723" y="1970532"/>
            <a:ext cx="19477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 never   </a:t>
            </a:r>
          </a:p>
        </p:txBody>
      </p:sp>
      <p:pic>
        <p:nvPicPr>
          <p:cNvPr id="12" name="Picture 11" descr="f0147313abe6d9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268" y="2060448"/>
            <a:ext cx="1517904" cy="277368"/>
          </a:xfrm>
          <a:prstGeom prst="rect">
            <a:avLst/>
          </a:prstGeom>
        </p:spPr>
      </p:pic>
      <p:pic>
        <p:nvPicPr>
          <p:cNvPr id="13" name="Picture 12" descr="0ee3a056470a44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2139" y="2744724"/>
            <a:ext cx="3285744" cy="2804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57883" y="2656332"/>
            <a:ext cx="19477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 never   </a:t>
            </a:r>
          </a:p>
        </p:txBody>
      </p:sp>
      <p:pic>
        <p:nvPicPr>
          <p:cNvPr id="15" name="Picture 14" descr="b927c0f461bb71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8428" y="2746248"/>
            <a:ext cx="1520952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42900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Multiplication and division are one level. Addition and subtraction are one level. Left to right, both times.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The fraction bar groups, top and bottom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b676b63d56095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372" y="1993392"/>
            <a:ext cx="2398776" cy="792480"/>
          </a:xfrm>
          <a:prstGeom prst="rect">
            <a:avLst/>
          </a:prstGeom>
        </p:spPr>
      </p:pic>
      <p:pic>
        <p:nvPicPr>
          <p:cNvPr id="11" name="Picture 10" descr="fb1e10d5d1f5e9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496" y="3060192"/>
            <a:ext cx="4986528" cy="8473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24586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Finish the numerator and finish the denominator before you divide.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6b6fcd5e7b2e72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607" y="2103120"/>
            <a:ext cx="3956304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8457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04e54fe9a1540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249424" cy="411480"/>
          </a:xfrm>
          <a:prstGeom prst="rect">
            <a:avLst/>
          </a:prstGeom>
        </p:spPr>
      </p:pic>
      <p:pic>
        <p:nvPicPr>
          <p:cNvPr id="9" name="Picture 8" descr="21bef9986283dc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6989064" cy="353568"/>
          </a:xfrm>
          <a:prstGeom prst="rect">
            <a:avLst/>
          </a:prstGeom>
        </p:spPr>
      </p:pic>
      <p:pic>
        <p:nvPicPr>
          <p:cNvPr id="10" name="Picture 9" descr="09e7e44a6e73f2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3928"/>
            <a:ext cx="2910840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−1.44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47f83e2b495dac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952" y="1600200"/>
            <a:ext cx="4547616" cy="594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9748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aac90390d93a983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9" y="1600200"/>
            <a:ext cx="4541520" cy="594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9748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5478" y="3286870"/>
            <a:ext cx="30852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Powers and roots:  </a:t>
            </a:r>
          </a:p>
        </p:txBody>
      </p:sp>
      <p:pic>
        <p:nvPicPr>
          <p:cNvPr id="11" name="Picture 10" descr="f6d02763ee13a4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584" y="3358498"/>
            <a:ext cx="1548384" cy="3139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91968" y="3286870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3" name="Picture 12" descr="954e49d4ca9d85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4857" y="3331066"/>
            <a:ext cx="1091184" cy="3688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695478" y="3789790"/>
            <a:ext cx="39381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Inside the parentheses:  </a:t>
            </a:r>
          </a:p>
        </p:txBody>
      </p:sp>
      <p:pic>
        <p:nvPicPr>
          <p:cNvPr id="15" name="Picture 14" descr="e7c4e03b1a0743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444" y="3911710"/>
            <a:ext cx="2109216" cy="213360"/>
          </a:xfrm>
          <a:prstGeom prst="rect">
            <a:avLst/>
          </a:prstGeom>
        </p:spPr>
      </p:pic>
      <p:pic>
        <p:nvPicPr>
          <p:cNvPr id="16" name="Picture 15" descr="9835c37dc0133d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0342" y="4414630"/>
            <a:ext cx="3514344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86421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9.97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b808d9623aef05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731" y="2103120"/>
            <a:ext cx="2734056" cy="847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533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9aec3c395596e3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593848" cy="792480"/>
          </a:xfrm>
          <a:prstGeom prst="rect">
            <a:avLst/>
          </a:prstGeom>
        </p:spPr>
      </p:pic>
      <p:pic>
        <p:nvPicPr>
          <p:cNvPr id="9" name="Picture 8" descr="fd77386a9e66a3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87040"/>
            <a:ext cx="3694176" cy="789432"/>
          </a:xfrm>
          <a:prstGeom prst="rect">
            <a:avLst/>
          </a:prstGeom>
        </p:spPr>
      </p:pic>
      <p:pic>
        <p:nvPicPr>
          <p:cNvPr id="10" name="Picture 9" descr="69a6d692b4cc56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50791"/>
            <a:ext cx="1895856" cy="67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17855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−1/4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a0165d764fa847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6" y="1481328"/>
            <a:ext cx="3081528" cy="847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3159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93f2d6cae19f44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519" y="1481328"/>
            <a:ext cx="3078480" cy="847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3159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  <p:pic>
        <p:nvPicPr>
          <p:cNvPr id="10" name="Picture 9" descr="6565c690921d94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803" y="3443842"/>
            <a:ext cx="1810512" cy="609600"/>
          </a:xfrm>
          <a:prstGeom prst="rect">
            <a:avLst/>
          </a:prstGeom>
        </p:spPr>
      </p:pic>
      <p:pic>
        <p:nvPicPr>
          <p:cNvPr id="11" name="Picture 10" descr="a2173ad1551df9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803" y="4144882"/>
            <a:ext cx="3212592" cy="612648"/>
          </a:xfrm>
          <a:prstGeom prst="rect">
            <a:avLst/>
          </a:prstGeom>
        </p:spPr>
      </p:pic>
      <p:pic>
        <p:nvPicPr>
          <p:cNvPr id="12" name="Picture 11" descr="03d6a17384790a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7803" y="4848970"/>
            <a:ext cx="1091184" cy="5120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49819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25a7622aecf1eb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287" y="2260092"/>
            <a:ext cx="1456944" cy="280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36fd5fdafeb181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287" y="2168652"/>
            <a:ext cx="1456944" cy="280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11726" y="2839212"/>
            <a:ext cx="26567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Left to right:  </a:t>
            </a:r>
          </a:p>
        </p:txBody>
      </p:sp>
      <p:pic>
        <p:nvPicPr>
          <p:cNvPr id="10" name="Picture 9" descr="12ac90fe8177c5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305" y="2941320"/>
            <a:ext cx="1621536" cy="252984"/>
          </a:xfrm>
          <a:prstGeom prst="rect">
            <a:avLst/>
          </a:prstGeom>
        </p:spPr>
      </p:pic>
      <p:pic>
        <p:nvPicPr>
          <p:cNvPr id="11" name="Picture 10" descr="58b50d1f788fe1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590" y="3480816"/>
            <a:ext cx="1478280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54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456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square tile has side  </a:t>
            </a:r>
          </a:p>
        </p:txBody>
      </p:sp>
      <p:pic>
        <p:nvPicPr>
          <p:cNvPr id="9" name="Picture 8" descr="97c530a75d29d3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897" y="1885187"/>
            <a:ext cx="844296" cy="390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7193" y="1851660"/>
            <a:ext cx="22114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diagonal is about 19.8 centimeters.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perimeter of the tile?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456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square tile has side  </a:t>
            </a:r>
          </a:p>
        </p:txBody>
      </p:sp>
      <p:pic>
        <p:nvPicPr>
          <p:cNvPr id="9" name="Picture 8" descr="8dd3731dd90336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897" y="1885187"/>
            <a:ext cx="838200" cy="390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1097" y="1851660"/>
            <a:ext cx="22114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diagonal is about 19.8 centimeters.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perimeter of the tile?</a:t>
            </a:r>
          </a:p>
        </p:txBody>
      </p:sp>
      <p:pic>
        <p:nvPicPr>
          <p:cNvPr id="13" name="Picture 12" descr="fe182c84c4bdb5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467" y="3684236"/>
            <a:ext cx="1642872" cy="4328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2603" y="4222208"/>
            <a:ext cx="22702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Perimeter:  </a:t>
            </a:r>
          </a:p>
        </p:txBody>
      </p:sp>
      <p:pic>
        <p:nvPicPr>
          <p:cNvPr id="15" name="Picture 14" descr="b92290561e20c8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668" y="4322792"/>
            <a:ext cx="1609344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79370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56 centimeters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7d69da8346cb7c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260092"/>
            <a:ext cx="1554480" cy="280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9dc4fd86eed7f2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168652"/>
            <a:ext cx="1554480" cy="280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57446" y="2839212"/>
            <a:ext cx="26567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Left to right:  </a:t>
            </a:r>
          </a:p>
        </p:txBody>
      </p:sp>
      <p:pic>
        <p:nvPicPr>
          <p:cNvPr id="10" name="Picture 9" descr="5215752a2994fd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025" y="2939796"/>
            <a:ext cx="1530096" cy="256032"/>
          </a:xfrm>
          <a:prstGeom prst="rect">
            <a:avLst/>
          </a:prstGeom>
        </p:spPr>
      </p:pic>
      <p:pic>
        <p:nvPicPr>
          <p:cNvPr id="11" name="Picture 10" descr="1f8367c1c48b43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2310" y="3480816"/>
            <a:ext cx="1554480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2b230be022ca8b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591" y="2194560"/>
            <a:ext cx="1164336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0893d505426886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03120"/>
            <a:ext cx="1158240" cy="798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22680" y="3226307"/>
            <a:ext cx="996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0" name="Picture 9" descr="0f7f372429cfcb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300" y="3326891"/>
            <a:ext cx="2481072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22680" y="3729227"/>
            <a:ext cx="15832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Bottom:  </a:t>
            </a:r>
          </a:p>
        </p:txBody>
      </p:sp>
      <p:pic>
        <p:nvPicPr>
          <p:cNvPr id="12" name="Picture 11" descr="d59a91b1f76472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791" y="3826763"/>
            <a:ext cx="2670048" cy="262128"/>
          </a:xfrm>
          <a:prstGeom prst="rect">
            <a:avLst/>
          </a:prstGeom>
        </p:spPr>
      </p:pic>
      <p:pic>
        <p:nvPicPr>
          <p:cNvPr id="13" name="Picture 12" descr="3d14f1f915bfc6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7544" y="4255007"/>
            <a:ext cx="807720" cy="5151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90728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3/5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594d57048b4fb9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339" y="2229612"/>
            <a:ext cx="1386840" cy="3413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53291355aab2c4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2138171"/>
            <a:ext cx="1389888" cy="3413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490" y="3414091"/>
            <a:ext cx="20896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Power first:  </a:t>
            </a:r>
          </a:p>
        </p:txBody>
      </p:sp>
      <p:pic>
        <p:nvPicPr>
          <p:cNvPr id="11" name="Picture 10" descr="6bee3a4a6e9671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961" y="3513151"/>
            <a:ext cx="880872" cy="259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70490" y="3917011"/>
            <a:ext cx="24988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Then multiply:  </a:t>
            </a:r>
          </a:p>
        </p:txBody>
      </p:sp>
      <p:pic>
        <p:nvPicPr>
          <p:cNvPr id="13" name="Picture 12" descr="521cfcdc4e4431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205" y="4038931"/>
            <a:ext cx="1255776" cy="213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70490" y="4419931"/>
            <a:ext cx="18774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Then add:  </a:t>
            </a:r>
          </a:p>
        </p:txBody>
      </p:sp>
      <p:pic>
        <p:nvPicPr>
          <p:cNvPr id="15" name="Picture 14" descr="c52f3646b69457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0795" y="4541851"/>
            <a:ext cx="1399032" cy="213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99143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50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266fcce5418af2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3" y="2194560"/>
            <a:ext cx="987552" cy="792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61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927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927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35.5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13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13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19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286b5294f6ed7d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032" y="2103120"/>
            <a:ext cx="981455" cy="789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6687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7658" y="3792043"/>
            <a:ext cx="996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1" name="Picture 10" descr="f5cf47236f59dc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277" y="3889579"/>
            <a:ext cx="2389632" cy="2621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57658" y="4294963"/>
            <a:ext cx="15832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Bottom:  </a:t>
            </a:r>
          </a:p>
        </p:txBody>
      </p:sp>
      <p:pic>
        <p:nvPicPr>
          <p:cNvPr id="13" name="Picture 12" descr="b8964d2fa5cae6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768" y="4397071"/>
            <a:ext cx="697992" cy="252984"/>
          </a:xfrm>
          <a:prstGeom prst="rect">
            <a:avLst/>
          </a:prstGeom>
        </p:spPr>
      </p:pic>
      <p:pic>
        <p:nvPicPr>
          <p:cNvPr id="14" name="Picture 13" descr="e3ce27ebfe1bfd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2522" y="4919803"/>
            <a:ext cx="1219200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36938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4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6ce0d9f4982b69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3" y="2194560"/>
            <a:ext cx="1810512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74e67f9444e645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980" y="2103120"/>
            <a:ext cx="1813560" cy="411480"/>
          </a:xfrm>
          <a:prstGeom prst="rect">
            <a:avLst/>
          </a:prstGeom>
        </p:spPr>
      </p:pic>
      <p:pic>
        <p:nvPicPr>
          <p:cNvPr id="9" name="Picture 8" descr="068d9a19700e13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152" y="2938272"/>
            <a:ext cx="1066800" cy="259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21952" y="2839212"/>
            <a:ext cx="5234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  (the exponent is on the 2 only)</a:t>
            </a:r>
          </a:p>
        </p:txBody>
      </p:sp>
      <p:pic>
        <p:nvPicPr>
          <p:cNvPr id="11" name="Picture 10" descr="a8317bc2e11e2f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5152" y="3413759"/>
            <a:ext cx="1115568" cy="313944"/>
          </a:xfrm>
          <a:prstGeom prst="rect">
            <a:avLst/>
          </a:prstGeom>
        </p:spPr>
      </p:pic>
      <p:pic>
        <p:nvPicPr>
          <p:cNvPr id="12" name="Picture 11" descr="ab059e2234c190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5152" y="3966971"/>
            <a:ext cx="1252728" cy="21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f06e7d14029634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3" y="2194560"/>
            <a:ext cx="2496312" cy="667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3edde1adf91d2f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080" y="2103120"/>
            <a:ext cx="2499360" cy="673608"/>
          </a:xfrm>
          <a:prstGeom prst="rect">
            <a:avLst/>
          </a:prstGeom>
        </p:spPr>
      </p:pic>
      <p:pic>
        <p:nvPicPr>
          <p:cNvPr id="9" name="Picture 8" descr="dcdd245aeaaf1b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755" y="3124200"/>
            <a:ext cx="1057656" cy="515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75411" y="3153156"/>
            <a:ext cx="16709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  and     </a:t>
            </a:r>
          </a:p>
        </p:txBody>
      </p:sp>
      <p:pic>
        <p:nvPicPr>
          <p:cNvPr id="11" name="Picture 10" descr="91dc20afadb1ae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9196" y="3124200"/>
            <a:ext cx="829056" cy="515112"/>
          </a:xfrm>
          <a:prstGeom prst="rect">
            <a:avLst/>
          </a:prstGeom>
        </p:spPr>
      </p:pic>
      <p:pic>
        <p:nvPicPr>
          <p:cNvPr id="12" name="Picture 11" descr="116226914234f1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755" y="3730752"/>
            <a:ext cx="2569464" cy="515112"/>
          </a:xfrm>
          <a:prstGeom prst="rect">
            <a:avLst/>
          </a:prstGeom>
        </p:spPr>
      </p:pic>
      <p:pic>
        <p:nvPicPr>
          <p:cNvPr id="13" name="Picture 12" descr="ea27676c0bb858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7755" y="4337304"/>
            <a:ext cx="1481328" cy="512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98652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17/6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5986" y="2215896"/>
            <a:ext cx="31266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Roscoe says that  </a:t>
            </a:r>
          </a:p>
        </p:txBody>
      </p:sp>
      <p:pic>
        <p:nvPicPr>
          <p:cNvPr id="9" name="Picture 8" descr="c79d4acb3ae0bd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507" y="2194560"/>
            <a:ext cx="1901952" cy="4998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7459" y="2215896"/>
            <a:ext cx="32952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is always positive,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875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because a square is always positive.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7533" y="3520771"/>
            <a:ext cx="46510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Is he right? Give a value of </a:t>
            </a:r>
          </a:p>
        </p:txBody>
      </p:sp>
      <p:pic>
        <p:nvPicPr>
          <p:cNvPr id="13" name="Picture 12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381" y="3645739"/>
            <a:ext cx="176784" cy="2072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48165" y="3520771"/>
            <a:ext cx="24929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that settles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6659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4462" y="2124456"/>
            <a:ext cx="31266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Roscoe says that  </a:t>
            </a:r>
          </a:p>
        </p:txBody>
      </p:sp>
      <p:pic>
        <p:nvPicPr>
          <p:cNvPr id="9" name="Picture 8" descr="349a51316d69c5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983" y="2103120"/>
            <a:ext cx="1905000" cy="4998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8983" y="2124456"/>
            <a:ext cx="32952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is always positive,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7731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because a square is always positive.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7533" y="3429331"/>
            <a:ext cx="46510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Is he right? Give a value of </a:t>
            </a:r>
          </a:p>
        </p:txBody>
      </p:sp>
      <p:pic>
        <p:nvPicPr>
          <p:cNvPr id="13" name="Picture 12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381" y="3554299"/>
            <a:ext cx="176784" cy="2072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48165" y="3429331"/>
            <a:ext cx="24929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that settles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8076" y="4198951"/>
            <a:ext cx="13421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When </a:t>
            </a:r>
          </a:p>
        </p:txBody>
      </p:sp>
      <p:pic>
        <p:nvPicPr>
          <p:cNvPr id="16" name="Picture 15" descr="da0bec38e3107c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095" y="4302583"/>
            <a:ext cx="1036320" cy="2499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29415" y="4198951"/>
            <a:ext cx="606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  </a:t>
            </a:r>
          </a:p>
        </p:txBody>
      </p:sp>
      <p:pic>
        <p:nvPicPr>
          <p:cNvPr id="18" name="Picture 17" descr="c90e576750902f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8723" y="4211143"/>
            <a:ext cx="3477768" cy="432816"/>
          </a:xfrm>
          <a:prstGeom prst="rect">
            <a:avLst/>
          </a:prstGeom>
        </p:spPr>
      </p:pic>
      <p:pic>
        <p:nvPicPr>
          <p:cNvPr id="19" name="Picture 18" descr="ff74c5c7fd2cbb8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2940" y="4825315"/>
            <a:ext cx="86868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11620" y="4749115"/>
            <a:ext cx="43212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and 0 is not positive.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20615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at n = 121 the value is 0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7297de9a2fe937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610867"/>
            <a:ext cx="1676400" cy="2255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1" name="Picture 10" descr="503ca8bbf5ad03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205227"/>
            <a:ext cx="1167384" cy="225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3" name="Picture 12" descr="fee2d71f7c46e5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744723"/>
            <a:ext cx="1630680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39547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5" name="Picture 14" descr="4e620423e0fdea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300983"/>
            <a:ext cx="780288" cy="6461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4107179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17" name="Picture 16" descr="749d7946d074ee2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4168139"/>
            <a:ext cx="1514856" cy="335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4701539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pic>
        <p:nvPicPr>
          <p:cNvPr id="19" name="Picture 18" descr="16b03c438ff63fe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7632" y="4735067"/>
            <a:ext cx="2215896" cy="390144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Evaluate radical expressions — D8J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LESSONS 7–8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Real-World Order of Operations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substitute values into a formula and evaluate it, reading what the situation does rather than hunting for key words.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a7bbd4c851f1e1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1140"/>
            <a:ext cx="1484376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1" name="Picture 10" descr="f84234db65bcdb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059" y="2086356"/>
            <a:ext cx="1578864" cy="390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729484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3" name="Picture 12" descr="6d6fe08af9312c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688336"/>
            <a:ext cx="768096" cy="5394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406140"/>
            <a:ext cx="2118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  </a:t>
            </a:r>
          </a:p>
        </p:txBody>
      </p:sp>
      <p:pic>
        <p:nvPicPr>
          <p:cNvPr id="15" name="Picture 14" descr="236959ea5354d8c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915" y="3497580"/>
            <a:ext cx="460247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16163" y="3406140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7" name="Picture 16" descr="78a344566654b4b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6472" y="3523488"/>
            <a:ext cx="618744" cy="2225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5216" y="3406140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a7bbd4c851f1e1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1140"/>
            <a:ext cx="1484376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41937" y="1440180"/>
            <a:ext cx="4088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2" name="Picture 11" descr="f84234db65bcdb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059" y="2086356"/>
            <a:ext cx="1578864" cy="390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50563" y="2052828"/>
            <a:ext cx="8623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25/2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729484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5" name="Picture 14" descr="6d6fe08af9312c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688336"/>
            <a:ext cx="768096" cy="5394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4447" y="2665476"/>
            <a:ext cx="7538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4/3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406140"/>
            <a:ext cx="2118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  </a:t>
            </a:r>
          </a:p>
        </p:txBody>
      </p:sp>
      <p:pic>
        <p:nvPicPr>
          <p:cNvPr id="18" name="Picture 17" descr="236959ea5354d8c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915" y="3497580"/>
            <a:ext cx="460247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16163" y="3406140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20" name="Picture 19" descr="78a344566654b4b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6472" y="3523488"/>
            <a:ext cx="618744" cy="2225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95216" y="3406140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049" y="3406140"/>
            <a:ext cx="5515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18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97566"/>
            <a:ext cx="48700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 rule written with letters, such as </a:t>
            </a:r>
          </a:p>
        </p:txBody>
      </p:sp>
      <p:pic>
        <p:nvPicPr>
          <p:cNvPr id="10" name="Picture 9" descr="5d0fc710cd4502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907" y="1892410"/>
            <a:ext cx="1597152" cy="667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73059" y="1997566"/>
            <a:ext cx="2854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610214"/>
            <a:ext cx="87905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that becomes a number once each letter is replaced by a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4572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substitute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675092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replace a letter with its value — in parentheses, so that a negative value keeps its sign and a power stays attached to the whole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001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29386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what the answer is counted in: feet, dollars, joules. A real-world answer without a unit is not an answer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Substituting: the value goes in parentheses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4ee9fb59b86866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633" y="1993392"/>
            <a:ext cx="1600200" cy="67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66833" y="2100072"/>
            <a:ext cx="1452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with   </a:t>
            </a:r>
          </a:p>
        </p:txBody>
      </p:sp>
      <p:pic>
        <p:nvPicPr>
          <p:cNvPr id="12" name="Picture 11" descr="c40d2caa36f208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656" y="2188464"/>
            <a:ext cx="1124712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07368" y="2100072"/>
            <a:ext cx="13881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4" name="Picture 13" descr="039a12261cb8388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348" y="2189988"/>
            <a:ext cx="987552" cy="2773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5900" y="2100072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:</a:t>
            </a:r>
          </a:p>
        </p:txBody>
      </p:sp>
      <p:pic>
        <p:nvPicPr>
          <p:cNvPr id="16" name="Picture 15" descr="8d85e48358ee9d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2067" y="2938272"/>
            <a:ext cx="5516880" cy="670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98947" y="3044952"/>
            <a:ext cx="14176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joules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1531" y="3860292"/>
            <a:ext cx="11736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with   </a:t>
            </a:r>
          </a:p>
        </p:txBody>
      </p:sp>
      <p:pic>
        <p:nvPicPr>
          <p:cNvPr id="19" name="Picture 18" descr="baf1e744513c75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7997" y="3953256"/>
            <a:ext cx="1024128" cy="2712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92125" y="3860292"/>
            <a:ext cx="658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:    </a:t>
            </a:r>
          </a:p>
        </p:txBody>
      </p:sp>
      <p:pic>
        <p:nvPicPr>
          <p:cNvPr id="21" name="Picture 20" descr="37650f0ab64081b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3587" y="3883152"/>
            <a:ext cx="2410968" cy="411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24555" y="3860292"/>
            <a:ext cx="18545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never   </a:t>
            </a:r>
          </a:p>
        </p:txBody>
      </p:sp>
      <p:pic>
        <p:nvPicPr>
          <p:cNvPr id="23" name="Picture 22" descr="9d75179d4c71dcb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1980" y="3919728"/>
            <a:ext cx="1588008" cy="3383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87552" y="463296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Substitute in parentheses, then evaluate by the structure — powers before products.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Key words do not decide the operation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13983" y="1970532"/>
            <a:ext cx="78707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15 dollars plus 4 dollars for each of 6 gigabytes:</a:t>
            </a:r>
          </a:p>
        </p:txBody>
      </p:sp>
      <p:pic>
        <p:nvPicPr>
          <p:cNvPr id="11" name="Picture 10" descr="bbb5fdfab9bb6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708148"/>
            <a:ext cx="2249424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91939" y="3342132"/>
            <a:ext cx="81148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15 dollars for each of 4 lines, plus 6 dollars of tax:</a:t>
            </a:r>
          </a:p>
        </p:txBody>
      </p:sp>
      <p:pic>
        <p:nvPicPr>
          <p:cNvPr id="13" name="Picture 12" descr="452f0d3dea2c60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952" y="4079747"/>
            <a:ext cx="2261616" cy="353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8006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The same words, the same numbers, different structures. Read the situation.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Round once, at the end — and say the unit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aa366538d8b58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372" y="1993392"/>
            <a:ext cx="4690872" cy="47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29244" y="2004060"/>
            <a:ext cx="1131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feet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879" y="2723388"/>
            <a:ext cx="50028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rounding the side to 14 first:   </a:t>
            </a:r>
          </a:p>
        </p:txBody>
      </p:sp>
      <p:pic>
        <p:nvPicPr>
          <p:cNvPr id="13" name="Picture 12" descr="54bb3b3bdd6a6a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521" y="2775204"/>
            <a:ext cx="1728216" cy="353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80737" y="2723388"/>
            <a:ext cx="1131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feet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49605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Carry the exact value, round once at the end, and write the unit.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26593" y="1842515"/>
            <a:ext cx="30864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Kinetic energy is  </a:t>
            </a:r>
          </a:p>
        </p:txBody>
      </p:sp>
      <p:pic>
        <p:nvPicPr>
          <p:cNvPr id="9" name="Picture 8" descr="5d0fc710cd4502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849" y="1737360"/>
            <a:ext cx="1597152" cy="6675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73001" y="1842515"/>
            <a:ext cx="2990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8310" y="2702052"/>
            <a:ext cx="16942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for mass </a:t>
            </a:r>
          </a:p>
        </p:txBody>
      </p:sp>
      <p:pic>
        <p:nvPicPr>
          <p:cNvPr id="12" name="Picture 11" descr="cdb2d0303764b9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424" y="2827020"/>
            <a:ext cx="307848" cy="2072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03272" y="2702052"/>
            <a:ext cx="41392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in kilograms and speed </a:t>
            </a:r>
          </a:p>
        </p:txBody>
      </p:sp>
      <p:pic>
        <p:nvPicPr>
          <p:cNvPr id="14" name="Picture 13" descr="ed57ccb980491c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314" y="2828544"/>
            <a:ext cx="207264" cy="2042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2578" y="2702052"/>
            <a:ext cx="37477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in meters per second.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9904" y="3433572"/>
            <a:ext cx="10046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17" name="Picture 16" descr="e17610a9e5f468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7417" y="3526536"/>
            <a:ext cx="234696" cy="2712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822113" y="3433572"/>
            <a:ext cx="77566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for a car of mass 1,200 kg travelling at 15 m/s.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7083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Give the answer with its unit.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593a1a205fd7f5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65704" cy="670560"/>
          </a:xfrm>
          <a:prstGeom prst="rect">
            <a:avLst/>
          </a:prstGeom>
        </p:spPr>
      </p:pic>
      <p:pic>
        <p:nvPicPr>
          <p:cNvPr id="9" name="Picture 8" descr="6c72b1ad8ee77d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5120"/>
            <a:ext cx="2700528" cy="670560"/>
          </a:xfrm>
          <a:prstGeom prst="rect">
            <a:avLst/>
          </a:prstGeom>
        </p:spPr>
      </p:pic>
      <p:pic>
        <p:nvPicPr>
          <p:cNvPr id="10" name="Picture 9" descr="7be42c48f704a7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810000"/>
            <a:ext cx="3648456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207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135,000 joules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9479" y="1790700"/>
            <a:ext cx="10046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9" name="Picture 8" descr="a14dbba8fe39de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991" y="1600200"/>
            <a:ext cx="2002536" cy="838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49527" y="1790700"/>
            <a:ext cx="9521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for  </a:t>
            </a:r>
          </a:p>
        </p:txBody>
      </p:sp>
      <p:pic>
        <p:nvPicPr>
          <p:cNvPr id="11" name="Picture 10" descr="99d0f397928935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4535" y="1845564"/>
            <a:ext cx="1685544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0079" y="1790700"/>
            <a:ext cx="17861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kg  and  </a:t>
            </a:r>
          </a:p>
        </p:txBody>
      </p:sp>
      <p:pic>
        <p:nvPicPr>
          <p:cNvPr id="13" name="Picture 12" descr="5038fc82b26adb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114" y="1847088"/>
            <a:ext cx="1207008" cy="3444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06122" y="1790700"/>
            <a:ext cx="11130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m/s.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7955" y="1790700"/>
            <a:ext cx="10046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9" name="Picture 8" descr="b636794ba0bbf4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67" y="1600200"/>
            <a:ext cx="1999487" cy="838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44955" y="1790700"/>
            <a:ext cx="9521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for  </a:t>
            </a:r>
          </a:p>
        </p:txBody>
      </p:sp>
      <p:pic>
        <p:nvPicPr>
          <p:cNvPr id="11" name="Picture 10" descr="28ac43e86d9ee6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963" y="1845564"/>
            <a:ext cx="1688592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8555" y="1790700"/>
            <a:ext cx="17861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kg  and  </a:t>
            </a:r>
          </a:p>
        </p:txBody>
      </p:sp>
      <p:pic>
        <p:nvPicPr>
          <p:cNvPr id="13" name="Picture 12" descr="e1facf4e099fdd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7590" y="1847088"/>
            <a:ext cx="1210056" cy="3444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07646" y="1790700"/>
            <a:ext cx="11130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m/s.</a:t>
            </a:r>
          </a:p>
        </p:txBody>
      </p:sp>
      <p:pic>
        <p:nvPicPr>
          <p:cNvPr id="15" name="Picture 14" descr="3762f247991bf7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2886456"/>
            <a:ext cx="2112264" cy="301752"/>
          </a:xfrm>
          <a:prstGeom prst="rect">
            <a:avLst/>
          </a:prstGeom>
        </p:spPr>
      </p:pic>
      <p:pic>
        <p:nvPicPr>
          <p:cNvPr id="16" name="Picture 15" descr="ca71fa474550c76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688" y="3371088"/>
            <a:ext cx="5836920" cy="6065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61,200 joules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square floor of side 9 feet is carpeted.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76458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Carpet is 2.89 dollars a square foot and padding is 0.75 dollars a square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492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Installation is a flat 95 dollars. Find the total cost.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f0ec63a4d8a0e1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285744" cy="411480"/>
          </a:xfrm>
          <a:prstGeom prst="rect">
            <a:avLst/>
          </a:prstGeom>
        </p:spPr>
      </p:pic>
      <p:pic>
        <p:nvPicPr>
          <p:cNvPr id="9" name="Picture 8" descr="704c60e1909449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2499360" cy="353568"/>
          </a:xfrm>
          <a:prstGeom prst="rect">
            <a:avLst/>
          </a:prstGeom>
        </p:spPr>
      </p:pic>
      <p:pic>
        <p:nvPicPr>
          <p:cNvPr id="10" name="Picture 9" descr="12efb6d7268520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3928"/>
            <a:ext cx="3825240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389.84 dollars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square bathroom floor of side 6 feet is tiled.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Tile is 4.25 dollars a square foot and grout is a flat 13.48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83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total cost.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square bathroom floor of side 6 feet is tiled.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Tile is 4.25 dollars a square foot and grout is a flat 13.48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83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total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4369" y="3267787"/>
            <a:ext cx="11778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Area:  </a:t>
            </a:r>
          </a:p>
        </p:txBody>
      </p:sp>
      <p:pic>
        <p:nvPicPr>
          <p:cNvPr id="12" name="Picture 11" descr="80d9c9c061edf5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031" y="3365323"/>
            <a:ext cx="868680" cy="262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44369" y="3770707"/>
            <a:ext cx="9838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Tile:  </a:t>
            </a:r>
          </a:p>
        </p:txBody>
      </p:sp>
      <p:pic>
        <p:nvPicPr>
          <p:cNvPr id="14" name="Picture 13" descr="bdbfbcd24be2c8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099" y="3892627"/>
            <a:ext cx="1886712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44369" y="4273627"/>
            <a:ext cx="11947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Total:  </a:t>
            </a:r>
          </a:p>
        </p:txBody>
      </p:sp>
      <p:pic>
        <p:nvPicPr>
          <p:cNvPr id="16" name="Picture 15" descr="a731fe54239e13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1966" y="4395547"/>
            <a:ext cx="2618232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84512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166.48 dollars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7404" y="2171700"/>
            <a:ext cx="18060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011b5debc6280b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321" y="2229612"/>
            <a:ext cx="569976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76297" y="2171700"/>
            <a:ext cx="1439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808745f769ad10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433" y="2263140"/>
            <a:ext cx="996696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5129" y="217170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5880" y="2080260"/>
            <a:ext cx="18060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1f66cf6f8dfc2b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797" y="2138171"/>
            <a:ext cx="573024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77821" y="2080260"/>
            <a:ext cx="1439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808745f769ad10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957" y="2171700"/>
            <a:ext cx="996696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6653" y="208026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f32b4b5eddd912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479" y="2910840"/>
            <a:ext cx="1539240" cy="313944"/>
          </a:xfrm>
          <a:prstGeom prst="rect">
            <a:avLst/>
          </a:prstGeom>
        </p:spPr>
      </p:pic>
      <p:pic>
        <p:nvPicPr>
          <p:cNvPr id="14" name="Picture 13" descr="a8317bc2e11e2fe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479" y="3413759"/>
            <a:ext cx="1115568" cy="313944"/>
          </a:xfrm>
          <a:prstGeom prst="rect">
            <a:avLst/>
          </a:prstGeom>
        </p:spPr>
      </p:pic>
      <p:pic>
        <p:nvPicPr>
          <p:cNvPr id="15" name="Picture 14" descr="946a1754962a1d8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4479" y="3966971"/>
            <a:ext cx="1161288" cy="213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cyclist has a mass of 70 kilograms and rides at 8 meters per second.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Her bicycle cost 480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424759"/>
            <a:ext cx="28651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Kinetic energy is  </a:t>
            </a:r>
          </a:p>
        </p:txBody>
      </p:sp>
      <p:pic>
        <p:nvPicPr>
          <p:cNvPr id="11" name="Picture 10" descr="0bcb023825e8eb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37" y="3382087"/>
            <a:ext cx="1298448" cy="5425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60885" y="3424759"/>
            <a:ext cx="22000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 for a mass  </a:t>
            </a:r>
          </a:p>
        </p:txBody>
      </p:sp>
      <p:pic>
        <p:nvPicPr>
          <p:cNvPr id="13" name="Picture 12" descr="f4653c4bb82321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810" y="3569539"/>
            <a:ext cx="246888" cy="167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70698" y="3424759"/>
            <a:ext cx="2386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and a speed  </a:t>
            </a:r>
          </a:p>
        </p:txBody>
      </p:sp>
      <p:pic>
        <p:nvPicPr>
          <p:cNvPr id="15" name="Picture 14" descr="f5a2a14a06f9d7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161" y="3571063"/>
            <a:ext cx="167640" cy="164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87801" y="3424759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2579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her kinetic energy.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4777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cyclist has a mass of 70 kilograms and rides at 8 meters per second.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Her bicycle cost 480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424759"/>
            <a:ext cx="28651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Kinetic energy is  </a:t>
            </a:r>
          </a:p>
        </p:txBody>
      </p:sp>
      <p:pic>
        <p:nvPicPr>
          <p:cNvPr id="11" name="Picture 10" descr="94474fdbb34e3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37" y="3382087"/>
            <a:ext cx="1304544" cy="5425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66981" y="3424759"/>
            <a:ext cx="22000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 for a mass  </a:t>
            </a:r>
          </a:p>
        </p:txBody>
      </p:sp>
      <p:pic>
        <p:nvPicPr>
          <p:cNvPr id="13" name="Picture 12" descr="f4653c4bb82321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906" y="3569539"/>
            <a:ext cx="246888" cy="167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76794" y="3424759"/>
            <a:ext cx="2386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and a speed  </a:t>
            </a:r>
          </a:p>
        </p:txBody>
      </p:sp>
      <p:pic>
        <p:nvPicPr>
          <p:cNvPr id="15" name="Picture 14" descr="f5a2a14a06f9d7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6257" y="3571063"/>
            <a:ext cx="167640" cy="164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93897" y="3424759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2579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her kinetic energy.</a:t>
            </a:r>
          </a:p>
        </p:txBody>
      </p:sp>
      <p:pic>
        <p:nvPicPr>
          <p:cNvPr id="18" name="Picture 17" descr="39c59a038134af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0563" y="4783769"/>
            <a:ext cx="4770120" cy="6065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552748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2,240 joules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Renting a kayak costs 17 dollars plus 9 dollars for each hour.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the cost of 3 hours.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Renting a kayak costs 17 dollars plus 9 dollars for each hour.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243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the cost of 3 hours.</a:t>
            </a:r>
          </a:p>
        </p:txBody>
      </p:sp>
      <p:pic>
        <p:nvPicPr>
          <p:cNvPr id="10" name="Picture 9" descr="4878fd7dba5b8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939" y="3351607"/>
            <a:ext cx="1365504" cy="252984"/>
          </a:xfrm>
          <a:prstGeom prst="rect">
            <a:avLst/>
          </a:prstGeom>
        </p:spPr>
      </p:pic>
      <p:pic>
        <p:nvPicPr>
          <p:cNvPr id="11" name="Picture 10" descr="fcf2b27a5b2a71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39" y="3891103"/>
            <a:ext cx="1801368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44 dollars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 square floor of side 8 feet is tiled at 3.50 dollars a square foot.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Installation is a flat 60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06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the total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 square floor of side 8 feet is tiled at 3.50 dollars a square foot.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243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Installation is a flat 60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992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the total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61" y="3824378"/>
            <a:ext cx="11778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Area:  </a:t>
            </a:r>
          </a:p>
        </p:txBody>
      </p:sp>
      <p:pic>
        <p:nvPicPr>
          <p:cNvPr id="12" name="Picture 11" descr="db60fa38d81bcb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123" y="3923438"/>
            <a:ext cx="896112" cy="259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99461" y="4327298"/>
            <a:ext cx="9838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Tile:  </a:t>
            </a:r>
          </a:p>
        </p:txBody>
      </p:sp>
      <p:pic>
        <p:nvPicPr>
          <p:cNvPr id="14" name="Picture 13" descr="dad7cd7587acd8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191" y="4449218"/>
            <a:ext cx="1935480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99461" y="4830218"/>
            <a:ext cx="11947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Total:  </a:t>
            </a:r>
          </a:p>
        </p:txBody>
      </p:sp>
      <p:pic>
        <p:nvPicPr>
          <p:cNvPr id="16" name="Picture 15" descr="2554c3d382c475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058" y="4952138"/>
            <a:ext cx="1905000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4017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284 dollars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5998" y="2299715"/>
            <a:ext cx="18060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afdff26349098b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915" y="2194560"/>
            <a:ext cx="990599" cy="6675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5515" y="2299715"/>
            <a:ext cx="1439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938dd359498bb5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650" y="2389632"/>
            <a:ext cx="1149096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46746" y="2299715"/>
            <a:ext cx="12019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3" name="Picture 12" descr="f632c3e74aa909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1487" y="2391156"/>
            <a:ext cx="765048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76535" y="2299715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3639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8027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8027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4885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4885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3,600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9435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4474" y="2209800"/>
            <a:ext cx="18060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d1e305187b6b37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391" y="2103120"/>
            <a:ext cx="993648" cy="67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7039" y="2209800"/>
            <a:ext cx="1439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68297ebc4f2432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174" y="2299715"/>
            <a:ext cx="1149096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48270" y="2209800"/>
            <a:ext cx="12019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3" name="Picture 12" descr="f632c3e74aa909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3011" y="2301240"/>
            <a:ext cx="765048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78059" y="220980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4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pic>
        <p:nvPicPr>
          <p:cNvPr id="16" name="Picture 15" descr="1adf52fb308924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7971" y="3749371"/>
            <a:ext cx="1517904" cy="304800"/>
          </a:xfrm>
          <a:prstGeom prst="rect">
            <a:avLst/>
          </a:prstGeom>
        </p:spPr>
      </p:pic>
      <p:pic>
        <p:nvPicPr>
          <p:cNvPr id="17" name="Picture 16" descr="f5a67ba185f37f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7971" y="4235527"/>
            <a:ext cx="3578352" cy="6065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9792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180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 square patio of side 12 feet is sealed at 1.25 dollars a square foot.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Delivery of the sealer is a flat 38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06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gives the total cost?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569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12(1.25) + 38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569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+ 1.25 + 38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427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(1.25 + 38)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427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(1.25) + 38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4860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 square patio of side 12 feet is sealed at 1.25 dollars a square foot.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243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Delivery of the sealer is a flat 38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992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gives the total cost?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7950" y="3824378"/>
            <a:ext cx="11063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Area  </a:t>
            </a:r>
          </a:p>
        </p:txBody>
      </p:sp>
      <p:pic>
        <p:nvPicPr>
          <p:cNvPr id="12" name="Picture 11" descr="d6542a78239188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174" y="3923438"/>
            <a:ext cx="396240" cy="259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73414" y="3824378"/>
            <a:ext cx="5531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square feet, at 1.25 dollars each:   </a:t>
            </a:r>
          </a:p>
        </p:txBody>
      </p:sp>
      <p:pic>
        <p:nvPicPr>
          <p:cNvPr id="14" name="Picture 13" descr="6522b013c381f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897" y="3921914"/>
            <a:ext cx="1194816" cy="2621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7950" y="4327298"/>
            <a:ext cx="48466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38 dollars is added once:   </a:t>
            </a:r>
          </a:p>
        </p:txBody>
      </p:sp>
      <p:pic>
        <p:nvPicPr>
          <p:cNvPr id="16" name="Picture 15" descr="107f56fc6415d2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478" y="4424834"/>
            <a:ext cx="2560320" cy="2621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89879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12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(1.25) + 38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0239" y="2205228"/>
            <a:ext cx="5906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square garden has 4 sides, each  </a:t>
            </a:r>
          </a:p>
        </p:txBody>
      </p:sp>
      <p:pic>
        <p:nvPicPr>
          <p:cNvPr id="9" name="Picture 8" descr="798a5139adaa76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547" y="2194560"/>
            <a:ext cx="1063752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13299" y="2205228"/>
            <a:ext cx="19051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feet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4741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its perimeter, to the nearest hundredth of a foot.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287" y="2113788"/>
            <a:ext cx="5906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square garden has 4 sides, each  </a:t>
            </a:r>
          </a:p>
        </p:txBody>
      </p:sp>
      <p:pic>
        <p:nvPicPr>
          <p:cNvPr id="9" name="Picture 8" descr="d8ed0de82c731b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595" y="2103120"/>
            <a:ext cx="1057656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10251" y="2113788"/>
            <a:ext cx="19051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feet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5597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its perimeter, to the nearest hundredth of a foot.</a:t>
            </a:r>
          </a:p>
        </p:txBody>
      </p:sp>
      <p:pic>
        <p:nvPicPr>
          <p:cNvPr id="12" name="Picture 11" descr="aa26d55f7ae649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771" y="3504007"/>
            <a:ext cx="2532888" cy="432816"/>
          </a:xfrm>
          <a:prstGeom prst="rect">
            <a:avLst/>
          </a:prstGeom>
        </p:spPr>
      </p:pic>
      <p:pic>
        <p:nvPicPr>
          <p:cNvPr id="13" name="Picture 12" descr="351ed85fae5af7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771" y="4144087"/>
            <a:ext cx="2968752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48.99 feet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5509" y="2301240"/>
            <a:ext cx="18060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d07fc0815ebc50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426" y="2194560"/>
            <a:ext cx="1033271" cy="67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87698" y="2301240"/>
            <a:ext cx="1439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b10d32bef8baa2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833" y="2392680"/>
            <a:ext cx="789432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79265" y="2301240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3" name="Picture 12" descr="f4a366969adde4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7429" y="2385060"/>
            <a:ext cx="801624" cy="289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29053" y="2301240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5" name="Picture 14" descr="43fbcf2c2a45ea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216" y="2392680"/>
            <a:ext cx="749808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27024" y="230124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3985" y="2211323"/>
            <a:ext cx="18060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e9fde38d04c0ca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2" y="2103120"/>
            <a:ext cx="1030224" cy="673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83126" y="2211323"/>
            <a:ext cx="1439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b10d32bef8baa2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261" y="2302764"/>
            <a:ext cx="789432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74693" y="2211323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3" name="Picture 12" descr="723048b2d1c488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2857" y="2295144"/>
            <a:ext cx="804672" cy="289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27529" y="2211323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5" name="Picture 14" descr="848bbba5727756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5692" y="2302764"/>
            <a:ext cx="752856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28548" y="2211323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1556" y="3101340"/>
            <a:ext cx="11413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8" name="Picture 17" descr="6aa77d3d03b7f4a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5699" y="3176016"/>
            <a:ext cx="2874264" cy="307848"/>
          </a:xfrm>
          <a:prstGeom prst="rect">
            <a:avLst/>
          </a:prstGeom>
        </p:spPr>
      </p:pic>
      <p:pic>
        <p:nvPicPr>
          <p:cNvPr id="19" name="Picture 18" descr="aafef2d9b5795f3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6420" y="3742944"/>
            <a:ext cx="1453896" cy="2529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9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One pizza order costs 13 dollars plus 2 dollars for each of 5 toppings.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Another costs 13 dollars for each of 2 pizzas, plus 5 dollars for delivery.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36976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Find both totals, and say why the key words could not have told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One pizza order costs 13 dollars plus 2 dollars for each of 5 toppings.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24328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Another costs 13 dollars for each of 2 pizzas, plus 5 dollars for delivery.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45536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Find both totals, and say why the key words could not have told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49011" y="3717036"/>
            <a:ext cx="20379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First order:  </a:t>
            </a:r>
          </a:p>
        </p:txBody>
      </p:sp>
      <p:pic>
        <p:nvPicPr>
          <p:cNvPr id="12" name="Picture 11" descr="6c563dd1214e96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777" y="3838956"/>
            <a:ext cx="2923032" cy="21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49011" y="4219956"/>
            <a:ext cx="24900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Second order:  </a:t>
            </a:r>
          </a:p>
        </p:txBody>
      </p:sp>
      <p:pic>
        <p:nvPicPr>
          <p:cNvPr id="14" name="Picture 13" descr="cbdd9db0c6bdb0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885" y="4341876"/>
            <a:ext cx="2764536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49011" y="4722876"/>
            <a:ext cx="88006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Both say "plus" and "for each". What repeats is different.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9437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23 dollars and 31 dollars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8e7af367fc956f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586484"/>
            <a:ext cx="466344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93976" y="1495044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368514c03b325e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284" y="1612391"/>
            <a:ext cx="810768" cy="2225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154936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3" name="Picture 12" descr="76e92664c8540a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112263"/>
            <a:ext cx="807720" cy="5425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35352" y="2154936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5" name="Picture 14" descr="0531a46c557d60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5660" y="2270759"/>
            <a:ext cx="908304" cy="2255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03964" y="2154936"/>
            <a:ext cx="1087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7" name="Picture 16" descr="db6b9bf3d6868ca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4305" y="2273807"/>
            <a:ext cx="649224" cy="219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28818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9" name="Picture 18" descr="2ccaff4dbf2c8eb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7632" y="2837687"/>
            <a:ext cx="841248" cy="5455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468880" y="2881883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21" name="Picture 20" descr="bd1f822a1acce5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9188" y="2997707"/>
            <a:ext cx="646176" cy="2255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75364" y="2881883"/>
            <a:ext cx="453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3" name="Picture 22" descr="ca3738318bc6ad6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1805" y="2993135"/>
            <a:ext cx="630936" cy="2346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22741" y="2881883"/>
            <a:ext cx="453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5" name="Picture 24" descr="26463fb98544f3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9182" y="3000755"/>
            <a:ext cx="609600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0120" y="3543299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543299"/>
            <a:ext cx="9544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 square room of side 10 feet is carpeted at 2.65 dollars a square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982211"/>
            <a:ext cx="80930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foot, with a flat 55 dollars for fitting. Find the total cost.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7657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30" name="Picture 29" descr="51cdd467e13c212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27632" y="4631436"/>
            <a:ext cx="1627632" cy="3474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55264" y="4576571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32" name="Picture 31" descr="213bf21424f7f3b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5572" y="4695444"/>
            <a:ext cx="646176" cy="2194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061748" y="4576571"/>
            <a:ext cx="1087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34" name="Picture 33" descr="393881ab0a53049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12089" y="4657344"/>
            <a:ext cx="612648" cy="29565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60120" y="517093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5170931"/>
            <a:ext cx="98511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 gym charges 25 dollars to join plus 8 dollars for each of 6 classes.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609844"/>
            <a:ext cx="2861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total cost.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Evaluate variable expressions: word problems — DPG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