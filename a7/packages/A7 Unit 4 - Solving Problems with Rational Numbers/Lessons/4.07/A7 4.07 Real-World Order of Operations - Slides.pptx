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69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substitute values into a formula and evaluate it, reading what the situation does rather than hunting for key words.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6356"/>
            <a:ext cx="157886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729484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6d6fe08af9312c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68096" cy="5394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406140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5" name="Picture 14" descr="236959ea5354d8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97580"/>
            <a:ext cx="460247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16163" y="3406140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7" name="Picture 16" descr="78a344566654b4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472" y="3523488"/>
            <a:ext cx="618744" cy="2225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5216" y="3406140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41937" y="1440180"/>
            <a:ext cx="408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6356"/>
            <a:ext cx="157886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0563" y="2052828"/>
            <a:ext cx="862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25/2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29484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6d6fe08af9312c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68096" cy="5394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4447" y="2665476"/>
            <a:ext cx="75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406140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8" name="Picture 17" descr="236959ea5354d8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97580"/>
            <a:ext cx="460247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16163" y="3406140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0" name="Picture 19" descr="78a344566654b4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472" y="3523488"/>
            <a:ext cx="618744" cy="2225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5216" y="3406140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049" y="3406140"/>
            <a:ext cx="5515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97566"/>
            <a:ext cx="4870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rule written with letters, such as </a:t>
            </a:r>
          </a:p>
        </p:txBody>
      </p:sp>
      <p:pic>
        <p:nvPicPr>
          <p:cNvPr id="10" name="Picture 9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907" y="1892410"/>
            <a:ext cx="1597152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73059" y="1997566"/>
            <a:ext cx="2854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10214"/>
            <a:ext cx="87905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that becomes a number once each letter is replaced by a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572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substitute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7509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replace a letter with its value — in parentheses, so that a negative value keeps its sign and a power stays attached to the whole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29386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what the answer is counted in: feet, dollars, joules. A real-world answer without a unit is not an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Substituting: the value goes in parentheses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33" y="1993392"/>
            <a:ext cx="1600200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6833" y="2100072"/>
            <a:ext cx="1452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with   </a:t>
            </a:r>
          </a:p>
        </p:txBody>
      </p:sp>
      <p:pic>
        <p:nvPicPr>
          <p:cNvPr id="12" name="Picture 11" descr="c40d2caa36f208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56" y="2188464"/>
            <a:ext cx="112471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7368" y="2100072"/>
            <a:ext cx="13881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4" name="Picture 13" descr="039a12261cb838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348" y="2189988"/>
            <a:ext cx="987552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5900" y="2100072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6" name="Picture 15" descr="8d85e48358ee9d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067" y="2938272"/>
            <a:ext cx="5516880" cy="670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98947" y="3044952"/>
            <a:ext cx="14176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joules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1531" y="3860292"/>
            <a:ext cx="11736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with   </a:t>
            </a:r>
          </a:p>
        </p:txBody>
      </p:sp>
      <p:pic>
        <p:nvPicPr>
          <p:cNvPr id="19" name="Picture 18" descr="baf1e744513c7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7997" y="3953256"/>
            <a:ext cx="1024128" cy="271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92125" y="3860292"/>
            <a:ext cx="658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    </a:t>
            </a:r>
          </a:p>
        </p:txBody>
      </p:sp>
      <p:pic>
        <p:nvPicPr>
          <p:cNvPr id="21" name="Picture 20" descr="37650f0ab64081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3587" y="3883152"/>
            <a:ext cx="2410968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24555" y="3860292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23" name="Picture 22" descr="9d75179d4c71dc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980" y="3919728"/>
            <a:ext cx="1588008" cy="3383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7552" y="463296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Key words do not decide the operation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13983" y="1970532"/>
            <a:ext cx="78707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plus 4 dollars for each of 6 gigabytes:</a:t>
            </a:r>
          </a:p>
        </p:txBody>
      </p:sp>
      <p:pic>
        <p:nvPicPr>
          <p:cNvPr id="11" name="Picture 10" descr="bbb5fdfab9bb6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708148"/>
            <a:ext cx="224942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91939" y="3342132"/>
            <a:ext cx="81148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for each of 4 lines, plus 6 dollars of tax:</a:t>
            </a:r>
          </a:p>
        </p:txBody>
      </p:sp>
      <p:pic>
        <p:nvPicPr>
          <p:cNvPr id="13" name="Picture 12" descr="452f0d3dea2c60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952" y="4079747"/>
            <a:ext cx="2261616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06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aa366538d8b5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372" y="1993392"/>
            <a:ext cx="4690872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29244" y="2004060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879" y="2723388"/>
            <a:ext cx="50028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rounding the side to 14 first:   </a:t>
            </a:r>
          </a:p>
        </p:txBody>
      </p:sp>
      <p:pic>
        <p:nvPicPr>
          <p:cNvPr id="13" name="Picture 12" descr="54bb3b3bdd6a6a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521" y="2775204"/>
            <a:ext cx="1728216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80737" y="2723388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4960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6593" y="1842515"/>
            <a:ext cx="3086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9" name="Picture 8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849" y="1737360"/>
            <a:ext cx="1597152" cy="66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73001" y="1842515"/>
            <a:ext cx="299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310" y="2702052"/>
            <a:ext cx="1694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for mass </a:t>
            </a:r>
          </a:p>
        </p:txBody>
      </p:sp>
      <p:pic>
        <p:nvPicPr>
          <p:cNvPr id="12" name="Picture 11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424" y="2827020"/>
            <a:ext cx="307848" cy="207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3272" y="2702052"/>
            <a:ext cx="41392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in kilograms and speed </a:t>
            </a:r>
          </a:p>
        </p:txBody>
      </p:sp>
      <p:pic>
        <p:nvPicPr>
          <p:cNvPr id="14" name="Picture 13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14" y="2828544"/>
            <a:ext cx="207264" cy="2042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2578" y="2702052"/>
            <a:ext cx="3747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in meters per second.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904" y="3433572"/>
            <a:ext cx="1004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7" name="Picture 16" descr="e17610a9e5f468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417" y="3526536"/>
            <a:ext cx="234696" cy="2712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22113" y="3433572"/>
            <a:ext cx="77566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for a car of mass 1,200 kg travelling at 15 m/s.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7083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93a1a205fd7f5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670560"/>
          </a:xfrm>
          <a:prstGeom prst="rect">
            <a:avLst/>
          </a:prstGeom>
        </p:spPr>
      </p:pic>
      <p:pic>
        <p:nvPicPr>
          <p:cNvPr id="9" name="Picture 8" descr="6c72b1ad8ee77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700528" cy="670560"/>
          </a:xfrm>
          <a:prstGeom prst="rect">
            <a:avLst/>
          </a:prstGeom>
        </p:spPr>
      </p:pic>
      <p:pic>
        <p:nvPicPr>
          <p:cNvPr id="10" name="Picture 9" descr="7be42c48f704a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364845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07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135,000 joules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9479" y="1790700"/>
            <a:ext cx="1004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a14dbba8fe39d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91" y="1600200"/>
            <a:ext cx="2002536" cy="838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9527" y="1790700"/>
            <a:ext cx="952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99d0f397928935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535" y="1845564"/>
            <a:ext cx="168554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0079" y="1790700"/>
            <a:ext cx="178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5038fc82b26adb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114" y="1847088"/>
            <a:ext cx="1207008" cy="3444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06122" y="1790700"/>
            <a:ext cx="11130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7955" y="1790700"/>
            <a:ext cx="1004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b636794ba0bbf4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67" y="1600200"/>
            <a:ext cx="1999487" cy="838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4955" y="1790700"/>
            <a:ext cx="952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28ac43e86d9ee6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963" y="1845564"/>
            <a:ext cx="168859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555" y="1790700"/>
            <a:ext cx="178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e1facf4e099fdd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590" y="1847088"/>
            <a:ext cx="1210056" cy="3444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07646" y="1790700"/>
            <a:ext cx="11130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  <p:pic>
        <p:nvPicPr>
          <p:cNvPr id="15" name="Picture 14" descr="3762f247991bf7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886456"/>
            <a:ext cx="2112264" cy="301752"/>
          </a:xfrm>
          <a:prstGeom prst="rect">
            <a:avLst/>
          </a:prstGeom>
        </p:spPr>
      </p:pic>
      <p:pic>
        <p:nvPicPr>
          <p:cNvPr id="16" name="Picture 15" descr="ca71fa474550c7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3371088"/>
            <a:ext cx="5836920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61,200 joules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floor of side 9 feet is carpeted.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Carpet is 2.89 dollars a square foot and padding is 0.75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49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0ec63a4d8a0e1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85744" cy="411480"/>
          </a:xfrm>
          <a:prstGeom prst="rect">
            <a:avLst/>
          </a:prstGeom>
        </p:spPr>
      </p:pic>
      <p:pic>
        <p:nvPicPr>
          <p:cNvPr id="9" name="Picture 8" descr="704c60e190944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2499360" cy="353568"/>
          </a:xfrm>
          <a:prstGeom prst="rect">
            <a:avLst/>
          </a:prstGeom>
        </p:spPr>
      </p:pic>
      <p:pic>
        <p:nvPicPr>
          <p:cNvPr id="10" name="Picture 9" descr="12efb6d7268520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38252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4369" y="3267787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80d9c9c061edf5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31" y="3365323"/>
            <a:ext cx="868680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44369" y="3770707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bdbfbcd24be2c8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099" y="3892627"/>
            <a:ext cx="1886712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44369" y="4273627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a731fe54239e13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966" y="4395547"/>
            <a:ext cx="2618232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12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7404" y="217170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011b5debc6280b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321" y="2229612"/>
            <a:ext cx="569976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76297" y="217170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33" y="2263140"/>
            <a:ext cx="996696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129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5880" y="208026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1f66cf6f8dfc2b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97" y="2138171"/>
            <a:ext cx="573024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77821" y="208026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957" y="2171700"/>
            <a:ext cx="996696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6653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32b4b5eddd91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79" y="2910840"/>
            <a:ext cx="1539240" cy="313944"/>
          </a:xfrm>
          <a:prstGeom prst="rect">
            <a:avLst/>
          </a:prstGeom>
        </p:spPr>
      </p:pic>
      <p:pic>
        <p:nvPicPr>
          <p:cNvPr id="14" name="Picture 13" descr="a8317bc2e11e2f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479" y="3413759"/>
            <a:ext cx="1115568" cy="313944"/>
          </a:xfrm>
          <a:prstGeom prst="rect">
            <a:avLst/>
          </a:prstGeom>
        </p:spPr>
      </p:pic>
      <p:pic>
        <p:nvPicPr>
          <p:cNvPr id="15" name="Picture 14" descr="946a1754962a1d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479" y="3966971"/>
            <a:ext cx="1161288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4759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0bcb023825e8eb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298448" cy="542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0885" y="3424759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f4653c4bb8232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10" y="3569539"/>
            <a:ext cx="246888" cy="167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0698" y="3424759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f5a2a14a06f9d7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161" y="3571063"/>
            <a:ext cx="167640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87801" y="3424759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579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777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4759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94474fdbb34e3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304544" cy="542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6981" y="3424759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f4653c4bb8232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906" y="3569539"/>
            <a:ext cx="246888" cy="167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6794" y="3424759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f5a2a14a06f9d7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257" y="3571063"/>
            <a:ext cx="167640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93897" y="3424759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579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pic>
        <p:nvPicPr>
          <p:cNvPr id="18" name="Picture 17" descr="39c59a038134af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563" y="4783769"/>
            <a:ext cx="4770120" cy="6065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2748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2,240 joules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pic>
        <p:nvPicPr>
          <p:cNvPr id="10" name="Picture 9" descr="4878fd7dba5b8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351607"/>
            <a:ext cx="1365504" cy="252984"/>
          </a:xfrm>
          <a:prstGeom prst="rect">
            <a:avLst/>
          </a:prstGeom>
        </p:spPr>
      </p:pic>
      <p:pic>
        <p:nvPicPr>
          <p:cNvPr id="11" name="Picture 10" descr="fcf2b27a5b2a71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3891103"/>
            <a:ext cx="180136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dollars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61" y="3824378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db60fa38d81bcb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123" y="3923438"/>
            <a:ext cx="896112" cy="259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9461" y="4327298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dad7cd7587acd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191" y="4449218"/>
            <a:ext cx="1935480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99461" y="4830218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2554c3d382c475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058" y="4952138"/>
            <a:ext cx="1905000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4017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284 dollars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5998" y="2299715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afdff26349098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915" y="2194560"/>
            <a:ext cx="990599" cy="66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5515" y="2299715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938dd359498bb5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50" y="2389632"/>
            <a:ext cx="114909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746" y="2299715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87" y="2391156"/>
            <a:ext cx="765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76535" y="2299715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02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802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488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88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9435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4474" y="220980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1e305187b6b37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391" y="2103120"/>
            <a:ext cx="993648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7039" y="220980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68297ebc4f2432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74" y="2299715"/>
            <a:ext cx="114909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8270" y="2209800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011" y="2301240"/>
            <a:ext cx="765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78059" y="22098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4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6" name="Picture 15" descr="1adf52fb308924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971" y="3749371"/>
            <a:ext cx="1517904" cy="304800"/>
          </a:xfrm>
          <a:prstGeom prst="rect">
            <a:avLst/>
          </a:prstGeom>
        </p:spPr>
      </p:pic>
      <p:pic>
        <p:nvPicPr>
          <p:cNvPr id="17" name="Picture 16" descr="f5a67ba185f37f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1" y="4235527"/>
            <a:ext cx="3578352" cy="606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9792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12(1.25) + 38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+ 1.25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 + 38)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(1.25) + 38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950" y="3824378"/>
            <a:ext cx="110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  </a:t>
            </a:r>
          </a:p>
        </p:txBody>
      </p:sp>
      <p:pic>
        <p:nvPicPr>
          <p:cNvPr id="12" name="Picture 11" descr="d6542a78239188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174" y="3923438"/>
            <a:ext cx="396240" cy="259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3414" y="3824378"/>
            <a:ext cx="5531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square feet, at 1.25 dollars each:   </a:t>
            </a:r>
          </a:p>
        </p:txBody>
      </p:sp>
      <p:pic>
        <p:nvPicPr>
          <p:cNvPr id="14" name="Picture 13" descr="6522b013c381f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897" y="3921914"/>
            <a:ext cx="1194816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7950" y="4327298"/>
            <a:ext cx="48466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38 dollars is added once:   </a:t>
            </a:r>
          </a:p>
        </p:txBody>
      </p:sp>
      <p:pic>
        <p:nvPicPr>
          <p:cNvPr id="16" name="Picture 15" descr="107f56fc6415d2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478" y="4424834"/>
            <a:ext cx="2560320" cy="2621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9879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(1.25) + 38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0239" y="2205228"/>
            <a:ext cx="59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798a5139adaa76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547" y="2194560"/>
            <a:ext cx="1063752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13299" y="2205228"/>
            <a:ext cx="1905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287" y="2113788"/>
            <a:ext cx="59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d8ed0de82c731b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595" y="2103120"/>
            <a:ext cx="10576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10251" y="2113788"/>
            <a:ext cx="1905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pic>
        <p:nvPicPr>
          <p:cNvPr id="12" name="Picture 11" descr="aa26d55f7ae649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1" y="3504007"/>
            <a:ext cx="2532888" cy="432816"/>
          </a:xfrm>
          <a:prstGeom prst="rect">
            <a:avLst/>
          </a:prstGeom>
        </p:spPr>
      </p:pic>
      <p:pic>
        <p:nvPicPr>
          <p:cNvPr id="13" name="Picture 12" descr="351ed85fae5af7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771" y="4144087"/>
            <a:ext cx="296875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48.99 feet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5509" y="2301240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07fc0815ebc50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426" y="2194560"/>
            <a:ext cx="1033271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87698" y="2301240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833" y="2392680"/>
            <a:ext cx="789432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9265" y="230124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f4a366969adde4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29" y="2385060"/>
            <a:ext cx="801624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9053" y="230124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43fbcf2c2a45ea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216" y="2392680"/>
            <a:ext cx="749808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7024" y="23012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3985" y="2211323"/>
            <a:ext cx="18060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e9fde38d04c0ca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2" y="2103120"/>
            <a:ext cx="1030224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83126" y="2211323"/>
            <a:ext cx="1439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261" y="2302764"/>
            <a:ext cx="789432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4693" y="2211323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723048b2d1c488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857" y="2295144"/>
            <a:ext cx="804672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7529" y="2211323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848bbba5727756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692" y="2302764"/>
            <a:ext cx="752856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8548" y="2211323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1556" y="3101340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8" name="Picture 17" descr="6aa77d3d03b7f4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699" y="3176016"/>
            <a:ext cx="2874264" cy="307848"/>
          </a:xfrm>
          <a:prstGeom prst="rect">
            <a:avLst/>
          </a:prstGeom>
        </p:spPr>
      </p:pic>
      <p:pic>
        <p:nvPicPr>
          <p:cNvPr id="19" name="Picture 18" descr="aafef2d9b5795f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6420" y="3742944"/>
            <a:ext cx="1453896" cy="2529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9011" y="3717036"/>
            <a:ext cx="2037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First order:  </a:t>
            </a:r>
          </a:p>
        </p:txBody>
      </p:sp>
      <p:pic>
        <p:nvPicPr>
          <p:cNvPr id="12" name="Picture 11" descr="6c563dd1214e96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777" y="3838956"/>
            <a:ext cx="2923032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49011" y="4219956"/>
            <a:ext cx="2490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Second order:  </a:t>
            </a:r>
          </a:p>
        </p:txBody>
      </p:sp>
      <p:pic>
        <p:nvPicPr>
          <p:cNvPr id="14" name="Picture 13" descr="cbdd9db0c6bdb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885" y="4341876"/>
            <a:ext cx="276453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49011" y="4722876"/>
            <a:ext cx="88006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Both say "plus" and "for each". What repeats is different.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9437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23 dollars and 31 dollars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e7af367fc956f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86484"/>
            <a:ext cx="46634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93976" y="1495044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368514c03b325e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284" y="1612391"/>
            <a:ext cx="810768" cy="222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15493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3" name="Picture 12" descr="76e92664c8540a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112263"/>
            <a:ext cx="807720" cy="5425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35352" y="215493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5" name="Picture 14" descr="0531a46c557d60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60" y="2270759"/>
            <a:ext cx="908304" cy="225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03964" y="215493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7" name="Picture 16" descr="db6b9bf3d6868ca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05" y="2273807"/>
            <a:ext cx="649224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2881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9" name="Picture 18" descr="2ccaff4dbf2c8e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2837687"/>
            <a:ext cx="841248" cy="545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68880" y="2881883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1" name="Picture 20" descr="bd1f822a1acce5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188" y="2997707"/>
            <a:ext cx="646176" cy="2255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75364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ca3738318bc6ad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1805" y="2993135"/>
            <a:ext cx="630936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22741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5" name="Picture 24" descr="26463fb98544f3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182" y="3000755"/>
            <a:ext cx="609600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20" y="354329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43299"/>
            <a:ext cx="9544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square room of side 10 feet is carpeted at 2.65 dollars a square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982211"/>
            <a:ext cx="80930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foot, with a flat 55 dollars for fitting. Find the total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65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30" name="Picture 29" descr="51cdd467e13c212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7632" y="4631436"/>
            <a:ext cx="162763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55264" y="4576571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32" name="Picture 31" descr="213bf21424f7f3b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5572" y="4695444"/>
            <a:ext cx="64617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61748" y="4576571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34" name="Picture 33" descr="393881ab0a53049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2089" y="4657344"/>
            <a:ext cx="612648" cy="2956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0120" y="517093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170931"/>
            <a:ext cx="9851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gym charges 25 dollars to join plus 8 dollars for each of 6 classes.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609844"/>
            <a:ext cx="2861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