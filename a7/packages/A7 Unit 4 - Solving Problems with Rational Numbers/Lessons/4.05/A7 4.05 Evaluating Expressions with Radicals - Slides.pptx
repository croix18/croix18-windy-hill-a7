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Evaluating Expressions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evaluate an expression that contains square roots, cube roots and integer exponents.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874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many significant digits are in  0.0250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0" name="Picture 9" descr="56d20e268514a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59" y="2122741"/>
            <a:ext cx="2404872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2" name="Picture 11" descr="25d82099734b37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78124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4" name="Picture 13" descr="fa7316af9afa4f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405036"/>
            <a:ext cx="1134443" cy="215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874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many significant digits are in  0.0250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0777" y="1440180"/>
            <a:ext cx="38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56d20e268514a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59" y="2122741"/>
            <a:ext cx="2404872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76571" y="2052828"/>
            <a:ext cx="1365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4" name="Picture 13" descr="25d82099734b37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23277" y="2665476"/>
            <a:ext cx="570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78124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7" name="Picture 16" descr="fa7316af9afa4f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405036"/>
            <a:ext cx="1134443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06040" y="3278124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radical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9550"/>
            <a:ext cx="75151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root symbol together with everything under its bar: </a:t>
            </a:r>
          </a:p>
        </p:txBody>
      </p:sp>
      <p:pic>
        <p:nvPicPr>
          <p:cNvPr id="10" name="Picture 9" descr="7fc2ce39b1027a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961" y="1921429"/>
            <a:ext cx="622014" cy="3564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2976" y="1869550"/>
            <a:ext cx="17701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 square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54182"/>
            <a:ext cx="919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root, </a:t>
            </a:r>
          </a:p>
        </p:txBody>
      </p:sp>
      <p:pic>
        <p:nvPicPr>
          <p:cNvPr id="13" name="Picture 12" descr="5f7b58e3a97823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786" y="2406061"/>
            <a:ext cx="649255" cy="3564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75041" y="2354182"/>
            <a:ext cx="2140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 cube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radicand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1906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number under the radical bar. The bar groups it, so whatever is under it is evaluated before the root is taken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439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principal square 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50494"/>
            <a:ext cx="31639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nonnegative one. </a:t>
            </a:r>
          </a:p>
        </p:txBody>
      </p:sp>
      <p:pic>
        <p:nvPicPr>
          <p:cNvPr id="19" name="Picture 18" descr="66ed9a548d73b0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838" y="4902373"/>
            <a:ext cx="646985" cy="3564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16824" y="4850494"/>
            <a:ext cx="39348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7 — not −7, and not both,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35126"/>
            <a:ext cx="19851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even though </a:t>
            </a:r>
          </a:p>
        </p:txBody>
      </p:sp>
      <p:pic>
        <p:nvPicPr>
          <p:cNvPr id="22" name="Picture 21" descr="95575338750225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961" y="5416517"/>
            <a:ext cx="626554" cy="3064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17516" y="5335126"/>
            <a:ext cx="15457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also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radical bar is a grouping symbol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0301447559f26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184" y="2194560"/>
            <a:ext cx="5407152" cy="478536"/>
          </a:xfrm>
          <a:prstGeom prst="rect">
            <a:avLst/>
          </a:prstGeom>
        </p:spPr>
      </p:pic>
      <p:pic>
        <p:nvPicPr>
          <p:cNvPr id="11" name="Picture 10" descr="3737ed6aaf2017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80" y="3057144"/>
            <a:ext cx="3185160" cy="478536"/>
          </a:xfrm>
          <a:prstGeom prst="rect">
            <a:avLst/>
          </a:prstGeom>
        </p:spPr>
      </p:pic>
      <p:pic>
        <p:nvPicPr>
          <p:cNvPr id="12" name="Picture 11" descr="4a07f45d5d9ca5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40" y="3919728"/>
            <a:ext cx="2825067" cy="4212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5807" y="3901733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14" name="Picture 13" descr="fbd6d5a320033c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3232" y="4018065"/>
            <a:ext cx="697547" cy="2414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88043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Everything under the bar is evaluated before the root is taken.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Square roots and cube roots are not the same shape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4243ac5c29f50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784" y="2194560"/>
            <a:ext cx="1423416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0200" y="2205228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59fd66553504e9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543" y="2194560"/>
            <a:ext cx="1453896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68439" y="2205228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4" name="Picture 13" descr="138d560710ac33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783" y="2194560"/>
            <a:ext cx="1901952" cy="478536"/>
          </a:xfrm>
          <a:prstGeom prst="rect">
            <a:avLst/>
          </a:prstGeom>
        </p:spPr>
      </p:pic>
      <p:pic>
        <p:nvPicPr>
          <p:cNvPr id="15" name="Picture 14" descr="b169188f81dcb7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596" y="3057144"/>
            <a:ext cx="1246632" cy="789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65228" y="32278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7" name="Picture 16" descr="df602f9237f1cb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9571" y="3057144"/>
            <a:ext cx="1673352" cy="798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439521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An odd root keeps the sign of its radicand. A square root sign never gives a negative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Radicals alongside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5f3f835e2d87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28" y="2194560"/>
            <a:ext cx="228600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2328" y="233172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24b3a5f09066cb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671" y="2306193"/>
            <a:ext cx="3398520" cy="478536"/>
          </a:xfrm>
          <a:prstGeom prst="rect">
            <a:avLst/>
          </a:prstGeom>
        </p:spPr>
      </p:pic>
      <p:pic>
        <p:nvPicPr>
          <p:cNvPr id="13" name="Picture 12" descr="0416a625cfa02c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1232" y="3310127"/>
            <a:ext cx="4639056" cy="673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52323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Finish each piece — the radical, the power — and only then put them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5e47ed58306c9a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059" y="2103120"/>
            <a:ext cx="2819400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35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d6c9f96a3ec0d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630680" cy="673608"/>
          </a:xfrm>
          <a:prstGeom prst="rect">
            <a:avLst/>
          </a:prstGeom>
        </p:spPr>
      </p:pic>
      <p:pic>
        <p:nvPicPr>
          <p:cNvPr id="9" name="Picture 8" descr="3737ed6aaf2017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3185160" cy="478536"/>
          </a:xfrm>
          <a:prstGeom prst="rect">
            <a:avLst/>
          </a:prstGeom>
        </p:spPr>
      </p:pic>
      <p:pic>
        <p:nvPicPr>
          <p:cNvPr id="10" name="Picture 9" descr="48d618d0a819b8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21024"/>
            <a:ext cx="1661160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457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17/4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20bcbb3e5acef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63" y="1600200"/>
            <a:ext cx="344119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43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39a98bd65ba9c0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735" y="1600200"/>
            <a:ext cx="34320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43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6dcdcd24bba745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5" y="3556618"/>
            <a:ext cx="1219200" cy="515112"/>
          </a:xfrm>
          <a:prstGeom prst="rect">
            <a:avLst/>
          </a:prstGeom>
        </p:spPr>
      </p:pic>
      <p:pic>
        <p:nvPicPr>
          <p:cNvPr id="11" name="Picture 10" descr="56c69e6e26de4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5" y="4196031"/>
            <a:ext cx="2234184" cy="368808"/>
          </a:xfrm>
          <a:prstGeom prst="rect">
            <a:avLst/>
          </a:prstGeom>
        </p:spPr>
      </p:pic>
      <p:pic>
        <p:nvPicPr>
          <p:cNvPr id="12" name="Picture 11" descr="a96b4c18555835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5" y="4666090"/>
            <a:ext cx="1399032" cy="515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31836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−17/9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8d7699a30e9dd1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2103120"/>
            <a:ext cx="3447288" cy="4998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05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0e80ddb964149c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822191" cy="478536"/>
          </a:xfrm>
          <a:prstGeom prst="rect">
            <a:avLst/>
          </a:prstGeom>
        </p:spPr>
      </p:pic>
      <p:pic>
        <p:nvPicPr>
          <p:cNvPr id="9" name="Picture 8" descr="a2a1fa108c11dc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73096"/>
            <a:ext cx="3989832" cy="478536"/>
          </a:xfrm>
          <a:prstGeom prst="rect">
            <a:avLst/>
          </a:prstGeom>
        </p:spPr>
      </p:pic>
      <p:pic>
        <p:nvPicPr>
          <p:cNvPr id="10" name="Picture 9" descr="64f4a386edd009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25952"/>
            <a:ext cx="197205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d6d7dee63e8529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0" y="1600200"/>
            <a:ext cx="4358640" cy="62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27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7e55928de2d14c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5" y="1600200"/>
            <a:ext cx="4361688" cy="62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27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3d08e3b9f0cd1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811" y="3373071"/>
            <a:ext cx="1261872" cy="368808"/>
          </a:xfrm>
          <a:prstGeom prst="rect">
            <a:avLst/>
          </a:prstGeom>
        </p:spPr>
      </p:pic>
      <p:pic>
        <p:nvPicPr>
          <p:cNvPr id="11" name="Picture 10" descr="97af87df177bbd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811" y="3875991"/>
            <a:ext cx="2438400" cy="368808"/>
          </a:xfrm>
          <a:prstGeom prst="rect">
            <a:avLst/>
          </a:prstGeom>
        </p:spPr>
      </p:pic>
      <p:pic>
        <p:nvPicPr>
          <p:cNvPr id="12" name="Picture 11" descr="dbd85bfcc6699f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811" y="4461207"/>
            <a:ext cx="3087624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8946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ea03e9b9b6d50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68" y="2194560"/>
            <a:ext cx="101498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6c4a40349de610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315" y="2103120"/>
            <a:ext cx="1008888" cy="478536"/>
          </a:xfrm>
          <a:prstGeom prst="rect">
            <a:avLst/>
          </a:prstGeom>
        </p:spPr>
      </p:pic>
      <p:pic>
        <p:nvPicPr>
          <p:cNvPr id="9" name="Picture 8" descr="ac1e77065a05d7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209" y="3035474"/>
            <a:ext cx="1814798" cy="2486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58007" y="2917364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1" name="Picture 10" descr="5c398753ce4ec6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080" y="2929128"/>
            <a:ext cx="1574482" cy="4336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patio has an area of  169  square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Fencing for it costs 12 dollars a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one side of the patio?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patio has an area of  169  square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Fencing for it costs 12 dollars a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one side of the patio?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2768" y="3587827"/>
            <a:ext cx="3131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Side × side = 169</a:t>
            </a:r>
          </a:p>
        </p:txBody>
      </p:sp>
      <p:pic>
        <p:nvPicPr>
          <p:cNvPr id="12" name="Picture 11" descr="02c22c2952ba0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632" y="4256529"/>
            <a:ext cx="1864518" cy="2541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2150" y="4138419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4" name="Picture 13" descr="8a48b6ab05ac2a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224" y="4150183"/>
            <a:ext cx="1613154" cy="4336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210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feet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33a9e56c707a61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2194560"/>
            <a:ext cx="1264920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84e87a07475feb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478536"/>
          </a:xfrm>
          <a:prstGeom prst="rect">
            <a:avLst/>
          </a:prstGeom>
        </p:spPr>
      </p:pic>
      <p:pic>
        <p:nvPicPr>
          <p:cNvPr id="9" name="Picture 8" descr="b0df40523fe93d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316" y="3032712"/>
            <a:ext cx="3632358" cy="3176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28675" y="2917364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1" name="Picture 10" descr="c1de8963302adf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48" y="2929128"/>
            <a:ext cx="1853469" cy="4336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7058abdbd15292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074bb924378dc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043" y="2103120"/>
            <a:ext cx="1551432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64480" y="2906268"/>
            <a:ext cx="3827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Under the bar first:  </a:t>
            </a:r>
          </a:p>
        </p:txBody>
      </p:sp>
      <p:pic>
        <p:nvPicPr>
          <p:cNvPr id="10" name="Picture 9" descr="f5329d2eda710a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242" y="2969133"/>
            <a:ext cx="2947320" cy="306609"/>
          </a:xfrm>
          <a:prstGeom prst="rect">
            <a:avLst/>
          </a:prstGeom>
        </p:spPr>
      </p:pic>
      <p:pic>
        <p:nvPicPr>
          <p:cNvPr id="11" name="Picture 10" descr="5127a0c173e394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344" y="3468624"/>
            <a:ext cx="1271016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0287c1279b1b6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880" y="2194560"/>
            <a:ext cx="1889760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74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137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137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95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95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537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627b4a23b9288a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7" y="2103120"/>
            <a:ext cx="188366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7384" y="3481147"/>
            <a:ext cx="3827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Under the bar first:  </a:t>
            </a:r>
          </a:p>
        </p:txBody>
      </p:sp>
      <p:pic>
        <p:nvPicPr>
          <p:cNvPr id="11" name="Picture 10" descr="6f0e461534c4fd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146" y="3596495"/>
            <a:ext cx="2198751" cy="254126"/>
          </a:xfrm>
          <a:prstGeom prst="rect">
            <a:avLst/>
          </a:prstGeom>
        </p:spPr>
      </p:pic>
      <p:pic>
        <p:nvPicPr>
          <p:cNvPr id="12" name="Picture 11" descr="296c25346e41fa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248" y="4043503"/>
            <a:ext cx="1612392" cy="432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24ebae5e5d757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194560"/>
            <a:ext cx="1152144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5831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not a real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−1/8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1627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3d615a9b7c2dc0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12" y="2103120"/>
            <a:ext cx="1149096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0" name="Picture 9" descr="44ca813e0eef5c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179" y="3814903"/>
            <a:ext cx="4053840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52316" y="4678582"/>
            <a:ext cx="927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so   </a:t>
            </a:r>
          </a:p>
        </p:txBody>
      </p:sp>
      <p:pic>
        <p:nvPicPr>
          <p:cNvPr id="12" name="Picture 11" descr="057b68cb0facbc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795" y="4549471"/>
            <a:ext cx="1787175" cy="7154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0205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−1/4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13bd5897204bf8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91" y="2194560"/>
            <a:ext cx="1926335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e6bc0b83f8afa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15" y="2103120"/>
            <a:ext cx="1923288" cy="789432"/>
          </a:xfrm>
          <a:prstGeom prst="rect">
            <a:avLst/>
          </a:prstGeom>
        </p:spPr>
      </p:pic>
      <p:pic>
        <p:nvPicPr>
          <p:cNvPr id="9" name="Picture 8" descr="7f97372ca3358f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698" y="3240023"/>
            <a:ext cx="1157382" cy="7154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46081" y="3369135"/>
            <a:ext cx="19394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  and     </a:t>
            </a:r>
          </a:p>
        </p:txBody>
      </p:sp>
      <p:pic>
        <p:nvPicPr>
          <p:cNvPr id="11" name="Picture 10" descr="814fb0376044ab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382" y="3240023"/>
            <a:ext cx="1325880" cy="715422"/>
          </a:xfrm>
          <a:prstGeom prst="rect">
            <a:avLst/>
          </a:prstGeom>
        </p:spPr>
      </p:pic>
      <p:pic>
        <p:nvPicPr>
          <p:cNvPr id="12" name="Picture 11" descr="27befd5d161272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8698" y="4083462"/>
            <a:ext cx="1350264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82717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4/3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7513eedb387e9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194560"/>
            <a:ext cx="2542032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41217f15035bee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20" y="2103120"/>
            <a:ext cx="2545080" cy="478536"/>
          </a:xfrm>
          <a:prstGeom prst="rect">
            <a:avLst/>
          </a:prstGeom>
        </p:spPr>
      </p:pic>
      <p:pic>
        <p:nvPicPr>
          <p:cNvPr id="9" name="Picture 8" descr="3837c1f0f17629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9" y="2961989"/>
            <a:ext cx="4651248" cy="368808"/>
          </a:xfrm>
          <a:prstGeom prst="rect">
            <a:avLst/>
          </a:prstGeom>
        </p:spPr>
      </p:pic>
      <p:pic>
        <p:nvPicPr>
          <p:cNvPr id="10" name="Picture 9" descr="a0f3c47d5d7510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9" y="3432047"/>
            <a:ext cx="1584960" cy="569976"/>
          </a:xfrm>
          <a:prstGeom prst="rect">
            <a:avLst/>
          </a:prstGeom>
        </p:spPr>
      </p:pic>
      <p:pic>
        <p:nvPicPr>
          <p:cNvPr id="11" name="Picture 10" descr="894447109a3e5d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9" y="4093464"/>
            <a:ext cx="3218688" cy="573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80364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1/100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9094" y="2171700"/>
            <a:ext cx="2757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Simon says that  </a:t>
            </a:r>
          </a:p>
        </p:txBody>
      </p:sp>
      <p:pic>
        <p:nvPicPr>
          <p:cNvPr id="9" name="Picture 8" descr="a849ea34284e1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485" y="2207514"/>
            <a:ext cx="861821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1307" y="2171700"/>
            <a:ext cx="3418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is not a real number,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you cannot take the root of a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332" y="2080260"/>
            <a:ext cx="2757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Simon says that  </a:t>
            </a:r>
          </a:p>
        </p:txBody>
      </p:sp>
      <p:pic>
        <p:nvPicPr>
          <p:cNvPr id="9" name="Picture 8" descr="dc8e0a2c2f29cc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723" y="2116074"/>
            <a:ext cx="859345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0069" y="2080260"/>
            <a:ext cx="3418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is not a real number,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you cannot take the root of a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154" y="3988970"/>
            <a:ext cx="105123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 cube root can be negative: three negatives multiply to a negative.</a:t>
            </a:r>
          </a:p>
        </p:txBody>
      </p:sp>
      <p:pic>
        <p:nvPicPr>
          <p:cNvPr id="14" name="Picture 13" descr="32fe0726ff703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18" y="4624811"/>
            <a:ext cx="2886694" cy="2683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34712" y="4491890"/>
            <a:ext cx="1163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6" name="Picture 15" descr="06859444d1f0d6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637" y="4547802"/>
            <a:ext cx="1404842" cy="3663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0633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e838230098c649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28572"/>
            <a:ext cx="862584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c2339290e8681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22931"/>
            <a:ext cx="676656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ad02206568954f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17291"/>
            <a:ext cx="1271016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3924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64b69718fca365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00983"/>
            <a:ext cx="566928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1010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3f6f87e04710f3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134612"/>
            <a:ext cx="1484376" cy="390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76097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19" name="Picture 18" descr="07d37168da60879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4718304"/>
            <a:ext cx="2304288" cy="5425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This skill continues tomorrow: one assignment, due at the start of the class after 4.06.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radical expressions — D8J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