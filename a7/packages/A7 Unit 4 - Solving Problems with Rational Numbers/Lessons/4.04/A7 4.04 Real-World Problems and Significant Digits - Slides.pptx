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</p:sldIdLst>
  <p:sldSz cx="1219196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Relationship Id="rId4" Type="http://schemas.openxmlformats.org/officeDocument/2006/relationships/image" Target="../media/image1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1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Relationship Id="rId4" Type="http://schemas.openxmlformats.org/officeDocument/2006/relationships/image" Target="../media/image16.png"/><Relationship Id="rId5" Type="http://schemas.openxmlformats.org/officeDocument/2006/relationships/image" Target="../media/image17.png"/><Relationship Id="rId6" Type="http://schemas.openxmlformats.org/officeDocument/2006/relationships/image" Target="../media/image18.png"/><Relationship Id="rId7" Type="http://schemas.openxmlformats.org/officeDocument/2006/relationships/image" Target="../media/image19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Relationship Id="rId3" Type="http://schemas.openxmlformats.org/officeDocument/2006/relationships/image" Target="../media/image2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Relationship Id="rId3" Type="http://schemas.openxmlformats.org/officeDocument/2006/relationships/image" Target="../media/image23.png"/><Relationship Id="rId4" Type="http://schemas.openxmlformats.org/officeDocument/2006/relationships/image" Target="../media/image2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Relationship Id="rId3" Type="http://schemas.openxmlformats.org/officeDocument/2006/relationships/image" Target="../media/image26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Relationship Id="rId3" Type="http://schemas.openxmlformats.org/officeDocument/2006/relationships/image" Target="../media/image28.png"/><Relationship Id="rId4" Type="http://schemas.openxmlformats.org/officeDocument/2006/relationships/image" Target="../media/image29.png"/><Relationship Id="rId5" Type="http://schemas.openxmlformats.org/officeDocument/2006/relationships/image" Target="../media/image30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Relationship Id="rId3" Type="http://schemas.openxmlformats.org/officeDocument/2006/relationships/image" Target="../media/image3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Relationship Id="rId3" Type="http://schemas.openxmlformats.org/officeDocument/2006/relationships/image" Target="../media/image34.png"/><Relationship Id="rId4" Type="http://schemas.openxmlformats.org/officeDocument/2006/relationships/image" Target="../media/image35.png"/><Relationship Id="rId5" Type="http://schemas.openxmlformats.org/officeDocument/2006/relationships/image" Target="../media/image36.png"/><Relationship Id="rId6" Type="http://schemas.openxmlformats.org/officeDocument/2006/relationships/image" Target="../media/image37.png"/><Relationship Id="rId7" Type="http://schemas.openxmlformats.org/officeDocument/2006/relationships/image" Target="../media/image38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png"/><Relationship Id="rId3" Type="http://schemas.openxmlformats.org/officeDocument/2006/relationships/image" Target="../media/image41.png"/><Relationship Id="rId4" Type="http://schemas.openxmlformats.org/officeDocument/2006/relationships/image" Target="../media/image42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.png"/><Relationship Id="rId3" Type="http://schemas.openxmlformats.org/officeDocument/2006/relationships/image" Target="../media/image45.png"/><Relationship Id="rId4" Type="http://schemas.openxmlformats.org/officeDocument/2006/relationships/image" Target="../media/image46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.png"/><Relationship Id="rId3" Type="http://schemas.openxmlformats.org/officeDocument/2006/relationships/image" Target="../media/image48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.png"/><Relationship Id="rId3" Type="http://schemas.openxmlformats.org/officeDocument/2006/relationships/image" Target="../media/image50.png"/><Relationship Id="rId4" Type="http://schemas.openxmlformats.org/officeDocument/2006/relationships/image" Target="../media/image51.png"/><Relationship Id="rId5" Type="http://schemas.openxmlformats.org/officeDocument/2006/relationships/image" Target="../media/image17.png"/><Relationship Id="rId6" Type="http://schemas.openxmlformats.org/officeDocument/2006/relationships/image" Target="../media/image52.png"/><Relationship Id="rId7" Type="http://schemas.openxmlformats.org/officeDocument/2006/relationships/image" Target="../media/image53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4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5.png"/><Relationship Id="rId3" Type="http://schemas.openxmlformats.org/officeDocument/2006/relationships/image" Target="../media/image56.png"/><Relationship Id="rId4" Type="http://schemas.openxmlformats.org/officeDocument/2006/relationships/image" Target="../media/image57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8.png"/><Relationship Id="rId3" Type="http://schemas.openxmlformats.org/officeDocument/2006/relationships/image" Target="../media/image59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0.png"/><Relationship Id="rId3" Type="http://schemas.openxmlformats.org/officeDocument/2006/relationships/image" Target="../media/image61.png"/><Relationship Id="rId4" Type="http://schemas.openxmlformats.org/officeDocument/2006/relationships/image" Target="../media/image62.png"/><Relationship Id="rId5" Type="http://schemas.openxmlformats.org/officeDocument/2006/relationships/image" Target="../media/image63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4.png"/><Relationship Id="rId3" Type="http://schemas.openxmlformats.org/officeDocument/2006/relationships/image" Target="../media/image65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6.png"/><Relationship Id="rId3" Type="http://schemas.openxmlformats.org/officeDocument/2006/relationships/image" Target="../media/image67.png"/><Relationship Id="rId4" Type="http://schemas.openxmlformats.org/officeDocument/2006/relationships/image" Target="../media/image68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9.png"/><Relationship Id="rId3" Type="http://schemas.openxmlformats.org/officeDocument/2006/relationships/image" Target="../media/image70.png"/><Relationship Id="rId4" Type="http://schemas.openxmlformats.org/officeDocument/2006/relationships/image" Target="../media/image71.png"/><Relationship Id="rId5" Type="http://schemas.openxmlformats.org/officeDocument/2006/relationships/image" Target="../media/image72.png"/><Relationship Id="rId6" Type="http://schemas.openxmlformats.org/officeDocument/2006/relationships/image" Target="../media/image73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148840"/>
            <a:ext cx="10607040" cy="34747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420" b="0" i="0">
                <a:solidFill>
                  <a:srgbClr val="6B6B6B"/>
                </a:solidFill>
                <a:latin typeface="Lexend"/>
              </a:rPr>
              <a:t>GRADE 7 ACCELERATED  ·  UNIT 4  ·  LESSON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505456"/>
            <a:ext cx="1060704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229" b="1" i="0">
                <a:solidFill>
                  <a:srgbClr val="1A1A1A"/>
                </a:solidFill>
                <a:latin typeface="Lexend"/>
              </a:rPr>
              <a:t>Real-World Problems and Significant Digits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91840" y="3712464"/>
            <a:ext cx="55778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91840" y="3794760"/>
            <a:ext cx="55778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395935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520" b="1" i="0">
                <a:solidFill>
                  <a:srgbClr val="1A1A1A"/>
                </a:solidFill>
                <a:latin typeface="Lexend"/>
              </a:rPr>
              <a:t>MA.8.NSO.1.6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297680"/>
            <a:ext cx="1060704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810" b="0" i="0">
                <a:solidFill>
                  <a:srgbClr val="1A1A1A"/>
                </a:solidFill>
                <a:latin typeface="Lexend"/>
              </a:rPr>
              <a:t>I can solve a real-world problem with numbers in scientific notation and report the answer with the right number of significant digits.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4 — Real-World Problems and Significant Digits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67156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</a:t>
            </a:r>
          </a:p>
        </p:txBody>
      </p:sp>
      <p:pic>
        <p:nvPicPr>
          <p:cNvPr id="9" name="Picture 8" descr="9ef93e9422ec807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08921" y="1501140"/>
            <a:ext cx="2417064" cy="3352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74519" y="2052828"/>
            <a:ext cx="68569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</a:t>
            </a:r>
          </a:p>
        </p:txBody>
      </p:sp>
      <p:pic>
        <p:nvPicPr>
          <p:cNvPr id="11" name="Picture 10" descr="872c396e107e432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23059" y="2115312"/>
            <a:ext cx="3057144" cy="33223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874519" y="2665476"/>
            <a:ext cx="585995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Write  0.00902  in scientific notation.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3278124"/>
            <a:ext cx="630192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Round  4.738  to the nearest hundredth.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67156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</a:t>
            </a:r>
          </a:p>
        </p:txBody>
      </p:sp>
      <p:pic>
        <p:nvPicPr>
          <p:cNvPr id="9" name="Picture 8" descr="9ef93e9422ec807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08921" y="1501140"/>
            <a:ext cx="2417064" cy="3352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74625" y="1440180"/>
            <a:ext cx="144034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1.2 × 10</a:t>
            </a:r>
            <a:r>
              <a:rPr sz="2180" b="1" i="0" baseline="30000">
                <a:solidFill>
                  <a:srgbClr val="9E1B32"/>
                </a:solidFill>
                <a:latin typeface="Lexend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2052828"/>
            <a:ext cx="68569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</a:t>
            </a:r>
          </a:p>
        </p:txBody>
      </p:sp>
      <p:pic>
        <p:nvPicPr>
          <p:cNvPr id="12" name="Picture 11" descr="872c396e107e432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23059" y="2115312"/>
            <a:ext cx="3057144" cy="33223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028843" y="2052828"/>
            <a:ext cx="161239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5.89 × 10</a:t>
            </a:r>
            <a:r>
              <a:rPr sz="2180" b="1" i="0" baseline="30000">
                <a:solidFill>
                  <a:srgbClr val="9E1B32"/>
                </a:solidFill>
                <a:latin typeface="Lexend"/>
              </a:rPr>
              <a:t>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2665476"/>
            <a:ext cx="585995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Write  0.00902  in scientific notation.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45958" y="2665476"/>
            <a:ext cx="180008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9.02 × 10</a:t>
            </a:r>
            <a:r>
              <a:rPr sz="2180" b="1" i="0" baseline="30000">
                <a:solidFill>
                  <a:srgbClr val="9E1B32"/>
                </a:solidFill>
                <a:latin typeface="Lexend"/>
              </a:rPr>
              <a:t>-3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19" y="3278124"/>
            <a:ext cx="630192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Round  4.738  to the nearest hundredth.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87924" y="3278124"/>
            <a:ext cx="83067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4.74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I.  Which digits are significant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2285999" y="1993392"/>
          <a:ext cx="7589520" cy="19202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011680"/>
                <a:gridCol w="1188720"/>
                <a:gridCol w="4389120"/>
              </a:tblGrid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420" b="1">
                          <a:solidFill>
                            <a:srgbClr val="1A1A1A"/>
                          </a:solidFill>
                          <a:latin typeface="Lexend"/>
                        </a:rPr>
                        <a:t>Measurement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20" b="1">
                          <a:solidFill>
                            <a:srgbClr val="1A1A1A"/>
                          </a:solidFill>
                          <a:latin typeface="Lexend"/>
                        </a:rPr>
                        <a:t>Digits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20" b="1">
                          <a:solidFill>
                            <a:srgbClr val="1A1A1A"/>
                          </a:solidFill>
                          <a:latin typeface="Lexend"/>
                        </a:rPr>
                        <a:t>Why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420" b="0">
                          <a:solidFill>
                            <a:srgbClr val="1A1A1A"/>
                          </a:solidFill>
                          <a:latin typeface="Lexend"/>
                        </a:rPr>
                        <a:t>4,207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20" b="0">
                          <a:solidFill>
                            <a:srgbClr val="1A1A1A"/>
                          </a:solidFill>
                          <a:latin typeface="Lexend"/>
                        </a:rPr>
                        <a:t>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20" b="0">
                          <a:solidFill>
                            <a:srgbClr val="1A1A1A"/>
                          </a:solidFill>
                          <a:latin typeface="Lexend"/>
                        </a:rPr>
                        <a:t>the middle zero counts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420" b="0">
                          <a:solidFill>
                            <a:srgbClr val="1A1A1A"/>
                          </a:solidFill>
                          <a:latin typeface="Lexend"/>
                        </a:rPr>
                        <a:t>0.0058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20" b="0">
                          <a:solidFill>
                            <a:srgbClr val="1A1A1A"/>
                          </a:solidFill>
                          <a:latin typeface="Lexend"/>
                        </a:rPr>
                        <a:t>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20" b="0">
                          <a:solidFill>
                            <a:srgbClr val="1A1A1A"/>
                          </a:solidFill>
                          <a:latin typeface="Lexend"/>
                        </a:rPr>
                        <a:t>leading zeros never count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420" b="0">
                          <a:solidFill>
                            <a:srgbClr val="1A1A1A"/>
                          </a:solidFill>
                          <a:latin typeface="Lexend"/>
                        </a:rPr>
                        <a:t>3.200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20" b="0">
                          <a:solidFill>
                            <a:srgbClr val="1A1A1A"/>
                          </a:solidFill>
                          <a:latin typeface="Lexend"/>
                        </a:rPr>
                        <a:t>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20" b="0">
                          <a:solidFill>
                            <a:srgbClr val="1A1A1A"/>
                          </a:solidFill>
                          <a:latin typeface="Lexend"/>
                        </a:rPr>
                        <a:t>trailing zeros count after a decimal point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420" b="0">
                          <a:solidFill>
                            <a:srgbClr val="1A1A1A"/>
                          </a:solidFill>
                          <a:latin typeface="Lexend"/>
                        </a:rPr>
                        <a:t>52,000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20" b="0">
                          <a:solidFill>
                            <a:srgbClr val="1A1A1A"/>
                          </a:solidFill>
                          <a:latin typeface="Lexend"/>
                        </a:rPr>
                        <a:t>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20" b="0">
                          <a:solidFill>
                            <a:srgbClr val="1A1A1A"/>
                          </a:solidFill>
                          <a:latin typeface="Lexend"/>
                        </a:rPr>
                        <a:t>no decimal point, so they do not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II.  Multiplying or dividing: count the digits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c7e6ff835d857cc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61716" y="1993392"/>
            <a:ext cx="6038088" cy="4114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343817" y="2656332"/>
            <a:ext cx="823334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2 significant digits and 3, so the answer keeps 2:   </a:t>
            </a:r>
          </a:p>
        </p:txBody>
      </p:sp>
      <p:pic>
        <p:nvPicPr>
          <p:cNvPr id="12" name="Picture 11" descr="723af09f9a41839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40006" y="2717292"/>
            <a:ext cx="1377696" cy="33528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987552" y="3429000"/>
            <a:ext cx="10131551" cy="95097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Multiply or divide: the answer takes the smaller of the two significant-digit counts.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III.  Adding or subtracting: a different rule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ac84020e548be5d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120" y="2023872"/>
            <a:ext cx="3383280" cy="3505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820000" y="2656332"/>
            <a:ext cx="865867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1,234 stops at the ones place;  5.6 stops at the tenths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08410" y="3342132"/>
            <a:ext cx="611498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so the sum stops at the ones place:   </a:t>
            </a:r>
          </a:p>
        </p:txBody>
      </p:sp>
      <p:pic>
        <p:nvPicPr>
          <p:cNvPr id="13" name="Picture 12" descr="40647922f9acd29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86237" y="3368040"/>
            <a:ext cx="3166872" cy="40538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87552" y="4114800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Add or subtract: the answer stops at the leftmost of the two last-digit places.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68053" y="1714500"/>
            <a:ext cx="412051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A solar array measures  </a:t>
            </a:r>
          </a:p>
        </p:txBody>
      </p:sp>
      <p:pic>
        <p:nvPicPr>
          <p:cNvPr id="9" name="Picture 8" descr="ff2cbfe6b6afaad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51411" y="1772412"/>
            <a:ext cx="1575816" cy="34137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227227" y="1714500"/>
            <a:ext cx="137814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m by  </a:t>
            </a:r>
          </a:p>
        </p:txBody>
      </p:sp>
      <p:pic>
        <p:nvPicPr>
          <p:cNvPr id="11" name="Picture 10" descr="aa26922bd492b4c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68215" y="1772412"/>
            <a:ext cx="1383792" cy="34137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852007" y="1714500"/>
            <a:ext cx="77861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m.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46888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What is its area?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319085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Give the answer to the correct number of significant digits.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8</a:t>
            </a:r>
          </a:p>
        </p:txBody>
      </p:sp>
      <p:pic>
        <p:nvPicPr>
          <p:cNvPr id="8" name="Picture 7" descr="d7b7c5abadb0c1a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5151120" cy="411480"/>
          </a:xfrm>
          <a:prstGeom prst="rect">
            <a:avLst/>
          </a:prstGeom>
        </p:spPr>
      </p:pic>
      <p:pic>
        <p:nvPicPr>
          <p:cNvPr id="9" name="Picture 8" descr="a08d6ab77e17239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606040"/>
            <a:ext cx="6248400" cy="387096"/>
          </a:xfrm>
          <a:prstGeom prst="rect">
            <a:avLst/>
          </a:prstGeom>
        </p:spPr>
      </p:pic>
      <p:pic>
        <p:nvPicPr>
          <p:cNvPr id="10" name="Picture 9" descr="a93125fbd09b82b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3267456"/>
            <a:ext cx="4462272" cy="40538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1.1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4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 square meters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70625" y="1583436"/>
            <a:ext cx="307717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A field measures  </a:t>
            </a:r>
          </a:p>
        </p:txBody>
      </p:sp>
      <p:pic>
        <p:nvPicPr>
          <p:cNvPr id="9" name="Picture 8" descr="1645c9c47acde3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10639" y="1600200"/>
            <a:ext cx="1792224" cy="42367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502863" y="1583436"/>
            <a:ext cx="137814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m by  </a:t>
            </a:r>
          </a:p>
        </p:txBody>
      </p:sp>
      <p:pic>
        <p:nvPicPr>
          <p:cNvPr id="11" name="Picture 10" descr="debdcb1f492603f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43851" y="1600200"/>
            <a:ext cx="2005584" cy="42367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749435" y="1583436"/>
            <a:ext cx="77861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m.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343912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What is its area?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69101" y="1583436"/>
            <a:ext cx="307717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A field measures  </a:t>
            </a:r>
          </a:p>
        </p:txBody>
      </p:sp>
      <p:pic>
        <p:nvPicPr>
          <p:cNvPr id="9" name="Picture 8" descr="19219eb587cce93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9115" y="1600200"/>
            <a:ext cx="1792224" cy="42367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501339" y="1583436"/>
            <a:ext cx="137814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m by  </a:t>
            </a:r>
          </a:p>
        </p:txBody>
      </p:sp>
      <p:pic>
        <p:nvPicPr>
          <p:cNvPr id="11" name="Picture 10" descr="acda4b72b75ce9a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42327" y="1600200"/>
            <a:ext cx="2008632" cy="42367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750959" y="1583436"/>
            <a:ext cx="77861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m.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343912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What is its area?</a:t>
            </a:r>
          </a:p>
        </p:txBody>
      </p:sp>
      <p:pic>
        <p:nvPicPr>
          <p:cNvPr id="14" name="Picture 13" descr="94a8240adc6e96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65957" y="3055222"/>
            <a:ext cx="2185416" cy="21336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951373" y="2933302"/>
            <a:ext cx="132004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   and   </a:t>
            </a:r>
          </a:p>
        </p:txBody>
      </p:sp>
      <p:pic>
        <p:nvPicPr>
          <p:cNvPr id="16" name="Picture 15" descr="6dc7d095c18b426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34261" y="3030838"/>
            <a:ext cx="1859280" cy="262128"/>
          </a:xfrm>
          <a:prstGeom prst="rect">
            <a:avLst/>
          </a:prstGeom>
        </p:spPr>
      </p:pic>
      <p:pic>
        <p:nvPicPr>
          <p:cNvPr id="17" name="Picture 16" descr="c8c5f1b26c2cdc8a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765957" y="3509374"/>
            <a:ext cx="2758440" cy="310896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2711093" y="3939142"/>
            <a:ext cx="584931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Keep 2 significant digits (4.6 has 2):   </a:t>
            </a:r>
          </a:p>
        </p:txBody>
      </p:sp>
      <p:pic>
        <p:nvPicPr>
          <p:cNvPr id="19" name="Picture 18" descr="7eec2dad996b77df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423250" y="4039726"/>
            <a:ext cx="1030224" cy="256032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1.1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5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 square meters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89331" y="1714500"/>
            <a:ext cx="320381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A container holds  </a:t>
            </a:r>
          </a:p>
        </p:txBody>
      </p:sp>
      <p:pic>
        <p:nvPicPr>
          <p:cNvPr id="9" name="Picture 8" descr="14e0b9b3df93fbb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55985" y="1773936"/>
            <a:ext cx="1783080" cy="33832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839065" y="1714500"/>
            <a:ext cx="347028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cubic feet of liquid.</a:t>
            </a:r>
          </a:p>
        </p:txBody>
      </p:sp>
      <p:pic>
        <p:nvPicPr>
          <p:cNvPr id="11" name="Picture 10" descr="a3b236c4480db31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60625" y="2506980"/>
            <a:ext cx="1999487" cy="3352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160113" y="2446020"/>
            <a:ext cx="397794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cubic feet evaporates.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338328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How much is left? Give the answer with the correct precision.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12</a:t>
            </a:r>
          </a:p>
        </p:txBody>
      </p:sp>
      <p:pic>
        <p:nvPicPr>
          <p:cNvPr id="8" name="Picture 7" descr="7330ec204f7748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6358128" cy="280416"/>
          </a:xfrm>
          <a:prstGeom prst="rect">
            <a:avLst/>
          </a:prstGeom>
        </p:spPr>
      </p:pic>
      <p:pic>
        <p:nvPicPr>
          <p:cNvPr id="9" name="Picture 8" descr="bb89500147edd46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474976"/>
            <a:ext cx="3895344" cy="417576"/>
          </a:xfrm>
          <a:prstGeom prst="rect">
            <a:avLst/>
          </a:prstGeom>
        </p:spPr>
      </p:pic>
      <p:pic>
        <p:nvPicPr>
          <p:cNvPr id="10" name="Picture 9" descr="675b2dce7029d49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3166871"/>
            <a:ext cx="6041136" cy="33832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3.06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-3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 cubic feet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09636" y="1581912"/>
            <a:ext cx="181966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A road is  </a:t>
            </a:r>
          </a:p>
        </p:txBody>
      </p:sp>
      <p:pic>
        <p:nvPicPr>
          <p:cNvPr id="9" name="Picture 8" descr="7085e71197c76ea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92141" y="1600200"/>
            <a:ext cx="2026920" cy="42062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219061" y="1581912"/>
            <a:ext cx="156998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m long.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593031" y="2324100"/>
            <a:ext cx="187681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A section  </a:t>
            </a:r>
          </a:p>
        </p:txBody>
      </p:sp>
      <p:pic>
        <p:nvPicPr>
          <p:cNvPr id="12" name="Picture 11" descr="8ca2d2fd49f849d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32686" y="2340864"/>
            <a:ext cx="2036064" cy="42367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368750" y="2324100"/>
            <a:ext cx="333689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m long is repaved.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3084576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How much of the road is not repaved?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08112" y="1581912"/>
            <a:ext cx="181966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A road is  </a:t>
            </a:r>
          </a:p>
        </p:txBody>
      </p:sp>
      <p:pic>
        <p:nvPicPr>
          <p:cNvPr id="9" name="Picture 8" descr="792d949c5a21a61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90617" y="1600200"/>
            <a:ext cx="2029968" cy="42062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220585" y="1581912"/>
            <a:ext cx="156998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m long.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591507" y="2324100"/>
            <a:ext cx="187681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A section  </a:t>
            </a:r>
          </a:p>
        </p:txBody>
      </p:sp>
      <p:pic>
        <p:nvPicPr>
          <p:cNvPr id="12" name="Picture 11" descr="b395e7df8785e02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31162" y="2340864"/>
            <a:ext cx="2039112" cy="42367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370274" y="2324100"/>
            <a:ext cx="333689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m long is repaved.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3084576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How much of the road is not repaved?</a:t>
            </a:r>
          </a:p>
        </p:txBody>
      </p:sp>
      <p:pic>
        <p:nvPicPr>
          <p:cNvPr id="15" name="Picture 14" descr="df3a7677f047d40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10235" y="3768454"/>
            <a:ext cx="2529840" cy="26822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2055371" y="4176886"/>
            <a:ext cx="818793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3,850 stops at the tens place, so round to tens:  3,580</a:t>
            </a:r>
          </a:p>
        </p:txBody>
      </p:sp>
      <p:pic>
        <p:nvPicPr>
          <p:cNvPr id="17" name="Picture 16" descr="e2ff5572229200e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10235" y="4752958"/>
            <a:ext cx="2270760" cy="310896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77240" y="5251306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3.58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3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 m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9456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How many significant digits are in  0.00470 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0312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How many significant digits are in  0.00470 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40987" y="2728291"/>
            <a:ext cx="523065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Leading zeros do not count:  0.00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40987" y="3231211"/>
            <a:ext cx="701670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4, 7 and the final 0 count:  3 significant digits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3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436705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pond's surface measures  </a:t>
            </a:r>
          </a:p>
        </p:txBody>
      </p:sp>
      <p:pic>
        <p:nvPicPr>
          <p:cNvPr id="9" name="Picture 8" descr="cb6705e7e3c134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64334" y="1941575"/>
            <a:ext cx="1130808" cy="27736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595142" y="1851660"/>
            <a:ext cx="128822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 m by  </a:t>
            </a:r>
          </a:p>
        </p:txBody>
      </p:sp>
      <p:pic>
        <p:nvPicPr>
          <p:cNvPr id="11" name="Picture 10" descr="fe2d8d13976231c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46208" y="1941575"/>
            <a:ext cx="1127760" cy="27736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873968" y="1851660"/>
            <a:ext cx="73485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 m.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The pond is 3 meters deep.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3026266"/>
            <a:ext cx="1005840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Find the surface area. Round to the correct number of significant digits.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436705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pond's surface measures  </a:t>
            </a:r>
          </a:p>
        </p:txBody>
      </p:sp>
      <p:pic>
        <p:nvPicPr>
          <p:cNvPr id="9" name="Picture 8" descr="14e1bd54084a469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64334" y="1941575"/>
            <a:ext cx="1130808" cy="27736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595142" y="1851660"/>
            <a:ext cx="128822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 m by  </a:t>
            </a:r>
          </a:p>
        </p:txBody>
      </p:sp>
      <p:pic>
        <p:nvPicPr>
          <p:cNvPr id="11" name="Picture 10" descr="5ace9ec43120721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46208" y="1941575"/>
            <a:ext cx="1127760" cy="27736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873968" y="1851660"/>
            <a:ext cx="73485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 m.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The pond is 3 meters deep.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3026266"/>
            <a:ext cx="1005840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Find the surface area. Round to the correct number of significant digits.</a:t>
            </a:r>
          </a:p>
        </p:txBody>
      </p:sp>
      <p:pic>
        <p:nvPicPr>
          <p:cNvPr id="15" name="Picture 14" descr="0dcb6b3604aaf1a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71929" y="4212667"/>
            <a:ext cx="1825752" cy="21336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397681" y="4090747"/>
            <a:ext cx="132004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   and   </a:t>
            </a:r>
          </a:p>
        </p:txBody>
      </p:sp>
      <p:pic>
        <p:nvPicPr>
          <p:cNvPr id="17" name="Picture 16" descr="a732557401dc8ad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80570" y="4188283"/>
            <a:ext cx="1831848" cy="262128"/>
          </a:xfrm>
          <a:prstGeom prst="rect">
            <a:avLst/>
          </a:prstGeom>
        </p:spPr>
      </p:pic>
      <p:pic>
        <p:nvPicPr>
          <p:cNvPr id="18" name="Picture 17" descr="ca43b17f8102147f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71929" y="4666819"/>
            <a:ext cx="2362200" cy="310896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3517065" y="5096587"/>
            <a:ext cx="420994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Keep 2 significant digits:   </a:t>
            </a:r>
          </a:p>
        </p:txBody>
      </p:sp>
      <p:pic>
        <p:nvPicPr>
          <p:cNvPr id="20" name="Picture 19" descr="018e3913f4d433d2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589846" y="5197171"/>
            <a:ext cx="1057656" cy="256032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777240" y="5668087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1.2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4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 square meters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94560"/>
            <a:ext cx="1060704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180" b="0" i="0">
                <a:solidFill>
                  <a:srgbClr val="1A1A1A"/>
                </a:solidFill>
                <a:latin typeface="Lexend"/>
              </a:rPr>
              <a:t>Two measurements are multiplied. One has 3 significant digits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80585" y="2692908"/>
            <a:ext cx="695855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and the other has 5. The exact product is  </a:t>
            </a:r>
          </a:p>
        </p:txBody>
      </p:sp>
      <p:pic>
        <p:nvPicPr>
          <p:cNvPr id="10" name="Picture 9" descr="f5a6805642b3602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01980" y="2753867"/>
            <a:ext cx="2029968" cy="3352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0431948" y="2692908"/>
            <a:ext cx="28614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3401568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How should the answer be written?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03120"/>
            <a:ext cx="1060704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180" b="0" i="0">
                <a:solidFill>
                  <a:srgbClr val="1A1A1A"/>
                </a:solidFill>
                <a:latin typeface="Lexend"/>
              </a:rPr>
              <a:t>Two measurements are multiplied. One has 3 significant digits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80585" y="2601468"/>
            <a:ext cx="695855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and the other has 5. The exact product is  </a:t>
            </a:r>
          </a:p>
        </p:txBody>
      </p:sp>
      <p:pic>
        <p:nvPicPr>
          <p:cNvPr id="10" name="Picture 9" descr="b41e0e74d053423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01980" y="2662428"/>
            <a:ext cx="2029968" cy="3352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0431948" y="2601468"/>
            <a:ext cx="28614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3310128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How should the answer be written?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6369" y="3935299"/>
            <a:ext cx="864594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The answer keeps the smaller count: 3 significant digits.</a:t>
            </a:r>
          </a:p>
        </p:txBody>
      </p:sp>
      <p:pic>
        <p:nvPicPr>
          <p:cNvPr id="14" name="Picture 13" descr="40ace4bdf802fbb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81233" y="4538803"/>
            <a:ext cx="1557528" cy="256032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3438761" y="4438219"/>
            <a:ext cx="210022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   becomes   </a:t>
            </a:r>
          </a:p>
        </p:txBody>
      </p:sp>
      <p:pic>
        <p:nvPicPr>
          <p:cNvPr id="16" name="Picture 15" descr="ecdbdf53729bbd0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01823" y="4538803"/>
            <a:ext cx="1231392" cy="256032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777240" y="5009719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7.41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5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21</a:t>
            </a:r>
          </a:p>
        </p:txBody>
      </p:sp>
      <p:pic>
        <p:nvPicPr>
          <p:cNvPr id="8" name="Picture 7" descr="c7912e820c52de7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07740" y="2194560"/>
            <a:ext cx="3983736" cy="4114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991476" y="2171700"/>
            <a:ext cx="429946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 meters, both measured.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88036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Write the sum with the correct precision.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22</a:t>
            </a:r>
          </a:p>
        </p:txBody>
      </p:sp>
      <p:pic>
        <p:nvPicPr>
          <p:cNvPr id="8" name="Picture 7" descr="d295e21d6a5af5d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06216" y="2103120"/>
            <a:ext cx="3986784" cy="4114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993000" y="2080260"/>
            <a:ext cx="429946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 meters, both measured.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78892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Write the sum with the correct precision.</a:t>
            </a:r>
          </a:p>
        </p:txBody>
      </p:sp>
      <p:pic>
        <p:nvPicPr>
          <p:cNvPr id="11" name="Picture 10" descr="9677988c74c08a0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18422" y="3508579"/>
            <a:ext cx="2499360" cy="26822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263558" y="3917011"/>
            <a:ext cx="977156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2,500 stops at the hundreds place, so round to hundreds:  3,000</a:t>
            </a:r>
          </a:p>
        </p:txBody>
      </p:sp>
      <p:pic>
        <p:nvPicPr>
          <p:cNvPr id="13" name="Picture 12" descr="1b2a94b567e4496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18422" y="4493083"/>
            <a:ext cx="2130552" cy="31089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77240" y="4991431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3.0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3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 m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9456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How many significant digits are in  0.03080 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28608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29400" y="28608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35466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35466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552519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0312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How many significant digits are in  0.03080 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54399" y="2728291"/>
            <a:ext cx="504046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Leading zeros do not count:  0.0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54399" y="3231211"/>
            <a:ext cx="738988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3, 0, 8 and the final 0 count:  4 significant digits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A — 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3716" y="2171700"/>
            <a:ext cx="389281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A rectangle measures  </a:t>
            </a:r>
          </a:p>
        </p:txBody>
      </p:sp>
      <p:pic>
        <p:nvPicPr>
          <p:cNvPr id="9" name="Picture 8" descr="bdf46868d006cd9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9372" y="2229612"/>
            <a:ext cx="1420368" cy="34137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729740" y="2171700"/>
            <a:ext cx="155604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cm by  </a:t>
            </a:r>
          </a:p>
        </p:txBody>
      </p:sp>
      <p:pic>
        <p:nvPicPr>
          <p:cNvPr id="11" name="Picture 10" descr="4ada1bcfda5f9a8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48624" y="2229612"/>
            <a:ext cx="1639824" cy="34137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788448" y="2171700"/>
            <a:ext cx="95651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cm.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88036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Which is the area, to the correct significant digits?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35466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26.1 × 10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4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 cm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29400" y="35466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2.6 × 10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5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 cm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19" y="42324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2.6 × 10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4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 cm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29400" y="42324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2.61 × 10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5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 cm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5238319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2192" y="2080260"/>
            <a:ext cx="389281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A rectangle measures  </a:t>
            </a:r>
          </a:p>
        </p:txBody>
      </p:sp>
      <p:pic>
        <p:nvPicPr>
          <p:cNvPr id="9" name="Picture 8" descr="1aaeee8bfa6e844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7848" y="2138171"/>
            <a:ext cx="1423416" cy="34137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731264" y="2080260"/>
            <a:ext cx="155604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cm by  </a:t>
            </a:r>
          </a:p>
        </p:txBody>
      </p:sp>
      <p:pic>
        <p:nvPicPr>
          <p:cNvPr id="11" name="Picture 10" descr="ba0b2a6dbe833f8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50148" y="2138171"/>
            <a:ext cx="1639824" cy="34137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789972" y="2080260"/>
            <a:ext cx="95651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cm.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78892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Which is the area, to the correct significant digits?</a:t>
            </a:r>
          </a:p>
        </p:txBody>
      </p:sp>
      <p:pic>
        <p:nvPicPr>
          <p:cNvPr id="14" name="Picture 13" descr="7be216ecf24c5d8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46669" y="3536011"/>
            <a:ext cx="2029968" cy="21336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776637" y="3414091"/>
            <a:ext cx="132004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   and   </a:t>
            </a:r>
          </a:p>
        </p:txBody>
      </p:sp>
      <p:pic>
        <p:nvPicPr>
          <p:cNvPr id="16" name="Picture 15" descr="6dc7d095c18b426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59526" y="3511627"/>
            <a:ext cx="1859280" cy="262128"/>
          </a:xfrm>
          <a:prstGeom prst="rect">
            <a:avLst/>
          </a:prstGeom>
        </p:spPr>
      </p:pic>
      <p:pic>
        <p:nvPicPr>
          <p:cNvPr id="17" name="Picture 16" descr="35eed8d154d098e1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746669" y="3990163"/>
            <a:ext cx="2602992" cy="310896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2691805" y="4419931"/>
            <a:ext cx="584522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Keep 2 significant digits (6.0 has 2):   </a:t>
            </a:r>
          </a:p>
        </p:txBody>
      </p:sp>
      <p:pic>
        <p:nvPicPr>
          <p:cNvPr id="19" name="Picture 18" descr="9b8a502d8aaa20ea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399866" y="4520515"/>
            <a:ext cx="1069848" cy="256032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777240" y="4991431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B — 2.6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5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 cm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2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39605" y="2171700"/>
            <a:ext cx="242184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A car travels  </a:t>
            </a:r>
          </a:p>
        </p:txBody>
      </p:sp>
      <p:pic>
        <p:nvPicPr>
          <p:cNvPr id="9" name="Picture 8" descr="b5f5674feeb41d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24287" y="2229612"/>
            <a:ext cx="1661160" cy="34137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585447" y="2171700"/>
            <a:ext cx="307362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km in  3.0  hours.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880360"/>
            <a:ext cx="1060704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180" b="0" i="0">
                <a:solidFill>
                  <a:srgbClr val="1A1A1A"/>
                </a:solidFill>
                <a:latin typeface="Lexend"/>
              </a:rPr>
              <a:t>What is its average speed, to the right number of significant digits?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39605" y="2080260"/>
            <a:ext cx="242184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A car travels  </a:t>
            </a:r>
          </a:p>
        </p:txBody>
      </p:sp>
      <p:pic>
        <p:nvPicPr>
          <p:cNvPr id="9" name="Picture 8" descr="4947c0dc47f86ab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24287" y="2138171"/>
            <a:ext cx="1661160" cy="34137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585447" y="2080260"/>
            <a:ext cx="307362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km in  3.0  hours.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788920"/>
            <a:ext cx="1060704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180" b="0" i="0">
                <a:solidFill>
                  <a:srgbClr val="1A1A1A"/>
                </a:solidFill>
                <a:latin typeface="Lexend"/>
              </a:rPr>
              <a:t>What is its average speed, to the right number of significant digits?</a:t>
            </a:r>
          </a:p>
        </p:txBody>
      </p:sp>
      <p:pic>
        <p:nvPicPr>
          <p:cNvPr id="12" name="Picture 11" descr="b7f3f89b7670fbc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35366" y="3482340"/>
            <a:ext cx="1981199" cy="21336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2580502" y="3863339"/>
            <a:ext cx="607697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3.0 has 2 significant digits, so keep 2:   </a:t>
            </a:r>
          </a:p>
        </p:txBody>
      </p:sp>
      <p:pic>
        <p:nvPicPr>
          <p:cNvPr id="14" name="Picture 13" descr="a617e99eac0e996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20313" y="3960876"/>
            <a:ext cx="1063752" cy="26212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1.4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2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 km/h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9456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A measured length times a measured width gives an area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56207" y="2746579"/>
            <a:ext cx="72506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of  </a:t>
            </a:r>
          </a:p>
        </p:txBody>
      </p:sp>
      <p:pic>
        <p:nvPicPr>
          <p:cNvPr id="10" name="Picture 9" descr="66c8c788a53acfd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44112" y="2806015"/>
            <a:ext cx="1392936" cy="33832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837048" y="2746579"/>
            <a:ext cx="456188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m</a:t>
            </a:r>
            <a:r>
              <a:rPr sz="2470" b="0" i="0" baseline="30000">
                <a:solidFill>
                  <a:srgbClr val="1A1A1A"/>
                </a:solidFill>
                <a:latin typeface="Lexend"/>
              </a:rPr>
              <a:t>2</a:t>
            </a:r>
            <a:r>
              <a:rPr sz="2470" b="0" i="0">
                <a:solidFill>
                  <a:srgbClr val="1A1A1A"/>
                </a:solidFill>
                <a:latin typeface="Lexend"/>
              </a:rPr>
              <a:t>. The length measured  </a:t>
            </a:r>
          </a:p>
        </p:txBody>
      </p:sp>
      <p:pic>
        <p:nvPicPr>
          <p:cNvPr id="12" name="Picture 11" descr="e3528be3edfa664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61773" y="2804491"/>
            <a:ext cx="1402080" cy="34137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9663853" y="2746579"/>
            <a:ext cx="77861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m.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3455239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What did the width measure, to two significant digits?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0312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A measured length times a measured width gives an area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54683" y="2655139"/>
            <a:ext cx="72506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of  </a:t>
            </a:r>
          </a:p>
        </p:txBody>
      </p:sp>
      <p:pic>
        <p:nvPicPr>
          <p:cNvPr id="10" name="Picture 9" descr="96dda91be14bb1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42588" y="2714575"/>
            <a:ext cx="1395984" cy="33832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838572" y="2655139"/>
            <a:ext cx="456188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m</a:t>
            </a:r>
            <a:r>
              <a:rPr sz="2470" b="0" i="0" baseline="30000">
                <a:solidFill>
                  <a:srgbClr val="1A1A1A"/>
                </a:solidFill>
                <a:latin typeface="Lexend"/>
              </a:rPr>
              <a:t>2</a:t>
            </a:r>
            <a:r>
              <a:rPr sz="2470" b="0" i="0">
                <a:solidFill>
                  <a:srgbClr val="1A1A1A"/>
                </a:solidFill>
                <a:latin typeface="Lexend"/>
              </a:rPr>
              <a:t>. The length measured  </a:t>
            </a:r>
          </a:p>
        </p:txBody>
      </p:sp>
      <p:pic>
        <p:nvPicPr>
          <p:cNvPr id="12" name="Picture 11" descr="b0f75faad513fd6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63297" y="2713051"/>
            <a:ext cx="1402080" cy="34137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9665377" y="2655139"/>
            <a:ext cx="77861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m.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3363799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What did the width measure, to two significant digits?</a:t>
            </a:r>
          </a:p>
        </p:txBody>
      </p:sp>
      <p:pic>
        <p:nvPicPr>
          <p:cNvPr id="15" name="Picture 14" descr="90203440ac2af94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46025" y="4059074"/>
            <a:ext cx="2377440" cy="316992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3291161" y="4528466"/>
            <a:ext cx="442095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Two significant digits:   </a:t>
            </a:r>
          </a:p>
        </p:txBody>
      </p:sp>
      <p:pic>
        <p:nvPicPr>
          <p:cNvPr id="17" name="Picture 16" descr="83b7c76269977cf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74958" y="4604666"/>
            <a:ext cx="1301496" cy="30480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77240" y="5099966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4.0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1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 m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9456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Ellis says: 1,234 has 4 significant digits and 5.6 has 2,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85004" y="2746579"/>
            <a:ext cx="213354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so the sum  </a:t>
            </a:r>
          </a:p>
        </p:txBody>
      </p:sp>
      <p:pic>
        <p:nvPicPr>
          <p:cNvPr id="10" name="Picture 9" descr="6cd48108d25e51b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81386" y="2801443"/>
            <a:ext cx="1798320" cy="34747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179706" y="2746579"/>
            <a:ext cx="423471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must be written with 2:  </a:t>
            </a:r>
          </a:p>
        </p:txBody>
      </p:sp>
      <p:pic>
        <p:nvPicPr>
          <p:cNvPr id="12" name="Picture 11" descr="ebc5deb6b2afefa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77265" y="2806015"/>
            <a:ext cx="1350264" cy="33832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0627529" y="2746579"/>
            <a:ext cx="28614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3455239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Explain why he is wrong, and give the correct sum.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Write your answer in sentences.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0312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Ellis says: 1,234 has 4 significant digits and 5.6 has 2,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85004" y="2655139"/>
            <a:ext cx="213354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so the sum  </a:t>
            </a:r>
          </a:p>
        </p:txBody>
      </p:sp>
      <p:pic>
        <p:nvPicPr>
          <p:cNvPr id="10" name="Picture 9" descr="a72db1300e8221a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81386" y="2708479"/>
            <a:ext cx="1795272" cy="3505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176658" y="2655139"/>
            <a:ext cx="423471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must be written with 2:  </a:t>
            </a:r>
          </a:p>
        </p:txBody>
      </p:sp>
      <p:pic>
        <p:nvPicPr>
          <p:cNvPr id="12" name="Picture 11" descr="127604dc103a684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74217" y="2714575"/>
            <a:ext cx="1353312" cy="33832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0627529" y="2655139"/>
            <a:ext cx="28614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3363799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Explain why he is wrong, and give the correct sum.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99219" y="3988970"/>
            <a:ext cx="772004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Adding uses decimal places, not a count of digits.</a:t>
            </a:r>
          </a:p>
        </p:txBody>
      </p:sp>
      <p:pic>
        <p:nvPicPr>
          <p:cNvPr id="16" name="Picture 15" descr="d1e6d085c4e19a3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54083" y="4586378"/>
            <a:ext cx="2596896" cy="268224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1999219" y="4994810"/>
            <a:ext cx="830024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1,234 stops at the ones place, so round to ones:  1,240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556631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1,240 = 1.240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3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Independent Set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499019"/>
            <a:ext cx="548640" cy="37768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810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499019"/>
            <a:ext cx="6001785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How many significant digits are in  6,030  grams?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1966953"/>
            <a:ext cx="548640" cy="37768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810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1966953"/>
            <a:ext cx="6343588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How many significant digits are in  0.00710  meters?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2434888"/>
            <a:ext cx="548640" cy="37768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810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2434888"/>
            <a:ext cx="2901426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A rectangle measures  </a:t>
            </a:r>
          </a:p>
        </p:txBody>
      </p:sp>
      <p:pic>
        <p:nvPicPr>
          <p:cNvPr id="14" name="Picture 13" descr="7d17691463990a5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18746" y="2509166"/>
            <a:ext cx="954289" cy="22913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5273035" y="2434888"/>
            <a:ext cx="1063721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  m by  </a:t>
            </a:r>
          </a:p>
        </p:txBody>
      </p:sp>
      <p:pic>
        <p:nvPicPr>
          <p:cNvPr id="16" name="Picture 15" descr="35e387f60425e7c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99596" y="2509166"/>
            <a:ext cx="1072630" cy="22913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7272227" y="2434888"/>
            <a:ext cx="3961306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  m. Find its area, to the correct 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54480" y="2802238"/>
            <a:ext cx="3518640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number of significant digits.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3270172"/>
            <a:ext cx="548640" cy="37768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810" b="1" i="0">
                <a:solidFill>
                  <a:srgbClr val="0B5394"/>
                </a:solidFill>
                <a:latin typeface="Lexend"/>
              </a:rPr>
              <a:t>4.</a:t>
            </a:r>
          </a:p>
        </p:txBody>
      </p:sp>
      <p:pic>
        <p:nvPicPr>
          <p:cNvPr id="20" name="Picture 19" descr="2f8ec9a9220ceb3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27632" y="3323048"/>
            <a:ext cx="2696684" cy="271934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4324316" y="3270172"/>
            <a:ext cx="6831265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  meters, both measured. Write the sum with the correct 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54480" y="3637522"/>
            <a:ext cx="1329440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precision.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0120" y="4105457"/>
            <a:ext cx="548640" cy="37768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810" b="1" i="0">
                <a:solidFill>
                  <a:srgbClr val="0B5394"/>
                </a:solidFill>
                <a:latin typeface="Lexend"/>
              </a:rPr>
              <a:t>5.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54480" y="4105457"/>
            <a:ext cx="1826459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A car travels  </a:t>
            </a:r>
          </a:p>
        </p:txBody>
      </p:sp>
      <p:pic>
        <p:nvPicPr>
          <p:cNvPr id="25" name="Picture 24" descr="d28efaf6c4b6b0d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43779" y="4179735"/>
            <a:ext cx="1080184" cy="22913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4323963" y="4105457"/>
            <a:ext cx="6869881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  km in  4.0  hours. Find its average speed, to the correct 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54480" y="4472807"/>
            <a:ext cx="3518640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number of significant digits.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0120" y="4940741"/>
            <a:ext cx="548640" cy="37768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810" b="1" i="0">
                <a:solidFill>
                  <a:srgbClr val="0B5394"/>
                </a:solidFill>
                <a:latin typeface="Lexend"/>
              </a:rPr>
              <a:t>6.</a:t>
            </a:r>
          </a:p>
        </p:txBody>
      </p:sp>
      <p:pic>
        <p:nvPicPr>
          <p:cNvPr id="29" name="Picture 28" descr="f68f597f3be75e82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627632" y="4991100"/>
            <a:ext cx="2913225" cy="276970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4540857" y="4940741"/>
            <a:ext cx="6571740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  grams, both measured. Write the difference with the 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54480" y="5308092"/>
            <a:ext cx="2233056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correct precision.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IXL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82880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82880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Open IXL and start today's skills.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33172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331720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Work on paper where the question needs work. The answer box does not show 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319125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3191256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Every skill listed is required, to a SmartScore of 67. Due at the start of the next class.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4096511"/>
            <a:ext cx="10241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1A1A1A"/>
                </a:solidFill>
                <a:latin typeface="Lexend"/>
              </a:rPr>
              <a:t>Today's skills — all required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4507992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Add, subtract, multiply, and divide numbers written in scientific notation: word problems — D5S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