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image" Target="../media/image74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Relationship Id="rId7" Type="http://schemas.openxmlformats.org/officeDocument/2006/relationships/image" Target="../media/image93.png"/><Relationship Id="rId8" Type="http://schemas.openxmlformats.org/officeDocument/2006/relationships/image" Target="../media/image9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multiply and divide two numbers written in scientific notation, and write the answer in scientific notation.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2664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170176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1" name="Picture 10" descr="164f8cc2081518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99871" cy="6461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900172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3" name="Picture 12" descr="1cd87bae707e9a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33700"/>
            <a:ext cx="844296" cy="3901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3579876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5" name="Picture 14" descr="fe7c9d77350b9e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35680"/>
            <a:ext cx="451104" cy="5455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ffd4838a463a73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502664"/>
            <a:ext cx="3087624" cy="3322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45185" y="1440180"/>
            <a:ext cx="143654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6.2 × 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70176"/>
            <a:ext cx="3678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Write as one power:  </a:t>
            </a:r>
          </a:p>
        </p:txBody>
      </p:sp>
      <p:pic>
        <p:nvPicPr>
          <p:cNvPr id="12" name="Picture 11" descr="164f8cc2081518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911" y="2075688"/>
            <a:ext cx="499871" cy="646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64423" y="2052828"/>
            <a:ext cx="6821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10</a:t>
            </a:r>
            <a:r>
              <a:rPr sz="218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900172"/>
            <a:ext cx="29303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Find the value:  </a:t>
            </a:r>
          </a:p>
        </p:txBody>
      </p:sp>
      <p:pic>
        <p:nvPicPr>
          <p:cNvPr id="15" name="Picture 14" descr="1cd87bae707e9a4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711" y="2933700"/>
            <a:ext cx="844296" cy="3901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60647" y="2900172"/>
            <a:ext cx="5491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79876"/>
            <a:ext cx="33832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Find the quotient:  </a:t>
            </a:r>
          </a:p>
        </p:txBody>
      </p:sp>
      <p:pic>
        <p:nvPicPr>
          <p:cNvPr id="18" name="Picture 17" descr="fe7c9d77350b9ea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18" y="3535680"/>
            <a:ext cx="451104" cy="54559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120362" y="3512820"/>
            <a:ext cx="3841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product of powers law</a:t>
            </a:r>
          </a:p>
        </p:txBody>
      </p:sp>
      <p:pic>
        <p:nvPicPr>
          <p:cNvPr id="9" name="Picture 8" descr="50a410785dbdd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53370"/>
            <a:ext cx="2935224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78224" y="1869550"/>
            <a:ext cx="30076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the law from 3.01,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54182"/>
            <a:ext cx="576419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now doing the work on the powers of 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8969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quotient of powers law</a:t>
            </a:r>
          </a:p>
        </p:txBody>
      </p:sp>
      <p:pic>
        <p:nvPicPr>
          <p:cNvPr id="13" name="Picture 12" descr="5b8488cf2680dc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419060"/>
            <a:ext cx="2176272" cy="701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9272" y="3540980"/>
            <a:ext cx="44544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— top minus bottom, from 3.02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2126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0B5394"/>
                </a:solidFill>
                <a:latin typeface="Lexend"/>
              </a:rPr>
              <a:t>regrouping a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27779"/>
            <a:ext cx="81730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using the commutative and associative properties to write</a:t>
            </a:r>
          </a:p>
        </p:txBody>
      </p:sp>
      <p:pic>
        <p:nvPicPr>
          <p:cNvPr id="17" name="Picture 16" descr="030f336ef028bc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38319"/>
            <a:ext cx="2810256" cy="40538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953256" y="5212411"/>
            <a:ext cx="68075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090" b="0" i="0">
                <a:solidFill>
                  <a:srgbClr val="1A1A1A"/>
                </a:solidFill>
                <a:latin typeface="Lexend"/>
              </a:rPr>
              <a:t> as </a:t>
            </a:r>
          </a:p>
        </p:txBody>
      </p:sp>
      <p:pic>
        <p:nvPicPr>
          <p:cNvPr id="19" name="Picture 18" descr="b19aa5f8730d72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6849" y="5238319"/>
            <a:ext cx="2627376" cy="4053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Multiplying: regroup, then use the laws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24f6cc700f6311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112" y="1993392"/>
            <a:ext cx="7321295" cy="414528"/>
          </a:xfrm>
          <a:prstGeom prst="rect">
            <a:avLst/>
          </a:prstGeom>
        </p:spPr>
      </p:pic>
      <p:pic>
        <p:nvPicPr>
          <p:cNvPr id="11" name="Picture 10" descr="d894b08558ca6c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4387" y="2717292"/>
            <a:ext cx="1100328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94715" y="2659380"/>
            <a:ext cx="19477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,    never    </a:t>
            </a:r>
          </a:p>
        </p:txBody>
      </p:sp>
      <p:pic>
        <p:nvPicPr>
          <p:cNvPr id="13" name="Picture 12" descr="f59bf4b41a85edb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260" y="2717292"/>
            <a:ext cx="1261872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32047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efa08aa797f44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380" y="1993392"/>
            <a:ext cx="5318760" cy="798576"/>
          </a:xfrm>
          <a:prstGeom prst="rect">
            <a:avLst/>
          </a:prstGeom>
        </p:spPr>
      </p:pic>
      <p:pic>
        <p:nvPicPr>
          <p:cNvPr id="11" name="Picture 10" descr="44f28ecf0a9cf88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3066288"/>
            <a:ext cx="5193792" cy="7955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20014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040551c03da2c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268" y="1993392"/>
            <a:ext cx="6348984" cy="414528"/>
          </a:xfrm>
          <a:prstGeom prst="rect">
            <a:avLst/>
          </a:prstGeom>
        </p:spPr>
      </p:pic>
      <p:pic>
        <p:nvPicPr>
          <p:cNvPr id="11" name="Picture 10" descr="acee3a8d1b6720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580" y="2682240"/>
            <a:ext cx="5928360" cy="8016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822191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c7ebac9815df25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104643"/>
            <a:ext cx="32826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5f7ed4f25353c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72656" cy="408432"/>
          </a:xfrm>
          <a:prstGeom prst="rect">
            <a:avLst/>
          </a:prstGeom>
        </p:spPr>
      </p:pic>
      <p:pic>
        <p:nvPicPr>
          <p:cNvPr id="9" name="Picture 8" descr="54ffb222fc56be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1609344" cy="338328"/>
          </a:xfrm>
          <a:prstGeom prst="rect">
            <a:avLst/>
          </a:prstGeom>
        </p:spPr>
      </p:pic>
      <p:pic>
        <p:nvPicPr>
          <p:cNvPr id="10" name="Picture 9" descr="bb053a1b635793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15640"/>
            <a:ext cx="3108960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2.7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a28d7c387e5fd6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816312d3d4d789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27" y="1600200"/>
            <a:ext cx="40934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Multiply.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505" y="3204574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04263b59ab134a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695" y="3326494"/>
            <a:ext cx="1414272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02505" y="3707494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2e6e8e2b001e1a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862" y="3805030"/>
            <a:ext cx="1981199" cy="262128"/>
          </a:xfrm>
          <a:prstGeom prst="rect">
            <a:avLst/>
          </a:prstGeom>
        </p:spPr>
      </p:pic>
      <p:pic>
        <p:nvPicPr>
          <p:cNvPr id="14" name="Picture 13" descr="52d05dcb8358be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7369" y="4310998"/>
            <a:ext cx="2173224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78191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99e2cda0670996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2103120"/>
            <a:ext cx="3163824" cy="868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4747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e1f7b5cd77abb9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58512" cy="414528"/>
          </a:xfrm>
          <a:prstGeom prst="rect">
            <a:avLst/>
          </a:prstGeom>
        </p:spPr>
      </p:pic>
      <p:pic>
        <p:nvPicPr>
          <p:cNvPr id="9" name="Picture 8" descr="cef6ad8a508151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3102864" cy="801624"/>
          </a:xfrm>
          <a:prstGeom prst="rect">
            <a:avLst/>
          </a:prstGeom>
        </p:spPr>
      </p:pic>
      <p:pic>
        <p:nvPicPr>
          <p:cNvPr id="10" name="Picture 9" descr="06feb2f012fdd55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85031"/>
            <a:ext cx="3057144" cy="338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af033f99401fce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047" y="1600200"/>
            <a:ext cx="3773424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6065c2d5f71d0c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096" y="1600200"/>
            <a:ext cx="3767328" cy="10759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1790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Evaluate. Write the answer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4773" y="3768454"/>
            <a:ext cx="99677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Top:  </a:t>
            </a:r>
          </a:p>
        </p:txBody>
      </p:sp>
      <p:pic>
        <p:nvPicPr>
          <p:cNvPr id="11" name="Picture 10" descr="a056522f38be10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4393" y="3891898"/>
            <a:ext cx="1203960" cy="210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98353" y="376845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3" name="Picture 12" descr="d07cb81e712af3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242" y="3865990"/>
            <a:ext cx="1965960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234773" y="4271374"/>
            <a:ext cx="1427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Divide:  </a:t>
            </a:r>
          </a:p>
        </p:txBody>
      </p:sp>
      <p:pic>
        <p:nvPicPr>
          <p:cNvPr id="15" name="Picture 14" descr="5bba082eb9d248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169" y="4393294"/>
            <a:ext cx="1213104" cy="213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38273" y="4271374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7" name="Picture 16" descr="256bb6140aa7ae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162" y="4368910"/>
            <a:ext cx="2011680" cy="262128"/>
          </a:xfrm>
          <a:prstGeom prst="rect">
            <a:avLst/>
          </a:prstGeom>
        </p:spPr>
      </p:pic>
      <p:pic>
        <p:nvPicPr>
          <p:cNvPr id="18" name="Picture 17" descr="28b3729f21e06ae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9637" y="4871830"/>
            <a:ext cx="957072" cy="2621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7240" y="534579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71829a44e81d1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823" y="2196083"/>
            <a:ext cx="2785872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9a64fed63dd04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103120"/>
            <a:ext cx="2788920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23841" y="284225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0" name="Picture 9" descr="515cb46100c899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031" y="2964179"/>
            <a:ext cx="987552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23841" y="334517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2" name="Picture 11" descr="b08638df285abc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198" y="3442715"/>
            <a:ext cx="1941576" cy="262128"/>
          </a:xfrm>
          <a:prstGeom prst="rect">
            <a:avLst/>
          </a:prstGeom>
        </p:spPr>
      </p:pic>
      <p:pic>
        <p:nvPicPr>
          <p:cNvPr id="13" name="Picture 12" descr="f2052183a017b1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8705" y="3945635"/>
            <a:ext cx="93268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9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63d362095a3f347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44623"/>
            <a:ext cx="911352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4143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9fc66bb1f34c49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54224"/>
            <a:ext cx="1136904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8792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7455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printer makes  </a:t>
            </a:r>
          </a:p>
        </p:txBody>
      </p:sp>
      <p:pic>
        <p:nvPicPr>
          <p:cNvPr id="9" name="Picture 8" descr="e21453500b5879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1" y="1944623"/>
            <a:ext cx="914400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57191" y="1851660"/>
            <a:ext cx="272592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copies per hour.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64308"/>
            <a:ext cx="18846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 runs for  </a:t>
            </a:r>
          </a:p>
        </p:txBody>
      </p:sp>
      <p:pic>
        <p:nvPicPr>
          <p:cNvPr id="12" name="Picture 11" descr="dcfe01e2266e7d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88" y="2554224"/>
            <a:ext cx="1143000" cy="2773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24888" y="2464308"/>
            <a:ext cx="54811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hours. Paper costs 3 cents a sheet.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many copies does it make?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2609" y="3734926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6" name="Picture 15" descr="4841b499496deb7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799" y="3856846"/>
            <a:ext cx="1417320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72609" y="4237846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8" name="Picture 17" descr="a2fcaba2a23dd2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0966" y="4335382"/>
            <a:ext cx="1840991" cy="262128"/>
          </a:xfrm>
          <a:prstGeom prst="rect">
            <a:avLst/>
          </a:prstGeom>
        </p:spPr>
      </p:pic>
      <p:pic>
        <p:nvPicPr>
          <p:cNvPr id="19" name="Picture 18" descr="2a1f3e18aef4b3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7473" y="4838302"/>
            <a:ext cx="2127504" cy="2621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31226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aa8aaa91edd783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859" y="2194560"/>
            <a:ext cx="1447800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3b2db2bf563f5f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908" y="2103120"/>
            <a:ext cx="1441704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3725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68d052e64ee558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163" y="3345180"/>
            <a:ext cx="1481328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3725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93ba4e388683b6a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0226" y="3826763"/>
            <a:ext cx="1880616" cy="256032"/>
          </a:xfrm>
          <a:prstGeom prst="rect">
            <a:avLst/>
          </a:prstGeom>
        </p:spPr>
      </p:pic>
      <p:pic>
        <p:nvPicPr>
          <p:cNvPr id="13" name="Picture 12" descr="c6369a2a18532f7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8589" y="4329683"/>
            <a:ext cx="84734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ffdc47127232dd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276" y="2194560"/>
            <a:ext cx="164896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e0912071a11b6e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323" y="2103120"/>
            <a:ext cx="1642872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9425" y="3223260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b4106f1670f349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863" y="3345180"/>
            <a:ext cx="1865376" cy="213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89425" y="3726179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006020145e4625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926" y="3823716"/>
            <a:ext cx="2109216" cy="262128"/>
          </a:xfrm>
          <a:prstGeom prst="rect">
            <a:avLst/>
          </a:prstGeom>
        </p:spPr>
      </p:pic>
      <p:pic>
        <p:nvPicPr>
          <p:cNvPr id="13" name="Picture 12" descr="c559c147ffe46a9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289" y="4329683"/>
            <a:ext cx="2889504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06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8.2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-4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3853590bf4416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536" y="2196083"/>
            <a:ext cx="2822448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6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172da9cf6bf1b7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03120"/>
            <a:ext cx="282549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7745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441dd60a023e07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935" y="3540583"/>
            <a:ext cx="1021080" cy="2103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17745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579cc9c9ffeab5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102" y="4017595"/>
            <a:ext cx="1950720" cy="262128"/>
          </a:xfrm>
          <a:prstGeom prst="rect">
            <a:avLst/>
          </a:prstGeom>
        </p:spPr>
      </p:pic>
      <p:pic>
        <p:nvPicPr>
          <p:cNvPr id="14" name="Picture 13" descr="10c89d61f9e09d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2609" y="4520515"/>
            <a:ext cx="954023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8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811d128c9a4cb3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012" y="2196083"/>
            <a:ext cx="2825496" cy="408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20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 × 10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d3ea7b9b7f4f76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487" y="2103120"/>
            <a:ext cx="2828544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is the product, written in scientific notation?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2609" y="3417139"/>
            <a:ext cx="32203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Multiply the fronts:  </a:t>
            </a:r>
          </a:p>
        </p:txBody>
      </p:sp>
      <p:pic>
        <p:nvPicPr>
          <p:cNvPr id="11" name="Picture 10" descr="95ecba0795db8e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799" y="3539059"/>
            <a:ext cx="1197864" cy="21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72609" y="3920059"/>
            <a:ext cx="3315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Add the exponents:  </a:t>
            </a:r>
          </a:p>
        </p:txBody>
      </p:sp>
      <p:pic>
        <p:nvPicPr>
          <p:cNvPr id="13" name="Picture 12" descr="d8f8e59949bbed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966" y="4017595"/>
            <a:ext cx="1840991" cy="262128"/>
          </a:xfrm>
          <a:prstGeom prst="rect">
            <a:avLst/>
          </a:prstGeom>
        </p:spPr>
      </p:pic>
      <p:pic>
        <p:nvPicPr>
          <p:cNvPr id="14" name="Picture 13" descr="a7b20829de9c08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7473" y="4520515"/>
            <a:ext cx="2273808" cy="262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44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2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c4bdb38362d4e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583" y="2194560"/>
            <a:ext cx="1292352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117d387ca555e4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632" y="2103120"/>
            <a:ext cx="1286256" cy="801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437153" y="3229356"/>
            <a:ext cx="29915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Divide the fronts:  </a:t>
            </a:r>
          </a:p>
        </p:txBody>
      </p:sp>
      <p:pic>
        <p:nvPicPr>
          <p:cNvPr id="10" name="Picture 9" descr="e20244de15a0b9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591" y="3352800"/>
            <a:ext cx="996696" cy="2103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37153" y="3732275"/>
            <a:ext cx="40136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Subtract the exponents:  </a:t>
            </a:r>
          </a:p>
        </p:txBody>
      </p:sp>
      <p:pic>
        <p:nvPicPr>
          <p:cNvPr id="12" name="Picture 11" descr="03a763d23ef38bc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654" y="3829812"/>
            <a:ext cx="3416808" cy="262128"/>
          </a:xfrm>
          <a:prstGeom prst="rect">
            <a:avLst/>
          </a:prstGeom>
        </p:spPr>
      </p:pic>
      <p:pic>
        <p:nvPicPr>
          <p:cNvPr id="13" name="Picture 12" descr="9b9b4517e7c627d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2017" y="4332732"/>
            <a:ext cx="917448" cy="2621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80669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15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dfc728df3a4406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94560"/>
            <a:ext cx="3310128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3241548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3366516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3241548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594e88537557ce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172" y="2103120"/>
            <a:ext cx="3313176" cy="795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34140" y="3150108"/>
            <a:ext cx="351744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What is the value of </a:t>
            </a:r>
          </a:p>
        </p:txBody>
      </p:sp>
      <p:pic>
        <p:nvPicPr>
          <p:cNvPr id="10" name="Picture 9" descr="f14fce7cf077cd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421" y="3275076"/>
            <a:ext cx="176784" cy="2072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91205" y="3150108"/>
            <a:ext cx="4733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0887" y="3909059"/>
            <a:ext cx="16400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Fronts:  </a:t>
            </a:r>
          </a:p>
        </p:txBody>
      </p:sp>
      <p:pic>
        <p:nvPicPr>
          <p:cNvPr id="13" name="Picture 12" descr="e920add2c6370e5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799" y="4011168"/>
            <a:ext cx="1834896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78695" y="3909059"/>
            <a:ext cx="13382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,   so   </a:t>
            </a:r>
          </a:p>
        </p:txBody>
      </p:sp>
      <p:pic>
        <p:nvPicPr>
          <p:cNvPr id="15" name="Picture 14" descr="8691e6c5c0ab487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9768" y="4011168"/>
            <a:ext cx="2346960" cy="25298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40887" y="4602480"/>
            <a:ext cx="1601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Check:  </a:t>
            </a:r>
          </a:p>
        </p:txBody>
      </p:sp>
      <p:pic>
        <p:nvPicPr>
          <p:cNvPr id="17" name="Picture 16" descr="dedb3e2327f40b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5232" y="4471416"/>
            <a:ext cx="3002280" cy="719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32790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 =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9107" y="1816608"/>
            <a:ext cx="9301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60ccdbf7926155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134" y="1645920"/>
            <a:ext cx="1554480" cy="798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6614" y="1816608"/>
            <a:ext cx="2811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7f9ab9ea310fee8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708" y="1876044"/>
            <a:ext cx="1441704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59724" y="2695956"/>
            <a:ext cx="2929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48b4bb2456d355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115" y="2753868"/>
            <a:ext cx="1249680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40461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0631" y="1816608"/>
            <a:ext cx="9301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For  </a:t>
            </a:r>
          </a:p>
        </p:txBody>
      </p:sp>
      <p:pic>
        <p:nvPicPr>
          <p:cNvPr id="9" name="Picture 8" descr="eb274165a95bfc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658" y="1645920"/>
            <a:ext cx="1548384" cy="798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92042" y="1816608"/>
            <a:ext cx="28112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Marcus writes  </a:t>
            </a:r>
          </a:p>
        </p:txBody>
      </p:sp>
      <p:pic>
        <p:nvPicPr>
          <p:cNvPr id="11" name="Picture 10" descr="031963a342c3fd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6136" y="1876044"/>
            <a:ext cx="144475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058200" y="2695956"/>
            <a:ext cx="29295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and Sara writes  </a:t>
            </a:r>
          </a:p>
        </p:txBody>
      </p:sp>
      <p:pic>
        <p:nvPicPr>
          <p:cNvPr id="13" name="Picture 12" descr="f762cb430573f29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591" y="2753868"/>
            <a:ext cx="1252728" cy="34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340461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180" b="0" i="0">
                <a:solidFill>
                  <a:srgbClr val="1A1A1A"/>
                </a:solidFill>
                <a:latin typeface="Lexend"/>
              </a:rPr>
              <a:t>Name what each one did wrong, and give the correct quotient.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20736" y="3976115"/>
            <a:ext cx="88572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Marcus subtracted the fronts. Sara added the exponents.</a:t>
            </a:r>
          </a:p>
        </p:txBody>
      </p:sp>
      <p:pic>
        <p:nvPicPr>
          <p:cNvPr id="16" name="Picture 15" descr="da3880d2244724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5600" y="4600956"/>
            <a:ext cx="1496568" cy="213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272168" y="4479035"/>
            <a:ext cx="13200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   and   </a:t>
            </a:r>
          </a:p>
        </p:txBody>
      </p:sp>
      <p:pic>
        <p:nvPicPr>
          <p:cNvPr id="18" name="Picture 17" descr="e5d4b81feea7d9a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5057" y="4576572"/>
            <a:ext cx="1972056" cy="262128"/>
          </a:xfrm>
          <a:prstGeom prst="rect">
            <a:avLst/>
          </a:prstGeom>
        </p:spPr>
      </p:pic>
      <p:pic>
        <p:nvPicPr>
          <p:cNvPr id="19" name="Picture 18" descr="9fe0ce93fe0b7e9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5600" y="5082539"/>
            <a:ext cx="841248" cy="2560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555345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3 × 10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pic>
        <p:nvPicPr>
          <p:cNvPr id="9" name="Picture 8" descr="6e0be8365ac4f5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559051"/>
            <a:ext cx="2292096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0120" y="2205227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pic>
        <p:nvPicPr>
          <p:cNvPr id="11" name="Picture 10" descr="62a20c5f23ea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7632" y="2112263"/>
            <a:ext cx="1167384" cy="6431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0120" y="291541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pic>
        <p:nvPicPr>
          <p:cNvPr id="13" name="Picture 12" descr="d61c32ba4971b57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2977895"/>
            <a:ext cx="2407920" cy="332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3625595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pic>
        <p:nvPicPr>
          <p:cNvPr id="15" name="Picture 14" descr="8867f8a3b1816d8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632" y="3532631"/>
            <a:ext cx="1155192" cy="6431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60120" y="4454651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pic>
        <p:nvPicPr>
          <p:cNvPr id="17" name="Picture 16" descr="b725906188c6ae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7632" y="4358639"/>
            <a:ext cx="1060704" cy="6492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60120" y="51678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67883"/>
            <a:ext cx="9130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</a:t>
            </a:r>
          </a:p>
        </p:txBody>
      </p:sp>
      <p:pic>
        <p:nvPicPr>
          <p:cNvPr id="20" name="Picture 19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0372" y="5312664"/>
            <a:ext cx="146304" cy="1676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476676" y="5167883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2" name="Picture 21" descr="d7bf46933a52690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1626" y="5228844"/>
            <a:ext cx="3621024" cy="3352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Multiply numbers written in scientific notation — YZU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