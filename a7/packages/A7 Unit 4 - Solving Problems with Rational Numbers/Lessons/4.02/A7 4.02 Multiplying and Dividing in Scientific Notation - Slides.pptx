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Relationship Id="rId7" Type="http://schemas.openxmlformats.org/officeDocument/2006/relationships/image" Target="../media/image3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image" Target="../media/image4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5.png"/><Relationship Id="rId3" Type="http://schemas.openxmlformats.org/officeDocument/2006/relationships/image" Target="../media/image56.png"/><Relationship Id="rId4" Type="http://schemas.openxmlformats.org/officeDocument/2006/relationships/image" Target="../media/image57.png"/><Relationship Id="rId5" Type="http://schemas.openxmlformats.org/officeDocument/2006/relationships/image" Target="../media/image5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0.png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1.png"/><Relationship Id="rId3" Type="http://schemas.openxmlformats.org/officeDocument/2006/relationships/image" Target="../media/image70.png"/><Relationship Id="rId4" Type="http://schemas.openxmlformats.org/officeDocument/2006/relationships/image" Target="../media/image72.png"/><Relationship Id="rId5" Type="http://schemas.openxmlformats.org/officeDocument/2006/relationships/image" Target="../media/image73.png"/><Relationship Id="rId6" Type="http://schemas.openxmlformats.org/officeDocument/2006/relationships/image" Target="../media/image7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5.png"/><Relationship Id="rId3" Type="http://schemas.openxmlformats.org/officeDocument/2006/relationships/image" Target="../media/image76.png"/><Relationship Id="rId4" Type="http://schemas.openxmlformats.org/officeDocument/2006/relationships/image" Target="../media/image7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8.png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image" Target="../media/image85.png"/><Relationship Id="rId4" Type="http://schemas.openxmlformats.org/officeDocument/2006/relationships/image" Target="../media/image86.png"/><Relationship Id="rId5" Type="http://schemas.openxmlformats.org/officeDocument/2006/relationships/image" Target="../media/image87.png"/><Relationship Id="rId6" Type="http://schemas.openxmlformats.org/officeDocument/2006/relationships/image" Target="../media/image88.png"/><Relationship Id="rId7" Type="http://schemas.openxmlformats.org/officeDocument/2006/relationships/image" Target="../media/image89.png"/><Relationship Id="rId8" Type="http://schemas.openxmlformats.org/officeDocument/2006/relationships/image" Target="../media/image9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21488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420" b="0" i="0">
                <a:solidFill>
                  <a:srgbClr val="6B6B6B"/>
                </a:solidFill>
                <a:latin typeface="Lexend"/>
              </a:rPr>
              <a:t>GRADE 7 ACCELERATED  ·  UNIT 4  ·  LESSONS 2–3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5054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229" b="1" i="0">
                <a:solidFill>
                  <a:srgbClr val="1A1A1A"/>
                </a:solidFill>
                <a:latin typeface="Lexend"/>
              </a:rPr>
              <a:t>Multiplying and Dividing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7124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7947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9593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20" b="1" i="0">
                <a:solidFill>
                  <a:srgbClr val="1A1A1A"/>
                </a:solidFill>
                <a:latin typeface="Lexend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810" b="0" i="0">
                <a:solidFill>
                  <a:srgbClr val="1A1A1A"/>
                </a:solidFill>
                <a:latin typeface="Lexend"/>
              </a:rPr>
              <a:t>I can multiply and divide two numbers written in scientific notation, and write the answer in scientific notation.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1" name="Picture 10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3" name="Picture 12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5" name="Picture 14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19" y="1440180"/>
            <a:ext cx="6715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1.   </a:t>
            </a:r>
          </a:p>
        </p:txBody>
      </p:sp>
      <p:pic>
        <p:nvPicPr>
          <p:cNvPr id="9" name="Picture 8" descr="ffd4838a463a73e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921" y="1502664"/>
            <a:ext cx="3087624" cy="3322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045185" y="1440180"/>
            <a:ext cx="143654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6.2 × 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170176"/>
            <a:ext cx="3678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2.   Write as one power:  </a:t>
            </a:r>
          </a:p>
        </p:txBody>
      </p:sp>
      <p:pic>
        <p:nvPicPr>
          <p:cNvPr id="12" name="Picture 11" descr="164f8cc2081518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15911" y="2075688"/>
            <a:ext cx="499871" cy="646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464423" y="2052828"/>
            <a:ext cx="6821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10</a:t>
            </a:r>
            <a:r>
              <a:rPr sz="218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00172"/>
            <a:ext cx="29303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3.   Find the value:  </a:t>
            </a:r>
          </a:p>
        </p:txBody>
      </p:sp>
      <p:pic>
        <p:nvPicPr>
          <p:cNvPr id="15" name="Picture 14" descr="1cd87bae707e9a4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711" y="2933700"/>
            <a:ext cx="844296" cy="39014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060647" y="2900172"/>
            <a:ext cx="54916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579876"/>
            <a:ext cx="338325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4.   Find the quotient:  </a:t>
            </a:r>
          </a:p>
        </p:txBody>
      </p:sp>
      <p:pic>
        <p:nvPicPr>
          <p:cNvPr id="18" name="Picture 17" descr="fe7c9d77350b9ea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18" y="3535680"/>
            <a:ext cx="451104" cy="54559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120362" y="3512820"/>
            <a:ext cx="38416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1" i="0">
                <a:solidFill>
                  <a:srgbClr val="9E1B32"/>
                </a:solidFill>
                <a:latin typeface="Lexend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I.  Multiplying: regroup, then use the laws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4f6cc700f63110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0112" y="1993392"/>
            <a:ext cx="7321295" cy="414528"/>
          </a:xfrm>
          <a:prstGeom prst="rect">
            <a:avLst/>
          </a:prstGeom>
        </p:spPr>
      </p:pic>
      <p:pic>
        <p:nvPicPr>
          <p:cNvPr id="11" name="Picture 10" descr="d894b08558ca6ca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387" y="2717292"/>
            <a:ext cx="1100328" cy="34137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094715" y="2659380"/>
            <a:ext cx="19477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,    never    </a:t>
            </a:r>
          </a:p>
        </p:txBody>
      </p:sp>
      <p:pic>
        <p:nvPicPr>
          <p:cNvPr id="13" name="Picture 12" descr="f59bf4b41a85ed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5260" y="2717292"/>
            <a:ext cx="1261872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3432047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Multiply the coefficients. Add the exponents — that is the product of powers law, not a new rule.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II.  Dividing: the same move with the quotient law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5efa08aa797f449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1380" y="1993392"/>
            <a:ext cx="5318760" cy="798576"/>
          </a:xfrm>
          <a:prstGeom prst="rect">
            <a:avLst/>
          </a:prstGeom>
        </p:spPr>
      </p:pic>
      <p:pic>
        <p:nvPicPr>
          <p:cNvPr id="11" name="Picture 10" descr="44f28ecf0a9cf8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3864" y="3066288"/>
            <a:ext cx="5193792" cy="795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420014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Divide the coefficients. Subtract the exponents, top minus bottom.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389888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80" b="1" i="0">
                <a:solidFill>
                  <a:srgbClr val="1A1A1A"/>
                </a:solidFill>
                <a:latin typeface="Lexend"/>
              </a:rPr>
              <a:t>III.  Finish the answer — both directions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1828800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040551c03da2cd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6268" y="1993392"/>
            <a:ext cx="6348984" cy="414528"/>
          </a:xfrm>
          <a:prstGeom prst="rect">
            <a:avLst/>
          </a:prstGeom>
        </p:spPr>
      </p:pic>
      <p:pic>
        <p:nvPicPr>
          <p:cNvPr id="11" name="Picture 10" descr="acee3a8d1b67208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6580" y="2682240"/>
            <a:ext cx="5928360" cy="801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822191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80" b="1" i="0">
                <a:solidFill>
                  <a:srgbClr val="1A1A1A"/>
                </a:solidFill>
                <a:latin typeface="Lexend"/>
              </a:rPr>
              <a:t>Every answer ends with a coefficient at least 1 and less than 10.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7</a:t>
            </a:r>
          </a:p>
        </p:txBody>
      </p:sp>
      <p:pic>
        <p:nvPicPr>
          <p:cNvPr id="8" name="Picture 7" descr="c7ebac9815df250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412" y="2104643"/>
            <a:ext cx="32826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8</a:t>
            </a:r>
          </a:p>
        </p:txBody>
      </p:sp>
      <p:pic>
        <p:nvPicPr>
          <p:cNvPr id="8" name="Picture 7" descr="25f7ed4f25353ce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6772656" cy="408432"/>
          </a:xfrm>
          <a:prstGeom prst="rect">
            <a:avLst/>
          </a:prstGeom>
        </p:spPr>
      </p:pic>
      <p:pic>
        <p:nvPicPr>
          <p:cNvPr id="9" name="Picture 8" descr="54ffb222fc56be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2992"/>
            <a:ext cx="1609344" cy="338328"/>
          </a:xfrm>
          <a:prstGeom prst="rect">
            <a:avLst/>
          </a:prstGeom>
        </p:spPr>
      </p:pic>
      <p:pic>
        <p:nvPicPr>
          <p:cNvPr id="10" name="Picture 9" descr="bb053a1b6357935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15640"/>
            <a:ext cx="3108960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2.7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9</a:t>
            </a:r>
          </a:p>
        </p:txBody>
      </p:sp>
      <p:pic>
        <p:nvPicPr>
          <p:cNvPr id="8" name="Picture 7" descr="a28d7c387e5fd6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10</a:t>
            </a:r>
          </a:p>
        </p:txBody>
      </p:sp>
      <p:pic>
        <p:nvPicPr>
          <p:cNvPr id="8" name="Picture 7" descr="816312d3d4d789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4027" y="1600200"/>
            <a:ext cx="4093464" cy="5120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615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Multiply.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2505" y="3204574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04263b59ab134a8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5695" y="3326494"/>
            <a:ext cx="1414272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02505" y="3707494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2e6e8e2b001e1a7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0862" y="3805030"/>
            <a:ext cx="1981199" cy="262128"/>
          </a:xfrm>
          <a:prstGeom prst="rect">
            <a:avLst/>
          </a:prstGeom>
        </p:spPr>
      </p:pic>
      <p:pic>
        <p:nvPicPr>
          <p:cNvPr id="14" name="Picture 13" descr="52d05dcb8358be37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57369" y="4310998"/>
            <a:ext cx="2173224" cy="2560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78191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11</a:t>
            </a:r>
          </a:p>
        </p:txBody>
      </p:sp>
      <p:pic>
        <p:nvPicPr>
          <p:cNvPr id="8" name="Picture 7" descr="99e2cda0670996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8848" y="2103120"/>
            <a:ext cx="3163824" cy="8686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4747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12</a:t>
            </a:r>
          </a:p>
        </p:txBody>
      </p:sp>
      <p:pic>
        <p:nvPicPr>
          <p:cNvPr id="8" name="Picture 7" descr="e1f7b5cd77abb9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858512" cy="414528"/>
          </a:xfrm>
          <a:prstGeom prst="rect">
            <a:avLst/>
          </a:prstGeom>
        </p:spPr>
      </p:pic>
      <p:pic>
        <p:nvPicPr>
          <p:cNvPr id="9" name="Picture 8" descr="cef6ad8a508151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3102864" cy="801624"/>
          </a:xfrm>
          <a:prstGeom prst="rect">
            <a:avLst/>
          </a:prstGeom>
        </p:spPr>
      </p:pic>
      <p:pic>
        <p:nvPicPr>
          <p:cNvPr id="10" name="Picture 9" descr="06feb2f012fdd55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685031"/>
            <a:ext cx="3057144" cy="3383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13</a:t>
            </a:r>
          </a:p>
        </p:txBody>
      </p:sp>
      <p:pic>
        <p:nvPicPr>
          <p:cNvPr id="8" name="Picture 7" descr="af033f99401fce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4047" y="1600200"/>
            <a:ext cx="3773424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14</a:t>
            </a:r>
          </a:p>
        </p:txBody>
      </p:sp>
      <p:pic>
        <p:nvPicPr>
          <p:cNvPr id="8" name="Picture 7" descr="6065c2d5f71d0c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7096" y="1600200"/>
            <a:ext cx="3767328" cy="10759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31790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280" b="1" i="0">
                <a:solidFill>
                  <a:srgbClr val="1A1A1A"/>
                </a:solidFill>
                <a:latin typeface="Lexend"/>
              </a:rPr>
              <a:t>Evaluate. Write the answer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34773" y="3768454"/>
            <a:ext cx="9967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Top:  </a:t>
            </a:r>
          </a:p>
        </p:txBody>
      </p:sp>
      <p:pic>
        <p:nvPicPr>
          <p:cNvPr id="11" name="Picture 10" descr="a056522f38be108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4393" y="3891898"/>
            <a:ext cx="120396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298353" y="376845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3" name="Picture 12" descr="d07cb81e712af3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1242" y="3865990"/>
            <a:ext cx="1965960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234773" y="4271374"/>
            <a:ext cx="142755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Divide:  </a:t>
            </a:r>
          </a:p>
        </p:txBody>
      </p:sp>
      <p:pic>
        <p:nvPicPr>
          <p:cNvPr id="15" name="Picture 14" descr="5bba082eb9d2489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25169" y="4393294"/>
            <a:ext cx="1213104" cy="21336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738273" y="4271374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7" name="Picture 16" descr="256bb6140aa7aee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21162" y="4368910"/>
            <a:ext cx="2011680" cy="262128"/>
          </a:xfrm>
          <a:prstGeom prst="rect">
            <a:avLst/>
          </a:prstGeom>
        </p:spPr>
      </p:pic>
      <p:pic>
        <p:nvPicPr>
          <p:cNvPr id="18" name="Picture 17" descr="28b3729f21e06a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289637" y="4871830"/>
            <a:ext cx="957072" cy="2621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777240" y="534579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15</a:t>
            </a:r>
          </a:p>
        </p:txBody>
      </p:sp>
      <p:pic>
        <p:nvPicPr>
          <p:cNvPr id="8" name="Picture 7" descr="71829a44e81d106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7823" y="2196083"/>
            <a:ext cx="2785872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16</a:t>
            </a:r>
          </a:p>
        </p:txBody>
      </p:sp>
      <p:pic>
        <p:nvPicPr>
          <p:cNvPr id="8" name="Picture 7" descr="9a64fed63dd040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03120"/>
            <a:ext cx="2788920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523841" y="284225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0" name="Picture 9" descr="515cb46100c8992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031" y="2964179"/>
            <a:ext cx="987552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523841" y="334517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2" name="Picture 11" descr="b08638df285abcb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2198" y="3442715"/>
            <a:ext cx="1941576" cy="262128"/>
          </a:xfrm>
          <a:prstGeom prst="rect">
            <a:avLst/>
          </a:prstGeom>
        </p:spPr>
      </p:pic>
      <p:pic>
        <p:nvPicPr>
          <p:cNvPr id="13" name="Picture 12" descr="f2052183a017b13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8705" y="3945635"/>
            <a:ext cx="93268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9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63d362095a3f34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1352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4143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9fc66bb1f34c491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36904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18792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51660"/>
            <a:ext cx="274551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A printer makes  </a:t>
            </a:r>
          </a:p>
        </p:txBody>
      </p:sp>
      <p:pic>
        <p:nvPicPr>
          <p:cNvPr id="9" name="Picture 8" descr="e21453500b5879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791" y="1944623"/>
            <a:ext cx="914400" cy="2712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57191" y="1851660"/>
            <a:ext cx="272592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copies per hour.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64308"/>
            <a:ext cx="188460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It runs for  </a:t>
            </a:r>
          </a:p>
        </p:txBody>
      </p:sp>
      <p:pic>
        <p:nvPicPr>
          <p:cNvPr id="12" name="Picture 11" descr="dcfe01e2266e7d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81888" y="2554224"/>
            <a:ext cx="1143000" cy="27736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124888" y="2464308"/>
            <a:ext cx="548113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280" b="0" i="0">
                <a:solidFill>
                  <a:srgbClr val="1A1A1A"/>
                </a:solidFill>
                <a:latin typeface="Lexend"/>
              </a:rPr>
              <a:t>  hours. Paper costs 3 cents a sheet.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3099816"/>
            <a:ext cx="1005840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How many copies does it make?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72609" y="3734926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6" name="Picture 15" descr="4841b499496deb7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55799" y="3856846"/>
            <a:ext cx="1417320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572609" y="4237846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8" name="Picture 17" descr="a2fcaba2a23dd20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0966" y="4335382"/>
            <a:ext cx="1840991" cy="262128"/>
          </a:xfrm>
          <a:prstGeom prst="rect">
            <a:avLst/>
          </a:prstGeom>
        </p:spPr>
      </p:pic>
      <p:pic>
        <p:nvPicPr>
          <p:cNvPr id="19" name="Picture 18" descr="2a1f3e18aef4b3d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7473" y="4838302"/>
            <a:ext cx="2127504" cy="2621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31226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19</a:t>
            </a:r>
          </a:p>
        </p:txBody>
      </p:sp>
      <p:pic>
        <p:nvPicPr>
          <p:cNvPr id="8" name="Picture 7" descr="aa8aaa91edd783f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6859" y="2194560"/>
            <a:ext cx="1447800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20</a:t>
            </a:r>
          </a:p>
        </p:txBody>
      </p:sp>
      <p:pic>
        <p:nvPicPr>
          <p:cNvPr id="8" name="Picture 7" descr="3b2db2bf563f5f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59908" y="2103120"/>
            <a:ext cx="1441704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2037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68d052e64ee5583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8163" y="3345180"/>
            <a:ext cx="1481328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2037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93ba4e388683b6a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26" y="3826763"/>
            <a:ext cx="1880616" cy="256032"/>
          </a:xfrm>
          <a:prstGeom prst="rect">
            <a:avLst/>
          </a:prstGeom>
        </p:spPr>
      </p:pic>
      <p:pic>
        <p:nvPicPr>
          <p:cNvPr id="13" name="Picture 12" descr="c6369a2a18532f7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58589" y="4329683"/>
            <a:ext cx="84734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21</a:t>
            </a:r>
          </a:p>
        </p:txBody>
      </p:sp>
      <p:pic>
        <p:nvPicPr>
          <p:cNvPr id="8" name="Picture 7" descr="ffdc47127232dd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6276" y="2194560"/>
            <a:ext cx="164896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22</a:t>
            </a:r>
          </a:p>
        </p:txBody>
      </p:sp>
      <p:pic>
        <p:nvPicPr>
          <p:cNvPr id="8" name="Picture 7" descr="e0912071a11b6e8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323" y="2103120"/>
            <a:ext cx="1642872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089425" y="3223260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b4106f1670f349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863" y="3345180"/>
            <a:ext cx="1865376" cy="2133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089425" y="3726179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06020145e46252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5926" y="3823716"/>
            <a:ext cx="2109216" cy="262128"/>
          </a:xfrm>
          <a:prstGeom prst="rect">
            <a:avLst/>
          </a:prstGeom>
        </p:spPr>
      </p:pic>
      <p:pic>
        <p:nvPicPr>
          <p:cNvPr id="13" name="Picture 12" descr="c559c147ffe46a9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44289" y="4329683"/>
            <a:ext cx="2889504" cy="2560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06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8.2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-4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23</a:t>
            </a:r>
          </a:p>
        </p:txBody>
      </p:sp>
      <p:pic>
        <p:nvPicPr>
          <p:cNvPr id="8" name="Picture 7" descr="3853590bf44167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9536" y="2196083"/>
            <a:ext cx="2822448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63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8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6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24</a:t>
            </a:r>
          </a:p>
        </p:txBody>
      </p:sp>
      <p:pic>
        <p:nvPicPr>
          <p:cNvPr id="8" name="Picture 7" descr="172da9cf6bf1b71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03120"/>
            <a:ext cx="2825496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745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441dd60a023e07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0935" y="3540583"/>
            <a:ext cx="1021080" cy="21031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17745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579cc9c9ffeab55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6102" y="4017595"/>
            <a:ext cx="1950720" cy="262128"/>
          </a:xfrm>
          <a:prstGeom prst="rect">
            <a:avLst/>
          </a:prstGeom>
        </p:spPr>
      </p:pic>
      <p:pic>
        <p:nvPicPr>
          <p:cNvPr id="14" name="Picture 13" descr="10c89d61f9e09d4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72609" y="4520515"/>
            <a:ext cx="954023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C — 8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25</a:t>
            </a:r>
          </a:p>
        </p:txBody>
      </p:sp>
      <p:pic>
        <p:nvPicPr>
          <p:cNvPr id="8" name="Picture 7" descr="811d128c9a4cb37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8012" y="2196083"/>
            <a:ext cx="2825496" cy="408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8803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A.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35466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B.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C.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20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4232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280" b="1" i="0">
                <a:solidFill>
                  <a:srgbClr val="1A1A1A"/>
                </a:solidFill>
                <a:latin typeface="Lexend"/>
              </a:rPr>
              <a:t>D.   </a:t>
            </a:r>
            <a:r>
              <a:rPr sz="2280" b="0" i="0">
                <a:solidFill>
                  <a:srgbClr val="1A1A1A"/>
                </a:solidFill>
                <a:latin typeface="Lexend"/>
              </a:rPr>
              <a:t>2 × 10</a:t>
            </a:r>
            <a:r>
              <a:rPr sz="2280" b="0" i="0" baseline="30000">
                <a:solidFill>
                  <a:srgbClr val="1A1A1A"/>
                </a:solidFill>
                <a:latin typeface="Lexend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23831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26</a:t>
            </a:r>
          </a:p>
        </p:txBody>
      </p:sp>
      <p:pic>
        <p:nvPicPr>
          <p:cNvPr id="8" name="Picture 7" descr="d3ea7b9b7f4f766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6487" y="2103120"/>
            <a:ext cx="2828544" cy="414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0" i="0">
                <a:solidFill>
                  <a:srgbClr val="1A1A1A"/>
                </a:solidFill>
                <a:latin typeface="Lexend"/>
              </a:rPr>
              <a:t>Which is the product, written in scientific notation?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72609" y="3417139"/>
            <a:ext cx="322034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Multiply the fronts:  </a:t>
            </a:r>
          </a:p>
        </p:txBody>
      </p:sp>
      <p:pic>
        <p:nvPicPr>
          <p:cNvPr id="11" name="Picture 10" descr="95ecba0795db8e3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5799" y="3539059"/>
            <a:ext cx="1197864" cy="2133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572609" y="3920059"/>
            <a:ext cx="33155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Add the exponents:  </a:t>
            </a:r>
          </a:p>
        </p:txBody>
      </p:sp>
      <p:pic>
        <p:nvPicPr>
          <p:cNvPr id="13" name="Picture 12" descr="d8f8e59949bbed4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50966" y="4017595"/>
            <a:ext cx="1840991" cy="262128"/>
          </a:xfrm>
          <a:prstGeom prst="rect">
            <a:avLst/>
          </a:prstGeom>
        </p:spPr>
      </p:pic>
      <p:pic>
        <p:nvPicPr>
          <p:cNvPr id="14" name="Picture 13" descr="a7b20829de9c08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27473" y="4520515"/>
            <a:ext cx="2273808" cy="2621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77240" y="499447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D — 2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27</a:t>
            </a:r>
          </a:p>
        </p:txBody>
      </p:sp>
      <p:pic>
        <p:nvPicPr>
          <p:cNvPr id="8" name="Picture 7" descr="c4bdb38362d4ed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4583" y="2194560"/>
            <a:ext cx="1292352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28</a:t>
            </a:r>
          </a:p>
        </p:txBody>
      </p:sp>
      <p:pic>
        <p:nvPicPr>
          <p:cNvPr id="8" name="Picture 7" descr="117d387ca555e4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7632" y="2103120"/>
            <a:ext cx="1286256" cy="80162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437153" y="3229356"/>
            <a:ext cx="29915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Divide the fronts:  </a:t>
            </a:r>
          </a:p>
        </p:txBody>
      </p:sp>
      <p:pic>
        <p:nvPicPr>
          <p:cNvPr id="10" name="Picture 9" descr="e20244de15a0b9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91591" y="3352800"/>
            <a:ext cx="996696" cy="2103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437153" y="3732275"/>
            <a:ext cx="40136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Subtract the exponents:  </a:t>
            </a:r>
          </a:p>
        </p:txBody>
      </p:sp>
      <p:pic>
        <p:nvPicPr>
          <p:cNvPr id="12" name="Picture 11" descr="03a763d23ef38bc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3654" y="3829812"/>
            <a:ext cx="3416808" cy="262128"/>
          </a:xfrm>
          <a:prstGeom prst="rect">
            <a:avLst/>
          </a:prstGeom>
        </p:spPr>
      </p:pic>
      <p:pic>
        <p:nvPicPr>
          <p:cNvPr id="13" name="Picture 12" descr="9b9b4517e7c627d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92017" y="4332732"/>
            <a:ext cx="917448" cy="2621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480669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1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15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29</a:t>
            </a:r>
          </a:p>
        </p:txBody>
      </p:sp>
      <p:pic>
        <p:nvPicPr>
          <p:cNvPr id="8" name="Picture 7" descr="dfc728df3a4406c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5696" y="2194560"/>
            <a:ext cx="3310128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24154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36651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24154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Answer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30</a:t>
            </a:r>
          </a:p>
        </p:txBody>
      </p:sp>
      <p:pic>
        <p:nvPicPr>
          <p:cNvPr id="8" name="Picture 7" descr="594e88537557ceb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4172" y="2103120"/>
            <a:ext cx="3313176" cy="7955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34140" y="3150108"/>
            <a:ext cx="351744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What is the value of </a:t>
            </a:r>
          </a:p>
        </p:txBody>
      </p:sp>
      <p:pic>
        <p:nvPicPr>
          <p:cNvPr id="10" name="Picture 9" descr="f14fce7cf077cd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421" y="3275076"/>
            <a:ext cx="176784" cy="2072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691205" y="3150108"/>
            <a:ext cx="4733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887" y="3909059"/>
            <a:ext cx="16400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Fronts:  </a:t>
            </a:r>
          </a:p>
        </p:txBody>
      </p:sp>
      <p:pic>
        <p:nvPicPr>
          <p:cNvPr id="13" name="Picture 12" descr="e920add2c6370e5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799" y="4011168"/>
            <a:ext cx="1834896" cy="25298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978695" y="3909059"/>
            <a:ext cx="133823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,   so   </a:t>
            </a:r>
          </a:p>
        </p:txBody>
      </p:sp>
      <p:pic>
        <p:nvPicPr>
          <p:cNvPr id="15" name="Picture 14" descr="8691e6c5c0ab487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9768" y="4011168"/>
            <a:ext cx="2346960" cy="25298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40887" y="4602480"/>
            <a:ext cx="160150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750" b="0" i="0">
                <a:solidFill>
                  <a:srgbClr val="1A1A1A"/>
                </a:solidFill>
                <a:latin typeface="Lexend"/>
              </a:rPr>
              <a:t>Check:  </a:t>
            </a:r>
          </a:p>
        </p:txBody>
      </p:sp>
      <p:pic>
        <p:nvPicPr>
          <p:cNvPr id="17" name="Picture 16" descr="dedb3e2327f40b6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05232" y="4471416"/>
            <a:ext cx="3002280" cy="7193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40" y="5327904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n = 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9107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60ccdbf79261551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2134" y="1645920"/>
            <a:ext cx="1554480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6614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7f9ab9ea310fee8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70708" y="1876044"/>
            <a:ext cx="1441704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9724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48b4bb2456d355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2115" y="2753868"/>
            <a:ext cx="1249680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70" b="1" i="0">
                <a:solidFill>
                  <a:srgbClr val="1A1A1A"/>
                </a:solidFill>
                <a:latin typeface="Lexend"/>
              </a:rPr>
              <a:t>Write your answer in sentences.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229" b="1" i="0">
                <a:solidFill>
                  <a:srgbClr val="1A1A1A"/>
                </a:solidFill>
                <a:latin typeface="Lexend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50631" y="1816608"/>
            <a:ext cx="93018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For  </a:t>
            </a:r>
          </a:p>
        </p:txBody>
      </p:sp>
      <p:pic>
        <p:nvPicPr>
          <p:cNvPr id="9" name="Picture 8" descr="eb274165a95bfc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658" y="1645920"/>
            <a:ext cx="1548384" cy="79857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92042" y="1816608"/>
            <a:ext cx="28112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  Marcus writes  </a:t>
            </a:r>
          </a:p>
        </p:txBody>
      </p:sp>
      <p:pic>
        <p:nvPicPr>
          <p:cNvPr id="11" name="Picture 10" descr="031963a342c3fd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6136" y="1876044"/>
            <a:ext cx="1444752" cy="3383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058200" y="2695956"/>
            <a:ext cx="29295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470" b="0" i="0">
                <a:solidFill>
                  <a:srgbClr val="1A1A1A"/>
                </a:solidFill>
                <a:latin typeface="Lexend"/>
              </a:rPr>
              <a:t>and Sara writes  </a:t>
            </a:r>
          </a:p>
        </p:txBody>
      </p:sp>
      <p:pic>
        <p:nvPicPr>
          <p:cNvPr id="13" name="Picture 12" descr="f762cb430573f29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0591" y="2753868"/>
            <a:ext cx="1252728" cy="3413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77240" y="3404616"/>
            <a:ext cx="1060704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180" b="0" i="0">
                <a:solidFill>
                  <a:srgbClr val="1A1A1A"/>
                </a:solidFill>
                <a:latin typeface="Lexend"/>
              </a:rPr>
              <a:t>Name what each one did wrong, and give the correct quotient.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20736" y="3976115"/>
            <a:ext cx="88572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Marcus subtracted the fronts. Sara added the exponents.</a:t>
            </a:r>
          </a:p>
        </p:txBody>
      </p:sp>
      <p:pic>
        <p:nvPicPr>
          <p:cNvPr id="16" name="Picture 15" descr="da3880d22447243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75600" y="4600956"/>
            <a:ext cx="1496568" cy="21336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3272168" y="4479035"/>
            <a:ext cx="13200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30" b="0" i="0">
                <a:solidFill>
                  <a:srgbClr val="1A1A1A"/>
                </a:solidFill>
                <a:latin typeface="Lexend"/>
              </a:rPr>
              <a:t>   and   </a:t>
            </a:r>
          </a:p>
        </p:txBody>
      </p:sp>
      <p:pic>
        <p:nvPicPr>
          <p:cNvPr id="18" name="Picture 17" descr="e5d4b81feea7d9a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55057" y="4576572"/>
            <a:ext cx="1972056" cy="262128"/>
          </a:xfrm>
          <a:prstGeom prst="rect">
            <a:avLst/>
          </a:prstGeom>
        </p:spPr>
      </p:pic>
      <p:pic>
        <p:nvPicPr>
          <p:cNvPr id="19" name="Picture 18" descr="9fe0ce93fe0b7e9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75600" y="5082539"/>
            <a:ext cx="841248" cy="25603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77240" y="5553456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40" b="1" i="0">
                <a:solidFill>
                  <a:srgbClr val="9E1B32"/>
                </a:solidFill>
                <a:latin typeface="Lexend"/>
              </a:rPr>
              <a:t>Answer:   3 × 10</a:t>
            </a:r>
            <a:r>
              <a:rPr sz="3040" b="1" i="0" baseline="30000">
                <a:solidFill>
                  <a:srgbClr val="9E1B32"/>
                </a:solidFill>
                <a:latin typeface="Lexend"/>
              </a:rPr>
              <a:t>8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49504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pic>
        <p:nvPicPr>
          <p:cNvPr id="9" name="Picture 8" descr="6e0be8365ac4f5b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632" y="1559051"/>
            <a:ext cx="2292096" cy="3291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60120" y="2205227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pic>
        <p:nvPicPr>
          <p:cNvPr id="11" name="Picture 10" descr="62a20c5f23ea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632" y="2112263"/>
            <a:ext cx="1167384" cy="6431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60120" y="291541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pic>
        <p:nvPicPr>
          <p:cNvPr id="13" name="Picture 12" descr="d61c32ba4971b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2977895"/>
            <a:ext cx="2407920" cy="332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0120" y="3625595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4.</a:t>
            </a:r>
          </a:p>
        </p:txBody>
      </p:sp>
      <p:pic>
        <p:nvPicPr>
          <p:cNvPr id="15" name="Picture 14" descr="8867f8a3b1816d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27632" y="3532631"/>
            <a:ext cx="1155192" cy="6431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60120" y="4454651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5.</a:t>
            </a:r>
          </a:p>
        </p:txBody>
      </p:sp>
      <p:pic>
        <p:nvPicPr>
          <p:cNvPr id="17" name="Picture 16" descr="b725906188c6ae1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27632" y="4358639"/>
            <a:ext cx="1060704" cy="64922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60120" y="5167883"/>
            <a:ext cx="54864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80" b="1" i="0">
                <a:solidFill>
                  <a:srgbClr val="0B5394"/>
                </a:solidFill>
                <a:latin typeface="Lexend"/>
              </a:rPr>
              <a:t>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167883"/>
            <a:ext cx="9130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Find </a:t>
            </a:r>
          </a:p>
        </p:txBody>
      </p:sp>
      <p:pic>
        <p:nvPicPr>
          <p:cNvPr id="20" name="Picture 19" descr="6d78c2be12150bf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30372" y="5312664"/>
            <a:ext cx="146304" cy="1676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2476676" y="5167883"/>
            <a:ext cx="44211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180" b="0" i="0">
                <a:solidFill>
                  <a:srgbClr val="1A1A1A"/>
                </a:solidFill>
                <a:latin typeface="Lexend"/>
              </a:rPr>
              <a:t>.  </a:t>
            </a:r>
          </a:p>
        </p:txBody>
      </p:sp>
      <p:pic>
        <p:nvPicPr>
          <p:cNvPr id="22" name="Picture 21" descr="d7bf46933a52690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81626" y="5228844"/>
            <a:ext cx="3621024" cy="33528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20" b="1" i="0">
                <a:solidFill>
                  <a:srgbClr val="1A1A1A"/>
                </a:solidFill>
                <a:latin typeface="Lexend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40" b="0" i="0">
                <a:solidFill>
                  <a:srgbClr val="6B6B6B"/>
                </a:solidFill>
                <a:latin typeface="Lexend"/>
              </a:rPr>
              <a:t>Grade 7 Accelerated · Unit 4 · Lessons 2–3 — Multiplying and Dividing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040" b="0" i="0">
                <a:solidFill>
                  <a:srgbClr val="6B6B6B"/>
                </a:solidFill>
                <a:latin typeface="Lexend"/>
              </a:rPr>
              <a:t>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1.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Open IXL and start today's skills.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Work on paper where the question needs work. The answer box does not show it.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0B5394"/>
                </a:solidFill>
                <a:latin typeface="Lexend"/>
              </a:rPr>
              <a:t>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0" i="0">
                <a:solidFill>
                  <a:srgbClr val="1A1A1A"/>
                </a:solidFill>
                <a:latin typeface="Lexend"/>
              </a:rPr>
              <a:t>Every skill listed is required, to a SmartScore of 67. Due at the start of the next class.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89" b="1" i="0">
                <a:solidFill>
                  <a:srgbClr val="1A1A1A"/>
                </a:solidFill>
                <a:latin typeface="Lexend"/>
              </a:rPr>
              <a:t>Today's skills — all required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Multiply numbers written in scientific notation — YZU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810" b="0" i="0">
                <a:solidFill>
                  <a:srgbClr val="1A1A1A"/>
                </a:solidFill>
                <a:latin typeface="Lexend"/>
              </a:rPr>
              <a:t>Divide numbers written in scientific notation — SGT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