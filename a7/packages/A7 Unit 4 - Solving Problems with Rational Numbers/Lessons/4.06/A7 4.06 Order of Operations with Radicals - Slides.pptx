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68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Order of Operations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evaluate a multi-step expression with rational numbers, exponents and radicals by reading its structure.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380cdbfed5fb5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473708"/>
            <a:ext cx="1118616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690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many significant digits are in  1.020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731008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2" name="Picture 11" descr="f3c8135f85cfec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688336"/>
            <a:ext cx="765048" cy="5425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409188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4" name="Picture 13" descr="8de25ca1bc5f4d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525012"/>
            <a:ext cx="1127760" cy="2255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380cdbfed5fb5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473708"/>
            <a:ext cx="1118616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76177" y="1440180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690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many significant digits are in  1.020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6387" y="2052828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731008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4" name="Picture 13" descr="f3c8135f85cfec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688336"/>
            <a:ext cx="765048" cy="5425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81399" y="2665476"/>
            <a:ext cx="7174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9/4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409188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7" name="Picture 16" descr="8de25ca1bc5f4d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525012"/>
            <a:ext cx="1127760" cy="2255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99357" y="3409188"/>
            <a:ext cx="386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grouping symbol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anything that holds part of an expression together and is finished first: parentheses, brackets, the radical bar and the fraction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1733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nested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4670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one grouping symbol inside another. The innermost one is finished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80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multi-step expression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07407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one that takes more than one operation to evaluate. Everything in this unit takes six steps or fewer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structure, not a mnemonic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103120" y="1993392"/>
          <a:ext cx="79552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2743200"/>
                <a:gridCol w="4572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Level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What it means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Grouping symbols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( ), [ ], the radical bar, the fraction bar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Powers and roots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the same level as each 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Multiply and divide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Add and subtract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420624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Innermost grouping symbol first, then 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Left to right means left to right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201d3ee15bc2b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347" y="2060448"/>
            <a:ext cx="300837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0723" y="1970532"/>
            <a:ext cx="1947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 never   </a:t>
            </a:r>
          </a:p>
        </p:txBody>
      </p:sp>
      <p:pic>
        <p:nvPicPr>
          <p:cNvPr id="12" name="Picture 11" descr="f0147313abe6d9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268" y="2060448"/>
            <a:ext cx="1517904" cy="277368"/>
          </a:xfrm>
          <a:prstGeom prst="rect">
            <a:avLst/>
          </a:prstGeom>
        </p:spPr>
      </p:pic>
      <p:pic>
        <p:nvPicPr>
          <p:cNvPr id="13" name="Picture 12" descr="0ee3a056470a44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139" y="2744724"/>
            <a:ext cx="3285744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57883" y="2656332"/>
            <a:ext cx="1947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 never   </a:t>
            </a:r>
          </a:p>
        </p:txBody>
      </p:sp>
      <p:pic>
        <p:nvPicPr>
          <p:cNvPr id="15" name="Picture 14" descr="b927c0f461bb71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8428" y="2746248"/>
            <a:ext cx="1520952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42900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Multiplication and division are one level. Addition and subtraction are one level. Left to right, both times.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fraction bar groups,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676b63d56095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372" y="1993392"/>
            <a:ext cx="2398776" cy="792480"/>
          </a:xfrm>
          <a:prstGeom prst="rect">
            <a:avLst/>
          </a:prstGeom>
        </p:spPr>
      </p:pic>
      <p:pic>
        <p:nvPicPr>
          <p:cNvPr id="11" name="Picture 10" descr="fb1e10d5d1f5e9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496" y="3060192"/>
            <a:ext cx="4986528" cy="847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2458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Finish the numerator and finish the denominator before you divide.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6b6fcd5e7b2e7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607" y="2103120"/>
            <a:ext cx="3956304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845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04e54fe9a1540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249424" cy="411480"/>
          </a:xfrm>
          <a:prstGeom prst="rect">
            <a:avLst/>
          </a:prstGeom>
        </p:spPr>
      </p:pic>
      <p:pic>
        <p:nvPicPr>
          <p:cNvPr id="9" name="Picture 8" descr="21bef9986283dc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6989064" cy="353568"/>
          </a:xfrm>
          <a:prstGeom prst="rect">
            <a:avLst/>
          </a:prstGeom>
        </p:spPr>
      </p:pic>
      <p:pic>
        <p:nvPicPr>
          <p:cNvPr id="10" name="Picture 9" descr="09e7e44a6e73f2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3928"/>
            <a:ext cx="291084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−1.44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47f83e2b495dac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952" y="1600200"/>
            <a:ext cx="4547616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974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aac90390d93a98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9" y="1600200"/>
            <a:ext cx="454152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974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5478" y="3286870"/>
            <a:ext cx="3085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Powers and roots:  </a:t>
            </a:r>
          </a:p>
        </p:txBody>
      </p:sp>
      <p:pic>
        <p:nvPicPr>
          <p:cNvPr id="11" name="Picture 10" descr="f6d02763ee13a4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84" y="3358498"/>
            <a:ext cx="1548384" cy="313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91968" y="3286870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3" name="Picture 12" descr="954e49d4ca9d85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4857" y="3331066"/>
            <a:ext cx="1091184" cy="3688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95478" y="3789790"/>
            <a:ext cx="39381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Inside the parentheses:  </a:t>
            </a:r>
          </a:p>
        </p:txBody>
      </p:sp>
      <p:pic>
        <p:nvPicPr>
          <p:cNvPr id="15" name="Picture 14" descr="e7c4e03b1a0743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444" y="3911710"/>
            <a:ext cx="2109216" cy="213360"/>
          </a:xfrm>
          <a:prstGeom prst="rect">
            <a:avLst/>
          </a:prstGeom>
        </p:spPr>
      </p:pic>
      <p:pic>
        <p:nvPicPr>
          <p:cNvPr id="16" name="Picture 15" descr="9835c37dc0133d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0342" y="4414630"/>
            <a:ext cx="3514344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6421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9.97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b808d9623aef05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731" y="2103120"/>
            <a:ext cx="2734056" cy="847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533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9aec3c395596e3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593848" cy="792480"/>
          </a:xfrm>
          <a:prstGeom prst="rect">
            <a:avLst/>
          </a:prstGeom>
        </p:spPr>
      </p:pic>
      <p:pic>
        <p:nvPicPr>
          <p:cNvPr id="9" name="Picture 8" descr="fd77386a9e66a3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87040"/>
            <a:ext cx="3694176" cy="789432"/>
          </a:xfrm>
          <a:prstGeom prst="rect">
            <a:avLst/>
          </a:prstGeom>
        </p:spPr>
      </p:pic>
      <p:pic>
        <p:nvPicPr>
          <p:cNvPr id="10" name="Picture 9" descr="69a6d692b4cc56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50791"/>
            <a:ext cx="1895856" cy="67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17855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−1/4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a0165d764fa847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1481328"/>
            <a:ext cx="3081528" cy="847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3159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93f2d6cae19f4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519" y="1481328"/>
            <a:ext cx="3078480" cy="847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3159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pic>
        <p:nvPicPr>
          <p:cNvPr id="10" name="Picture 9" descr="6565c690921d94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803" y="3443842"/>
            <a:ext cx="1810512" cy="609600"/>
          </a:xfrm>
          <a:prstGeom prst="rect">
            <a:avLst/>
          </a:prstGeom>
        </p:spPr>
      </p:pic>
      <p:pic>
        <p:nvPicPr>
          <p:cNvPr id="11" name="Picture 10" descr="a2173ad1551df9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803" y="4144882"/>
            <a:ext cx="3212592" cy="612648"/>
          </a:xfrm>
          <a:prstGeom prst="rect">
            <a:avLst/>
          </a:prstGeom>
        </p:spPr>
      </p:pic>
      <p:pic>
        <p:nvPicPr>
          <p:cNvPr id="12" name="Picture 11" descr="03d6a17384790a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803" y="4848970"/>
            <a:ext cx="1091184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49819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25a7622aecf1eb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287" y="2260092"/>
            <a:ext cx="1456944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36fd5fdafeb181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287" y="2168652"/>
            <a:ext cx="1456944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11726" y="2839212"/>
            <a:ext cx="26567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Left to right:  </a:t>
            </a:r>
          </a:p>
        </p:txBody>
      </p:sp>
      <p:pic>
        <p:nvPicPr>
          <p:cNvPr id="10" name="Picture 9" descr="12ac90fe8177c5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305" y="2941320"/>
            <a:ext cx="1621536" cy="252984"/>
          </a:xfrm>
          <a:prstGeom prst="rect">
            <a:avLst/>
          </a:prstGeom>
        </p:spPr>
      </p:pic>
      <p:pic>
        <p:nvPicPr>
          <p:cNvPr id="11" name="Picture 10" descr="58b50d1f788fe1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590" y="3480816"/>
            <a:ext cx="1478280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56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tile has side  </a:t>
            </a:r>
          </a:p>
        </p:txBody>
      </p:sp>
      <p:pic>
        <p:nvPicPr>
          <p:cNvPr id="9" name="Picture 8" descr="97c530a75d29d3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897" y="1885187"/>
            <a:ext cx="844296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7193" y="1851660"/>
            <a:ext cx="22114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diagonal is about 19.8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tile?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56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tile has side  </a:t>
            </a:r>
          </a:p>
        </p:txBody>
      </p:sp>
      <p:pic>
        <p:nvPicPr>
          <p:cNvPr id="9" name="Picture 8" descr="8dd3731dd90336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897" y="1885187"/>
            <a:ext cx="838200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1097" y="1851660"/>
            <a:ext cx="22114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diagonal is about 19.8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tile?</a:t>
            </a:r>
          </a:p>
        </p:txBody>
      </p:sp>
      <p:pic>
        <p:nvPicPr>
          <p:cNvPr id="13" name="Picture 12" descr="fe182c84c4bdb5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467" y="3684236"/>
            <a:ext cx="1642872" cy="4328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2603" y="4222208"/>
            <a:ext cx="22702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Perimeter:  </a:t>
            </a:r>
          </a:p>
        </p:txBody>
      </p:sp>
      <p:pic>
        <p:nvPicPr>
          <p:cNvPr id="15" name="Picture 14" descr="b92290561e20c8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668" y="4322792"/>
            <a:ext cx="1609344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79370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56 centimeters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7d69da8346cb7c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260092"/>
            <a:ext cx="1554480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9dc4fd86eed7f2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168652"/>
            <a:ext cx="1554480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57446" y="2839212"/>
            <a:ext cx="26567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Left to right:  </a:t>
            </a:r>
          </a:p>
        </p:txBody>
      </p:sp>
      <p:pic>
        <p:nvPicPr>
          <p:cNvPr id="10" name="Picture 9" descr="5215752a2994fd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025" y="2939796"/>
            <a:ext cx="1530096" cy="256032"/>
          </a:xfrm>
          <a:prstGeom prst="rect">
            <a:avLst/>
          </a:prstGeom>
        </p:spPr>
      </p:pic>
      <p:pic>
        <p:nvPicPr>
          <p:cNvPr id="11" name="Picture 10" descr="1f8367c1c48b43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310" y="3480816"/>
            <a:ext cx="1554480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2b230be022ca8b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591" y="2194560"/>
            <a:ext cx="1164336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0893d505426886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798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22680" y="3226307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0" name="Picture 9" descr="0f7f372429cfcb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300" y="3326891"/>
            <a:ext cx="248107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22680" y="3729227"/>
            <a:ext cx="15832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Bottom:  </a:t>
            </a:r>
          </a:p>
        </p:txBody>
      </p:sp>
      <p:pic>
        <p:nvPicPr>
          <p:cNvPr id="12" name="Picture 11" descr="d59a91b1f76472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791" y="3826763"/>
            <a:ext cx="2670048" cy="262128"/>
          </a:xfrm>
          <a:prstGeom prst="rect">
            <a:avLst/>
          </a:prstGeom>
        </p:spPr>
      </p:pic>
      <p:pic>
        <p:nvPicPr>
          <p:cNvPr id="13" name="Picture 12" descr="3d14f1f915bfc6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7544" y="4255007"/>
            <a:ext cx="807720" cy="515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0728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3/5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594d57048b4fb9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339" y="2229612"/>
            <a:ext cx="1386840" cy="341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53291355aab2c4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2138171"/>
            <a:ext cx="1389888" cy="341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490" y="3414091"/>
            <a:ext cx="20896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Power first:  </a:t>
            </a:r>
          </a:p>
        </p:txBody>
      </p:sp>
      <p:pic>
        <p:nvPicPr>
          <p:cNvPr id="11" name="Picture 10" descr="6bee3a4a6e9671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961" y="3513151"/>
            <a:ext cx="880872" cy="259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70490" y="3917011"/>
            <a:ext cx="24988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Then multiply:  </a:t>
            </a:r>
          </a:p>
        </p:txBody>
      </p:sp>
      <p:pic>
        <p:nvPicPr>
          <p:cNvPr id="13" name="Picture 12" descr="521cfcdc4e4431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205" y="4038931"/>
            <a:ext cx="1255776" cy="213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70490" y="4419931"/>
            <a:ext cx="18774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Then add:  </a:t>
            </a:r>
          </a:p>
        </p:txBody>
      </p:sp>
      <p:pic>
        <p:nvPicPr>
          <p:cNvPr id="15" name="Picture 14" descr="c52f3646b69457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795" y="4541851"/>
            <a:ext cx="1399032" cy="21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99143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266fcce5418af2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3" y="2194560"/>
            <a:ext cx="987552" cy="792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61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27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27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35.5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13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13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19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286b5294f6ed7d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032" y="2103120"/>
            <a:ext cx="981455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668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7658" y="3792043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1" name="Picture 10" descr="f5cf47236f59dc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77" y="3889579"/>
            <a:ext cx="2389632" cy="2621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57658" y="4294963"/>
            <a:ext cx="15832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Bottom:  </a:t>
            </a:r>
          </a:p>
        </p:txBody>
      </p:sp>
      <p:pic>
        <p:nvPicPr>
          <p:cNvPr id="13" name="Picture 12" descr="b8964d2fa5cae6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768" y="4397071"/>
            <a:ext cx="697992" cy="252984"/>
          </a:xfrm>
          <a:prstGeom prst="rect">
            <a:avLst/>
          </a:prstGeom>
        </p:spPr>
      </p:pic>
      <p:pic>
        <p:nvPicPr>
          <p:cNvPr id="14" name="Picture 13" descr="e3ce27ebfe1bfd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522" y="4919803"/>
            <a:ext cx="1219200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36938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6ce0d9f4982b69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3" y="2194560"/>
            <a:ext cx="1810512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74e67f9444e645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980" y="2103120"/>
            <a:ext cx="1813560" cy="411480"/>
          </a:xfrm>
          <a:prstGeom prst="rect">
            <a:avLst/>
          </a:prstGeom>
        </p:spPr>
      </p:pic>
      <p:pic>
        <p:nvPicPr>
          <p:cNvPr id="9" name="Picture 8" descr="068d9a19700e13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152" y="2938272"/>
            <a:ext cx="1066800" cy="25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21952" y="2839212"/>
            <a:ext cx="5234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  (the exponent is on the 2 only)</a:t>
            </a:r>
          </a:p>
        </p:txBody>
      </p:sp>
      <p:pic>
        <p:nvPicPr>
          <p:cNvPr id="11" name="Picture 10" descr="a8317bc2e11e2f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152" y="3413759"/>
            <a:ext cx="1115568" cy="313944"/>
          </a:xfrm>
          <a:prstGeom prst="rect">
            <a:avLst/>
          </a:prstGeom>
        </p:spPr>
      </p:pic>
      <p:pic>
        <p:nvPicPr>
          <p:cNvPr id="12" name="Picture 11" descr="ab059e2234c190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152" y="3966971"/>
            <a:ext cx="1252728" cy="2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f06e7d14029634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3" y="2194560"/>
            <a:ext cx="2496312" cy="667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3edde1adf91d2f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080" y="2103120"/>
            <a:ext cx="2499360" cy="673608"/>
          </a:xfrm>
          <a:prstGeom prst="rect">
            <a:avLst/>
          </a:prstGeom>
        </p:spPr>
      </p:pic>
      <p:pic>
        <p:nvPicPr>
          <p:cNvPr id="9" name="Picture 8" descr="dcdd245aeaaf1b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755" y="3124200"/>
            <a:ext cx="1057656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75411" y="3153156"/>
            <a:ext cx="16709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  and     </a:t>
            </a:r>
          </a:p>
        </p:txBody>
      </p:sp>
      <p:pic>
        <p:nvPicPr>
          <p:cNvPr id="11" name="Picture 10" descr="91dc20afadb1ae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9196" y="3124200"/>
            <a:ext cx="829056" cy="515112"/>
          </a:xfrm>
          <a:prstGeom prst="rect">
            <a:avLst/>
          </a:prstGeom>
        </p:spPr>
      </p:pic>
      <p:pic>
        <p:nvPicPr>
          <p:cNvPr id="12" name="Picture 11" descr="116226914234f1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755" y="3730752"/>
            <a:ext cx="2569464" cy="515112"/>
          </a:xfrm>
          <a:prstGeom prst="rect">
            <a:avLst/>
          </a:prstGeom>
        </p:spPr>
      </p:pic>
      <p:pic>
        <p:nvPicPr>
          <p:cNvPr id="13" name="Picture 12" descr="ea27676c0bb858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7755" y="4337304"/>
            <a:ext cx="1481328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8652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17/6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5986" y="2215896"/>
            <a:ext cx="31266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Roscoe says that  </a:t>
            </a:r>
          </a:p>
        </p:txBody>
      </p:sp>
      <p:pic>
        <p:nvPicPr>
          <p:cNvPr id="9" name="Picture 8" descr="c79d4acb3ae0bd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507" y="2194560"/>
            <a:ext cx="1901952" cy="4998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7459" y="2215896"/>
            <a:ext cx="32952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is always positive,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875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a square is always positive.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7533" y="3520771"/>
            <a:ext cx="46510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Is he right? Give a value of </a:t>
            </a:r>
          </a:p>
        </p:txBody>
      </p:sp>
      <p:pic>
        <p:nvPicPr>
          <p:cNvPr id="13" name="Picture 12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381" y="3645739"/>
            <a:ext cx="176784" cy="207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48165" y="3520771"/>
            <a:ext cx="24929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that settles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6659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4462" y="2124456"/>
            <a:ext cx="31266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Roscoe says that  </a:t>
            </a:r>
          </a:p>
        </p:txBody>
      </p:sp>
      <p:pic>
        <p:nvPicPr>
          <p:cNvPr id="9" name="Picture 8" descr="349a51316d69c5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983" y="2103120"/>
            <a:ext cx="1905000" cy="4998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8983" y="2124456"/>
            <a:ext cx="32952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is always positive,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7731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a square is always positive.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7533" y="3429331"/>
            <a:ext cx="46510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Is he right? Give a value of </a:t>
            </a:r>
          </a:p>
        </p:txBody>
      </p:sp>
      <p:pic>
        <p:nvPicPr>
          <p:cNvPr id="13" name="Picture 12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381" y="3554299"/>
            <a:ext cx="176784" cy="207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48165" y="3429331"/>
            <a:ext cx="24929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that settles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8076" y="4198951"/>
            <a:ext cx="13421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When </a:t>
            </a:r>
          </a:p>
        </p:txBody>
      </p:sp>
      <p:pic>
        <p:nvPicPr>
          <p:cNvPr id="16" name="Picture 15" descr="da0bec38e3107c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095" y="4302583"/>
            <a:ext cx="1036320" cy="2499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29415" y="4198951"/>
            <a:ext cx="606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  </a:t>
            </a:r>
          </a:p>
        </p:txBody>
      </p:sp>
      <p:pic>
        <p:nvPicPr>
          <p:cNvPr id="18" name="Picture 17" descr="c90e576750902f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8723" y="4211143"/>
            <a:ext cx="3477768" cy="432816"/>
          </a:xfrm>
          <a:prstGeom prst="rect">
            <a:avLst/>
          </a:prstGeom>
        </p:spPr>
      </p:pic>
      <p:pic>
        <p:nvPicPr>
          <p:cNvPr id="19" name="Picture 18" descr="ff74c5c7fd2cbb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2940" y="4825315"/>
            <a:ext cx="86868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11620" y="4749115"/>
            <a:ext cx="43212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and 0 is not positive.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2061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at n = 121 the value is 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7297de9a2fe937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610867"/>
            <a:ext cx="1676400" cy="2255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503ca8bbf5ad03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205227"/>
            <a:ext cx="1167384" cy="225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fee2d71f7c46e5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44723"/>
            <a:ext cx="1630680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39547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4e620423e0fdea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00983"/>
            <a:ext cx="780288" cy="6461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410717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749d7946d074ee2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168139"/>
            <a:ext cx="1514856" cy="335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470153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19" name="Picture 18" descr="16b03c438ff63f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4735067"/>
            <a:ext cx="2215896" cy="3901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radical expressions — D8J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