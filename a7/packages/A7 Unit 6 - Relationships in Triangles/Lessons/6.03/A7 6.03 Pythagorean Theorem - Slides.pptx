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image" Target="../media/image2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3" Type="http://schemas.openxmlformats.org/officeDocument/2006/relationships/image" Target="../media/image3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image" Target="../media/image33.png"/><Relationship Id="rId4" Type="http://schemas.openxmlformats.org/officeDocument/2006/relationships/image" Target="../media/image34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Relationship Id="rId3" Type="http://schemas.openxmlformats.org/officeDocument/2006/relationships/image" Target="../media/image38.png"/><Relationship Id="rId4" Type="http://schemas.openxmlformats.org/officeDocument/2006/relationships/image" Target="../media/image39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Relationship Id="rId5" Type="http://schemas.openxmlformats.org/officeDocument/2006/relationships/image" Target="../media/image43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Relationship Id="rId3" Type="http://schemas.openxmlformats.org/officeDocument/2006/relationships/image" Target="../media/image45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Relationship Id="rId3" Type="http://schemas.openxmlformats.org/officeDocument/2006/relationships/image" Target="../media/image47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png"/><Relationship Id="rId3" Type="http://schemas.openxmlformats.org/officeDocument/2006/relationships/image" Target="../media/image49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png"/><Relationship Id="rId3" Type="http://schemas.openxmlformats.org/officeDocument/2006/relationships/image" Target="../media/image52.png"/><Relationship Id="rId4" Type="http://schemas.openxmlformats.org/officeDocument/2006/relationships/image" Target="../media/image53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148840"/>
            <a:ext cx="10607040" cy="34747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20" b="0" i="0">
                <a:solidFill>
                  <a:srgbClr val="6B6B6B"/>
                </a:solidFill>
                <a:latin typeface="Lexend"/>
              </a:rPr>
              <a:t>GRADE 7 ACCELERATED  ·  UNIT 6  ·  LESSON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505456"/>
            <a:ext cx="10607040" cy="10058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229" b="1" i="0">
                <a:solidFill>
                  <a:srgbClr val="1A1A1A"/>
                </a:solidFill>
                <a:latin typeface="Lexend"/>
              </a:rPr>
              <a:t>Pythagorean Theorem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291840" y="3712464"/>
            <a:ext cx="55778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291840" y="3794760"/>
            <a:ext cx="55778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395935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20" b="1" i="0">
                <a:solidFill>
                  <a:srgbClr val="1A1A1A"/>
                </a:solidFill>
                <a:latin typeface="Lexend"/>
              </a:rPr>
              <a:t>MA.8.GR.1.1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297680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10" b="0" i="0">
                <a:solidFill>
                  <a:srgbClr val="1A1A1A"/>
                </a:solidFill>
                <a:latin typeface="Lexend"/>
              </a:rPr>
              <a:t>I can find a missing side of a right triangle — the hypotenuse, or a leg.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3 — Pythagorean Theorem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3 — Pythagorean Theorem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440180"/>
            <a:ext cx="751572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1.   Can sides of 4 in, 7 in and 12 in make a triangle?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2052828"/>
            <a:ext cx="876313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2.   A printer prints 18 pages a minute. Pages in 4.5 minutes?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2665476"/>
            <a:ext cx="293035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3.   Find the value:  </a:t>
            </a:r>
          </a:p>
        </p:txBody>
      </p:sp>
      <p:pic>
        <p:nvPicPr>
          <p:cNvPr id="11" name="Picture 10" descr="25d82099734b37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7711" y="2709322"/>
            <a:ext cx="806926" cy="37261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874519" y="3278124"/>
            <a:ext cx="295712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4.   Find the value:  </a:t>
            </a:r>
          </a:p>
        </p:txBody>
      </p:sp>
      <p:pic>
        <p:nvPicPr>
          <p:cNvPr id="13" name="Picture 12" descr="3ac1f13e1f982f0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4487" y="3355197"/>
            <a:ext cx="996791" cy="26581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3 — Pythagorean Theorem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440180"/>
            <a:ext cx="751572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1.   Can sides of 4 in, 7 in and 12 in make a triangle?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06040" y="1897380"/>
            <a:ext cx="319052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No — 4 + 7 = 11 &lt; 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2510028"/>
            <a:ext cx="876313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2.   A printer prints 18 pages a minute. Pages in 4.5 minutes?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06040" y="2967228"/>
            <a:ext cx="154805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81 pages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3579876"/>
            <a:ext cx="293035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3.   Find the value:  </a:t>
            </a:r>
          </a:p>
        </p:txBody>
      </p:sp>
      <p:pic>
        <p:nvPicPr>
          <p:cNvPr id="13" name="Picture 12" descr="25d82099734b37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7711" y="3623722"/>
            <a:ext cx="806926" cy="37261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023277" y="3579876"/>
            <a:ext cx="57004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14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4519" y="4192524"/>
            <a:ext cx="295712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4.   Find the value:  </a:t>
            </a:r>
          </a:p>
        </p:txBody>
      </p:sp>
      <p:pic>
        <p:nvPicPr>
          <p:cNvPr id="16" name="Picture 15" descr="3ac1f13e1f982f0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4487" y="4269597"/>
            <a:ext cx="996791" cy="265811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239919" y="4192524"/>
            <a:ext cx="57534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64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Vocabulary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3 — Pythagorean Theorem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46304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0B5394"/>
                </a:solidFill>
                <a:latin typeface="Lexend"/>
              </a:rPr>
              <a:t>Pythagorean Theorem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869550"/>
            <a:ext cx="688826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in every right triangle, leg</a:t>
            </a:r>
            <a:r>
              <a:rPr sz="2090" b="0" i="0" baseline="30000">
                <a:solidFill>
                  <a:srgbClr val="1A1A1A"/>
                </a:solidFill>
                <a:latin typeface="Lexend"/>
              </a:rPr>
              <a:t>2</a:t>
            </a:r>
            <a:r>
              <a:rPr sz="2090" b="0" i="0">
                <a:solidFill>
                  <a:srgbClr val="1A1A1A"/>
                </a:solidFill>
                <a:latin typeface="Lexend"/>
              </a:rPr>
              <a:t> + leg</a:t>
            </a:r>
            <a:r>
              <a:rPr sz="2090" b="0" i="0" baseline="30000">
                <a:solidFill>
                  <a:srgbClr val="1A1A1A"/>
                </a:solidFill>
                <a:latin typeface="Lexend"/>
              </a:rPr>
              <a:t>2</a:t>
            </a:r>
            <a:r>
              <a:rPr sz="2090" b="0" i="0">
                <a:solidFill>
                  <a:srgbClr val="1A1A1A"/>
                </a:solidFill>
                <a:latin typeface="Lexend"/>
              </a:rPr>
              <a:t> = hypotenuse</a:t>
            </a:r>
            <a:r>
              <a:rPr sz="2090" b="0" i="0" baseline="30000">
                <a:solidFill>
                  <a:srgbClr val="1A1A1A"/>
                </a:solidFill>
                <a:latin typeface="Lexend"/>
              </a:rPr>
              <a:t>2</a:t>
            </a:r>
            <a:r>
              <a:rPr sz="2090" b="0" i="0">
                <a:solidFill>
                  <a:srgbClr val="1A1A1A"/>
                </a:solidFill>
                <a:latin typeface="Lexend"/>
              </a:rPr>
              <a:t>:  </a:t>
            </a:r>
          </a:p>
        </p:txBody>
      </p:sp>
      <p:pic>
        <p:nvPicPr>
          <p:cNvPr id="10" name="Picture 9" descr="ca3cd8deffede94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4105" y="1953211"/>
            <a:ext cx="1436989" cy="25425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250505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0B5394"/>
                </a:solidFill>
                <a:latin typeface="Lexend"/>
              </a:rPr>
              <a:t>hypotenuse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2934428"/>
            <a:ext cx="10241280" cy="39358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c — the side across from the right angle, always the longest side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565762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0B5394"/>
                </a:solidFill>
                <a:latin typeface="Lexend"/>
              </a:rPr>
              <a:t>square root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3972272"/>
            <a:ext cx="414204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the number that, times itself,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4456904"/>
            <a:ext cx="564669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makes the number under the root sign:  </a:t>
            </a:r>
          </a:p>
        </p:txBody>
      </p:sp>
      <p:pic>
        <p:nvPicPr>
          <p:cNvPr id="16" name="Picture 15" descr="c01d6e653b6eb23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2533" y="4508784"/>
            <a:ext cx="1064688" cy="35640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3 — Pythagorean Theorem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I.  The square corner first; c is across from it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gd52f9f29f97d9de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8496" y="1993392"/>
            <a:ext cx="4224528" cy="2199719"/>
          </a:xfrm>
          <a:prstGeom prst="rect">
            <a:avLst/>
          </a:prstGeom>
        </p:spPr>
      </p:pic>
      <p:pic>
        <p:nvPicPr>
          <p:cNvPr id="11" name="Picture 10" descr="f29ece7fb4d2304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4385135"/>
            <a:ext cx="1929384" cy="34137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87552" y="5070935"/>
            <a:ext cx="10131551" cy="95097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The legs' squares add up to the hypotenuse's square. c is across from the right angle — always the longest side.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3 — Pythagorean Theorem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II.  The hypotenuse: square, add, then the root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e21f71f12712588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5383" y="2194560"/>
            <a:ext cx="3730752" cy="341376"/>
          </a:xfrm>
          <a:prstGeom prst="rect">
            <a:avLst/>
          </a:prstGeom>
        </p:spPr>
      </p:pic>
      <p:pic>
        <p:nvPicPr>
          <p:cNvPr id="11" name="Picture 10" descr="f5cca9bd60907ff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8511" y="2990088"/>
            <a:ext cx="2444496" cy="47853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87552" y="3966971"/>
            <a:ext cx="231198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Legs 3 and 5:   </a:t>
            </a:r>
          </a:p>
        </p:txBody>
      </p:sp>
      <p:pic>
        <p:nvPicPr>
          <p:cNvPr id="13" name="Picture 12" descr="24c2904a6862c3a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62379" y="4044045"/>
            <a:ext cx="1483320" cy="26581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645700" y="3966971"/>
            <a:ext cx="53597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,   </a:t>
            </a:r>
          </a:p>
        </p:txBody>
      </p:sp>
      <p:pic>
        <p:nvPicPr>
          <p:cNvPr id="15" name="Picture 14" descr="363f37b4e814532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4519" y="4010818"/>
            <a:ext cx="1808464" cy="37261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87552" y="4634483"/>
            <a:ext cx="121034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1A1A1A"/>
                </a:solidFill>
                <a:latin typeface="Lexend"/>
              </a:rPr>
              <a:t>Exact: </a:t>
            </a:r>
          </a:p>
        </p:txBody>
      </p:sp>
      <p:pic>
        <p:nvPicPr>
          <p:cNvPr id="17" name="Picture 16" descr="5b982e7bc592391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60736" y="4678330"/>
            <a:ext cx="666900" cy="37261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2727636" y="4634483"/>
            <a:ext cx="415074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1A1A1A"/>
                </a:solidFill>
                <a:latin typeface="Lexend"/>
              </a:rPr>
              <a:t>.  To the nearest tenth: 5.8.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3 — Pythagorean Theorem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III.  A leg: subtract the squares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0e309e7e8ce6a12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1475" y="1993392"/>
            <a:ext cx="2258568" cy="341376"/>
          </a:xfrm>
          <a:prstGeom prst="rect">
            <a:avLst/>
          </a:prstGeom>
        </p:spPr>
      </p:pic>
      <p:pic>
        <p:nvPicPr>
          <p:cNvPr id="11" name="Picture 10" descr="5652a128c97c636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8367" y="2679192"/>
            <a:ext cx="3224784" cy="341376"/>
          </a:xfrm>
          <a:prstGeom prst="rect">
            <a:avLst/>
          </a:prstGeom>
        </p:spPr>
      </p:pic>
      <p:pic>
        <p:nvPicPr>
          <p:cNvPr id="12" name="Picture 11" descr="c79a9df2bcafe8c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7488" y="3364991"/>
            <a:ext cx="2066543" cy="47853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87552" y="4140707"/>
            <a:ext cx="323133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1A1A1A"/>
                </a:solidFill>
                <a:latin typeface="Lexend"/>
              </a:rPr>
              <a:t>For a leg, subtract:  </a:t>
            </a:r>
          </a:p>
        </p:txBody>
      </p:sp>
      <p:pic>
        <p:nvPicPr>
          <p:cNvPr id="14" name="Picture 13" descr="1eb4729ee4dde59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81731" y="4217781"/>
            <a:ext cx="1499933" cy="26581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581665" y="4140707"/>
            <a:ext cx="28589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" y="4849367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Check: a leg is shorter than the hypotenuse.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3 — Pythagorean Theorem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A right triangle has legs of 7 cm and 9 cm.</a:t>
            </a:r>
          </a:p>
        </p:txBody>
      </p:sp>
      <p:pic>
        <p:nvPicPr>
          <p:cNvPr id="9" name="Picture 8" descr="g37a284cc012c93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0619" y="2276458"/>
            <a:ext cx="2240280" cy="23487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954362"/>
            <a:ext cx="1060704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How long is the hypotenuse? Give it exactly and to the nearest tenth.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3 — Pythagorean Theorem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9</a:t>
            </a:r>
          </a:p>
        </p:txBody>
      </p:sp>
      <p:pic>
        <p:nvPicPr>
          <p:cNvPr id="8" name="Picture 7" descr="f63f94f57da23b8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4422648" cy="341376"/>
          </a:xfrm>
          <a:prstGeom prst="rect">
            <a:avLst/>
          </a:prstGeom>
        </p:spPr>
      </p:pic>
      <p:pic>
        <p:nvPicPr>
          <p:cNvPr id="9" name="Picture 8" descr="b97c89e1a1136c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535936"/>
            <a:ext cx="2697480" cy="47853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c = √130 cm ≈ 11.4 cm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3 — Pythagorean Theorem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0020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A right triangle has legs of 5 in and 11 in.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3929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How long is the hypotenuse, exactly and to the nearest tenth?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3 — Pythagorean Theorem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0020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A right triangle has legs of 5 in and 11 in.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3929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How long is the hypotenuse, exactly and to the nearest tenth?</a:t>
            </a:r>
          </a:p>
        </p:txBody>
      </p:sp>
      <p:pic>
        <p:nvPicPr>
          <p:cNvPr id="10" name="Picture 9" descr="49e72f05093d837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0019" y="2796697"/>
            <a:ext cx="4331208" cy="304800"/>
          </a:xfrm>
          <a:prstGeom prst="rect">
            <a:avLst/>
          </a:prstGeom>
        </p:spPr>
      </p:pic>
      <p:pic>
        <p:nvPicPr>
          <p:cNvPr id="11" name="Picture 10" descr="42e060f27f4a506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0019" y="3291044"/>
            <a:ext cx="2426208" cy="43281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c = √146 in ≈ 12.1 in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3 — Pythagorean Theorem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A right triangle has a hypotenuse of 26 m and one leg of 24 m.</a:t>
            </a:r>
          </a:p>
        </p:txBody>
      </p:sp>
      <p:pic>
        <p:nvPicPr>
          <p:cNvPr id="9" name="Picture 8" descr="g314373f1c6e44b6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6359" y="2276458"/>
            <a:ext cx="1828800" cy="259738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5203029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How long is the other leg?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3 — Pythagorean Theorem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13</a:t>
            </a:r>
          </a:p>
        </p:txBody>
      </p:sp>
      <p:pic>
        <p:nvPicPr>
          <p:cNvPr id="8" name="Picture 7" descr="d9d154ca61db8bf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2316480" cy="341376"/>
          </a:xfrm>
          <a:prstGeom prst="rect">
            <a:avLst/>
          </a:prstGeom>
        </p:spPr>
      </p:pic>
      <p:pic>
        <p:nvPicPr>
          <p:cNvPr id="9" name="Picture 8" descr="fafc9a58f3fff9c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535936"/>
            <a:ext cx="3422904" cy="341376"/>
          </a:xfrm>
          <a:prstGeom prst="rect">
            <a:avLst/>
          </a:prstGeom>
        </p:spPr>
      </p:pic>
      <p:pic>
        <p:nvPicPr>
          <p:cNvPr id="10" name="Picture 9" descr="2f21362e83d94f6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3151632"/>
            <a:ext cx="2468880" cy="47853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b = 10 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3 — Pythagorean Theorem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0020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A right triangle has a hypotenuse of 11 ft and one leg of 6 ft.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3929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How long is the other leg, exactly and to the nearest tenth?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3 — Pythagorean Theorem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0020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A right triangle has a hypotenuse of 11 ft and one leg of 6 ft.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3929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How long is the other leg, exactly and to the nearest tenth?</a:t>
            </a:r>
          </a:p>
        </p:txBody>
      </p:sp>
      <p:pic>
        <p:nvPicPr>
          <p:cNvPr id="10" name="Picture 9" descr="3e1aaf67d43b298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1459" y="2796697"/>
            <a:ext cx="4151376" cy="304800"/>
          </a:xfrm>
          <a:prstGeom prst="rect">
            <a:avLst/>
          </a:prstGeom>
        </p:spPr>
      </p:pic>
      <p:pic>
        <p:nvPicPr>
          <p:cNvPr id="11" name="Picture 10" descr="12045b10f967ac8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1459" y="3291044"/>
            <a:ext cx="2118360" cy="43281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b = √85 ft ≈ 9.2 ft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3 — Pythagorean Theorem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right triangle has legs of 9 cm and 12 cm.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long is the hypotenuse?</a:t>
            </a:r>
          </a:p>
        </p:txBody>
      </p:sp>
      <p:pic>
        <p:nvPicPr>
          <p:cNvPr id="10" name="Picture 9" descr="g87feca9b8810c27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8616" y="2998436"/>
            <a:ext cx="2304288" cy="234613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562804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3 — Pythagorean Theorem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right triangle has legs of 9 cm and 12 cm.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long is the hypotenuse?</a:t>
            </a:r>
          </a:p>
        </p:txBody>
      </p:sp>
      <p:pic>
        <p:nvPicPr>
          <p:cNvPr id="10" name="Picture 9" descr="g87feca9b8810c27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8228" y="2998436"/>
            <a:ext cx="2304288" cy="2346139"/>
          </a:xfrm>
          <a:prstGeom prst="rect">
            <a:avLst/>
          </a:prstGeom>
        </p:spPr>
      </p:pic>
      <p:pic>
        <p:nvPicPr>
          <p:cNvPr id="11" name="Picture 10" descr="2899ab4d0ffda98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8899" y="3777647"/>
            <a:ext cx="2429256" cy="262128"/>
          </a:xfrm>
          <a:prstGeom prst="rect">
            <a:avLst/>
          </a:prstGeom>
        </p:spPr>
      </p:pic>
      <p:pic>
        <p:nvPicPr>
          <p:cNvPr id="12" name="Picture 11" descr="e078427f0d1d539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8899" y="4250087"/>
            <a:ext cx="1840991" cy="3688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7240" y="56280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15 cm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3 — Pythagorean Theorem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right triangle has legs of 4 in and 9 in.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long is the hypotenuse, to the nearest tenth?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3 — Pythagorean Theorem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right triangle has legs of 4 in and 9 in.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long is the hypotenuse, to the nearest tenth?</a:t>
            </a:r>
          </a:p>
        </p:txBody>
      </p:sp>
      <p:pic>
        <p:nvPicPr>
          <p:cNvPr id="10" name="Picture 9" descr="7410ced1fcc2b9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4899" y="3113689"/>
            <a:ext cx="2441448" cy="307848"/>
          </a:xfrm>
          <a:prstGeom prst="rect">
            <a:avLst/>
          </a:prstGeom>
        </p:spPr>
      </p:pic>
      <p:pic>
        <p:nvPicPr>
          <p:cNvPr id="11" name="Picture 10" descr="d774a50e89260bb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4899" y="3611084"/>
            <a:ext cx="2075688" cy="43281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√97 in ≈ 9.8 in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3 — Pythagorean Theorem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right triangle has a hypotenuse of 25 ft and one leg of 20 ft.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long is the other leg?</a:t>
            </a:r>
          </a:p>
        </p:txBody>
      </p:sp>
      <p:pic>
        <p:nvPicPr>
          <p:cNvPr id="10" name="Picture 9" descr="gaffe3d7eabf898d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2623" y="2998436"/>
            <a:ext cx="2176272" cy="234311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5625012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3 — Pythagorean Theorem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right triangle has a hypotenuse of 25 ft and one leg of 20 ft.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long is the other leg?</a:t>
            </a:r>
          </a:p>
        </p:txBody>
      </p:sp>
      <p:pic>
        <p:nvPicPr>
          <p:cNvPr id="10" name="Picture 9" descr="gaffe3d7eabf898d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0984" y="2998436"/>
            <a:ext cx="2176272" cy="2343111"/>
          </a:xfrm>
          <a:prstGeom prst="rect">
            <a:avLst/>
          </a:prstGeom>
        </p:spPr>
      </p:pic>
      <p:pic>
        <p:nvPicPr>
          <p:cNvPr id="11" name="Picture 10" descr="da85c990301d924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3776133"/>
            <a:ext cx="2657856" cy="262128"/>
          </a:xfrm>
          <a:prstGeom prst="rect">
            <a:avLst/>
          </a:prstGeom>
        </p:spPr>
      </p:pic>
      <p:pic>
        <p:nvPicPr>
          <p:cNvPr id="12" name="Picture 11" descr="6e05135a1808f99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4248573"/>
            <a:ext cx="1859280" cy="3688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7240" y="5625012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15 ft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3 — Pythagorean Theorem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right triangle has a hypotenuse of 41 m and one leg of 40 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long is the other leg?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3089876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A.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9 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3089876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B.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81 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3775676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C.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1 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3775676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D.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57.3 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781516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3 — Pythagorean Theorem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right triangle has a hypotenuse of 41 m and one leg of 40 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long is the other leg?</a:t>
            </a:r>
          </a:p>
        </p:txBody>
      </p:sp>
      <p:pic>
        <p:nvPicPr>
          <p:cNvPr id="10" name="Picture 9" descr="f10d4c561f96715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8075" y="3110641"/>
            <a:ext cx="3438144" cy="368808"/>
          </a:xfrm>
          <a:prstGeom prst="rect">
            <a:avLst/>
          </a:prstGeom>
        </p:spPr>
      </p:pic>
      <p:pic>
        <p:nvPicPr>
          <p:cNvPr id="11" name="Picture 10" descr="a236597d86feeaa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8075" y="3611084"/>
            <a:ext cx="1822704" cy="43281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A — 9 m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3 — Pythagorean Theorem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The right triangle is drawn turned. Its legs are 5 cm and 7 cm.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long is the hypotenuse, to the nearest tenth?</a:t>
            </a:r>
          </a:p>
        </p:txBody>
      </p:sp>
      <p:pic>
        <p:nvPicPr>
          <p:cNvPr id="10" name="Picture 9" descr="gf8612ac7fdced0a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7639" y="2998436"/>
            <a:ext cx="4206240" cy="217838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546029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3 — Pythagorean Theorem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The right triangle is drawn turned. Its legs are 5 cm and 7 cm.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long is the hypotenuse, to the nearest tenth?</a:t>
            </a:r>
          </a:p>
        </p:txBody>
      </p:sp>
      <p:pic>
        <p:nvPicPr>
          <p:cNvPr id="10" name="Picture 9" descr="gf8612ac7fdced0a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8128" y="2998436"/>
            <a:ext cx="4206240" cy="2178389"/>
          </a:xfrm>
          <a:prstGeom prst="rect">
            <a:avLst/>
          </a:prstGeom>
        </p:spPr>
      </p:pic>
      <p:pic>
        <p:nvPicPr>
          <p:cNvPr id="11" name="Picture 10" descr="38f42acf1793d28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0752" y="3693772"/>
            <a:ext cx="2130552" cy="262128"/>
          </a:xfrm>
          <a:prstGeom prst="rect">
            <a:avLst/>
          </a:prstGeom>
        </p:spPr>
      </p:pic>
      <p:pic>
        <p:nvPicPr>
          <p:cNvPr id="12" name="Picture 11" descr="95a27a9fc7d94de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0752" y="4166212"/>
            <a:ext cx="1786128" cy="3688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7240" y="546029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√74 cm ≈ 8.6 cm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3 — Pythagorean Theorem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right triangle's hypotenuse is 20 in; its legs are 16 in and x.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Which equation finds x?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3144740"/>
            <a:ext cx="594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A.</a:t>
            </a:r>
          </a:p>
        </p:txBody>
      </p:sp>
      <p:pic>
        <p:nvPicPr>
          <p:cNvPr id="11" name="Picture 10" descr="467b3d8054f9e8c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8568" y="3135596"/>
            <a:ext cx="1752600" cy="28041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537959" y="3144740"/>
            <a:ext cx="594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B.</a:t>
            </a:r>
          </a:p>
        </p:txBody>
      </p:sp>
      <p:pic>
        <p:nvPicPr>
          <p:cNvPr id="13" name="Picture 12" descr="940ac47e9562c5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4888" y="3089876"/>
            <a:ext cx="2246376" cy="34137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691640" y="3757388"/>
            <a:ext cx="594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C.</a:t>
            </a:r>
          </a:p>
        </p:txBody>
      </p:sp>
      <p:pic>
        <p:nvPicPr>
          <p:cNvPr id="15" name="Picture 14" descr="64ca13b55e11e65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58568" y="3748244"/>
            <a:ext cx="2874264" cy="28041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537959" y="3757388"/>
            <a:ext cx="594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D.</a:t>
            </a:r>
          </a:p>
        </p:txBody>
      </p:sp>
      <p:pic>
        <p:nvPicPr>
          <p:cNvPr id="17" name="Picture 16" descr="b1c1dd707cdaedb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04888" y="3702524"/>
            <a:ext cx="2246376" cy="34137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77240" y="4434044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3 — Pythagorean Theorem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right triangle's hypotenuse is 20 in; its legs are 16 in and x.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Which equation finds x?</a:t>
            </a:r>
          </a:p>
        </p:txBody>
      </p:sp>
      <p:pic>
        <p:nvPicPr>
          <p:cNvPr id="10" name="Picture 9" descr="723ec51e38368d0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6759" y="3116737"/>
            <a:ext cx="3157728" cy="304800"/>
          </a:xfrm>
          <a:prstGeom prst="rect">
            <a:avLst/>
          </a:prstGeom>
        </p:spPr>
      </p:pic>
      <p:pic>
        <p:nvPicPr>
          <p:cNvPr id="11" name="Picture 10" descr="29d805f74fa3412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6759" y="3611084"/>
            <a:ext cx="2225040" cy="43281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D — and x = 12 in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3 — Pythagorean Theorem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right triangle has a hypotenuse of 14 m and one leg of 9 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long is the other leg, to the nearest tenth?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3 — Pythagorean Theorem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right triangle has a hypotenuse of 14 m and one leg of 9 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long is the other leg, to the nearest tenth?</a:t>
            </a:r>
          </a:p>
        </p:txBody>
      </p:sp>
      <p:pic>
        <p:nvPicPr>
          <p:cNvPr id="10" name="Picture 9" descr="4d4d0148702223a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5923" y="3116737"/>
            <a:ext cx="2822448" cy="304800"/>
          </a:xfrm>
          <a:prstGeom prst="rect">
            <a:avLst/>
          </a:prstGeom>
        </p:spPr>
      </p:pic>
      <p:pic>
        <p:nvPicPr>
          <p:cNvPr id="11" name="Picture 10" descr="899457164c48e8d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5923" y="3611084"/>
            <a:ext cx="2456688" cy="43281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√115 m ≈ 10.7 m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3 — Pythagorean Theorem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pennant is cut as a right triangle with legs of 8 in and 11 in. The fabric costs 6 dollars.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84298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long is its longest side, to the nearest tenth?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3 — Pythagorean Theorem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pennant is cut as a right triangle with legs of 8 in and 11 in. The fabric costs 6 dollars.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84298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long is its longest side, to the nearest tenth?</a:t>
            </a:r>
          </a:p>
        </p:txBody>
      </p:sp>
      <p:pic>
        <p:nvPicPr>
          <p:cNvPr id="10" name="Picture 9" descr="c0b0581c2b142ec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9828" y="3546107"/>
            <a:ext cx="2831592" cy="304800"/>
          </a:xfrm>
          <a:prstGeom prst="rect">
            <a:avLst/>
          </a:prstGeom>
        </p:spPr>
      </p:pic>
      <p:pic>
        <p:nvPicPr>
          <p:cNvPr id="11" name="Picture 10" descr="6f89b6850aed217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9828" y="4040455"/>
            <a:ext cx="2435352" cy="43281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√185 in ≈ 13.6 in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3 — Pythagorean Theorem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645920"/>
            <a:ext cx="1005840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Jo finds a leg of a right triangle. The hypotenuse is 13 cm and the other leg is 5 cm.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591528"/>
            <a:ext cx="191982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She writes  </a:t>
            </a:r>
          </a:p>
        </p:txBody>
      </p:sp>
      <p:pic>
        <p:nvPicPr>
          <p:cNvPr id="10" name="Picture 9" descr="56becf73e2479bf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7108" y="2627342"/>
            <a:ext cx="2246185" cy="38881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263293" y="2591528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22703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What went wrong? How long is the leg?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Write your answer in sentences.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3 — Pythagorean Theorem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645920"/>
            <a:ext cx="1005840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Jo finds a leg of a right triangle. The hypotenuse is 13 cm and the other leg is 5 cm.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591528"/>
            <a:ext cx="191982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She writes  </a:t>
            </a:r>
          </a:p>
        </p:txBody>
      </p:sp>
      <p:pic>
        <p:nvPicPr>
          <p:cNvPr id="10" name="Picture 9" descr="8b551e9736168dd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7108" y="2627342"/>
            <a:ext cx="2248662" cy="38881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265770" y="2591528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22703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What went wrong? How long is the leg?</a:t>
            </a:r>
          </a:p>
        </p:txBody>
      </p:sp>
      <p:pic>
        <p:nvPicPr>
          <p:cNvPr id="13" name="Picture 12" descr="ec09cf29acca5c9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6299" y="3930155"/>
            <a:ext cx="2901696" cy="304800"/>
          </a:xfrm>
          <a:prstGeom prst="rect">
            <a:avLst/>
          </a:prstGeom>
        </p:spPr>
      </p:pic>
      <p:pic>
        <p:nvPicPr>
          <p:cNvPr id="14" name="Picture 13" descr="4616387d26fd7c5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6299" y="4424503"/>
            <a:ext cx="2231136" cy="43281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77240" y="4994479"/>
            <a:ext cx="10607040" cy="1072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She added the squares; a leg must be shorter than 13 cm. Subtract: the leg is 12 cm.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Independent Set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3 — Pythagorean Theorem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572768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10" b="1" i="0">
                <a:solidFill>
                  <a:srgbClr val="0B5394"/>
                </a:solidFill>
                <a:latin typeface="Lexend"/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572768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10" b="0" i="0">
                <a:solidFill>
                  <a:srgbClr val="1A1A1A"/>
                </a:solidFill>
                <a:latin typeface="Lexend"/>
              </a:rPr>
              <a:t>A right triangle has legs of 12 m and 5 m. How long is the hypotenuse?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05740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10" b="1" i="0">
                <a:solidFill>
                  <a:srgbClr val="0B5394"/>
                </a:solidFill>
                <a:latin typeface="Lexend"/>
              </a:rPr>
              <a:t>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057400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10" b="0" i="0">
                <a:solidFill>
                  <a:srgbClr val="1A1A1A"/>
                </a:solidFill>
                <a:latin typeface="Lexend"/>
              </a:rPr>
              <a:t>A right triangle has legs of 3 ft and 8 ft. How long is the hypotenuse, exactly and to the nearest tenth?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898648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10" b="1" i="0">
                <a:solidFill>
                  <a:srgbClr val="0B5394"/>
                </a:solidFill>
                <a:latin typeface="Lexend"/>
              </a:rPr>
              <a:t>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2898648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10" b="0" i="0">
                <a:solidFill>
                  <a:srgbClr val="1A1A1A"/>
                </a:solidFill>
                <a:latin typeface="Lexend"/>
              </a:rPr>
              <a:t>A right triangle has a hypotenuse of 39 cm and one leg of 36 cm. How long is the other leg?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739896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10" b="1" i="0">
                <a:solidFill>
                  <a:srgbClr val="0B5394"/>
                </a:solidFill>
                <a:latin typeface="Lexend"/>
              </a:rPr>
              <a:t>4.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739896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10" b="0" i="0">
                <a:solidFill>
                  <a:srgbClr val="1A1A1A"/>
                </a:solidFill>
                <a:latin typeface="Lexend"/>
              </a:rPr>
              <a:t>A right triangle has a hypotenuse of 11 in and one leg of 4 in. How long is the other leg, exactly and to the nearest tenth?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4581144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10" b="1" i="0">
                <a:solidFill>
                  <a:srgbClr val="0B5394"/>
                </a:solidFill>
                <a:latin typeface="Lexend"/>
              </a:rPr>
              <a:t>5.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4581144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10" b="0" i="0">
                <a:solidFill>
                  <a:srgbClr val="1A1A1A"/>
                </a:solidFill>
                <a:latin typeface="Lexend"/>
              </a:rPr>
              <a:t>A right triangle is drawn turned on its side. Its legs are 6 m and 11 m. How long is its hypotenuse, to the nearest tenth?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5422392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10" b="1" i="0">
                <a:solidFill>
                  <a:srgbClr val="0B5394"/>
                </a:solidFill>
                <a:latin typeface="Lexend"/>
              </a:rPr>
              <a:t>6.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5422392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10" b="0" i="0">
                <a:solidFill>
                  <a:srgbClr val="1A1A1A"/>
                </a:solidFill>
                <a:latin typeface="Lexend"/>
              </a:rPr>
              <a:t>A right triangle has a hypotenuse of 25 yd and one leg of 24 yd. The other leg is x. Write the equation that finds x, then find x.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IXL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3 — Pythagorean Theorem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82880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828800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Open IXL and start today's skills.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33172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331720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Work on paper where the question needs work. The answer box does not show 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191256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191256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Every skill listed is required, to a SmartScore of 67. Due at the start of the next class.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096511"/>
            <a:ext cx="10241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1A1A1A"/>
                </a:solidFill>
                <a:latin typeface="Lexend"/>
              </a:rPr>
              <a:t>Today's skills — all required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4507992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Pythagorean theorem: find the missing leg or hypotenuse length — MTM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