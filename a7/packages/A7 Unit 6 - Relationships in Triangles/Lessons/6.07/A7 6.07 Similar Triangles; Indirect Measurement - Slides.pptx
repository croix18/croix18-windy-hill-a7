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Similar Triangles; Indirect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similar triangles with the scale factor, and use similar triangles to measure what I cannot reach.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52828"/>
            <a:ext cx="9608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17-ft ladder's foot is 8 ft from a wall. How high does it reach?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897380"/>
            <a:ext cx="1464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8.6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10028"/>
            <a:ext cx="9608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17-ft ladder's foot is 8 ft from a wall. How high does it reach?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967228"/>
            <a:ext cx="878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798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037076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497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7727" y="4649724"/>
            <a:ext cx="864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21 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similar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same shape, any size: matching angles equal, and every side multiplied by the same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sides that match — across from equal angles: shortest with shortest, longest with longest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copy ÷ original, for one matching pair of sides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4608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indirect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39673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finding a length you cannot reach from similar triangles you can measure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Similar: every side times the same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b1393c149350c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765914"/>
          </a:xfrm>
          <a:prstGeom prst="rect">
            <a:avLst/>
          </a:prstGeom>
        </p:spPr>
      </p:pic>
      <p:pic>
        <p:nvPicPr>
          <p:cNvPr id="11" name="Picture 10" descr="dffa0e8c36125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97" y="3908658"/>
            <a:ext cx="1106424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6621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f0a344a8a323dc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904" y="3914754"/>
            <a:ext cx="1295400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3304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c01a75d5d6aaea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586" y="3905610"/>
            <a:ext cx="1316736" cy="6766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12176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Three ratios, all equal: similar. Match shortest to shortest, longest to longest.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 missing side: find k, then multiply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1bbc6210f7f5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993392"/>
            <a:ext cx="5632704" cy="1826181"/>
          </a:xfrm>
          <a:prstGeom prst="rect">
            <a:avLst/>
          </a:prstGeom>
        </p:spPr>
      </p:pic>
      <p:pic>
        <p:nvPicPr>
          <p:cNvPr id="11" name="Picture 10" descr="c57688c9329a4b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866" y="4111038"/>
            <a:ext cx="2904744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67610" y="40725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bfdef353fb7e1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93" y="3965877"/>
            <a:ext cx="1889760" cy="670560"/>
          </a:xfrm>
          <a:prstGeom prst="rect">
            <a:avLst/>
          </a:prstGeom>
        </p:spPr>
      </p:pic>
      <p:pic>
        <p:nvPicPr>
          <p:cNvPr id="14" name="Picture 13" descr="4d0a8ac6cf842b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610" y="4966002"/>
            <a:ext cx="2389632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9242" y="488789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6" name="Picture 15" descr="8a8c7878b0eec08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525" y="4959525"/>
            <a:ext cx="2691384" cy="3627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566056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order of the letters is the matching: A with D, B with E, C with 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Same sun, same angle: shadows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111dd3fd22a0d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993392"/>
            <a:ext cx="3456432" cy="2650023"/>
          </a:xfrm>
          <a:prstGeom prst="rect">
            <a:avLst/>
          </a:prstGeom>
        </p:spPr>
      </p:pic>
      <p:pic>
        <p:nvPicPr>
          <p:cNvPr id="11" name="Picture 10" descr="2b85bcbfdf01e5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4789719"/>
            <a:ext cx="1609344" cy="670560"/>
          </a:xfrm>
          <a:prstGeom prst="rect">
            <a:avLst/>
          </a:prstGeom>
        </p:spPr>
      </p:pic>
      <p:pic>
        <p:nvPicPr>
          <p:cNvPr id="12" name="Picture 11" descr="1695fa317230a6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20" y="5814657"/>
            <a:ext cx="1859232" cy="254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7553" y="5711739"/>
            <a:ext cx="5628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triangles are similar.</a:t>
            </a:r>
          </a:p>
        </p:txBody>
      </p:sp>
      <p:pic>
        <p:nvPicPr>
          <p:cNvPr id="9" name="Picture 8" descr="ge2425ae442de1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76458"/>
            <a:ext cx="6858000" cy="26613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670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efd40bf1c3ecf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452616" cy="673608"/>
          </a:xfrm>
          <a:prstGeom prst="rect">
            <a:avLst/>
          </a:prstGeom>
        </p:spPr>
      </p:pic>
      <p:pic>
        <p:nvPicPr>
          <p:cNvPr id="9" name="Picture 8" descr="74a3a288211de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5391912" cy="301752"/>
          </a:xfrm>
          <a:prstGeom prst="rect">
            <a:avLst/>
          </a:prstGeom>
        </p:spPr>
      </p:pic>
      <p:pic>
        <p:nvPicPr>
          <p:cNvPr id="10" name="Picture 9" descr="59c595bd67cf2c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44240"/>
            <a:ext cx="5526024" cy="38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21, y =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  <p:pic>
        <p:nvPicPr>
          <p:cNvPr id="10" name="Picture 9" descr="9a1a6118cd7cda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5" y="2751548"/>
            <a:ext cx="944689" cy="6076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46694" y="2826796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57309cfb8df17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836" y="2754311"/>
            <a:ext cx="972311" cy="6049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98148" y="2826796"/>
            <a:ext cx="1483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one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7141" y="3464399"/>
            <a:ext cx="3854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x matches the 5:  </a:t>
            </a:r>
          </a:p>
        </p:txBody>
      </p:sp>
      <p:pic>
        <p:nvPicPr>
          <p:cNvPr id="15" name="Picture 14" descr="9b453dec611ea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230" y="3585272"/>
            <a:ext cx="1950148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Omar's eyes are 5 ft up, 4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02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he sees the top of a tree 18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12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</a:t>
            </a:r>
          </a:p>
        </p:txBody>
      </p:sp>
      <p:pic>
        <p:nvPicPr>
          <p:cNvPr id="11" name="Picture 10" descr="gcccabea20ad63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30" y="3080335"/>
            <a:ext cx="2287258" cy="22421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6516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bd577f60b4023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905000" cy="667512"/>
          </a:xfrm>
          <a:prstGeom prst="rect">
            <a:avLst/>
          </a:prstGeom>
        </p:spPr>
      </p:pic>
      <p:pic>
        <p:nvPicPr>
          <p:cNvPr id="9" name="Picture 8" descr="035eeeba9ebb9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273100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tree is 22.5 ft tall.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1" name="Picture 10" descr="06184dcef0298b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3290647"/>
            <a:ext cx="1511808" cy="609600"/>
          </a:xfrm>
          <a:prstGeom prst="rect">
            <a:avLst/>
          </a:prstGeom>
        </p:spPr>
      </p:pic>
      <p:pic>
        <p:nvPicPr>
          <p:cNvPr id="12" name="Picture 11" descr="be1f699f2cd419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3" y="4113035"/>
            <a:ext cx="1926335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690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pic>
        <p:nvPicPr>
          <p:cNvPr id="9" name="Picture 8" descr="29d440c348e857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466" y="2538586"/>
            <a:ext cx="117348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2946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74a531e9e94642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691" y="2532490"/>
            <a:ext cx="1182624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9315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66bdbc600003a8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61" y="2535538"/>
            <a:ext cx="1197864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24602" y="3247246"/>
            <a:ext cx="27811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all three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every ratio is 1.5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is similar to triangle DEF.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d74494cbb92b60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89" y="2998436"/>
            <a:ext cx="6295140" cy="233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is similar to triangle DEF.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637064f2a1edf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3179"/>
            <a:ext cx="2526982" cy="12484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742" y="2975576"/>
            <a:ext cx="74856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names:  AC with DF,  BC with EF,  AB with DE</a:t>
            </a:r>
          </a:p>
        </p:txBody>
      </p:sp>
      <p:pic>
        <p:nvPicPr>
          <p:cNvPr id="12" name="Picture 11" descr="6ad28beba7d2f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606" y="3501356"/>
            <a:ext cx="1203960" cy="515112"/>
          </a:xfrm>
          <a:prstGeom prst="rect">
            <a:avLst/>
          </a:prstGeom>
        </p:spPr>
      </p:pic>
      <p:pic>
        <p:nvPicPr>
          <p:cNvPr id="13" name="Picture 12" descr="10e0b58bf3f66f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606" y="4220018"/>
            <a:ext cx="1633728" cy="21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998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pic>
        <p:nvPicPr>
          <p:cNvPr id="11" name="Picture 10" descr="c75e55e6849a0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31" y="3610687"/>
            <a:ext cx="1941576" cy="609600"/>
          </a:xfrm>
          <a:prstGeom prst="rect">
            <a:avLst/>
          </a:prstGeom>
        </p:spPr>
      </p:pic>
      <p:pic>
        <p:nvPicPr>
          <p:cNvPr id="12" name="Picture 11" descr="e275a5b65b3f1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331" y="4445267"/>
            <a:ext cx="181660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3939" y="4325443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4" name="Picture 13" descr="3414c92f419f2e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84" y="4442219"/>
            <a:ext cx="185318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8969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inches and 4 inches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e48dce5fbb9da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459338"/>
            <a:ext cx="6400800" cy="13160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 of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799b3f80e5b01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13" y="2459338"/>
            <a:ext cx="4754880" cy="1111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6613" y="2534848"/>
            <a:ext cx="4569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sorted:  6, 9, 12  and  8,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613" y="3037768"/>
            <a:ext cx="52318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middle sides match:  9 and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7, 8, 10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5, 6, 9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pic>
        <p:nvPicPr>
          <p:cNvPr id="9" name="Picture 8" descr="bdd3cfbd5300e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14" y="2532490"/>
            <a:ext cx="94488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8394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d6055516730cc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39" y="2535538"/>
            <a:ext cx="923544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5683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2450c0a5a44890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29" y="2535538"/>
            <a:ext cx="926592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8650" y="3247246"/>
            <a:ext cx="3754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one k for every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10, 12, 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13" y="2998436"/>
            <a:ext cx="2804892" cy="23083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902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41" y="2998436"/>
            <a:ext cx="2804892" cy="2308343"/>
          </a:xfrm>
          <a:prstGeom prst="rect">
            <a:avLst/>
          </a:prstGeom>
        </p:spPr>
      </p:pic>
      <p:pic>
        <p:nvPicPr>
          <p:cNvPr id="11" name="Picture 10" descr="1818a67803e262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18" y="3642068"/>
            <a:ext cx="1292352" cy="518160"/>
          </a:xfrm>
          <a:prstGeom prst="rect">
            <a:avLst/>
          </a:prstGeom>
        </p:spPr>
      </p:pic>
      <p:pic>
        <p:nvPicPr>
          <p:cNvPr id="12" name="Picture 11" descr="b7332b452dd02b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918" y="4354634"/>
            <a:ext cx="1645920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902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43" y="3427807"/>
            <a:ext cx="3526633" cy="1903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75" y="3427807"/>
            <a:ext cx="3526633" cy="1903144"/>
          </a:xfrm>
          <a:prstGeom prst="rect">
            <a:avLst/>
          </a:prstGeom>
        </p:spPr>
      </p:pic>
      <p:pic>
        <p:nvPicPr>
          <p:cNvPr id="11" name="Picture 10" descr="e99d1959ca4f8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92" y="3873411"/>
            <a:ext cx="1085088" cy="509016"/>
          </a:xfrm>
          <a:prstGeom prst="rect">
            <a:avLst/>
          </a:prstGeom>
        </p:spPr>
      </p:pic>
      <p:pic>
        <p:nvPicPr>
          <p:cNvPr id="12" name="Picture 11" descr="64fc6715d91c38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292" y="4579880"/>
            <a:ext cx="1959864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144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2.4 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5.5 ft up. In a 10-inch mirror on the ground 6 ft away, she sees the top of a flagpole 24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c407a63a3be43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034" y="3427807"/>
            <a:ext cx="2681451" cy="19410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23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5.5 ft up. In a 10-inch mirror on the ground 6 ft away, she sees the top of a flagpole 24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c407a63a3be43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634" y="3427807"/>
            <a:ext cx="2681451" cy="1941063"/>
          </a:xfrm>
          <a:prstGeom prst="rect">
            <a:avLst/>
          </a:prstGeom>
        </p:spPr>
      </p:pic>
      <p:pic>
        <p:nvPicPr>
          <p:cNvPr id="11" name="Picture 10" descr="3731fb59b131b3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469" y="3890847"/>
            <a:ext cx="1258824" cy="512064"/>
          </a:xfrm>
          <a:prstGeom prst="rect">
            <a:avLst/>
          </a:prstGeom>
        </p:spPr>
      </p:pic>
      <p:pic>
        <p:nvPicPr>
          <p:cNvPr id="12" name="Picture 11" descr="943d4d2d2ea61f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469" y="4600364"/>
            <a:ext cx="1862328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233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 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1" name="Picture 10" descr="d2dfa2bbc0368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467" y="3613020"/>
            <a:ext cx="1012793" cy="5110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25260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3d58659d8a7f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61" y="3610687"/>
            <a:ext cx="865774" cy="5133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11036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01b60fb0121f47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037" y="3615354"/>
            <a:ext cx="870442" cy="5087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1479" y="3638786"/>
            <a:ext cx="220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three ratios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similar means × one k, not + 2.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Are triangles with sides 4, 10, 12 and 6, 15, 20 similar? Show the three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7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Triangle PQR is similar to triangle XYZ. PQ is 8, QR is 10 and PR is 13, and XY is 20. Find YZ and XZ.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437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437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triangle has sides 15, 25 and 30. A similar triangle's longest side is 6. Find its other two sides.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1.5-m child casts a 2-m shadow. At the same moment a tree casts a 14-m shadow. How tall is the tree?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7141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7141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The two right triangles are similar and share corner A. The small one runs 3 m along the ground from A and stands 1.2 m high. The big one runs 12 m along the ground from A. How high is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8523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Which is similar to a triangle with sides 8, 10 and 14: one with sides 10, 12, 16, or one with sides 12, 15, 21? Show why.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Side lengths of similar triangles — QSK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Similar triangles and indirect measurement — 88W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similar triangles — 6PD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