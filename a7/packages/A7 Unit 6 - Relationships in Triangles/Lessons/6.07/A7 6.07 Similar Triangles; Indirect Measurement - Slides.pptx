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Similar Triangles; Indirect Measurement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MA.8.GR.2.4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side of similar triangles with the scale factor, and use similar triangles to measure what I cannot reach.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461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The triangle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017" y="1564719"/>
            <a:ext cx="697753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6771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261b9496b8e6f5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834" y="1564719"/>
            <a:ext cx="674020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04854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67db46e2c7538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917" y="1564719"/>
            <a:ext cx="655034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93951" y="1440180"/>
            <a:ext cx="4142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perimeter, to the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052828"/>
            <a:ext cx="9601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13-ft ladder's foot is 5 ft from a wall. How high does it reach?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85873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10 cm side is 4 cm in a copy. What is the scale factor?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78124"/>
            <a:ext cx="7911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At 1 in : 6 ft, a 3.5-in wall on a drawing is how long?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461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The triangle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017" y="1564719"/>
            <a:ext cx="697753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96771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261b9496b8e6f5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834" y="1564719"/>
            <a:ext cx="674020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04854" y="1440180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67db46e2c7538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917" y="1564719"/>
            <a:ext cx="655034" cy="270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93951" y="1440180"/>
            <a:ext cx="4142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perimeter, to the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897380"/>
            <a:ext cx="14645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8.6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510028"/>
            <a:ext cx="9601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13-ft ladder's foot is 5 ft from a wall. How high does it reach?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967228"/>
            <a:ext cx="864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 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79876"/>
            <a:ext cx="85873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10 cm side is 4 cm in a copy. What is the scale factor?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037076"/>
            <a:ext cx="12274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4649724"/>
            <a:ext cx="7911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At 1 in : 6 ft, a 3.5-in wall on a drawing is how long?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7727" y="4649724"/>
            <a:ext cx="864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21 ft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similar triangles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same shape, any size: matching angles equal, and every side multiplied by the same number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corresponding sides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03580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sides that match — across from equal angles: shortest with shortest, longest with longest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56941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factor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55053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copy ÷ original, for one matching pair of sides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08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indirect measurement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39673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finding a length you cannot reach from similar triangles you can measure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Similar: every side times the same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b1393c149350c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993392"/>
            <a:ext cx="7315200" cy="1765914"/>
          </a:xfrm>
          <a:prstGeom prst="rect">
            <a:avLst/>
          </a:prstGeom>
        </p:spPr>
      </p:pic>
      <p:pic>
        <p:nvPicPr>
          <p:cNvPr id="11" name="Picture 10" descr="dffa0e8c36125c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0197" y="3908658"/>
            <a:ext cx="1106424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86621" y="4015338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f0a344a8a323dc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7904" y="3914754"/>
            <a:ext cx="1295400" cy="667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23304" y="4015338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c01a75d5d6aaea9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4586" y="3905610"/>
            <a:ext cx="1316736" cy="6766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512176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Three ratios, all equal: similar. Match shortest to shortest, longest to longest.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 missing side: find k, then multiply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af1054aa98879b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993392"/>
            <a:ext cx="6858000" cy="2146433"/>
          </a:xfrm>
          <a:prstGeom prst="rect">
            <a:avLst/>
          </a:prstGeom>
        </p:spPr>
      </p:pic>
      <p:pic>
        <p:nvPicPr>
          <p:cNvPr id="11" name="Picture 10" descr="4bfdef353fb7e1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880" y="4286129"/>
            <a:ext cx="1889760" cy="670560"/>
          </a:xfrm>
          <a:prstGeom prst="rect">
            <a:avLst/>
          </a:prstGeom>
        </p:spPr>
      </p:pic>
      <p:pic>
        <p:nvPicPr>
          <p:cNvPr id="12" name="Picture 11" descr="4d0a8ac6cf842b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610" y="5286254"/>
            <a:ext cx="238963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09242" y="5208149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4" name="Picture 13" descr="8a8c7878b0eec0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0525" y="5279777"/>
            <a:ext cx="2691384" cy="36271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Same sun, same angle: shadows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111dd3fd22a0dc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544" y="1993392"/>
            <a:ext cx="3456432" cy="2650023"/>
          </a:xfrm>
          <a:prstGeom prst="rect">
            <a:avLst/>
          </a:prstGeom>
        </p:spPr>
      </p:pic>
      <p:pic>
        <p:nvPicPr>
          <p:cNvPr id="11" name="Picture 10" descr="2b85bcbfdf01e5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4789719"/>
            <a:ext cx="1609344" cy="670560"/>
          </a:xfrm>
          <a:prstGeom prst="rect">
            <a:avLst/>
          </a:prstGeom>
        </p:spPr>
      </p:pic>
      <p:pic>
        <p:nvPicPr>
          <p:cNvPr id="12" name="Picture 11" descr="1695fa317230a6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8320" y="5814657"/>
            <a:ext cx="1859232" cy="2548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97553" y="5711739"/>
            <a:ext cx="5628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two triangles are similar.</a:t>
            </a:r>
          </a:p>
        </p:txBody>
      </p:sp>
      <p:pic>
        <p:nvPicPr>
          <p:cNvPr id="9" name="Picture 8" descr="ge2425ae442de18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2276458"/>
            <a:ext cx="6858000" cy="26613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2670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x and 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a97477c281592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566672" cy="673608"/>
          </a:xfrm>
          <a:prstGeom prst="rect">
            <a:avLst/>
          </a:prstGeom>
        </p:spPr>
      </p:pic>
      <p:pic>
        <p:nvPicPr>
          <p:cNvPr id="9" name="Picture 8" descr="bbdfad226e56a2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060448" cy="277368"/>
          </a:xfrm>
          <a:prstGeom prst="rect">
            <a:avLst/>
          </a:prstGeom>
        </p:spPr>
      </p:pic>
      <p:pic>
        <p:nvPicPr>
          <p:cNvPr id="10" name="Picture 9" descr="75dd21dab41116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19856"/>
            <a:ext cx="2100072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 = 21, y =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3, 5 and 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similar triangle's shortest side is 12. Find its other two sides.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triangle has sides 3, 5 and 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similar triangle's shortest side is 12. Find its other two sides.</a:t>
            </a:r>
          </a:p>
        </p:txBody>
      </p:sp>
      <p:pic>
        <p:nvPicPr>
          <p:cNvPr id="10" name="Picture 9" descr="3ee81083405724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0147" y="2751548"/>
            <a:ext cx="1444752" cy="606552"/>
          </a:xfrm>
          <a:prstGeom prst="rect">
            <a:avLst/>
          </a:prstGeom>
        </p:spPr>
      </p:pic>
      <p:pic>
        <p:nvPicPr>
          <p:cNvPr id="11" name="Picture 10" descr="100b1b51da19d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0147" y="3583081"/>
            <a:ext cx="141732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07467" y="3463256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a5ec2c20a171f5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212" y="3580033"/>
            <a:ext cx="1386840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20 and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737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5-ft girl casts a 3-ft shadow. At the same moment,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128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flagpole casts a 15-ft shadow.</a:t>
            </a:r>
          </a:p>
        </p:txBody>
      </p:sp>
      <p:pic>
        <p:nvPicPr>
          <p:cNvPr id="10" name="Picture 9" descr="g0cfc49998507ca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751936"/>
            <a:ext cx="3017520" cy="256072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tall is the flagpole?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c5833f2d00d703a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575816" cy="673608"/>
          </a:xfrm>
          <a:prstGeom prst="rect">
            <a:avLst/>
          </a:prstGeom>
        </p:spPr>
      </p:pic>
      <p:pic>
        <p:nvPicPr>
          <p:cNvPr id="9" name="Picture 8" descr="04445b739800ca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103120" cy="289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flagpole is 25 ft tall.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2-m post casts a 1.5-m shadow. At the same moment,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building casts a 12-m shadow. How tall is the building?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2-m post casts a 1.5-m shadow. At the same moment,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building casts a 12-m shadow. How tall is the building?</a:t>
            </a:r>
          </a:p>
        </p:txBody>
      </p:sp>
      <p:pic>
        <p:nvPicPr>
          <p:cNvPr id="10" name="Picture 9" descr="06184dcef0298b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267" y="2751548"/>
            <a:ext cx="1511808" cy="609600"/>
          </a:xfrm>
          <a:prstGeom prst="rect">
            <a:avLst/>
          </a:prstGeom>
        </p:spPr>
      </p:pic>
      <p:pic>
        <p:nvPicPr>
          <p:cNvPr id="11" name="Picture 10" descr="b9b66c1a26ec43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2267" y="3573937"/>
            <a:ext cx="1889760" cy="262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 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Are triangles with sides 8, 12, 14 and 12, 18, 21 similar?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Are triangles with sides 8, 12, 14 and 12, 18, 21 similar?</a:t>
            </a:r>
          </a:p>
        </p:txBody>
      </p:sp>
      <p:pic>
        <p:nvPicPr>
          <p:cNvPr id="9" name="Picture 8" descr="29d440c348e857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466" y="2538586"/>
            <a:ext cx="1173480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2946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1" name="Picture 10" descr="74a531e9e94642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6691" y="2532490"/>
            <a:ext cx="1182624" cy="609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19315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66bdbc600003a8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3061" y="2535538"/>
            <a:ext cx="1197864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24602" y="3247246"/>
            <a:ext cx="27811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all three equal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every ratio is 1.5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 cm, 8 cm and 11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similar triangle's shortest side is 18 cm.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other two sides.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 cm, 8 cm and 11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similar triangle's shortest side is 18 cm.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other two sides.</a:t>
            </a:r>
          </a:p>
        </p:txBody>
      </p:sp>
      <p:pic>
        <p:nvPicPr>
          <p:cNvPr id="11" name="Picture 10" descr="53eec5d611581b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3571" y="3610687"/>
            <a:ext cx="1423416" cy="609600"/>
          </a:xfrm>
          <a:prstGeom prst="rect">
            <a:avLst/>
          </a:prstGeom>
        </p:spPr>
      </p:pic>
      <p:pic>
        <p:nvPicPr>
          <p:cNvPr id="12" name="Picture 11" descr="2bce47045ed4cc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571" y="4445267"/>
            <a:ext cx="1389888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43459" y="4325443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4" name="Picture 13" descr="ec052705d97f00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204" y="4445267"/>
            <a:ext cx="1487424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8969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 cm and 33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12 in, 16 in and 20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similar triangle's longest side is 5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other two sides.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12 in, 16 in and 20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similar triangle's longest side is 5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other two sides.</a:t>
            </a:r>
          </a:p>
        </p:txBody>
      </p:sp>
      <p:pic>
        <p:nvPicPr>
          <p:cNvPr id="11" name="Picture 10" descr="c75e55e6849a05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7331" y="3610687"/>
            <a:ext cx="1941576" cy="609600"/>
          </a:xfrm>
          <a:prstGeom prst="rect">
            <a:avLst/>
          </a:prstGeom>
        </p:spPr>
      </p:pic>
      <p:pic>
        <p:nvPicPr>
          <p:cNvPr id="12" name="Picture 11" descr="e275a5b65b3f10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331" y="4445267"/>
            <a:ext cx="1816608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3939" y="4325443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4" name="Picture 13" descr="3414c92f419f2e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684" y="4442219"/>
            <a:ext cx="1853184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8969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in and 4 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Similar triangles: which side of the second matches the 9?</a:t>
            </a:r>
          </a:p>
        </p:txBody>
      </p:sp>
      <p:pic>
        <p:nvPicPr>
          <p:cNvPr id="9" name="Picture 8" descr="ge48dce5fbb9daf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2459338"/>
            <a:ext cx="6400800" cy="13160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40131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131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98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989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Similar triangles: which side of the second matches the 9?</a:t>
            </a:r>
          </a:p>
        </p:txBody>
      </p:sp>
      <p:pic>
        <p:nvPicPr>
          <p:cNvPr id="9" name="Picture 8" descr="g799b3f80e5b013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13" y="2459338"/>
            <a:ext cx="4754880" cy="11111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6613" y="2534848"/>
            <a:ext cx="45698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sorted:  6, 9, 12  and  8, 12,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6613" y="3037768"/>
            <a:ext cx="52318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middle sides match:  9 and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the 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triangle is similar to one with sides 5, 6 and 8?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7, 8, 10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507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10, 12, 16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10, 12, 15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3657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5, 6, 9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triangle is similar to one with sides 5, 6 and 8?</a:t>
            </a:r>
          </a:p>
        </p:txBody>
      </p:sp>
      <p:pic>
        <p:nvPicPr>
          <p:cNvPr id="9" name="Picture 8" descr="bdd3cfbd5300e6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3514" y="2532490"/>
            <a:ext cx="944880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8394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1" name="Picture 10" descr="d6055516730cc4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2139" y="2535538"/>
            <a:ext cx="923544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15683" y="2608690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2450c0a5a44890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429" y="2535538"/>
            <a:ext cx="926592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08650" y="3247246"/>
            <a:ext cx="37544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one k for every side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10, 12, 16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4-ft post casts a 2.5-ft shadow as a tree casts a 15-ft shadow.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  <p:pic>
        <p:nvPicPr>
          <p:cNvPr id="10" name="Picture 9" descr="g03db603ddd3fae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313" y="2998436"/>
            <a:ext cx="2804892" cy="230834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902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4-ft post casts a 2.5-ft shadow as a tree casts a 15-ft shadow.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tall is the tree?</a:t>
            </a:r>
          </a:p>
        </p:txBody>
      </p:sp>
      <p:pic>
        <p:nvPicPr>
          <p:cNvPr id="10" name="Picture 9" descr="g03db603ddd3fae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2641" y="2998436"/>
            <a:ext cx="2804892" cy="2308343"/>
          </a:xfrm>
          <a:prstGeom prst="rect">
            <a:avLst/>
          </a:prstGeom>
        </p:spPr>
      </p:pic>
      <p:pic>
        <p:nvPicPr>
          <p:cNvPr id="11" name="Picture 10" descr="1818a67803e262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918" y="3642068"/>
            <a:ext cx="1292352" cy="518160"/>
          </a:xfrm>
          <a:prstGeom prst="rect">
            <a:avLst/>
          </a:prstGeom>
        </p:spPr>
      </p:pic>
      <p:pic>
        <p:nvPicPr>
          <p:cNvPr id="12" name="Picture 11" descr="b7332b452dd02b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918" y="4354634"/>
            <a:ext cx="1645920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9024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 ft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0.6 m over its first 2 m from A. The right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is the ramp 8 m from A?</a:t>
            </a:r>
          </a:p>
        </p:txBody>
      </p:sp>
      <p:pic>
        <p:nvPicPr>
          <p:cNvPr id="10" name="Picture 9" descr="ga1f7235b1f551c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7443" y="3427807"/>
            <a:ext cx="3526633" cy="1903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144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0.6 m over its first 2 m from A. The right triangles are similar.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is the ramp 8 m from A?</a:t>
            </a:r>
          </a:p>
        </p:txBody>
      </p:sp>
      <p:pic>
        <p:nvPicPr>
          <p:cNvPr id="10" name="Picture 9" descr="ga1f7235b1f551c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3275" y="3427807"/>
            <a:ext cx="3526633" cy="1903144"/>
          </a:xfrm>
          <a:prstGeom prst="rect">
            <a:avLst/>
          </a:prstGeom>
        </p:spPr>
      </p:pic>
      <p:pic>
        <p:nvPicPr>
          <p:cNvPr id="11" name="Picture 10" descr="e99d1959ca4f8c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6292" y="3873411"/>
            <a:ext cx="1085088" cy="509016"/>
          </a:xfrm>
          <a:prstGeom prst="rect">
            <a:avLst/>
          </a:prstGeom>
        </p:spPr>
      </p:pic>
      <p:pic>
        <p:nvPicPr>
          <p:cNvPr id="12" name="Picture 11" descr="64fc6715d91c38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292" y="4579880"/>
            <a:ext cx="1959864" cy="222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144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2.4 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Lena's eyes are 5 ft up. In a mirror on the ground 4 ft away she sees the top of a 45-year-old flagpole, 16 ft past the mirror.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The triangles are similar. How tall is the flagpole?</a:t>
            </a:r>
          </a:p>
        </p:txBody>
      </p:sp>
      <p:pic>
        <p:nvPicPr>
          <p:cNvPr id="10" name="Picture 9" descr="g7a629c53913334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851" y="3427807"/>
            <a:ext cx="1983817" cy="19242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3555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Lena's eyes are 5 ft up. In a mirror on the ground 4 ft away she sees the top of a 45-year-old flagpole, 16 ft past the mirror.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The triangles are similar. How tall is the flagpole?</a:t>
            </a:r>
          </a:p>
        </p:txBody>
      </p:sp>
      <p:pic>
        <p:nvPicPr>
          <p:cNvPr id="10" name="Picture 9" descr="g7a629c53913334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3179" y="3427807"/>
            <a:ext cx="1983817" cy="1924285"/>
          </a:xfrm>
          <a:prstGeom prst="rect">
            <a:avLst/>
          </a:prstGeom>
        </p:spPr>
      </p:pic>
      <p:pic>
        <p:nvPicPr>
          <p:cNvPr id="11" name="Picture 10" descr="d89cf00d483841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3380" y="3883982"/>
            <a:ext cx="1225296" cy="509016"/>
          </a:xfrm>
          <a:prstGeom prst="rect">
            <a:avLst/>
          </a:prstGeom>
        </p:spPr>
      </p:pic>
      <p:pic>
        <p:nvPicPr>
          <p:cNvPr id="12" name="Picture 11" descr="ca6ea06f1d290d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3380" y="4587403"/>
            <a:ext cx="1642872" cy="222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355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20 ft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Kim says triangles with sides 3, 4, 5 and 5, 6, 7 are similar,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each side grew by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Kim says triangles with sides 3, 4, 5 and 5, 6, 7 are similar,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each side grew by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1" name="Picture 10" descr="d2dfa2bbc03684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2467" y="3613020"/>
            <a:ext cx="1012793" cy="5110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25260" y="3638786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43d58659d8a7f4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261" y="3610687"/>
            <a:ext cx="865774" cy="5133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11036" y="3638786"/>
            <a:ext cx="557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01b60fb0121f47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1037" y="3615354"/>
            <a:ext cx="870442" cy="50873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01479" y="3638786"/>
            <a:ext cx="220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:  three ratios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similar means × one k, not + 2.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0" i="0">
                <a:solidFill>
                  <a:srgbClr val="1A1A1A"/>
                </a:solidFill>
                <a:latin typeface="Lexend"/>
              </a:rPr>
              <a:t>Are triangles with sides 4, 10, 12 and 6, 15, 20 similar? Show the three ratios.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3911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3911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0" i="0">
                <a:solidFill>
                  <a:srgbClr val="1A1A1A"/>
                </a:solidFill>
                <a:latin typeface="Lexend"/>
              </a:rPr>
              <a:t>A triangle has sides 8, 10 and 13. A similar triangle's 10-side is 25. Find its other two sides.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620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6207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0" i="0">
                <a:solidFill>
                  <a:srgbClr val="1A1A1A"/>
                </a:solidFill>
                <a:latin typeface="Lexend"/>
              </a:rPr>
              <a:t>A triangle has sides 15, 25 and 30. A similar triangle's longest side is 6. Find its other two sides.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68503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68503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0" i="0">
                <a:solidFill>
                  <a:srgbClr val="1A1A1A"/>
                </a:solidFill>
                <a:latin typeface="Lexend"/>
              </a:rPr>
              <a:t>A 1.5-m child casts a 2-m shadow. At the same moment a tree casts a 14-m shadow. How tall is the tree?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50799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0799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0" i="0">
                <a:solidFill>
                  <a:srgbClr val="1A1A1A"/>
                </a:solidFill>
                <a:latin typeface="Lexend"/>
              </a:rPr>
              <a:t>Two similar right triangles share corner A. The small one runs 3 m along the ground and stands 1.2 m high. The big one's upright is 9 m beyond the small one's. How high is it?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33095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3095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10" b="0" i="0">
                <a:solidFill>
                  <a:srgbClr val="1A1A1A"/>
                </a:solidFill>
                <a:latin typeface="Lexend"/>
              </a:rPr>
              <a:t>Which is similar to a triangle with sides 8, 10 and 14: one with sides 10, 12, 16, or one with sides 12, 15, 21? Show why.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Lessons 7–8 — Similar Triangles; Indirect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Side lengths of similar triangles — QSK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Similar triangles and indirect measurement — 88W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similar triangles — 6PD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