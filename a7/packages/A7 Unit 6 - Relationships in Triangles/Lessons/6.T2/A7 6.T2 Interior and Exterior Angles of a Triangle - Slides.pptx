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57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THREAD B ·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Interior and Exterior Angles of a Triangle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missing angle of a triangle, inside or outside, with the Triangle Sum and the Exterior Angle Theorem.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1212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What is the supplement of 83°?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0" name="Picture 9" descr="d761eb6c578c3e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177367"/>
            <a:ext cx="1127323" cy="2705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4437" y="20528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2" name="Picture 11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021" y="2179740"/>
            <a:ext cx="688260" cy="268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68282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6577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12 pens cost $9. What does one pen cost?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796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straight angle is split into 50°, 60° and x°. Find 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1212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What is the supplement of 83°?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7249" y="1440180"/>
            <a:ext cx="699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97°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1" name="Picture 10" descr="d761eb6c578c3e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177367"/>
            <a:ext cx="1127323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4437" y="20528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021" y="2179740"/>
            <a:ext cx="688260" cy="268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68282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0393" y="2052828"/>
            <a:ext cx="14059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6577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12 pens cost $9. What does one pen cost?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3235" y="2665476"/>
            <a:ext cx="10088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$0.75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78124"/>
            <a:ext cx="796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straight angle is split into 50°, 60° and x°. Find 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8483" y="3278124"/>
            <a:ext cx="5714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interior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an angle inside a triangle, at one of its corners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exterior 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angle between one side of a triangle and the next side extended; it makes a linear pair with the interior angle beside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remote interior angles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two interior angles that are not beside a given exterior 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3874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Triangle Sum Theorem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468112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three interior angles of a triangle add to 180°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Triangle Sum: the three angles make 180°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a522339bbcb9f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59" y="1993392"/>
            <a:ext cx="3657600" cy="2548021"/>
          </a:xfrm>
          <a:prstGeom prst="rect">
            <a:avLst/>
          </a:prstGeom>
        </p:spPr>
      </p:pic>
      <p:pic>
        <p:nvPicPr>
          <p:cNvPr id="11" name="Picture 10" descr="0aedc77137df4b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878" y="4742962"/>
            <a:ext cx="285902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98902" y="4664857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45e378d9b5b720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185" y="4746010"/>
            <a:ext cx="981455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396377"/>
            <a:ext cx="5980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 triangle's three angles add to 180°:  </a:t>
            </a:r>
          </a:p>
        </p:txBody>
      </p:sp>
      <p:pic>
        <p:nvPicPr>
          <p:cNvPr id="15" name="Picture 14" descr="9263d6474ca215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695" y="5520916"/>
            <a:ext cx="3540982" cy="218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Exterior Angle Theorem: outside = the two remote angles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cc45d7beb9c033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993392"/>
            <a:ext cx="3749039" cy="2344136"/>
          </a:xfrm>
          <a:prstGeom prst="rect">
            <a:avLst/>
          </a:prstGeom>
        </p:spPr>
      </p:pic>
      <p:pic>
        <p:nvPicPr>
          <p:cNvPr id="11" name="Picture 10" descr="89c2ce4528c0ee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677" y="4574621"/>
            <a:ext cx="2487025" cy="2441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80702" y="4460972"/>
            <a:ext cx="18753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check:  </a:t>
            </a:r>
          </a:p>
        </p:txBody>
      </p:sp>
      <p:pic>
        <p:nvPicPr>
          <p:cNvPr id="13" name="Picture 12" descr="8a37fc46900708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859" y="4571938"/>
            <a:ext cx="2148982" cy="246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23364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Not the angle beside it, and not the angle around the outside.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Angles as expressions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dd6c2edffde6da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993392"/>
            <a:ext cx="4206240" cy="2337783"/>
          </a:xfrm>
          <a:prstGeom prst="rect">
            <a:avLst/>
          </a:prstGeom>
        </p:spPr>
      </p:pic>
      <p:pic>
        <p:nvPicPr>
          <p:cNvPr id="11" name="Picture 10" descr="647c8375d7d21a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949" y="4529676"/>
            <a:ext cx="369417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52125" y="4454619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7b3e3f23e8ea7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532724"/>
            <a:ext cx="1435608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29016" y="4454619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d16345bfb60264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298" y="4535772"/>
            <a:ext cx="1033271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65073" y="5140419"/>
            <a:ext cx="2144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the angles:  </a:t>
            </a:r>
          </a:p>
        </p:txBody>
      </p:sp>
      <p:pic>
        <p:nvPicPr>
          <p:cNvPr id="17" name="Picture 16" descr="51b693d0751e4d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096" y="5254069"/>
            <a:ext cx="394382" cy="2441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66479" y="514041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51b693d0751e4d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4642" y="5254069"/>
            <a:ext cx="394382" cy="24414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09025" y="514041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b785117b1b16150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7188" y="5254069"/>
            <a:ext cx="539257" cy="2441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1000" y="1440180"/>
            <a:ext cx="44332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angles of a triangle are </a:t>
            </a:r>
          </a:p>
        </p:txBody>
      </p:sp>
      <p:pic>
        <p:nvPicPr>
          <p:cNvPr id="9" name="Picture 8" descr="47c3ebd1b5118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137" y="1557718"/>
            <a:ext cx="482917" cy="227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0054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4dddd1a4fe592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561" y="1557718"/>
            <a:ext cx="440817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27378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2f72bb38c53d66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79" y="2148840"/>
            <a:ext cx="4023360" cy="30921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57017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18609985cbbf0f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167128" cy="280416"/>
          </a:xfrm>
          <a:prstGeom prst="rect">
            <a:avLst/>
          </a:prstGeom>
        </p:spPr>
      </p:pic>
      <p:pic>
        <p:nvPicPr>
          <p:cNvPr id="9" name="Picture 8" descr="b31b8f2372dd4a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2959608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third angle is 51°.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3664" y="1577340"/>
            <a:ext cx="44332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angles of a triangle are </a:t>
            </a:r>
          </a:p>
        </p:txBody>
      </p:sp>
      <p:pic>
        <p:nvPicPr>
          <p:cNvPr id="9" name="Picture 8" descr="93bc96f2cc69f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801" y="1697355"/>
            <a:ext cx="465582" cy="227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35383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727d2cc0503a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890" y="1697355"/>
            <a:ext cx="492823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471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9950" y="1577340"/>
            <a:ext cx="44332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angles of a triangle are </a:t>
            </a:r>
          </a:p>
        </p:txBody>
      </p:sp>
      <p:pic>
        <p:nvPicPr>
          <p:cNvPr id="9" name="Picture 8" descr="4598b182d9f6bf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086" y="1697355"/>
            <a:ext cx="470534" cy="227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36621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509e5756a63da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128" y="1697355"/>
            <a:ext cx="495299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42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  <p:pic>
        <p:nvPicPr>
          <p:cNvPr id="14" name="Picture 13" descr="4cdaf6218c704a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203" y="2995214"/>
            <a:ext cx="1993392" cy="252984"/>
          </a:xfrm>
          <a:prstGeom prst="rect">
            <a:avLst/>
          </a:prstGeom>
        </p:spPr>
      </p:pic>
      <p:pic>
        <p:nvPicPr>
          <p:cNvPr id="15" name="Picture 14" descr="0eee067290a38f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203" y="3534710"/>
            <a:ext cx="2151888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57°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5154" y="1714500"/>
            <a:ext cx="5925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</a:t>
            </a:r>
          </a:p>
        </p:txBody>
      </p:sp>
      <p:pic>
        <p:nvPicPr>
          <p:cNvPr id="9" name="Picture 8" descr="2db8d970bac03f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546" y="1832038"/>
            <a:ext cx="490347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93893" y="171450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941c731884e8b0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400" y="1832038"/>
            <a:ext cx="492823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03223" y="17145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914915b016051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79" y="2423160"/>
            <a:ext cx="4023360" cy="26765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4289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exterior angle 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a6436ee197a6c8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88920" cy="280416"/>
          </a:xfrm>
          <a:prstGeom prst="rect">
            <a:avLst/>
          </a:prstGeom>
        </p:spPr>
      </p:pic>
      <p:pic>
        <p:nvPicPr>
          <p:cNvPr id="9" name="Picture 8" descr="a03bc7e3a59a78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5955792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exterior angle is 113°.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2396" y="1577340"/>
            <a:ext cx="5925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</a:t>
            </a:r>
          </a:p>
        </p:txBody>
      </p:sp>
      <p:pic>
        <p:nvPicPr>
          <p:cNvPr id="9" name="Picture 8" descr="04116200ab91a5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787" y="1694878"/>
            <a:ext cx="458152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8940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d30b8c97d4403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447" y="1697355"/>
            <a:ext cx="470534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75982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exterior angle.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9919" y="1577340"/>
            <a:ext cx="5925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</a:t>
            </a:r>
          </a:p>
        </p:txBody>
      </p:sp>
      <p:pic>
        <p:nvPicPr>
          <p:cNvPr id="9" name="Picture 8" descr="04116200ab91a5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311" y="1694878"/>
            <a:ext cx="458152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6463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7cb83dab77d384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970" y="1697355"/>
            <a:ext cx="475488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7845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exterior angle.</a:t>
            </a:r>
          </a:p>
        </p:txBody>
      </p:sp>
      <p:pic>
        <p:nvPicPr>
          <p:cNvPr id="14" name="Picture 13" descr="30206c3aca93b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1" y="2995214"/>
            <a:ext cx="1975104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107°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Two angles of a triangle are 47° and 68°. Find the third angle.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Two angles of a triangle are 47° and 68°. Find the third angle.</a:t>
            </a:r>
          </a:p>
        </p:txBody>
      </p:sp>
      <p:pic>
        <p:nvPicPr>
          <p:cNvPr id="9" name="Picture 8" descr="0e1ea345931b3e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251" y="2623358"/>
            <a:ext cx="1987296" cy="256032"/>
          </a:xfrm>
          <a:prstGeom prst="rect">
            <a:avLst/>
          </a:prstGeom>
        </p:spPr>
      </p:pic>
      <p:pic>
        <p:nvPicPr>
          <p:cNvPr id="10" name="Picture 9" descr="5a6504566eb37c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251" y="3165902"/>
            <a:ext cx="2142744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65°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isosceles triangle's two base angles are equal. Each is 52°.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isosceles triangle's two base angles are equal. Each is 52°.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  <p:pic>
        <p:nvPicPr>
          <p:cNvPr id="10" name="Picture 9" descr="5896b664cb0ee0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3" y="3168553"/>
            <a:ext cx="2023872" cy="252984"/>
          </a:xfrm>
          <a:prstGeom prst="rect">
            <a:avLst/>
          </a:prstGeom>
        </p:spPr>
      </p:pic>
      <p:pic>
        <p:nvPicPr>
          <p:cNvPr id="11" name="Picture 10" descr="05c73aed05dead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3" y="3705001"/>
            <a:ext cx="2197608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76°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38° and 77°.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exterior angle x.</a:t>
            </a:r>
          </a:p>
        </p:txBody>
      </p:sp>
      <p:pic>
        <p:nvPicPr>
          <p:cNvPr id="10" name="Picture 9" descr="g4acad889d515fe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490" y="2998436"/>
            <a:ext cx="4188538" cy="22867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38° and 77°.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exterior angle x.</a:t>
            </a:r>
          </a:p>
        </p:txBody>
      </p:sp>
      <p:pic>
        <p:nvPicPr>
          <p:cNvPr id="10" name="Picture 9" descr="g4acad889d515fe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742" y="2998436"/>
            <a:ext cx="4188538" cy="2286795"/>
          </a:xfrm>
          <a:prstGeom prst="rect">
            <a:avLst/>
          </a:prstGeom>
        </p:spPr>
      </p:pic>
      <p:pic>
        <p:nvPicPr>
          <p:cNvPr id="11" name="Picture 10" descr="f6703d768b6f6b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665" y="4048203"/>
            <a:ext cx="2097024" cy="21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115°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45°, 60° and 75°.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exterior angle beside the 75°?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105°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285°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45°, 60° and 75°.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exterior angle beside the 75°?</a:t>
            </a:r>
          </a:p>
        </p:txBody>
      </p:sp>
      <p:pic>
        <p:nvPicPr>
          <p:cNvPr id="10" name="Picture 9" descr="b2800e49e8c99d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064" y="3165505"/>
            <a:ext cx="204520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84200" y="3588224"/>
            <a:ext cx="1548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2" name="Picture 11" descr="89eaa96462cb0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141" y="3709097"/>
            <a:ext cx="2182177" cy="2513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105°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of a triangle is 130°. One remote interior angle is 55°.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other remote interior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of a triangle is 130°. One remote interior angle is 55°.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other remote interior angle.</a:t>
            </a:r>
          </a:p>
        </p:txBody>
      </p:sp>
      <p:pic>
        <p:nvPicPr>
          <p:cNvPr id="10" name="Picture 9" descr="8ce054ff8a0825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39" y="3597923"/>
            <a:ext cx="1801368" cy="252984"/>
          </a:xfrm>
          <a:prstGeom prst="rect">
            <a:avLst/>
          </a:prstGeom>
        </p:spPr>
      </p:pic>
      <p:pic>
        <p:nvPicPr>
          <p:cNvPr id="11" name="Picture 10" descr="10fb68966b6f5d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39" y="4137419"/>
            <a:ext cx="886968" cy="2499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75°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0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</a:t>
            </a:r>
          </a:p>
        </p:txBody>
      </p:sp>
      <p:pic>
        <p:nvPicPr>
          <p:cNvPr id="9" name="Picture 8" descr="3e2f38cf5d6a5b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46" y="1969198"/>
            <a:ext cx="307086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803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19a77d2ef13e07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39" y="1971675"/>
            <a:ext cx="470534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9574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bcd545b5207fdb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080" y="1969198"/>
            <a:ext cx="1327404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348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each angle.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0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</a:t>
            </a:r>
          </a:p>
        </p:txBody>
      </p:sp>
      <p:pic>
        <p:nvPicPr>
          <p:cNvPr id="9" name="Picture 8" descr="3e2f38cf5d6a5b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46" y="1969198"/>
            <a:ext cx="307086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803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4d05019691e271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39" y="1971675"/>
            <a:ext cx="473011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22050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9017c2bef06e0a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557" y="1966722"/>
            <a:ext cx="1329880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8437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each angle.</a:t>
            </a:r>
          </a:p>
        </p:txBody>
      </p:sp>
      <p:pic>
        <p:nvPicPr>
          <p:cNvPr id="16" name="Picture 15" descr="d81f3f45ef9c4b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5922" y="3242102"/>
            <a:ext cx="3236976" cy="2529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92898" y="3122278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8" name="Picture 17" descr="84cb4c1234df5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644" y="3239054"/>
            <a:ext cx="1258824" cy="2529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35467" y="3122278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0" name="Picture 19" descr="b240ecaec035e4d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9213" y="3242102"/>
            <a:ext cx="896112" cy="249935"/>
          </a:xfrm>
          <a:prstGeom prst="rect">
            <a:avLst/>
          </a:prstGeom>
        </p:spPr>
      </p:pic>
      <p:pic>
        <p:nvPicPr>
          <p:cNvPr id="21" name="Picture 20" descr="c48d1166260cd6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5922" y="3778550"/>
            <a:ext cx="1563624" cy="3169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19546" y="3661774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3" name="Picture 22" descr="65e6d91ac736a0f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3292" y="3775502"/>
            <a:ext cx="2234184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28°, 84° and 68°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838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measures </a:t>
            </a:r>
          </a:p>
        </p:txBody>
      </p:sp>
      <p:pic>
        <p:nvPicPr>
          <p:cNvPr id="9" name="Picture 8" descr="6fc36d4d507b14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169" y="1969198"/>
            <a:ext cx="1198626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979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54709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remote interior angles measure </a:t>
            </a:r>
          </a:p>
        </p:txBody>
      </p:sp>
      <p:pic>
        <p:nvPicPr>
          <p:cNvPr id="12" name="Picture 11" descr="2199f872223f1d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76" y="2581846"/>
            <a:ext cx="473011" cy="2278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1287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4" name="Picture 13" descr="2914b62989f40b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94" y="2581846"/>
            <a:ext cx="690943" cy="284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48737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8" name="Picture 17" descr="82554d18127d50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24842"/>
            <a:ext cx="2819400" cy="2773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20" name="Picture 19" descr="8d07209786ff86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827890"/>
            <a:ext cx="1810512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91640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22" name="Picture 21" descr="0ba96a21739ff63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8568" y="4437490"/>
            <a:ext cx="2612136" cy="2773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37959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4" name="Picture 23" descr="b32043de87a5dee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4437490"/>
            <a:ext cx="3621024" cy="277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512024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838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measures </a:t>
            </a:r>
          </a:p>
        </p:txBody>
      </p:sp>
      <p:pic>
        <p:nvPicPr>
          <p:cNvPr id="9" name="Picture 8" descr="d7eb0f2d681788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169" y="1966722"/>
            <a:ext cx="1203579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8474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54709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remote interior angles measure </a:t>
            </a:r>
          </a:p>
        </p:txBody>
      </p:sp>
      <p:pic>
        <p:nvPicPr>
          <p:cNvPr id="12" name="Picture 11" descr="2199f872223f1d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76" y="2581846"/>
            <a:ext cx="473011" cy="2278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1287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4" name="Picture 13" descr="2e968d0415b3e8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94" y="2579370"/>
            <a:ext cx="695896" cy="2872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5369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1952" y="3734926"/>
            <a:ext cx="79147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outside = the two far ones:  5x + 4 = 52 + 3x</a:t>
            </a:r>
          </a:p>
        </p:txBody>
      </p:sp>
      <p:pic>
        <p:nvPicPr>
          <p:cNvPr id="18" name="Picture 17" descr="855664d81a55cc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816" y="4394246"/>
            <a:ext cx="1100328" cy="2499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47144" y="4274422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0" name="Picture 19" descr="304dcdfd387364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890" y="4391198"/>
            <a:ext cx="914400" cy="24993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5x + 4 = 52 + 3x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angles of 41° and 66°, and its longest side is 9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third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angles of 41° and 66°, and its longest side is 9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third angle.</a:t>
            </a:r>
          </a:p>
        </p:txBody>
      </p:sp>
      <p:pic>
        <p:nvPicPr>
          <p:cNvPr id="10" name="Picture 9" descr="f9b56ca1453b15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1" y="3165505"/>
            <a:ext cx="2005584" cy="256032"/>
          </a:xfrm>
          <a:prstGeom prst="rect">
            <a:avLst/>
          </a:prstGeom>
        </p:spPr>
      </p:pic>
      <p:pic>
        <p:nvPicPr>
          <p:cNvPr id="11" name="Picture 10" descr="d164afe1fd8f71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1" y="3708049"/>
            <a:ext cx="2157984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73°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is an exterior angle always bigger than either remote interior 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is an exterior angle always bigger than either remote interior 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4873" y="2939000"/>
            <a:ext cx="22738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for example:  </a:t>
            </a:r>
          </a:p>
        </p:txBody>
      </p:sp>
      <p:pic>
        <p:nvPicPr>
          <p:cNvPr id="10" name="Picture 9" descr="1cf37538407c01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584" y="3074255"/>
            <a:ext cx="1726882" cy="2146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8467" y="2939000"/>
            <a:ext cx="5267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more than 40 and more than 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It is the two remote angles added, each more than 0°.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817310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Two angles of a triangle are 63° and 79°. Find the third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8178"/>
            <a:ext cx="960650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 isosceles triangle's two base angles are equal. The angle between its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31310"/>
            <a:ext cx="602371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two equal sides is 40°. Find each base angle.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62457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62457"/>
            <a:ext cx="993057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triangle's remote interior angles are 46° and 58°. Find the exterior angle.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93604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93604"/>
            <a:ext cx="9517483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 exterior angle of a triangle is 140°. One remote interior angle is 62°.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96735"/>
            <a:ext cx="207169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Find the other.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27882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27882"/>
            <a:ext cx="317948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triangle's angles are </a:t>
            </a:r>
          </a:p>
        </p:txBody>
      </p:sp>
      <p:pic>
        <p:nvPicPr>
          <p:cNvPr id="20" name="Picture 19" descr="29df01d514fa3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804" y="4507196"/>
            <a:ext cx="637297" cy="2588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34101" y="4427882"/>
            <a:ext cx="35718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04becd1bdf09d2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126" y="4507196"/>
            <a:ext cx="631731" cy="25881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85857" y="4427882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4" name="Picture 23" descr="01c992824f9bab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445" y="4507196"/>
            <a:ext cx="656777" cy="2588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66222" y="4427882"/>
            <a:ext cx="248179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each angle.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59029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59029"/>
            <a:ext cx="553524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 exterior angle of a triangle measures </a:t>
            </a:r>
          </a:p>
        </p:txBody>
      </p:sp>
      <p:pic>
        <p:nvPicPr>
          <p:cNvPr id="28" name="Picture 27" descr="9da31d5850a0f0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560" y="5038343"/>
            <a:ext cx="1249547" cy="25881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02107" y="4959029"/>
            <a:ext cx="277458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; its remote interior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62160"/>
            <a:ext cx="234101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angles measure </a:t>
            </a:r>
          </a:p>
        </p:txBody>
      </p:sp>
      <p:pic>
        <p:nvPicPr>
          <p:cNvPr id="31" name="Picture 30" descr="985ed041d11c307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332" y="5467913"/>
            <a:ext cx="445273" cy="20593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3605" y="5362160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33" name="Picture 32" descr="29df01d514fa3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93" y="5441475"/>
            <a:ext cx="637297" cy="25881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64490" y="5362160"/>
            <a:ext cx="414554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Write an equation and find x.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11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missing angles in triangles — JFJ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Exterior Angle Theorem — FMP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Triangle Angle-Sum Theorem — 6Q6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