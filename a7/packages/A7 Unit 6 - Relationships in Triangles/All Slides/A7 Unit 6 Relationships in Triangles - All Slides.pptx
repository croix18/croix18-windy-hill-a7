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3.xml"/><Relationship Id="rId5" Type="http://schemas.openxmlformats.org/officeDocument/2006/relationships/slide" Target="slide108.xml"/><Relationship Id="rId6" Type="http://schemas.openxmlformats.org/officeDocument/2006/relationships/slide" Target="slide143.xml"/><Relationship Id="rId7" Type="http://schemas.openxmlformats.org/officeDocument/2006/relationships/slide" Target="slide178.xml"/><Relationship Id="rId8" Type="http://schemas.openxmlformats.org/officeDocument/2006/relationships/slide" Target="slide213.xml"/><Relationship Id="rId9" Type="http://schemas.openxmlformats.org/officeDocument/2006/relationships/slide" Target="slide24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9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Relationship Id="rId3" Type="http://schemas.openxmlformats.org/officeDocument/2006/relationships/image" Target="../media/image101.png"/><Relationship Id="rId4" Type="http://schemas.openxmlformats.org/officeDocument/2006/relationships/image" Target="../media/image10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Relationship Id="rId3" Type="http://schemas.openxmlformats.org/officeDocument/2006/relationships/image" Target="../media/image104.png"/><Relationship Id="rId4" Type="http://schemas.openxmlformats.org/officeDocument/2006/relationships/image" Target="../media/image10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Relationship Id="rId3" Type="http://schemas.openxmlformats.org/officeDocument/2006/relationships/image" Target="../media/image10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Relationship Id="rId3" Type="http://schemas.openxmlformats.org/officeDocument/2006/relationships/image" Target="../media/image110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15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image" Target="../media/image117.png"/><Relationship Id="rId4" Type="http://schemas.openxmlformats.org/officeDocument/2006/relationships/image" Target="../media/image118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Relationship Id="rId4" Type="http://schemas.openxmlformats.org/officeDocument/2006/relationships/image" Target="../media/image12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Relationship Id="rId3" Type="http://schemas.openxmlformats.org/officeDocument/2006/relationships/image" Target="../media/image123.png"/><Relationship Id="rId4" Type="http://schemas.openxmlformats.org/officeDocument/2006/relationships/image" Target="../media/image124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Relationship Id="rId3" Type="http://schemas.openxmlformats.org/officeDocument/2006/relationships/image" Target="../media/image12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Relationship Id="rId3" Type="http://schemas.openxmlformats.org/officeDocument/2006/relationships/image" Target="../media/image128.png"/><Relationship Id="rId4" Type="http://schemas.openxmlformats.org/officeDocument/2006/relationships/image" Target="../media/image129.png"/><Relationship Id="rId5" Type="http://schemas.openxmlformats.org/officeDocument/2006/relationships/image" Target="../media/image1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Relationship Id="rId4" Type="http://schemas.openxmlformats.org/officeDocument/2006/relationships/image" Target="../media/image13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Relationship Id="rId3" Type="http://schemas.openxmlformats.org/officeDocument/2006/relationships/image" Target="../media/image137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Relationship Id="rId3" Type="http://schemas.openxmlformats.org/officeDocument/2006/relationships/image" Target="../media/image137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Relationship Id="rId3" Type="http://schemas.openxmlformats.org/officeDocument/2006/relationships/image" Target="../media/image141.png"/><Relationship Id="rId4" Type="http://schemas.openxmlformats.org/officeDocument/2006/relationships/image" Target="../media/image142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Relationship Id="rId3" Type="http://schemas.openxmlformats.org/officeDocument/2006/relationships/image" Target="../media/image144.png"/><Relationship Id="rId4" Type="http://schemas.openxmlformats.org/officeDocument/2006/relationships/image" Target="../media/image145.png"/><Relationship Id="rId5" Type="http://schemas.openxmlformats.org/officeDocument/2006/relationships/image" Target="../media/image146.png"/><Relationship Id="rId6" Type="http://schemas.openxmlformats.org/officeDocument/2006/relationships/image" Target="../media/image147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Relationship Id="rId3" Type="http://schemas.openxmlformats.org/officeDocument/2006/relationships/image" Target="../media/image149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Relationship Id="rId3" Type="http://schemas.openxmlformats.org/officeDocument/2006/relationships/image" Target="../media/image151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Relationship Id="rId3" Type="http://schemas.openxmlformats.org/officeDocument/2006/relationships/image" Target="../media/image15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Relationship Id="rId3" Type="http://schemas.openxmlformats.org/officeDocument/2006/relationships/image" Target="../media/image155.png"/><Relationship Id="rId4" Type="http://schemas.openxmlformats.org/officeDocument/2006/relationships/image" Target="../media/image156.png"/><Relationship Id="rId5" Type="http://schemas.openxmlformats.org/officeDocument/2006/relationships/image" Target="../media/image157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Relationship Id="rId3" Type="http://schemas.openxmlformats.org/officeDocument/2006/relationships/image" Target="../media/image159.png"/><Relationship Id="rId4" Type="http://schemas.openxmlformats.org/officeDocument/2006/relationships/image" Target="../media/image160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Relationship Id="rId3" Type="http://schemas.openxmlformats.org/officeDocument/2006/relationships/image" Target="../media/image162.png"/><Relationship Id="rId4" Type="http://schemas.openxmlformats.org/officeDocument/2006/relationships/image" Target="../media/image5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Relationship Id="rId3" Type="http://schemas.openxmlformats.org/officeDocument/2006/relationships/image" Target="../media/image164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Relationship Id="rId4" Type="http://schemas.openxmlformats.org/officeDocument/2006/relationships/image" Target="../media/image167.png"/><Relationship Id="rId5" Type="http://schemas.openxmlformats.org/officeDocument/2006/relationships/image" Target="../media/image168.png"/><Relationship Id="rId6" Type="http://schemas.openxmlformats.org/officeDocument/2006/relationships/image" Target="../media/image169.png"/><Relationship Id="rId7" Type="http://schemas.openxmlformats.org/officeDocument/2006/relationships/image" Target="../media/image170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Relationship Id="rId3" Type="http://schemas.openxmlformats.org/officeDocument/2006/relationships/image" Target="../media/image172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Relationship Id="rId3" Type="http://schemas.openxmlformats.org/officeDocument/2006/relationships/image" Target="../media/image174.png"/><Relationship Id="rId4" Type="http://schemas.openxmlformats.org/officeDocument/2006/relationships/image" Target="../media/image175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Relationship Id="rId3" Type="http://schemas.openxmlformats.org/officeDocument/2006/relationships/image" Target="../media/image177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Relationship Id="rId3" Type="http://schemas.openxmlformats.org/officeDocument/2006/relationships/image" Target="../media/image179.png"/><Relationship Id="rId4" Type="http://schemas.openxmlformats.org/officeDocument/2006/relationships/image" Target="../media/image180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Relationship Id="rId3" Type="http://schemas.openxmlformats.org/officeDocument/2006/relationships/image" Target="../media/image184.png"/><Relationship Id="rId4" Type="http://schemas.openxmlformats.org/officeDocument/2006/relationships/image" Target="../media/image185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Relationship Id="rId3" Type="http://schemas.openxmlformats.org/officeDocument/2006/relationships/image" Target="../media/image187.png"/><Relationship Id="rId4" Type="http://schemas.openxmlformats.org/officeDocument/2006/relationships/image" Target="../media/image188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Relationship Id="rId3" Type="http://schemas.openxmlformats.org/officeDocument/2006/relationships/image" Target="../media/image190.png"/><Relationship Id="rId4" Type="http://schemas.openxmlformats.org/officeDocument/2006/relationships/image" Target="../media/image188.png"/><Relationship Id="rId5" Type="http://schemas.openxmlformats.org/officeDocument/2006/relationships/image" Target="../media/image73.png"/><Relationship Id="rId6" Type="http://schemas.openxmlformats.org/officeDocument/2006/relationships/image" Target="../media/image191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Relationship Id="rId3" Type="http://schemas.openxmlformats.org/officeDocument/2006/relationships/image" Target="../media/image193.png"/><Relationship Id="rId4" Type="http://schemas.openxmlformats.org/officeDocument/2006/relationships/image" Target="../media/image194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Relationship Id="rId3" Type="http://schemas.openxmlformats.org/officeDocument/2006/relationships/image" Target="../media/image196.png"/><Relationship Id="rId4" Type="http://schemas.openxmlformats.org/officeDocument/2006/relationships/image" Target="../media/image194.png"/><Relationship Id="rId5" Type="http://schemas.openxmlformats.org/officeDocument/2006/relationships/image" Target="../media/image197.png"/><Relationship Id="rId6" Type="http://schemas.openxmlformats.org/officeDocument/2006/relationships/image" Target="../media/image198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Relationship Id="rId3" Type="http://schemas.openxmlformats.org/officeDocument/2006/relationships/image" Target="../media/image200.png"/><Relationship Id="rId4" Type="http://schemas.openxmlformats.org/officeDocument/2006/relationships/image" Target="../media/image201.png"/><Relationship Id="rId5" Type="http://schemas.openxmlformats.org/officeDocument/2006/relationships/image" Target="../media/image202.png"/><Relationship Id="rId6" Type="http://schemas.openxmlformats.org/officeDocument/2006/relationships/image" Target="../media/image203.png"/><Relationship Id="rId7" Type="http://schemas.openxmlformats.org/officeDocument/2006/relationships/image" Target="../media/image204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Relationship Id="rId3" Type="http://schemas.openxmlformats.org/officeDocument/2006/relationships/image" Target="../media/image206.png"/><Relationship Id="rId4" Type="http://schemas.openxmlformats.org/officeDocument/2006/relationships/image" Target="../media/image207.png"/><Relationship Id="rId5" Type="http://schemas.openxmlformats.org/officeDocument/2006/relationships/image" Target="../media/image208.png"/><Relationship Id="rId6" Type="http://schemas.openxmlformats.org/officeDocument/2006/relationships/image" Target="../media/image209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Relationship Id="rId3" Type="http://schemas.openxmlformats.org/officeDocument/2006/relationships/image" Target="../media/image212.png"/><Relationship Id="rId4" Type="http://schemas.openxmlformats.org/officeDocument/2006/relationships/image" Target="../media/image213.png"/><Relationship Id="rId5" Type="http://schemas.openxmlformats.org/officeDocument/2006/relationships/image" Target="../media/image214.png"/><Relationship Id="rId6" Type="http://schemas.openxmlformats.org/officeDocument/2006/relationships/image" Target="../media/image215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Relationship Id="rId3" Type="http://schemas.openxmlformats.org/officeDocument/2006/relationships/image" Target="../media/image217.png"/><Relationship Id="rId4" Type="http://schemas.openxmlformats.org/officeDocument/2006/relationships/image" Target="../media/image218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Relationship Id="rId3" Type="http://schemas.openxmlformats.org/officeDocument/2006/relationships/image" Target="../media/image220.png"/><Relationship Id="rId4" Type="http://schemas.openxmlformats.org/officeDocument/2006/relationships/image" Target="../media/image221.png"/><Relationship Id="rId5" Type="http://schemas.openxmlformats.org/officeDocument/2006/relationships/image" Target="../media/image222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Relationship Id="rId3" Type="http://schemas.openxmlformats.org/officeDocument/2006/relationships/image" Target="../media/image224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226.png"/><Relationship Id="rId4" Type="http://schemas.openxmlformats.org/officeDocument/2006/relationships/image" Target="../media/image227.png"/><Relationship Id="rId5" Type="http://schemas.openxmlformats.org/officeDocument/2006/relationships/image" Target="../media/image228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Relationship Id="rId3" Type="http://schemas.openxmlformats.org/officeDocument/2006/relationships/image" Target="../media/image230.png"/><Relationship Id="rId4" Type="http://schemas.openxmlformats.org/officeDocument/2006/relationships/image" Target="../media/image231.png"/><Relationship Id="rId5" Type="http://schemas.openxmlformats.org/officeDocument/2006/relationships/image" Target="../media/image232.png"/><Relationship Id="rId6" Type="http://schemas.openxmlformats.org/officeDocument/2006/relationships/image" Target="../media/image233.png"/><Relationship Id="rId7" Type="http://schemas.openxmlformats.org/officeDocument/2006/relationships/image" Target="../media/image234.png"/><Relationship Id="rId8" Type="http://schemas.openxmlformats.org/officeDocument/2006/relationships/image" Target="../media/image235.png"/><Relationship Id="rId9" Type="http://schemas.openxmlformats.org/officeDocument/2006/relationships/image" Target="../media/image236.png"/><Relationship Id="rId10" Type="http://schemas.openxmlformats.org/officeDocument/2006/relationships/image" Target="../media/image237.png"/><Relationship Id="rId11" Type="http://schemas.openxmlformats.org/officeDocument/2006/relationships/image" Target="../media/image238.png"/><Relationship Id="rId12" Type="http://schemas.openxmlformats.org/officeDocument/2006/relationships/image" Target="../media/image239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Relationship Id="rId3" Type="http://schemas.openxmlformats.org/officeDocument/2006/relationships/image" Target="../media/image199.png"/><Relationship Id="rId4" Type="http://schemas.openxmlformats.org/officeDocument/2006/relationships/image" Target="../media/image216.png"/><Relationship Id="rId5" Type="http://schemas.openxmlformats.org/officeDocument/2006/relationships/image" Target="../media/image217.png"/><Relationship Id="rId6" Type="http://schemas.openxmlformats.org/officeDocument/2006/relationships/image" Target="../media/image241.png"/><Relationship Id="rId7" Type="http://schemas.openxmlformats.org/officeDocument/2006/relationships/image" Target="../media/image200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Relationship Id="rId3" Type="http://schemas.openxmlformats.org/officeDocument/2006/relationships/image" Target="../media/image199.png"/><Relationship Id="rId4" Type="http://schemas.openxmlformats.org/officeDocument/2006/relationships/image" Target="../media/image216.png"/><Relationship Id="rId5" Type="http://schemas.openxmlformats.org/officeDocument/2006/relationships/image" Target="../media/image217.png"/><Relationship Id="rId6" Type="http://schemas.openxmlformats.org/officeDocument/2006/relationships/image" Target="../media/image241.png"/><Relationship Id="rId7" Type="http://schemas.openxmlformats.org/officeDocument/2006/relationships/image" Target="../media/image200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Relationship Id="rId3" Type="http://schemas.openxmlformats.org/officeDocument/2006/relationships/image" Target="../media/image141.png"/><Relationship Id="rId4" Type="http://schemas.openxmlformats.org/officeDocument/2006/relationships/image" Target="../media/image142.png"/><Relationship Id="rId5" Type="http://schemas.openxmlformats.org/officeDocument/2006/relationships/image" Target="../media/image243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Relationship Id="rId3" Type="http://schemas.openxmlformats.org/officeDocument/2006/relationships/image" Target="../media/image245.png"/><Relationship Id="rId4" Type="http://schemas.openxmlformats.org/officeDocument/2006/relationships/image" Target="../media/image162.png"/><Relationship Id="rId5" Type="http://schemas.openxmlformats.org/officeDocument/2006/relationships/image" Target="../media/image246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Relationship Id="rId3" Type="http://schemas.openxmlformats.org/officeDocument/2006/relationships/image" Target="../media/image248.png"/><Relationship Id="rId4" Type="http://schemas.openxmlformats.org/officeDocument/2006/relationships/image" Target="../media/image249.png"/><Relationship Id="rId5" Type="http://schemas.openxmlformats.org/officeDocument/2006/relationships/image" Target="../media/image250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252.png"/><Relationship Id="rId4" Type="http://schemas.openxmlformats.org/officeDocument/2006/relationships/image" Target="../media/image253.png"/><Relationship Id="rId5" Type="http://schemas.openxmlformats.org/officeDocument/2006/relationships/image" Target="../media/image25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Relationship Id="rId3" Type="http://schemas.openxmlformats.org/officeDocument/2006/relationships/image" Target="../media/image256.png"/><Relationship Id="rId4" Type="http://schemas.openxmlformats.org/officeDocument/2006/relationships/image" Target="../media/image257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Relationship Id="rId3" Type="http://schemas.openxmlformats.org/officeDocument/2006/relationships/image" Target="../media/image259.png"/><Relationship Id="rId4" Type="http://schemas.openxmlformats.org/officeDocument/2006/relationships/image" Target="../media/image199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Relationship Id="rId3" Type="http://schemas.openxmlformats.org/officeDocument/2006/relationships/image" Target="../media/image261.png"/><Relationship Id="rId4" Type="http://schemas.openxmlformats.org/officeDocument/2006/relationships/image" Target="../media/image205.png"/><Relationship Id="rId5" Type="http://schemas.openxmlformats.org/officeDocument/2006/relationships/image" Target="../media/image262.png"/><Relationship Id="rId6" Type="http://schemas.openxmlformats.org/officeDocument/2006/relationships/image" Target="../media/image263.png"/><Relationship Id="rId7" Type="http://schemas.openxmlformats.org/officeDocument/2006/relationships/image" Target="../media/image73.png"/><Relationship Id="rId8" Type="http://schemas.openxmlformats.org/officeDocument/2006/relationships/image" Target="../media/image191.png"/><Relationship Id="rId9" Type="http://schemas.openxmlformats.org/officeDocument/2006/relationships/image" Target="../media/image264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Relationship Id="rId3" Type="http://schemas.openxmlformats.org/officeDocument/2006/relationships/image" Target="../media/image266.png"/><Relationship Id="rId4" Type="http://schemas.openxmlformats.org/officeDocument/2006/relationships/image" Target="../media/image267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Relationship Id="rId3" Type="http://schemas.openxmlformats.org/officeDocument/2006/relationships/image" Target="../media/image269.png"/><Relationship Id="rId4" Type="http://schemas.openxmlformats.org/officeDocument/2006/relationships/image" Target="../media/image270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Relationship Id="rId3" Type="http://schemas.openxmlformats.org/officeDocument/2006/relationships/image" Target="../media/image272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Relationship Id="rId3" Type="http://schemas.openxmlformats.org/officeDocument/2006/relationships/image" Target="../media/image274.png"/><Relationship Id="rId4" Type="http://schemas.openxmlformats.org/officeDocument/2006/relationships/image" Target="../media/image275.png"/><Relationship Id="rId5" Type="http://schemas.openxmlformats.org/officeDocument/2006/relationships/image" Target="../media/image276.png"/><Relationship Id="rId6" Type="http://schemas.openxmlformats.org/officeDocument/2006/relationships/image" Target="../media/image157.png"/><Relationship Id="rId7" Type="http://schemas.openxmlformats.org/officeDocument/2006/relationships/image" Target="../media/image277.png"/><Relationship Id="rId8" Type="http://schemas.openxmlformats.org/officeDocument/2006/relationships/image" Target="../media/image278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Relationship Id="rId3" Type="http://schemas.openxmlformats.org/officeDocument/2006/relationships/image" Target="../media/image280.png"/><Relationship Id="rId4" Type="http://schemas.openxmlformats.org/officeDocument/2006/relationships/image" Target="../media/image281.png"/><Relationship Id="rId5" Type="http://schemas.openxmlformats.org/officeDocument/2006/relationships/image" Target="../media/image282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Relationship Id="rId3" Type="http://schemas.openxmlformats.org/officeDocument/2006/relationships/image" Target="../media/image284.png"/><Relationship Id="rId4" Type="http://schemas.openxmlformats.org/officeDocument/2006/relationships/image" Target="../media/image285.png"/><Relationship Id="rId5" Type="http://schemas.openxmlformats.org/officeDocument/2006/relationships/image" Target="../media/image282.png"/><Relationship Id="rId6" Type="http://schemas.openxmlformats.org/officeDocument/2006/relationships/image" Target="../media/image286.png"/><Relationship Id="rId7" Type="http://schemas.openxmlformats.org/officeDocument/2006/relationships/image" Target="../media/image287.png"/><Relationship Id="rId8" Type="http://schemas.openxmlformats.org/officeDocument/2006/relationships/image" Target="../media/image288.png"/><Relationship Id="rId9" Type="http://schemas.openxmlformats.org/officeDocument/2006/relationships/image" Target="../media/image289.png"/><Relationship Id="rId10" Type="http://schemas.openxmlformats.org/officeDocument/2006/relationships/image" Target="../media/image290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Relationship Id="rId3" Type="http://schemas.openxmlformats.org/officeDocument/2006/relationships/image" Target="../media/image292.png"/><Relationship Id="rId4" Type="http://schemas.openxmlformats.org/officeDocument/2006/relationships/image" Target="../media/image293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Relationship Id="rId3" Type="http://schemas.openxmlformats.org/officeDocument/2006/relationships/image" Target="../media/image295.png"/><Relationship Id="rId4" Type="http://schemas.openxmlformats.org/officeDocument/2006/relationships/image" Target="../media/image296.png"/><Relationship Id="rId5" Type="http://schemas.openxmlformats.org/officeDocument/2006/relationships/image" Target="../media/image297.png"/><Relationship Id="rId6" Type="http://schemas.openxmlformats.org/officeDocument/2006/relationships/image" Target="../media/image298.png"/><Relationship Id="rId7" Type="http://schemas.openxmlformats.org/officeDocument/2006/relationships/image" Target="../media/image299.png"/><Relationship Id="rId8" Type="http://schemas.openxmlformats.org/officeDocument/2006/relationships/image" Target="../media/image300.png"/><Relationship Id="rId9" Type="http://schemas.openxmlformats.org/officeDocument/2006/relationships/image" Target="../media/image30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Relationship Id="rId3" Type="http://schemas.openxmlformats.org/officeDocument/2006/relationships/image" Target="../media/image303.png"/><Relationship Id="rId4" Type="http://schemas.openxmlformats.org/officeDocument/2006/relationships/image" Target="../media/image304.png"/><Relationship Id="rId5" Type="http://schemas.openxmlformats.org/officeDocument/2006/relationships/image" Target="../media/image305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Relationship Id="rId3" Type="http://schemas.openxmlformats.org/officeDocument/2006/relationships/image" Target="../media/image307.png"/><Relationship Id="rId4" Type="http://schemas.openxmlformats.org/officeDocument/2006/relationships/image" Target="../media/image308.png"/><Relationship Id="rId5" Type="http://schemas.openxmlformats.org/officeDocument/2006/relationships/image" Target="../media/image305.png"/><Relationship Id="rId6" Type="http://schemas.openxmlformats.org/officeDocument/2006/relationships/image" Target="../media/image309.png"/><Relationship Id="rId7" Type="http://schemas.openxmlformats.org/officeDocument/2006/relationships/image" Target="../media/image310.png"/><Relationship Id="rId8" Type="http://schemas.openxmlformats.org/officeDocument/2006/relationships/image" Target="../media/image311.png"/><Relationship Id="rId9" Type="http://schemas.openxmlformats.org/officeDocument/2006/relationships/image" Target="../media/image312.png"/><Relationship Id="rId10" Type="http://schemas.openxmlformats.org/officeDocument/2006/relationships/image" Target="../media/image31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Relationship Id="rId3" Type="http://schemas.openxmlformats.org/officeDocument/2006/relationships/image" Target="../media/image315.png"/><Relationship Id="rId4" Type="http://schemas.openxmlformats.org/officeDocument/2006/relationships/image" Target="../media/image316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Relationship Id="rId3" Type="http://schemas.openxmlformats.org/officeDocument/2006/relationships/image" Target="../media/image318.png"/><Relationship Id="rId4" Type="http://schemas.openxmlformats.org/officeDocument/2006/relationships/image" Target="../media/image319.png"/><Relationship Id="rId5" Type="http://schemas.openxmlformats.org/officeDocument/2006/relationships/image" Target="../media/image320.png"/><Relationship Id="rId6" Type="http://schemas.openxmlformats.org/officeDocument/2006/relationships/image" Target="../media/image321.png"/><Relationship Id="rId7" Type="http://schemas.openxmlformats.org/officeDocument/2006/relationships/image" Target="../media/image322.png"/><Relationship Id="rId8" Type="http://schemas.openxmlformats.org/officeDocument/2006/relationships/image" Target="../media/image323.png"/><Relationship Id="rId9" Type="http://schemas.openxmlformats.org/officeDocument/2006/relationships/image" Target="../media/image324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Relationship Id="rId3" Type="http://schemas.openxmlformats.org/officeDocument/2006/relationships/image" Target="../media/image326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10.png"/><Relationship Id="rId7" Type="http://schemas.openxmlformats.org/officeDocument/2006/relationships/image" Target="../media/image331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Relationship Id="rId3" Type="http://schemas.openxmlformats.org/officeDocument/2006/relationships/image" Target="../media/image332.png"/><Relationship Id="rId4" Type="http://schemas.openxmlformats.org/officeDocument/2006/relationships/image" Target="../media/image333.png"/><Relationship Id="rId5" Type="http://schemas.openxmlformats.org/officeDocument/2006/relationships/image" Target="../media/image334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Relationship Id="rId3" Type="http://schemas.openxmlformats.org/officeDocument/2006/relationships/image" Target="../media/image335.png"/><Relationship Id="rId4" Type="http://schemas.openxmlformats.org/officeDocument/2006/relationships/image" Target="../media/image336.png"/><Relationship Id="rId5" Type="http://schemas.openxmlformats.org/officeDocument/2006/relationships/image" Target="../media/image337.png"/><Relationship Id="rId6" Type="http://schemas.openxmlformats.org/officeDocument/2006/relationships/image" Target="../media/image338.png"/><Relationship Id="rId7" Type="http://schemas.openxmlformats.org/officeDocument/2006/relationships/image" Target="../media/image339.png"/><Relationship Id="rId8" Type="http://schemas.openxmlformats.org/officeDocument/2006/relationships/image" Target="../media/image340.png"/><Relationship Id="rId9" Type="http://schemas.openxmlformats.org/officeDocument/2006/relationships/image" Target="../media/image341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Relationship Id="rId3" Type="http://schemas.openxmlformats.org/officeDocument/2006/relationships/image" Target="../media/image34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Relationship Id="rId3" Type="http://schemas.openxmlformats.org/officeDocument/2006/relationships/image" Target="../media/image345.png"/><Relationship Id="rId4" Type="http://schemas.openxmlformats.org/officeDocument/2006/relationships/image" Target="../media/image262.png"/><Relationship Id="rId5" Type="http://schemas.openxmlformats.org/officeDocument/2006/relationships/image" Target="../media/image144.png"/><Relationship Id="rId6" Type="http://schemas.openxmlformats.org/officeDocument/2006/relationships/image" Target="../media/image346.png"/><Relationship Id="rId7" Type="http://schemas.openxmlformats.org/officeDocument/2006/relationships/image" Target="../media/image347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Relationship Id="rId3" Type="http://schemas.openxmlformats.org/officeDocument/2006/relationships/image" Target="../media/image349.png"/><Relationship Id="rId4" Type="http://schemas.openxmlformats.org/officeDocument/2006/relationships/image" Target="../media/image350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Relationship Id="rId3" Type="http://schemas.openxmlformats.org/officeDocument/2006/relationships/image" Target="../media/image352.png"/><Relationship Id="rId4" Type="http://schemas.openxmlformats.org/officeDocument/2006/relationships/image" Target="../media/image353.png"/><Relationship Id="rId5" Type="http://schemas.openxmlformats.org/officeDocument/2006/relationships/image" Target="../media/image144.png"/><Relationship Id="rId6" Type="http://schemas.openxmlformats.org/officeDocument/2006/relationships/image" Target="../media/image354.png"/><Relationship Id="rId7" Type="http://schemas.openxmlformats.org/officeDocument/2006/relationships/image" Target="../media/image214.png"/><Relationship Id="rId8" Type="http://schemas.openxmlformats.org/officeDocument/2006/relationships/image" Target="../media/image355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Relationship Id="rId3" Type="http://schemas.openxmlformats.org/officeDocument/2006/relationships/image" Target="../media/image182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Relationship Id="rId3" Type="http://schemas.openxmlformats.org/officeDocument/2006/relationships/image" Target="../media/image184.png"/><Relationship Id="rId4" Type="http://schemas.openxmlformats.org/officeDocument/2006/relationships/image" Target="../media/image275.png"/><Relationship Id="rId5" Type="http://schemas.openxmlformats.org/officeDocument/2006/relationships/image" Target="../media/image358.png"/><Relationship Id="rId6" Type="http://schemas.openxmlformats.org/officeDocument/2006/relationships/image" Target="../media/image359.png"/><Relationship Id="rId7" Type="http://schemas.openxmlformats.org/officeDocument/2006/relationships/image" Target="../media/image360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235.png"/><Relationship Id="rId4" Type="http://schemas.openxmlformats.org/officeDocument/2006/relationships/image" Target="../media/image362.png"/><Relationship Id="rId5" Type="http://schemas.openxmlformats.org/officeDocument/2006/relationships/image" Target="../media/image363.png"/><Relationship Id="rId6" Type="http://schemas.openxmlformats.org/officeDocument/2006/relationships/image" Target="../media/image364.png"/><Relationship Id="rId7" Type="http://schemas.openxmlformats.org/officeDocument/2006/relationships/image" Target="../media/image365.png"/><Relationship Id="rId8" Type="http://schemas.openxmlformats.org/officeDocument/2006/relationships/image" Target="../media/image366.png"/><Relationship Id="rId9" Type="http://schemas.openxmlformats.org/officeDocument/2006/relationships/image" Target="../media/image367.png"/><Relationship Id="rId10" Type="http://schemas.openxmlformats.org/officeDocument/2006/relationships/image" Target="../media/image368.png"/><Relationship Id="rId11" Type="http://schemas.openxmlformats.org/officeDocument/2006/relationships/image" Target="../media/image369.png"/><Relationship Id="rId12" Type="http://schemas.openxmlformats.org/officeDocument/2006/relationships/image" Target="../media/image370.png"/><Relationship Id="rId13" Type="http://schemas.openxmlformats.org/officeDocument/2006/relationships/image" Target="../media/image371.png"/><Relationship Id="rId14" Type="http://schemas.openxmlformats.org/officeDocument/2006/relationships/image" Target="../media/image372.png"/><Relationship Id="rId15" Type="http://schemas.openxmlformats.org/officeDocument/2006/relationships/image" Target="../media/image373.png"/><Relationship Id="rId16" Type="http://schemas.openxmlformats.org/officeDocument/2006/relationships/image" Target="../media/image374.png"/><Relationship Id="rId17" Type="http://schemas.openxmlformats.org/officeDocument/2006/relationships/image" Target="../media/image375.png"/><Relationship Id="rId18" Type="http://schemas.openxmlformats.org/officeDocument/2006/relationships/image" Target="../media/image376.png"/><Relationship Id="rId19" Type="http://schemas.openxmlformats.org/officeDocument/2006/relationships/image" Target="../media/image377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Relationship Id="rId3" Type="http://schemas.openxmlformats.org/officeDocument/2006/relationships/image" Target="../media/image378.png"/><Relationship Id="rId4" Type="http://schemas.openxmlformats.org/officeDocument/2006/relationships/image" Target="../media/image177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Relationship Id="rId3" Type="http://schemas.openxmlformats.org/officeDocument/2006/relationships/image" Target="../media/image378.png"/><Relationship Id="rId4" Type="http://schemas.openxmlformats.org/officeDocument/2006/relationships/image" Target="../media/image177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Relationship Id="rId3" Type="http://schemas.openxmlformats.org/officeDocument/2006/relationships/image" Target="../media/image380.png"/><Relationship Id="rId4" Type="http://schemas.openxmlformats.org/officeDocument/2006/relationships/image" Target="../media/image381.png"/><Relationship Id="rId5" Type="http://schemas.openxmlformats.org/officeDocument/2006/relationships/image" Target="../media/image382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Relationship Id="rId3" Type="http://schemas.openxmlformats.org/officeDocument/2006/relationships/image" Target="../media/image384.png"/><Relationship Id="rId4" Type="http://schemas.openxmlformats.org/officeDocument/2006/relationships/image" Target="../media/image385.png"/><Relationship Id="rId5" Type="http://schemas.openxmlformats.org/officeDocument/2006/relationships/image" Target="../media/image386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7.png"/><Relationship Id="rId3" Type="http://schemas.openxmlformats.org/officeDocument/2006/relationships/image" Target="../media/image388.png"/><Relationship Id="rId4" Type="http://schemas.openxmlformats.org/officeDocument/2006/relationships/image" Target="../media/image389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Relationship Id="rId3" Type="http://schemas.openxmlformats.org/officeDocument/2006/relationships/image" Target="../media/image392.png"/><Relationship Id="rId4" Type="http://schemas.openxmlformats.org/officeDocument/2006/relationships/image" Target="../media/image393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4.png"/><Relationship Id="rId3" Type="http://schemas.openxmlformats.org/officeDocument/2006/relationships/image" Target="../media/image395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Relationship Id="rId3" Type="http://schemas.openxmlformats.org/officeDocument/2006/relationships/image" Target="../media/image398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Relationship Id="rId3" Type="http://schemas.openxmlformats.org/officeDocument/2006/relationships/image" Target="../media/image400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Relationship Id="rId3" Type="http://schemas.openxmlformats.org/officeDocument/2006/relationships/image" Target="../media/image402.png"/><Relationship Id="rId4" Type="http://schemas.openxmlformats.org/officeDocument/2006/relationships/image" Target="../media/image40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Relationship Id="rId3" Type="http://schemas.openxmlformats.org/officeDocument/2006/relationships/image" Target="../media/image406.png"/><Relationship Id="rId4" Type="http://schemas.openxmlformats.org/officeDocument/2006/relationships/image" Target="../media/image407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8.png"/><Relationship Id="rId3" Type="http://schemas.openxmlformats.org/officeDocument/2006/relationships/image" Target="../media/image409.png"/><Relationship Id="rId4" Type="http://schemas.openxmlformats.org/officeDocument/2006/relationships/image" Target="../media/image410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Relationship Id="rId3" Type="http://schemas.openxmlformats.org/officeDocument/2006/relationships/image" Target="../media/image414.png"/><Relationship Id="rId4" Type="http://schemas.openxmlformats.org/officeDocument/2006/relationships/image" Target="../media/image415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Relationship Id="rId3" Type="http://schemas.openxmlformats.org/officeDocument/2006/relationships/image" Target="../media/image417.png"/><Relationship Id="rId4" Type="http://schemas.openxmlformats.org/officeDocument/2006/relationships/image" Target="../media/image418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Relationship Id="rId3" Type="http://schemas.openxmlformats.org/officeDocument/2006/relationships/image" Target="../media/image420.png"/><Relationship Id="rId4" Type="http://schemas.openxmlformats.org/officeDocument/2006/relationships/image" Target="../media/image421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2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2.png"/><Relationship Id="rId3" Type="http://schemas.openxmlformats.org/officeDocument/2006/relationships/image" Target="../media/image423.png"/><Relationship Id="rId4" Type="http://schemas.openxmlformats.org/officeDocument/2006/relationships/image" Target="../media/image424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Relationship Id="rId3" Type="http://schemas.openxmlformats.org/officeDocument/2006/relationships/image" Target="../media/image426.png"/><Relationship Id="rId4" Type="http://schemas.openxmlformats.org/officeDocument/2006/relationships/image" Target="../media/image427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Relationship Id="rId3" Type="http://schemas.openxmlformats.org/officeDocument/2006/relationships/image" Target="../media/image429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Relationship Id="rId3" Type="http://schemas.openxmlformats.org/officeDocument/2006/relationships/image" Target="../media/image42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0.png"/><Relationship Id="rId3" Type="http://schemas.openxmlformats.org/officeDocument/2006/relationships/image" Target="../media/image431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3.png"/><Relationship Id="rId3" Type="http://schemas.openxmlformats.org/officeDocument/2006/relationships/image" Target="../media/image434.png"/><Relationship Id="rId4" Type="http://schemas.openxmlformats.org/officeDocument/2006/relationships/image" Target="../media/image435.png"/><Relationship Id="rId5" Type="http://schemas.openxmlformats.org/officeDocument/2006/relationships/image" Target="../media/image436.png"/><Relationship Id="rId6" Type="http://schemas.openxmlformats.org/officeDocument/2006/relationships/image" Target="../media/image437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Relationship Id="rId3" Type="http://schemas.openxmlformats.org/officeDocument/2006/relationships/image" Target="../media/image439.png"/><Relationship Id="rId4" Type="http://schemas.openxmlformats.org/officeDocument/2006/relationships/image" Target="../media/image440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1.png"/><Relationship Id="rId3" Type="http://schemas.openxmlformats.org/officeDocument/2006/relationships/image" Target="../media/image442.png"/><Relationship Id="rId4" Type="http://schemas.openxmlformats.org/officeDocument/2006/relationships/image" Target="../media/image443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4.png"/><Relationship Id="rId3" Type="http://schemas.openxmlformats.org/officeDocument/2006/relationships/image" Target="../media/image445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Relationship Id="rId3" Type="http://schemas.openxmlformats.org/officeDocument/2006/relationships/image" Target="../media/image447.png"/><Relationship Id="rId4" Type="http://schemas.openxmlformats.org/officeDocument/2006/relationships/image" Target="../media/image448.png"/><Relationship Id="rId5" Type="http://schemas.openxmlformats.org/officeDocument/2006/relationships/image" Target="../media/image449.png"/><Relationship Id="rId6" Type="http://schemas.openxmlformats.org/officeDocument/2006/relationships/image" Target="../media/image450.png"/><Relationship Id="rId7" Type="http://schemas.openxmlformats.org/officeDocument/2006/relationships/image" Target="../media/image451.png"/><Relationship Id="rId8" Type="http://schemas.openxmlformats.org/officeDocument/2006/relationships/image" Target="../media/image452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Relationship Id="rId3" Type="http://schemas.openxmlformats.org/officeDocument/2006/relationships/image" Target="../media/image454.png"/><Relationship Id="rId4" Type="http://schemas.openxmlformats.org/officeDocument/2006/relationships/image" Target="../media/image455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Relationship Id="rId3" Type="http://schemas.openxmlformats.org/officeDocument/2006/relationships/image" Target="../media/image461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2.png"/><Relationship Id="rId3" Type="http://schemas.openxmlformats.org/officeDocument/2006/relationships/image" Target="../media/image463.png"/><Relationship Id="rId4" Type="http://schemas.openxmlformats.org/officeDocument/2006/relationships/image" Target="../media/image464.png"/><Relationship Id="rId5" Type="http://schemas.openxmlformats.org/officeDocument/2006/relationships/image" Target="../media/image465.png"/><Relationship Id="rId6" Type="http://schemas.openxmlformats.org/officeDocument/2006/relationships/image" Target="../media/image466.png"/><Relationship Id="rId7" Type="http://schemas.openxmlformats.org/officeDocument/2006/relationships/image" Target="../media/image46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8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9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Relationship Id="rId3" Type="http://schemas.openxmlformats.org/officeDocument/2006/relationships/image" Target="../media/image471.png"/><Relationship Id="rId4" Type="http://schemas.openxmlformats.org/officeDocument/2006/relationships/image" Target="../media/image47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3.png"/><Relationship Id="rId3" Type="http://schemas.openxmlformats.org/officeDocument/2006/relationships/image" Target="../media/image474.png"/><Relationship Id="rId4" Type="http://schemas.openxmlformats.org/officeDocument/2006/relationships/image" Target="../media/image475.png"/><Relationship Id="rId5" Type="http://schemas.openxmlformats.org/officeDocument/2006/relationships/image" Target="../media/image476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3.png"/><Relationship Id="rId3" Type="http://schemas.openxmlformats.org/officeDocument/2006/relationships/image" Target="../media/image477.png"/><Relationship Id="rId4" Type="http://schemas.openxmlformats.org/officeDocument/2006/relationships/image" Target="../media/image478.png"/><Relationship Id="rId5" Type="http://schemas.openxmlformats.org/officeDocument/2006/relationships/image" Target="../media/image479.png"/><Relationship Id="rId6" Type="http://schemas.openxmlformats.org/officeDocument/2006/relationships/image" Target="../media/image480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1.png"/><Relationship Id="rId3" Type="http://schemas.openxmlformats.org/officeDocument/2006/relationships/image" Target="../media/image482.png"/><Relationship Id="rId4" Type="http://schemas.openxmlformats.org/officeDocument/2006/relationships/image" Target="../media/image483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5.png"/><Relationship Id="rId6" Type="http://schemas.openxmlformats.org/officeDocument/2006/relationships/image" Target="../media/image486.png"/><Relationship Id="rId7" Type="http://schemas.openxmlformats.org/officeDocument/2006/relationships/image" Target="../media/image487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Relationship Id="rId3" Type="http://schemas.openxmlformats.org/officeDocument/2006/relationships/image" Target="../media/image489.png"/><Relationship Id="rId4" Type="http://schemas.openxmlformats.org/officeDocument/2006/relationships/image" Target="../media/image490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Relationship Id="rId3" Type="http://schemas.openxmlformats.org/officeDocument/2006/relationships/image" Target="../media/image492.png"/><Relationship Id="rId4" Type="http://schemas.openxmlformats.org/officeDocument/2006/relationships/image" Target="../media/image490.png"/><Relationship Id="rId5" Type="http://schemas.openxmlformats.org/officeDocument/2006/relationships/image" Target="../media/image493.png"/><Relationship Id="rId6" Type="http://schemas.openxmlformats.org/officeDocument/2006/relationships/image" Target="../media/image494.png"/><Relationship Id="rId7" Type="http://schemas.openxmlformats.org/officeDocument/2006/relationships/image" Target="../media/image466.png"/><Relationship Id="rId8" Type="http://schemas.openxmlformats.org/officeDocument/2006/relationships/image" Target="../media/image495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Relationship Id="rId3" Type="http://schemas.openxmlformats.org/officeDocument/2006/relationships/image" Target="../media/image499.png"/><Relationship Id="rId4" Type="http://schemas.openxmlformats.org/officeDocument/2006/relationships/image" Target="../media/image500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1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2.png"/><Relationship Id="rId3" Type="http://schemas.openxmlformats.org/officeDocument/2006/relationships/image" Target="../media/image503.png"/><Relationship Id="rId4" Type="http://schemas.openxmlformats.org/officeDocument/2006/relationships/image" Target="../media/image504.png"/><Relationship Id="rId5" Type="http://schemas.openxmlformats.org/officeDocument/2006/relationships/image" Target="../media/image505.png"/><Relationship Id="rId6" Type="http://schemas.openxmlformats.org/officeDocument/2006/relationships/image" Target="../media/image506.png"/><Relationship Id="rId7" Type="http://schemas.openxmlformats.org/officeDocument/2006/relationships/image" Target="../media/image507.png"/><Relationship Id="rId8" Type="http://schemas.openxmlformats.org/officeDocument/2006/relationships/image" Target="../media/image508.png"/><Relationship Id="rId9" Type="http://schemas.openxmlformats.org/officeDocument/2006/relationships/image" Target="../media/image509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0.png"/><Relationship Id="rId3" Type="http://schemas.openxmlformats.org/officeDocument/2006/relationships/image" Target="../media/image199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0.png"/><Relationship Id="rId3" Type="http://schemas.openxmlformats.org/officeDocument/2006/relationships/image" Target="../media/image199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1.png"/><Relationship Id="rId3" Type="http://schemas.openxmlformats.org/officeDocument/2006/relationships/image" Target="../media/image512.png"/><Relationship Id="rId4" Type="http://schemas.openxmlformats.org/officeDocument/2006/relationships/image" Target="../media/image513.png"/><Relationship Id="rId5" Type="http://schemas.openxmlformats.org/officeDocument/2006/relationships/image" Target="../media/image514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5.png"/><Relationship Id="rId3" Type="http://schemas.openxmlformats.org/officeDocument/2006/relationships/image" Target="../media/image516.png"/><Relationship Id="rId4" Type="http://schemas.openxmlformats.org/officeDocument/2006/relationships/image" Target="../media/image517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8.png"/><Relationship Id="rId3" Type="http://schemas.openxmlformats.org/officeDocument/2006/relationships/image" Target="../media/image519.png"/><Relationship Id="rId4" Type="http://schemas.openxmlformats.org/officeDocument/2006/relationships/image" Target="../media/image520.png"/><Relationship Id="rId5" Type="http://schemas.openxmlformats.org/officeDocument/2006/relationships/image" Target="../media/image521.png"/><Relationship Id="rId6" Type="http://schemas.openxmlformats.org/officeDocument/2006/relationships/image" Target="../media/image522.png"/><Relationship Id="rId7" Type="http://schemas.openxmlformats.org/officeDocument/2006/relationships/image" Target="../media/image523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4.png"/><Relationship Id="rId3" Type="http://schemas.openxmlformats.org/officeDocument/2006/relationships/image" Target="../media/image525.png"/><Relationship Id="rId4" Type="http://schemas.openxmlformats.org/officeDocument/2006/relationships/image" Target="../media/image526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7.png"/><Relationship Id="rId3" Type="http://schemas.openxmlformats.org/officeDocument/2006/relationships/image" Target="../media/image528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9.png"/><Relationship Id="rId3" Type="http://schemas.openxmlformats.org/officeDocument/2006/relationships/image" Target="../media/image530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1.png"/><Relationship Id="rId3" Type="http://schemas.openxmlformats.org/officeDocument/2006/relationships/image" Target="../media/image532.png"/><Relationship Id="rId4" Type="http://schemas.openxmlformats.org/officeDocument/2006/relationships/image" Target="../media/image533.png"/><Relationship Id="rId5" Type="http://schemas.openxmlformats.org/officeDocument/2006/relationships/image" Target="../media/image534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Relationship Id="rId3" Type="http://schemas.openxmlformats.org/officeDocument/2006/relationships/image" Target="../media/image536.png"/><Relationship Id="rId4" Type="http://schemas.openxmlformats.org/officeDocument/2006/relationships/image" Target="../media/image537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8.png"/><Relationship Id="rId3" Type="http://schemas.openxmlformats.org/officeDocument/2006/relationships/image" Target="../media/image539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0.png"/><Relationship Id="rId3" Type="http://schemas.openxmlformats.org/officeDocument/2006/relationships/image" Target="../media/image541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0.png"/><Relationship Id="rId3" Type="http://schemas.openxmlformats.org/officeDocument/2006/relationships/image" Target="../media/image542.png"/><Relationship Id="rId4" Type="http://schemas.openxmlformats.org/officeDocument/2006/relationships/image" Target="../media/image543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4.png"/><Relationship Id="rId3" Type="http://schemas.openxmlformats.org/officeDocument/2006/relationships/image" Target="../media/image545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6.png"/><Relationship Id="rId3" Type="http://schemas.openxmlformats.org/officeDocument/2006/relationships/image" Target="../media/image547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8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8.png"/><Relationship Id="rId3" Type="http://schemas.openxmlformats.org/officeDocument/2006/relationships/image" Target="../media/image549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0.png"/><Relationship Id="rId3" Type="http://schemas.openxmlformats.org/officeDocument/2006/relationships/image" Target="../media/image551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2.png"/><Relationship Id="rId3" Type="http://schemas.openxmlformats.org/officeDocument/2006/relationships/image" Target="../media/image553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4.png"/><Relationship Id="rId3" Type="http://schemas.openxmlformats.org/officeDocument/2006/relationships/image" Target="../media/image555.png"/><Relationship Id="rId4" Type="http://schemas.openxmlformats.org/officeDocument/2006/relationships/image" Target="../media/image556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4.png"/><Relationship Id="rId3" Type="http://schemas.openxmlformats.org/officeDocument/2006/relationships/image" Target="../media/image557.png"/><Relationship Id="rId4" Type="http://schemas.openxmlformats.org/officeDocument/2006/relationships/image" Target="../media/image558.png"/><Relationship Id="rId5" Type="http://schemas.openxmlformats.org/officeDocument/2006/relationships/image" Target="../media/image559.png"/><Relationship Id="rId6" Type="http://schemas.openxmlformats.org/officeDocument/2006/relationships/image" Target="../media/image560.png"/><Relationship Id="rId7" Type="http://schemas.openxmlformats.org/officeDocument/2006/relationships/image" Target="../media/image561.png"/><Relationship Id="rId8" Type="http://schemas.openxmlformats.org/officeDocument/2006/relationships/image" Target="../media/image562.png"/><Relationship Id="rId9" Type="http://schemas.openxmlformats.org/officeDocument/2006/relationships/image" Target="../media/image563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4.png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Relationship Id="rId6" Type="http://schemas.openxmlformats.org/officeDocument/2006/relationships/image" Target="../media/image568.png"/><Relationship Id="rId7" Type="http://schemas.openxmlformats.org/officeDocument/2006/relationships/image" Target="../media/image569.png"/><Relationship Id="rId8" Type="http://schemas.openxmlformats.org/officeDocument/2006/relationships/image" Target="../media/image570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1.png"/><Relationship Id="rId3" Type="http://schemas.openxmlformats.org/officeDocument/2006/relationships/image" Target="../media/image565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Relationship Id="rId6" Type="http://schemas.openxmlformats.org/officeDocument/2006/relationships/image" Target="../media/image574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5.png"/><Relationship Id="rId3" Type="http://schemas.openxmlformats.org/officeDocument/2006/relationships/image" Target="../media/image576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7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8.png"/><Relationship Id="rId3" Type="http://schemas.openxmlformats.org/officeDocument/2006/relationships/image" Target="../media/image579.png"/><Relationship Id="rId4" Type="http://schemas.openxmlformats.org/officeDocument/2006/relationships/image" Target="../media/image580.png"/><Relationship Id="rId5" Type="http://schemas.openxmlformats.org/officeDocument/2006/relationships/image" Target="../media/image581.png"/><Relationship Id="rId6" Type="http://schemas.openxmlformats.org/officeDocument/2006/relationships/image" Target="../media/image582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Relationships in Triangles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Eight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— Relationships in Triangles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— Relationships in Triangles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6.01–02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Triangle Inequality Theorem; Converse of the Pythagorean Theorem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Pythagorean Theorem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Pythagorean Theorem in Real-World Problems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6.05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Distance on the Coordinate Plane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6.06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Real-World Coordinate-Plane Problems; Perimeter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6.07–08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Similar Triangles; Indirect Measurement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hlinkClick action="ppaction://hlinksldjump" r:id="rId8"/>
          </p:cNvPr>
          <p:cNvSpPr txBox="1"/>
          <p:nvPr/>
        </p:nvSpPr>
        <p:spPr>
          <a:xfrm>
            <a:off x="1143000" y="430682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T-B1</a:t>
            </a:r>
          </a:p>
        </p:txBody>
      </p:sp>
      <p:sp>
        <p:nvSpPr>
          <p:cNvPr id="33" name="TextBox 32">
            <a:hlinkClick action="ppaction://hlinksldjump" r:id="rId8"/>
          </p:cNvPr>
          <p:cNvSpPr txBox="1"/>
          <p:nvPr/>
        </p:nvSpPr>
        <p:spPr>
          <a:xfrm>
            <a:off x="2560320" y="430682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Angle Pairs: Supplementary, Complementary, Vertical, Adjacent</a:t>
            </a:r>
          </a:p>
        </p:txBody>
      </p:sp>
      <p:sp>
        <p:nvSpPr>
          <p:cNvPr id="34" name="TextBox 33">
            <a:hlinkClick action="ppaction://hlinksldjump" r:id="rId8"/>
          </p:cNvPr>
          <p:cNvSpPr txBox="1"/>
          <p:nvPr/>
        </p:nvSpPr>
        <p:spPr>
          <a:xfrm>
            <a:off x="9555480" y="430682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213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43000" y="476402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hlinkClick action="ppaction://hlinksldjump" r:id="rId9"/>
          </p:cNvPr>
          <p:cNvSpPr txBox="1"/>
          <p:nvPr/>
        </p:nvSpPr>
        <p:spPr>
          <a:xfrm>
            <a:off x="1143000" y="472744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T-B2</a:t>
            </a:r>
          </a:p>
        </p:txBody>
      </p:sp>
      <p:sp>
        <p:nvSpPr>
          <p:cNvPr id="37" name="TextBox 36">
            <a:hlinkClick action="ppaction://hlinksldjump" r:id="rId9"/>
          </p:cNvPr>
          <p:cNvSpPr txBox="1"/>
          <p:nvPr/>
        </p:nvSpPr>
        <p:spPr>
          <a:xfrm>
            <a:off x="2560320" y="472744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Interior and Exterior Angles of a Triangle</a:t>
            </a:r>
          </a:p>
        </p:txBody>
      </p:sp>
      <p:sp>
        <p:nvSpPr>
          <p:cNvPr id="38" name="TextBox 37">
            <a:hlinkClick action="ppaction://hlinksldjump" r:id="rId9"/>
          </p:cNvPr>
          <p:cNvSpPr txBox="1"/>
          <p:nvPr/>
        </p:nvSpPr>
        <p:spPr>
          <a:xfrm>
            <a:off x="9555480" y="472744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248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143000" y="518464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LESSONS 1–2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Triangle Inequality Theorem; Converse of the Pythagorean Theorem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decide whether three lengths can make a triangle, and whether they make a right triangle.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73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car gets 32 miles per gallon. How far does it go on 9 gallons?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0" name="Picture 9" descr="358b64f686a50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136" y="2129901"/>
            <a:ext cx="754713" cy="2658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08849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2" name="Picture 11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624" y="2170247"/>
            <a:ext cx="579088" cy="225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77713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7" name="Picture 16" descr="44a9be878ecf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487" y="3352823"/>
            <a:ext cx="1001537" cy="26581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73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car gets 32 miles per gallon. How far does it go on 9 gallons?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1948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288 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1" name="Picture 10" descr="358b64f686a50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136" y="2587101"/>
            <a:ext cx="754713" cy="26581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08849" y="25100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3" name="Picture 12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624" y="2627447"/>
            <a:ext cx="579088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77713" y="25100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67228"/>
            <a:ext cx="1224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798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3623722"/>
            <a:ext cx="806926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23277" y="3579876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1925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20" name="Picture 19" descr="44a9be878ecf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487" y="4267223"/>
            <a:ext cx="1001537" cy="26581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44665" y="4192524"/>
            <a:ext cx="71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triangle inequality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any two sides of a triangle add up to MORE than the third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legs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two sides of a right triangle that make the right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hypotenuse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side across from the right angle — always the longest 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45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converse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51662"/>
            <a:ext cx="43024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statement turned around: if </a:t>
            </a:r>
          </a:p>
        </p:txBody>
      </p:sp>
      <p:pic>
        <p:nvPicPr>
          <p:cNvPr id="16" name="Picture 15" descr="ca3cd8deffede9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8250" y="5135323"/>
            <a:ext cx="1436989" cy="25425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45239" y="5051662"/>
            <a:ext cx="4729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for the two shorter sides and the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36294"/>
            <a:ext cx="3957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longest, the triangle is right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Two sides together must be longer than the third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0b98c26a463894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993392"/>
            <a:ext cx="7315200" cy="144250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64621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the two shorter sides. A triangle needs MORE than the longest side.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336582"/>
            <a:ext cx="30464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the FAST sheet:  </a:t>
            </a:r>
          </a:p>
        </p:txBody>
      </p:sp>
      <p:pic>
        <p:nvPicPr>
          <p:cNvPr id="13" name="Picture 12" descr="3dff896e73351c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792" y="4454001"/>
            <a:ext cx="1079857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76649" y="4336582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91c3012494ba80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3090" y="4454001"/>
            <a:ext cx="1075110" cy="225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68201" y="4336582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5e6002f24e4fe1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641" y="4454001"/>
            <a:ext cx="1056124" cy="2254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third side is between the difference and the sum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3154aaaf4cda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603" y="2249805"/>
            <a:ext cx="4020312" cy="280416"/>
          </a:xfrm>
          <a:prstGeom prst="rect">
            <a:avLst/>
          </a:prstGeom>
        </p:spPr>
      </p:pic>
      <p:pic>
        <p:nvPicPr>
          <p:cNvPr id="11" name="Picture 10" descr="c8ac983533cfdf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475" y="3048381"/>
            <a:ext cx="1496568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41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Sides 4 and 9: the third side x is more than 5 and less than 13.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631436"/>
            <a:ext cx="1150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Never </a:t>
            </a:r>
          </a:p>
        </p:txBody>
      </p:sp>
      <p:pic>
        <p:nvPicPr>
          <p:cNvPr id="14" name="Picture 13" descr="86c91fb9500094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788" y="4812934"/>
            <a:ext cx="151892" cy="15663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52680" y="4631436"/>
            <a:ext cx="41503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: at 5 or 13 the sides lie flat.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legs' squares add up to the hypotenuse's square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d978ce3bc7c14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993392"/>
            <a:ext cx="2148840" cy="1967189"/>
          </a:xfrm>
          <a:prstGeom prst="rect">
            <a:avLst/>
          </a:prstGeom>
        </p:spPr>
      </p:pic>
      <p:pic>
        <p:nvPicPr>
          <p:cNvPr id="11" name="Picture 10" descr="77f157c420812a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1271" y="4106885"/>
            <a:ext cx="3998975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85669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shorter sides squared and added = the longest side squared: a right triangle.</a:t>
            </a:r>
          </a:p>
        </p:txBody>
      </p:sp>
      <p:pic>
        <p:nvPicPr>
          <p:cNvPr id="13" name="Picture 12" descr="907ae7451718aa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666858"/>
            <a:ext cx="1056124" cy="2729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43676" y="5547065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5" name="Picture 14" descr="201bd8d4d2887a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8626" y="5621765"/>
            <a:ext cx="2506218" cy="2658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4844" y="5547065"/>
            <a:ext cx="1446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right.    </a:t>
            </a:r>
          </a:p>
        </p:txBody>
      </p:sp>
      <p:pic>
        <p:nvPicPr>
          <p:cNvPr id="17" name="Picture 16" descr="db91a7798c4bf6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4623" y="5666858"/>
            <a:ext cx="757086" cy="27293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21710" y="5547065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9" name="Picture 18" descr="07affdc0b9ac2e9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6661" y="5621765"/>
            <a:ext cx="1450093" cy="2658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76754" y="5547065"/>
            <a:ext cx="922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not </a:t>
            </a:r>
          </a:p>
        </p:txBody>
      </p:sp>
      <p:pic>
        <p:nvPicPr>
          <p:cNvPr id="21" name="Picture 20" descr="db1362cf918c4d9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62038" y="5669231"/>
            <a:ext cx="332263" cy="21597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94302" y="5547065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5 cm, 8 cm and 14 cm make a triangle?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fd6c4d452e9b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45336" cy="277368"/>
          </a:xfrm>
          <a:prstGeom prst="rect">
            <a:avLst/>
          </a:prstGeom>
        </p:spPr>
      </p:pic>
      <p:pic>
        <p:nvPicPr>
          <p:cNvPr id="9" name="Picture 8" descr="eb6c03627e6a60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112471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5 + 8 = 13 is less than 14.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7 inches, 9 inches and 15 inches make a triangle?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7 inches, 9 inches and 15 inches make a triangle?</a:t>
            </a:r>
          </a:p>
        </p:txBody>
      </p:sp>
      <p:pic>
        <p:nvPicPr>
          <p:cNvPr id="9" name="Picture 8" descr="14b1b0d5182390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8772" y="2300270"/>
            <a:ext cx="138379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23908" y="2729086"/>
            <a:ext cx="54508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16 is more than 15: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7 + 9 = 16 is more than 15.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20 m, 12 m and 16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0b182f565455e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575048" cy="341376"/>
          </a:xfrm>
          <a:prstGeom prst="rect">
            <a:avLst/>
          </a:prstGeom>
        </p:spPr>
      </p:pic>
      <p:pic>
        <p:nvPicPr>
          <p:cNvPr id="9" name="Picture 8" descr="041f2b9b675da8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164592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+ 16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8 ft, 11 ft and 14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8 ft, 11 ft and 14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  <p:pic>
        <p:nvPicPr>
          <p:cNvPr id="10" name="Picture 9" descr="7c0920cdde35d4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5300" y="2793649"/>
            <a:ext cx="3663696" cy="304800"/>
          </a:xfrm>
          <a:prstGeom prst="rect">
            <a:avLst/>
          </a:prstGeom>
        </p:spPr>
      </p:pic>
      <p:pic>
        <p:nvPicPr>
          <p:cNvPr id="11" name="Picture 10" descr="461ad6978bbfc5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3328287"/>
            <a:ext cx="1383887" cy="3066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89187" y="3268184"/>
            <a:ext cx="2181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not equal.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185 is not 196.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2 ft, 7 ft and 10 ft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2 ft, 7 ft and 10 ft make a triangle?</a:t>
            </a:r>
          </a:p>
        </p:txBody>
      </p:sp>
      <p:pic>
        <p:nvPicPr>
          <p:cNvPr id="9" name="Picture 8" descr="2df5e3f92a90d5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549" y="2623358"/>
            <a:ext cx="1210056" cy="252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36685" y="3049126"/>
            <a:ext cx="5225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9 is less than 10: no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2 + 7 = 9 is less than 10.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6 m, 6 m and 11 m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6 m, 6 m and 11 m make a triangle?</a:t>
            </a:r>
          </a:p>
        </p:txBody>
      </p:sp>
      <p:pic>
        <p:nvPicPr>
          <p:cNvPr id="9" name="Picture 8" descr="85ff24f4fb0da8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059" y="2623358"/>
            <a:ext cx="1395984" cy="252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38195" y="3049126"/>
            <a:ext cx="5422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12 is more than 11: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6 + 6 = 12 is more than 11.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three lengths can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7, 7, 14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5, 11, 8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3, 10, 6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12, 4, 6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three lengths can make a triangle?</a:t>
            </a:r>
          </a:p>
        </p:txBody>
      </p:sp>
      <p:pic>
        <p:nvPicPr>
          <p:cNvPr id="9" name="Picture 8" descr="bfd6c4d452e9b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645" y="2647219"/>
            <a:ext cx="1183147" cy="2123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877793" y="2509630"/>
            <a:ext cx="40438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more than 11: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39781" y="3012550"/>
            <a:ext cx="9019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 each other set the two shorter sides fall short or lie flat.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5, 11, 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7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an inequality for the length x, in centimeters, of the third 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7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an inequality for the length x, in centimeters, of the third side.</a:t>
            </a:r>
          </a:p>
        </p:txBody>
      </p:sp>
      <p:pic>
        <p:nvPicPr>
          <p:cNvPr id="10" name="Picture 9" descr="64e100d81a433f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3109" y="3596209"/>
            <a:ext cx="1364551" cy="2513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57660" y="3478099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2" name="Picture 11" descr="8034704937480e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6803" y="3593447"/>
            <a:ext cx="1544097" cy="251364"/>
          </a:xfrm>
          <a:prstGeom prst="rect">
            <a:avLst/>
          </a:prstGeom>
        </p:spPr>
      </p:pic>
      <p:pic>
        <p:nvPicPr>
          <p:cNvPr id="13" name="Picture 12" descr="13e3ad95332ccb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3109" y="4134371"/>
            <a:ext cx="1365504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 &lt; x &lt; 19 — more than 5 cm and less than 19 cm.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6 cm and 10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inequality shows every possible length x, in centimeters, of the third side?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0fbe6fa0ef0cae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564967"/>
            <a:ext cx="151790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ffc528ca75e11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561919"/>
            <a:ext cx="161239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77505d48985268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174567"/>
            <a:ext cx="153009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c71b5ee8fe399e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177615"/>
            <a:ext cx="1520952" cy="2804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6341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6 cm and 10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inequality shows every possible length x, in centimeters, of the third side?</a:t>
            </a:r>
          </a:p>
        </p:txBody>
      </p:sp>
      <p:pic>
        <p:nvPicPr>
          <p:cNvPr id="10" name="Picture 9" descr="776ebc7eac5ed4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3056" y="3596209"/>
            <a:ext cx="1414272" cy="2541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67328" y="3478099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2" name="Picture 11" descr="ec18a57bdad36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470" y="3596209"/>
            <a:ext cx="1571720" cy="254126"/>
          </a:xfrm>
          <a:prstGeom prst="rect">
            <a:avLst/>
          </a:prstGeom>
        </p:spPr>
      </p:pic>
      <p:pic>
        <p:nvPicPr>
          <p:cNvPr id="13" name="Picture 12" descr="4878d8a402d2d5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3056" y="4130180"/>
            <a:ext cx="1386649" cy="25412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39706" y="4017595"/>
            <a:ext cx="2855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— never equal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4 &lt; x &lt; 16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 sides of 8 inches, 15 inches and 17 inches make a right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 sides of 8 inches, 15 inches and 17 inches make a right triangle?</a:t>
            </a:r>
          </a:p>
        </p:txBody>
      </p:sp>
      <p:pic>
        <p:nvPicPr>
          <p:cNvPr id="9" name="Picture 8" descr="43395e419bfcc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883" y="3003961"/>
            <a:ext cx="3749039" cy="304800"/>
          </a:xfrm>
          <a:prstGeom prst="rect">
            <a:avLst/>
          </a:prstGeom>
        </p:spPr>
      </p:pic>
      <p:pic>
        <p:nvPicPr>
          <p:cNvPr id="10" name="Picture 9" descr="18e0f36cf337f5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5883" y="3541361"/>
            <a:ext cx="1383887" cy="3066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39770" y="3478496"/>
            <a:ext cx="4712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equal — a right triangle.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8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+ 15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289 = 17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25 cm, 7 cm and 24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it a right triangle? Which answer has the right reason?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Yes, because 7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+ 24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= 25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Yes, because 7 + 24 &gt; 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No, because 25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+ 7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≠ 24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No, because 7 + 24 ≠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25 cm, 7 cm and 24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it a right triangle? Which answer has the right reason?</a:t>
            </a:r>
          </a:p>
        </p:txBody>
      </p:sp>
      <p:pic>
        <p:nvPicPr>
          <p:cNvPr id="10" name="Picture 9" descr="5490789b4120b9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198" y="3110641"/>
            <a:ext cx="3755136" cy="307848"/>
          </a:xfrm>
          <a:prstGeom prst="rect">
            <a:avLst/>
          </a:prstGeom>
        </p:spPr>
      </p:pic>
      <p:pic>
        <p:nvPicPr>
          <p:cNvPr id="11" name="Picture 10" descr="1b06dea0679020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198" y="3648327"/>
            <a:ext cx="1417034" cy="3093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79232" y="3588224"/>
            <a:ext cx="28725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equal — right.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yes, because 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+ 24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triangular sail has sides of 20 ft, 21 ft and 29 ft, and it weighs 12 pounds.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Does the sail have a right 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triangular sail has sides of 20 ft, 21 ft and 29 ft, and it weighs 12 pounds.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Does the sail have a right angle?</a:t>
            </a:r>
          </a:p>
        </p:txBody>
      </p:sp>
      <p:pic>
        <p:nvPicPr>
          <p:cNvPr id="10" name="Picture 9" descr="e14984151c53cd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7075" y="3546107"/>
            <a:ext cx="4197096" cy="304800"/>
          </a:xfrm>
          <a:prstGeom prst="rect">
            <a:avLst/>
          </a:prstGeom>
        </p:spPr>
      </p:pic>
      <p:pic>
        <p:nvPicPr>
          <p:cNvPr id="11" name="Picture 10" descr="2bcf32630534ac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5" y="4080460"/>
            <a:ext cx="1417034" cy="3066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54110" y="4017595"/>
            <a:ext cx="2784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a right angle.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20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+ 21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841 = 29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Ana says sides of 6, 7 and 9 make a right triangle because 6 + 7 &gt;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Ana says sides of 6, 7 and 9 make a right triangle because 6 + 7 &gt;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7662b6e2d2d4ee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69" y="3538202"/>
            <a:ext cx="1709832" cy="3093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16002" y="3478099"/>
            <a:ext cx="11175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but </a:t>
            </a:r>
          </a:p>
        </p:txBody>
      </p:sp>
      <p:pic>
        <p:nvPicPr>
          <p:cNvPr id="12" name="Picture 11" descr="984ee268824627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6366" y="3540964"/>
            <a:ext cx="1013745" cy="3066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10112" y="3478099"/>
            <a:ext cx="2948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6 + 7 &gt; 9 shows only a triangle; 85 is not 81, so it is not right.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Can sides of 4 cm, 8 cm and 13 cm make a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Can sides of 9 inches, 9 inches and 18 inches make a triangle?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Two sides of a triangle are 5 m and 11 m. Write an inequality for the length x, in meters, of the third side.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3814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43814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Do sides of 28 cm, 45 cm and 53 cm make a right triangle?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4106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Do sides of 17 ft, 10 ft and 14 ft make a right triangle?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439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carpenter joins boards of 30 inches, 40 inches and 50 inches into a triangle. Is one corner a right angle?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Triangle inequality — 2N5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Converse of the Pythagorean theorem: is it a right triangle? — EQZ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Pythagorean Theorem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side of a right triangle — the hypotenuse, or a leg.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524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Can sides of 4 inches, 7 inches and 12 inches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8763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printer prints 18 pages a minute. Pages in 4.5 minutes?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1" name="Picture 10" descr="25d82099734b3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3" name="Picture 12" descr="3ac1f13e1f982f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487" y="3355197"/>
            <a:ext cx="996791" cy="265811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524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Can sides of 4 inches, 7 inches and 12 inches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31905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No — 4 + 7 = 11 &lt;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8763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printer prints 18 pages a minute. Pages in 4.5 minutes?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15480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81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25d82099734b3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3623722"/>
            <a:ext cx="806926" cy="37261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23277" y="35798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1925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6" name="Picture 15" descr="3ac1f13e1f982f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487" y="4269597"/>
            <a:ext cx="996791" cy="2658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39919" y="4192524"/>
            <a:ext cx="5753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Pythagorean Theorem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69550"/>
            <a:ext cx="6888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in every right triangle, leg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 + leg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 = hypotenuse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0" name="Picture 9" descr="ca3cd8deffede9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105" y="1953211"/>
            <a:ext cx="1436989" cy="2542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25050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hypotenuse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3442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 — the side across from the right angle, always the longest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6576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square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72272"/>
            <a:ext cx="4142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number that, times itself,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56904"/>
            <a:ext cx="56466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makes the number under the root sign:  </a:t>
            </a:r>
          </a:p>
        </p:txBody>
      </p:sp>
      <p:pic>
        <p:nvPicPr>
          <p:cNvPr id="16" name="Picture 15" descr="c01d6e653b6eb2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2533" y="4508784"/>
            <a:ext cx="1064688" cy="356409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square corner first; c is across from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58aa5bffac20a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068" y="1993392"/>
            <a:ext cx="4215384" cy="2194957"/>
          </a:xfrm>
          <a:prstGeom prst="rect">
            <a:avLst/>
          </a:prstGeom>
        </p:spPr>
      </p:pic>
      <p:pic>
        <p:nvPicPr>
          <p:cNvPr id="11" name="Picture 10" descr="f29ece7fb4d230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80373"/>
            <a:ext cx="192938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066173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legs' squares add up to the hypotenuse's square. c is across from the right angle — always the longest side.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hypotenuse: square, add, then the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21f71f1271258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383" y="2194560"/>
            <a:ext cx="3730752" cy="341376"/>
          </a:xfrm>
          <a:prstGeom prst="rect">
            <a:avLst/>
          </a:prstGeom>
        </p:spPr>
      </p:pic>
      <p:pic>
        <p:nvPicPr>
          <p:cNvPr id="11" name="Picture 10" descr="f5cca9bd60907f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8511" y="2990088"/>
            <a:ext cx="2444496" cy="4785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66971"/>
            <a:ext cx="2311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Legs 3 and 5:   </a:t>
            </a:r>
          </a:p>
        </p:txBody>
      </p:sp>
      <p:pic>
        <p:nvPicPr>
          <p:cNvPr id="13" name="Picture 12" descr="24c2904a6862c3a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2379" y="4044045"/>
            <a:ext cx="1483320" cy="2658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45700" y="3966971"/>
            <a:ext cx="535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363f37b4e81453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4519" y="4010818"/>
            <a:ext cx="1808464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634483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Exact: </a:t>
            </a:r>
          </a:p>
        </p:txBody>
      </p:sp>
      <p:pic>
        <p:nvPicPr>
          <p:cNvPr id="17" name="Picture 16" descr="5b982e7bc59239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736" y="4678330"/>
            <a:ext cx="666900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27636" y="4634483"/>
            <a:ext cx="41507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  To the nearest tenth: 5.8.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 leg: subtract the squares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e309e7e8ce6a1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475" y="1993392"/>
            <a:ext cx="2258568" cy="341376"/>
          </a:xfrm>
          <a:prstGeom prst="rect">
            <a:avLst/>
          </a:prstGeom>
        </p:spPr>
      </p:pic>
      <p:pic>
        <p:nvPicPr>
          <p:cNvPr id="11" name="Picture 10" descr="5652a128c97c63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8367" y="2679192"/>
            <a:ext cx="3224784" cy="341376"/>
          </a:xfrm>
          <a:prstGeom prst="rect">
            <a:avLst/>
          </a:prstGeom>
        </p:spPr>
      </p:pic>
      <p:pic>
        <p:nvPicPr>
          <p:cNvPr id="12" name="Picture 11" descr="c79a9df2bcafe8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3364991"/>
            <a:ext cx="2066543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140707"/>
            <a:ext cx="32313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For a leg, subtract:  </a:t>
            </a:r>
          </a:p>
        </p:txBody>
      </p:sp>
      <p:pic>
        <p:nvPicPr>
          <p:cNvPr id="14" name="Picture 13" descr="1eb4729ee4dde5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1731" y="4217781"/>
            <a:ext cx="1499933" cy="2658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81665" y="4140707"/>
            <a:ext cx="2858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84936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Check: a leg is shorter than the hypotenuse.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7 cm and 9 cm.</a:t>
            </a:r>
          </a:p>
        </p:txBody>
      </p:sp>
      <p:pic>
        <p:nvPicPr>
          <p:cNvPr id="9" name="Picture 8" descr="g37a284cc012c9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619" y="2276458"/>
            <a:ext cx="2240280" cy="234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54362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 Give it exactly and to the nearest tenth.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f63f94f57da23b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22648" cy="341376"/>
          </a:xfrm>
          <a:prstGeom prst="rect">
            <a:avLst/>
          </a:prstGeom>
        </p:spPr>
      </p:pic>
      <p:pic>
        <p:nvPicPr>
          <p:cNvPr id="9" name="Picture 8" descr="b97c89e1a1136c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97480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= √130 cm ≈ 11.4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5 inches and 11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hypotenuse, exactly and to the nearest tenth?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5 inches and 11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hypotenuse, exactly and to the nearest tenth?</a:t>
            </a:r>
          </a:p>
        </p:txBody>
      </p:sp>
      <p:pic>
        <p:nvPicPr>
          <p:cNvPr id="10" name="Picture 9" descr="49e72f05093d83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0019" y="2796697"/>
            <a:ext cx="4331208" cy="304800"/>
          </a:xfrm>
          <a:prstGeom prst="rect">
            <a:avLst/>
          </a:prstGeom>
        </p:spPr>
      </p:pic>
      <p:pic>
        <p:nvPicPr>
          <p:cNvPr id="11" name="Picture 10" descr="42e060f27f4a50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0019" y="3291044"/>
            <a:ext cx="242620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= √146 in ≈ 12.1 in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15 m and one leg of 8 m.</a:t>
            </a:r>
          </a:p>
        </p:txBody>
      </p:sp>
      <p:pic>
        <p:nvPicPr>
          <p:cNvPr id="9" name="Picture 8" descr="g8750fe113f51c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2276458"/>
            <a:ext cx="3657600" cy="23681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7381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 Give it exactly and to the nearest tenth.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1792e0d9e2775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75688" cy="341376"/>
          </a:xfrm>
          <a:prstGeom prst="rect">
            <a:avLst/>
          </a:prstGeom>
        </p:spPr>
      </p:pic>
      <p:pic>
        <p:nvPicPr>
          <p:cNvPr id="9" name="Picture 8" descr="7647180d4d2d71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3166872" cy="341376"/>
          </a:xfrm>
          <a:prstGeom prst="rect">
            <a:avLst/>
          </a:prstGeom>
        </p:spPr>
      </p:pic>
      <p:pic>
        <p:nvPicPr>
          <p:cNvPr id="10" name="Picture 9" descr="b3458a8a85ef49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51632"/>
            <a:ext cx="2682240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= √161 m ≈ 12.7 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11 ft and one leg of 6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other leg, exactly and to the nearest tenth?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11 ft and one leg of 6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other leg, exactly and to the nearest tenth?</a:t>
            </a:r>
          </a:p>
        </p:txBody>
      </p:sp>
      <p:pic>
        <p:nvPicPr>
          <p:cNvPr id="10" name="Picture 9" descr="3e1aaf67d43b29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459" y="2796697"/>
            <a:ext cx="4151376" cy="304800"/>
          </a:xfrm>
          <a:prstGeom prst="rect">
            <a:avLst/>
          </a:prstGeom>
        </p:spPr>
      </p:pic>
      <p:pic>
        <p:nvPicPr>
          <p:cNvPr id="11" name="Picture 10" descr="12045b10f967ac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459" y="3291044"/>
            <a:ext cx="2118360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= √85 ft ≈ 9.2 ft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9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</a:t>
            </a:r>
          </a:p>
        </p:txBody>
      </p:sp>
      <p:pic>
        <p:nvPicPr>
          <p:cNvPr id="10" name="Picture 9" descr="g87feca9b8810c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2998436"/>
            <a:ext cx="2304288" cy="23461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280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9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</a:t>
            </a:r>
          </a:p>
        </p:txBody>
      </p:sp>
      <p:pic>
        <p:nvPicPr>
          <p:cNvPr id="10" name="Picture 9" descr="g87feca9b8810c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228" y="2998436"/>
            <a:ext cx="2304288" cy="2346139"/>
          </a:xfrm>
          <a:prstGeom prst="rect">
            <a:avLst/>
          </a:prstGeom>
        </p:spPr>
      </p:pic>
      <p:pic>
        <p:nvPicPr>
          <p:cNvPr id="11" name="Picture 10" descr="2899ab4d0ffda9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899" y="3777647"/>
            <a:ext cx="2429256" cy="262128"/>
          </a:xfrm>
          <a:prstGeom prst="rect">
            <a:avLst/>
          </a:prstGeom>
        </p:spPr>
      </p:pic>
      <p:pic>
        <p:nvPicPr>
          <p:cNvPr id="12" name="Picture 11" descr="e078427f0d1d53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899" y="4250087"/>
            <a:ext cx="1840991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280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4 inches and 9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4 inches and 9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7410ced1fcc2b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899" y="3113689"/>
            <a:ext cx="2441448" cy="307848"/>
          </a:xfrm>
          <a:prstGeom prst="rect">
            <a:avLst/>
          </a:prstGeom>
        </p:spPr>
      </p:pic>
      <p:pic>
        <p:nvPicPr>
          <p:cNvPr id="11" name="Picture 10" descr="d774a50e89260b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899" y="3611084"/>
            <a:ext cx="207568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√97 in ≈ 9.8 in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25 ft and one leg of 20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gaffe3d7eabf898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3" y="2998436"/>
            <a:ext cx="2176272" cy="23431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2501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25 ft and one leg of 20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gaffe3d7eabf898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984" y="2998436"/>
            <a:ext cx="2176272" cy="2343111"/>
          </a:xfrm>
          <a:prstGeom prst="rect">
            <a:avLst/>
          </a:prstGeom>
        </p:spPr>
      </p:pic>
      <p:pic>
        <p:nvPicPr>
          <p:cNvPr id="11" name="Picture 10" descr="da85c990301d92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776133"/>
            <a:ext cx="2657856" cy="262128"/>
          </a:xfrm>
          <a:prstGeom prst="rect">
            <a:avLst/>
          </a:prstGeom>
        </p:spPr>
      </p:pic>
      <p:pic>
        <p:nvPicPr>
          <p:cNvPr id="12" name="Picture 11" descr="6e05135a1808f99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4248573"/>
            <a:ext cx="1859280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2501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ft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41 m and one leg of 40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81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57.3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41 m and one leg of 40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f10d4c561f967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075" y="3110641"/>
            <a:ext cx="3438144" cy="368808"/>
          </a:xfrm>
          <a:prstGeom prst="rect">
            <a:avLst/>
          </a:prstGeom>
        </p:spPr>
      </p:pic>
      <p:pic>
        <p:nvPicPr>
          <p:cNvPr id="11" name="Picture 10" descr="a236597d86feea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075" y="3611084"/>
            <a:ext cx="182270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 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right triangle is drawn turned. Its legs are 5 cm and 7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gf8612ac7fdced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2998436"/>
            <a:ext cx="4206240" cy="217838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46029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right triangle is drawn turned. Its legs are 5 cm and 7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gf8612ac7fdced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128" y="2998436"/>
            <a:ext cx="4206240" cy="2178389"/>
          </a:xfrm>
          <a:prstGeom prst="rect">
            <a:avLst/>
          </a:prstGeom>
        </p:spPr>
      </p:pic>
      <p:pic>
        <p:nvPicPr>
          <p:cNvPr id="11" name="Picture 10" descr="38f42acf1793d2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752" y="3693772"/>
            <a:ext cx="2130552" cy="262128"/>
          </a:xfrm>
          <a:prstGeom prst="rect">
            <a:avLst/>
          </a:prstGeom>
        </p:spPr>
      </p:pic>
      <p:pic>
        <p:nvPicPr>
          <p:cNvPr id="12" name="Picture 11" descr="95a27a9fc7d94d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0752" y="4166212"/>
            <a:ext cx="1786128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602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√74 cm ≈ 8.6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triangle's hypotenuse is 20 inches; its legs are 16 inches and 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467b3d8054f9e8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564967"/>
            <a:ext cx="175260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940ac47e9562c5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519247"/>
            <a:ext cx="2246376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7f1c9e3a279737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131895"/>
            <a:ext cx="2535936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b1c1dd707cdaedb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131895"/>
            <a:ext cx="2246376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6341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triangle's hypotenuse is 20 inches; its legs are 16 inches and 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pic>
        <p:nvPicPr>
          <p:cNvPr id="10" name="Picture 9" descr="723ec51e38368d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6759" y="3546107"/>
            <a:ext cx="3157728" cy="304800"/>
          </a:xfrm>
          <a:prstGeom prst="rect">
            <a:avLst/>
          </a:prstGeom>
        </p:spPr>
      </p:pic>
      <p:pic>
        <p:nvPicPr>
          <p:cNvPr id="11" name="Picture 10" descr="29d805f74fa341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759" y="4040455"/>
            <a:ext cx="2225040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and x = 12 in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14 m and one leg of 9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14 m and one leg of 9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leg, to the nearest tenth?</a:t>
            </a:r>
          </a:p>
        </p:txBody>
      </p:sp>
      <p:pic>
        <p:nvPicPr>
          <p:cNvPr id="10" name="Picture 9" descr="4d4d0148702223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923" y="3116737"/>
            <a:ext cx="2822448" cy="304800"/>
          </a:xfrm>
          <a:prstGeom prst="rect">
            <a:avLst/>
          </a:prstGeom>
        </p:spPr>
      </p:pic>
      <p:pic>
        <p:nvPicPr>
          <p:cNvPr id="11" name="Picture 10" descr="899457164c48e8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923" y="3611084"/>
            <a:ext cx="245668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√115 m ≈ 10.7 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pennant is cut as a right triangle with legs of 8 inches and 11 inches. The fabric costs 6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longest side,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pennant is cut as a right triangle with legs of 8 inches and 11 inches. The fabric costs 6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longest side, to the nearest tenth?</a:t>
            </a:r>
          </a:p>
        </p:txBody>
      </p:sp>
      <p:pic>
        <p:nvPicPr>
          <p:cNvPr id="10" name="Picture 9" descr="c0b0581c2b142e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828" y="3546107"/>
            <a:ext cx="2831592" cy="304800"/>
          </a:xfrm>
          <a:prstGeom prst="rect">
            <a:avLst/>
          </a:prstGeom>
        </p:spPr>
      </p:pic>
      <p:pic>
        <p:nvPicPr>
          <p:cNvPr id="11" name="Picture 10" descr="6f89b6850aed21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4040455"/>
            <a:ext cx="2435352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√185 in ≈ 13.6 in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45920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finds a leg of a right triangle. The hypotenuse is 13 cm and the other leg is 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91528"/>
            <a:ext cx="1919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She writes  </a:t>
            </a:r>
          </a:p>
        </p:txBody>
      </p:sp>
      <p:pic>
        <p:nvPicPr>
          <p:cNvPr id="10" name="Picture 9" descr="56becf73e2479b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108" y="2627342"/>
            <a:ext cx="2246185" cy="3888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63293" y="259152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03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went wrong? How long is the leg?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45920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finds a leg of a right triangle. The hypotenuse is 13 cm and the other leg is 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91528"/>
            <a:ext cx="1919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She writes  </a:t>
            </a:r>
          </a:p>
        </p:txBody>
      </p:sp>
      <p:pic>
        <p:nvPicPr>
          <p:cNvPr id="10" name="Picture 9" descr="8b551e9736168d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108" y="2627342"/>
            <a:ext cx="2248662" cy="3888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65770" y="259152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03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went wrong? How long is the leg?</a:t>
            </a:r>
          </a:p>
        </p:txBody>
      </p:sp>
      <p:pic>
        <p:nvPicPr>
          <p:cNvPr id="13" name="Picture 12" descr="ec09cf29acca5c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299" y="3930155"/>
            <a:ext cx="2901696" cy="304800"/>
          </a:xfrm>
          <a:prstGeom prst="rect">
            <a:avLst/>
          </a:prstGeom>
        </p:spPr>
      </p:pic>
      <p:pic>
        <p:nvPicPr>
          <p:cNvPr id="14" name="Picture 13" descr="4616387d26fd7c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299" y="4424503"/>
            <a:ext cx="2231136" cy="43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added the squares; a leg must be shorter than 13 cm. Subtract: the leg is 12 cm.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12 m and 5 m. How long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5740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3 ft and 8 ft. How long is the hypotenuse, exactly and to the nearest tenth?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9864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39 cm and one leg of 36 cm. How long is the other leg?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73989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3989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11 inches and one leg of 4 inches. How long is the other leg, exactly and to the nearest tenth?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8114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8114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6 m and 11 m (drawn turned on its side on the paper). How long is its hypotenuse, to the nearest tenth?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223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223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25 yd and one leg of 24 yd. The other leg is x. Write the equation that finds x, then find x.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find the missing leg or hypotenuse length — MTM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Pythagorean Theorem in Real-World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length in a real situation by finding the right triangle inside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66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right triangle: hypotenuse 25 ft, one leg 24 ft. The other leg?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3162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9, 40 and 41 make a right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9586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plan's scale is 1 in : 4 ft. A wall is 3.5 inches on it. Real length?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7394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many right angles does a rectangle have?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66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right triangle: hypotenuse 25 ft, one leg 24 ft. The other leg?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700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73162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9, 40 and 41 make a right triangle?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46626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Yes — 81 + 1,600 = 1,681 = 41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9586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plan's scale is 1 in : 4 ft. A wall is 3.5 inches on it. Real length?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037076"/>
            <a:ext cx="8977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9724"/>
            <a:ext cx="7394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many right angles does a rectangle have?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0426" y="4649724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diagonal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segment from one corner of a rectangle to the opposite corner — the hypotenuse of the right triangle it cuts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1733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rise and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4670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ramp's height and the distance along the ground it covers; the ramp itself is the hypotenuse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Find the right angle, then 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0e5aa953a89c7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1993392"/>
            <a:ext cx="2304288" cy="22874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49118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Sketch the story. Mark the right angle. The side across from it is 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22270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ladder, a diagonal, a ramp, a kite string: each is the hypotenuse.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 in a story: the diagonal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fd5ddee4c5feff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993392"/>
            <a:ext cx="4206240" cy="1939298"/>
          </a:xfrm>
          <a:prstGeom prst="rect">
            <a:avLst/>
          </a:prstGeom>
        </p:spPr>
      </p:pic>
      <p:pic>
        <p:nvPicPr>
          <p:cNvPr id="11" name="Picture 10" descr="3485607edb5ad0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6075" y="4078994"/>
            <a:ext cx="4849368" cy="341376"/>
          </a:xfrm>
          <a:prstGeom prst="rect">
            <a:avLst/>
          </a:prstGeom>
        </p:spPr>
      </p:pic>
      <p:pic>
        <p:nvPicPr>
          <p:cNvPr id="12" name="Picture 11" descr="b433e3a5e16f76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3564" y="4764794"/>
            <a:ext cx="2374392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558165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path is 13 m. Along two sides is 17 m: the path is 4 m shorter.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 leg in a story: how high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4fc4e71f3131bc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1993392"/>
            <a:ext cx="1179576" cy="2174344"/>
          </a:xfrm>
          <a:prstGeom prst="rect">
            <a:avLst/>
          </a:prstGeom>
        </p:spPr>
      </p:pic>
      <p:pic>
        <p:nvPicPr>
          <p:cNvPr id="11" name="Picture 10" descr="e66f074be1227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0960" y="4314040"/>
            <a:ext cx="4419600" cy="341376"/>
          </a:xfrm>
          <a:prstGeom prst="rect">
            <a:avLst/>
          </a:prstGeom>
        </p:spPr>
      </p:pic>
      <p:pic>
        <p:nvPicPr>
          <p:cNvPr id="12" name="Picture 11" descr="ce5b1cc7936231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9284" y="4999840"/>
            <a:ext cx="2282952" cy="478536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ramp rises 2 ft over a run of 13 ft along the ground.</a:t>
            </a:r>
          </a:p>
        </p:txBody>
      </p:sp>
      <p:pic>
        <p:nvPicPr>
          <p:cNvPr id="9" name="Picture 8" descr="g3059fda3489aa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2276458"/>
            <a:ext cx="5120640" cy="11822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8788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35716e3d9cb04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578096" cy="341376"/>
          </a:xfrm>
          <a:prstGeom prst="rect">
            <a:avLst/>
          </a:prstGeom>
        </p:spPr>
      </p:pic>
      <p:pic>
        <p:nvPicPr>
          <p:cNvPr id="9" name="Picture 8" descr="bb58d5f4ac9fa9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578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ramp is about 13.2 ft long.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computer screen is 7 inches tall and 10 inches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its diagonal, to the nearest tenth of an inch?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computer screen is 7 inches tall and 10 inches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its diagonal, to the nearest tenth of an inch?</a:t>
            </a:r>
          </a:p>
        </p:txBody>
      </p:sp>
      <p:pic>
        <p:nvPicPr>
          <p:cNvPr id="10" name="Picture 9" descr="d73bd93a04707f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6679" y="2793649"/>
            <a:ext cx="4437888" cy="307848"/>
          </a:xfrm>
          <a:prstGeom prst="rect">
            <a:avLst/>
          </a:prstGeom>
        </p:spPr>
      </p:pic>
      <p:pic>
        <p:nvPicPr>
          <p:cNvPr id="11" name="Picture 10" descr="cb22f1747753ce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6679" y="3291044"/>
            <a:ext cx="2450592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12.2 in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12-ft ladder leans on a wall. Its foot is 5 ft from the wall.</a:t>
            </a:r>
          </a:p>
        </p:txBody>
      </p:sp>
      <p:pic>
        <p:nvPicPr>
          <p:cNvPr id="9" name="Picture 8" descr="g8e7e96d88d0988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6379" y="2276458"/>
            <a:ext cx="1508760" cy="23726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7832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reach, to the nearest tenth of a foot?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3ca4f2e3cf238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40224" cy="341376"/>
          </a:xfrm>
          <a:prstGeom prst="rect">
            <a:avLst/>
          </a:prstGeom>
        </p:spPr>
      </p:pic>
      <p:pic>
        <p:nvPicPr>
          <p:cNvPr id="9" name="Picture 8" descr="f6fe74ec98ff4c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9138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It reaches about 10.9 ft up the wall.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13-ft ladder leans on a wall with its foot 6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13-ft ladder leans on a wall with its foot 6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pic>
        <p:nvPicPr>
          <p:cNvPr id="10" name="Picture 9" descr="2dacb2c8b5bb15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115" y="2796697"/>
            <a:ext cx="4322064" cy="304800"/>
          </a:xfrm>
          <a:prstGeom prst="rect">
            <a:avLst/>
          </a:prstGeom>
        </p:spPr>
      </p:pic>
      <p:pic>
        <p:nvPicPr>
          <p:cNvPr id="11" name="Picture 10" descr="4ae30c3b206efc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115" y="3291044"/>
            <a:ext cx="240182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11.5 ft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tablet screen is 6 inches wide and 8 inches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diagonal?</a:t>
            </a:r>
          </a:p>
        </p:txBody>
      </p:sp>
      <p:pic>
        <p:nvPicPr>
          <p:cNvPr id="10" name="Picture 9" descr="gd4d601fb3e797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492" y="2998436"/>
            <a:ext cx="2002536" cy="22692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5112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tablet screen is 6 inches wide and 8 inches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diagonal?</a:t>
            </a:r>
          </a:p>
        </p:txBody>
      </p:sp>
      <p:pic>
        <p:nvPicPr>
          <p:cNvPr id="10" name="Picture 9" descr="gd4d601fb3e797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2256" y="2998436"/>
            <a:ext cx="2002536" cy="2269223"/>
          </a:xfrm>
          <a:prstGeom prst="rect">
            <a:avLst/>
          </a:prstGeom>
        </p:spPr>
      </p:pic>
      <p:pic>
        <p:nvPicPr>
          <p:cNvPr id="11" name="Picture 10" descr="3f19fa5341f20c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1175" y="3739189"/>
            <a:ext cx="2282952" cy="262128"/>
          </a:xfrm>
          <a:prstGeom prst="rect">
            <a:avLst/>
          </a:prstGeom>
        </p:spPr>
      </p:pic>
      <p:pic>
        <p:nvPicPr>
          <p:cNvPr id="12" name="Picture 11" descr="2716f0e30bc433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1175" y="4211629"/>
            <a:ext cx="187147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511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in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15-ft ladder leans on a wall. Its foot is 9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reach?</a:t>
            </a:r>
          </a:p>
        </p:txBody>
      </p:sp>
      <p:pic>
        <p:nvPicPr>
          <p:cNvPr id="10" name="Picture 9" descr="gdc12119b548fc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2998436"/>
            <a:ext cx="2331720" cy="2376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5846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15-ft ladder leans on a wall. Its foot is 9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reach?</a:t>
            </a:r>
          </a:p>
        </p:txBody>
      </p:sp>
      <p:pic>
        <p:nvPicPr>
          <p:cNvPr id="10" name="Picture 9" descr="gdc12119b548fc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6892" y="2998436"/>
            <a:ext cx="2331720" cy="2376560"/>
          </a:xfrm>
          <a:prstGeom prst="rect">
            <a:avLst/>
          </a:prstGeom>
        </p:spPr>
      </p:pic>
      <p:pic>
        <p:nvPicPr>
          <p:cNvPr id="11" name="Picture 10" descr="6c71fea9fa85d5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995" y="3792858"/>
            <a:ext cx="2447544" cy="262128"/>
          </a:xfrm>
          <a:prstGeom prst="rect">
            <a:avLst/>
          </a:prstGeom>
        </p:spPr>
      </p:pic>
      <p:pic>
        <p:nvPicPr>
          <p:cNvPr id="12" name="Picture 11" descr="f3e91517e4c695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995" y="4265298"/>
            <a:ext cx="187147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5846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ft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4 ft over a run of 11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  <p:pic>
        <p:nvPicPr>
          <p:cNvPr id="10" name="Picture 9" descr="g2742e16789d1b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6803" y="2998436"/>
            <a:ext cx="3867912" cy="1644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92678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4 ft over a run of 11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  <p:pic>
        <p:nvPicPr>
          <p:cNvPr id="10" name="Picture 9" descr="g2742e16789d1b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087" y="2998436"/>
            <a:ext cx="3867912" cy="1644880"/>
          </a:xfrm>
          <a:prstGeom prst="rect">
            <a:avLst/>
          </a:prstGeom>
        </p:spPr>
      </p:pic>
      <p:pic>
        <p:nvPicPr>
          <p:cNvPr id="11" name="Picture 10" descr="a67103b6e306ec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3384" y="3427018"/>
            <a:ext cx="2346960" cy="262128"/>
          </a:xfrm>
          <a:prstGeom prst="rect">
            <a:avLst/>
          </a:prstGeom>
        </p:spPr>
      </p:pic>
      <p:pic>
        <p:nvPicPr>
          <p:cNvPr id="12" name="Picture 11" descr="c7a7f848c47d41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3384" y="3899458"/>
            <a:ext cx="2026920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92678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11.7 ft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20-ft ladder reaches 16 ft up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from the wall is its foot?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 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25.6 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 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144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20-ft ladder reaches 16 ft up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from the wall is its foot?</a:t>
            </a:r>
          </a:p>
        </p:txBody>
      </p:sp>
      <p:pic>
        <p:nvPicPr>
          <p:cNvPr id="10" name="Picture 9" descr="e53afea40bf001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7615" y="3116737"/>
            <a:ext cx="3176016" cy="304800"/>
          </a:xfrm>
          <a:prstGeom prst="rect">
            <a:avLst/>
          </a:prstGeom>
        </p:spPr>
      </p:pic>
      <p:pic>
        <p:nvPicPr>
          <p:cNvPr id="11" name="Picture 10" descr="439b2213650612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7615" y="3611084"/>
            <a:ext cx="224332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12 ft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lawn is 9 m by 12 m. Ben walks along two sides; Ava walks straight across, corner to corner.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Ava's walk?</a:t>
            </a:r>
          </a:p>
        </p:txBody>
      </p:sp>
      <p:pic>
        <p:nvPicPr>
          <p:cNvPr id="10" name="Picture 9" descr="g207205bb1fdd3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19" y="3427807"/>
            <a:ext cx="2468880" cy="1800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114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lawn is 9 m by 12 m. Ben walks along two sides; Ava walks straight across, corner to corner.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Ava's walk?</a:t>
            </a:r>
          </a:p>
        </p:txBody>
      </p:sp>
      <p:pic>
        <p:nvPicPr>
          <p:cNvPr id="10" name="Picture 9" descr="g207205bb1fdd3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867" y="3427807"/>
            <a:ext cx="2468880" cy="1800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72267" y="3596399"/>
            <a:ext cx="2838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Along two sides:  </a:t>
            </a:r>
          </a:p>
        </p:txBody>
      </p:sp>
      <p:pic>
        <p:nvPicPr>
          <p:cNvPr id="12" name="Picture 11" descr="02842d48bbb1ca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3488" y="3729321"/>
            <a:ext cx="1318498" cy="2123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72267" y="4099319"/>
            <a:ext cx="1450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Across:  </a:t>
            </a:r>
          </a:p>
        </p:txBody>
      </p:sp>
      <p:pic>
        <p:nvPicPr>
          <p:cNvPr id="14" name="Picture 13" descr="d00a5309a7c21b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243" y="4155231"/>
            <a:ext cx="2009251" cy="366379"/>
          </a:xfrm>
          <a:prstGeom prst="rect">
            <a:avLst/>
          </a:prstGeom>
        </p:spPr>
      </p:pic>
      <p:pic>
        <p:nvPicPr>
          <p:cNvPr id="15" name="Picture 14" descr="091e4f5866ccb7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7131" y="4737209"/>
            <a:ext cx="1325880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5114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m shorter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kite flies on 30 m of string, straight above a spot 18 m from where the string is held.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length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18 m on the 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kite's height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30-m string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none: no right 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kite flies on 30 m of string, straight above a spot 18 m from where the string is held.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length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8356" y="3478099"/>
            <a:ext cx="65419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square corner is under the kite.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8356" y="4017595"/>
            <a:ext cx="46870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from it: the string.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the 30-m string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box is 7 inches wide and 12 inches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Will a 14-in umbrella lie flat in it, corner to corner?</a:t>
            </a:r>
          </a:p>
        </p:txBody>
      </p:sp>
      <p:pic>
        <p:nvPicPr>
          <p:cNvPr id="10" name="Picture 9" descr="g3d0437d6ec0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998436"/>
            <a:ext cx="2377440" cy="20088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9071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box is 7 inches wide and 12 inches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Will a 14-in umbrella lie flat in it, corner to corner?</a:t>
            </a:r>
          </a:p>
        </p:txBody>
      </p:sp>
      <p:pic>
        <p:nvPicPr>
          <p:cNvPr id="10" name="Picture 9" descr="g3d0437d6ec0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3" y="2998436"/>
            <a:ext cx="2377440" cy="2008812"/>
          </a:xfrm>
          <a:prstGeom prst="rect">
            <a:avLst/>
          </a:prstGeom>
        </p:spPr>
      </p:pic>
      <p:pic>
        <p:nvPicPr>
          <p:cNvPr id="11" name="Picture 10" descr="0ad3c9708a1233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427" y="3608984"/>
            <a:ext cx="2438400" cy="262128"/>
          </a:xfrm>
          <a:prstGeom prst="rect">
            <a:avLst/>
          </a:prstGeom>
        </p:spPr>
      </p:pic>
      <p:pic>
        <p:nvPicPr>
          <p:cNvPr id="12" name="Picture 11" descr="63e6833ca8e297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2427" y="4081424"/>
            <a:ext cx="203911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29071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the diagonal is about 13.9 in.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10-ft ladder that weighs 25 pounds has its foot 7 ft from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10-ft ladder that weighs 25 pounds has its foot 7 ft from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pic>
        <p:nvPicPr>
          <p:cNvPr id="10" name="Picture 9" descr="d8068f4f04bc6e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59" y="3116737"/>
            <a:ext cx="2703576" cy="304800"/>
          </a:xfrm>
          <a:prstGeom prst="rect">
            <a:avLst/>
          </a:prstGeom>
        </p:spPr>
      </p:pic>
      <p:pic>
        <p:nvPicPr>
          <p:cNvPr id="11" name="Picture 10" descr="1ef693a9e44a9e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359" y="3611084"/>
            <a:ext cx="204825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7.1 ft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window is 12 ft above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can an 11-ft ladder never reach it, wherever its foot stands?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window is 12 ft above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can an 11-ft ladder never reach it, wherever its foot stands?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839" y="3478099"/>
            <a:ext cx="8519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ladder is the hypotenuse, the longest side.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89839" y="4017595"/>
            <a:ext cx="746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height is a leg, so it is less than 11 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height is a leg — always shorter than the 11-ft ladder.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tablet screen is 5 inches wide and 8 inches tall. How long is its diagonal, to the nearest tenth of an inch?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1401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41401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fire truck's 50-ft ladder reaches 48 ft up a building. How far from the building is its foot?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552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5526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ramp rises 3 ft over a run of 14 ft. How long is the ramp, to the nearest tenth of a foot?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09651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park is 7 m by 11 m. How much shorter is the walk straight across, corner to corner, than the walk along two sides? Give it to the nearest tenth of a meter.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3776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93776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Will a 10-in pencil lie flat in a box 7 inches by 8 inches, corner to corner?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223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223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kite flies at the end of 25 m of string, straight above a spot 20 m from where the string is held. How high is the kite?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word problems — 87U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Distance on the Coordinate Plane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distance between two points: subtract on a line, and draw the right triangle when the segment is slanted.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11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25-ft ladder reaches 20 ft up a wall. How far out is its foot?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409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12, 35 and 37 make a right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933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cm : 5 km. Towns 3.4 cm apart are how far?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3350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far apart are </a:t>
            </a:r>
          </a:p>
        </p:txBody>
      </p:sp>
      <p:pic>
        <p:nvPicPr>
          <p:cNvPr id="12" name="Picture 11" descr="3f92619b08e1e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296" y="3402663"/>
            <a:ext cx="666900" cy="270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55196" y="327812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6b57b6476f69a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780" y="3402663"/>
            <a:ext cx="939831" cy="2705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80612" y="3278124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11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25-ft ladder reaches 20 ft up a wall. How far out is its foot?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878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7409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12, 35 and 37 make a right triangle?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47853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Yes — 144 + 1,225 = 1,369 = 37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933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cm : 5 km. Towns 3.4 cm apart are how far?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037076"/>
            <a:ext cx="10991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17 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9724"/>
            <a:ext cx="3350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far apart are </a:t>
            </a:r>
          </a:p>
        </p:txBody>
      </p:sp>
      <p:pic>
        <p:nvPicPr>
          <p:cNvPr id="15" name="Picture 14" descr="3f92619b08e1e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296" y="4774263"/>
            <a:ext cx="666900" cy="2705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55196" y="464972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7" name="Picture 16" descr="26b57b6476f69a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780" y="4774263"/>
            <a:ext cx="939831" cy="27055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80612" y="4649724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2723" y="46497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horizontal distance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between two points with the same y: the difference of the x's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vertical distance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between two points with the same x: the difference of the y's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legs on the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horizontal and vertical segments under a slanted one; the slanted segment is the hypotenuse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 one line: subtract — and across zero,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5ddcde18f0b2c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993392"/>
            <a:ext cx="5120640" cy="23357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53943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y: subtract the x's.  Same x: subtract the y's.</a:t>
            </a:r>
          </a:p>
        </p:txBody>
      </p:sp>
      <p:pic>
        <p:nvPicPr>
          <p:cNvPr id="12" name="Picture 11" descr="d9baf198c07caf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349599"/>
            <a:ext cx="1464333" cy="2753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51885" y="5229806"/>
            <a:ext cx="39788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across zero, 4 and 5 add.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Slanted: draw the right triangle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6612d3fac7ce1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19" y="1993392"/>
            <a:ext cx="2926080" cy="2594003"/>
          </a:xfrm>
          <a:prstGeom prst="rect">
            <a:avLst/>
          </a:prstGeom>
        </p:spPr>
      </p:pic>
      <p:pic>
        <p:nvPicPr>
          <p:cNvPr id="11" name="Picture 10" descr="8c9bdc06edb310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990" y="4733699"/>
            <a:ext cx="2636520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510" y="471083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848bbba5727756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673" y="4795040"/>
            <a:ext cx="75285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48350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legs are the across and the up. The distance is the hypotenuse.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legs come from the coordinates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e7abd8d941aa4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93392"/>
            <a:ext cx="3017520" cy="27624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00771" y="4879272"/>
            <a:ext cx="1434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2" name="Picture 11" descr="2a151f79b2b1c7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8210" y="4987556"/>
            <a:ext cx="1612407" cy="30853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10618" y="4879272"/>
            <a:ext cx="1734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down  </a:t>
            </a:r>
          </a:p>
        </p:txBody>
      </p:sp>
      <p:pic>
        <p:nvPicPr>
          <p:cNvPr id="14" name="Picture 13" descr="3a2b7cef219f26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8097" y="4984873"/>
            <a:ext cx="1652651" cy="311213"/>
          </a:xfrm>
          <a:prstGeom prst="rect">
            <a:avLst/>
          </a:prstGeom>
        </p:spPr>
      </p:pic>
      <p:pic>
        <p:nvPicPr>
          <p:cNvPr id="15" name="Picture 14" descr="d91104f1f4f96e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510" y="5615745"/>
            <a:ext cx="2697480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16990" y="559860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d8b0b39714d6c2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5153" y="5587932"/>
            <a:ext cx="2276856" cy="478536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6605" y="208026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0c90d3ed4c01e3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677" y="2197798"/>
            <a:ext cx="117138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91061" y="20802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871f90388a14c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7568" y="2197798"/>
            <a:ext cx="87420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81773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f64a283fabf590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31848" cy="353568"/>
          </a:xfrm>
          <a:prstGeom prst="rect">
            <a:avLst/>
          </a:prstGeom>
        </p:spPr>
      </p:pic>
      <p:pic>
        <p:nvPicPr>
          <p:cNvPr id="9" name="Picture 8" descr="120985f9a5e717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133807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units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0634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863e3bd0d756c0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706" y="1699831"/>
            <a:ext cx="871728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5434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e6cedc5ae0e63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941" y="1699831"/>
            <a:ext cx="705802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4774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8158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25eb277be65ac9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1230" y="1697355"/>
            <a:ext cx="87420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5434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41215e6290584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941" y="1697355"/>
            <a:ext cx="708279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50220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063d0108ae690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734" y="2453068"/>
            <a:ext cx="181965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8870" y="2875788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5" name="Picture 14" descr="9ff67c01493767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9811" y="2996660"/>
            <a:ext cx="1375600" cy="2513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 units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4349" y="144018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cf4bfc8301ccbb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421" y="1560195"/>
            <a:ext cx="856868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14290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de663e112786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797" y="1557718"/>
            <a:ext cx="713232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44029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f9ec2368c5afe7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966" y="2148840"/>
            <a:ext cx="3085586" cy="3517421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4db5025ba36da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55136" cy="353568"/>
          </a:xfrm>
          <a:prstGeom prst="rect">
            <a:avLst/>
          </a:prstGeom>
        </p:spPr>
      </p:pic>
      <p:pic>
        <p:nvPicPr>
          <p:cNvPr id="9" name="Picture 8" descr="9b4c53d9bae6f4b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2980944" cy="341376"/>
          </a:xfrm>
          <a:prstGeom prst="rect">
            <a:avLst/>
          </a:prstGeom>
        </p:spPr>
      </p:pic>
      <p:pic>
        <p:nvPicPr>
          <p:cNvPr id="10" name="Picture 9" descr="f5cca9bd60907f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4"/>
            <a:ext cx="244449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units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528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4d7650af90a236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599" y="1699831"/>
            <a:ext cx="1168908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4507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df702a474e8a8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014" y="1697355"/>
            <a:ext cx="67608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7098" y="1577340"/>
            <a:ext cx="33890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51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fd1e2597f8d8f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3123" y="1697355"/>
            <a:ext cx="117138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4507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5cc6bf05af792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014" y="1694878"/>
            <a:ext cx="67856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9575" y="1577340"/>
            <a:ext cx="33890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686" y="2336292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4" name="Picture 13" descr="57962fee0f668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453" y="2451639"/>
            <a:ext cx="1671161" cy="31765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37614" y="2336292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6" name="Picture 15" descr="e1855d5e17edb2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7532" y="2451639"/>
            <a:ext cx="1651825" cy="317658"/>
          </a:xfrm>
          <a:prstGeom prst="rect">
            <a:avLst/>
          </a:prstGeom>
        </p:spPr>
      </p:pic>
      <p:pic>
        <p:nvPicPr>
          <p:cNvPr id="17" name="Picture 16" descr="f75d31cf019ff7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2550" y="2954464"/>
            <a:ext cx="247497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7526" y="2886456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2036ec5ceaa312e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7412" y="2898648"/>
            <a:ext cx="2069591" cy="432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√65 ≈ 8.1 units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c3f1c5f11e201d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4151"/>
            <a:ext cx="1191196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2359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e1a6e4fc0d2e3c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62" y="1969198"/>
            <a:ext cx="87420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6526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3f0f8823578f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193673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26076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4a640eeb704727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539" y="1966722"/>
            <a:ext cx="876681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70220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2b25f04dd06e36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0743" y="2696908"/>
            <a:ext cx="1886712" cy="320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units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6c1213adfa61f8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9198"/>
            <a:ext cx="87420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06607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67db46e2c7538c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4070" y="1971675"/>
            <a:ext cx="68351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57584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8e8dcd55f53bb6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6722"/>
            <a:ext cx="87668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0908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65f16c2c6afe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547" y="1969198"/>
            <a:ext cx="68599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6253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c4872da53ead36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603" y="2699956"/>
            <a:ext cx="185013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units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97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distance between </a:t>
            </a:r>
          </a:p>
        </p:txBody>
      </p:sp>
      <p:pic>
        <p:nvPicPr>
          <p:cNvPr id="9" name="Picture 8" descr="9c29bd96c421c9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73" y="1971675"/>
            <a:ext cx="864298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9072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c3080bd209d99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534" y="1971675"/>
            <a:ext cx="66865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95189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243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6243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101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3101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97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distance between </a:t>
            </a:r>
          </a:p>
        </p:txBody>
      </p:sp>
      <p:pic>
        <p:nvPicPr>
          <p:cNvPr id="9" name="Picture 8" descr="dbc4a837c96d2a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73" y="1969198"/>
            <a:ext cx="866775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61548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55c03bbe6717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9011" y="1969198"/>
            <a:ext cx="6711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00142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eb579ab8aa5164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899" y="2699956"/>
            <a:ext cx="168249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8 units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99a62bdd266be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4151"/>
            <a:ext cx="1411605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44008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487a0ba682d46f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471" y="1969198"/>
            <a:ext cx="894016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548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gb16c9bf643697f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562" y="2532888"/>
            <a:ext cx="2570394" cy="275234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f404ed3578af3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41408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4648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1a8358e07e684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3947" y="1966722"/>
            <a:ext cx="896493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10440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gb16c9bf643697f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5174" y="2532888"/>
            <a:ext cx="2570394" cy="275234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7089" y="3177539"/>
            <a:ext cx="24236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9, up 12</a:t>
            </a:r>
          </a:p>
        </p:txBody>
      </p:sp>
      <p:pic>
        <p:nvPicPr>
          <p:cNvPr id="15" name="Picture 14" descr="2899ab4d0ffda9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953" y="3766661"/>
            <a:ext cx="2429256" cy="262128"/>
          </a:xfrm>
          <a:prstGeom prst="rect">
            <a:avLst/>
          </a:prstGeom>
        </p:spPr>
      </p:pic>
      <p:pic>
        <p:nvPicPr>
          <p:cNvPr id="16" name="Picture 15" descr="c869a797ec94ec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1953" y="4318349"/>
            <a:ext cx="72542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units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cb503a1a696b25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38684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1924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c1f81a0d66e2bf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706" y="1974151"/>
            <a:ext cx="896493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3199" y="1851660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3" name="Picture 12" descr="ge7274e332c7185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0219" y="2532888"/>
            <a:ext cx="2501080" cy="2752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11531d20504cf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9198"/>
            <a:ext cx="1389316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2171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be704d8279190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182" y="1971675"/>
            <a:ext cx="898969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8152" y="1851660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3" name="Picture 12" descr="ge7274e332c7185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032" y="2532888"/>
            <a:ext cx="2501080" cy="2752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4633" y="3177540"/>
            <a:ext cx="22820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5, up 8</a:t>
            </a:r>
          </a:p>
        </p:txBody>
      </p:sp>
      <p:pic>
        <p:nvPicPr>
          <p:cNvPr id="15" name="Picture 14" descr="2328d08f5bfa39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9497" y="3766661"/>
            <a:ext cx="2121408" cy="262128"/>
          </a:xfrm>
          <a:prstGeom prst="rect">
            <a:avLst/>
          </a:prstGeom>
        </p:spPr>
      </p:pic>
      <p:pic>
        <p:nvPicPr>
          <p:cNvPr id="16" name="Picture 15" descr="e6364691b284b6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497" y="4239101"/>
            <a:ext cx="1786128" cy="368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√89 ≈ 9.4 units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99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gives the distance between </a:t>
            </a:r>
          </a:p>
        </p:txBody>
      </p:sp>
      <p:pic>
        <p:nvPicPr>
          <p:cNvPr id="9" name="Picture 8" descr="afbf59c4acfdfe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664" y="1974151"/>
            <a:ext cx="718185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1484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a95cfae89382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12" y="1971675"/>
            <a:ext cx="1149096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1408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679192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765d97c3446b7c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2624328"/>
            <a:ext cx="1517904" cy="4785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2679192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3c70701c2c439e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2624328"/>
            <a:ext cx="1569720" cy="4785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335889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1e5420f7c2c396c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304032"/>
            <a:ext cx="1536192" cy="478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35889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7e1151bc898f596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346704"/>
            <a:ext cx="762000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99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gives the distance between </a:t>
            </a:r>
          </a:p>
        </p:txBody>
      </p:sp>
      <p:pic>
        <p:nvPicPr>
          <p:cNvPr id="9" name="Picture 8" descr="e5863a5afd993e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664" y="1971675"/>
            <a:ext cx="72066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17326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7cb372c2035acb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788" y="1969198"/>
            <a:ext cx="1151572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6361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9732" y="2583180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4" name="Picture 13" descr="60439a2a7a9877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8498" y="2701290"/>
            <a:ext cx="1690497" cy="314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38995" y="2583180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6" name="Picture 15" descr="89bd363145e9a7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913" y="2695765"/>
            <a:ext cx="1662874" cy="320421"/>
          </a:xfrm>
          <a:prstGeom prst="rect">
            <a:avLst/>
          </a:prstGeom>
        </p:spPr>
      </p:pic>
      <p:pic>
        <p:nvPicPr>
          <p:cNvPr id="17" name="Picture 16" descr="dd5f279e456d3e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4596" y="3145536"/>
            <a:ext cx="2526792" cy="4328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√(7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) = √85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89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9" name="Picture 8" descr="87c765902c21e7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178" y="1971675"/>
            <a:ext cx="115157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45750" y="1851660"/>
            <a:ext cx="2844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from the origin?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89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9" name="Picture 8" descr="2dd890084e8153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178" y="1969198"/>
            <a:ext cx="115404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48227" y="1851660"/>
            <a:ext cx="2844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from the origin?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0419" y="2583180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2" name="Picture 11" descr="9df1fa8e4b6e59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9185" y="2704052"/>
            <a:ext cx="168497" cy="24860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7683" y="2583180"/>
            <a:ext cx="1801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4" name="Picture 13" descr="d31ebf8ea64734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2353" y="2701290"/>
            <a:ext cx="325945" cy="248602"/>
          </a:xfrm>
          <a:prstGeom prst="rect">
            <a:avLst/>
          </a:prstGeom>
        </p:spPr>
      </p:pic>
      <p:pic>
        <p:nvPicPr>
          <p:cNvPr id="15" name="Picture 14" descr="bad877a561fe219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5283" y="3190684"/>
            <a:ext cx="2874264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09547" y="3122676"/>
            <a:ext cx="413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7" name="Picture 16" descr="d382120c751305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72" y="3242500"/>
            <a:ext cx="850392" cy="2529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units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1763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miles, the school is at </a:t>
            </a:r>
          </a:p>
        </p:txBody>
      </p:sp>
      <p:pic>
        <p:nvPicPr>
          <p:cNvPr id="9" name="Picture 8" descr="badd1a413eb604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63" y="1971675"/>
            <a:ext cx="86677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40438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229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library at </a:t>
            </a:r>
          </a:p>
        </p:txBody>
      </p:sp>
      <p:pic>
        <p:nvPicPr>
          <p:cNvPr id="12" name="Picture 11" descr="a52a7da6d9ceef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839" y="2584323"/>
            <a:ext cx="713232" cy="28232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40071" y="2464308"/>
            <a:ext cx="3347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town hall at </a:t>
            </a:r>
          </a:p>
        </p:txBody>
      </p:sp>
      <p:pic>
        <p:nvPicPr>
          <p:cNvPr id="14" name="Picture 13" descr="638a526335cefa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0850" y="2584323"/>
            <a:ext cx="715708" cy="2823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6655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school from the library?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1763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miles, the school is at </a:t>
            </a:r>
          </a:p>
        </p:txBody>
      </p:sp>
      <p:pic>
        <p:nvPicPr>
          <p:cNvPr id="9" name="Picture 8" descr="8f4de137902d99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63" y="1969198"/>
            <a:ext cx="86925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42915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229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library at </a:t>
            </a:r>
          </a:p>
        </p:txBody>
      </p:sp>
      <p:pic>
        <p:nvPicPr>
          <p:cNvPr id="12" name="Picture 11" descr="c91a08a95e1981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839" y="2581846"/>
            <a:ext cx="715708" cy="2847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42547" y="2464308"/>
            <a:ext cx="3347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town hall at </a:t>
            </a:r>
          </a:p>
        </p:txBody>
      </p:sp>
      <p:pic>
        <p:nvPicPr>
          <p:cNvPr id="14" name="Picture 13" descr="63ac53719e49d5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3326" y="2581846"/>
            <a:ext cx="718185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71511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school from the library?</a:t>
            </a:r>
          </a:p>
        </p:txBody>
      </p:sp>
      <p:pic>
        <p:nvPicPr>
          <p:cNvPr id="17" name="Picture 16" descr="478ab4916ad688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1328" y="3851702"/>
            <a:ext cx="1691640" cy="3169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mi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3818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Ty says </a:t>
            </a:r>
          </a:p>
        </p:txBody>
      </p:sp>
      <p:pic>
        <p:nvPicPr>
          <p:cNvPr id="9" name="Picture 8" descr="4c1bd0b477442b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75" y="1971675"/>
            <a:ext cx="88411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3285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eb549c7a965b3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792" y="1971675"/>
            <a:ext cx="705802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85594" y="1851660"/>
            <a:ext cx="2859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4 units apart.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did he do? What is the distance?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3818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Ty says </a:t>
            </a:r>
          </a:p>
        </p:txBody>
      </p:sp>
      <p:pic>
        <p:nvPicPr>
          <p:cNvPr id="9" name="Picture 8" descr="24d8e4bd60f45a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75" y="1969198"/>
            <a:ext cx="886587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5762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d1fac1bf15402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268" y="1969198"/>
            <a:ext cx="710755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3024" y="1851660"/>
            <a:ext cx="2859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4 units apart.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did he do? What is the distance?</a:t>
            </a:r>
          </a:p>
        </p:txBody>
      </p:sp>
      <p:pic>
        <p:nvPicPr>
          <p:cNvPr id="14" name="Picture 13" descr="ccda51d4ef7fae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8542" y="3239054"/>
            <a:ext cx="1844040" cy="316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73678" y="3661774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6" name="Picture 15" descr="9c3e88f0783f4e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4618" y="3782646"/>
            <a:ext cx="1408747" cy="2513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He subtracted 7 − 3. Across zero the pieces add: 10 units.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10" name="Picture 9" descr="bd4ea132c00445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546" y="1581912"/>
            <a:ext cx="868680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39226" y="149504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93b7b061e8d06e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4810" y="1583436"/>
            <a:ext cx="682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07562" y="1495044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08940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16" name="Picture 15" descr="54a04eef7073b8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0546" y="2177795"/>
            <a:ext cx="990599" cy="28041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61146" y="208940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8" name="Picture 17" descr="8432d63f6064aa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6730" y="2177795"/>
            <a:ext cx="719328" cy="2804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66058" y="2089403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68376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22" name="Picture 21" descr="2e475e20ec271d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0546" y="2770631"/>
            <a:ext cx="853440" cy="2834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23986" y="268376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5eb0c83aac6e38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570" y="2772155"/>
            <a:ext cx="1014984" cy="2804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124554" y="2683763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27812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28" name="Picture 27" descr="b490da1242b960c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70546" y="3364991"/>
            <a:ext cx="877824" cy="2834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48370" y="327812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0" name="Picture 29" descr="30a7ddc4d05885a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3954" y="3364991"/>
            <a:ext cx="972311" cy="28346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06266" y="3278123"/>
            <a:ext cx="32566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3872483"/>
            <a:ext cx="17286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34" name="Picture 33" descr="22aa6f172de2346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46014" y="3959352"/>
            <a:ext cx="896112" cy="2834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42126" y="3872483"/>
            <a:ext cx="55557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from the origin, to the nearest tenth?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466844"/>
            <a:ext cx="53372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a map in kilometers, a pool is at </a:t>
            </a:r>
          </a:p>
        </p:txBody>
      </p:sp>
      <p:pic>
        <p:nvPicPr>
          <p:cNvPr id="38" name="Picture 37" descr="8c6f3e57d36ddd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54582" y="4553712"/>
            <a:ext cx="1164336" cy="28346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918918" y="4466844"/>
            <a:ext cx="23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a park at </a:t>
            </a:r>
          </a:p>
        </p:txBody>
      </p:sp>
      <p:pic>
        <p:nvPicPr>
          <p:cNvPr id="40" name="Picture 39" descr="1d6b3c1823f8861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94345" y="4553712"/>
            <a:ext cx="688848" cy="2834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783193" y="4466844"/>
            <a:ext cx="3597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4905756"/>
            <a:ext cx="60210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far apart are they in a straight line?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distance between two points on a horizontal or vertical line — L9V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distance between two points — ZBP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Coordinate-Plane Problems; Perimeter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of a figure on the coordinate plane, and a straight-line distance on a map.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315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far apart are </a:t>
            </a:r>
          </a:p>
        </p:txBody>
      </p:sp>
      <p:pic>
        <p:nvPicPr>
          <p:cNvPr id="9" name="Picture 8" descr="1e5bf0a274377f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976" y="1564719"/>
            <a:ext cx="1115456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68433" y="1440180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17" y="1567092"/>
            <a:ext cx="688260" cy="268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2277" y="1440180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052828"/>
            <a:ext cx="9089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Legs of 2 m and 7 m. The hypotenuse,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90749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in : 30 mi. Towns 2.5 in apart are how far?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27369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The rectangle </a:t>
            </a:r>
          </a:p>
        </p:txBody>
      </p:sp>
      <p:pic>
        <p:nvPicPr>
          <p:cNvPr id="16" name="Picture 15" descr="badd1a413eb604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329" y="3402663"/>
            <a:ext cx="830659" cy="27055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04988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8" name="Picture 17" descr="a52a7da6d9ceef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9050" y="3402663"/>
            <a:ext cx="683514" cy="27055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22564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0" name="Picture 19" descr="ea0772b8c1a162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6627" y="3402663"/>
            <a:ext cx="954071" cy="2705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10698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3a95cfae893827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4761" y="3402663"/>
            <a:ext cx="1101217" cy="27055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45978" y="3278124"/>
            <a:ext cx="23378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perimeter?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315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far apart are </a:t>
            </a:r>
          </a:p>
        </p:txBody>
      </p:sp>
      <p:pic>
        <p:nvPicPr>
          <p:cNvPr id="9" name="Picture 8" descr="1e5bf0a274377f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976" y="1564719"/>
            <a:ext cx="1115456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68433" y="1440180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17" y="1567092"/>
            <a:ext cx="688260" cy="268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2277" y="1440180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4389" y="1440180"/>
            <a:ext cx="14059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 units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052828"/>
            <a:ext cx="9089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Legs of 2 m and 7 m. The hypotenuse, to the nearest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510028"/>
            <a:ext cx="19095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√53 ≈ 7.3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122676"/>
            <a:ext cx="90749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in : 30 mi. Towns 2.5 in apart are how far?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579876"/>
            <a:ext cx="10191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75 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192524"/>
            <a:ext cx="27369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The rectangle </a:t>
            </a:r>
          </a:p>
        </p:txBody>
      </p:sp>
      <p:pic>
        <p:nvPicPr>
          <p:cNvPr id="19" name="Picture 18" descr="badd1a413eb604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329" y="4317063"/>
            <a:ext cx="830659" cy="27055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04988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1" name="Picture 20" descr="a52a7da6d9ceef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9050" y="4317063"/>
            <a:ext cx="683514" cy="27055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22564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3" name="Picture 22" descr="ea0772b8c1a162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6627" y="4317063"/>
            <a:ext cx="954071" cy="27055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10698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5" name="Picture 24" descr="3a95cfae893827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4761" y="4317063"/>
            <a:ext cx="1101217" cy="27055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745978" y="4192524"/>
            <a:ext cx="23378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6040" y="4649724"/>
            <a:ext cx="14021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20 units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distance around a figure: the sum of all its sides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height of a triangle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segment from a corner straight to the opposite side, meeting it at a right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straight-line 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length of the one segment between two points — on a map, straight across, not along the streets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Perimeter: every side — a slanted one by its triangle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31351b3fe50c96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93392"/>
            <a:ext cx="2834640" cy="25129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82475" y="4629777"/>
            <a:ext cx="2402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slanted side:  </a:t>
            </a:r>
          </a:p>
        </p:txBody>
      </p:sp>
      <p:pic>
        <p:nvPicPr>
          <p:cNvPr id="12" name="Picture 11" descr="8c9bdc06edb310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524" y="4687086"/>
            <a:ext cx="2320686" cy="30048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68211" y="4629777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4" name="Picture 13" descr="848bbba5727756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6374" y="4746109"/>
            <a:ext cx="662670" cy="241458"/>
          </a:xfrm>
          <a:prstGeom prst="rect">
            <a:avLst/>
          </a:prstGeom>
        </p:spPr>
      </p:pic>
      <p:pic>
        <p:nvPicPr>
          <p:cNvPr id="15" name="Picture 14" descr="773f0a6bae0a03d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6780" y="5396730"/>
            <a:ext cx="2727960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Along the streets, or straight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6df1d0e66359e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93392"/>
            <a:ext cx="2834640" cy="28769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78806" y="4993739"/>
            <a:ext cx="1569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streets:  </a:t>
            </a:r>
          </a:p>
        </p:txBody>
      </p:sp>
      <p:pic>
        <p:nvPicPr>
          <p:cNvPr id="12" name="Picture 11" descr="eab0f25709b4c0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929" y="5104705"/>
            <a:ext cx="1387046" cy="244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97975" y="4993739"/>
            <a:ext cx="13218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blocks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0606" y="5679539"/>
            <a:ext cx="1730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15" name="Picture 14" descr="9b4c53d9bae6f4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689" y="5736847"/>
            <a:ext cx="2623851" cy="3004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97541" y="567953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0137bb391ff620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5704" y="5793188"/>
            <a:ext cx="850471" cy="2441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196176" y="5679539"/>
            <a:ext cx="13218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blocks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No right angle: split it — and round once, at the end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9b174812ddca13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059" y="1993392"/>
            <a:ext cx="2057400" cy="2057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81518" y="4179101"/>
            <a:ext cx="32763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each slanted side:  </a:t>
            </a:r>
          </a:p>
        </p:txBody>
      </p:sp>
      <p:pic>
        <p:nvPicPr>
          <p:cNvPr id="12" name="Picture 11" descr="924c351cdfb9db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9" y="4236410"/>
            <a:ext cx="2320686" cy="30048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41396" y="4179101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4" name="Picture 13" descr="8accfca2019880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9559" y="4197096"/>
            <a:ext cx="2390441" cy="421211"/>
          </a:xfrm>
          <a:prstGeom prst="rect">
            <a:avLst/>
          </a:prstGeom>
        </p:spPr>
      </p:pic>
      <p:pic>
        <p:nvPicPr>
          <p:cNvPr id="15" name="Picture 14" descr="b83bb1fe4162237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2676" y="4947872"/>
            <a:ext cx="5916168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564243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Round once, at the end: 6 + 5.8 + 5.8 = 17.6 is short.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142" y="1440180"/>
            <a:ext cx="39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DEF has corners </a:t>
            </a:r>
          </a:p>
        </p:txBody>
      </p:sp>
      <p:pic>
        <p:nvPicPr>
          <p:cNvPr id="9" name="Picture 8" descr="2b82d6ff52fd29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6965" y="1560195"/>
            <a:ext cx="138188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88852" y="144018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168aa1b708cf3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858" y="1560195"/>
            <a:ext cx="115652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8638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a02078d08fa46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2891" y="1557718"/>
            <a:ext cx="859345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162236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5" name="Picture 14" descr="g10f73fa5acbaad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7675" y="2148840"/>
            <a:ext cx="2586168" cy="31638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89cc993aa9783d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45864" cy="353568"/>
          </a:xfrm>
          <a:prstGeom prst="rect">
            <a:avLst/>
          </a:prstGeom>
        </p:spPr>
      </p:pic>
      <p:pic>
        <p:nvPicPr>
          <p:cNvPr id="9" name="Picture 8" descr="78be168ada708d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504944" cy="408432"/>
          </a:xfrm>
          <a:prstGeom prst="rect">
            <a:avLst/>
          </a:prstGeom>
        </p:spPr>
      </p:pic>
      <p:pic>
        <p:nvPicPr>
          <p:cNvPr id="10" name="Picture 9" descr="fbb19df952207e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2974848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 units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perimeter of the triangle with corners</a:t>
            </a:r>
          </a:p>
        </p:txBody>
      </p:sp>
      <p:pic>
        <p:nvPicPr>
          <p:cNvPr id="9" name="Picture 8" descr="f7637bf1f23e2b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0442" y="2238929"/>
            <a:ext cx="1173861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4303" y="2116438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c53dc4ab84ceb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5309" y="2238929"/>
            <a:ext cx="1007935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3244" y="211643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afbf59c4acfdfe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751" y="2238929"/>
            <a:ext cx="718185" cy="2798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87936" y="21164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perimeter of the triangle with corners</a:t>
            </a:r>
          </a:p>
        </p:txBody>
      </p:sp>
      <p:pic>
        <p:nvPicPr>
          <p:cNvPr id="9" name="Picture 8" descr="0885c1628ecce2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727" y="2236453"/>
            <a:ext cx="117633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3064" y="2116438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e1561ae894e4e3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071" y="2236453"/>
            <a:ext cx="1010412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4483" y="211643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e5863a5afd993e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0989" y="2236453"/>
            <a:ext cx="720661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91651" y="21164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290" y="2875390"/>
            <a:ext cx="1363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6" name="Picture 15" descr="dd377e872e9d4e4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1091" y="3005978"/>
            <a:ext cx="1442180" cy="2707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43271" y="2875390"/>
            <a:ext cx="1119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8" name="Picture 17" descr="b75662d7fd6f12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6034" y="3008311"/>
            <a:ext cx="1563528" cy="268366"/>
          </a:xfrm>
          <a:prstGeom prst="rect">
            <a:avLst/>
          </a:prstGeom>
        </p:spPr>
      </p:pic>
      <p:pic>
        <p:nvPicPr>
          <p:cNvPr id="19" name="Picture 18" descr="2899ab4d0ffda98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9154" y="3464511"/>
            <a:ext cx="2429256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58410" y="3378310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c869a797ec94ecf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0687" y="3513279"/>
            <a:ext cx="725424" cy="213360"/>
          </a:xfrm>
          <a:prstGeom prst="rect">
            <a:avLst/>
          </a:prstGeom>
        </p:spPr>
      </p:pic>
      <p:pic>
        <p:nvPicPr>
          <p:cNvPr id="22" name="Picture 21" descr="b1b8042aeba4014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9154" y="4016199"/>
            <a:ext cx="2380488" cy="2133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36 units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30298" y="1591967"/>
            <a:ext cx="6874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Ana's home H is at </a:t>
            </a:r>
          </a:p>
        </p:txBody>
      </p:sp>
      <p:pic>
        <p:nvPicPr>
          <p:cNvPr id="9" name="Picture 8" descr="7d14c651bb5002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266" y="1711982"/>
            <a:ext cx="116395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5254" y="2277767"/>
            <a:ext cx="2899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gym G at </a:t>
            </a:r>
          </a:p>
        </p:txBody>
      </p:sp>
      <p:pic>
        <p:nvPicPr>
          <p:cNvPr id="11" name="Picture 10" descr="d3f3db88036135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7322" y="2400259"/>
            <a:ext cx="705802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43124" y="2277767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dc0aefe51d8e6f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19" y="2986427"/>
            <a:ext cx="2926080" cy="20519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3675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along the streets? In a straight line, to the nearest tenth?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1ffce193f79756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51960" cy="350520"/>
          </a:xfrm>
          <a:prstGeom prst="rect">
            <a:avLst/>
          </a:prstGeom>
        </p:spPr>
      </p:pic>
      <p:pic>
        <p:nvPicPr>
          <p:cNvPr id="9" name="Picture 8" descr="13d4e50efd4c3b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5080"/>
            <a:ext cx="1530096" cy="277368"/>
          </a:xfrm>
          <a:prstGeom prst="rect">
            <a:avLst/>
          </a:prstGeom>
        </p:spPr>
      </p:pic>
      <p:pic>
        <p:nvPicPr>
          <p:cNvPr id="10" name="Picture 9" descr="5fa77f02f7f5d38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96767"/>
            <a:ext cx="5663184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blocks along the streets; about 8.6 blocks straight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1605" y="1577340"/>
            <a:ext cx="65340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Ben's home is at </a:t>
            </a:r>
          </a:p>
        </p:txBody>
      </p:sp>
      <p:pic>
        <p:nvPicPr>
          <p:cNvPr id="9" name="Picture 8" descr="c24bc71b07f684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8468" y="1699831"/>
            <a:ext cx="901446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0258" y="2263140"/>
            <a:ext cx="2603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park at </a:t>
            </a:r>
          </a:p>
        </p:txBody>
      </p:sp>
      <p:pic>
        <p:nvPicPr>
          <p:cNvPr id="11" name="Picture 10" descr="ee337b7924af30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083" y="2383155"/>
            <a:ext cx="1191196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28279" y="2263140"/>
            <a:ext cx="49001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How far is it along the streets?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a straight line, to the nearest tenth?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367" y="1577340"/>
            <a:ext cx="65340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Ben's home is at </a:t>
            </a:r>
          </a:p>
        </p:txBody>
      </p:sp>
      <p:pic>
        <p:nvPicPr>
          <p:cNvPr id="9" name="Picture 8" descr="66fd2bf88109e2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7230" y="1697355"/>
            <a:ext cx="90392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69020" y="2263140"/>
            <a:ext cx="2603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park at </a:t>
            </a:r>
          </a:p>
        </p:txBody>
      </p:sp>
      <p:pic>
        <p:nvPicPr>
          <p:cNvPr id="11" name="Picture 10" descr="eeb24940e898cd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844" y="2380678"/>
            <a:ext cx="1193673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29517" y="2263140"/>
            <a:ext cx="49001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How far is it along the streets?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a straight line,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27904" y="3561190"/>
            <a:ext cx="1363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5" name="Picture 14" descr="e1c78402da53da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4704" y="3701112"/>
            <a:ext cx="142351" cy="2100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97055" y="3561190"/>
            <a:ext cx="1554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7" name="Picture 16" descr="f881daf22278d3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4690" y="3701112"/>
            <a:ext cx="142351" cy="2076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57042" y="3561190"/>
            <a:ext cx="1753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:   streets  </a:t>
            </a:r>
          </a:p>
        </p:txBody>
      </p:sp>
      <p:pic>
        <p:nvPicPr>
          <p:cNvPr id="19" name="Picture 18" descr="9ff67c01493767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3804" y="3698779"/>
            <a:ext cx="1162145" cy="21235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27904" y="4064110"/>
            <a:ext cx="1642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21" name="Picture 20" descr="e5ca82a6025d91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3262" y="4152692"/>
            <a:ext cx="1934575" cy="26136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67838" y="4064110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d3e2c57dc9fe8fb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0115" y="4120022"/>
            <a:ext cx="1752552" cy="36637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3561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 blocks along the streets; about 8.5 blocks straight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017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has corners </a:t>
            </a:r>
          </a:p>
        </p:txBody>
      </p:sp>
      <p:pic>
        <p:nvPicPr>
          <p:cNvPr id="9" name="Picture 8" descr="20651465751a1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737" y="1969198"/>
            <a:ext cx="1396745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11483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6b8c6650b1e42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489" y="1969198"/>
            <a:ext cx="1186243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3873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4665787323d98f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5240" y="1969198"/>
            <a:ext cx="896493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173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cc93785af0ed58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3071986"/>
            <a:ext cx="3840480" cy="20374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9292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017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has corners </a:t>
            </a:r>
          </a:p>
        </p:txBody>
      </p:sp>
      <p:pic>
        <p:nvPicPr>
          <p:cNvPr id="9" name="Picture 8" descr="91e37486c2daf4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737" y="1966722"/>
            <a:ext cx="1399222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13960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95d3ee67f1492f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966" y="1966722"/>
            <a:ext cx="1188720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4368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c98c87b1cfc68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0193" y="1966722"/>
            <a:ext cx="901446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61639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cc93785af0ed58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5853" y="3071986"/>
            <a:ext cx="3840480" cy="2037475"/>
          </a:xfrm>
          <a:prstGeom prst="rect">
            <a:avLst/>
          </a:prstGeom>
        </p:spPr>
      </p:pic>
      <p:pic>
        <p:nvPicPr>
          <p:cNvPr id="17" name="Picture 16" descr="2ad16f491f3a9c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2717" y="3497221"/>
            <a:ext cx="1563624" cy="2651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46341" y="3359204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bea86e4d3b7a25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8618" y="3497221"/>
            <a:ext cx="1408176" cy="265176"/>
          </a:xfrm>
          <a:prstGeom prst="rect">
            <a:avLst/>
          </a:prstGeom>
        </p:spPr>
      </p:pic>
      <p:pic>
        <p:nvPicPr>
          <p:cNvPr id="20" name="Picture 19" descr="b5a3055c75d2f9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2717" y="3948325"/>
            <a:ext cx="2429256" cy="2621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111973" y="3862124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2" name="Picture 21" descr="323e35a470aba23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4250" y="3997093"/>
            <a:ext cx="719328" cy="213360"/>
          </a:xfrm>
          <a:prstGeom prst="rect">
            <a:avLst/>
          </a:prstGeom>
        </p:spPr>
      </p:pic>
      <p:pic>
        <p:nvPicPr>
          <p:cNvPr id="23" name="Picture 22" descr="b0cd45a756bbf01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82717" y="4500013"/>
            <a:ext cx="2383536" cy="213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539292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units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595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corners </a:t>
            </a:r>
          </a:p>
        </p:txBody>
      </p:sp>
      <p:pic>
        <p:nvPicPr>
          <p:cNvPr id="9" name="Picture 8" descr="cddc938f2754fd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785" y="1974151"/>
            <a:ext cx="1186243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43028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14f1e4fdf2858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4034" y="1971675"/>
            <a:ext cx="995553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7958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1f888c65bc7e46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6094" y="1971675"/>
            <a:ext cx="681037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7713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perimeter, to the nearest tenth.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595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corners </a:t>
            </a:r>
          </a:p>
        </p:txBody>
      </p:sp>
      <p:pic>
        <p:nvPicPr>
          <p:cNvPr id="9" name="Picture 8" descr="766d9171f27c16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785" y="1971675"/>
            <a:ext cx="118872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45505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561bb298a85bac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6511" y="1969198"/>
            <a:ext cx="998029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84540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9dfcee36a543c9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1047" y="1969198"/>
            <a:ext cx="683514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8456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perimeter, to the nearest tenth.</a:t>
            </a:r>
          </a:p>
        </p:txBody>
      </p:sp>
      <p:pic>
        <p:nvPicPr>
          <p:cNvPr id="16" name="Picture 15" descr="4ecb7174b2f126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7573" y="3260295"/>
            <a:ext cx="1402080" cy="2651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89653" y="312227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8" name="Picture 17" descr="6c42fd71d3e069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1930" y="3260295"/>
            <a:ext cx="1438656" cy="265176"/>
          </a:xfrm>
          <a:prstGeom prst="rect">
            <a:avLst/>
          </a:prstGeom>
        </p:spPr>
      </p:pic>
      <p:pic>
        <p:nvPicPr>
          <p:cNvPr id="19" name="Picture 18" descr="9fdb8650e92ba2d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7573" y="3711399"/>
            <a:ext cx="2066543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54117" y="362519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6af8d51231c004d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6394" y="3680919"/>
            <a:ext cx="1094232" cy="368808"/>
          </a:xfrm>
          <a:prstGeom prst="rect">
            <a:avLst/>
          </a:prstGeom>
        </p:spPr>
      </p:pic>
      <p:pic>
        <p:nvPicPr>
          <p:cNvPr id="22" name="Picture 21" descr="95a936965c2fc4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7573" y="4183839"/>
            <a:ext cx="2840736" cy="3688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699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22.8 units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4935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</a:t>
            </a:r>
          </a:p>
        </p:txBody>
      </p:sp>
      <p:pic>
        <p:nvPicPr>
          <p:cNvPr id="9" name="Picture 8" descr="d832b4bac9153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28" y="1969198"/>
            <a:ext cx="141903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0986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973c6edcb7dba7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0869" y="1969198"/>
            <a:ext cx="1362075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1294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9fced5befde40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950" y="1969198"/>
            <a:ext cx="889063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43013" y="185166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has no right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7e2e8b59de7d1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664" y="3071986"/>
            <a:ext cx="2508190" cy="22132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4935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</a:t>
            </a:r>
          </a:p>
        </p:txBody>
      </p:sp>
      <p:pic>
        <p:nvPicPr>
          <p:cNvPr id="9" name="Picture 8" descr="a9da81e531be71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28" y="1966722"/>
            <a:ext cx="142151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12339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6c2f1763edcf2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3345" y="1966722"/>
            <a:ext cx="1364551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17897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04b6b4f9e2e5e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8903" y="1966722"/>
            <a:ext cx="891540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50443" y="185166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has no right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7e2e8b59de7d1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5993" y="3071986"/>
            <a:ext cx="2508190" cy="22132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45703" y="3447089"/>
            <a:ext cx="8830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AC:  </a:t>
            </a:r>
          </a:p>
        </p:txBody>
      </p:sp>
      <p:pic>
        <p:nvPicPr>
          <p:cNvPr id="18" name="Picture 17" descr="f99e1e60b05ca1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571" y="3535671"/>
            <a:ext cx="2310288" cy="2613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01860" y="3447089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d65cbda9bdc0017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4137" y="3584677"/>
            <a:ext cx="718756" cy="21235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45703" y="3950009"/>
            <a:ext cx="8833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BC:  </a:t>
            </a:r>
          </a:p>
        </p:txBody>
      </p:sp>
      <p:pic>
        <p:nvPicPr>
          <p:cNvPr id="22" name="Picture 21" descr="4d8caafc7f3b642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1871" y="4038591"/>
            <a:ext cx="2314956" cy="2613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06827" y="3950009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4" name="Picture 23" descr="de21a50ad46b70b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39104" y="4087597"/>
            <a:ext cx="723423" cy="212359"/>
          </a:xfrm>
          <a:prstGeom prst="rect">
            <a:avLst/>
          </a:prstGeom>
        </p:spPr>
      </p:pic>
      <p:pic>
        <p:nvPicPr>
          <p:cNvPr id="25" name="Picture 24" descr="b5e1abcfea899ec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00567" y="4587898"/>
            <a:ext cx="2566416" cy="2133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 units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triangle with corners</a:t>
            </a:r>
          </a:p>
        </p:txBody>
      </p:sp>
      <p:pic>
        <p:nvPicPr>
          <p:cNvPr id="9" name="Picture 8" descr="8267466ea736b2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0773"/>
            <a:ext cx="86677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1215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89f134f801c00f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655" y="2510773"/>
            <a:ext cx="68351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4169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85355efc44b8aa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1631" y="2510773"/>
            <a:ext cx="1010412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22043" y="2390758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19.1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5506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triangle with corners</a:t>
            </a:r>
          </a:p>
        </p:txBody>
      </p:sp>
      <p:pic>
        <p:nvPicPr>
          <p:cNvPr id="9" name="Picture 8" descr="551393e40b0172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08296"/>
            <a:ext cx="86925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3691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53bf76273dd0fe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3131" y="2508296"/>
            <a:ext cx="68599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9122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5cac30a7325a50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6584" y="2508296"/>
            <a:ext cx="1012888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29473" y="2390758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5" name="Picture 14" descr="266f276499f022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7761" y="3259867"/>
            <a:ext cx="165687" cy="2076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33448" y="3122278"/>
            <a:ext cx="9691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7" name="Picture 16" descr="14a758a03a2f4a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5442" y="3259867"/>
            <a:ext cx="135350" cy="2076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00792" y="3122278"/>
            <a:ext cx="2153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on grid lines</a:t>
            </a:r>
          </a:p>
        </p:txBody>
      </p:sp>
      <p:pic>
        <p:nvPicPr>
          <p:cNvPr id="19" name="Picture 18" descr="750acb3136d728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7761" y="3711399"/>
            <a:ext cx="2093976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61737" y="362519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cba45acd94f9f2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94014" y="3680919"/>
            <a:ext cx="1103376" cy="368808"/>
          </a:xfrm>
          <a:prstGeom prst="rect">
            <a:avLst/>
          </a:prstGeom>
        </p:spPr>
      </p:pic>
      <p:pic>
        <p:nvPicPr>
          <p:cNvPr id="22" name="Picture 21" descr="3da6e9a4942eac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67761" y="4183839"/>
            <a:ext cx="2810256" cy="3688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699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19.1 units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551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map in blocks, the library is at </a:t>
            </a:r>
          </a:p>
        </p:txBody>
      </p:sp>
      <p:pic>
        <p:nvPicPr>
          <p:cNvPr id="9" name="Picture 8" descr="b381385a56012e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452" y="1971675"/>
            <a:ext cx="115157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566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pool at </a:t>
            </a:r>
          </a:p>
        </p:txBody>
      </p:sp>
      <p:pic>
        <p:nvPicPr>
          <p:cNvPr id="11" name="Picture 10" descr="e6f553610f6180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547" y="2586799"/>
            <a:ext cx="718185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1732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the straight line than the streets?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551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map in blocks, the library is at </a:t>
            </a:r>
          </a:p>
        </p:txBody>
      </p:sp>
      <p:pic>
        <p:nvPicPr>
          <p:cNvPr id="9" name="Picture 8" descr="59e86e97f1b20d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452" y="1969198"/>
            <a:ext cx="115404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566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pool at </a:t>
            </a:r>
          </a:p>
        </p:txBody>
      </p:sp>
      <p:pic>
        <p:nvPicPr>
          <p:cNvPr id="11" name="Picture 10" descr="4536ab029dd41e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547" y="2584323"/>
            <a:ext cx="720661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420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the straight line than the streets?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1412" y="3734926"/>
            <a:ext cx="14907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streets:  </a:t>
            </a:r>
          </a:p>
        </p:txBody>
      </p:sp>
      <p:pic>
        <p:nvPicPr>
          <p:cNvPr id="15" name="Picture 14" descr="9c44261c617b9f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5003" y="3870181"/>
            <a:ext cx="1309163" cy="2123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91412" y="4237846"/>
            <a:ext cx="1642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17" name="Picture 16" descr="66901e8dbd0d7c7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6771" y="4326428"/>
            <a:ext cx="2429303" cy="2613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526074" y="4237846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d65cbda9bdc0017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352" y="4375435"/>
            <a:ext cx="718756" cy="212359"/>
          </a:xfrm>
          <a:prstGeom prst="rect">
            <a:avLst/>
          </a:prstGeom>
        </p:spPr>
      </p:pic>
      <p:pic>
        <p:nvPicPr>
          <p:cNvPr id="20" name="Picture 19" descr="50b2058d54e97cf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46276" y="4875735"/>
            <a:ext cx="1319784" cy="213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blocks shorter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diagonal of the rectangle with corners</a:t>
            </a:r>
          </a:p>
        </p:txBody>
      </p:sp>
      <p:pic>
        <p:nvPicPr>
          <p:cNvPr id="9" name="Picture 8" descr="cddc938f2754fd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3249"/>
            <a:ext cx="1186243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20683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53b53c1ff7ca6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0123" y="2508296"/>
            <a:ext cx="1012888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93012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5be363abca88bd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2452" y="2508296"/>
            <a:ext cx="703326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55778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5" name="Picture 14" descr="a073f0616c6f53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3241" y="2513249"/>
            <a:ext cx="876681" cy="2798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99922" y="239075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5506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diagonal of the rectangle with corners</a:t>
            </a:r>
          </a:p>
        </p:txBody>
      </p:sp>
      <p:pic>
        <p:nvPicPr>
          <p:cNvPr id="9" name="Picture 8" descr="766d9171f27c16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0773"/>
            <a:ext cx="118872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23160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abbcd38a08515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2600" y="2505820"/>
            <a:ext cx="1015365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97965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1f63a00e4aba7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7405" y="2505820"/>
            <a:ext cx="705802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63208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5" name="Picture 14" descr="c4d9a797873976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0670" y="2510773"/>
            <a:ext cx="879157" cy="2823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9828" y="239075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4721" y="3122278"/>
            <a:ext cx="1328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sides  </a:t>
            </a:r>
          </a:p>
        </p:txBody>
      </p:sp>
      <p:pic>
        <p:nvPicPr>
          <p:cNvPr id="18" name="Picture 17" descr="b3de44e021298e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6452" y="3234863"/>
            <a:ext cx="1668399" cy="3204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84851" y="3122278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0" name="Picture 19" descr="f976dc64324c813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3993" y="3237626"/>
            <a:ext cx="1875567" cy="317658"/>
          </a:xfrm>
          <a:prstGeom prst="rect">
            <a:avLst/>
          </a:prstGeom>
        </p:spPr>
      </p:pic>
      <p:pic>
        <p:nvPicPr>
          <p:cNvPr id="21" name="Picture 20" descr="f26d83ebda20826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9585" y="3729782"/>
            <a:ext cx="2871216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50801" y="3661774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ff28beca06f781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0686" y="3781598"/>
            <a:ext cx="853440" cy="2529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15 units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697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park map in meters, the fountain is at </a:t>
            </a:r>
          </a:p>
        </p:txBody>
      </p:sp>
      <p:pic>
        <p:nvPicPr>
          <p:cNvPr id="9" name="Picture 8" descr="6cd0cd2d13a380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761" y="1971675"/>
            <a:ext cx="87915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607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gate at </a:t>
            </a:r>
          </a:p>
        </p:txBody>
      </p:sp>
      <p:pic>
        <p:nvPicPr>
          <p:cNvPr id="11" name="Picture 10" descr="eba37c76e917a3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4861" y="2586799"/>
            <a:ext cx="1005459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1032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it straight across,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697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park map in meters, the fountain is at </a:t>
            </a:r>
          </a:p>
        </p:txBody>
      </p:sp>
      <p:pic>
        <p:nvPicPr>
          <p:cNvPr id="9" name="Picture 8" descr="2247b49f98365d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761" y="1969198"/>
            <a:ext cx="88163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607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gate at </a:t>
            </a:r>
          </a:p>
        </p:txBody>
      </p:sp>
      <p:pic>
        <p:nvPicPr>
          <p:cNvPr id="11" name="Picture 10" descr="de7e15c7b8d74a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4861" y="2584323"/>
            <a:ext cx="100793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1279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it straight across,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9593" y="373492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5" name="Picture 14" descr="dd377e872e9d4e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360" y="3847511"/>
            <a:ext cx="1707070" cy="3204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95430" y="3734926"/>
            <a:ext cx="1801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7" name="Picture 16" descr="2a151f79b2b1c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0101" y="3850274"/>
            <a:ext cx="1660112" cy="317658"/>
          </a:xfrm>
          <a:prstGeom prst="rect">
            <a:avLst/>
          </a:prstGeom>
        </p:spPr>
      </p:pic>
      <p:pic>
        <p:nvPicPr>
          <p:cNvPr id="18" name="Picture 17" descr="91cf07a762eff7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4457" y="4353098"/>
            <a:ext cx="2660904" cy="304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565361" y="4285090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b009dc32ba55e7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5247" y="4297282"/>
            <a:ext cx="2459736" cy="43281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8672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√106 ≈ 10.3 m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927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trail map in miles, the camp is at </a:t>
            </a:r>
          </a:p>
        </p:txBody>
      </p:sp>
      <p:pic>
        <p:nvPicPr>
          <p:cNvPr id="9" name="Picture 8" descr="890cad1d225c0e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380" y="1969198"/>
            <a:ext cx="116643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0811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76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lake at </a:t>
            </a:r>
          </a:p>
        </p:txBody>
      </p:sp>
      <p:pic>
        <p:nvPicPr>
          <p:cNvPr id="12" name="Picture 11" descr="64a0bcb964d3ac5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546" y="2581846"/>
            <a:ext cx="693420" cy="2847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66966" y="2464308"/>
            <a:ext cx="3346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trailhead at </a:t>
            </a:r>
          </a:p>
        </p:txBody>
      </p:sp>
      <p:pic>
        <p:nvPicPr>
          <p:cNvPr id="14" name="Picture 13" descr="c10c7ade43b947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495" y="2584323"/>
            <a:ext cx="876681" cy="2823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5317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camp from the lake, in a straight line?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927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trail map in miles, the camp is at </a:t>
            </a:r>
          </a:p>
        </p:txBody>
      </p:sp>
      <p:pic>
        <p:nvPicPr>
          <p:cNvPr id="9" name="Picture 8" descr="5078aaa02558f3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380" y="1966722"/>
            <a:ext cx="1168908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3288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76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lake at </a:t>
            </a:r>
          </a:p>
        </p:txBody>
      </p:sp>
      <p:pic>
        <p:nvPicPr>
          <p:cNvPr id="12" name="Picture 11" descr="560793fe7d3f04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546" y="2579370"/>
            <a:ext cx="695896" cy="28727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69442" y="2464308"/>
            <a:ext cx="3346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trailhead at </a:t>
            </a:r>
          </a:p>
        </p:txBody>
      </p:sp>
      <p:pic>
        <p:nvPicPr>
          <p:cNvPr id="14" name="Picture 13" descr="49c8c6e822b84b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8972" y="2581846"/>
            <a:ext cx="879157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58129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camp from the lake, in a straight line?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151" y="373492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8" name="Picture 17" descr="2a151f79b2b1c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3918" y="3850274"/>
            <a:ext cx="1660112" cy="31765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34030" y="3734926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20" name="Picture 19" descr="d7ba9e475850f3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3947" y="3847511"/>
            <a:ext cx="1850707" cy="320421"/>
          </a:xfrm>
          <a:prstGeom prst="rect">
            <a:avLst/>
          </a:prstGeom>
        </p:spPr>
      </p:pic>
      <p:pic>
        <p:nvPicPr>
          <p:cNvPr id="21" name="Picture 20" descr="bad877a561fe219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0015" y="4342430"/>
            <a:ext cx="2874264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64279" y="4274422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09a1ea0ee626eca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44165" y="4394246"/>
            <a:ext cx="847344" cy="2529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mi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215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says the segment from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873" y="1971675"/>
            <a:ext cx="72809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6964" y="1851660"/>
            <a:ext cx="6872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to </a:t>
            </a:r>
          </a:p>
        </p:txBody>
      </p:sp>
      <p:pic>
        <p:nvPicPr>
          <p:cNvPr id="11" name="Picture 10" descr="c3080bd209d99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052" y="1971675"/>
            <a:ext cx="66865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65707" y="1851660"/>
            <a:ext cx="2399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3 units long,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it crosses 3 grid squares.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Explain, and find its length to the nearest tenth.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215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says the segment from </a:t>
            </a:r>
          </a:p>
        </p:txBody>
      </p:sp>
      <p:pic>
        <p:nvPicPr>
          <p:cNvPr id="9" name="Picture 8" descr="9ebcc4ac7047e3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873" y="1969198"/>
            <a:ext cx="730567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9441" y="1851660"/>
            <a:ext cx="6872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to </a:t>
            </a:r>
          </a:p>
        </p:txBody>
      </p:sp>
      <p:pic>
        <p:nvPicPr>
          <p:cNvPr id="11" name="Picture 10" descr="f55c03bbe6717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529" y="1969198"/>
            <a:ext cx="6711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0660" y="1851660"/>
            <a:ext cx="2399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3 units long,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it crosses 3 grid squares.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Explain, and find its length to the nearest tenth.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749" y="366137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6" name="Picture 15" descr="e1c78402da53da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1515" y="3785011"/>
            <a:ext cx="168497" cy="24860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30013" y="3661376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8" name="Picture 17" descr="dcd07b346f0b25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9930" y="3779486"/>
            <a:ext cx="124301" cy="248602"/>
          </a:xfrm>
          <a:prstGeom prst="rect">
            <a:avLst/>
          </a:prstGeom>
        </p:spPr>
      </p:pic>
      <p:pic>
        <p:nvPicPr>
          <p:cNvPr id="19" name="Picture 18" descr="cb8915871a82272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613" y="4279549"/>
            <a:ext cx="2060448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38061" y="4211540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8e57f85f0236f14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7946" y="4223732"/>
            <a:ext cx="2072640" cy="4328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4793708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it is the hypotenuse of a triangle with legs 3 and 1, √10 ≈ 3.2 units.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420719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triangle </a:t>
            </a:r>
          </a:p>
        </p:txBody>
      </p:sp>
      <p:pic>
        <p:nvPicPr>
          <p:cNvPr id="10" name="Picture 9" descr="f8df7d2fbd4127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4512" y="1570780"/>
            <a:ext cx="964360" cy="2341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8873" y="1499019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b490da1242b960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4960" y="1570780"/>
            <a:ext cx="725158" cy="23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0119" y="1499019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4" name="Picture 13" descr="dca74f84de6bf1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205" y="1572039"/>
            <a:ext cx="569048" cy="23164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5254" y="1499019"/>
            <a:ext cx="265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1966953"/>
            <a:ext cx="420719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triangle </a:t>
            </a:r>
          </a:p>
        </p:txBody>
      </p:sp>
      <p:pic>
        <p:nvPicPr>
          <p:cNvPr id="18" name="Picture 17" descr="98ab927d307bab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4512" y="2038714"/>
            <a:ext cx="725158" cy="23416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49671" y="1966953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0" name="Picture 19" descr="1b12795c360466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5758" y="2038714"/>
            <a:ext cx="556458" cy="23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12217" y="1966953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b047226acc1322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8303" y="2038714"/>
            <a:ext cx="833429" cy="23416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51733" y="1966953"/>
            <a:ext cx="272697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2434888"/>
            <a:ext cx="4942704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parallelogram </a:t>
            </a:r>
          </a:p>
        </p:txBody>
      </p:sp>
      <p:pic>
        <p:nvPicPr>
          <p:cNvPr id="26" name="Picture 25" descr="36f61976a2ef1ad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0024" y="2507907"/>
            <a:ext cx="989539" cy="23164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49564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8" name="Picture 27" descr="e47ee9949ebce04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5651" y="2506648"/>
            <a:ext cx="820839" cy="23416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376490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30" name="Picture 29" descr="d02d33295232874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82577" y="2507907"/>
            <a:ext cx="566530" cy="23164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149107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32" name="Picture 31" descr="2d42b3e817eed69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55194" y="2506648"/>
            <a:ext cx="556458" cy="23416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911653" y="2434888"/>
            <a:ext cx="265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90282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2902822"/>
            <a:ext cx="450903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map in blocks, Kai's home is at </a:t>
            </a:r>
          </a:p>
        </p:txBody>
      </p:sp>
      <p:pic>
        <p:nvPicPr>
          <p:cNvPr id="36" name="Picture 35" descr="6f3371b3f4bbf6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26350" y="2974582"/>
            <a:ext cx="974432" cy="23416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900783" y="2902822"/>
            <a:ext cx="232942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his school at </a:t>
            </a:r>
          </a:p>
        </p:txBody>
      </p:sp>
      <p:pic>
        <p:nvPicPr>
          <p:cNvPr id="38" name="Picture 37" descr="4b06abb07817386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93046" y="2975841"/>
            <a:ext cx="564012" cy="23164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657058" y="2902822"/>
            <a:ext cx="16391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much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3270172"/>
            <a:ext cx="527346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shorter is the straight line than the streets?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738106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3738106"/>
            <a:ext cx="388412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map in miles, a dock is at </a:t>
            </a:r>
          </a:p>
        </p:txBody>
      </p:sp>
      <p:pic>
        <p:nvPicPr>
          <p:cNvPr id="43" name="Picture 42" descr="ede51becaffdb32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01443" y="3811126"/>
            <a:ext cx="732712" cy="23164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034156" y="3738106"/>
            <a:ext cx="224344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an island at </a:t>
            </a:r>
          </a:p>
        </p:txBody>
      </p:sp>
      <p:pic>
        <p:nvPicPr>
          <p:cNvPr id="45" name="Picture 44" descr="06d2d48467fcd0c7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40443" y="3811126"/>
            <a:ext cx="815803" cy="23164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956247" y="3738106"/>
            <a:ext cx="251800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far apart are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105457"/>
            <a:ext cx="331476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they, to the nearest tenth?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457339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54480" y="4573391"/>
            <a:ext cx="306003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has corners </a:t>
            </a:r>
          </a:p>
        </p:txBody>
      </p:sp>
      <p:pic>
        <p:nvPicPr>
          <p:cNvPr id="50" name="Picture 49" descr="6d8814c221810b9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77358" y="4645152"/>
            <a:ext cx="961842" cy="23416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439201" y="4573391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52" name="Picture 51" descr="209a3bec006696b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45288" y="4645152"/>
            <a:ext cx="815803" cy="23416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461091" y="4573391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54" name="Picture 53" descr="aee1254e09a88494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67178" y="4645152"/>
            <a:ext cx="715087" cy="23416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382265" y="4573391"/>
            <a:ext cx="79885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56" name="Picture 55" descr="3c9a30b1926c4727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43956" y="4645152"/>
            <a:ext cx="861126" cy="23416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905083" y="4573391"/>
            <a:ext cx="197782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long is a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54480" y="4940741"/>
            <a:ext cx="137644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diagonal?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find the perimeter — VGE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Similar Triangles; Indirect Measurement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MA.8.GR.2.4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side of similar triangles with the scale factor, and use similar triangles to measure what I cannot reach.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461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The triangle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17" y="1564719"/>
            <a:ext cx="697753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6771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61b9496b8e6f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34" y="1564719"/>
            <a:ext cx="674020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04854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67db46e2c7538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917" y="1564719"/>
            <a:ext cx="655034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93951" y="1440180"/>
            <a:ext cx="4142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perimeter, to the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052828"/>
            <a:ext cx="9601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13-ft ladder's foot is 5 ft from a wall. How high does it reach?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85873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10 cm side is 4 cm in a copy. What is the scale factor?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7911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At 1 in : 6 ft, a 3.5-in wall on a drawing is how long?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461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The triangle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17" y="1564719"/>
            <a:ext cx="697753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6771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61b9496b8e6f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34" y="1564719"/>
            <a:ext cx="674020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04854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67db46e2c7538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917" y="1564719"/>
            <a:ext cx="655034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93951" y="1440180"/>
            <a:ext cx="4142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perimeter, to the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897380"/>
            <a:ext cx="1464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8.6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510028"/>
            <a:ext cx="9601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13-ft ladder's foot is 5 ft from a wall. How high does it reach?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967228"/>
            <a:ext cx="864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 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79876"/>
            <a:ext cx="85873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10 cm side is 4 cm in a copy. What is the scale factor?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037076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649724"/>
            <a:ext cx="7911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At 1 in : 6 ft, a 3.5-in wall on a drawing is how long?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7727" y="4649724"/>
            <a:ext cx="864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21 ft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similar triangles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same shape, any size: matching angles equal, and every side multiplied by the same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3580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sides that match — across from equal angles: shortest with shortest, longest with longest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56941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55053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copy ÷ original, for one matching pair of sides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08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indirect measurement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39673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finding a length you cannot reach from similar triangles you can measure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Similar: every side times the same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b1393c149350c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993392"/>
            <a:ext cx="7315200" cy="1765914"/>
          </a:xfrm>
          <a:prstGeom prst="rect">
            <a:avLst/>
          </a:prstGeom>
        </p:spPr>
      </p:pic>
      <p:pic>
        <p:nvPicPr>
          <p:cNvPr id="11" name="Picture 10" descr="dffa0e8c36125c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197" y="3908658"/>
            <a:ext cx="1106424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86621" y="4015338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f0a344a8a323dc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7904" y="3914754"/>
            <a:ext cx="1295400" cy="667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3304" y="4015338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c01a75d5d6aaea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4586" y="3905610"/>
            <a:ext cx="1316736" cy="6766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512176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Three ratios, all equal: similar. Match shortest to shortest, longest to longest.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 missing side: find k, then multiply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f1054aa98879b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993392"/>
            <a:ext cx="6858000" cy="2146433"/>
          </a:xfrm>
          <a:prstGeom prst="rect">
            <a:avLst/>
          </a:prstGeom>
        </p:spPr>
      </p:pic>
      <p:pic>
        <p:nvPicPr>
          <p:cNvPr id="11" name="Picture 10" descr="4bfdef353fb7e1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880" y="4286129"/>
            <a:ext cx="1889760" cy="670560"/>
          </a:xfrm>
          <a:prstGeom prst="rect">
            <a:avLst/>
          </a:prstGeom>
        </p:spPr>
      </p:pic>
      <p:pic>
        <p:nvPicPr>
          <p:cNvPr id="12" name="Picture 11" descr="4d0a8ac6cf842b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610" y="5286254"/>
            <a:ext cx="238963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09242" y="520814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4" name="Picture 13" descr="8a8c7878b0eec0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0525" y="5279777"/>
            <a:ext cx="2691384" cy="362712"/>
          </a:xfrm>
          <a:prstGeom prst="rect">
            <a:avLst/>
          </a:prstGeom>
        </p:spPr>
      </p:pic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Same sun, same angle: shadows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111dd3fd22a0dc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544" y="1993392"/>
            <a:ext cx="3456432" cy="2650023"/>
          </a:xfrm>
          <a:prstGeom prst="rect">
            <a:avLst/>
          </a:prstGeom>
        </p:spPr>
      </p:pic>
      <p:pic>
        <p:nvPicPr>
          <p:cNvPr id="11" name="Picture 10" descr="2b85bcbfdf01e5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4789719"/>
            <a:ext cx="1609344" cy="670560"/>
          </a:xfrm>
          <a:prstGeom prst="rect">
            <a:avLst/>
          </a:prstGeom>
        </p:spPr>
      </p:pic>
      <p:pic>
        <p:nvPicPr>
          <p:cNvPr id="12" name="Picture 11" descr="1695fa317230a6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320" y="5814657"/>
            <a:ext cx="1859232" cy="2548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97553" y="5711739"/>
            <a:ext cx="5628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ft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triangles are similar.</a:t>
            </a:r>
          </a:p>
        </p:txBody>
      </p:sp>
      <p:pic>
        <p:nvPicPr>
          <p:cNvPr id="9" name="Picture 8" descr="ge2425ae442de1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2276458"/>
            <a:ext cx="6858000" cy="26613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2670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x and y.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a97477c281592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66672" cy="673608"/>
          </a:xfrm>
          <a:prstGeom prst="rect">
            <a:avLst/>
          </a:prstGeom>
        </p:spPr>
      </p:pic>
      <p:pic>
        <p:nvPicPr>
          <p:cNvPr id="9" name="Picture 8" descr="bbdfad226e56a2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060448" cy="277368"/>
          </a:xfrm>
          <a:prstGeom prst="rect">
            <a:avLst/>
          </a:prstGeom>
        </p:spPr>
      </p:pic>
      <p:pic>
        <p:nvPicPr>
          <p:cNvPr id="10" name="Picture 9" descr="75dd21dab41116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9856"/>
            <a:ext cx="2100072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21, y = 27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3, 5 and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similar triangle has sides 28, x and 12. Find x.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3, 5 and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similar triangle has sides 28, x and 12. Find 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7137" y="2728688"/>
            <a:ext cx="44244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sorted:  3, 5, 7  and  12, x, 28</a:t>
            </a:r>
          </a:p>
        </p:txBody>
      </p:sp>
      <p:pic>
        <p:nvPicPr>
          <p:cNvPr id="11" name="Picture 10" descr="0019a33274271f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001" y="3254468"/>
            <a:ext cx="1222248" cy="512064"/>
          </a:xfrm>
          <a:prstGeom prst="rect">
            <a:avLst/>
          </a:prstGeom>
        </p:spPr>
      </p:pic>
      <p:pic>
        <p:nvPicPr>
          <p:cNvPr id="12" name="Picture 11" descr="7329a68ab6aef0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2001" y="3970082"/>
            <a:ext cx="1648968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20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Omar's eyes are 5 ft up, 4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021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he sees the top of a tree 18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412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</a:t>
            </a:r>
          </a:p>
        </p:txBody>
      </p:sp>
      <p:pic>
        <p:nvPicPr>
          <p:cNvPr id="11" name="Picture 10" descr="gcccabea20ad630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130" y="3080335"/>
            <a:ext cx="2287258" cy="22421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6516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bd577f60b4023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905000" cy="667512"/>
          </a:xfrm>
          <a:prstGeom prst="rect">
            <a:avLst/>
          </a:prstGeom>
        </p:spPr>
      </p:pic>
      <p:pic>
        <p:nvPicPr>
          <p:cNvPr id="9" name="Picture 8" descr="035eeeba9ebb96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2731008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tree is 22.5 ft tall.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Ana's eyes are 4 ft up, 1.5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she sees the top of a flagpole 12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Ana's eyes are 4 ft up, 1.5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she sees the top of a flagpole 12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1" name="Picture 10" descr="06184dcef0298b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3290647"/>
            <a:ext cx="1511808" cy="609600"/>
          </a:xfrm>
          <a:prstGeom prst="rect">
            <a:avLst/>
          </a:prstGeom>
        </p:spPr>
      </p:pic>
      <p:pic>
        <p:nvPicPr>
          <p:cNvPr id="12" name="Picture 11" descr="be1f699f2cd419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503" y="4113035"/>
            <a:ext cx="1926335" cy="265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690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32 ft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Are triangles with sides 8, 12, 14 and 12, 18, 21 similar?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Are triangles with sides 8, 12, 14 and 12, 18, 21 similar?</a:t>
            </a:r>
          </a:p>
        </p:txBody>
      </p:sp>
      <p:pic>
        <p:nvPicPr>
          <p:cNvPr id="9" name="Picture 8" descr="29d440c348e857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466" y="2538586"/>
            <a:ext cx="1173480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2946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1" name="Picture 10" descr="74a531e9e94642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6691" y="2532490"/>
            <a:ext cx="1182624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19315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66bdbc600003a8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3061" y="2535538"/>
            <a:ext cx="1197864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24602" y="3247246"/>
            <a:ext cx="27811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all three equal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every ratio is 1.5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two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4645b571df500e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998436"/>
            <a:ext cx="6400800" cy="172484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00674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two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e16b055d26223f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000" y="3048327"/>
            <a:ext cx="4754880" cy="14181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08400" y="2975576"/>
            <a:ext cx="45682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sorted:  6, 8, 11  and  18, x, 33</a:t>
            </a:r>
          </a:p>
        </p:txBody>
      </p:sp>
      <p:pic>
        <p:nvPicPr>
          <p:cNvPr id="12" name="Picture 11" descr="6ad28beba7d2f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3264" y="3501356"/>
            <a:ext cx="1203960" cy="515112"/>
          </a:xfrm>
          <a:prstGeom prst="rect">
            <a:avLst/>
          </a:prstGeom>
        </p:spPr>
      </p:pic>
      <p:pic>
        <p:nvPicPr>
          <p:cNvPr id="13" name="Picture 12" descr="10e0b58bf3f66f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3264" y="4220018"/>
            <a:ext cx="1633728" cy="21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998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24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12, 16 and 20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longest side is 5 inches.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12, 16 and 20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longest side is 5 inches.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pic>
        <p:nvPicPr>
          <p:cNvPr id="11" name="Picture 10" descr="c75e55e6849a0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331" y="3610687"/>
            <a:ext cx="1941576" cy="609600"/>
          </a:xfrm>
          <a:prstGeom prst="rect">
            <a:avLst/>
          </a:prstGeom>
        </p:spPr>
      </p:pic>
      <p:pic>
        <p:nvPicPr>
          <p:cNvPr id="12" name="Picture 11" descr="e275a5b65b3f10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331" y="4445267"/>
            <a:ext cx="181660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3939" y="4325443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4" name="Picture 13" descr="3414c92f419f2e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684" y="4442219"/>
            <a:ext cx="185318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8969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inches and 4 inches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Similar triangles: which side of the second matches the 9?</a:t>
            </a:r>
          </a:p>
        </p:txBody>
      </p:sp>
      <p:pic>
        <p:nvPicPr>
          <p:cNvPr id="9" name="Picture 8" descr="ge48dce5fbb9daf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459338"/>
            <a:ext cx="6400800" cy="13160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40131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131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98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98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none of them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Similar triangles: which side of the second matches the 9?</a:t>
            </a:r>
          </a:p>
        </p:txBody>
      </p:sp>
      <p:pic>
        <p:nvPicPr>
          <p:cNvPr id="9" name="Picture 8" descr="g799b3f80e5b013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13" y="2459338"/>
            <a:ext cx="4754880" cy="11111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6613" y="2534848"/>
            <a:ext cx="4569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sorted:  6, 9, 12  and  8, 12,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6613" y="3037768"/>
            <a:ext cx="52318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middle sides match:  9 and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the 12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triangle is similar to one with sides 5, 6 and 8?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7, 8, 10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10, 12, 16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10, 12, 15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5, 6, 9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triangle is similar to one with sides 5, 6 and 8?</a:t>
            </a:r>
          </a:p>
        </p:txBody>
      </p:sp>
      <p:pic>
        <p:nvPicPr>
          <p:cNvPr id="9" name="Picture 8" descr="bdd3cfbd5300e6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3514" y="2532490"/>
            <a:ext cx="944880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8394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1" name="Picture 10" descr="d6055516730cc4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139" y="2535538"/>
            <a:ext cx="923544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15683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2450c0a5a44890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29" y="2535538"/>
            <a:ext cx="926592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08650" y="3247246"/>
            <a:ext cx="3754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one k for every side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10, 12, 16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4-ft post casts a 2.5-ft shadow as a tree casts a 15-ft shadow.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  <p:pic>
        <p:nvPicPr>
          <p:cNvPr id="10" name="Picture 9" descr="g03db603ddd3fae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313" y="2998436"/>
            <a:ext cx="2804892" cy="23083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902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4-ft post casts a 2.5-ft shadow as a tree casts a 15-ft shadow.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  <p:pic>
        <p:nvPicPr>
          <p:cNvPr id="10" name="Picture 9" descr="g03db603ddd3fae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641" y="2998436"/>
            <a:ext cx="2804892" cy="2308343"/>
          </a:xfrm>
          <a:prstGeom prst="rect">
            <a:avLst/>
          </a:prstGeom>
        </p:spPr>
      </p:pic>
      <p:pic>
        <p:nvPicPr>
          <p:cNvPr id="11" name="Picture 10" descr="1818a67803e26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918" y="3642068"/>
            <a:ext cx="1292352" cy="518160"/>
          </a:xfrm>
          <a:prstGeom prst="rect">
            <a:avLst/>
          </a:prstGeom>
        </p:spPr>
      </p:pic>
      <p:pic>
        <p:nvPicPr>
          <p:cNvPr id="12" name="Picture 11" descr="b7332b452dd02b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18" y="4354634"/>
            <a:ext cx="1645920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9024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 ft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0.6 m over its first 2 m from A. The right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is the ramp 8 m from A?</a:t>
            </a:r>
          </a:p>
        </p:txBody>
      </p:sp>
      <p:pic>
        <p:nvPicPr>
          <p:cNvPr id="10" name="Picture 9" descr="ga1f7235b1f551c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7443" y="3427807"/>
            <a:ext cx="3526633" cy="1903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144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0.6 m over its first 2 m from A. The right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is the ramp 8 m from A?</a:t>
            </a:r>
          </a:p>
        </p:txBody>
      </p:sp>
      <p:pic>
        <p:nvPicPr>
          <p:cNvPr id="10" name="Picture 9" descr="ga1f7235b1f551c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275" y="3427807"/>
            <a:ext cx="3526633" cy="1903144"/>
          </a:xfrm>
          <a:prstGeom prst="rect">
            <a:avLst/>
          </a:prstGeom>
        </p:spPr>
      </p:pic>
      <p:pic>
        <p:nvPicPr>
          <p:cNvPr id="11" name="Picture 10" descr="e99d1959ca4f8c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6292" y="3873411"/>
            <a:ext cx="1085088" cy="509016"/>
          </a:xfrm>
          <a:prstGeom prst="rect">
            <a:avLst/>
          </a:prstGeom>
        </p:spPr>
      </p:pic>
      <p:pic>
        <p:nvPicPr>
          <p:cNvPr id="12" name="Picture 11" descr="64fc6715d91c38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292" y="4579880"/>
            <a:ext cx="1959864" cy="222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144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2.4 m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Lena's eyes are 5 ft up. In a mirror on the ground 4 ft away she sees the top of a 45-year-old flagpole, 16 ft past the mirror.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0" name="Picture 9" descr="g0645dd5acbb2e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1272" y="3427807"/>
            <a:ext cx="1978974" cy="19225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3380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Lena's eyes are 5 ft up. In a mirror on the ground 4 ft away she sees the top of a 45-year-old flagpole, 16 ft past the mirror.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0" name="Picture 9" descr="g0645dd5acbb2e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600" y="3427807"/>
            <a:ext cx="1978974" cy="1922533"/>
          </a:xfrm>
          <a:prstGeom prst="rect">
            <a:avLst/>
          </a:prstGeom>
        </p:spPr>
      </p:pic>
      <p:pic>
        <p:nvPicPr>
          <p:cNvPr id="11" name="Picture 10" descr="d89cf00d483841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959" y="3883105"/>
            <a:ext cx="1225296" cy="509016"/>
          </a:xfrm>
          <a:prstGeom prst="rect">
            <a:avLst/>
          </a:prstGeom>
        </p:spPr>
      </p:pic>
      <p:pic>
        <p:nvPicPr>
          <p:cNvPr id="12" name="Picture 11" descr="ca6ea06f1d290d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959" y="4586527"/>
            <a:ext cx="1642872" cy="222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338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 ft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Kim says triangles with sides 3, 4, 5 and 5, 6, 7 are similar,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each side grew by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Kim says triangles with sides 3, 4, 5 and 5, 6, 7 are similar,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each side grew by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1" name="Picture 10" descr="d2dfa2bbc03684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2467" y="3613020"/>
            <a:ext cx="1012793" cy="5110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25260" y="3638786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3d58659d8a7f4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261" y="3610687"/>
            <a:ext cx="865774" cy="5133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11036" y="3638786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01b60fb0121f47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1037" y="3615354"/>
            <a:ext cx="870442" cy="50873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01479" y="3638786"/>
            <a:ext cx="220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:  three ratios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similar means × one k, not + 2.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Are triangles with sides 4, 10, 12 and 6, 15, 20 similar? Show the three ratios.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9967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9967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triangle has sides 8, 10 and 13. A similar triangle's 10-side is 25. Find its other two sides.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871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871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triangle has sides 15, 25 and 30. A similar triangle's longest side is 6. Find its other two sides.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009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3009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1.5-m child casts a 2-m shadow. At the same moment a tree casts a 14-m shadow. How tall is the tree?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114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11480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The two right triangles are similar and share corner A. The small one runs 3 m along the ground from A and stands 1.2 m high. The big one runs 12 m along the ground from A. How high is 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2861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92861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Which is similar to a triangle with sides 8, 10 and 14: one with sides 10, 12, 16, or one with sides 12, 15, 21? Show why.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Side lengths of similar triangles — QSK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Similar triangles and indirect measurement — 88W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similar triangles — 6PD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THREAD B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Angle Pairs: Supplementary, Complementary, Vertical, Adjacent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name an angle pair and use it to find a missing angle, with an equation when the angles are expressions.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17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6-ft man casts a 4-ft shadow; a tree, 18 ft. The tree's height?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0" name="Picture 9" descr="1341941b7cc70f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856765" cy="2705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3880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0809219f625557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463" y="2177367"/>
            <a:ext cx="666900" cy="270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76364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8252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Ana types 210 words in 5 minutes. Words per minute?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89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Two angles make a straight angle. One is 130°. The other?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17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6-ft man casts a 4-ft shadow; a tree, 18 ft. The tree's height?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8618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27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1" name="Picture 10" descr="1341941b7cc70f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634567"/>
            <a:ext cx="856765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23880" y="25100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809219f625557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463" y="2634567"/>
            <a:ext cx="666900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76364" y="25100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8476" y="2510028"/>
            <a:ext cx="12121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122676"/>
            <a:ext cx="8252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Ana types 210 words in 5 minutes. Words per minute?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8781" y="3122676"/>
            <a:ext cx="560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89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Two angles make a straight angle. One is 130°. The other?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740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50°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adjacent 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with the same vertex and a shared side, that do not overlap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vertical angles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angles across from each other where two lines cross; they are equal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complementary angles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that add to 90°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45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supplementary angles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74522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that add to 180°; a linear pair (adjacent, on a straight line) is supplementary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Adjacent and vertical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cf96da69d88bd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7972" y="1993392"/>
            <a:ext cx="3465576" cy="27453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94908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Adjacent: one vertex, a shared side, no overlap — angles 1 and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639457"/>
            <a:ext cx="4645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Vertical: across, and equal — </a:t>
            </a:r>
          </a:p>
        </p:txBody>
      </p:sp>
      <p:pic>
        <p:nvPicPr>
          <p:cNvPr id="13" name="Picture 12" descr="383818eb4f2543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304" y="5766370"/>
            <a:ext cx="1526039" cy="2159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22344" y="5639457"/>
            <a:ext cx="2795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(m for measure).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Complementary and supplementary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fd2f6dc032fdb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993392"/>
            <a:ext cx="3785615" cy="22873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49101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Complementary: add to 90°.   Supplementary: add to 180°.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22253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linear pair is supplementary: 60° + 120° = 180°.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Name the pair, write the equation, put x back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ff13cd6a1f05fc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668" y="1993392"/>
            <a:ext cx="3758184" cy="2101945"/>
          </a:xfrm>
          <a:prstGeom prst="rect">
            <a:avLst/>
          </a:prstGeom>
        </p:spPr>
      </p:pic>
      <p:pic>
        <p:nvPicPr>
          <p:cNvPr id="11" name="Picture 10" descr="cc136a22f99d4d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2185" y="4299934"/>
            <a:ext cx="3029712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51897" y="4218781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1f863e20b728f4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3180" y="4299934"/>
            <a:ext cx="1395984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89164" y="4218781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981f2bd33d4625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0446" y="4296886"/>
            <a:ext cx="1008888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7024" y="5014309"/>
            <a:ext cx="19849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the angle:  </a:t>
            </a:r>
          </a:p>
        </p:txBody>
      </p:sp>
      <p:pic>
        <p:nvPicPr>
          <p:cNvPr id="17" name="Picture 16" descr="d1f2e6ea48b59af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4785" y="5119910"/>
            <a:ext cx="2379710" cy="311213"/>
          </a:xfrm>
          <a:prstGeom prst="rect">
            <a:avLst/>
          </a:prstGeom>
        </p:spPr>
      </p:pic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2996" y="1440180"/>
            <a:ext cx="4592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ray splits a right angle into </a:t>
            </a:r>
          </a:p>
        </p:txBody>
      </p:sp>
      <p:pic>
        <p:nvPicPr>
          <p:cNvPr id="9" name="Picture 8" descr="07a35259f479b4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8394" y="1557718"/>
            <a:ext cx="114661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1501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1d1e7ee16a0e70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521" y="1557718"/>
            <a:ext cx="117386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05382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ebe47a9162b990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2148840"/>
            <a:ext cx="3163824" cy="3163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b2f294a6c26d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54680" cy="280416"/>
          </a:xfrm>
          <a:prstGeom prst="rect">
            <a:avLst/>
          </a:prstGeom>
        </p:spPr>
      </p:pic>
      <p:pic>
        <p:nvPicPr>
          <p:cNvPr id="9" name="Picture 8" descr="95197ad3c8083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319272" cy="350520"/>
          </a:xfrm>
          <a:prstGeom prst="rect">
            <a:avLst/>
          </a:prstGeom>
        </p:spPr>
      </p:pic>
      <p:pic>
        <p:nvPicPr>
          <p:cNvPr id="10" name="Picture 9" descr="c38b41945c7f1c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99815"/>
            <a:ext cx="509016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17; the angles are 50° and 40°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577c207cc2ffe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848" y="1694878"/>
            <a:ext cx="720661" cy="2847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78509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616d3ce97a9b57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016" y="1694878"/>
            <a:ext cx="1173861" cy="2847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68877" y="1577340"/>
            <a:ext cx="32719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complementary.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6d7c615ff8d7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371" y="1692402"/>
            <a:ext cx="723138" cy="2872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78509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8f38c89b3740af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016" y="1692402"/>
            <a:ext cx="1176337" cy="2872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1353" y="1577340"/>
            <a:ext cx="32719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complementary.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  <p:pic>
        <p:nvPicPr>
          <p:cNvPr id="13" name="Picture 12" descr="7e99fa8917cd79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034" y="2995214"/>
            <a:ext cx="2377440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48474" y="28753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bf997b8dd4ac92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995214"/>
            <a:ext cx="111252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44739" y="28753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7" name="Picture 16" descr="d07916073d6422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8485" y="2989118"/>
            <a:ext cx="877824" cy="252984"/>
          </a:xfrm>
          <a:prstGeom prst="rect">
            <a:avLst/>
          </a:prstGeom>
        </p:spPr>
      </p:pic>
      <p:pic>
        <p:nvPicPr>
          <p:cNvPr id="18" name="Picture 17" descr="ae1d1f1e848c88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1034" y="3528614"/>
            <a:ext cx="1560576" cy="320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31610" y="3414886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364a366b5734cf2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5356" y="3531662"/>
            <a:ext cx="176479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16; 64° and 26°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1201" y="1440180"/>
            <a:ext cx="622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Vertical angles measure </a:t>
            </a:r>
          </a:p>
        </p:txBody>
      </p:sp>
      <p:pic>
        <p:nvPicPr>
          <p:cNvPr id="9" name="Picture 8" descr="58f9ac6500c166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479" y="1557718"/>
            <a:ext cx="1329880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43360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630da9e3b1e710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9866" y="1557718"/>
            <a:ext cx="133731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97176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56ed89f4790ea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7535" y="2148840"/>
            <a:ext cx="4806449" cy="3163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314f6680daf52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49296" cy="277368"/>
          </a:xfrm>
          <a:prstGeom prst="rect">
            <a:avLst/>
          </a:prstGeom>
        </p:spPr>
      </p:pic>
      <p:pic>
        <p:nvPicPr>
          <p:cNvPr id="9" name="Picture 8" descr="def7740143bebf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1941576" cy="277368"/>
          </a:xfrm>
          <a:prstGeom prst="rect">
            <a:avLst/>
          </a:prstGeom>
        </p:spPr>
      </p:pic>
      <p:pic>
        <p:nvPicPr>
          <p:cNvPr id="10" name="Picture 9" descr="adcc8f1246fa21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23615"/>
            <a:ext cx="2737104" cy="347472"/>
          </a:xfrm>
          <a:prstGeom prst="rect">
            <a:avLst/>
          </a:prstGeom>
        </p:spPr>
      </p:pic>
      <p:pic>
        <p:nvPicPr>
          <p:cNvPr id="11" name="Picture 10" descr="6f95e2cb60145c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645407"/>
            <a:ext cx="2456688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Each angle is 38°.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2790" y="157734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3cb477a3fb5155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6406" y="1694878"/>
            <a:ext cx="1186243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82650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8dcc8f629bcb0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156" y="1694878"/>
            <a:ext cx="11664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6558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9075" y="157734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b01416cd51b60b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691" y="1692402"/>
            <a:ext cx="1191196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83888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45a70ed969048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395" y="1692402"/>
            <a:ext cx="1168908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6930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0968" y="2875390"/>
            <a:ext cx="34294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equal:  4x + 3 = x + 39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0968" y="3378310"/>
            <a:ext cx="35549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take x off both sides:  </a:t>
            </a:r>
          </a:p>
        </p:txBody>
      </p:sp>
      <p:pic>
        <p:nvPicPr>
          <p:cNvPr id="16" name="Picture 15" descr="2ab8632a630df2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17" y="3513565"/>
            <a:ext cx="1344168" cy="214693"/>
          </a:xfrm>
          <a:prstGeom prst="rect">
            <a:avLst/>
          </a:prstGeom>
        </p:spPr>
      </p:pic>
      <p:pic>
        <p:nvPicPr>
          <p:cNvPr id="17" name="Picture 16" descr="68567d5b1bde236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5832" y="4016199"/>
            <a:ext cx="905256" cy="213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61088" y="3881230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9" name="Picture 18" descr="c9ab79e3ddc8502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1089" y="4016199"/>
            <a:ext cx="743712" cy="210312"/>
          </a:xfrm>
          <a:prstGeom prst="rect">
            <a:avLst/>
          </a:prstGeom>
        </p:spPr>
      </p:pic>
      <p:pic>
        <p:nvPicPr>
          <p:cNvPr id="20" name="Picture 19" descr="0992bbe3f2b5413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55832" y="4522167"/>
            <a:ext cx="1716024" cy="2651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95565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Each angle is 51°.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complement of 34°?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complement of 34°?</a:t>
            </a:r>
          </a:p>
        </p:txBody>
      </p:sp>
      <p:pic>
        <p:nvPicPr>
          <p:cNvPr id="9" name="Picture 8" descr="0f1f1f9bfab677c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8175" y="2626406"/>
            <a:ext cx="1837943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56°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supplement of 112°?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supplement of 112°?</a:t>
            </a:r>
          </a:p>
        </p:txBody>
      </p:sp>
      <p:pic>
        <p:nvPicPr>
          <p:cNvPr id="9" name="Picture 8" descr="48c6be8dd19e78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251" y="2626406"/>
            <a:ext cx="2139696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68°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One angle is 47°.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a and b.</a:t>
            </a:r>
          </a:p>
        </p:txBody>
      </p:sp>
      <p:pic>
        <p:nvPicPr>
          <p:cNvPr id="10" name="Picture 9" descr="gd8f563ee50232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625" y="2998436"/>
            <a:ext cx="3004268" cy="22867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One angle is 47°.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a and b.</a:t>
            </a:r>
          </a:p>
        </p:txBody>
      </p:sp>
      <p:pic>
        <p:nvPicPr>
          <p:cNvPr id="10" name="Picture 9" descr="gd8f563ee50232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319" y="2998436"/>
            <a:ext cx="3004268" cy="2286795"/>
          </a:xfrm>
          <a:prstGeom prst="rect">
            <a:avLst/>
          </a:prstGeom>
        </p:spPr>
      </p:pic>
      <p:pic>
        <p:nvPicPr>
          <p:cNvPr id="11" name="Picture 10" descr="4bae18db7a4d73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1971" y="3801696"/>
            <a:ext cx="788765" cy="21002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0736" y="3661774"/>
            <a:ext cx="1758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(vertical)</a:t>
            </a:r>
          </a:p>
        </p:txBody>
      </p:sp>
      <p:pic>
        <p:nvPicPr>
          <p:cNvPr id="13" name="Picture 12" descr="d938da6dc54928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1971" y="4292948"/>
            <a:ext cx="2291619" cy="22169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93591" y="4164694"/>
            <a:ext cx="2450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(a linear pair)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47°, b = 133°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bbb07ffc24a4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4151"/>
            <a:ext cx="393763" cy="220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820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77b1c730618540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66" y="1971675"/>
            <a:ext cx="438340" cy="2575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34006" y="1851660"/>
            <a:ext cx="42586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are complementary, and </a:t>
            </a:r>
          </a:p>
        </p:txBody>
      </p:sp>
      <p:pic>
        <p:nvPicPr>
          <p:cNvPr id="12" name="Picture 11" descr="3d67e897ac23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544" y="1971675"/>
            <a:ext cx="1461135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16679" y="1851660"/>
            <a:ext cx="289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64308"/>
            <a:ext cx="14806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</a:t>
            </a:r>
          </a:p>
        </p:txBody>
      </p:sp>
      <p:pic>
        <p:nvPicPr>
          <p:cNvPr id="15" name="Picture 14" descr="9aa2e860f902725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7939" y="2584323"/>
            <a:ext cx="713232" cy="2575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71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36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152°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236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62°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9227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28°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9227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118°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286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bbb07ffc24a4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4151"/>
            <a:ext cx="393763" cy="220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820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159c08c6eed82f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66" y="1971675"/>
            <a:ext cx="438340" cy="2575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34006" y="1851660"/>
            <a:ext cx="42586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are complementary, and </a:t>
            </a:r>
          </a:p>
        </p:txBody>
      </p:sp>
      <p:pic>
        <p:nvPicPr>
          <p:cNvPr id="12" name="Picture 11" descr="3a7f772a2815ff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544" y="1971675"/>
            <a:ext cx="1463611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19156" y="1851660"/>
            <a:ext cx="289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64308"/>
            <a:ext cx="14806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</a:t>
            </a:r>
          </a:p>
        </p:txBody>
      </p:sp>
      <p:pic>
        <p:nvPicPr>
          <p:cNvPr id="15" name="Picture 14" descr="52c288f6d52551f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7939" y="2584323"/>
            <a:ext cx="710755" cy="2575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88694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7" name="Picture 16" descr="745c0b5bbb17bf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2747" y="3312604"/>
            <a:ext cx="1825752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62°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42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9" name="Picture 8" descr="0787c152ddf7d6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13" y="1969198"/>
            <a:ext cx="132740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671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fa3d57b238d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224" y="1971675"/>
            <a:ext cx="63150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1473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4" name="Picture 13" descr="g8cc55e219df497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4117" y="3071986"/>
            <a:ext cx="3413284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42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9" name="Picture 8" descr="8f30b8b49e8693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13" y="1966722"/>
            <a:ext cx="1329880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919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fa3d57b238d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700" y="1971675"/>
            <a:ext cx="63150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1720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4" name="Picture 13" descr="g8cc55e219df497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013" y="3071986"/>
            <a:ext cx="3413284" cy="2213245"/>
          </a:xfrm>
          <a:prstGeom prst="rect">
            <a:avLst/>
          </a:prstGeom>
        </p:spPr>
      </p:pic>
      <p:pic>
        <p:nvPicPr>
          <p:cNvPr id="15" name="Picture 14" descr="7f724f244cbb4e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9682" y="3833518"/>
            <a:ext cx="2456688" cy="213360"/>
          </a:xfrm>
          <a:prstGeom prst="rect">
            <a:avLst/>
          </a:prstGeom>
        </p:spPr>
      </p:pic>
      <p:pic>
        <p:nvPicPr>
          <p:cNvPr id="16" name="Picture 15" descr="f3f7561d3a7c01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9682" y="4336438"/>
            <a:ext cx="9235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903226" y="4201469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8" name="Picture 17" descr="2396565ee2317ac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3227" y="4336438"/>
            <a:ext cx="771144" cy="213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20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e1c3824ec7b71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6" y="1969198"/>
            <a:ext cx="1359598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7654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15cc58817ef78a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4161" y="1969198"/>
            <a:ext cx="1352169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633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pic>
        <p:nvPicPr>
          <p:cNvPr id="14" name="Picture 13" descr="g47e86856adf2b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7512" y="3071986"/>
            <a:ext cx="2726495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8b8ebe44a953ed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6" y="1966722"/>
            <a:ext cx="136455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4260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f4a415f7dba02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114" y="1966722"/>
            <a:ext cx="1354645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137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pic>
        <p:nvPicPr>
          <p:cNvPr id="14" name="Picture 13" descr="g47e86856adf2b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165" y="3071986"/>
            <a:ext cx="2726495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3181" y="3447089"/>
            <a:ext cx="4653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equal:  6x − 20 = 2x + 28,   so  </a:t>
            </a:r>
          </a:p>
        </p:txBody>
      </p:sp>
      <p:pic>
        <p:nvPicPr>
          <p:cNvPr id="16" name="Picture 15" descr="3cb91e7565858a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9826" y="3584677"/>
            <a:ext cx="1556527" cy="212359"/>
          </a:xfrm>
          <a:prstGeom prst="rect">
            <a:avLst/>
          </a:prstGeom>
        </p:spPr>
      </p:pic>
      <p:pic>
        <p:nvPicPr>
          <p:cNvPr id="17" name="Picture 16" descr="c0a42a78d97a1e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45" y="4091074"/>
            <a:ext cx="957072" cy="2072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85117" y="3950009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9" name="Picture 18" descr="c9ab79e3ddc8502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5118" y="4084978"/>
            <a:ext cx="743712" cy="210312"/>
          </a:xfrm>
          <a:prstGeom prst="rect">
            <a:avLst/>
          </a:prstGeom>
        </p:spPr>
      </p:pic>
      <p:pic>
        <p:nvPicPr>
          <p:cNvPr id="20" name="Picture 19" descr="b9cd8d999bb095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45" y="4590946"/>
            <a:ext cx="1898904" cy="2651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52°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two angles are adjacent?</a:t>
            </a:r>
          </a:p>
        </p:txBody>
      </p:sp>
      <p:pic>
        <p:nvPicPr>
          <p:cNvPr id="9" name="Picture 8" descr="g5dcf96e4300877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185" y="2459338"/>
            <a:ext cx="1651149" cy="15244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42215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DOE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2215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AOC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9073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BOC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9073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COD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two angles are adjacent?</a:t>
            </a:r>
          </a:p>
        </p:txBody>
      </p:sp>
      <p:pic>
        <p:nvPicPr>
          <p:cNvPr id="9" name="Picture 8" descr="gacab42555d0e0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809" y="2459338"/>
            <a:ext cx="2596896" cy="22872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79225" y="3122920"/>
            <a:ext cx="5068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AOB and BOC share the side 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9225" y="3625840"/>
            <a:ext cx="30918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and do not overlap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3008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angles AOB and BOC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Above a straight line a ray makes angles of 38° and x°; below it another ray makes an angle of 50°.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9e90bd77297c2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247" y="3427807"/>
            <a:ext cx="2561024" cy="1857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Above a straight line a ray makes angles of 38° and x°; below it another ray makes an angle of 50°.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9e90bd77297c2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7915" y="3427807"/>
            <a:ext cx="2561024" cy="1857424"/>
          </a:xfrm>
          <a:prstGeom prst="rect">
            <a:avLst/>
          </a:prstGeom>
        </p:spPr>
      </p:pic>
      <p:pic>
        <p:nvPicPr>
          <p:cNvPr id="11" name="Picture 10" descr="4b0ece7bc60712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5324" y="4011428"/>
            <a:ext cx="1533144" cy="213360"/>
          </a:xfrm>
          <a:prstGeom prst="rect">
            <a:avLst/>
          </a:prstGeom>
        </p:spPr>
      </p:pic>
      <p:pic>
        <p:nvPicPr>
          <p:cNvPr id="12" name="Picture 11" descr="b9435b17e53862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5324" y="4514348"/>
            <a:ext cx="926592" cy="2103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142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Can two vertical angles be complementary?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Always, sometimes or never?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Can two vertical angles be complementary?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Always, sometimes or never?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5078" y="3048728"/>
            <a:ext cx="50057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vertical:  the two are equal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5078" y="3588224"/>
            <a:ext cx="333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complementary:  </a:t>
            </a:r>
          </a:p>
        </p:txBody>
      </p:sp>
      <p:pic>
        <p:nvPicPr>
          <p:cNvPr id="12" name="Picture 11" descr="0006f1eda30768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9222" y="3706334"/>
            <a:ext cx="1649063" cy="25412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78285" y="3588224"/>
            <a:ext cx="11853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Sometimes — only when each is 45°.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435486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What is the complement of 61°?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426514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What is the supplement of 76°?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59326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59326"/>
            <a:ext cx="9298873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lines cross, and one of the four angles is 58°. Find the other three.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90473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90473"/>
            <a:ext cx="321310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16" name="Picture 15" descr="285bdcc5e318a8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425" y="3169787"/>
            <a:ext cx="1235632" cy="25881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66058" y="3090473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8" name="Picture 17" descr="ad6c1a03ab2e48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645" y="3196225"/>
            <a:ext cx="434141" cy="20593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23787" y="3090473"/>
            <a:ext cx="366796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x and the first angle.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62162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621620"/>
            <a:ext cx="342197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22" name="Picture 21" descr="fbc2e0de42011f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9294" y="3700934"/>
            <a:ext cx="1065872" cy="25881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05166" y="3621620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bc71e7f24b50d2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754" y="3700934"/>
            <a:ext cx="1202237" cy="258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830991" y="3621620"/>
            <a:ext cx="302501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measure of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024751"/>
            <a:ext cx="1703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each angle.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5589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8" name="Picture 27" descr="b2dd3170aa6e61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646344"/>
            <a:ext cx="782010" cy="23655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409642" y="4555898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0" name="Picture 29" descr="a52c8ccabb4b16e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3230" y="4646344"/>
            <a:ext cx="776444" cy="23655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09675" y="4555898"/>
            <a:ext cx="71689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share the side QR and together make a straight line,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959029"/>
            <a:ext cx="785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and </a:t>
            </a:r>
          </a:p>
        </p:txBody>
      </p:sp>
      <p:pic>
        <p:nvPicPr>
          <p:cNvPr id="33" name="Picture 32" descr="2c401f527e9ce7a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2882" y="5049475"/>
            <a:ext cx="1756045" cy="23655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958928" y="4959029"/>
            <a:ext cx="346333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Name the pair and find </a:t>
            </a:r>
          </a:p>
        </p:txBody>
      </p:sp>
      <p:pic>
        <p:nvPicPr>
          <p:cNvPr id="35" name="Picture 34" descr="4211ba0231777f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5106" y="5049475"/>
            <a:ext cx="1026910" cy="236551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12017" y="4959029"/>
            <a:ext cx="27155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complementary, supplementary, vertical, adjacent, and congruent angles — HGV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166359"/>
            <a:ext cx="969264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measures of complementary, supplementary, vertical, and adjacent angles — R2B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824727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Write and solve equations using angle relationships — DBV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THREAD B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Interior and Exterior Angles of a Triangle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angle of a triangle, inside or outside, with the Triangle Sum and the Exterior Angle Theorem.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1212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What is the supplement of 83°?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0" name="Picture 9" descr="d761eb6c578c3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1127323" cy="2705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94437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021" y="2179740"/>
            <a:ext cx="688260" cy="268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68282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6577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12 pens cost $9. What does one pen cost?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straight angle is split into 50°, 60° and x°. Find x.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1212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What is the supplement of 83°?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7249" y="1440180"/>
            <a:ext cx="699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97°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1" name="Picture 10" descr="d761eb6c578c3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1127323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94437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021" y="2179740"/>
            <a:ext cx="688260" cy="268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68282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0393" y="2052828"/>
            <a:ext cx="14059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6577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12 pens cost $9. What does one pen cost?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3235" y="2665476"/>
            <a:ext cx="10088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$0.75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straight angle is split into 50°, 60° and x°. Find x.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8483" y="3278124"/>
            <a:ext cx="5714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70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interior 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 angle inside a triangle, at one of its corners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exterior 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angle between one side of a triangle and the next side extended; it makes a linear pair with the interior angle beside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remote interior angles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two interior angles that are not beside a given exterior 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3874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Triangle Sum Theorem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468112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three interior angles of a triangle add to 180°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Triangle Sum: the three angles make 180°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522339bbcb9f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1993392"/>
            <a:ext cx="3657600" cy="2548021"/>
          </a:xfrm>
          <a:prstGeom prst="rect">
            <a:avLst/>
          </a:prstGeom>
        </p:spPr>
      </p:pic>
      <p:pic>
        <p:nvPicPr>
          <p:cNvPr id="11" name="Picture 10" descr="0aedc77137df4b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878" y="4742962"/>
            <a:ext cx="285902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98902" y="4664857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5e378d9b5b720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0185" y="4746010"/>
            <a:ext cx="981455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396377"/>
            <a:ext cx="5980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triangle's three angles add to 180°:  </a:t>
            </a:r>
          </a:p>
        </p:txBody>
      </p:sp>
      <p:pic>
        <p:nvPicPr>
          <p:cNvPr id="15" name="Picture 14" descr="9263d6474ca215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0695" y="5520916"/>
            <a:ext cx="3540982" cy="218344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Exterior Angle Theorem: outside = the two remote angles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c45d7beb9c033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993392"/>
            <a:ext cx="3749039" cy="2344136"/>
          </a:xfrm>
          <a:prstGeom prst="rect">
            <a:avLst/>
          </a:prstGeom>
        </p:spPr>
      </p:pic>
      <p:pic>
        <p:nvPicPr>
          <p:cNvPr id="11" name="Picture 10" descr="89c2ce4528c0ee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3677" y="4574621"/>
            <a:ext cx="2487025" cy="2441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80702" y="4460972"/>
            <a:ext cx="18753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check:  </a:t>
            </a:r>
          </a:p>
        </p:txBody>
      </p:sp>
      <p:pic>
        <p:nvPicPr>
          <p:cNvPr id="13" name="Picture 12" descr="8a37fc46900708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859" y="4571938"/>
            <a:ext cx="2148982" cy="246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2336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Not the angle beside it, and not the angle around the outside.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Angles as expressions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dd6c2edffde6da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993392"/>
            <a:ext cx="4206240" cy="2337783"/>
          </a:xfrm>
          <a:prstGeom prst="rect">
            <a:avLst/>
          </a:prstGeom>
        </p:spPr>
      </p:pic>
      <p:pic>
        <p:nvPicPr>
          <p:cNvPr id="11" name="Picture 10" descr="647c8375d7d21a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7949" y="4529676"/>
            <a:ext cx="369417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52125" y="445461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7b3e3f23e8ea73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532724"/>
            <a:ext cx="1435608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29016" y="445461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d16345bfb60264a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0298" y="4535772"/>
            <a:ext cx="1033271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5073" y="5140419"/>
            <a:ext cx="2144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the angles:  </a:t>
            </a:r>
          </a:p>
        </p:txBody>
      </p:sp>
      <p:pic>
        <p:nvPicPr>
          <p:cNvPr id="17" name="Picture 16" descr="51b693d0751e4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2096" y="5254069"/>
            <a:ext cx="394382" cy="2441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66479" y="514041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51b693d0751e4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4642" y="5254069"/>
            <a:ext cx="394382" cy="24414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09025" y="514041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b785117b1b16150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7188" y="5254069"/>
            <a:ext cx="539257" cy="244141"/>
          </a:xfrm>
          <a:prstGeom prst="rect">
            <a:avLst/>
          </a:prstGeom>
        </p:spPr>
      </p:pic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1000" y="144018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47c3ebd1b51184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7137" y="1557718"/>
            <a:ext cx="482917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005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4dddd1a4fe592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561" y="1557718"/>
            <a:ext cx="440817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27378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2f72bb38c53d66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79" y="2148840"/>
            <a:ext cx="4023360" cy="309214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7017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8609985cbbf0f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167128" cy="280416"/>
          </a:xfrm>
          <a:prstGeom prst="rect">
            <a:avLst/>
          </a:prstGeom>
        </p:spPr>
      </p:pic>
      <p:pic>
        <p:nvPicPr>
          <p:cNvPr id="9" name="Picture 8" descr="b31b8f2372dd4a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959608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third angle is 51°.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3664" y="157734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93bc96f2cc69f6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801" y="1697355"/>
            <a:ext cx="465582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35383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727d2cc0503a7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890" y="1697355"/>
            <a:ext cx="492823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471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69950" y="157734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4598b182d9f6bf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6086" y="1697355"/>
            <a:ext cx="470534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36621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509e5756a63da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3128" y="1697355"/>
            <a:ext cx="495299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842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pic>
        <p:nvPicPr>
          <p:cNvPr id="14" name="Picture 13" descr="4cdaf6218c704a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203" y="2995214"/>
            <a:ext cx="1993392" cy="252984"/>
          </a:xfrm>
          <a:prstGeom prst="rect">
            <a:avLst/>
          </a:prstGeom>
        </p:spPr>
      </p:pic>
      <p:pic>
        <p:nvPicPr>
          <p:cNvPr id="15" name="Picture 14" descr="0eee067290a38f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1203" y="3534710"/>
            <a:ext cx="215188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57°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5154" y="171450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2db8d970bac03f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3546" y="1832038"/>
            <a:ext cx="490347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93893" y="171450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41c731884e8b0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400" y="1832038"/>
            <a:ext cx="492823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03223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914915b016051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79" y="2423160"/>
            <a:ext cx="4023360" cy="267659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4289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6436ee197a6c8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88920" cy="280416"/>
          </a:xfrm>
          <a:prstGeom prst="rect">
            <a:avLst/>
          </a:prstGeom>
        </p:spPr>
      </p:pic>
      <p:pic>
        <p:nvPicPr>
          <p:cNvPr id="9" name="Picture 8" descr="a03bc7e3a59a78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5955792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exterior angle is 113°.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2396" y="157734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04116200ab91a5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0787" y="1694878"/>
            <a:ext cx="458152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8940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d30b8c97d4403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5447" y="1697355"/>
            <a:ext cx="470534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5982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exterior angle.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9919" y="157734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04116200ab91a5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311" y="1694878"/>
            <a:ext cx="458152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6463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7cb83dab77d384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2970" y="1697355"/>
            <a:ext cx="475488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845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exterior angle.</a:t>
            </a:r>
          </a:p>
        </p:txBody>
      </p:sp>
      <p:pic>
        <p:nvPicPr>
          <p:cNvPr id="14" name="Picture 13" descr="30206c3aca93be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1" y="2995214"/>
            <a:ext cx="1975104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107°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Two angles of a triangle are 47° and 68°. Find the third angle.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Two angles of a triangle are 47° and 68°. Find the third angle.</a:t>
            </a:r>
          </a:p>
        </p:txBody>
      </p:sp>
      <p:pic>
        <p:nvPicPr>
          <p:cNvPr id="9" name="Picture 8" descr="0e1ea345931b3e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251" y="2623358"/>
            <a:ext cx="1987296" cy="256032"/>
          </a:xfrm>
          <a:prstGeom prst="rect">
            <a:avLst/>
          </a:prstGeom>
        </p:spPr>
      </p:pic>
      <p:pic>
        <p:nvPicPr>
          <p:cNvPr id="10" name="Picture 9" descr="5a6504566eb37c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251" y="3165902"/>
            <a:ext cx="214274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65°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isosceles triangle's two base angles are equal. Each is 52°.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isosceles triangle's two base angles are equal. Each is 52°.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pic>
        <p:nvPicPr>
          <p:cNvPr id="10" name="Picture 9" descr="5896b664cb0ee0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3" y="3168553"/>
            <a:ext cx="2023872" cy="252984"/>
          </a:xfrm>
          <a:prstGeom prst="rect">
            <a:avLst/>
          </a:prstGeom>
        </p:spPr>
      </p:pic>
      <p:pic>
        <p:nvPicPr>
          <p:cNvPr id="11" name="Picture 10" descr="05c73aed05dead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343" y="3705001"/>
            <a:ext cx="219760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76°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38° and 77°.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  <p:pic>
        <p:nvPicPr>
          <p:cNvPr id="10" name="Picture 9" descr="g4acad889d515fe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490" y="2998436"/>
            <a:ext cx="4188538" cy="22867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38° and 77°.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  <p:pic>
        <p:nvPicPr>
          <p:cNvPr id="10" name="Picture 9" descr="g4acad889d515fe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742" y="2998436"/>
            <a:ext cx="4188538" cy="2286795"/>
          </a:xfrm>
          <a:prstGeom prst="rect">
            <a:avLst/>
          </a:prstGeom>
        </p:spPr>
      </p:pic>
      <p:pic>
        <p:nvPicPr>
          <p:cNvPr id="11" name="Picture 10" descr="f6703d768b6f6b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665" y="4048203"/>
            <a:ext cx="2097024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115°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45°, 60° and 75°.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exterior angle beside the 75°?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75°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105°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285°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45°, 60° and 75°.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exterior angle beside the 75°?</a:t>
            </a:r>
          </a:p>
        </p:txBody>
      </p:sp>
      <p:pic>
        <p:nvPicPr>
          <p:cNvPr id="10" name="Picture 9" descr="b2800e49e8c99d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064" y="3165505"/>
            <a:ext cx="204520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84200" y="3588224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2" name="Picture 11" descr="89eaa96462cb01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141" y="3709097"/>
            <a:ext cx="2182177" cy="2513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105°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of a triangle is 130°. One remote interior angle is 55°.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other remote interior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of a triangle is 130°. One remote interior angle is 55°.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other remote interior angle.</a:t>
            </a:r>
          </a:p>
        </p:txBody>
      </p:sp>
      <p:pic>
        <p:nvPicPr>
          <p:cNvPr id="10" name="Picture 9" descr="8ce054ff8a0825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39" y="3597923"/>
            <a:ext cx="1801368" cy="252984"/>
          </a:xfrm>
          <a:prstGeom prst="rect">
            <a:avLst/>
          </a:prstGeom>
        </p:spPr>
      </p:pic>
      <p:pic>
        <p:nvPicPr>
          <p:cNvPr id="11" name="Picture 10" descr="10fb68966b6f5d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39" y="4137419"/>
            <a:ext cx="886968" cy="2499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75°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9" name="Picture 8" descr="3e2f38cf5d6a5b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46" y="1969198"/>
            <a:ext cx="307086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8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9a77d2ef13e07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039" y="1971675"/>
            <a:ext cx="470534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9574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bcd545b5207fdb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080" y="1969198"/>
            <a:ext cx="1327404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34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each angle.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9" name="Picture 8" descr="3e2f38cf5d6a5b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46" y="1969198"/>
            <a:ext cx="307086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8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d05019691e271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039" y="1971675"/>
            <a:ext cx="473011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22050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9017c2bef06e0a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557" y="1966722"/>
            <a:ext cx="1329880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8437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each angle.</a:t>
            </a:r>
          </a:p>
        </p:txBody>
      </p:sp>
      <p:pic>
        <p:nvPicPr>
          <p:cNvPr id="16" name="Picture 15" descr="d81f3f45ef9c4b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5922" y="3242102"/>
            <a:ext cx="3236976" cy="2529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92898" y="3122278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8" name="Picture 17" descr="84cb4c1234df50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6644" y="3239054"/>
            <a:ext cx="1258824" cy="2529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35467" y="3122278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b240ecaec035e4d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9213" y="3242102"/>
            <a:ext cx="896112" cy="249935"/>
          </a:xfrm>
          <a:prstGeom prst="rect">
            <a:avLst/>
          </a:prstGeom>
        </p:spPr>
      </p:pic>
      <p:pic>
        <p:nvPicPr>
          <p:cNvPr id="21" name="Picture 20" descr="c48d1166260cd6e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5922" y="3778550"/>
            <a:ext cx="1563624" cy="31699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19546" y="3661774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3" name="Picture 22" descr="65e6d91ac736a0f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3292" y="3775502"/>
            <a:ext cx="2234184" cy="320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28°, 84° and 68°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838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measures </a:t>
            </a:r>
          </a:p>
        </p:txBody>
      </p:sp>
      <p:pic>
        <p:nvPicPr>
          <p:cNvPr id="9" name="Picture 8" descr="6fc36d4d507b14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169" y="1969198"/>
            <a:ext cx="1198626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979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54709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remote interior angles measure </a:t>
            </a:r>
          </a:p>
        </p:txBody>
      </p:sp>
      <p:pic>
        <p:nvPicPr>
          <p:cNvPr id="12" name="Picture 11" descr="2199f872223f1d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76" y="2581846"/>
            <a:ext cx="473011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1287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914b62989f40b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794" y="2581846"/>
            <a:ext cx="690943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48737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8" name="Picture 17" descr="82554d18127d50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24842"/>
            <a:ext cx="2819400" cy="2773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20" name="Picture 19" descr="8d07209786ff86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7890"/>
            <a:ext cx="1810512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91640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22" name="Picture 21" descr="0ba96a21739ff63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568" y="4437490"/>
            <a:ext cx="2612136" cy="2773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37959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4" name="Picture 23" descr="b32043de87a5dee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4888" y="4437490"/>
            <a:ext cx="3621024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51202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838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measures </a:t>
            </a:r>
          </a:p>
        </p:txBody>
      </p:sp>
      <p:pic>
        <p:nvPicPr>
          <p:cNvPr id="9" name="Picture 8" descr="d7eb0f2d681788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169" y="1966722"/>
            <a:ext cx="1203579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474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54709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remote interior angles measure </a:t>
            </a:r>
          </a:p>
        </p:txBody>
      </p:sp>
      <p:pic>
        <p:nvPicPr>
          <p:cNvPr id="12" name="Picture 11" descr="2199f872223f1d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76" y="2581846"/>
            <a:ext cx="473011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1287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e968d0415b3e8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794" y="2579370"/>
            <a:ext cx="695896" cy="28727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5369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1952" y="3734926"/>
            <a:ext cx="79147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outside = the two far ones:  5x + 4 = 52 + 3x</a:t>
            </a:r>
          </a:p>
        </p:txBody>
      </p:sp>
      <p:pic>
        <p:nvPicPr>
          <p:cNvPr id="18" name="Picture 17" descr="855664d81a55cc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6816" y="4394246"/>
            <a:ext cx="1100328" cy="2499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47144" y="4274422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304dcdfd3873643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0890" y="4391198"/>
            <a:ext cx="914400" cy="2499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5x + 4 = 52 + 3x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angles of 41° and 66°, and its longest side is 9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angles of 41° and 66°, and its longest side is 9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third angle.</a:t>
            </a:r>
          </a:p>
        </p:txBody>
      </p:sp>
      <p:pic>
        <p:nvPicPr>
          <p:cNvPr id="10" name="Picture 9" descr="f9b56ca1453b15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1" y="3165505"/>
            <a:ext cx="2005584" cy="256032"/>
          </a:xfrm>
          <a:prstGeom prst="rect">
            <a:avLst/>
          </a:prstGeom>
        </p:spPr>
      </p:pic>
      <p:pic>
        <p:nvPicPr>
          <p:cNvPr id="11" name="Picture 10" descr="d164afe1fd8f71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6631" y="3708049"/>
            <a:ext cx="2157984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73°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is an exterior angle always bigger than either remote interior 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is an exterior angle always bigger than either remote interior 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4873" y="2939000"/>
            <a:ext cx="22738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for example:  </a:t>
            </a:r>
          </a:p>
        </p:txBody>
      </p:sp>
      <p:pic>
        <p:nvPicPr>
          <p:cNvPr id="10" name="Picture 9" descr="1cf37538407c0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584" y="3074255"/>
            <a:ext cx="1726882" cy="2146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48467" y="2939000"/>
            <a:ext cx="5267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more than 40 and more than 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It is the two remote angles added, each more than 0°.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817310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angles of a triangle are 63° and 79°. Find the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960650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isosceles triangle's two base angles are equal. The angle between its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31310"/>
            <a:ext cx="602371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equal sides is 40°. Find each base angle.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62457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457"/>
            <a:ext cx="993057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triangle's remote interior angles are 46° and 58°. Find the exterior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93604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93604"/>
            <a:ext cx="9517483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exterior angle of a triangle is 140°. One remote interior angle is 62°.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96735"/>
            <a:ext cx="207169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Find the other.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7882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7882"/>
            <a:ext cx="317948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20" name="Picture 19" descr="29df01d514fa3f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804" y="4507196"/>
            <a:ext cx="637297" cy="25881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234101" y="4427882"/>
            <a:ext cx="35718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04becd1bdf09d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126" y="4507196"/>
            <a:ext cx="631731" cy="25881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85857" y="4427882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01c992824f9bab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9445" y="4507196"/>
            <a:ext cx="656777" cy="258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66222" y="4427882"/>
            <a:ext cx="248179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each angle.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959029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959029"/>
            <a:ext cx="553524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exterior angle of a triangle measures </a:t>
            </a:r>
          </a:p>
        </p:txBody>
      </p:sp>
      <p:pic>
        <p:nvPicPr>
          <p:cNvPr id="28" name="Picture 27" descr="9da31d5850a0f00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2560" y="5038343"/>
            <a:ext cx="1249547" cy="25881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02107" y="4959029"/>
            <a:ext cx="277458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; its remote interior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62160"/>
            <a:ext cx="234101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angles measure </a:t>
            </a:r>
          </a:p>
        </p:txBody>
      </p:sp>
      <p:pic>
        <p:nvPicPr>
          <p:cNvPr id="31" name="Picture 30" descr="985ed041d11c307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8332" y="5467913"/>
            <a:ext cx="445273" cy="20593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03605" y="5362160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3" name="Picture 32" descr="29df01d514fa3f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93" y="5441475"/>
            <a:ext cx="637297" cy="25881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564490" y="5362160"/>
            <a:ext cx="414554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Write an equation and find x.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missing angles in triangles — JFJ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Exterior Angle Theorem — FMP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Triangle Angle-Sum Theorem — 6Q6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