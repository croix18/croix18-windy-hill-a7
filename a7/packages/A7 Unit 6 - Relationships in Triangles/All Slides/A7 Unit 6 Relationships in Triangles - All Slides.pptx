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8.xml"/><Relationship Id="rId4" Type="http://schemas.openxmlformats.org/officeDocument/2006/relationships/slide" Target="slide73.xml"/><Relationship Id="rId5" Type="http://schemas.openxmlformats.org/officeDocument/2006/relationships/slide" Target="slide108.xml"/><Relationship Id="rId6" Type="http://schemas.openxmlformats.org/officeDocument/2006/relationships/slide" Target="slide143.xml"/><Relationship Id="rId7" Type="http://schemas.openxmlformats.org/officeDocument/2006/relationships/slide" Target="slide178.xml"/><Relationship Id="rId8" Type="http://schemas.openxmlformats.org/officeDocument/2006/relationships/slide" Target="slide213.xml"/><Relationship Id="rId9" Type="http://schemas.openxmlformats.org/officeDocument/2006/relationships/slide" Target="slide24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Relationship Id="rId4" Type="http://schemas.openxmlformats.org/officeDocument/2006/relationships/image" Target="../media/image5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Relationship Id="rId3" Type="http://schemas.openxmlformats.org/officeDocument/2006/relationships/image" Target="../media/image112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image" Target="../media/image116.png"/><Relationship Id="rId4" Type="http://schemas.openxmlformats.org/officeDocument/2006/relationships/image" Target="../media/image11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png"/><Relationship Id="rId3" Type="http://schemas.openxmlformats.org/officeDocument/2006/relationships/image" Target="../media/image127.png"/><Relationship Id="rId4" Type="http://schemas.openxmlformats.org/officeDocument/2006/relationships/image" Target="../media/image128.png"/><Relationship Id="rId5" Type="http://schemas.openxmlformats.org/officeDocument/2006/relationships/image" Target="../media/image129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Relationship Id="rId4" Type="http://schemas.openxmlformats.org/officeDocument/2006/relationships/image" Target="../media/image132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36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3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Relationship Id="rId3" Type="http://schemas.openxmlformats.org/officeDocument/2006/relationships/image" Target="../media/image138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43.png"/><Relationship Id="rId4" Type="http://schemas.openxmlformats.org/officeDocument/2006/relationships/image" Target="../media/image144.png"/><Relationship Id="rId5" Type="http://schemas.openxmlformats.org/officeDocument/2006/relationships/image" Target="../media/image145.png"/><Relationship Id="rId6" Type="http://schemas.openxmlformats.org/officeDocument/2006/relationships/image" Target="../media/image146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png"/><Relationship Id="rId3" Type="http://schemas.openxmlformats.org/officeDocument/2006/relationships/image" Target="../media/image148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png"/><Relationship Id="rId3" Type="http://schemas.openxmlformats.org/officeDocument/2006/relationships/image" Target="../media/image150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png"/><Relationship Id="rId3" Type="http://schemas.openxmlformats.org/officeDocument/2006/relationships/image" Target="../media/image152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png"/><Relationship Id="rId3" Type="http://schemas.openxmlformats.org/officeDocument/2006/relationships/image" Target="../media/image154.png"/><Relationship Id="rId4" Type="http://schemas.openxmlformats.org/officeDocument/2006/relationships/image" Target="../media/image155.png"/><Relationship Id="rId5" Type="http://schemas.openxmlformats.org/officeDocument/2006/relationships/image" Target="../media/image156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png"/><Relationship Id="rId3" Type="http://schemas.openxmlformats.org/officeDocument/2006/relationships/image" Target="../media/image158.png"/><Relationship Id="rId4" Type="http://schemas.openxmlformats.org/officeDocument/2006/relationships/image" Target="../media/image159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png"/><Relationship Id="rId3" Type="http://schemas.openxmlformats.org/officeDocument/2006/relationships/image" Target="../media/image161.png"/><Relationship Id="rId4" Type="http://schemas.openxmlformats.org/officeDocument/2006/relationships/image" Target="../media/image53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png"/><Relationship Id="rId3" Type="http://schemas.openxmlformats.org/officeDocument/2006/relationships/image" Target="../media/image16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png"/><Relationship Id="rId3" Type="http://schemas.openxmlformats.org/officeDocument/2006/relationships/image" Target="../media/image165.png"/><Relationship Id="rId4" Type="http://schemas.openxmlformats.org/officeDocument/2006/relationships/image" Target="../media/image166.png"/><Relationship Id="rId5" Type="http://schemas.openxmlformats.org/officeDocument/2006/relationships/image" Target="../media/image167.png"/><Relationship Id="rId6" Type="http://schemas.openxmlformats.org/officeDocument/2006/relationships/image" Target="../media/image168.png"/><Relationship Id="rId7" Type="http://schemas.openxmlformats.org/officeDocument/2006/relationships/image" Target="../media/image169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7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png"/><Relationship Id="rId3" Type="http://schemas.openxmlformats.org/officeDocument/2006/relationships/image" Target="../media/image173.png"/><Relationship Id="rId4" Type="http://schemas.openxmlformats.org/officeDocument/2006/relationships/image" Target="../media/image174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76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png"/><Relationship Id="rId3" Type="http://schemas.openxmlformats.org/officeDocument/2006/relationships/image" Target="../media/image178.png"/><Relationship Id="rId4" Type="http://schemas.openxmlformats.org/officeDocument/2006/relationships/image" Target="../media/image179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png"/><Relationship Id="rId3" Type="http://schemas.openxmlformats.org/officeDocument/2006/relationships/image" Target="../media/image18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2.png"/><Relationship Id="rId3" Type="http://schemas.openxmlformats.org/officeDocument/2006/relationships/image" Target="../media/image183.png"/><Relationship Id="rId4" Type="http://schemas.openxmlformats.org/officeDocument/2006/relationships/image" Target="../media/image184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86.png"/><Relationship Id="rId4" Type="http://schemas.openxmlformats.org/officeDocument/2006/relationships/image" Target="../media/image187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89.png"/><Relationship Id="rId4" Type="http://schemas.openxmlformats.org/officeDocument/2006/relationships/image" Target="../media/image187.png"/><Relationship Id="rId5" Type="http://schemas.openxmlformats.org/officeDocument/2006/relationships/image" Target="../media/image73.png"/><Relationship Id="rId6" Type="http://schemas.openxmlformats.org/officeDocument/2006/relationships/image" Target="../media/image190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png"/><Relationship Id="rId3" Type="http://schemas.openxmlformats.org/officeDocument/2006/relationships/image" Target="../media/image192.png"/><Relationship Id="rId4" Type="http://schemas.openxmlformats.org/officeDocument/2006/relationships/image" Target="../media/image193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4.png"/><Relationship Id="rId3" Type="http://schemas.openxmlformats.org/officeDocument/2006/relationships/image" Target="../media/image195.png"/><Relationship Id="rId4" Type="http://schemas.openxmlformats.org/officeDocument/2006/relationships/image" Target="../media/image193.png"/><Relationship Id="rId5" Type="http://schemas.openxmlformats.org/officeDocument/2006/relationships/image" Target="../media/image196.png"/><Relationship Id="rId6" Type="http://schemas.openxmlformats.org/officeDocument/2006/relationships/image" Target="../media/image197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99.png"/><Relationship Id="rId4" Type="http://schemas.openxmlformats.org/officeDocument/2006/relationships/image" Target="../media/image200.png"/><Relationship Id="rId5" Type="http://schemas.openxmlformats.org/officeDocument/2006/relationships/image" Target="../media/image201.png"/><Relationship Id="rId6" Type="http://schemas.openxmlformats.org/officeDocument/2006/relationships/image" Target="../media/image202.png"/><Relationship Id="rId7" Type="http://schemas.openxmlformats.org/officeDocument/2006/relationships/image" Target="../media/image203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png"/><Relationship Id="rId3" Type="http://schemas.openxmlformats.org/officeDocument/2006/relationships/image" Target="../media/image205.png"/><Relationship Id="rId4" Type="http://schemas.openxmlformats.org/officeDocument/2006/relationships/image" Target="../media/image206.png"/><Relationship Id="rId5" Type="http://schemas.openxmlformats.org/officeDocument/2006/relationships/image" Target="../media/image207.png"/><Relationship Id="rId6" Type="http://schemas.openxmlformats.org/officeDocument/2006/relationships/image" Target="../media/image208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Relationship Id="rId5" Type="http://schemas.openxmlformats.org/officeDocument/2006/relationships/image" Target="../media/image213.png"/><Relationship Id="rId6" Type="http://schemas.openxmlformats.org/officeDocument/2006/relationships/image" Target="../media/image214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5.png"/><Relationship Id="rId3" Type="http://schemas.openxmlformats.org/officeDocument/2006/relationships/image" Target="../media/image216.png"/><Relationship Id="rId4" Type="http://schemas.openxmlformats.org/officeDocument/2006/relationships/image" Target="../media/image217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219.png"/><Relationship Id="rId4" Type="http://schemas.openxmlformats.org/officeDocument/2006/relationships/image" Target="../media/image220.png"/><Relationship Id="rId5" Type="http://schemas.openxmlformats.org/officeDocument/2006/relationships/image" Target="../media/image2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223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8.png"/><Relationship Id="rId3" Type="http://schemas.openxmlformats.org/officeDocument/2006/relationships/image" Target="../media/image229.png"/><Relationship Id="rId4" Type="http://schemas.openxmlformats.org/officeDocument/2006/relationships/image" Target="../media/image230.png"/><Relationship Id="rId5" Type="http://schemas.openxmlformats.org/officeDocument/2006/relationships/image" Target="../media/image231.png"/><Relationship Id="rId6" Type="http://schemas.openxmlformats.org/officeDocument/2006/relationships/image" Target="../media/image232.png"/><Relationship Id="rId7" Type="http://schemas.openxmlformats.org/officeDocument/2006/relationships/image" Target="../media/image233.png"/><Relationship Id="rId8" Type="http://schemas.openxmlformats.org/officeDocument/2006/relationships/image" Target="../media/image234.png"/><Relationship Id="rId9" Type="http://schemas.openxmlformats.org/officeDocument/2006/relationships/image" Target="../media/image235.png"/><Relationship Id="rId10" Type="http://schemas.openxmlformats.org/officeDocument/2006/relationships/image" Target="../media/image236.png"/><Relationship Id="rId11" Type="http://schemas.openxmlformats.org/officeDocument/2006/relationships/image" Target="../media/image237.png"/><Relationship Id="rId12" Type="http://schemas.openxmlformats.org/officeDocument/2006/relationships/image" Target="../media/image238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png"/><Relationship Id="rId3" Type="http://schemas.openxmlformats.org/officeDocument/2006/relationships/image" Target="../media/image198.png"/><Relationship Id="rId4" Type="http://schemas.openxmlformats.org/officeDocument/2006/relationships/image" Target="../media/image215.png"/><Relationship Id="rId5" Type="http://schemas.openxmlformats.org/officeDocument/2006/relationships/image" Target="../media/image216.png"/><Relationship Id="rId6" Type="http://schemas.openxmlformats.org/officeDocument/2006/relationships/image" Target="../media/image240.png"/><Relationship Id="rId7" Type="http://schemas.openxmlformats.org/officeDocument/2006/relationships/image" Target="../media/image199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png"/><Relationship Id="rId3" Type="http://schemas.openxmlformats.org/officeDocument/2006/relationships/image" Target="../media/image198.png"/><Relationship Id="rId4" Type="http://schemas.openxmlformats.org/officeDocument/2006/relationships/image" Target="../media/image215.png"/><Relationship Id="rId5" Type="http://schemas.openxmlformats.org/officeDocument/2006/relationships/image" Target="../media/image216.png"/><Relationship Id="rId6" Type="http://schemas.openxmlformats.org/officeDocument/2006/relationships/image" Target="../media/image240.png"/><Relationship Id="rId7" Type="http://schemas.openxmlformats.org/officeDocument/2006/relationships/image" Target="../media/image199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1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242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png"/><Relationship Id="rId3" Type="http://schemas.openxmlformats.org/officeDocument/2006/relationships/image" Target="../media/image244.png"/><Relationship Id="rId4" Type="http://schemas.openxmlformats.org/officeDocument/2006/relationships/image" Target="../media/image161.png"/><Relationship Id="rId5" Type="http://schemas.openxmlformats.org/officeDocument/2006/relationships/image" Target="../media/image245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6.png"/><Relationship Id="rId3" Type="http://schemas.openxmlformats.org/officeDocument/2006/relationships/image" Target="../media/image247.png"/><Relationship Id="rId4" Type="http://schemas.openxmlformats.org/officeDocument/2006/relationships/image" Target="../media/image248.png"/><Relationship Id="rId5" Type="http://schemas.openxmlformats.org/officeDocument/2006/relationships/image" Target="../media/image24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251.png"/><Relationship Id="rId4" Type="http://schemas.openxmlformats.org/officeDocument/2006/relationships/image" Target="../media/image252.png"/><Relationship Id="rId5" Type="http://schemas.openxmlformats.org/officeDocument/2006/relationships/image" Target="../media/image253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4.png"/><Relationship Id="rId3" Type="http://schemas.openxmlformats.org/officeDocument/2006/relationships/image" Target="../media/image255.png"/><Relationship Id="rId4" Type="http://schemas.openxmlformats.org/officeDocument/2006/relationships/image" Target="../media/image256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7.png"/><Relationship Id="rId3" Type="http://schemas.openxmlformats.org/officeDocument/2006/relationships/image" Target="../media/image258.png"/><Relationship Id="rId4" Type="http://schemas.openxmlformats.org/officeDocument/2006/relationships/image" Target="../media/image198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260.png"/><Relationship Id="rId4" Type="http://schemas.openxmlformats.org/officeDocument/2006/relationships/image" Target="../media/image204.png"/><Relationship Id="rId5" Type="http://schemas.openxmlformats.org/officeDocument/2006/relationships/image" Target="../media/image261.png"/><Relationship Id="rId6" Type="http://schemas.openxmlformats.org/officeDocument/2006/relationships/image" Target="../media/image262.png"/><Relationship Id="rId7" Type="http://schemas.openxmlformats.org/officeDocument/2006/relationships/image" Target="../media/image73.png"/><Relationship Id="rId8" Type="http://schemas.openxmlformats.org/officeDocument/2006/relationships/image" Target="../media/image190.png"/><Relationship Id="rId9" Type="http://schemas.openxmlformats.org/officeDocument/2006/relationships/image" Target="../media/image263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4.png"/><Relationship Id="rId3" Type="http://schemas.openxmlformats.org/officeDocument/2006/relationships/image" Target="../media/image265.png"/><Relationship Id="rId4" Type="http://schemas.openxmlformats.org/officeDocument/2006/relationships/image" Target="../media/image266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7.png"/><Relationship Id="rId3" Type="http://schemas.openxmlformats.org/officeDocument/2006/relationships/image" Target="../media/image268.png"/><Relationship Id="rId4" Type="http://schemas.openxmlformats.org/officeDocument/2006/relationships/image" Target="../media/image269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0.png"/><Relationship Id="rId3" Type="http://schemas.openxmlformats.org/officeDocument/2006/relationships/image" Target="../media/image27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2.png"/><Relationship Id="rId3" Type="http://schemas.openxmlformats.org/officeDocument/2006/relationships/image" Target="../media/image273.png"/><Relationship Id="rId4" Type="http://schemas.openxmlformats.org/officeDocument/2006/relationships/image" Target="../media/image274.png"/><Relationship Id="rId5" Type="http://schemas.openxmlformats.org/officeDocument/2006/relationships/image" Target="../media/image275.png"/><Relationship Id="rId6" Type="http://schemas.openxmlformats.org/officeDocument/2006/relationships/image" Target="../media/image156.png"/><Relationship Id="rId7" Type="http://schemas.openxmlformats.org/officeDocument/2006/relationships/image" Target="../media/image276.png"/><Relationship Id="rId8" Type="http://schemas.openxmlformats.org/officeDocument/2006/relationships/image" Target="../media/image277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279.png"/><Relationship Id="rId4" Type="http://schemas.openxmlformats.org/officeDocument/2006/relationships/image" Target="../media/image280.png"/><Relationship Id="rId5" Type="http://schemas.openxmlformats.org/officeDocument/2006/relationships/image" Target="../media/image28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2.png"/><Relationship Id="rId3" Type="http://schemas.openxmlformats.org/officeDocument/2006/relationships/image" Target="../media/image283.png"/><Relationship Id="rId4" Type="http://schemas.openxmlformats.org/officeDocument/2006/relationships/image" Target="../media/image284.png"/><Relationship Id="rId5" Type="http://schemas.openxmlformats.org/officeDocument/2006/relationships/image" Target="../media/image281.png"/><Relationship Id="rId6" Type="http://schemas.openxmlformats.org/officeDocument/2006/relationships/image" Target="../media/image285.png"/><Relationship Id="rId7" Type="http://schemas.openxmlformats.org/officeDocument/2006/relationships/image" Target="../media/image286.png"/><Relationship Id="rId8" Type="http://schemas.openxmlformats.org/officeDocument/2006/relationships/image" Target="../media/image287.png"/><Relationship Id="rId9" Type="http://schemas.openxmlformats.org/officeDocument/2006/relationships/image" Target="../media/image288.png"/><Relationship Id="rId10" Type="http://schemas.openxmlformats.org/officeDocument/2006/relationships/image" Target="../media/image289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0.png"/><Relationship Id="rId3" Type="http://schemas.openxmlformats.org/officeDocument/2006/relationships/image" Target="../media/image291.png"/><Relationship Id="rId4" Type="http://schemas.openxmlformats.org/officeDocument/2006/relationships/image" Target="../media/image292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3.png"/><Relationship Id="rId3" Type="http://schemas.openxmlformats.org/officeDocument/2006/relationships/image" Target="../media/image294.png"/><Relationship Id="rId4" Type="http://schemas.openxmlformats.org/officeDocument/2006/relationships/image" Target="../media/image295.png"/><Relationship Id="rId5" Type="http://schemas.openxmlformats.org/officeDocument/2006/relationships/image" Target="../media/image296.png"/><Relationship Id="rId6" Type="http://schemas.openxmlformats.org/officeDocument/2006/relationships/image" Target="../media/image297.png"/><Relationship Id="rId7" Type="http://schemas.openxmlformats.org/officeDocument/2006/relationships/image" Target="../media/image298.png"/><Relationship Id="rId8" Type="http://schemas.openxmlformats.org/officeDocument/2006/relationships/image" Target="../media/image299.png"/><Relationship Id="rId9" Type="http://schemas.openxmlformats.org/officeDocument/2006/relationships/image" Target="../media/image30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1.png"/><Relationship Id="rId3" Type="http://schemas.openxmlformats.org/officeDocument/2006/relationships/image" Target="../media/image302.png"/><Relationship Id="rId4" Type="http://schemas.openxmlformats.org/officeDocument/2006/relationships/image" Target="../media/image303.png"/><Relationship Id="rId5" Type="http://schemas.openxmlformats.org/officeDocument/2006/relationships/image" Target="../media/image304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5.png"/><Relationship Id="rId3" Type="http://schemas.openxmlformats.org/officeDocument/2006/relationships/image" Target="../media/image306.png"/><Relationship Id="rId4" Type="http://schemas.openxmlformats.org/officeDocument/2006/relationships/image" Target="../media/image307.png"/><Relationship Id="rId5" Type="http://schemas.openxmlformats.org/officeDocument/2006/relationships/image" Target="../media/image308.png"/><Relationship Id="rId6" Type="http://schemas.openxmlformats.org/officeDocument/2006/relationships/image" Target="../media/image309.png"/><Relationship Id="rId7" Type="http://schemas.openxmlformats.org/officeDocument/2006/relationships/image" Target="../media/image310.png"/><Relationship Id="rId8" Type="http://schemas.openxmlformats.org/officeDocument/2006/relationships/image" Target="../media/image311.png"/><Relationship Id="rId9" Type="http://schemas.openxmlformats.org/officeDocument/2006/relationships/image" Target="../media/image312.png"/><Relationship Id="rId10" Type="http://schemas.openxmlformats.org/officeDocument/2006/relationships/image" Target="../media/image313.png"/><Relationship Id="rId11" Type="http://schemas.openxmlformats.org/officeDocument/2006/relationships/image" Target="../media/image314.png"/><Relationship Id="rId12" Type="http://schemas.openxmlformats.org/officeDocument/2006/relationships/image" Target="../media/image315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6.png"/><Relationship Id="rId3" Type="http://schemas.openxmlformats.org/officeDocument/2006/relationships/image" Target="../media/image317.png"/><Relationship Id="rId4" Type="http://schemas.openxmlformats.org/officeDocument/2006/relationships/image" Target="../media/image318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9.png"/><Relationship Id="rId3" Type="http://schemas.openxmlformats.org/officeDocument/2006/relationships/image" Target="../media/image320.png"/><Relationship Id="rId4" Type="http://schemas.openxmlformats.org/officeDocument/2006/relationships/image" Target="../media/image321.png"/><Relationship Id="rId5" Type="http://schemas.openxmlformats.org/officeDocument/2006/relationships/image" Target="../media/image322.png"/><Relationship Id="rId6" Type="http://schemas.openxmlformats.org/officeDocument/2006/relationships/image" Target="../media/image323.png"/><Relationship Id="rId7" Type="http://schemas.openxmlformats.org/officeDocument/2006/relationships/image" Target="../media/image324.png"/><Relationship Id="rId8" Type="http://schemas.openxmlformats.org/officeDocument/2006/relationships/image" Target="../media/image325.png"/><Relationship Id="rId9" Type="http://schemas.openxmlformats.org/officeDocument/2006/relationships/image" Target="../media/image326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7.png"/><Relationship Id="rId3" Type="http://schemas.openxmlformats.org/officeDocument/2006/relationships/image" Target="../media/image328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9.png"/><Relationship Id="rId3" Type="http://schemas.openxmlformats.org/officeDocument/2006/relationships/image" Target="../media/image330.png"/><Relationship Id="rId4" Type="http://schemas.openxmlformats.org/officeDocument/2006/relationships/image" Target="../media/image331.png"/><Relationship Id="rId5" Type="http://schemas.openxmlformats.org/officeDocument/2006/relationships/image" Target="../media/image332.png"/><Relationship Id="rId6" Type="http://schemas.openxmlformats.org/officeDocument/2006/relationships/image" Target="../media/image312.png"/><Relationship Id="rId7" Type="http://schemas.openxmlformats.org/officeDocument/2006/relationships/image" Target="../media/image333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0.png"/><Relationship Id="rId3" Type="http://schemas.openxmlformats.org/officeDocument/2006/relationships/image" Target="../media/image334.png"/><Relationship Id="rId4" Type="http://schemas.openxmlformats.org/officeDocument/2006/relationships/image" Target="../media/image335.png"/><Relationship Id="rId5" Type="http://schemas.openxmlformats.org/officeDocument/2006/relationships/image" Target="../media/image336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3.png"/><Relationship Id="rId3" Type="http://schemas.openxmlformats.org/officeDocument/2006/relationships/image" Target="../media/image337.png"/><Relationship Id="rId4" Type="http://schemas.openxmlformats.org/officeDocument/2006/relationships/image" Target="../media/image338.png"/><Relationship Id="rId5" Type="http://schemas.openxmlformats.org/officeDocument/2006/relationships/image" Target="../media/image339.png"/><Relationship Id="rId6" Type="http://schemas.openxmlformats.org/officeDocument/2006/relationships/image" Target="../media/image340.png"/><Relationship Id="rId7" Type="http://schemas.openxmlformats.org/officeDocument/2006/relationships/image" Target="../media/image341.png"/><Relationship Id="rId8" Type="http://schemas.openxmlformats.org/officeDocument/2006/relationships/image" Target="../media/image342.png"/><Relationship Id="rId9" Type="http://schemas.openxmlformats.org/officeDocument/2006/relationships/image" Target="../media/image343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4.png"/><Relationship Id="rId3" Type="http://schemas.openxmlformats.org/officeDocument/2006/relationships/image" Target="../media/image345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6.png"/><Relationship Id="rId3" Type="http://schemas.openxmlformats.org/officeDocument/2006/relationships/image" Target="../media/image347.png"/><Relationship Id="rId4" Type="http://schemas.openxmlformats.org/officeDocument/2006/relationships/image" Target="../media/image261.png"/><Relationship Id="rId5" Type="http://schemas.openxmlformats.org/officeDocument/2006/relationships/image" Target="../media/image143.png"/><Relationship Id="rId6" Type="http://schemas.openxmlformats.org/officeDocument/2006/relationships/image" Target="../media/image348.png"/><Relationship Id="rId7" Type="http://schemas.openxmlformats.org/officeDocument/2006/relationships/image" Target="../media/image349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0.png"/><Relationship Id="rId3" Type="http://schemas.openxmlformats.org/officeDocument/2006/relationships/image" Target="../media/image351.png"/><Relationship Id="rId4" Type="http://schemas.openxmlformats.org/officeDocument/2006/relationships/image" Target="../media/image352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3.png"/><Relationship Id="rId3" Type="http://schemas.openxmlformats.org/officeDocument/2006/relationships/image" Target="../media/image354.png"/><Relationship Id="rId4" Type="http://schemas.openxmlformats.org/officeDocument/2006/relationships/image" Target="../media/image355.png"/><Relationship Id="rId5" Type="http://schemas.openxmlformats.org/officeDocument/2006/relationships/image" Target="../media/image143.png"/><Relationship Id="rId6" Type="http://schemas.openxmlformats.org/officeDocument/2006/relationships/image" Target="../media/image310.png"/><Relationship Id="rId7" Type="http://schemas.openxmlformats.org/officeDocument/2006/relationships/image" Target="../media/image213.png"/><Relationship Id="rId8" Type="http://schemas.openxmlformats.org/officeDocument/2006/relationships/image" Target="../media/image35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7.png"/><Relationship Id="rId3" Type="http://schemas.openxmlformats.org/officeDocument/2006/relationships/image" Target="../media/image18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8.png"/><Relationship Id="rId3" Type="http://schemas.openxmlformats.org/officeDocument/2006/relationships/image" Target="../media/image183.png"/><Relationship Id="rId4" Type="http://schemas.openxmlformats.org/officeDocument/2006/relationships/image" Target="../media/image274.png"/><Relationship Id="rId5" Type="http://schemas.openxmlformats.org/officeDocument/2006/relationships/image" Target="../media/image359.png"/><Relationship Id="rId6" Type="http://schemas.openxmlformats.org/officeDocument/2006/relationships/image" Target="../media/image360.png"/><Relationship Id="rId7" Type="http://schemas.openxmlformats.org/officeDocument/2006/relationships/image" Target="../media/image36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2.png"/><Relationship Id="rId3" Type="http://schemas.openxmlformats.org/officeDocument/2006/relationships/image" Target="../media/image363.png"/><Relationship Id="rId4" Type="http://schemas.openxmlformats.org/officeDocument/2006/relationships/image" Target="../media/image364.png"/><Relationship Id="rId5" Type="http://schemas.openxmlformats.org/officeDocument/2006/relationships/image" Target="../media/image365.png"/><Relationship Id="rId6" Type="http://schemas.openxmlformats.org/officeDocument/2006/relationships/image" Target="../media/image366.png"/><Relationship Id="rId7" Type="http://schemas.openxmlformats.org/officeDocument/2006/relationships/image" Target="../media/image367.png"/><Relationship Id="rId8" Type="http://schemas.openxmlformats.org/officeDocument/2006/relationships/image" Target="../media/image368.png"/><Relationship Id="rId9" Type="http://schemas.openxmlformats.org/officeDocument/2006/relationships/image" Target="../media/image369.png"/><Relationship Id="rId10" Type="http://schemas.openxmlformats.org/officeDocument/2006/relationships/image" Target="../media/image370.png"/><Relationship Id="rId11" Type="http://schemas.openxmlformats.org/officeDocument/2006/relationships/image" Target="../media/image371.png"/><Relationship Id="rId12" Type="http://schemas.openxmlformats.org/officeDocument/2006/relationships/image" Target="../media/image372.png"/><Relationship Id="rId13" Type="http://schemas.openxmlformats.org/officeDocument/2006/relationships/image" Target="../media/image373.png"/><Relationship Id="rId14" Type="http://schemas.openxmlformats.org/officeDocument/2006/relationships/image" Target="../media/image374.png"/><Relationship Id="rId15" Type="http://schemas.openxmlformats.org/officeDocument/2006/relationships/image" Target="../media/image375.png"/><Relationship Id="rId16" Type="http://schemas.openxmlformats.org/officeDocument/2006/relationships/image" Target="../media/image376.png"/><Relationship Id="rId17" Type="http://schemas.openxmlformats.org/officeDocument/2006/relationships/image" Target="../media/image377.png"/><Relationship Id="rId18" Type="http://schemas.openxmlformats.org/officeDocument/2006/relationships/image" Target="../media/image378.png"/><Relationship Id="rId19" Type="http://schemas.openxmlformats.org/officeDocument/2006/relationships/image" Target="../media/image379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7.png"/><Relationship Id="rId3" Type="http://schemas.openxmlformats.org/officeDocument/2006/relationships/image" Target="../media/image380.png"/><Relationship Id="rId4" Type="http://schemas.openxmlformats.org/officeDocument/2006/relationships/image" Target="../media/image176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7.png"/><Relationship Id="rId3" Type="http://schemas.openxmlformats.org/officeDocument/2006/relationships/image" Target="../media/image380.png"/><Relationship Id="rId4" Type="http://schemas.openxmlformats.org/officeDocument/2006/relationships/image" Target="../media/image176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1.png"/><Relationship Id="rId3" Type="http://schemas.openxmlformats.org/officeDocument/2006/relationships/image" Target="../media/image382.png"/><Relationship Id="rId4" Type="http://schemas.openxmlformats.org/officeDocument/2006/relationships/image" Target="../media/image383.png"/><Relationship Id="rId5" Type="http://schemas.openxmlformats.org/officeDocument/2006/relationships/image" Target="../media/image384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5.png"/><Relationship Id="rId3" Type="http://schemas.openxmlformats.org/officeDocument/2006/relationships/image" Target="../media/image386.png"/><Relationship Id="rId4" Type="http://schemas.openxmlformats.org/officeDocument/2006/relationships/image" Target="../media/image387.png"/><Relationship Id="rId5" Type="http://schemas.openxmlformats.org/officeDocument/2006/relationships/image" Target="../media/image388.png"/><Relationship Id="rId6" Type="http://schemas.openxmlformats.org/officeDocument/2006/relationships/image" Target="../media/image389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0.png"/><Relationship Id="rId3" Type="http://schemas.openxmlformats.org/officeDocument/2006/relationships/image" Target="../media/image391.png"/><Relationship Id="rId4" Type="http://schemas.openxmlformats.org/officeDocument/2006/relationships/image" Target="../media/image392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3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4.png"/><Relationship Id="rId3" Type="http://schemas.openxmlformats.org/officeDocument/2006/relationships/image" Target="../media/image395.png"/><Relationship Id="rId4" Type="http://schemas.openxmlformats.org/officeDocument/2006/relationships/image" Target="../media/image39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7.png"/><Relationship Id="rId3" Type="http://schemas.openxmlformats.org/officeDocument/2006/relationships/image" Target="../media/image398.png"/><Relationship Id="rId4" Type="http://schemas.openxmlformats.org/officeDocument/2006/relationships/image" Target="../media/image399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0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1.png"/><Relationship Id="rId3" Type="http://schemas.openxmlformats.org/officeDocument/2006/relationships/image" Target="../media/image402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3.png"/><Relationship Id="rId3" Type="http://schemas.openxmlformats.org/officeDocument/2006/relationships/image" Target="../media/image404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5.png"/><Relationship Id="rId3" Type="http://schemas.openxmlformats.org/officeDocument/2006/relationships/image" Target="../media/image406.png"/><Relationship Id="rId4" Type="http://schemas.openxmlformats.org/officeDocument/2006/relationships/image" Target="../media/image407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8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9.png"/><Relationship Id="rId3" Type="http://schemas.openxmlformats.org/officeDocument/2006/relationships/image" Target="../media/image410.png"/><Relationship Id="rId4" Type="http://schemas.openxmlformats.org/officeDocument/2006/relationships/image" Target="../media/image41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2.png"/><Relationship Id="rId3" Type="http://schemas.openxmlformats.org/officeDocument/2006/relationships/image" Target="../media/image413.png"/><Relationship Id="rId4" Type="http://schemas.openxmlformats.org/officeDocument/2006/relationships/image" Target="../media/image414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5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6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7.png"/><Relationship Id="rId3" Type="http://schemas.openxmlformats.org/officeDocument/2006/relationships/image" Target="../media/image418.png"/><Relationship Id="rId4" Type="http://schemas.openxmlformats.org/officeDocument/2006/relationships/image" Target="../media/image419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0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0.png"/><Relationship Id="rId3" Type="http://schemas.openxmlformats.org/officeDocument/2006/relationships/image" Target="../media/image421.png"/><Relationship Id="rId4" Type="http://schemas.openxmlformats.org/officeDocument/2006/relationships/image" Target="../media/image422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3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3.png"/><Relationship Id="rId3" Type="http://schemas.openxmlformats.org/officeDocument/2006/relationships/image" Target="../media/image424.png"/><Relationship Id="rId4" Type="http://schemas.openxmlformats.org/officeDocument/2006/relationships/image" Target="../media/image425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6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6.png"/><Relationship Id="rId3" Type="http://schemas.openxmlformats.org/officeDocument/2006/relationships/image" Target="../media/image427.png"/><Relationship Id="rId4" Type="http://schemas.openxmlformats.org/officeDocument/2006/relationships/image" Target="../media/image428.pn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9.png"/><Relationship Id="rId3" Type="http://schemas.openxmlformats.org/officeDocument/2006/relationships/image" Target="../media/image430.png"/><Relationship Id="rId4" Type="http://schemas.openxmlformats.org/officeDocument/2006/relationships/image" Target="../media/image431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2.png"/><Relationship Id="rId3" Type="http://schemas.openxmlformats.org/officeDocument/2006/relationships/image" Target="../media/image433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2.png"/><Relationship Id="rId3" Type="http://schemas.openxmlformats.org/officeDocument/2006/relationships/image" Target="../media/image433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4.png"/><Relationship Id="rId3" Type="http://schemas.openxmlformats.org/officeDocument/2006/relationships/image" Target="../media/image435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6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7.png"/><Relationship Id="rId3" Type="http://schemas.openxmlformats.org/officeDocument/2006/relationships/image" Target="../media/image438.png"/><Relationship Id="rId4" Type="http://schemas.openxmlformats.org/officeDocument/2006/relationships/image" Target="../media/image439.png"/><Relationship Id="rId5" Type="http://schemas.openxmlformats.org/officeDocument/2006/relationships/image" Target="../media/image440.png"/><Relationship Id="rId6" Type="http://schemas.openxmlformats.org/officeDocument/2006/relationships/image" Target="../media/image441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2.png"/><Relationship Id="rId3" Type="http://schemas.openxmlformats.org/officeDocument/2006/relationships/image" Target="../media/image443.png"/><Relationship Id="rId4" Type="http://schemas.openxmlformats.org/officeDocument/2006/relationships/image" Target="../media/image444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5.png"/><Relationship Id="rId3" Type="http://schemas.openxmlformats.org/officeDocument/2006/relationships/image" Target="../media/image446.png"/><Relationship Id="rId4" Type="http://schemas.openxmlformats.org/officeDocument/2006/relationships/image" Target="../media/image447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8.png"/><Relationship Id="rId3" Type="http://schemas.openxmlformats.org/officeDocument/2006/relationships/image" Target="../media/image449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0.png"/><Relationship Id="rId3" Type="http://schemas.openxmlformats.org/officeDocument/2006/relationships/image" Target="../media/image451.png"/><Relationship Id="rId4" Type="http://schemas.openxmlformats.org/officeDocument/2006/relationships/image" Target="../media/image452.png"/><Relationship Id="rId5" Type="http://schemas.openxmlformats.org/officeDocument/2006/relationships/image" Target="../media/image453.png"/><Relationship Id="rId6" Type="http://schemas.openxmlformats.org/officeDocument/2006/relationships/image" Target="../media/image454.png"/><Relationship Id="rId7" Type="http://schemas.openxmlformats.org/officeDocument/2006/relationships/image" Target="../media/image455.png"/><Relationship Id="rId8" Type="http://schemas.openxmlformats.org/officeDocument/2006/relationships/image" Target="../media/image456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7.png"/><Relationship Id="rId3" Type="http://schemas.openxmlformats.org/officeDocument/2006/relationships/image" Target="../media/image458.png"/><Relationship Id="rId4" Type="http://schemas.openxmlformats.org/officeDocument/2006/relationships/image" Target="../media/image459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0.png"/><Relationship Id="rId3" Type="http://schemas.openxmlformats.org/officeDocument/2006/relationships/image" Target="../media/image461.png"/><Relationship Id="rId4" Type="http://schemas.openxmlformats.org/officeDocument/2006/relationships/image" Target="../media/image462.png"/><Relationship Id="rId5" Type="http://schemas.openxmlformats.org/officeDocument/2006/relationships/image" Target="../media/image463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4.png"/><Relationship Id="rId3" Type="http://schemas.openxmlformats.org/officeDocument/2006/relationships/image" Target="../media/image465.pn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6.png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3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4.pn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4.png"/><Relationship Id="rId3" Type="http://schemas.openxmlformats.org/officeDocument/2006/relationships/image" Target="../media/image475.png"/><Relationship Id="rId4" Type="http://schemas.openxmlformats.org/officeDocument/2006/relationships/image" Target="../media/image476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7.png"/><Relationship Id="rId3" Type="http://schemas.openxmlformats.org/officeDocument/2006/relationships/image" Target="../media/image478.png"/><Relationship Id="rId4" Type="http://schemas.openxmlformats.org/officeDocument/2006/relationships/image" Target="../media/image479.png"/><Relationship Id="rId5" Type="http://schemas.openxmlformats.org/officeDocument/2006/relationships/image" Target="../media/image480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7.png"/><Relationship Id="rId3" Type="http://schemas.openxmlformats.org/officeDocument/2006/relationships/image" Target="../media/image481.png"/><Relationship Id="rId4" Type="http://schemas.openxmlformats.org/officeDocument/2006/relationships/image" Target="../media/image482.png"/><Relationship Id="rId5" Type="http://schemas.openxmlformats.org/officeDocument/2006/relationships/image" Target="../media/image483.png"/><Relationship Id="rId6" Type="http://schemas.openxmlformats.org/officeDocument/2006/relationships/image" Target="../media/image484.png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5.png"/><Relationship Id="rId3" Type="http://schemas.openxmlformats.org/officeDocument/2006/relationships/image" Target="../media/image486.png"/><Relationship Id="rId4" Type="http://schemas.openxmlformats.org/officeDocument/2006/relationships/image" Target="../media/image487.png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8.png"/><Relationship Id="rId3" Type="http://schemas.openxmlformats.org/officeDocument/2006/relationships/image" Target="../media/image486.png"/><Relationship Id="rId4" Type="http://schemas.openxmlformats.org/officeDocument/2006/relationships/image" Target="../media/image487.png"/><Relationship Id="rId5" Type="http://schemas.openxmlformats.org/officeDocument/2006/relationships/image" Target="../media/image489.png"/><Relationship Id="rId6" Type="http://schemas.openxmlformats.org/officeDocument/2006/relationships/image" Target="../media/image490.png"/><Relationship Id="rId7" Type="http://schemas.openxmlformats.org/officeDocument/2006/relationships/image" Target="../media/image491.pn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2.png"/><Relationship Id="rId3" Type="http://schemas.openxmlformats.org/officeDocument/2006/relationships/image" Target="../media/image493.png"/><Relationship Id="rId4" Type="http://schemas.openxmlformats.org/officeDocument/2006/relationships/image" Target="../media/image494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5.png"/><Relationship Id="rId3" Type="http://schemas.openxmlformats.org/officeDocument/2006/relationships/image" Target="../media/image496.png"/><Relationship Id="rId4" Type="http://schemas.openxmlformats.org/officeDocument/2006/relationships/image" Target="../media/image497.png"/><Relationship Id="rId5" Type="http://schemas.openxmlformats.org/officeDocument/2006/relationships/image" Target="../media/image498.png"/><Relationship Id="rId6" Type="http://schemas.openxmlformats.org/officeDocument/2006/relationships/image" Target="../media/image499.png"/><Relationship Id="rId7" Type="http://schemas.openxmlformats.org/officeDocument/2006/relationships/image" Target="../media/image470.png"/><Relationship Id="rId8" Type="http://schemas.openxmlformats.org/officeDocument/2006/relationships/image" Target="../media/image500.pn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1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2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3.png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3.png"/><Relationship Id="rId3" Type="http://schemas.openxmlformats.org/officeDocument/2006/relationships/image" Target="../media/image504.png"/><Relationship Id="rId4" Type="http://schemas.openxmlformats.org/officeDocument/2006/relationships/image" Target="../media/image505.png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6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7.png"/><Relationship Id="rId3" Type="http://schemas.openxmlformats.org/officeDocument/2006/relationships/image" Target="../media/image508.png"/><Relationship Id="rId4" Type="http://schemas.openxmlformats.org/officeDocument/2006/relationships/image" Target="../media/image509.png"/><Relationship Id="rId5" Type="http://schemas.openxmlformats.org/officeDocument/2006/relationships/image" Target="../media/image510.png"/><Relationship Id="rId6" Type="http://schemas.openxmlformats.org/officeDocument/2006/relationships/image" Target="../media/image511.png"/><Relationship Id="rId7" Type="http://schemas.openxmlformats.org/officeDocument/2006/relationships/image" Target="../media/image512.png"/><Relationship Id="rId8" Type="http://schemas.openxmlformats.org/officeDocument/2006/relationships/image" Target="../media/image513.png"/><Relationship Id="rId9" Type="http://schemas.openxmlformats.org/officeDocument/2006/relationships/image" Target="../media/image514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5.png"/><Relationship Id="rId3" Type="http://schemas.openxmlformats.org/officeDocument/2006/relationships/image" Target="../media/image198.pn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5.png"/><Relationship Id="rId3" Type="http://schemas.openxmlformats.org/officeDocument/2006/relationships/image" Target="../media/image198.png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6.png"/><Relationship Id="rId3" Type="http://schemas.openxmlformats.org/officeDocument/2006/relationships/image" Target="../media/image517.png"/><Relationship Id="rId4" Type="http://schemas.openxmlformats.org/officeDocument/2006/relationships/image" Target="../media/image518.png"/><Relationship Id="rId5" Type="http://schemas.openxmlformats.org/officeDocument/2006/relationships/image" Target="../media/image519.pn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0.png"/><Relationship Id="rId3" Type="http://schemas.openxmlformats.org/officeDocument/2006/relationships/image" Target="../media/image521.png"/><Relationship Id="rId4" Type="http://schemas.openxmlformats.org/officeDocument/2006/relationships/image" Target="../media/image522.png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3.png"/><Relationship Id="rId3" Type="http://schemas.openxmlformats.org/officeDocument/2006/relationships/image" Target="../media/image524.png"/><Relationship Id="rId4" Type="http://schemas.openxmlformats.org/officeDocument/2006/relationships/image" Target="../media/image525.png"/><Relationship Id="rId5" Type="http://schemas.openxmlformats.org/officeDocument/2006/relationships/image" Target="../media/image526.png"/><Relationship Id="rId6" Type="http://schemas.openxmlformats.org/officeDocument/2006/relationships/image" Target="../media/image527.png"/><Relationship Id="rId7" Type="http://schemas.openxmlformats.org/officeDocument/2006/relationships/image" Target="../media/image528.pn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9.png"/><Relationship Id="rId3" Type="http://schemas.openxmlformats.org/officeDocument/2006/relationships/image" Target="../media/image530.png"/><Relationship Id="rId4" Type="http://schemas.openxmlformats.org/officeDocument/2006/relationships/image" Target="../media/image531.png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2.png"/><Relationship Id="rId3" Type="http://schemas.openxmlformats.org/officeDocument/2006/relationships/image" Target="../media/image533.png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4.png"/><Relationship Id="rId3" Type="http://schemas.openxmlformats.org/officeDocument/2006/relationships/image" Target="../media/image535.png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6.png"/><Relationship Id="rId3" Type="http://schemas.openxmlformats.org/officeDocument/2006/relationships/image" Target="../media/image537.png"/><Relationship Id="rId4" Type="http://schemas.openxmlformats.org/officeDocument/2006/relationships/image" Target="../media/image538.png"/><Relationship Id="rId5" Type="http://schemas.openxmlformats.org/officeDocument/2006/relationships/image" Target="../media/image539.png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0.png"/><Relationship Id="rId3" Type="http://schemas.openxmlformats.org/officeDocument/2006/relationships/image" Target="../media/image541.png"/><Relationship Id="rId4" Type="http://schemas.openxmlformats.org/officeDocument/2006/relationships/image" Target="../media/image542.png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3.png"/><Relationship Id="rId3" Type="http://schemas.openxmlformats.org/officeDocument/2006/relationships/image" Target="../media/image544.png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5.png"/><Relationship Id="rId3" Type="http://schemas.openxmlformats.org/officeDocument/2006/relationships/image" Target="../media/image546.png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5.png"/><Relationship Id="rId3" Type="http://schemas.openxmlformats.org/officeDocument/2006/relationships/image" Target="../media/image547.png"/><Relationship Id="rId4" Type="http://schemas.openxmlformats.org/officeDocument/2006/relationships/image" Target="../media/image548.png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9.png"/><Relationship Id="rId3" Type="http://schemas.openxmlformats.org/officeDocument/2006/relationships/image" Target="../media/image550.pn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1.png"/><Relationship Id="rId3" Type="http://schemas.openxmlformats.org/officeDocument/2006/relationships/image" Target="../media/image552.png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3.pn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3.png"/><Relationship Id="rId3" Type="http://schemas.openxmlformats.org/officeDocument/2006/relationships/image" Target="../media/image554.png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5.png"/><Relationship Id="rId3" Type="http://schemas.openxmlformats.org/officeDocument/2006/relationships/image" Target="../media/image556.png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7.png"/><Relationship Id="rId3" Type="http://schemas.openxmlformats.org/officeDocument/2006/relationships/image" Target="../media/image558.png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9.png"/><Relationship Id="rId3" Type="http://schemas.openxmlformats.org/officeDocument/2006/relationships/image" Target="../media/image560.png"/><Relationship Id="rId4" Type="http://schemas.openxmlformats.org/officeDocument/2006/relationships/image" Target="../media/image561.png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9.png"/><Relationship Id="rId3" Type="http://schemas.openxmlformats.org/officeDocument/2006/relationships/image" Target="../media/image562.png"/><Relationship Id="rId4" Type="http://schemas.openxmlformats.org/officeDocument/2006/relationships/image" Target="../media/image563.png"/><Relationship Id="rId5" Type="http://schemas.openxmlformats.org/officeDocument/2006/relationships/image" Target="../media/image564.png"/><Relationship Id="rId6" Type="http://schemas.openxmlformats.org/officeDocument/2006/relationships/image" Target="../media/image565.png"/><Relationship Id="rId7" Type="http://schemas.openxmlformats.org/officeDocument/2006/relationships/image" Target="../media/image566.png"/><Relationship Id="rId8" Type="http://schemas.openxmlformats.org/officeDocument/2006/relationships/image" Target="../media/image567.png"/><Relationship Id="rId9" Type="http://schemas.openxmlformats.org/officeDocument/2006/relationships/image" Target="../media/image568.png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9.png"/><Relationship Id="rId3" Type="http://schemas.openxmlformats.org/officeDocument/2006/relationships/image" Target="../media/image570.png"/><Relationship Id="rId4" Type="http://schemas.openxmlformats.org/officeDocument/2006/relationships/image" Target="../media/image571.png"/><Relationship Id="rId5" Type="http://schemas.openxmlformats.org/officeDocument/2006/relationships/image" Target="../media/image572.png"/><Relationship Id="rId6" Type="http://schemas.openxmlformats.org/officeDocument/2006/relationships/image" Target="../media/image573.png"/><Relationship Id="rId7" Type="http://schemas.openxmlformats.org/officeDocument/2006/relationships/image" Target="../media/image574.png"/><Relationship Id="rId8" Type="http://schemas.openxmlformats.org/officeDocument/2006/relationships/image" Target="../media/image575.png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6.png"/><Relationship Id="rId3" Type="http://schemas.openxmlformats.org/officeDocument/2006/relationships/image" Target="../media/image570.png"/><Relationship Id="rId4" Type="http://schemas.openxmlformats.org/officeDocument/2006/relationships/image" Target="../media/image577.png"/><Relationship Id="rId5" Type="http://schemas.openxmlformats.org/officeDocument/2006/relationships/image" Target="../media/image578.png"/><Relationship Id="rId6" Type="http://schemas.openxmlformats.org/officeDocument/2006/relationships/image" Target="../media/image579.png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0.png"/><Relationship Id="rId3" Type="http://schemas.openxmlformats.org/officeDocument/2006/relationships/image" Target="../media/image581.png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2.png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3.png"/><Relationship Id="rId3" Type="http://schemas.openxmlformats.org/officeDocument/2006/relationships/image" Target="../media/image584.png"/><Relationship Id="rId4" Type="http://schemas.openxmlformats.org/officeDocument/2006/relationships/image" Target="../media/image585.png"/><Relationship Id="rId5" Type="http://schemas.openxmlformats.org/officeDocument/2006/relationships/image" Target="../media/image586.png"/><Relationship Id="rId6" Type="http://schemas.openxmlformats.org/officeDocument/2006/relationships/image" Target="../media/image587.png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8308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3969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10" b="1" i="0">
                <a:solidFill>
                  <a:srgbClr val="1A1A1A"/>
                </a:solidFill>
                <a:latin typeface="Lexend"/>
              </a:rPr>
              <a:t>Relationships in Triangles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34670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42900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703320"/>
            <a:ext cx="106070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6B6B6B"/>
                </a:solidFill>
                <a:latin typeface="Lexend"/>
              </a:rPr>
              <a:t>Eight lessons in teaching order  ·  the next slide jumps to each one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— Relationships in Triangles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Contents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— Relationships in Triangles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>
            <a:hlinkClick action="ppaction://hlinksldjump" r:id="rId2"/>
          </p:cNvPr>
          <p:cNvSpPr txBox="1"/>
          <p:nvPr/>
        </p:nvSpPr>
        <p:spPr>
          <a:xfrm>
            <a:off x="1143000" y="178308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6.01–02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2560320" y="178308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Triangle Inequality Theorem; Converse of the Pythagorean Theorem</a:t>
            </a:r>
          </a:p>
        </p:txBody>
      </p:sp>
      <p:sp>
        <p:nvSpPr>
          <p:cNvPr id="10" name="TextBox 9">
            <a:hlinkClick action="ppaction://hlinksldjump" r:id="rId2"/>
          </p:cNvPr>
          <p:cNvSpPr txBox="1"/>
          <p:nvPr/>
        </p:nvSpPr>
        <p:spPr>
          <a:xfrm>
            <a:off x="9555480" y="178308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224028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hlinkClick action="ppaction://hlinksldjump" r:id="rId3"/>
          </p:cNvPr>
          <p:cNvSpPr txBox="1"/>
          <p:nvPr/>
        </p:nvSpPr>
        <p:spPr>
          <a:xfrm>
            <a:off x="1143000" y="2203704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6.03</a:t>
            </a:r>
          </a:p>
        </p:txBody>
      </p:sp>
      <p:sp>
        <p:nvSpPr>
          <p:cNvPr id="13" name="TextBox 12">
            <a:hlinkClick action="ppaction://hlinksldjump" r:id="rId3"/>
          </p:cNvPr>
          <p:cNvSpPr txBox="1"/>
          <p:nvPr/>
        </p:nvSpPr>
        <p:spPr>
          <a:xfrm>
            <a:off x="2560320" y="2203704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Pythagorean Theorem</a:t>
            </a:r>
          </a:p>
        </p:txBody>
      </p:sp>
      <p:sp>
        <p:nvSpPr>
          <p:cNvPr id="14" name="TextBox 13">
            <a:hlinkClick action="ppaction://hlinksldjump" r:id="rId3"/>
          </p:cNvPr>
          <p:cNvSpPr txBox="1"/>
          <p:nvPr/>
        </p:nvSpPr>
        <p:spPr>
          <a:xfrm>
            <a:off x="9555480" y="2203704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38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2660904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143000" y="2624328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6.04</a:t>
            </a:r>
          </a:p>
        </p:txBody>
      </p:sp>
      <p:sp>
        <p:nvSpPr>
          <p:cNvPr id="17" name="TextBox 16">
            <a:hlinkClick action="ppaction://hlinksldjump" r:id="rId4"/>
          </p:cNvPr>
          <p:cNvSpPr txBox="1"/>
          <p:nvPr/>
        </p:nvSpPr>
        <p:spPr>
          <a:xfrm>
            <a:off x="2560320" y="2624328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Pythagorean Theorem in Real-World Problems</a:t>
            </a:r>
          </a:p>
        </p:txBody>
      </p:sp>
      <p:sp>
        <p:nvSpPr>
          <p:cNvPr id="18" name="TextBox 17">
            <a:hlinkClick action="ppaction://hlinksldjump" r:id="rId4"/>
          </p:cNvPr>
          <p:cNvSpPr txBox="1"/>
          <p:nvPr/>
        </p:nvSpPr>
        <p:spPr>
          <a:xfrm>
            <a:off x="9555480" y="2624328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73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3081528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hlinkClick action="ppaction://hlinksldjump" r:id="rId5"/>
          </p:cNvPr>
          <p:cNvSpPr txBox="1"/>
          <p:nvPr/>
        </p:nvSpPr>
        <p:spPr>
          <a:xfrm>
            <a:off x="1143000" y="3044952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6.05</a:t>
            </a:r>
          </a:p>
        </p:txBody>
      </p:sp>
      <p:sp>
        <p:nvSpPr>
          <p:cNvPr id="21" name="TextBox 20">
            <a:hlinkClick action="ppaction://hlinksldjump" r:id="rId5"/>
          </p:cNvPr>
          <p:cNvSpPr txBox="1"/>
          <p:nvPr/>
        </p:nvSpPr>
        <p:spPr>
          <a:xfrm>
            <a:off x="2560320" y="3044952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Distance on the Coordinate Plane</a:t>
            </a:r>
          </a:p>
        </p:txBody>
      </p:sp>
      <p:sp>
        <p:nvSpPr>
          <p:cNvPr id="22" name="TextBox 21">
            <a:hlinkClick action="ppaction://hlinksldjump" r:id="rId5"/>
          </p:cNvPr>
          <p:cNvSpPr txBox="1"/>
          <p:nvPr/>
        </p:nvSpPr>
        <p:spPr>
          <a:xfrm>
            <a:off x="9555480" y="3044952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108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43000" y="3502152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hlinkClick action="ppaction://hlinksldjump" r:id="rId6"/>
          </p:cNvPr>
          <p:cNvSpPr txBox="1"/>
          <p:nvPr/>
        </p:nvSpPr>
        <p:spPr>
          <a:xfrm>
            <a:off x="1143000" y="3465576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6.06</a:t>
            </a:r>
          </a:p>
        </p:txBody>
      </p:sp>
      <p:sp>
        <p:nvSpPr>
          <p:cNvPr id="25" name="TextBox 24">
            <a:hlinkClick action="ppaction://hlinksldjump" r:id="rId6"/>
          </p:cNvPr>
          <p:cNvSpPr txBox="1"/>
          <p:nvPr/>
        </p:nvSpPr>
        <p:spPr>
          <a:xfrm>
            <a:off x="2560320" y="3465576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Real-World Coordinate-Plane Problems; Perimeter</a:t>
            </a:r>
          </a:p>
        </p:txBody>
      </p:sp>
      <p:sp>
        <p:nvSpPr>
          <p:cNvPr id="26" name="TextBox 25">
            <a:hlinkClick action="ppaction://hlinksldjump" r:id="rId6"/>
          </p:cNvPr>
          <p:cNvSpPr txBox="1"/>
          <p:nvPr/>
        </p:nvSpPr>
        <p:spPr>
          <a:xfrm>
            <a:off x="9555480" y="3465576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143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43000" y="3922776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hlinkClick action="ppaction://hlinksldjump" r:id="rId7"/>
          </p:cNvPr>
          <p:cNvSpPr txBox="1"/>
          <p:nvPr/>
        </p:nvSpPr>
        <p:spPr>
          <a:xfrm>
            <a:off x="1143000" y="388620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6.07–08</a:t>
            </a:r>
          </a:p>
        </p:txBody>
      </p:sp>
      <p:sp>
        <p:nvSpPr>
          <p:cNvPr id="29" name="TextBox 28">
            <a:hlinkClick action="ppaction://hlinksldjump" r:id="rId7"/>
          </p:cNvPr>
          <p:cNvSpPr txBox="1"/>
          <p:nvPr/>
        </p:nvSpPr>
        <p:spPr>
          <a:xfrm>
            <a:off x="2560320" y="388620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Similar Triangles; Indirect Measurement</a:t>
            </a:r>
          </a:p>
        </p:txBody>
      </p:sp>
      <p:sp>
        <p:nvSpPr>
          <p:cNvPr id="30" name="TextBox 29">
            <a:hlinkClick action="ppaction://hlinksldjump" r:id="rId7"/>
          </p:cNvPr>
          <p:cNvSpPr txBox="1"/>
          <p:nvPr/>
        </p:nvSpPr>
        <p:spPr>
          <a:xfrm>
            <a:off x="9555480" y="388620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178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43000" y="434340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hlinkClick action="ppaction://hlinksldjump" r:id="rId8"/>
          </p:cNvPr>
          <p:cNvSpPr txBox="1"/>
          <p:nvPr/>
        </p:nvSpPr>
        <p:spPr>
          <a:xfrm>
            <a:off x="1143000" y="4306824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T-B1</a:t>
            </a:r>
          </a:p>
        </p:txBody>
      </p:sp>
      <p:sp>
        <p:nvSpPr>
          <p:cNvPr id="33" name="TextBox 32">
            <a:hlinkClick action="ppaction://hlinksldjump" r:id="rId8"/>
          </p:cNvPr>
          <p:cNvSpPr txBox="1"/>
          <p:nvPr/>
        </p:nvSpPr>
        <p:spPr>
          <a:xfrm>
            <a:off x="2560320" y="4306824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Angle Pairs: Supplementary, Complementary, Vertical, Adjacent</a:t>
            </a:r>
          </a:p>
        </p:txBody>
      </p:sp>
      <p:sp>
        <p:nvSpPr>
          <p:cNvPr id="34" name="TextBox 33">
            <a:hlinkClick action="ppaction://hlinksldjump" r:id="rId8"/>
          </p:cNvPr>
          <p:cNvSpPr txBox="1"/>
          <p:nvPr/>
        </p:nvSpPr>
        <p:spPr>
          <a:xfrm>
            <a:off x="9555480" y="4306824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213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43000" y="4764024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hlinkClick action="ppaction://hlinksldjump" r:id="rId9"/>
          </p:cNvPr>
          <p:cNvSpPr txBox="1"/>
          <p:nvPr/>
        </p:nvSpPr>
        <p:spPr>
          <a:xfrm>
            <a:off x="1143000" y="4727448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T-B2</a:t>
            </a:r>
          </a:p>
        </p:txBody>
      </p:sp>
      <p:sp>
        <p:nvSpPr>
          <p:cNvPr id="37" name="TextBox 36">
            <a:hlinkClick action="ppaction://hlinksldjump" r:id="rId9"/>
          </p:cNvPr>
          <p:cNvSpPr txBox="1"/>
          <p:nvPr/>
        </p:nvSpPr>
        <p:spPr>
          <a:xfrm>
            <a:off x="2560320" y="4727448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Interior and Exterior Angles of a Triangle</a:t>
            </a:r>
          </a:p>
        </p:txBody>
      </p:sp>
      <p:sp>
        <p:nvSpPr>
          <p:cNvPr id="38" name="TextBox 37">
            <a:hlinkClick action="ppaction://hlinksldjump" r:id="rId9"/>
          </p:cNvPr>
          <p:cNvSpPr txBox="1"/>
          <p:nvPr/>
        </p:nvSpPr>
        <p:spPr>
          <a:xfrm>
            <a:off x="9555480" y="4727448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248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143000" y="5184648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Triangle Inequality Theorem; Converse of the Pythagorean Theorem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decide whether three lengths can make a triangle, and whether they make a right triangle.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5732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car gets 32 miles per gallon. How far does it go on 9 gallons?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3016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figure of area </a:t>
            </a:r>
          </a:p>
        </p:txBody>
      </p:sp>
      <p:pic>
        <p:nvPicPr>
          <p:cNvPr id="10" name="Picture 9" descr="358b64f686a507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136" y="2129901"/>
            <a:ext cx="754713" cy="2658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08849" y="2052828"/>
            <a:ext cx="2026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2" name="Picture 11" descr="8058f93241672f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624" y="2170247"/>
            <a:ext cx="579088" cy="225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77713" y="2052828"/>
            <a:ext cx="2738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The copy's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4e10d7bff6d5fc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709322"/>
            <a:ext cx="840152" cy="3726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278124"/>
            <a:ext cx="29571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value:  </a:t>
            </a:r>
          </a:p>
        </p:txBody>
      </p:sp>
      <p:pic>
        <p:nvPicPr>
          <p:cNvPr id="17" name="Picture 16" descr="f536a8cceeaccc9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487" y="3355197"/>
            <a:ext cx="854392" cy="2634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5732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car gets 32 miles per gallon. How far does it go on 9 gallons?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11948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288 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3016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figure of area </a:t>
            </a:r>
          </a:p>
        </p:txBody>
      </p:sp>
      <p:pic>
        <p:nvPicPr>
          <p:cNvPr id="11" name="Picture 10" descr="358b64f686a507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136" y="2587101"/>
            <a:ext cx="754713" cy="26581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08849" y="2510028"/>
            <a:ext cx="2026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3" name="Picture 12" descr="8058f93241672f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624" y="2627447"/>
            <a:ext cx="579088" cy="225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77713" y="2510028"/>
            <a:ext cx="2738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The copy's area?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967228"/>
            <a:ext cx="12247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45 cm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798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7" name="Picture 16" descr="4e10d7bff6d5fc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3623722"/>
            <a:ext cx="840152" cy="3726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56503" y="3579876"/>
            <a:ext cx="5738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192524"/>
            <a:ext cx="29571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value:  </a:t>
            </a:r>
          </a:p>
        </p:txBody>
      </p:sp>
      <p:pic>
        <p:nvPicPr>
          <p:cNvPr id="20" name="Picture 19" descr="f536a8cceeaccc9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487" y="4269597"/>
            <a:ext cx="854392" cy="26343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97520" y="4192524"/>
            <a:ext cx="7723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triangle inequality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any two sides of a triangle add up to MORE than the third 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legs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two sides of a right triangle that make the right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844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hypotenuse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13818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side across from the right angle — always the longest 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4515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converse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051662"/>
            <a:ext cx="43024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statement turned around: if </a:t>
            </a:r>
          </a:p>
        </p:txBody>
      </p:sp>
      <p:pic>
        <p:nvPicPr>
          <p:cNvPr id="16" name="Picture 15" descr="ca3cd8deffede9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250" y="5135323"/>
            <a:ext cx="1436989" cy="2542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45239" y="5051662"/>
            <a:ext cx="4729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for the two shorter sides and 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536294"/>
            <a:ext cx="3957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longest, the triangle is right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Two sides together must be longer than the third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0b98c26a463894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993392"/>
            <a:ext cx="7315200" cy="14425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64621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Add the two shorter sides. A triangle needs MORE than the longest side.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336582"/>
            <a:ext cx="30464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On the FAST sheet:  </a:t>
            </a:r>
          </a:p>
        </p:txBody>
      </p:sp>
      <p:pic>
        <p:nvPicPr>
          <p:cNvPr id="13" name="Picture 12" descr="3dff896e73351c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792" y="4454001"/>
            <a:ext cx="1079857" cy="225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76649" y="4336582"/>
            <a:ext cx="453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5" name="Picture 14" descr="91c3012494ba80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3090" y="4454001"/>
            <a:ext cx="1075110" cy="2254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68201" y="4336582"/>
            <a:ext cx="453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7" name="Picture 16" descr="5e6002f24e4fe1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641" y="4454001"/>
            <a:ext cx="1056124" cy="225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The third side is between the difference and the sum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3154aaaf4cdaa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603" y="2249805"/>
            <a:ext cx="4020312" cy="280416"/>
          </a:xfrm>
          <a:prstGeom prst="rect">
            <a:avLst/>
          </a:prstGeom>
        </p:spPr>
      </p:pic>
      <p:pic>
        <p:nvPicPr>
          <p:cNvPr id="11" name="Picture 10" descr="c8ac983533cfdf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475" y="3048381"/>
            <a:ext cx="1496568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94106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Sides 4 and 9: the third side x is more than 5 and less than 13.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631436"/>
            <a:ext cx="11503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Never </a:t>
            </a:r>
          </a:p>
        </p:txBody>
      </p:sp>
      <p:pic>
        <p:nvPicPr>
          <p:cNvPr id="14" name="Picture 13" descr="86c91fb9500094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788" y="4812934"/>
            <a:ext cx="151892" cy="1566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52680" y="4631436"/>
            <a:ext cx="41503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: at 5 or 13 the sides lie flat.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The Pythagorean Theorem, and its converse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6d978ce3bc7c14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993392"/>
            <a:ext cx="2148840" cy="1967189"/>
          </a:xfrm>
          <a:prstGeom prst="rect">
            <a:avLst/>
          </a:prstGeom>
        </p:spPr>
      </p:pic>
      <p:pic>
        <p:nvPicPr>
          <p:cNvPr id="11" name="Picture 10" descr="77f157c420812a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271" y="4106885"/>
            <a:ext cx="3998975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856693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Two shorter sides squared and added = the longest side squared: a right triangle.</a:t>
            </a:r>
          </a:p>
        </p:txBody>
      </p:sp>
      <p:pic>
        <p:nvPicPr>
          <p:cNvPr id="13" name="Picture 12" descr="a48bb90ed9a9ae2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5669231"/>
            <a:ext cx="1293455" cy="2705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1007" y="5547065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 </a:t>
            </a:r>
          </a:p>
        </p:txBody>
      </p:sp>
      <p:pic>
        <p:nvPicPr>
          <p:cNvPr id="15" name="Picture 14" descr="815d468610c627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5958" y="5621765"/>
            <a:ext cx="3006986" cy="3180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592945" y="5547065"/>
            <a:ext cx="14469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right.    </a:t>
            </a:r>
          </a:p>
        </p:txBody>
      </p:sp>
      <p:pic>
        <p:nvPicPr>
          <p:cNvPr id="17" name="Picture 16" descr="db91a7798c4bf6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2723" y="5666858"/>
            <a:ext cx="757086" cy="27293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59810" y="5547065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 </a:t>
            </a:r>
          </a:p>
        </p:txBody>
      </p:sp>
      <p:pic>
        <p:nvPicPr>
          <p:cNvPr id="19" name="Picture 18" descr="07affdc0b9ac2e9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761" y="5621765"/>
            <a:ext cx="1450093" cy="26581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414855" y="5547065"/>
            <a:ext cx="922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not </a:t>
            </a:r>
          </a:p>
        </p:txBody>
      </p:sp>
      <p:pic>
        <p:nvPicPr>
          <p:cNvPr id="21" name="Picture 20" descr="db1362cf918c4d9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0139" y="5669231"/>
            <a:ext cx="332263" cy="21597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32402" y="5547065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Can sides of 5 cm, 8 cm and 14 cm make a triangle?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bfd6c4d452e9b8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545336" cy="277368"/>
          </a:xfrm>
          <a:prstGeom prst="rect">
            <a:avLst/>
          </a:prstGeom>
        </p:spPr>
      </p:pic>
      <p:pic>
        <p:nvPicPr>
          <p:cNvPr id="9" name="Picture 8" descr="eb6c03627e6a6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1928"/>
            <a:ext cx="112471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5 + 8 = 13 is less than 14.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Can sides of 7 inches, 9 inches and 15 inches make a triangle?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Can sides of 7 inches, 9 inches and 15 inches make a triangle?</a:t>
            </a:r>
          </a:p>
        </p:txBody>
      </p:sp>
      <p:pic>
        <p:nvPicPr>
          <p:cNvPr id="9" name="Picture 8" descr="14b1b0d5182390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772" y="2300270"/>
            <a:ext cx="138379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23908" y="2729086"/>
            <a:ext cx="54508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16 is more than 15: a triangle.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7 + 9 = 16 is more than 15.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20 m, 12 m and 16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764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Is it a right triangle?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87196d2b2c30a0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802624" cy="341376"/>
          </a:xfrm>
          <a:prstGeom prst="rect">
            <a:avLst/>
          </a:prstGeom>
        </p:spPr>
      </p:pic>
      <p:pic>
        <p:nvPicPr>
          <p:cNvPr id="9" name="Picture 8" descr="c95e4a33ff43f2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7543800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12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+ 16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8 ft, 11 ft and 14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Is it a right triangle?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8 ft, 11 ft and 14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Is it a right triangle?</a:t>
            </a:r>
          </a:p>
        </p:txBody>
      </p:sp>
      <p:pic>
        <p:nvPicPr>
          <p:cNvPr id="10" name="Picture 9" descr="7c0920cdde35d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300" y="2793649"/>
            <a:ext cx="3663696" cy="304800"/>
          </a:xfrm>
          <a:prstGeom prst="rect">
            <a:avLst/>
          </a:prstGeom>
        </p:spPr>
      </p:pic>
      <p:pic>
        <p:nvPicPr>
          <p:cNvPr id="11" name="Picture 10" descr="461ad6978bbfc5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3328287"/>
            <a:ext cx="1383887" cy="3066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89187" y="3268184"/>
            <a:ext cx="2181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not equal.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185 is not 196.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Can sides of 2 ft, 7 ft and 10 ft make a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Can sides of 2 ft, 7 ft and 10 ft make a triangle?</a:t>
            </a:r>
          </a:p>
        </p:txBody>
      </p:sp>
      <p:pic>
        <p:nvPicPr>
          <p:cNvPr id="9" name="Picture 8" descr="2df5e3f92a90d5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549" y="2623358"/>
            <a:ext cx="1210056" cy="252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36685" y="3049126"/>
            <a:ext cx="52253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9 is less than 10: no triangle.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2 + 7 = 9 is less than 10.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Can sides of 6 m, 6 m and 11 m make a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Can sides of 6 m, 6 m and 11 m make a triangle?</a:t>
            </a:r>
          </a:p>
        </p:txBody>
      </p:sp>
      <p:pic>
        <p:nvPicPr>
          <p:cNvPr id="9" name="Picture 8" descr="85ff24f4fb0da8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59" y="2623358"/>
            <a:ext cx="1395984" cy="252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38195" y="3049126"/>
            <a:ext cx="54222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12 is more than 11: a triangle.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6 + 6 = 12 is more than 11.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three lengths can make a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5507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7, 7, 14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507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5, 11, 8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365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3, 10, 6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365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4, 6, 12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three lengths can make a triangle?</a:t>
            </a:r>
          </a:p>
        </p:txBody>
      </p:sp>
      <p:pic>
        <p:nvPicPr>
          <p:cNvPr id="9" name="Picture 8" descr="bfd6c4d452e9b8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645" y="2647219"/>
            <a:ext cx="1183147" cy="2123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877793" y="2509630"/>
            <a:ext cx="40438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more than 11: a triangle.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9781" y="3012550"/>
            <a:ext cx="90191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In each other set the two shorter sides fall short or lie flat.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5, 11, 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sides of a triangle are 7 cm and 12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Write an inequality for the length x, in centimeters, of the third 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sides of a triangle are 7 cm and 12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Write an inequality for the length x, in centimeters, of the third side.</a:t>
            </a:r>
          </a:p>
        </p:txBody>
      </p:sp>
      <p:pic>
        <p:nvPicPr>
          <p:cNvPr id="10" name="Picture 9" descr="64e100d81a433f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109" y="3596209"/>
            <a:ext cx="1364551" cy="2513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57660" y="3478099"/>
            <a:ext cx="13163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2" name="Picture 11" descr="8034704937480e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803" y="3593447"/>
            <a:ext cx="1544097" cy="251364"/>
          </a:xfrm>
          <a:prstGeom prst="rect">
            <a:avLst/>
          </a:prstGeom>
        </p:spPr>
      </p:pic>
      <p:pic>
        <p:nvPicPr>
          <p:cNvPr id="13" name="Picture 12" descr="13e3ad95332ccb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3109" y="4134371"/>
            <a:ext cx="1365504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 &lt; x &lt; 19 — more than 5 cm and less than 19 cm.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sides of a triangle are 6 cm and 10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inequality shows every possible length x, in centimeters, of the third side?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57411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0fbe6fa0ef0cae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564967"/>
            <a:ext cx="1517904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57411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6ffc528ca75e11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561919"/>
            <a:ext cx="1612392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418675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77505d48985268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4174567"/>
            <a:ext cx="1530096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418675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c71b5ee8fe399e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4177615"/>
            <a:ext cx="1520952" cy="2804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86341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sides of a triangle are 6 cm and 10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inequality shows every possible length x, in centimeters, of the third side?</a:t>
            </a:r>
          </a:p>
        </p:txBody>
      </p:sp>
      <p:pic>
        <p:nvPicPr>
          <p:cNvPr id="10" name="Picture 9" descr="776ebc7eac5ed4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056" y="3596209"/>
            <a:ext cx="1414272" cy="2541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328" y="3478099"/>
            <a:ext cx="13163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2" name="Picture 11" descr="ec18a57bdad369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470" y="3596209"/>
            <a:ext cx="1571720" cy="254126"/>
          </a:xfrm>
          <a:prstGeom prst="rect">
            <a:avLst/>
          </a:prstGeom>
        </p:spPr>
      </p:pic>
      <p:pic>
        <p:nvPicPr>
          <p:cNvPr id="13" name="Picture 12" descr="4878d8a402d2d5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3056" y="4130180"/>
            <a:ext cx="1386649" cy="25412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39706" y="4017595"/>
            <a:ext cx="28550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— never equal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4 &lt; x &lt; 16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Do sides of 8 inches, 15 inches and 17 inches make a right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Do sides of 8 inches, 15 inches and 17 inches make a right triangle?</a:t>
            </a:r>
          </a:p>
        </p:txBody>
      </p:sp>
      <p:pic>
        <p:nvPicPr>
          <p:cNvPr id="9" name="Picture 8" descr="43395e419bfcc7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883" y="3003961"/>
            <a:ext cx="3749039" cy="304800"/>
          </a:xfrm>
          <a:prstGeom prst="rect">
            <a:avLst/>
          </a:prstGeom>
        </p:spPr>
      </p:pic>
      <p:pic>
        <p:nvPicPr>
          <p:cNvPr id="10" name="Picture 9" descr="18e0f36cf337f5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883" y="3541361"/>
            <a:ext cx="1383887" cy="3066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39770" y="3478496"/>
            <a:ext cx="4712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equal — a right triangle.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8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+ 15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289 = 17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25 cm, 7 cm and 24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it a right triangle? Which answer has the right reason?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Yes, because 7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+ 24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= 25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Yes, because 7 + 24 &gt;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No, because 25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+ 7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≠ 24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No, because 7 + 24 ≠ 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815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25 cm, 7 cm and 24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it a right triangle? Which answer has the right reason?</a:t>
            </a:r>
          </a:p>
        </p:txBody>
      </p:sp>
      <p:pic>
        <p:nvPicPr>
          <p:cNvPr id="10" name="Picture 9" descr="5490789b4120b9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198" y="3110641"/>
            <a:ext cx="3755136" cy="307848"/>
          </a:xfrm>
          <a:prstGeom prst="rect">
            <a:avLst/>
          </a:prstGeom>
        </p:spPr>
      </p:pic>
      <p:pic>
        <p:nvPicPr>
          <p:cNvPr id="11" name="Picture 10" descr="1b06dea0679020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198" y="3648327"/>
            <a:ext cx="1417034" cy="3093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79232" y="3588224"/>
            <a:ext cx="28725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equal — right.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yes, because 7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+ 24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25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triangular sail has sides of 20 ft, 21 ft and 29 ft, and it weighs 12 pounds.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Does the sail have a right angle?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triangular sail has sides of 20 ft, 21 ft and 29 ft, and it weighs 12 pounds.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Does the sail have a right angle?</a:t>
            </a:r>
          </a:p>
        </p:txBody>
      </p:sp>
      <p:pic>
        <p:nvPicPr>
          <p:cNvPr id="10" name="Picture 9" descr="e14984151c53cd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075" y="3546107"/>
            <a:ext cx="4197096" cy="304800"/>
          </a:xfrm>
          <a:prstGeom prst="rect">
            <a:avLst/>
          </a:prstGeom>
        </p:spPr>
      </p:pic>
      <p:pic>
        <p:nvPicPr>
          <p:cNvPr id="11" name="Picture 10" descr="2bcf32630534ac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075" y="4080460"/>
            <a:ext cx="1417034" cy="3066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54110" y="4017595"/>
            <a:ext cx="27849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a right angle.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20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+ 21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841 = 29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Ana says sides of 6, 7 and 9 make a right triangle because 6 + 7 &gt; 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Ana says sides of 6, 7 and 9 make a right triangle because 6 + 7 &gt; 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pic>
        <p:nvPicPr>
          <p:cNvPr id="10" name="Picture 9" descr="7662b6e2d2d4ee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169" y="3538202"/>
            <a:ext cx="1709832" cy="3093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16002" y="3478099"/>
            <a:ext cx="11175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but </a:t>
            </a:r>
          </a:p>
        </p:txBody>
      </p:sp>
      <p:pic>
        <p:nvPicPr>
          <p:cNvPr id="12" name="Picture 11" descr="984ee268824627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366" y="3540964"/>
            <a:ext cx="1013745" cy="3066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10112" y="3478099"/>
            <a:ext cx="2948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6 + 7 &gt; 9 shows only a triangle; 85 is not 81, so it is not right.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Can sides of 4 cm, 8 cm and 13 cm make a triangle?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7568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7568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Can sides of 9 inches, 9 inches and 18 inches make a triangle?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7860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78608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Two sides of a triangle are 5 m and 11 m. Write an inequality for the length x, in meters, of the third side.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3814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38144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Do sides of 28 cm, 45 cm and 53 cm make a right triangle?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4106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41064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Do sides of 17 ft, 10 ft and 14 ft make a right triangle?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4398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43984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carpenter joins boards of 30 inches, 40 inches and 50 inches into a triangle. Is one corner a right angle?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6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Triangle inequality — 2N5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Converse of the Pythagorean theorem: is it a right triangle? — EQZ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Pythagorean Theorem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a missing side of a right triangle — the hypotenuse, or a leg.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4524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Can sides of 4 inches, 7 inches and 12 inches make a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8763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printer prints 18 pages a minute. Pages in 4.5 minutes?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1" name="Picture 10" descr="25d82099734b37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711" y="2709322"/>
            <a:ext cx="806926" cy="3726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3278124"/>
            <a:ext cx="29571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value:  </a:t>
            </a:r>
          </a:p>
        </p:txBody>
      </p:sp>
      <p:pic>
        <p:nvPicPr>
          <p:cNvPr id="13" name="Picture 12" descr="3ac1f13e1f982f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487" y="3355197"/>
            <a:ext cx="996791" cy="26581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4524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Can sides of 4 inches, 7 inches and 12 inches make a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31905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No — 4 + 7 = 11 &lt;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8763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printer prints 18 pages a minute. Pages in 4.5 minutes?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67228"/>
            <a:ext cx="15480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81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798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3" name="Picture 12" descr="25d82099734b37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711" y="3623722"/>
            <a:ext cx="806926" cy="37261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23277" y="3579876"/>
            <a:ext cx="5700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192524"/>
            <a:ext cx="29571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value:  </a:t>
            </a:r>
          </a:p>
        </p:txBody>
      </p:sp>
      <p:pic>
        <p:nvPicPr>
          <p:cNvPr id="16" name="Picture 15" descr="3ac1f13e1f982f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487" y="4269597"/>
            <a:ext cx="996791" cy="26581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39919" y="4192524"/>
            <a:ext cx="5753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Pythagorean Theorem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69550"/>
            <a:ext cx="68882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in every right triangle, leg</a:t>
            </a:r>
            <a:r>
              <a:rPr sz="209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090" b="0" i="0">
                <a:solidFill>
                  <a:srgbClr val="1A1A1A"/>
                </a:solidFill>
                <a:latin typeface="Lexend"/>
              </a:rPr>
              <a:t> + leg</a:t>
            </a:r>
            <a:r>
              <a:rPr sz="209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090" b="0" i="0">
                <a:solidFill>
                  <a:srgbClr val="1A1A1A"/>
                </a:solidFill>
                <a:latin typeface="Lexend"/>
              </a:rPr>
              <a:t> = hypotenuse</a:t>
            </a:r>
            <a:r>
              <a:rPr sz="209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090" b="0" i="0">
                <a:solidFill>
                  <a:srgbClr val="1A1A1A"/>
                </a:solidFill>
                <a:latin typeface="Lexend"/>
              </a:rPr>
              <a:t>:  </a:t>
            </a:r>
          </a:p>
        </p:txBody>
      </p:sp>
      <p:pic>
        <p:nvPicPr>
          <p:cNvPr id="10" name="Picture 9" descr="ca3cd8deffede9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105" y="1953211"/>
            <a:ext cx="1436989" cy="2542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25050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hypotenuse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34428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c — the side across from the right angle, always the longest 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576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square root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72272"/>
            <a:ext cx="41420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number that, times itself,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56904"/>
            <a:ext cx="56466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makes the number under the root sign:  </a:t>
            </a:r>
          </a:p>
        </p:txBody>
      </p:sp>
      <p:pic>
        <p:nvPicPr>
          <p:cNvPr id="16" name="Picture 15" descr="c01d6e653b6eb2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533" y="4508784"/>
            <a:ext cx="1064688" cy="35640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square corner first; c is across from 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58aa5bffac20af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068" y="1993392"/>
            <a:ext cx="4215384" cy="2194957"/>
          </a:xfrm>
          <a:prstGeom prst="rect">
            <a:avLst/>
          </a:prstGeom>
        </p:spPr>
      </p:pic>
      <p:pic>
        <p:nvPicPr>
          <p:cNvPr id="11" name="Picture 10" descr="f29ece7fb4d230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80373"/>
            <a:ext cx="1929384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5066173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The legs' squares add up to the hypotenuse's square. c is across from the right angle — always the longest side.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The hypotenuse: square, add, then the root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e21f71f1271258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3" y="2194560"/>
            <a:ext cx="3730752" cy="341376"/>
          </a:xfrm>
          <a:prstGeom prst="rect">
            <a:avLst/>
          </a:prstGeom>
        </p:spPr>
      </p:pic>
      <p:pic>
        <p:nvPicPr>
          <p:cNvPr id="11" name="Picture 10" descr="f5cca9bd60907f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511" y="2990088"/>
            <a:ext cx="2444496" cy="4785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966971"/>
            <a:ext cx="2311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Legs 3 and 5:   </a:t>
            </a:r>
          </a:p>
        </p:txBody>
      </p:sp>
      <p:pic>
        <p:nvPicPr>
          <p:cNvPr id="13" name="Picture 12" descr="24c2904a6862c3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379" y="4044045"/>
            <a:ext cx="1483320" cy="2658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45700" y="3966971"/>
            <a:ext cx="5359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363f37b4e81453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4519" y="4010818"/>
            <a:ext cx="1808464" cy="3726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634483"/>
            <a:ext cx="1210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Exact: </a:t>
            </a:r>
          </a:p>
        </p:txBody>
      </p:sp>
      <p:pic>
        <p:nvPicPr>
          <p:cNvPr id="17" name="Picture 16" descr="5b982e7bc59239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0736" y="4678330"/>
            <a:ext cx="666900" cy="3726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27636" y="4634483"/>
            <a:ext cx="41507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.  To the nearest tenth: 5.8.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A leg: subtract the squares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e309e7e8ce6a1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75" y="1993392"/>
            <a:ext cx="2258568" cy="341376"/>
          </a:xfrm>
          <a:prstGeom prst="rect">
            <a:avLst/>
          </a:prstGeom>
        </p:spPr>
      </p:pic>
      <p:pic>
        <p:nvPicPr>
          <p:cNvPr id="11" name="Picture 10" descr="5652a128c97c63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367" y="2679192"/>
            <a:ext cx="3224784" cy="341376"/>
          </a:xfrm>
          <a:prstGeom prst="rect">
            <a:avLst/>
          </a:prstGeom>
        </p:spPr>
      </p:pic>
      <p:pic>
        <p:nvPicPr>
          <p:cNvPr id="12" name="Picture 11" descr="c79a9df2bcafe8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364991"/>
            <a:ext cx="2066543" cy="478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4140707"/>
            <a:ext cx="32313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For a leg, subtract:  </a:t>
            </a:r>
          </a:p>
        </p:txBody>
      </p:sp>
      <p:pic>
        <p:nvPicPr>
          <p:cNvPr id="14" name="Picture 13" descr="1eb4729ee4dde5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1731" y="4217781"/>
            <a:ext cx="1499933" cy="2658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81665" y="4140707"/>
            <a:ext cx="2858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84936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Check: a leg is shorter than the hypotenuse.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7 cm and 9 cm.</a:t>
            </a:r>
          </a:p>
        </p:txBody>
      </p:sp>
      <p:pic>
        <p:nvPicPr>
          <p:cNvPr id="9" name="Picture 8" descr="g37a284cc012c9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19" y="2276458"/>
            <a:ext cx="2240280" cy="234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954362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hypotenuse? Give it exactly and to the nearest tenth.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f63f94f57da23b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422648" cy="341376"/>
          </a:xfrm>
          <a:prstGeom prst="rect">
            <a:avLst/>
          </a:prstGeom>
        </p:spPr>
      </p:pic>
      <p:pic>
        <p:nvPicPr>
          <p:cNvPr id="9" name="Picture 8" descr="b97c89e1a1136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2697480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= √130 cm ≈ 11.4 cm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5 inches and 11 inches.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hypotenuse, exactly and to the nearest tenth?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5 inches and 11 inches.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hypotenuse, exactly and to the nearest tenth?</a:t>
            </a:r>
          </a:p>
        </p:txBody>
      </p:sp>
      <p:pic>
        <p:nvPicPr>
          <p:cNvPr id="10" name="Picture 9" descr="49e72f05093d83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019" y="2796697"/>
            <a:ext cx="4331208" cy="304800"/>
          </a:xfrm>
          <a:prstGeom prst="rect">
            <a:avLst/>
          </a:prstGeom>
        </p:spPr>
      </p:pic>
      <p:pic>
        <p:nvPicPr>
          <p:cNvPr id="11" name="Picture 10" descr="42e060f27f4a50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019" y="3291044"/>
            <a:ext cx="2426208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= √146 in ≈ 12.1 in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15 m and one leg of 8 m.</a:t>
            </a:r>
          </a:p>
        </p:txBody>
      </p:sp>
      <p:pic>
        <p:nvPicPr>
          <p:cNvPr id="9" name="Picture 8" descr="g8750fe113f51c0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59" y="2276458"/>
            <a:ext cx="3657600" cy="23681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97381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leg? Give it exactly and to the nearest tenth.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5257ff6bba4bd9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202680" cy="426720"/>
          </a:xfrm>
          <a:prstGeom prst="rect">
            <a:avLst/>
          </a:prstGeom>
        </p:spPr>
      </p:pic>
      <p:pic>
        <p:nvPicPr>
          <p:cNvPr id="9" name="Picture 8" descr="55d605791bfe3d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21280"/>
            <a:ext cx="5038344" cy="341376"/>
          </a:xfrm>
          <a:prstGeom prst="rect">
            <a:avLst/>
          </a:prstGeom>
        </p:spPr>
      </p:pic>
      <p:pic>
        <p:nvPicPr>
          <p:cNvPr id="10" name="Picture 9" descr="68631f53d2ded9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6976"/>
            <a:ext cx="6943344" cy="47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= √161 m ≈ 12.7 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11 ft and one leg of 6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other leg, exactly and to the nearest tenth?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11 ft and one leg of 6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other leg, exactly and to the nearest tenth?</a:t>
            </a:r>
          </a:p>
        </p:txBody>
      </p:sp>
      <p:pic>
        <p:nvPicPr>
          <p:cNvPr id="10" name="Picture 9" descr="3e1aaf67d43b2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459" y="2796697"/>
            <a:ext cx="4151376" cy="304800"/>
          </a:xfrm>
          <a:prstGeom prst="rect">
            <a:avLst/>
          </a:prstGeom>
        </p:spPr>
      </p:pic>
      <p:pic>
        <p:nvPicPr>
          <p:cNvPr id="11" name="Picture 10" descr="12045b10f967ac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459" y="3291044"/>
            <a:ext cx="2118360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= √85 ft ≈ 9.2 ft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9 cm and 12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hypotenuse?</a:t>
            </a:r>
          </a:p>
        </p:txBody>
      </p:sp>
      <p:pic>
        <p:nvPicPr>
          <p:cNvPr id="10" name="Picture 9" descr="g87feca9b8810c2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2998436"/>
            <a:ext cx="2304288" cy="23461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280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9 cm and 12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hypotenuse?</a:t>
            </a:r>
          </a:p>
        </p:txBody>
      </p:sp>
      <p:pic>
        <p:nvPicPr>
          <p:cNvPr id="10" name="Picture 9" descr="g87feca9b8810c2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228" y="2998436"/>
            <a:ext cx="2304288" cy="2346139"/>
          </a:xfrm>
          <a:prstGeom prst="rect">
            <a:avLst/>
          </a:prstGeom>
        </p:spPr>
      </p:pic>
      <p:pic>
        <p:nvPicPr>
          <p:cNvPr id="11" name="Picture 10" descr="2899ab4d0ffda9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899" y="3777647"/>
            <a:ext cx="2429256" cy="262128"/>
          </a:xfrm>
          <a:prstGeom prst="rect">
            <a:avLst/>
          </a:prstGeom>
        </p:spPr>
      </p:pic>
      <p:pic>
        <p:nvPicPr>
          <p:cNvPr id="12" name="Picture 11" descr="e078427f0d1d53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899" y="4250087"/>
            <a:ext cx="1840991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280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 cm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4 inches and 9 inches.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hypotenuse, to the nearest tenth?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4 inches and 9 inches.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hypotenuse, to the nearest tenth?</a:t>
            </a:r>
          </a:p>
        </p:txBody>
      </p:sp>
      <p:pic>
        <p:nvPicPr>
          <p:cNvPr id="10" name="Picture 9" descr="7410ced1fcc2b9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899" y="3113689"/>
            <a:ext cx="2441448" cy="307848"/>
          </a:xfrm>
          <a:prstGeom prst="rect">
            <a:avLst/>
          </a:prstGeom>
        </p:spPr>
      </p:pic>
      <p:pic>
        <p:nvPicPr>
          <p:cNvPr id="11" name="Picture 10" descr="d774a50e89260b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899" y="3611084"/>
            <a:ext cx="2075688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√97 in ≈ 9.8 in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25 ft and one leg of 20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leg?</a:t>
            </a:r>
          </a:p>
        </p:txBody>
      </p:sp>
      <p:pic>
        <p:nvPicPr>
          <p:cNvPr id="10" name="Picture 9" descr="gaffe3d7eabf898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3" y="2998436"/>
            <a:ext cx="2176272" cy="23431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2501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25 ft and one leg of 20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leg?</a:t>
            </a:r>
          </a:p>
        </p:txBody>
      </p:sp>
      <p:pic>
        <p:nvPicPr>
          <p:cNvPr id="10" name="Picture 9" descr="gaffe3d7eabf898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2998436"/>
            <a:ext cx="2176272" cy="2343111"/>
          </a:xfrm>
          <a:prstGeom prst="rect">
            <a:avLst/>
          </a:prstGeom>
        </p:spPr>
      </p:pic>
      <p:pic>
        <p:nvPicPr>
          <p:cNvPr id="11" name="Picture 10" descr="da85c990301d92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776133"/>
            <a:ext cx="2657856" cy="262128"/>
          </a:xfrm>
          <a:prstGeom prst="rect">
            <a:avLst/>
          </a:prstGeom>
        </p:spPr>
      </p:pic>
      <p:pic>
        <p:nvPicPr>
          <p:cNvPr id="12" name="Picture 11" descr="6e05135a1808f9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248573"/>
            <a:ext cx="1859280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2501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 ft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41 m and one leg of 40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9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81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57.3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815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41 m and one leg of 40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leg?</a:t>
            </a:r>
          </a:p>
        </p:txBody>
      </p:sp>
      <p:pic>
        <p:nvPicPr>
          <p:cNvPr id="10" name="Picture 9" descr="f10d4c561f9671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075" y="3110641"/>
            <a:ext cx="3438144" cy="368808"/>
          </a:xfrm>
          <a:prstGeom prst="rect">
            <a:avLst/>
          </a:prstGeom>
        </p:spPr>
      </p:pic>
      <p:pic>
        <p:nvPicPr>
          <p:cNvPr id="11" name="Picture 10" descr="a236597d86feea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075" y="3611084"/>
            <a:ext cx="1822704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9 m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sides of this right triangle are 5 cm and 7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third side, to the nearest tenth?</a:t>
            </a:r>
          </a:p>
        </p:txBody>
      </p:sp>
      <p:pic>
        <p:nvPicPr>
          <p:cNvPr id="10" name="Picture 9" descr="gf8612ac7fdced0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998436"/>
            <a:ext cx="4206240" cy="21783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46029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sides of this right triangle are 5 cm and 7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third side, to the nearest tenth?</a:t>
            </a:r>
          </a:p>
        </p:txBody>
      </p:sp>
      <p:pic>
        <p:nvPicPr>
          <p:cNvPr id="10" name="Picture 9" descr="gf8612ac7fdced0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128" y="2998436"/>
            <a:ext cx="4206240" cy="2178389"/>
          </a:xfrm>
          <a:prstGeom prst="rect">
            <a:avLst/>
          </a:prstGeom>
        </p:spPr>
      </p:pic>
      <p:pic>
        <p:nvPicPr>
          <p:cNvPr id="11" name="Picture 10" descr="38f42acf1793d2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752" y="3693772"/>
            <a:ext cx="2130552" cy="262128"/>
          </a:xfrm>
          <a:prstGeom prst="rect">
            <a:avLst/>
          </a:prstGeom>
        </p:spPr>
      </p:pic>
      <p:pic>
        <p:nvPicPr>
          <p:cNvPr id="12" name="Picture 11" descr="95a27a9fc7d94d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752" y="4166212"/>
            <a:ext cx="1786128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46029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√74 cm ≈ 8.6 cm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triangle's hypotenuse is 20 inches; its legs are 16 inches and 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equation finds x?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57411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467b3d8054f9e8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564967"/>
            <a:ext cx="1752600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57411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940ac47e9562c5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519247"/>
            <a:ext cx="2246376" cy="341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418675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6c12d63db14f46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4131895"/>
            <a:ext cx="2087880" cy="3413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418675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b1c1dd707cdaedb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4131895"/>
            <a:ext cx="2246376" cy="34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86341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triangle's hypotenuse is 20 inches; its legs are 16 inches and 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equation finds x?</a:t>
            </a:r>
          </a:p>
        </p:txBody>
      </p:sp>
      <p:pic>
        <p:nvPicPr>
          <p:cNvPr id="10" name="Picture 9" descr="723ec51e38368d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759" y="3546107"/>
            <a:ext cx="3157728" cy="304800"/>
          </a:xfrm>
          <a:prstGeom prst="rect">
            <a:avLst/>
          </a:prstGeom>
        </p:spPr>
      </p:pic>
      <p:pic>
        <p:nvPicPr>
          <p:cNvPr id="11" name="Picture 10" descr="29d805f74fa341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759" y="4040455"/>
            <a:ext cx="2225040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D: 16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, so x = 12 in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14 m and one leg of 9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leg, to the nearest tenth?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14 m and one leg of 9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leg, to the nearest tenth?</a:t>
            </a:r>
          </a:p>
        </p:txBody>
      </p:sp>
      <p:pic>
        <p:nvPicPr>
          <p:cNvPr id="10" name="Picture 9" descr="4d4d0148702223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923" y="3116737"/>
            <a:ext cx="2822448" cy="304800"/>
          </a:xfrm>
          <a:prstGeom prst="rect">
            <a:avLst/>
          </a:prstGeom>
        </p:spPr>
      </p:pic>
      <p:pic>
        <p:nvPicPr>
          <p:cNvPr id="11" name="Picture 10" descr="899457164c48e8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923" y="3611084"/>
            <a:ext cx="2456688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√115 m ≈ 10.7 m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pennant is cut as a right triangle with legs of 8 inches and 11 inches. The fabric costs 6 dollars.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its longest side, to the nearest tenth?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pennant is cut as a right triangle with legs of 8 inches and 11 inches. The fabric costs 6 dollars.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its longest side, to the nearest tenth?</a:t>
            </a:r>
          </a:p>
        </p:txBody>
      </p:sp>
      <p:pic>
        <p:nvPicPr>
          <p:cNvPr id="10" name="Picture 9" descr="c0b0581c2b142e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828" y="3546107"/>
            <a:ext cx="2831592" cy="304800"/>
          </a:xfrm>
          <a:prstGeom prst="rect">
            <a:avLst/>
          </a:prstGeom>
        </p:spPr>
      </p:pic>
      <p:pic>
        <p:nvPicPr>
          <p:cNvPr id="11" name="Picture 10" descr="6f89b6850aed21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828" y="4040455"/>
            <a:ext cx="2435352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√185 in ≈ 13.6 in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finds a leg of a right triangle. The hypotenuse is 13 cm and the other leg is 5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91528"/>
            <a:ext cx="19198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She writes  </a:t>
            </a:r>
          </a:p>
        </p:txBody>
      </p:sp>
      <p:pic>
        <p:nvPicPr>
          <p:cNvPr id="10" name="Picture 9" descr="56becf73e2479b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108" y="2627342"/>
            <a:ext cx="2246185" cy="3888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63293" y="259152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2703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went wrong? How long is the leg?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finds a leg of a right triangle. The hypotenuse is 13 cm and the other leg is 5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91528"/>
            <a:ext cx="19198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She writes  </a:t>
            </a:r>
          </a:p>
        </p:txBody>
      </p:sp>
      <p:pic>
        <p:nvPicPr>
          <p:cNvPr id="10" name="Picture 9" descr="8b551e9736168d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108" y="2627342"/>
            <a:ext cx="2248662" cy="3888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65770" y="259152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2703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went wrong? How long is the leg?</a:t>
            </a:r>
          </a:p>
        </p:txBody>
      </p:sp>
      <p:pic>
        <p:nvPicPr>
          <p:cNvPr id="13" name="Picture 12" descr="ec09cf29acca5c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299" y="3930155"/>
            <a:ext cx="2901696" cy="304800"/>
          </a:xfrm>
          <a:prstGeom prst="rect">
            <a:avLst/>
          </a:prstGeom>
        </p:spPr>
      </p:pic>
      <p:pic>
        <p:nvPicPr>
          <p:cNvPr id="14" name="Picture 13" descr="4616387d26fd7c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299" y="4424503"/>
            <a:ext cx="2231136" cy="4328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994479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She added the squares; a leg must be shorter than 13 cm. Subtract: the leg is 12 cm.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has legs of 12 m and 5 m. How long is the hypotenuse?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5740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has legs of 3 ft and 8 ft. How long is the hypotenuse, exactly and to the nearest tenth?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9864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98648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has a hypotenuse of 39 cm and one leg of 36 cm. How long is the other leg?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3989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3989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has a hypotenuse of 11 inches and one leg of 4 inches. How long is the other leg, exactly and to the nearest tenth?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8114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581144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The right triangle on your paper has legs of 6 m and 11 m. How long is its hypotenuse, to the nearest tenth?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42239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422392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has a hypotenuse of 25 yd and one leg of 24 yd. The other leg is x. Write the equation that finds x, then find x.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6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Pythagorean theorem: find the missing leg or hypotenuse length — MTM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Pythagorean Theorem in Real-World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a length in a real situation by finding the right triangle inside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466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right triangle: hypotenuse 25 ft, one leg 24 ft. The other leg?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73162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Do sides of 9, 40 and 41 make a right triangle?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665476"/>
            <a:ext cx="95867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plan's scale is 1 in : 4 ft. A wall is 3.5 inches on it. Real length?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78124"/>
            <a:ext cx="73944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How many right angles does a rectangle have?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466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right triangle: hypotenuse 25 ft, one leg 24 ft. The other leg?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7006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7 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73162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Do sides of 9, 40 and 41 make a right triangle?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67228"/>
            <a:ext cx="46626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Yes — 81 + 1,600 = 1,681 = 41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79876"/>
            <a:ext cx="95867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plan's scale is 1 in : 4 ft. A wall is 3.5 inches on it. Real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4037076"/>
            <a:ext cx="8977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14 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649724"/>
            <a:ext cx="73944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How many right angles does a rectangle have?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0426" y="4649724"/>
            <a:ext cx="4050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diagonal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segment from one corner of a rectangle to the opposite corner — the hypotenuse of the right triangle it cuts 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1733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rise and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46704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ramp's height and the distance along the ground it covers; the ramp itself is the hypotenuse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Find the right angle, then 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70e5aa953a89c7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993392"/>
            <a:ext cx="2304288" cy="2287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4491189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Sketch the story. Mark the right angle. The side across from it is 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222709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ladder, a diagonal, a ramp, a kite string: each is the hypotenuse.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c in a story: the diagonal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5bc09f29cf5922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3" y="1993392"/>
            <a:ext cx="2724912" cy="2002190"/>
          </a:xfrm>
          <a:prstGeom prst="rect">
            <a:avLst/>
          </a:prstGeom>
        </p:spPr>
      </p:pic>
      <p:pic>
        <p:nvPicPr>
          <p:cNvPr id="11" name="Picture 10" descr="b439acede6872a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528" y="4141886"/>
            <a:ext cx="4474464" cy="341376"/>
          </a:xfrm>
          <a:prstGeom prst="rect">
            <a:avLst/>
          </a:prstGeom>
        </p:spPr>
      </p:pic>
      <p:pic>
        <p:nvPicPr>
          <p:cNvPr id="12" name="Picture 11" descr="f5cca9bd60907f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511" y="4827686"/>
            <a:ext cx="2444496" cy="478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564455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path is 10 m. Along two sides is 14 m: the path is 4 m shorter.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A leg in a story: how high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9555e0952e2d1a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1" y="1993392"/>
            <a:ext cx="1179576" cy="2174344"/>
          </a:xfrm>
          <a:prstGeom prst="rect">
            <a:avLst/>
          </a:prstGeom>
        </p:spPr>
      </p:pic>
      <p:pic>
        <p:nvPicPr>
          <p:cNvPr id="11" name="Picture 10" descr="e66f074be1227c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960" y="4314040"/>
            <a:ext cx="4419600" cy="341376"/>
          </a:xfrm>
          <a:prstGeom prst="rect">
            <a:avLst/>
          </a:prstGeom>
        </p:spPr>
      </p:pic>
      <p:pic>
        <p:nvPicPr>
          <p:cNvPr id="12" name="Picture 11" descr="ce5b1cc7936231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284" y="4999840"/>
            <a:ext cx="2282952" cy="478536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ramp rises 2 ft over a run of 13 ft along the ground.</a:t>
            </a:r>
          </a:p>
        </p:txBody>
      </p:sp>
      <p:pic>
        <p:nvPicPr>
          <p:cNvPr id="9" name="Picture 8" descr="g3059fda3489aab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276458"/>
            <a:ext cx="5120640" cy="11822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787881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long is the ramp, to the nearest tenth of a foot?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035716e3d9cb04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578096" cy="341376"/>
          </a:xfrm>
          <a:prstGeom prst="rect">
            <a:avLst/>
          </a:prstGeom>
        </p:spPr>
      </p:pic>
      <p:pic>
        <p:nvPicPr>
          <p:cNvPr id="9" name="Picture 8" descr="bb58d5f4ac9fa9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2657856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ramp is about 13.2 ft long.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computer screen is 7 inches tall and 10 inches 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its diagonal, to the nearest tenth of an inch?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computer screen is 7 inches tall and 10 inches 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its diagonal, to the nearest tenth of an inch?</a:t>
            </a:r>
          </a:p>
        </p:txBody>
      </p:sp>
      <p:pic>
        <p:nvPicPr>
          <p:cNvPr id="10" name="Picture 9" descr="d73bd93a04707f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679" y="2793649"/>
            <a:ext cx="4437888" cy="307848"/>
          </a:xfrm>
          <a:prstGeom prst="rect">
            <a:avLst/>
          </a:prstGeom>
        </p:spPr>
      </p:pic>
      <p:pic>
        <p:nvPicPr>
          <p:cNvPr id="11" name="Picture 10" descr="cb22f1747753ce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679" y="3291044"/>
            <a:ext cx="2450592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12.2 in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12-ft ladder leans on a wall. Its foot is 5 ft from the wall.</a:t>
            </a:r>
          </a:p>
        </p:txBody>
      </p:sp>
      <p:pic>
        <p:nvPicPr>
          <p:cNvPr id="9" name="Picture 8" descr="gdf66deaff3ad12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379" y="2276458"/>
            <a:ext cx="1508760" cy="23726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978329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high up the wall does it reach, to the nearest tenth of a foot?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a3ca4f2e3cf238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840224" cy="341376"/>
          </a:xfrm>
          <a:prstGeom prst="rect">
            <a:avLst/>
          </a:prstGeom>
        </p:spPr>
      </p:pic>
      <p:pic>
        <p:nvPicPr>
          <p:cNvPr id="9" name="Picture 8" descr="f6fe74ec98ff4c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2691384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It reaches about 10.9 ft up the wall.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13-ft ladder leans on a wall with its foot 6 ft from the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high does it reach, to the nearest tenth of a foot?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13-ft ladder leans on a wall with its foot 6 ft from the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high does it reach, to the nearest tenth of a foot?</a:t>
            </a:r>
          </a:p>
        </p:txBody>
      </p:sp>
      <p:pic>
        <p:nvPicPr>
          <p:cNvPr id="10" name="Picture 9" descr="2dacb2c8b5bb15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115" y="2796697"/>
            <a:ext cx="4322064" cy="304800"/>
          </a:xfrm>
          <a:prstGeom prst="rect">
            <a:avLst/>
          </a:prstGeom>
        </p:spPr>
      </p:pic>
      <p:pic>
        <p:nvPicPr>
          <p:cNvPr id="11" name="Picture 10" descr="4ae30c3b206efc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115" y="3291044"/>
            <a:ext cx="2401824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11.5 ft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swimming pool is 12 m long and 5 m 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its diagonal?</a:t>
            </a:r>
          </a:p>
        </p:txBody>
      </p:sp>
      <p:pic>
        <p:nvPicPr>
          <p:cNvPr id="10" name="Picture 9" descr="geb02edf9f23b2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59" y="2998436"/>
            <a:ext cx="3657600" cy="17106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99250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swimming pool is 12 m long and 5 m 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its diagonal?</a:t>
            </a:r>
          </a:p>
        </p:txBody>
      </p:sp>
      <p:pic>
        <p:nvPicPr>
          <p:cNvPr id="10" name="Picture 9" descr="geb02edf9f23b2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096" y="2998436"/>
            <a:ext cx="3657600" cy="1710607"/>
          </a:xfrm>
          <a:prstGeom prst="rect">
            <a:avLst/>
          </a:prstGeom>
        </p:spPr>
      </p:pic>
      <p:pic>
        <p:nvPicPr>
          <p:cNvPr id="11" name="Picture 10" descr="219a66f6baebe5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080" y="3459882"/>
            <a:ext cx="2429256" cy="262128"/>
          </a:xfrm>
          <a:prstGeom prst="rect">
            <a:avLst/>
          </a:prstGeom>
        </p:spPr>
      </p:pic>
      <p:pic>
        <p:nvPicPr>
          <p:cNvPr id="12" name="Picture 11" descr="a191707692ea71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7080" y="3932322"/>
            <a:ext cx="1819656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99250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13 m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15-ft ladder leans on a wall. Its foot is 9 ft from the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up the wall does it reach?</a:t>
            </a:r>
          </a:p>
        </p:txBody>
      </p:sp>
      <p:pic>
        <p:nvPicPr>
          <p:cNvPr id="10" name="Picture 9" descr="gdc12119b548fc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998436"/>
            <a:ext cx="2331720" cy="2376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5846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15-ft ladder leans on a wall. Its foot is 9 ft from the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up the wall does it reach?</a:t>
            </a:r>
          </a:p>
        </p:txBody>
      </p:sp>
      <p:pic>
        <p:nvPicPr>
          <p:cNvPr id="10" name="Picture 9" descr="gdc12119b548fc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892" y="2998436"/>
            <a:ext cx="2331720" cy="2376560"/>
          </a:xfrm>
          <a:prstGeom prst="rect">
            <a:avLst/>
          </a:prstGeom>
        </p:spPr>
      </p:pic>
      <p:pic>
        <p:nvPicPr>
          <p:cNvPr id="11" name="Picture 10" descr="6c71fea9fa85d5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995" y="3792858"/>
            <a:ext cx="2447544" cy="262128"/>
          </a:xfrm>
          <a:prstGeom prst="rect">
            <a:avLst/>
          </a:prstGeom>
        </p:spPr>
      </p:pic>
      <p:pic>
        <p:nvPicPr>
          <p:cNvPr id="12" name="Picture 11" descr="f3e91517e4c695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995" y="4265298"/>
            <a:ext cx="1871472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5846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 ft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ramp rises 4 ft over a run of 11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ramp, to the nearest tenth of a foot?</a:t>
            </a:r>
          </a:p>
        </p:txBody>
      </p:sp>
      <p:pic>
        <p:nvPicPr>
          <p:cNvPr id="10" name="Picture 9" descr="g2742e16789d1b8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803" y="2998436"/>
            <a:ext cx="3867912" cy="164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92678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ramp rises 4 ft over a run of 11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ramp, to the nearest tenth of a foot?</a:t>
            </a:r>
          </a:p>
        </p:txBody>
      </p:sp>
      <p:pic>
        <p:nvPicPr>
          <p:cNvPr id="10" name="Picture 9" descr="g2742e16789d1b8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087" y="2998436"/>
            <a:ext cx="3867912" cy="1644880"/>
          </a:xfrm>
          <a:prstGeom prst="rect">
            <a:avLst/>
          </a:prstGeom>
        </p:spPr>
      </p:pic>
      <p:pic>
        <p:nvPicPr>
          <p:cNvPr id="11" name="Picture 10" descr="a67103b6e306ec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384" y="3427018"/>
            <a:ext cx="2346960" cy="262128"/>
          </a:xfrm>
          <a:prstGeom prst="rect">
            <a:avLst/>
          </a:prstGeom>
        </p:spPr>
      </p:pic>
      <p:pic>
        <p:nvPicPr>
          <p:cNvPr id="12" name="Picture 11" descr="c7a7f848c47d41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384" y="3899458"/>
            <a:ext cx="2026920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92678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11.7 ft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26-ft ladder reaches 24 ft up a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from the wall is its foot?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 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35.4 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 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100 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815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26-ft ladder reaches 24 ft up a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from the wall is its foot?</a:t>
            </a:r>
          </a:p>
        </p:txBody>
      </p:sp>
      <p:pic>
        <p:nvPicPr>
          <p:cNvPr id="10" name="Picture 9" descr="0b6ac03f35af70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5" y="3113689"/>
            <a:ext cx="3102864" cy="307848"/>
          </a:xfrm>
          <a:prstGeom prst="rect">
            <a:avLst/>
          </a:prstGeom>
        </p:spPr>
      </p:pic>
      <p:pic>
        <p:nvPicPr>
          <p:cNvPr id="11" name="Picture 10" descr="d8fba3b616ac0c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15" y="3611084"/>
            <a:ext cx="2249424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10 ft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lawn is 9 m by 12 m. Ben walks along two sides; Ava walks straight across, corner to corner.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shorter is Ava's walk?</a:t>
            </a:r>
          </a:p>
        </p:txBody>
      </p:sp>
      <p:pic>
        <p:nvPicPr>
          <p:cNvPr id="10" name="Picture 9" descr="g207205bb1fdd32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19" y="3427807"/>
            <a:ext cx="2468880" cy="1800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114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lawn is 9 m by 12 m. Ben walks along two sides; Ava walks straight across, corner to corner.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shorter is Ava's walk?</a:t>
            </a:r>
          </a:p>
        </p:txBody>
      </p:sp>
      <p:pic>
        <p:nvPicPr>
          <p:cNvPr id="10" name="Picture 9" descr="g207205bb1fdd32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867" y="3427807"/>
            <a:ext cx="2468880" cy="1800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72267" y="3596399"/>
            <a:ext cx="28383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Along two sides:  </a:t>
            </a:r>
          </a:p>
        </p:txBody>
      </p:sp>
      <p:pic>
        <p:nvPicPr>
          <p:cNvPr id="12" name="Picture 11" descr="02842d48bbb1ca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488" y="3729321"/>
            <a:ext cx="1318498" cy="2123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72267" y="4099319"/>
            <a:ext cx="14501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Across:  </a:t>
            </a:r>
          </a:p>
        </p:txBody>
      </p:sp>
      <p:pic>
        <p:nvPicPr>
          <p:cNvPr id="14" name="Picture 13" descr="d00a5309a7c21b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243" y="4155231"/>
            <a:ext cx="2009251" cy="366379"/>
          </a:xfrm>
          <a:prstGeom prst="rect">
            <a:avLst/>
          </a:prstGeom>
        </p:spPr>
      </p:pic>
      <p:pic>
        <p:nvPicPr>
          <p:cNvPr id="15" name="Picture 14" descr="091e4f5866ccb7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7131" y="4737209"/>
            <a:ext cx="1325880" cy="213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55114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 m shorter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drone is 30 m from Maya, straight above a spot on the ground 18 m from 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length is the hypotenuse?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the 18 m on the 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the drone's height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the 30 m to the drone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none: no right angle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1088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drone is 30 m from Maya, straight above a spot on the ground 18 m from 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length is the hypotenuse?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2917" y="3478099"/>
            <a:ext cx="69128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square corner is under the drone.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2917" y="4017595"/>
            <a:ext cx="68229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from it: the 30 m to the drone.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the 30 m to the drone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box is 7 inches wide and 12 inches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Will a 14-in umbrella lie flat in it, corner to corner?</a:t>
            </a:r>
          </a:p>
        </p:txBody>
      </p:sp>
      <p:pic>
        <p:nvPicPr>
          <p:cNvPr id="10" name="Picture 9" descr="g3d0437d6ec0aa9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998436"/>
            <a:ext cx="2377440" cy="20088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290713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box is 7 inches wide and 12 inches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Will a 14-in umbrella lie flat in it, corner to corner?</a:t>
            </a:r>
          </a:p>
        </p:txBody>
      </p:sp>
      <p:pic>
        <p:nvPicPr>
          <p:cNvPr id="10" name="Picture 9" descr="g3d0437d6ec0aa9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603" y="2998436"/>
            <a:ext cx="2377440" cy="2008812"/>
          </a:xfrm>
          <a:prstGeom prst="rect">
            <a:avLst/>
          </a:prstGeom>
        </p:spPr>
      </p:pic>
      <p:pic>
        <p:nvPicPr>
          <p:cNvPr id="11" name="Picture 10" descr="0ad3c9708a1233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427" y="3608984"/>
            <a:ext cx="2438400" cy="262128"/>
          </a:xfrm>
          <a:prstGeom prst="rect">
            <a:avLst/>
          </a:prstGeom>
        </p:spPr>
      </p:pic>
      <p:pic>
        <p:nvPicPr>
          <p:cNvPr id="12" name="Picture 11" descr="63e6833ca8e297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427" y="4081424"/>
            <a:ext cx="2039112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29071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the diagonal is about 13.9 in.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10-ft ladder that weighs 25 pounds has its foot 7 ft from a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does it reach, to the nearest tenth of a foot?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10-ft ladder that weighs 25 pounds has its foot 7 ft from a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does it reach, to the nearest tenth of a foot?</a:t>
            </a:r>
          </a:p>
        </p:txBody>
      </p:sp>
      <p:pic>
        <p:nvPicPr>
          <p:cNvPr id="10" name="Picture 9" descr="d8068f4f04bc6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59" y="3116737"/>
            <a:ext cx="2703576" cy="304800"/>
          </a:xfrm>
          <a:prstGeom prst="rect">
            <a:avLst/>
          </a:prstGeom>
        </p:spPr>
      </p:pic>
      <p:pic>
        <p:nvPicPr>
          <p:cNvPr id="11" name="Picture 10" descr="1ef693a9e44a9e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359" y="3611084"/>
            <a:ext cx="2048256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7.1 ft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window is 12 ft above the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Why can an 11-ft ladder never reach it, wherever its foot stands?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window is 12 ft above the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Why can an 11-ft ladder never reach it, wherever its foot stands?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9839" y="3478099"/>
            <a:ext cx="85190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ladder is the hypotenuse, the longest side.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9839" y="4017595"/>
            <a:ext cx="74654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height is a leg, so it is less than 11 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height is a leg — always shorter than the 11-ft ladder.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 tablet screen is 5 inches wide and 8 inches tall. How long is its diagonal, to the nearest tenth of an inch?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8658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86584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 fire truck's 50-ft ladder reaches 48 ft up a building. How far from the building is its foot?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4378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43784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 ramp rises 3 ft over a run of 14 ft. How long is the ramp, to the nearest tenth of a foot?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0098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00984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 park is 7 m by 11 m. How much shorter is the walk straight across, corner to corner, than the walk along two sides? Give it to the nearest tenth of a meter.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14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114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Will a 10-in pencil lie flat in a box 7 inches by 8 inches, corner to corner?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5720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72000"/>
            <a:ext cx="9829800" cy="11247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 kite flies on 19 m of tight string. It is straight above a spot 12 m from the hand that holds the string, level with the hand. How high above the hand is the kite, to the nearest tenth of a meter?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6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Pythagorean theorem: word problems — 87U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Distance on the Coordinate Plane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the distance between two points: subtract on a line, and draw the right triangle when the segment is slanted.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3115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25-ft ladder reaches 20 ft up a wall. How far out is its foot?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74098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Do sides of 12, 35 and 37 make a right triangle?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665476"/>
            <a:ext cx="93384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map's scale is 1 cm : 5 km. Towns 3.4 cm apart are how far?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78124"/>
            <a:ext cx="33509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How far apart are </a:t>
            </a:r>
          </a:p>
        </p:txBody>
      </p:sp>
      <p:pic>
        <p:nvPicPr>
          <p:cNvPr id="12" name="Picture 11" descr="3f92619b08e1ef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296" y="3402663"/>
            <a:ext cx="666900" cy="2705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55196" y="3278124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4" name="Picture 13" descr="14ee079d1637d9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780" y="3402663"/>
            <a:ext cx="830659" cy="27055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71439" y="3278124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3115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25-ft ladder reaches 20 ft up a wall. How far out is its foot?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8782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15 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74098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Do sides of 12, 35 and 37 make a right triangle?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67228"/>
            <a:ext cx="47853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Yes — 144 + 1,225 = 1,369 = 37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79876"/>
            <a:ext cx="93384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map's scale is 1 cm : 5 km. Towns 3.4 cm apart are how far?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4037076"/>
            <a:ext cx="10991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17 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649724"/>
            <a:ext cx="33509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How far apart are </a:t>
            </a:r>
          </a:p>
        </p:txBody>
      </p:sp>
      <p:pic>
        <p:nvPicPr>
          <p:cNvPr id="15" name="Picture 14" descr="3f92619b08e1ef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296" y="4774263"/>
            <a:ext cx="666900" cy="27055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55196" y="4649724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7" name="Picture 16" descr="14ee079d1637d9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780" y="4774263"/>
            <a:ext cx="830659" cy="27055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71439" y="4649724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3551" y="4649724"/>
            <a:ext cx="3865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horizontal 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between two points with the same y: the difference of the x's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vertical 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between two points with the same x: the difference of the y's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844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legs on the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13818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horizontal and vertical segments under a slanted one; the slanted segment is the hypotenuse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On one line: subtract — and across zero, add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85ddcde18f0b2c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993392"/>
            <a:ext cx="5120640" cy="23357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453943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Same y: subtract the x's.  Same x: subtract the y's.</a:t>
            </a:r>
          </a:p>
        </p:txBody>
      </p:sp>
      <p:pic>
        <p:nvPicPr>
          <p:cNvPr id="12" name="Picture 11" descr="d9baf198c07caf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349599"/>
            <a:ext cx="1464333" cy="2753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51885" y="5229806"/>
            <a:ext cx="39788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 across zero, 4 and 5 add.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Slanted: draw the right triangle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76612d3fac7ce1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19" y="1993392"/>
            <a:ext cx="2926080" cy="2594003"/>
          </a:xfrm>
          <a:prstGeom prst="rect">
            <a:avLst/>
          </a:prstGeom>
        </p:spPr>
      </p:pic>
      <p:pic>
        <p:nvPicPr>
          <p:cNvPr id="11" name="Picture 10" descr="8c9bdc06edb310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90" y="4733699"/>
            <a:ext cx="2636520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8510" y="4710839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3" name="Picture 12" descr="848bbba5727756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673" y="4795040"/>
            <a:ext cx="752856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548350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legs are the across and the up. The distance is the hypotenuse.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The legs come from the coordinates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e7abd8d941aa4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93392"/>
            <a:ext cx="3017520" cy="27624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00771" y="4879272"/>
            <a:ext cx="14345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2" name="Picture 11" descr="2a151f79b2b1c7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210" y="4987556"/>
            <a:ext cx="1612407" cy="3085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10618" y="4879272"/>
            <a:ext cx="17346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down  </a:t>
            </a:r>
          </a:p>
        </p:txBody>
      </p:sp>
      <p:pic>
        <p:nvPicPr>
          <p:cNvPr id="14" name="Picture 13" descr="3a2b7cef219f26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097" y="4984873"/>
            <a:ext cx="1652651" cy="311213"/>
          </a:xfrm>
          <a:prstGeom prst="rect">
            <a:avLst/>
          </a:prstGeom>
        </p:spPr>
      </p:pic>
      <p:pic>
        <p:nvPicPr>
          <p:cNvPr id="15" name="Picture 14" descr="d91104f1f4f96e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510" y="5615745"/>
            <a:ext cx="2697480" cy="3413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16990" y="5598600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7" name="Picture 16" descr="d8b0b39714d6c2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5153" y="5587932"/>
            <a:ext cx="2276856" cy="478536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3565" y="208026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4068972f18107b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636" y="2197798"/>
            <a:ext cx="1057465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34102" y="20802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9871f90388a14c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609" y="2197798"/>
            <a:ext cx="874204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24813" y="20802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f64a283fabf590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831848" cy="353568"/>
          </a:xfrm>
          <a:prstGeom prst="rect">
            <a:avLst/>
          </a:prstGeom>
        </p:spPr>
      </p:pic>
      <p:pic>
        <p:nvPicPr>
          <p:cNvPr id="9" name="Picture 8" descr="120985f9a5e717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8128"/>
            <a:ext cx="133807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 units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0634" y="157734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863e3bd0d756c0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706" y="1699831"/>
            <a:ext cx="871728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25434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0e6cedc5ae0e63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941" y="1699831"/>
            <a:ext cx="705802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47743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8158" y="157734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25eb277be65ac9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230" y="1697355"/>
            <a:ext cx="874204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25434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a41215e6290584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941" y="1697355"/>
            <a:ext cx="708279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50220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f063d0108ae690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734" y="2453068"/>
            <a:ext cx="1819656" cy="3169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88870" y="2875788"/>
            <a:ext cx="1548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check:  </a:t>
            </a:r>
          </a:p>
        </p:txBody>
      </p:sp>
      <p:pic>
        <p:nvPicPr>
          <p:cNvPr id="15" name="Picture 14" descr="9ff67c01493767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811" y="2996660"/>
            <a:ext cx="1375600" cy="2513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11 units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4349" y="144018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cf4bfc8301ccbb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421" y="1560195"/>
            <a:ext cx="856868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14290" y="144018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de663e1127867f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797" y="1557718"/>
            <a:ext cx="713232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44029" y="144018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f9ec2368c5afe7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966" y="2148840"/>
            <a:ext cx="3085586" cy="3517421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64db5025ba36da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755136" cy="353568"/>
          </a:xfrm>
          <a:prstGeom prst="rect">
            <a:avLst/>
          </a:prstGeom>
        </p:spPr>
      </p:pic>
      <p:pic>
        <p:nvPicPr>
          <p:cNvPr id="9" name="Picture 8" descr="9b4c53d9bae6f4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8128"/>
            <a:ext cx="2980944" cy="341376"/>
          </a:xfrm>
          <a:prstGeom prst="rect">
            <a:avLst/>
          </a:prstGeom>
        </p:spPr>
      </p:pic>
      <p:pic>
        <p:nvPicPr>
          <p:cNvPr id="10" name="Picture 9" descr="f5cca9bd60907f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63824"/>
            <a:ext cx="2444496" cy="47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 units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9487" y="157734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3880271116b9ce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559" y="1699831"/>
            <a:ext cx="1054989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7548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fdf702a474e8a8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054" y="1697355"/>
            <a:ext cx="676084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0139" y="1577340"/>
            <a:ext cx="33890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to the nearest tenth.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7011" y="157734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80615cb9324181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82" y="1697355"/>
            <a:ext cx="1057465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7548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95cc6bf05af792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054" y="1694878"/>
            <a:ext cx="678561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615" y="1577340"/>
            <a:ext cx="33890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to the nearest tenth.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686" y="2336292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4" name="Picture 13" descr="57962fee0f6680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453" y="2451639"/>
            <a:ext cx="1671161" cy="31765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37614" y="2336292"/>
            <a:ext cx="1287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up  </a:t>
            </a:r>
          </a:p>
        </p:txBody>
      </p:sp>
      <p:pic>
        <p:nvPicPr>
          <p:cNvPr id="16" name="Picture 15" descr="e1855d5e17edb2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7532" y="2451639"/>
            <a:ext cx="1651825" cy="317658"/>
          </a:xfrm>
          <a:prstGeom prst="rect">
            <a:avLst/>
          </a:prstGeom>
        </p:spPr>
      </p:pic>
      <p:pic>
        <p:nvPicPr>
          <p:cNvPr id="17" name="Picture 16" descr="f75d31cf019ff7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550" y="2954464"/>
            <a:ext cx="2474976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57526" y="2886456"/>
            <a:ext cx="517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9" name="Picture 18" descr="2036ec5ceaa312e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7412" y="2898648"/>
            <a:ext cx="2069591" cy="4328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√65 ≈ 8.1 units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a6597be3d74db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74151"/>
            <a:ext cx="1074801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7204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e1a6e4fc0d2e3c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667" y="1969198"/>
            <a:ext cx="874204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48871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5fd5df3d6d682a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71675"/>
            <a:ext cx="1077277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9680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4a640eeb704727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143" y="1966722"/>
            <a:ext cx="876681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53824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2b25f04dd06e36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0743" y="2696908"/>
            <a:ext cx="1886712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 units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6c1213adfa61f8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69198"/>
            <a:ext cx="874204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06607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67db46e2c7538c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070" y="1971675"/>
            <a:ext cx="683514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57584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8e8dcd55f53bb6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66722"/>
            <a:ext cx="876681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09084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a65f16c2c6afe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547" y="1969198"/>
            <a:ext cx="685990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2537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c4872da53ead36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3603" y="2699956"/>
            <a:ext cx="1850136" cy="3169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 units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897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distance between </a:t>
            </a:r>
          </a:p>
        </p:txBody>
      </p:sp>
      <p:pic>
        <p:nvPicPr>
          <p:cNvPr id="9" name="Picture 8" descr="9c29bd96c421c9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773" y="1971675"/>
            <a:ext cx="864298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9072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c3080bd209d99f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534" y="1971675"/>
            <a:ext cx="668655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95189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62432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62432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31012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31012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−8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897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distance between </a:t>
            </a:r>
          </a:p>
        </p:txBody>
      </p:sp>
      <p:pic>
        <p:nvPicPr>
          <p:cNvPr id="9" name="Picture 8" descr="dbc4a837c96d2a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773" y="1969198"/>
            <a:ext cx="866775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61548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f55c03bbe67171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9011" y="1969198"/>
            <a:ext cx="671131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00142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eb579ab8aa5164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899" y="2699956"/>
            <a:ext cx="1682496" cy="3169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8 units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0691fbdd0b8a9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74151"/>
            <a:ext cx="1295209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27612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487a0ba682d46f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075" y="1969198"/>
            <a:ext cx="894016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89092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gb16c9bf643697f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562" y="2532888"/>
            <a:ext cx="2570394" cy="27523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a54c215aeb1019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71675"/>
            <a:ext cx="1297686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30089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21a8358e07e684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552" y="1966722"/>
            <a:ext cx="896493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94045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gb16c9bf643697f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174" y="2532888"/>
            <a:ext cx="2570394" cy="27523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17089" y="3177539"/>
            <a:ext cx="24236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across 9, up 12</a:t>
            </a:r>
          </a:p>
        </p:txBody>
      </p:sp>
      <p:pic>
        <p:nvPicPr>
          <p:cNvPr id="15" name="Picture 14" descr="2899ab4d0ffda98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953" y="3766661"/>
            <a:ext cx="2429256" cy="262128"/>
          </a:xfrm>
          <a:prstGeom prst="rect">
            <a:avLst/>
          </a:prstGeom>
        </p:spPr>
      </p:pic>
      <p:pic>
        <p:nvPicPr>
          <p:cNvPr id="16" name="Picture 15" descr="c869a797ec94ec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1953" y="4318349"/>
            <a:ext cx="725424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 units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94e952a37bd3c5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71675"/>
            <a:ext cx="1270444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02847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c1f81a0d66e2bf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310" y="1974151"/>
            <a:ext cx="896493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66803" y="1851660"/>
            <a:ext cx="3646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to the nearest tenth?</a:t>
            </a:r>
          </a:p>
        </p:txBody>
      </p:sp>
      <p:pic>
        <p:nvPicPr>
          <p:cNvPr id="13" name="Picture 12" descr="ge7274e332c7185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219" y="2532888"/>
            <a:ext cx="2501080" cy="2752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f67d1259734e5c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69198"/>
            <a:ext cx="1272921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05324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0be704d8279190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787" y="1971675"/>
            <a:ext cx="898969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71756" y="1851660"/>
            <a:ext cx="3646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to the nearest tenth?</a:t>
            </a:r>
          </a:p>
        </p:txBody>
      </p:sp>
      <p:pic>
        <p:nvPicPr>
          <p:cNvPr id="13" name="Picture 12" descr="ge7274e332c7185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032" y="2532888"/>
            <a:ext cx="2501080" cy="2752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24633" y="3177540"/>
            <a:ext cx="22820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across 5, up 8</a:t>
            </a:r>
          </a:p>
        </p:txBody>
      </p:sp>
      <p:pic>
        <p:nvPicPr>
          <p:cNvPr id="15" name="Picture 14" descr="2328d08f5bfa39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497" y="3766661"/>
            <a:ext cx="2121408" cy="262128"/>
          </a:xfrm>
          <a:prstGeom prst="rect">
            <a:avLst/>
          </a:prstGeom>
        </p:spPr>
      </p:pic>
      <p:pic>
        <p:nvPicPr>
          <p:cNvPr id="16" name="Picture 15" descr="e6364691b284b66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497" y="4239101"/>
            <a:ext cx="1786128" cy="3688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√89 ≈ 9.4 units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5993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gives the distance between </a:t>
            </a:r>
          </a:p>
        </p:txBody>
      </p:sp>
      <p:pic>
        <p:nvPicPr>
          <p:cNvPr id="9" name="Picture 8" descr="afbf59c4acfdfe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664" y="1974151"/>
            <a:ext cx="718185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14849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f481fc1d2fe870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312" y="1971675"/>
            <a:ext cx="1032700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15012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79192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4" name="Picture 13" descr="765d97c3446b7c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2624328"/>
            <a:ext cx="1517904" cy="4785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59" y="2679192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6" name="Picture 15" descr="3c70701c2c439e9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2624328"/>
            <a:ext cx="1569720" cy="4785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91640" y="335889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8" name="Picture 17" descr="1e5420f7c2c396c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568" y="3304032"/>
            <a:ext cx="1536192" cy="4785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59" y="335889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0" name="Picture 19" descr="7e1151bc898f59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88" y="3346704"/>
            <a:ext cx="762000" cy="2773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5993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gives the distance between </a:t>
            </a:r>
          </a:p>
        </p:txBody>
      </p:sp>
      <p:pic>
        <p:nvPicPr>
          <p:cNvPr id="9" name="Picture 8" descr="e5863a5afd993e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664" y="1971675"/>
            <a:ext cx="720661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17326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218ca33af7e810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88" y="1969198"/>
            <a:ext cx="1035177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19965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9732" y="2583180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4" name="Picture 13" descr="60439a2a7a9877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498" y="2701290"/>
            <a:ext cx="1690497" cy="314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38995" y="2583180"/>
            <a:ext cx="1287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up  </a:t>
            </a:r>
          </a:p>
        </p:txBody>
      </p:sp>
      <p:pic>
        <p:nvPicPr>
          <p:cNvPr id="16" name="Picture 15" descr="89bd363145e9a7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913" y="2695765"/>
            <a:ext cx="1662874" cy="320421"/>
          </a:xfrm>
          <a:prstGeom prst="rect">
            <a:avLst/>
          </a:prstGeom>
        </p:spPr>
      </p:pic>
      <p:pic>
        <p:nvPicPr>
          <p:cNvPr id="17" name="Picture 16" descr="dd5f279e456d3ec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4596" y="3145536"/>
            <a:ext cx="2526792" cy="4328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√(7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+ 6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) = √85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8968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</a:t>
            </a:r>
          </a:p>
        </p:txBody>
      </p:sp>
      <p:pic>
        <p:nvPicPr>
          <p:cNvPr id="9" name="Picture 8" descr="7048afd5967e5b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178" y="1971675"/>
            <a:ext cx="1035177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29355" y="1851660"/>
            <a:ext cx="28443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from the origin?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8968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</a:t>
            </a:r>
          </a:p>
        </p:txBody>
      </p:sp>
      <p:pic>
        <p:nvPicPr>
          <p:cNvPr id="9" name="Picture 8" descr="66de72f5c26fc0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178" y="1969198"/>
            <a:ext cx="1037653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31831" y="1851660"/>
            <a:ext cx="28443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from the origin?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0419" y="2583180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2" name="Picture 11" descr="9df1fa8e4b6e59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185" y="2704052"/>
            <a:ext cx="168497" cy="2486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87683" y="2583180"/>
            <a:ext cx="18018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down  </a:t>
            </a:r>
          </a:p>
        </p:txBody>
      </p:sp>
      <p:pic>
        <p:nvPicPr>
          <p:cNvPr id="14" name="Picture 13" descr="d31ebf8ea64734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2353" y="2701290"/>
            <a:ext cx="325945" cy="248602"/>
          </a:xfrm>
          <a:prstGeom prst="rect">
            <a:avLst/>
          </a:prstGeom>
        </p:spPr>
      </p:pic>
      <p:pic>
        <p:nvPicPr>
          <p:cNvPr id="15" name="Picture 14" descr="bad877a561fe219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5283" y="3190684"/>
            <a:ext cx="2874264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09547" y="3122676"/>
            <a:ext cx="4131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7" name="Picture 16" descr="d382120c751305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5572" y="3242500"/>
            <a:ext cx="850392" cy="2529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13 units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1763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town map in miles, the school is at </a:t>
            </a:r>
          </a:p>
        </p:txBody>
      </p:sp>
      <p:pic>
        <p:nvPicPr>
          <p:cNvPr id="9" name="Picture 8" descr="badd1a413eb604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663" y="1971675"/>
            <a:ext cx="866775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40438" y="1851660"/>
            <a:ext cx="292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22295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library at </a:t>
            </a:r>
          </a:p>
        </p:txBody>
      </p:sp>
      <p:pic>
        <p:nvPicPr>
          <p:cNvPr id="12" name="Picture 11" descr="a52a7da6d9ceef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839" y="2584323"/>
            <a:ext cx="713232" cy="28232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40071" y="2464308"/>
            <a:ext cx="33479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the town hall at </a:t>
            </a:r>
          </a:p>
        </p:txBody>
      </p:sp>
      <p:pic>
        <p:nvPicPr>
          <p:cNvPr id="14" name="Picture 13" descr="638a526335cefa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850" y="2584323"/>
            <a:ext cx="715708" cy="2823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66558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the school from the library?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1763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town map in miles, the school is at </a:t>
            </a:r>
          </a:p>
        </p:txBody>
      </p:sp>
      <p:pic>
        <p:nvPicPr>
          <p:cNvPr id="9" name="Picture 8" descr="8f4de137902d99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663" y="1969198"/>
            <a:ext cx="869251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42915" y="1851660"/>
            <a:ext cx="292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22295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library at </a:t>
            </a:r>
          </a:p>
        </p:txBody>
      </p:sp>
      <p:pic>
        <p:nvPicPr>
          <p:cNvPr id="12" name="Picture 11" descr="c91a08a95e1981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839" y="2581846"/>
            <a:ext cx="715708" cy="28479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42547" y="2464308"/>
            <a:ext cx="33479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the town hall at </a:t>
            </a:r>
          </a:p>
        </p:txBody>
      </p:sp>
      <p:pic>
        <p:nvPicPr>
          <p:cNvPr id="14" name="Picture 13" descr="63ac53719e49d52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326" y="2581846"/>
            <a:ext cx="718185" cy="28479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71511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the school from the library?</a:t>
            </a:r>
          </a:p>
        </p:txBody>
      </p:sp>
      <p:pic>
        <p:nvPicPr>
          <p:cNvPr id="17" name="Picture 16" descr="478ab4916ad6888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1328" y="3851702"/>
            <a:ext cx="1691640" cy="3169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 mi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3818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Ty says </a:t>
            </a:r>
          </a:p>
        </p:txBody>
      </p:sp>
      <p:pic>
        <p:nvPicPr>
          <p:cNvPr id="9" name="Picture 8" descr="4c1bd0b477442b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175" y="1971675"/>
            <a:ext cx="884110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63285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0eb549c7a965b3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792" y="1971675"/>
            <a:ext cx="705802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85594" y="1851660"/>
            <a:ext cx="2859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are 4 units apart.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did he do? What is the distance?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3818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Ty says </a:t>
            </a:r>
          </a:p>
        </p:txBody>
      </p:sp>
      <p:pic>
        <p:nvPicPr>
          <p:cNvPr id="9" name="Picture 8" descr="24d8e4bd60f45a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175" y="1969198"/>
            <a:ext cx="886587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65762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5d1fac1bf15402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268" y="1969198"/>
            <a:ext cx="710755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93024" y="1851660"/>
            <a:ext cx="2859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are 4 units apart.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did he do? What is the distance?</a:t>
            </a:r>
          </a:p>
        </p:txBody>
      </p:sp>
      <p:pic>
        <p:nvPicPr>
          <p:cNvPr id="14" name="Picture 13" descr="ccda51d4ef7fae9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542" y="3239054"/>
            <a:ext cx="1844040" cy="3169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73678" y="3661774"/>
            <a:ext cx="1548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check:  </a:t>
            </a:r>
          </a:p>
        </p:txBody>
      </p:sp>
      <p:pic>
        <p:nvPicPr>
          <p:cNvPr id="16" name="Picture 15" descr="9c3e88f0783f4e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4618" y="3782646"/>
            <a:ext cx="1408747" cy="2513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He subtracted 7 − 3. Across zero the pieces add: 10 units.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4053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10" name="Picture 9" descr="bd4ea132c00445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546" y="1581912"/>
            <a:ext cx="868680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39226" y="1495044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2" name="Picture 11" descr="93b7b061e8d06e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810" y="1583436"/>
            <a:ext cx="682752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07562" y="1495044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089403"/>
            <a:ext cx="4053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16" name="Picture 15" descr="b46983e41caf49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546" y="2177795"/>
            <a:ext cx="874776" cy="2804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45322" y="2089403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8" name="Picture 17" descr="8432d63f6064aa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0906" y="2177795"/>
            <a:ext cx="719328" cy="2804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50234" y="2089403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683763"/>
            <a:ext cx="4053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22" name="Picture 21" descr="2e475e20ec271da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0546" y="2770631"/>
            <a:ext cx="853440" cy="2834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23986" y="2683763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24" name="Picture 23" descr="9a3929db1861857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9570" y="2772155"/>
            <a:ext cx="899160" cy="28041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08730" y="2683763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278123"/>
            <a:ext cx="4053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28" name="Picture 27" descr="b490da1242b960c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0546" y="3364991"/>
            <a:ext cx="877824" cy="2834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48370" y="3278123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30" name="Picture 29" descr="9cc9d23d4888b00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3954" y="3364991"/>
            <a:ext cx="856488" cy="28346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90442" y="3278123"/>
            <a:ext cx="32566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to the nearest tenth.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3872483"/>
            <a:ext cx="17286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How far is </a:t>
            </a:r>
          </a:p>
        </p:txBody>
      </p:sp>
      <p:pic>
        <p:nvPicPr>
          <p:cNvPr id="34" name="Picture 33" descr="22aa6f172de2346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46014" y="3959352"/>
            <a:ext cx="896112" cy="2834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042126" y="3872483"/>
            <a:ext cx="55557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from the origin, to the nearest tenth?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4668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466844"/>
            <a:ext cx="53372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On a map in kilometers, a pool is at </a:t>
            </a:r>
          </a:p>
        </p:txBody>
      </p:sp>
      <p:pic>
        <p:nvPicPr>
          <p:cNvPr id="38" name="Picture 37" descr="059c3899fa754e3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4582" y="4553712"/>
            <a:ext cx="1048512" cy="28346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803094" y="4466844"/>
            <a:ext cx="23125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a park at </a:t>
            </a:r>
          </a:p>
        </p:txBody>
      </p:sp>
      <p:pic>
        <p:nvPicPr>
          <p:cNvPr id="40" name="Picture 39" descr="58e193b7312e280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78521" y="4553712"/>
            <a:ext cx="685800" cy="28346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664321" y="4466844"/>
            <a:ext cx="3597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4905756"/>
            <a:ext cx="95739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How far apart are they in a straight line, to the nearest tenth of a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5344668"/>
            <a:ext cx="17069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kilometer?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6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distance between two points on a horizontal or vertical line — L9V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distance between two points — ZBP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Real-World Coordinate-Plane Problems; Perimeter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the perimeter of a figure on the coordinate plane, and a straight-line distance on a map.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315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How far apart are </a:t>
            </a:r>
          </a:p>
        </p:txBody>
      </p:sp>
      <p:pic>
        <p:nvPicPr>
          <p:cNvPr id="9" name="Picture 8" descr="d0d844374dd4e3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976" y="1564719"/>
            <a:ext cx="1003911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56887" y="1440180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afbf59c4acfdfe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471" y="1567092"/>
            <a:ext cx="688260" cy="268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30732" y="1440180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052828"/>
            <a:ext cx="90898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Legs of 2 m and 7 m. The hypotenuse, to the nearest tenth?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90749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map's scale is 1 in : 30 mi. Towns 2.5 in apart are how far?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78124"/>
            <a:ext cx="27369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The rectangle </a:t>
            </a:r>
          </a:p>
        </p:txBody>
      </p:sp>
      <p:pic>
        <p:nvPicPr>
          <p:cNvPr id="16" name="Picture 15" descr="badd1a413eb604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329" y="3402663"/>
            <a:ext cx="830659" cy="27055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04988" y="32781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8" name="Picture 17" descr="a52a7da6d9ceef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050" y="3402663"/>
            <a:ext cx="683514" cy="27055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22564" y="32781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0" name="Picture 19" descr="3e7ed357695194c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627" y="3402663"/>
            <a:ext cx="842525" cy="2705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99153" y="32781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2" name="Picture 21" descr="f481fc1d2fe870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3215" y="3402663"/>
            <a:ext cx="989671" cy="27055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522886" y="3278124"/>
            <a:ext cx="23378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its perimeter?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315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How far apart are </a:t>
            </a:r>
          </a:p>
        </p:txBody>
      </p:sp>
      <p:pic>
        <p:nvPicPr>
          <p:cNvPr id="9" name="Picture 8" descr="d0d844374dd4e3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976" y="1564719"/>
            <a:ext cx="1003911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56887" y="1440180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afbf59c4acfdfe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471" y="1567092"/>
            <a:ext cx="688260" cy="268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30732" y="1440180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843" y="1440180"/>
            <a:ext cx="14059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052828"/>
            <a:ext cx="90898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Legs of 2 m and 7 m. The hypotenuse, to the nearest tenth?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510028"/>
            <a:ext cx="19095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√53 ≈ 7.3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122676"/>
            <a:ext cx="90749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map's scale is 1 in : 30 mi. Towns 2.5 in apart are how far?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579876"/>
            <a:ext cx="10191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75 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192524"/>
            <a:ext cx="27369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The rectangle </a:t>
            </a:r>
          </a:p>
        </p:txBody>
      </p:sp>
      <p:pic>
        <p:nvPicPr>
          <p:cNvPr id="19" name="Picture 18" descr="badd1a413eb604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329" y="4317063"/>
            <a:ext cx="830659" cy="2705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04988" y="41925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1" name="Picture 20" descr="a52a7da6d9ceef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050" y="4317063"/>
            <a:ext cx="683514" cy="27055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22564" y="41925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3" name="Picture 22" descr="3e7ed357695194c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627" y="4317063"/>
            <a:ext cx="842525" cy="27055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99153" y="41925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5" name="Picture 24" descr="f481fc1d2fe870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3215" y="4317063"/>
            <a:ext cx="989671" cy="27055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522886" y="4192524"/>
            <a:ext cx="23378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its perimeter?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4649724"/>
            <a:ext cx="14021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20 units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perimeter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distance around a figure: the sum of all its sides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height of a triangle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segment from a corner straight to the opposite side, meeting it at a right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803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straight-line distance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07407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length of the one segment between two points — on a map, straight across, not along the streets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Perimeter: every side — a slanted one by its triangle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31351b3fe50c96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93392"/>
            <a:ext cx="2834640" cy="25129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82475" y="4629777"/>
            <a:ext cx="24022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slanted side:  </a:t>
            </a:r>
          </a:p>
        </p:txBody>
      </p:sp>
      <p:pic>
        <p:nvPicPr>
          <p:cNvPr id="12" name="Picture 11" descr="8c9bdc06edb310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524" y="4687086"/>
            <a:ext cx="2320686" cy="3004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68211" y="4629777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4" name="Picture 13" descr="848bbba5727756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374" y="4746109"/>
            <a:ext cx="662670" cy="241458"/>
          </a:xfrm>
          <a:prstGeom prst="rect">
            <a:avLst/>
          </a:prstGeom>
        </p:spPr>
      </p:pic>
      <p:pic>
        <p:nvPicPr>
          <p:cNvPr id="15" name="Picture 14" descr="773f0a6bae0a03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780" y="5396730"/>
            <a:ext cx="2727960" cy="277368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Along the streets, or straight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66df1d0e66359e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93392"/>
            <a:ext cx="2834640" cy="28769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78806" y="4993739"/>
            <a:ext cx="15692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streets:  </a:t>
            </a:r>
          </a:p>
        </p:txBody>
      </p:sp>
      <p:pic>
        <p:nvPicPr>
          <p:cNvPr id="12" name="Picture 11" descr="eab0f25709b4c0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929" y="5104705"/>
            <a:ext cx="1387046" cy="2441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97975" y="4993739"/>
            <a:ext cx="13218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blocks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0606" y="5679539"/>
            <a:ext cx="1730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straight:  </a:t>
            </a:r>
          </a:p>
        </p:txBody>
      </p:sp>
      <p:pic>
        <p:nvPicPr>
          <p:cNvPr id="15" name="Picture 14" descr="9b4c53d9bae6f4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689" y="5736847"/>
            <a:ext cx="2623851" cy="3004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97541" y="5679539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7" name="Picture 16" descr="0137bb391ff620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704" y="5793188"/>
            <a:ext cx="850471" cy="24414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96176" y="5679539"/>
            <a:ext cx="13218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blocks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No right angle: split it — and round once, at the end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9b174812ddca13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59" y="1993392"/>
            <a:ext cx="205740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81518" y="4179101"/>
            <a:ext cx="32763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each slanted side:  </a:t>
            </a:r>
          </a:p>
        </p:txBody>
      </p:sp>
      <p:pic>
        <p:nvPicPr>
          <p:cNvPr id="12" name="Picture 11" descr="924c351cdfb9db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9" y="4236410"/>
            <a:ext cx="2320686" cy="3004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41396" y="4179101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4" name="Picture 13" descr="8accfca2019880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559" y="4197096"/>
            <a:ext cx="2390441" cy="421211"/>
          </a:xfrm>
          <a:prstGeom prst="rect">
            <a:avLst/>
          </a:prstGeom>
        </p:spPr>
      </p:pic>
      <p:pic>
        <p:nvPicPr>
          <p:cNvPr id="15" name="Picture 14" descr="b83bb1fe4162237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676" y="4947872"/>
            <a:ext cx="5916168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564243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Round once, at the end: 6 + 5.8 + 5.8 = 17.6 is short.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71299" y="1440180"/>
            <a:ext cx="3987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DEF has corners </a:t>
            </a:r>
          </a:p>
        </p:txBody>
      </p:sp>
      <p:pic>
        <p:nvPicPr>
          <p:cNvPr id="9" name="Picture 8" descr="22e665c31af511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122" y="1560195"/>
            <a:ext cx="1265491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87614" y="144018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c7c83211ba327c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620" y="1560195"/>
            <a:ext cx="1042606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71226" y="144018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0a02078d08fa465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7733" y="1557718"/>
            <a:ext cx="859345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47079" y="144018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5" name="Picture 14" descr="g10f73fa5acbaad4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675" y="2148840"/>
            <a:ext cx="2586168" cy="31638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56418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its perimeter.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89cc993aa9783d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245864" cy="353568"/>
          </a:xfrm>
          <a:prstGeom prst="rect">
            <a:avLst/>
          </a:prstGeom>
        </p:spPr>
      </p:pic>
      <p:pic>
        <p:nvPicPr>
          <p:cNvPr id="9" name="Picture 8" descr="78be168ada708d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8128"/>
            <a:ext cx="4504944" cy="408432"/>
          </a:xfrm>
          <a:prstGeom prst="rect">
            <a:avLst/>
          </a:prstGeom>
        </p:spPr>
      </p:pic>
      <p:pic>
        <p:nvPicPr>
          <p:cNvPr id="10" name="Picture 9" descr="fbb19df952207e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0880"/>
            <a:ext cx="2974848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24 units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perimeter of the triangle with corners</a:t>
            </a:r>
          </a:p>
        </p:txBody>
      </p:sp>
      <p:pic>
        <p:nvPicPr>
          <p:cNvPr id="9" name="Picture 8" descr="db67e819f9f41b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599" y="2238929"/>
            <a:ext cx="1057465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03064" y="2116438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12e3ad8100f4a2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071" y="2238929"/>
            <a:ext cx="894016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38087" y="211643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afbf59c4acfdfe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594" y="2238929"/>
            <a:ext cx="718185" cy="2798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72779" y="211643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perimeter of the triangle with corners</a:t>
            </a:r>
          </a:p>
        </p:txBody>
      </p:sp>
      <p:pic>
        <p:nvPicPr>
          <p:cNvPr id="9" name="Picture 8" descr="4f803786a8d178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884" y="2236453"/>
            <a:ext cx="1059942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01826" y="2116438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240347752cc7e8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832" y="2236453"/>
            <a:ext cx="896493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39325" y="211643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e5863a5afd993e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832" y="2236453"/>
            <a:ext cx="720661" cy="2823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76494" y="211643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290" y="2875390"/>
            <a:ext cx="13639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6" name="Picture 15" descr="dd377e872e9d4e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1091" y="3005978"/>
            <a:ext cx="1442180" cy="270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43271" y="2875390"/>
            <a:ext cx="1119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up  </a:t>
            </a:r>
          </a:p>
        </p:txBody>
      </p:sp>
      <p:pic>
        <p:nvPicPr>
          <p:cNvPr id="18" name="Picture 17" descr="b75662d7fd6f12b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6034" y="3008311"/>
            <a:ext cx="1563528" cy="268366"/>
          </a:xfrm>
          <a:prstGeom prst="rect">
            <a:avLst/>
          </a:prstGeom>
        </p:spPr>
      </p:pic>
      <p:pic>
        <p:nvPicPr>
          <p:cNvPr id="19" name="Picture 18" descr="2899ab4d0ffda98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154" y="3464511"/>
            <a:ext cx="2429256" cy="2621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58410" y="3378310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1" name="Picture 20" descr="c869a797ec94ecf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0687" y="3513279"/>
            <a:ext cx="725424" cy="213360"/>
          </a:xfrm>
          <a:prstGeom prst="rect">
            <a:avLst/>
          </a:prstGeom>
        </p:spPr>
      </p:pic>
      <p:pic>
        <p:nvPicPr>
          <p:cNvPr id="22" name="Picture 21" descr="b1b8042aeba4014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9154" y="4016199"/>
            <a:ext cx="2380488" cy="2133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36 units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8496" y="1591967"/>
            <a:ext cx="68741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town map in blocks, Ana's home H is at </a:t>
            </a:r>
          </a:p>
        </p:txBody>
      </p:sp>
      <p:pic>
        <p:nvPicPr>
          <p:cNvPr id="9" name="Picture 8" descr="88254de881d2bf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5464" y="1711982"/>
            <a:ext cx="1047559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75254" y="2277767"/>
            <a:ext cx="28992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gym G at </a:t>
            </a:r>
          </a:p>
        </p:txBody>
      </p:sp>
      <p:pic>
        <p:nvPicPr>
          <p:cNvPr id="11" name="Picture 10" descr="d3f3db88036135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322" y="2400259"/>
            <a:ext cx="705802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43124" y="2277767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dc0aefe51d8e6f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19" y="2986427"/>
            <a:ext cx="2926080" cy="20519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36752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far along the streets? In a straight line, to the nearest tenth?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1ffce193f79756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251960" cy="350520"/>
          </a:xfrm>
          <a:prstGeom prst="rect">
            <a:avLst/>
          </a:prstGeom>
        </p:spPr>
      </p:pic>
      <p:pic>
        <p:nvPicPr>
          <p:cNvPr id="9" name="Picture 8" descr="13d4e50efd4c3b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5080"/>
            <a:ext cx="1530096" cy="277368"/>
          </a:xfrm>
          <a:prstGeom prst="rect">
            <a:avLst/>
          </a:prstGeom>
        </p:spPr>
      </p:pic>
      <p:pic>
        <p:nvPicPr>
          <p:cNvPr id="10" name="Picture 9" descr="5fa77f02f7f5d38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096767"/>
            <a:ext cx="5663184" cy="47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 blocks along the streets; about 8.6 blocks straight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1605" y="1577340"/>
            <a:ext cx="65340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town map in blocks, Ben's home is at </a:t>
            </a:r>
          </a:p>
        </p:txBody>
      </p:sp>
      <p:pic>
        <p:nvPicPr>
          <p:cNvPr id="9" name="Picture 8" descr="c24bc71b07f684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468" y="1699831"/>
            <a:ext cx="901446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27218" y="2263140"/>
            <a:ext cx="26039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park at </a:t>
            </a:r>
          </a:p>
        </p:txBody>
      </p:sp>
      <p:pic>
        <p:nvPicPr>
          <p:cNvPr id="11" name="Picture 10" descr="1f008430d4b708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042" y="2383155"/>
            <a:ext cx="1077277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71320" y="2263140"/>
            <a:ext cx="49001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How far is it along the streets?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a straight line, to the nearest tenth?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0367" y="1577340"/>
            <a:ext cx="65340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town map in blocks, Ben's home is at </a:t>
            </a:r>
          </a:p>
        </p:txBody>
      </p:sp>
      <p:pic>
        <p:nvPicPr>
          <p:cNvPr id="9" name="Picture 8" descr="66fd2bf88109e2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7230" y="1697355"/>
            <a:ext cx="903922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25980" y="2263140"/>
            <a:ext cx="26039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park at </a:t>
            </a:r>
          </a:p>
        </p:txBody>
      </p:sp>
      <p:pic>
        <p:nvPicPr>
          <p:cNvPr id="11" name="Picture 10" descr="000ce6e896ac28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804" y="2380678"/>
            <a:ext cx="1079754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72558" y="2263140"/>
            <a:ext cx="49001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How far is it along the streets?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a straight line, to the nearest tenth?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904" y="3561190"/>
            <a:ext cx="13639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5" name="Picture 14" descr="e1c78402da53da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704" y="3701112"/>
            <a:ext cx="142351" cy="21002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97055" y="3561190"/>
            <a:ext cx="15547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down  </a:t>
            </a:r>
          </a:p>
        </p:txBody>
      </p:sp>
      <p:pic>
        <p:nvPicPr>
          <p:cNvPr id="17" name="Picture 16" descr="f881daf22278d3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4690" y="3701112"/>
            <a:ext cx="142351" cy="2076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57042" y="3561190"/>
            <a:ext cx="1753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:   streets  </a:t>
            </a:r>
          </a:p>
        </p:txBody>
      </p:sp>
      <p:pic>
        <p:nvPicPr>
          <p:cNvPr id="19" name="Picture 18" descr="9ff67c01493767a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3804" y="3698779"/>
            <a:ext cx="1162145" cy="21235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227904" y="4064110"/>
            <a:ext cx="1642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straight:  </a:t>
            </a:r>
          </a:p>
        </p:txBody>
      </p:sp>
      <p:pic>
        <p:nvPicPr>
          <p:cNvPr id="21" name="Picture 20" descr="e5ca82a6025d91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3262" y="4152692"/>
            <a:ext cx="1934575" cy="26136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67838" y="4064110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3" name="Picture 22" descr="d3e2c57dc9fe8fb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115" y="4120022"/>
            <a:ext cx="1752552" cy="3663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463561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11 blocks along the streets; about 8.5 blocks straight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0174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ABC has corners </a:t>
            </a:r>
          </a:p>
        </p:txBody>
      </p:sp>
      <p:pic>
        <p:nvPicPr>
          <p:cNvPr id="9" name="Picture 8" descr="e0d0db1d29ad27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737" y="1969198"/>
            <a:ext cx="1280350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95088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68758c2952ccb3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094" y="1969198"/>
            <a:ext cx="1072324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08418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4665787323d98f8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925" y="1969198"/>
            <a:ext cx="896493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2141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perimeter.</a:t>
            </a:r>
          </a:p>
        </p:txBody>
      </p:sp>
      <p:pic>
        <p:nvPicPr>
          <p:cNvPr id="16" name="Picture 15" descr="gcc93785af0ed58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3071986"/>
            <a:ext cx="3840480" cy="20374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39292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0174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ABC has corners </a:t>
            </a:r>
          </a:p>
        </p:txBody>
      </p:sp>
      <p:pic>
        <p:nvPicPr>
          <p:cNvPr id="9" name="Picture 8" descr="e3b86c9ea95c89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737" y="1966722"/>
            <a:ext cx="1282827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97564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32135da6d8c755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70" y="1966722"/>
            <a:ext cx="1074801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3371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0c98c87b1cfc689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9878" y="1966722"/>
            <a:ext cx="901446" cy="287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31324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perimeter.</a:t>
            </a:r>
          </a:p>
        </p:txBody>
      </p:sp>
      <p:pic>
        <p:nvPicPr>
          <p:cNvPr id="16" name="Picture 15" descr="gcc93785af0ed58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5853" y="3071986"/>
            <a:ext cx="3840480" cy="2037475"/>
          </a:xfrm>
          <a:prstGeom prst="rect">
            <a:avLst/>
          </a:prstGeom>
        </p:spPr>
      </p:pic>
      <p:pic>
        <p:nvPicPr>
          <p:cNvPr id="17" name="Picture 16" descr="2ad16f491f3a9c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717" y="3497221"/>
            <a:ext cx="1563624" cy="2651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46341" y="3359204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9" name="Picture 18" descr="bea86e4d3b7a25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8618" y="3497221"/>
            <a:ext cx="1408176" cy="265176"/>
          </a:xfrm>
          <a:prstGeom prst="rect">
            <a:avLst/>
          </a:prstGeom>
        </p:spPr>
      </p:pic>
      <p:pic>
        <p:nvPicPr>
          <p:cNvPr id="20" name="Picture 19" descr="b5a3055c75d2f9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2717" y="3948325"/>
            <a:ext cx="2429256" cy="2621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11973" y="3862124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2" name="Picture 21" descr="323e35a470aba23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44250" y="3997093"/>
            <a:ext cx="719328" cy="213360"/>
          </a:xfrm>
          <a:prstGeom prst="rect">
            <a:avLst/>
          </a:prstGeom>
        </p:spPr>
      </p:pic>
      <p:pic>
        <p:nvPicPr>
          <p:cNvPr id="23" name="Picture 22" descr="b0cd45a756bbf01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2717" y="4500013"/>
            <a:ext cx="2383536" cy="2133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539292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30 units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595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corners </a:t>
            </a:r>
          </a:p>
        </p:txBody>
      </p:sp>
      <p:pic>
        <p:nvPicPr>
          <p:cNvPr id="9" name="Picture 8" descr="a97b0f10747f53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785" y="1974151"/>
            <a:ext cx="1069848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26633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9a6c540b81771a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639" y="1971675"/>
            <a:ext cx="879157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6796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1f888c65bc7e46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3303" y="1971675"/>
            <a:ext cx="681037" cy="2823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44341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perimeter, to the nearest tenth.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595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corners </a:t>
            </a:r>
          </a:p>
        </p:txBody>
      </p:sp>
      <p:pic>
        <p:nvPicPr>
          <p:cNvPr id="9" name="Picture 8" descr="1655e9e4782e57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785" y="1971675"/>
            <a:ext cx="1072324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29109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b732eb947b17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115" y="1969198"/>
            <a:ext cx="881634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1749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9dfcee36a543c9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256" y="1969198"/>
            <a:ext cx="683514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5177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perimeter, to the nearest tenth.</a:t>
            </a:r>
          </a:p>
        </p:txBody>
      </p:sp>
      <p:pic>
        <p:nvPicPr>
          <p:cNvPr id="16" name="Picture 15" descr="4ecb7174b2f126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7573" y="3260295"/>
            <a:ext cx="1402080" cy="2651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89653" y="3122278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8" name="Picture 17" descr="6c42fd71d3e069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1930" y="3260295"/>
            <a:ext cx="1438656" cy="265176"/>
          </a:xfrm>
          <a:prstGeom prst="rect">
            <a:avLst/>
          </a:prstGeom>
        </p:spPr>
      </p:pic>
      <p:pic>
        <p:nvPicPr>
          <p:cNvPr id="19" name="Picture 18" descr="9fdb8650e92ba2d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7573" y="3711399"/>
            <a:ext cx="2066543" cy="2621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54117" y="3625198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1" name="Picture 20" descr="6af8d51231c004d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6394" y="3680919"/>
            <a:ext cx="1094232" cy="368808"/>
          </a:xfrm>
          <a:prstGeom prst="rect">
            <a:avLst/>
          </a:prstGeom>
        </p:spPr>
      </p:pic>
      <p:pic>
        <p:nvPicPr>
          <p:cNvPr id="22" name="Picture 21" descr="95a936965c2fc42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73" y="4183839"/>
            <a:ext cx="2840736" cy="3688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7240" y="46996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22.8 units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4935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</a:t>
            </a:r>
          </a:p>
        </p:txBody>
      </p:sp>
      <p:pic>
        <p:nvPicPr>
          <p:cNvPr id="9" name="Picture 8" descr="73f75574cb7fd7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28" y="1969198"/>
            <a:ext cx="1305115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95943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1a9c39dd178fb7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950" y="1969198"/>
            <a:ext cx="1245679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82629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c9fced5befde40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635" y="1969198"/>
            <a:ext cx="889063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12699" y="1851660"/>
            <a:ext cx="30579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has no right angle.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perimeter.</a:t>
            </a:r>
          </a:p>
        </p:txBody>
      </p:sp>
      <p:pic>
        <p:nvPicPr>
          <p:cNvPr id="16" name="Picture 15" descr="g7e2e8b59de7d12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664" y="3071986"/>
            <a:ext cx="2508190" cy="221324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4935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</a:t>
            </a:r>
          </a:p>
        </p:txBody>
      </p:sp>
      <p:pic>
        <p:nvPicPr>
          <p:cNvPr id="9" name="Picture 8" descr="e5fb5ae81ad866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28" y="1966722"/>
            <a:ext cx="1307592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98420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2940cccf337b19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426" y="1966722"/>
            <a:ext cx="1248156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87582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c04b6b4f9e2e5e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588" y="1966722"/>
            <a:ext cx="891540" cy="287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20128" y="1851660"/>
            <a:ext cx="30579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has no right angle.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perimeter.</a:t>
            </a:r>
          </a:p>
        </p:txBody>
      </p:sp>
      <p:pic>
        <p:nvPicPr>
          <p:cNvPr id="16" name="Picture 15" descr="g1596dfd5ae91f8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6718" y="3071986"/>
            <a:ext cx="2508190" cy="221324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46428" y="3195629"/>
            <a:ext cx="3354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height from C to </a:t>
            </a:r>
          </a:p>
        </p:txBody>
      </p:sp>
      <p:pic>
        <p:nvPicPr>
          <p:cNvPr id="18" name="Picture 17" descr="a9e697a44b5878b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801" y="3326216"/>
            <a:ext cx="812101" cy="270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75902" y="3195629"/>
            <a:ext cx="4571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:  </a:t>
            </a:r>
          </a:p>
        </p:txBody>
      </p:sp>
      <p:pic>
        <p:nvPicPr>
          <p:cNvPr id="20" name="Picture 19" descr="d7ba9e475850f35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5940" y="3326216"/>
            <a:ext cx="1563528" cy="270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46428" y="3698549"/>
            <a:ext cx="8830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AC:  </a:t>
            </a:r>
          </a:p>
        </p:txBody>
      </p:sp>
      <p:pic>
        <p:nvPicPr>
          <p:cNvPr id="22" name="Picture 21" descr="f99e1e60b05ca13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2296" y="3787131"/>
            <a:ext cx="2310288" cy="26136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02585" y="3698549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4" name="Picture 23" descr="d65cbda9bdc0017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4862" y="3836137"/>
            <a:ext cx="718756" cy="21235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46428" y="4201469"/>
            <a:ext cx="8833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BC:  </a:t>
            </a:r>
          </a:p>
        </p:txBody>
      </p:sp>
      <p:pic>
        <p:nvPicPr>
          <p:cNvPr id="26" name="Picture 25" descr="4d8caafc7f3b642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2596" y="4290051"/>
            <a:ext cx="2314956" cy="26136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07552" y="4201469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8" name="Picture 27" descr="de21a50ad46b70b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39829" y="4339057"/>
            <a:ext cx="723423" cy="212359"/>
          </a:xfrm>
          <a:prstGeom prst="rect">
            <a:avLst/>
          </a:prstGeom>
        </p:spPr>
      </p:pic>
      <p:pic>
        <p:nvPicPr>
          <p:cNvPr id="29" name="Picture 28" descr="b5e1abcfea899ec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1292" y="4839358"/>
            <a:ext cx="2566416" cy="2133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42 units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perimeter of the triangle with corners</a:t>
            </a:r>
          </a:p>
        </p:txBody>
      </p:sp>
      <p:pic>
        <p:nvPicPr>
          <p:cNvPr id="9" name="Picture 8" descr="8267466ea736b2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510773"/>
            <a:ext cx="866775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01215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89f134f801c00f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655" y="2510773"/>
            <a:ext cx="683514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44169" y="2390758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e7c815d6c4c3d1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1631" y="2510773"/>
            <a:ext cx="894016" cy="2823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05648" y="2390758"/>
            <a:ext cx="3646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to the nearest tenth?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1634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1634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8492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8492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19.1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5506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perimeter of the triangle with corners</a:t>
            </a:r>
          </a:p>
        </p:txBody>
      </p:sp>
      <p:pic>
        <p:nvPicPr>
          <p:cNvPr id="9" name="Picture 8" descr="551393e40b0172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508296"/>
            <a:ext cx="869251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03691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53bf76273dd0fe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131" y="2508296"/>
            <a:ext cx="685990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49122" y="2390758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22905f4670dbbc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6584" y="2508296"/>
            <a:ext cx="896493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13077" y="2390758"/>
            <a:ext cx="3646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to the nearest tenth?</a:t>
            </a:r>
          </a:p>
        </p:txBody>
      </p:sp>
      <p:pic>
        <p:nvPicPr>
          <p:cNvPr id="15" name="Picture 14" descr="266f276499f022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761" y="3259867"/>
            <a:ext cx="165687" cy="2076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33448" y="3122278"/>
            <a:ext cx="9691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7" name="Picture 16" descr="14a758a03a2f4a8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5442" y="3259867"/>
            <a:ext cx="135350" cy="2076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500792" y="3122278"/>
            <a:ext cx="21538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on grid lines</a:t>
            </a:r>
          </a:p>
        </p:txBody>
      </p:sp>
      <p:pic>
        <p:nvPicPr>
          <p:cNvPr id="19" name="Picture 18" descr="750acb3136d728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7761" y="3711399"/>
            <a:ext cx="2093976" cy="2621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61737" y="3625198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1" name="Picture 20" descr="cba45acd94f9f2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4014" y="3680919"/>
            <a:ext cx="1103376" cy="368808"/>
          </a:xfrm>
          <a:prstGeom prst="rect">
            <a:avLst/>
          </a:prstGeom>
        </p:spPr>
      </p:pic>
      <p:pic>
        <p:nvPicPr>
          <p:cNvPr id="22" name="Picture 21" descr="3da6e9a4942eac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7761" y="4183839"/>
            <a:ext cx="2810256" cy="3688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7240" y="46996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19.1 units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5551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map in blocks, the library is at </a:t>
            </a:r>
          </a:p>
        </p:txBody>
      </p:sp>
      <p:pic>
        <p:nvPicPr>
          <p:cNvPr id="9" name="Picture 8" descr="0f55939e83f868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452" y="1971675"/>
            <a:ext cx="1037653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2464308"/>
            <a:ext cx="25662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pool at </a:t>
            </a:r>
          </a:p>
        </p:txBody>
      </p:sp>
      <p:pic>
        <p:nvPicPr>
          <p:cNvPr id="11" name="Picture 10" descr="e6f553610f6180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547" y="2586799"/>
            <a:ext cx="718185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81732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shorter is the straight line than the streets?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5551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map in blocks, the library is at </a:t>
            </a:r>
          </a:p>
        </p:txBody>
      </p:sp>
      <p:pic>
        <p:nvPicPr>
          <p:cNvPr id="9" name="Picture 8" descr="5829683f873a48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452" y="1969198"/>
            <a:ext cx="1040130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2464308"/>
            <a:ext cx="25662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pool at </a:t>
            </a:r>
          </a:p>
        </p:txBody>
      </p:sp>
      <p:pic>
        <p:nvPicPr>
          <p:cNvPr id="11" name="Picture 10" descr="4536ab029dd41e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547" y="2584323"/>
            <a:ext cx="720661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84208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shorter is the straight line than the streets?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1412" y="3734926"/>
            <a:ext cx="14907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streets:  </a:t>
            </a:r>
          </a:p>
        </p:txBody>
      </p:sp>
      <p:pic>
        <p:nvPicPr>
          <p:cNvPr id="15" name="Picture 14" descr="9c44261c617b9f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003" y="3870181"/>
            <a:ext cx="1309163" cy="21235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91412" y="4237846"/>
            <a:ext cx="1642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straight:  </a:t>
            </a:r>
          </a:p>
        </p:txBody>
      </p:sp>
      <p:pic>
        <p:nvPicPr>
          <p:cNvPr id="17" name="Picture 16" descr="66901e8dbd0d7c7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6771" y="4326428"/>
            <a:ext cx="2429303" cy="2613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26074" y="4237846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9" name="Picture 18" descr="d65cbda9bdc0017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352" y="4375435"/>
            <a:ext cx="718756" cy="212359"/>
          </a:xfrm>
          <a:prstGeom prst="rect">
            <a:avLst/>
          </a:prstGeom>
        </p:spPr>
      </p:pic>
      <p:pic>
        <p:nvPicPr>
          <p:cNvPr id="20" name="Picture 19" descr="50b2058d54e97cf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6276" y="4875735"/>
            <a:ext cx="1319784" cy="213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53122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 blocks shorter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a diagonal of the rectangle with corners</a:t>
            </a:r>
          </a:p>
        </p:txBody>
      </p:sp>
      <p:pic>
        <p:nvPicPr>
          <p:cNvPr id="9" name="Picture 8" descr="a97b0f10747f53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513249"/>
            <a:ext cx="1069848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04288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8c58404344209b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728" y="2508296"/>
            <a:ext cx="896493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60221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5be363abca88bd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9661" y="2508296"/>
            <a:ext cx="703326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22987" y="2390758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5" name="Picture 14" descr="a073f0616c6f53b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0450" y="2513249"/>
            <a:ext cx="876681" cy="2798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67131" y="239075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1634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1634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8492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8492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5506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a diagonal of the rectangle with corners</a:t>
            </a:r>
          </a:p>
        </p:txBody>
      </p:sp>
      <p:pic>
        <p:nvPicPr>
          <p:cNvPr id="9" name="Picture 8" descr="1655e9e4782e57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510773"/>
            <a:ext cx="1072324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06764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4a9d5ba6f1da89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204" y="2505820"/>
            <a:ext cx="898969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65174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c1f63a00e4aba7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614" y="2505820"/>
            <a:ext cx="705802" cy="287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30417" y="2390758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5" name="Picture 14" descr="c4d9a797873976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7879" y="2510773"/>
            <a:ext cx="879157" cy="2823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77037" y="239075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4721" y="3122278"/>
            <a:ext cx="13288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sides  </a:t>
            </a:r>
          </a:p>
        </p:txBody>
      </p:sp>
      <p:pic>
        <p:nvPicPr>
          <p:cNvPr id="18" name="Picture 17" descr="b3de44e021298e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6452" y="3234863"/>
            <a:ext cx="1668399" cy="3204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84851" y="3122278"/>
            <a:ext cx="13163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20" name="Picture 19" descr="f976dc64324c81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3993" y="3237626"/>
            <a:ext cx="1875567" cy="317658"/>
          </a:xfrm>
          <a:prstGeom prst="rect">
            <a:avLst/>
          </a:prstGeom>
        </p:spPr>
      </p:pic>
      <p:pic>
        <p:nvPicPr>
          <p:cNvPr id="21" name="Picture 20" descr="f26d83ebda20826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9585" y="3729782"/>
            <a:ext cx="2871216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50801" y="3661774"/>
            <a:ext cx="517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3" name="Picture 22" descr="ff28beca06f7811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0686" y="3781598"/>
            <a:ext cx="853440" cy="2529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15 units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6974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park map in meters, the fountain is at </a:t>
            </a:r>
          </a:p>
        </p:txBody>
      </p:sp>
      <p:pic>
        <p:nvPicPr>
          <p:cNvPr id="9" name="Picture 8" descr="6cd0cd2d13a380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761" y="1971675"/>
            <a:ext cx="879157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2464308"/>
            <a:ext cx="26075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gate at </a:t>
            </a:r>
          </a:p>
        </p:txBody>
      </p:sp>
      <p:pic>
        <p:nvPicPr>
          <p:cNvPr id="11" name="Picture 10" descr="51bb3a4fad71cd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861" y="2586799"/>
            <a:ext cx="889063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93924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it straight across, to the nearest tenth?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6974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park map in meters, the fountain is at </a:t>
            </a:r>
          </a:p>
        </p:txBody>
      </p:sp>
      <p:pic>
        <p:nvPicPr>
          <p:cNvPr id="9" name="Picture 8" descr="2247b49f98365d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761" y="1969198"/>
            <a:ext cx="881634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2464308"/>
            <a:ext cx="26075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gate at </a:t>
            </a:r>
          </a:p>
        </p:txBody>
      </p:sp>
      <p:pic>
        <p:nvPicPr>
          <p:cNvPr id="11" name="Picture 10" descr="18162535f5be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861" y="2584323"/>
            <a:ext cx="891540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96401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it straight across, to the nearest tenth?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9593" y="3734926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5" name="Picture 14" descr="dd377e872e9d4e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360" y="3847511"/>
            <a:ext cx="1707070" cy="3204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95430" y="3734926"/>
            <a:ext cx="18018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down  </a:t>
            </a:r>
          </a:p>
        </p:txBody>
      </p:sp>
      <p:pic>
        <p:nvPicPr>
          <p:cNvPr id="17" name="Picture 16" descr="2a151f79b2b1c7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0101" y="3850274"/>
            <a:ext cx="1660112" cy="317658"/>
          </a:xfrm>
          <a:prstGeom prst="rect">
            <a:avLst/>
          </a:prstGeom>
        </p:spPr>
      </p:pic>
      <p:pic>
        <p:nvPicPr>
          <p:cNvPr id="18" name="Picture 17" descr="91cf07a762eff7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4457" y="4353098"/>
            <a:ext cx="2660904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565361" y="4285090"/>
            <a:ext cx="517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0" name="Picture 19" descr="b009dc32ba55e7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5247" y="4297282"/>
            <a:ext cx="2459736" cy="4328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86725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√106 ≈ 10.3 m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927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trail map in miles, the camp is at </a:t>
            </a:r>
          </a:p>
        </p:txBody>
      </p:sp>
      <p:pic>
        <p:nvPicPr>
          <p:cNvPr id="9" name="Picture 8" descr="8f59a1bbce1b0e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380" y="1969198"/>
            <a:ext cx="1050036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74416" y="1851660"/>
            <a:ext cx="292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18762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lake at </a:t>
            </a:r>
          </a:p>
        </p:txBody>
      </p:sp>
      <p:pic>
        <p:nvPicPr>
          <p:cNvPr id="12" name="Picture 11" descr="64a0bcb964d3ac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546" y="2581846"/>
            <a:ext cx="693420" cy="28479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66966" y="2464308"/>
            <a:ext cx="33466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the trailhead at </a:t>
            </a:r>
          </a:p>
        </p:txBody>
      </p:sp>
      <p:pic>
        <p:nvPicPr>
          <p:cNvPr id="14" name="Picture 13" descr="c10c7ade43b947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495" y="2584323"/>
            <a:ext cx="876681" cy="2823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53176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the camp from the lake, in a straight line?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927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trail map in miles, the camp is at </a:t>
            </a:r>
          </a:p>
        </p:txBody>
      </p:sp>
      <p:pic>
        <p:nvPicPr>
          <p:cNvPr id="9" name="Picture 8" descr="22f8e5064804e9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380" y="1966722"/>
            <a:ext cx="1052512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76892" y="1851660"/>
            <a:ext cx="292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18762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lake at </a:t>
            </a:r>
          </a:p>
        </p:txBody>
      </p:sp>
      <p:pic>
        <p:nvPicPr>
          <p:cNvPr id="12" name="Picture 11" descr="560793fe7d3f04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546" y="2579370"/>
            <a:ext cx="695896" cy="28727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69442" y="2464308"/>
            <a:ext cx="33466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the trailhead at </a:t>
            </a:r>
          </a:p>
        </p:txBody>
      </p:sp>
      <p:pic>
        <p:nvPicPr>
          <p:cNvPr id="14" name="Picture 13" descr="49c8c6e822b84b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972" y="2581846"/>
            <a:ext cx="879157" cy="28479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58129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the camp from the lake, in a straight line?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151" y="3734926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8" name="Picture 17" descr="2a151f79b2b1c7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3918" y="3850274"/>
            <a:ext cx="1660112" cy="31765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34030" y="3734926"/>
            <a:ext cx="1287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up  </a:t>
            </a:r>
          </a:p>
        </p:txBody>
      </p:sp>
      <p:pic>
        <p:nvPicPr>
          <p:cNvPr id="20" name="Picture 19" descr="d7ba9e475850f35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3947" y="3847511"/>
            <a:ext cx="1850707" cy="320421"/>
          </a:xfrm>
          <a:prstGeom prst="rect">
            <a:avLst/>
          </a:prstGeom>
        </p:spPr>
      </p:pic>
      <p:pic>
        <p:nvPicPr>
          <p:cNvPr id="21" name="Picture 20" descr="bad877a561fe219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0015" y="4342430"/>
            <a:ext cx="2874264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64279" y="4274422"/>
            <a:ext cx="517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3" name="Picture 22" descr="09a1ea0ee626eca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4165" y="4394246"/>
            <a:ext cx="847344" cy="2529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484592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13 mi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215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 says the segment from </a:t>
            </a:r>
          </a:p>
        </p:txBody>
      </p:sp>
      <p:pic>
        <p:nvPicPr>
          <p:cNvPr id="9" name="Picture 8" descr="a14bf8353d2e0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873" y="1971675"/>
            <a:ext cx="728091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46964" y="1851660"/>
            <a:ext cx="6872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to </a:t>
            </a:r>
          </a:p>
        </p:txBody>
      </p:sp>
      <p:pic>
        <p:nvPicPr>
          <p:cNvPr id="11" name="Picture 10" descr="c3080bd209d99f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052" y="1971675"/>
            <a:ext cx="668655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65707" y="1851660"/>
            <a:ext cx="23990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3 units long,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because it crosses 3 grid squares.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Explain, and find its length to the nearest tenth.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215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 says the segment from </a:t>
            </a:r>
          </a:p>
        </p:txBody>
      </p:sp>
      <p:pic>
        <p:nvPicPr>
          <p:cNvPr id="9" name="Picture 8" descr="9ebcc4ac7047e3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873" y="1969198"/>
            <a:ext cx="730567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49441" y="1851660"/>
            <a:ext cx="6872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to </a:t>
            </a:r>
          </a:p>
        </p:txBody>
      </p:sp>
      <p:pic>
        <p:nvPicPr>
          <p:cNvPr id="11" name="Picture 10" descr="f55c03bbe67171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529" y="1969198"/>
            <a:ext cx="671131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0660" y="1851660"/>
            <a:ext cx="23990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3 units long,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because it crosses 3 grid squares.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Explain, and find its length to the nearest tenth.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749" y="3661376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6" name="Picture 15" descr="e1c78402da53da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1515" y="3785011"/>
            <a:ext cx="168497" cy="2486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30013" y="3661376"/>
            <a:ext cx="1287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up  </a:t>
            </a:r>
          </a:p>
        </p:txBody>
      </p:sp>
      <p:pic>
        <p:nvPicPr>
          <p:cNvPr id="18" name="Picture 17" descr="dcd07b346f0b25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930" y="3779486"/>
            <a:ext cx="124301" cy="248602"/>
          </a:xfrm>
          <a:prstGeom prst="rect">
            <a:avLst/>
          </a:prstGeom>
        </p:spPr>
      </p:pic>
      <p:pic>
        <p:nvPicPr>
          <p:cNvPr id="19" name="Picture 18" descr="cb8915871a8227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613" y="4279549"/>
            <a:ext cx="2060448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38061" y="4211540"/>
            <a:ext cx="517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1" name="Picture 20" descr="8e57f85f0236f14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7946" y="4223732"/>
            <a:ext cx="2072640" cy="43281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7240" y="4793708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No: it is the hypotenuse of a triangle with legs 3 and 1, √10 ≈ 3.2 units.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901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9019"/>
            <a:ext cx="4207192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perimeter of the triangle </a:t>
            </a:r>
          </a:p>
        </p:txBody>
      </p:sp>
      <p:pic>
        <p:nvPicPr>
          <p:cNvPr id="10" name="Picture 9" descr="a5b6d05fd7f41c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512" y="1572039"/>
            <a:ext cx="873715" cy="2316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8228" y="1499019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2" name="Picture 11" descr="f03a5612a3e3a0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315" y="1570780"/>
            <a:ext cx="715087" cy="2341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19402" y="1499019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4" name="Picture 13" descr="47befe413b734b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5489" y="1570780"/>
            <a:ext cx="715087" cy="23416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40576" y="1499019"/>
            <a:ext cx="279766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It has no right angle.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966953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1966953"/>
            <a:ext cx="4207192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perimeter of the triangle </a:t>
            </a:r>
          </a:p>
        </p:txBody>
      </p:sp>
      <p:pic>
        <p:nvPicPr>
          <p:cNvPr id="18" name="Picture 17" descr="98ab927d307bab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4512" y="2038714"/>
            <a:ext cx="725158" cy="23416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49671" y="1966953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0" name="Picture 19" descr="1b12795c360466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5758" y="2038714"/>
            <a:ext cx="556458" cy="23416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12217" y="1966953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2" name="Picture 21" descr="3c68a2fc1886b19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8303" y="2038714"/>
            <a:ext cx="737748" cy="23416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056052" y="1966953"/>
            <a:ext cx="272697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to the nearest tenth.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2434888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2434888"/>
            <a:ext cx="4942704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perimeter of the parallelogram </a:t>
            </a:r>
          </a:p>
        </p:txBody>
      </p:sp>
      <p:pic>
        <p:nvPicPr>
          <p:cNvPr id="26" name="Picture 25" descr="5fb9e783455f43f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0024" y="2507907"/>
            <a:ext cx="893859" cy="2316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53883" y="2434888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8" name="Picture 27" descr="401a08bf02b2db9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9970" y="2506648"/>
            <a:ext cx="725158" cy="23416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185129" y="2434888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30" name="Picture 29" descr="d02d33295232874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1215" y="2507907"/>
            <a:ext cx="566530" cy="23164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957746" y="2434888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32" name="Picture 31" descr="2d42b3e817eed69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63832" y="2506648"/>
            <a:ext cx="556458" cy="23416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720291" y="2434888"/>
            <a:ext cx="265713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2902822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2902822"/>
            <a:ext cx="450903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On a map in blocks, Kai's home is at </a:t>
            </a:r>
          </a:p>
        </p:txBody>
      </p:sp>
      <p:pic>
        <p:nvPicPr>
          <p:cNvPr id="36" name="Picture 35" descr="324b66480ae87fb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26350" y="2974582"/>
            <a:ext cx="878751" cy="23416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05102" y="2902822"/>
            <a:ext cx="2329422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and his school at </a:t>
            </a:r>
          </a:p>
        </p:txBody>
      </p:sp>
      <p:pic>
        <p:nvPicPr>
          <p:cNvPr id="38" name="Picture 37" descr="4b06abb07817386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97365" y="2975841"/>
            <a:ext cx="564012" cy="23164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561377" y="2902822"/>
            <a:ext cx="163912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How much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3270172"/>
            <a:ext cx="527346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shorter is the straight line than the streets?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3738106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3738106"/>
            <a:ext cx="3884123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On a map in miles, a dock is at </a:t>
            </a:r>
          </a:p>
        </p:txBody>
      </p:sp>
      <p:pic>
        <p:nvPicPr>
          <p:cNvPr id="43" name="Picture 42" descr="ede51becaffdb32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01443" y="3811126"/>
            <a:ext cx="732712" cy="23164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034156" y="3738106"/>
            <a:ext cx="224344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and an island at </a:t>
            </a:r>
          </a:p>
        </p:txBody>
      </p:sp>
      <p:pic>
        <p:nvPicPr>
          <p:cNvPr id="45" name="Picture 44" descr="383f37ada98a346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40443" y="3811126"/>
            <a:ext cx="720123" cy="23164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860566" y="3738106"/>
            <a:ext cx="251800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How far apart are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54480" y="4105457"/>
            <a:ext cx="331476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they, to the nearest tenth?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4573391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54480" y="4573391"/>
            <a:ext cx="306003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rectangle has corners </a:t>
            </a:r>
          </a:p>
        </p:txBody>
      </p:sp>
      <p:pic>
        <p:nvPicPr>
          <p:cNvPr id="50" name="Picture 49" descr="322e6c6f3990ed6a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77358" y="4645152"/>
            <a:ext cx="866162" cy="23416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343520" y="4573391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52" name="Picture 51" descr="6d96e9ef855f92fc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49607" y="4645152"/>
            <a:ext cx="720123" cy="23416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269730" y="4573391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54" name="Picture 53" descr="aee1254e09a88494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5817" y="4645152"/>
            <a:ext cx="715087" cy="23416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190904" y="4573391"/>
            <a:ext cx="79885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56" name="Picture 55" descr="3c9a30b1926c472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52595" y="4645152"/>
            <a:ext cx="861126" cy="23416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713721" y="4573391"/>
            <a:ext cx="197782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How long is a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54480" y="4940741"/>
            <a:ext cx="137644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diagonal?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6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Pythagorean theorem: find the perimeter — VGE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LESSONS 7–8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Similar Triangles; Indirect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MA.8.GR.2.4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a missing side of similar triangles with the scale factor, and use similar triangles to measure what I cannot reach.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4616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The triangle </a:t>
            </a:r>
          </a:p>
        </p:txBody>
      </p:sp>
      <p:pic>
        <p:nvPicPr>
          <p:cNvPr id="9" name="Picture 8" descr="a14bf8353d2e0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017" y="1564719"/>
            <a:ext cx="697753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96771" y="1440180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261b9496b8e6f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34" y="1564719"/>
            <a:ext cx="674020" cy="2705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04854" y="1440180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67db46e2c7538c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917" y="1564719"/>
            <a:ext cx="655034" cy="2705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93951" y="1440180"/>
            <a:ext cx="41424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its perimeter, to the tenth?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052828"/>
            <a:ext cx="96212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10-ft ladder's foot is 6 ft from a wall. How high does it reach?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65476"/>
            <a:ext cx="85873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10 cm side is 4 cm in a copy. What is the scale factor?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278124"/>
            <a:ext cx="7911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At 1 in : 6 ft, a 3.5-in wall on a drawing is how long?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4616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The triangle </a:t>
            </a:r>
          </a:p>
        </p:txBody>
      </p:sp>
      <p:pic>
        <p:nvPicPr>
          <p:cNvPr id="9" name="Picture 8" descr="a14bf8353d2e0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017" y="1564719"/>
            <a:ext cx="697753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96771" y="1440180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261b9496b8e6f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34" y="1564719"/>
            <a:ext cx="674020" cy="2705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04854" y="1440180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67db46e2c7538c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917" y="1564719"/>
            <a:ext cx="655034" cy="2705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93951" y="1440180"/>
            <a:ext cx="41424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its perimeter, to the tenth?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1897380"/>
            <a:ext cx="14645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8.6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510028"/>
            <a:ext cx="96212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10-ft ladder's foot is 6 ft from a wall. How high does it reach?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967228"/>
            <a:ext cx="7141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 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79876"/>
            <a:ext cx="85873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10 cm side is 4 cm in a copy. What is the scale factor?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037076"/>
            <a:ext cx="12274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k = 0.4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649724"/>
            <a:ext cx="7911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At 1 in : 6 ft, a 3.5-in wall on a drawing is how long?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7727" y="4649724"/>
            <a:ext cx="864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21 ft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similar triangles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629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same shape, any size: matching angles equal, and every side multiplied by the same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0999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corresponding sides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03580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sides that match — across from equal angles: shortest with shortest, longest with longest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56941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 factor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50531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copy ÷ original, for one matching pair of sides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46084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indirect measurement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39673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finding a length you cannot reach from similar triangles you can measure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Similar: every side times the same 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b1393c149350c9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993392"/>
            <a:ext cx="7315200" cy="1765914"/>
          </a:xfrm>
          <a:prstGeom prst="rect">
            <a:avLst/>
          </a:prstGeom>
        </p:spPr>
      </p:pic>
      <p:pic>
        <p:nvPicPr>
          <p:cNvPr id="11" name="Picture 10" descr="dffa0e8c36125c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197" y="3908658"/>
            <a:ext cx="1106424" cy="673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86621" y="4015338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f0a344a8a323dc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7904" y="3914754"/>
            <a:ext cx="1295400" cy="667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23304" y="4015338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c01a75d5d6aaea9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586" y="3905610"/>
            <a:ext cx="1316736" cy="6766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512176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Three ratios, all equal: similar. Match shortest to shortest, longest to longest.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A missing side: find k, then multiply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71bbc6210f7f5f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993392"/>
            <a:ext cx="5632704" cy="1826181"/>
          </a:xfrm>
          <a:prstGeom prst="rect">
            <a:avLst/>
          </a:prstGeom>
        </p:spPr>
      </p:pic>
      <p:pic>
        <p:nvPicPr>
          <p:cNvPr id="11" name="Picture 10" descr="c57688c9329a4b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866" y="4111038"/>
            <a:ext cx="2904744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67610" y="4072557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4bfdef353fb7e1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8893" y="3965877"/>
            <a:ext cx="1889760" cy="670560"/>
          </a:xfrm>
          <a:prstGeom prst="rect">
            <a:avLst/>
          </a:prstGeom>
        </p:spPr>
      </p:pic>
      <p:pic>
        <p:nvPicPr>
          <p:cNvPr id="14" name="Picture 13" descr="4d0a8ac6cf842b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610" y="4966002"/>
            <a:ext cx="2389632" cy="2804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09242" y="4887897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6" name="Picture 15" descr="8a8c7878b0eec08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0525" y="4959525"/>
            <a:ext cx="2691384" cy="3627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7552" y="566056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order of the letters is the matching: A with D, B with E, C with F.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Same sun, same angle: shadows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111dd3fd22a0dc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44" y="1993392"/>
            <a:ext cx="3456432" cy="2650023"/>
          </a:xfrm>
          <a:prstGeom prst="rect">
            <a:avLst/>
          </a:prstGeom>
        </p:spPr>
      </p:pic>
      <p:pic>
        <p:nvPicPr>
          <p:cNvPr id="11" name="Picture 10" descr="2b85bcbfdf01e5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4789719"/>
            <a:ext cx="1609344" cy="670560"/>
          </a:xfrm>
          <a:prstGeom prst="rect">
            <a:avLst/>
          </a:prstGeom>
        </p:spPr>
      </p:pic>
      <p:pic>
        <p:nvPicPr>
          <p:cNvPr id="12" name="Picture 11" descr="1695fa317230a6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320" y="5814657"/>
            <a:ext cx="1859232" cy="254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97553" y="5711739"/>
            <a:ext cx="5628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ft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The two triangles are similar.</a:t>
            </a:r>
          </a:p>
        </p:txBody>
      </p:sp>
      <p:pic>
        <p:nvPicPr>
          <p:cNvPr id="9" name="Picture 8" descr="ge2425ae442de18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276458"/>
            <a:ext cx="6858000" cy="26613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26702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x and y.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efd40bf1c3ecf5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452616" cy="673608"/>
          </a:xfrm>
          <a:prstGeom prst="rect">
            <a:avLst/>
          </a:prstGeom>
        </p:spPr>
      </p:pic>
      <p:pic>
        <p:nvPicPr>
          <p:cNvPr id="9" name="Picture 8" descr="74a3a288211de9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5391912" cy="301752"/>
          </a:xfrm>
          <a:prstGeom prst="rect">
            <a:avLst/>
          </a:prstGeom>
        </p:spPr>
      </p:pic>
      <p:pic>
        <p:nvPicPr>
          <p:cNvPr id="10" name="Picture 9" descr="59c595bd67cf2c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44240"/>
            <a:ext cx="5526024" cy="3870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21, y = 27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triangle has sides 3, 5 and 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similar triangle has sides 28, x and 12. Find x.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triangle has sides 3, 5 and 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similar triangle has sides 28, x and 12. Find x.</a:t>
            </a:r>
          </a:p>
        </p:txBody>
      </p:sp>
      <p:pic>
        <p:nvPicPr>
          <p:cNvPr id="10" name="Picture 9" descr="9a1a6118cd7cda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5" y="2751548"/>
            <a:ext cx="944689" cy="6076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46694" y="2826796"/>
            <a:ext cx="13163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2" name="Picture 11" descr="57309cfb8df178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836" y="2754311"/>
            <a:ext cx="972311" cy="6049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98148" y="2826796"/>
            <a:ext cx="14832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 one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7141" y="3464399"/>
            <a:ext cx="38542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so x matches the 5:  </a:t>
            </a:r>
          </a:p>
        </p:txBody>
      </p:sp>
      <p:pic>
        <p:nvPicPr>
          <p:cNvPr id="15" name="Picture 14" descr="9b453dec611ea2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4230" y="3585272"/>
            <a:ext cx="1950148" cy="2513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20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Omar's eyes are 5 ft up, 4 ft from a mirror on the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0213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it he sees the top of a tree 18 ft beyond the mirror.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412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The two right triangles are similar.</a:t>
            </a:r>
          </a:p>
        </p:txBody>
      </p:sp>
      <p:pic>
        <p:nvPicPr>
          <p:cNvPr id="11" name="Picture 10" descr="gcccabea20ad630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130" y="3080335"/>
            <a:ext cx="2287258" cy="22421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65167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tall is the tree?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6bd577f60b4023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905000" cy="667512"/>
          </a:xfrm>
          <a:prstGeom prst="rect">
            <a:avLst/>
          </a:prstGeom>
        </p:spPr>
      </p:pic>
      <p:pic>
        <p:nvPicPr>
          <p:cNvPr id="9" name="Picture 8" descr="035eeeba9ebb96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2072"/>
            <a:ext cx="2731008" cy="289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tree is 22.5 ft tall.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Ana's eyes are 4 ft up, 1.5 ft from a mirror on the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it she sees the top of a flagpole 12 ft beyond the mirror.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83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The two right triangles are similar. How tall is the flagpole?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Ana's eyes are 4 ft up, 1.5 ft from a mirror on the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it she sees the top of a flagpole 12 ft beyond the mirror.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83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The two right triangles are similar. How tall is the flagpole?</a:t>
            </a:r>
          </a:p>
        </p:txBody>
      </p:sp>
      <p:pic>
        <p:nvPicPr>
          <p:cNvPr id="11" name="Picture 10" descr="06184dcef0298b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3" y="3290647"/>
            <a:ext cx="1511808" cy="609600"/>
          </a:xfrm>
          <a:prstGeom prst="rect">
            <a:avLst/>
          </a:prstGeom>
        </p:spPr>
      </p:pic>
      <p:pic>
        <p:nvPicPr>
          <p:cNvPr id="12" name="Picture 11" descr="be1f699f2cd419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3" y="4113035"/>
            <a:ext cx="1926335" cy="265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57690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32 ft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Are triangles with sides 8, 12, 14 and 12, 18, 21 similar?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Are triangles with sides 8, 12, 14 and 12, 18, 21 similar?</a:t>
            </a:r>
          </a:p>
        </p:txBody>
      </p:sp>
      <p:pic>
        <p:nvPicPr>
          <p:cNvPr id="9" name="Picture 8" descr="29d440c348e857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466" y="2538586"/>
            <a:ext cx="1173480" cy="603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52946" y="26086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1" name="Picture 10" descr="74a531e9e94642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691" y="2532490"/>
            <a:ext cx="1182624" cy="609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19315" y="26086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66bdbc600003a8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061" y="2535538"/>
            <a:ext cx="1197864" cy="606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24602" y="3247246"/>
            <a:ext cx="27811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all three equal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every ratio is 1.5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ABC is similar to triangle DEF.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0" name="Picture 9" descr="gd74494cbb92b60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189" y="2998436"/>
            <a:ext cx="6295140" cy="23325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144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ABC is similar to triangle DEF.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0" name="Picture 9" descr="g637064f2a1edf4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33179"/>
            <a:ext cx="2526982" cy="12484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5742" y="2975576"/>
            <a:ext cx="74856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names:  AC with DF,  BC with EF,  AB with DE</a:t>
            </a:r>
          </a:p>
        </p:txBody>
      </p:sp>
      <p:pic>
        <p:nvPicPr>
          <p:cNvPr id="12" name="Picture 11" descr="6ad28beba7d2ff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606" y="3501356"/>
            <a:ext cx="1203960" cy="515112"/>
          </a:xfrm>
          <a:prstGeom prst="rect">
            <a:avLst/>
          </a:prstGeom>
        </p:spPr>
      </p:pic>
      <p:pic>
        <p:nvPicPr>
          <p:cNvPr id="13" name="Picture 12" descr="10e0b58bf3f66f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0606" y="4220018"/>
            <a:ext cx="1633728" cy="213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7998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24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12, 16 and 20 inches.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similar triangle's longest side is 5 inches.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other two sides.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12, 16 and 20 inches.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similar triangle's longest side is 5 inches.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other two sides.</a:t>
            </a:r>
          </a:p>
        </p:txBody>
      </p:sp>
      <p:pic>
        <p:nvPicPr>
          <p:cNvPr id="11" name="Picture 10" descr="c75e55e6849a05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331" y="3610687"/>
            <a:ext cx="1941576" cy="609600"/>
          </a:xfrm>
          <a:prstGeom prst="rect">
            <a:avLst/>
          </a:prstGeom>
        </p:spPr>
      </p:pic>
      <p:pic>
        <p:nvPicPr>
          <p:cNvPr id="12" name="Picture 11" descr="e275a5b65b3f10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331" y="4445267"/>
            <a:ext cx="1816608" cy="252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3939" y="4325443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4" name="Picture 13" descr="3414c92f419f2e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684" y="4442219"/>
            <a:ext cx="1853184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89694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 inches and 4 inches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Similar triangles: which side of the second matches the 9?</a:t>
            </a:r>
          </a:p>
        </p:txBody>
      </p:sp>
      <p:pic>
        <p:nvPicPr>
          <p:cNvPr id="9" name="Picture 8" descr="ge48dce5fbb9daf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459338"/>
            <a:ext cx="6400800" cy="13160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40131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131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989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989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none of them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Similar triangles: which side of the second matches the 9?</a:t>
            </a:r>
          </a:p>
        </p:txBody>
      </p:sp>
      <p:pic>
        <p:nvPicPr>
          <p:cNvPr id="9" name="Picture 8" descr="g799b3f80e5b013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13" y="2459338"/>
            <a:ext cx="4754880" cy="11111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6613" y="2534848"/>
            <a:ext cx="45698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sorted:  6, 9, 12  and  8, 12,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6613" y="3037768"/>
            <a:ext cx="52318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middle sides match:  9 and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the 12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triangle is similar to one with sides 5, 6 and 8?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5507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7, 8, 10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507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10, 12, 16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365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10, 12, 15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365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5, 6, 9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triangle is similar to one with sides 5, 6 and 8?</a:t>
            </a:r>
          </a:p>
        </p:txBody>
      </p:sp>
      <p:pic>
        <p:nvPicPr>
          <p:cNvPr id="9" name="Picture 8" descr="bdd3cfbd5300e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514" y="2532490"/>
            <a:ext cx="94488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08394" y="26086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1" name="Picture 10" descr="d6055516730cc4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39" y="2535538"/>
            <a:ext cx="923544" cy="606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15683" y="26086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2450c0a5a44890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429" y="2535538"/>
            <a:ext cx="926592" cy="606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08650" y="3247246"/>
            <a:ext cx="37544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one k for every 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10, 12, 16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4-ft post casts a 2.5-ft shadow as a tree casts a 15-ft shadow.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tall is the tree?</a:t>
            </a:r>
          </a:p>
        </p:txBody>
      </p:sp>
      <p:pic>
        <p:nvPicPr>
          <p:cNvPr id="10" name="Picture 9" descr="g03db603ddd3fae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313" y="2998436"/>
            <a:ext cx="2804892" cy="23083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902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4-ft post casts a 2.5-ft shadow as a tree casts a 15-ft shadow.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tall is the tree?</a:t>
            </a:r>
          </a:p>
        </p:txBody>
      </p:sp>
      <p:pic>
        <p:nvPicPr>
          <p:cNvPr id="10" name="Picture 9" descr="g03db603ddd3fae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641" y="2998436"/>
            <a:ext cx="2804892" cy="2308343"/>
          </a:xfrm>
          <a:prstGeom prst="rect">
            <a:avLst/>
          </a:prstGeom>
        </p:spPr>
      </p:pic>
      <p:pic>
        <p:nvPicPr>
          <p:cNvPr id="11" name="Picture 10" descr="1818a67803e262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918" y="3642068"/>
            <a:ext cx="1292352" cy="518160"/>
          </a:xfrm>
          <a:prstGeom prst="rect">
            <a:avLst/>
          </a:prstGeom>
        </p:spPr>
      </p:pic>
      <p:pic>
        <p:nvPicPr>
          <p:cNvPr id="12" name="Picture 11" descr="b7332b452dd02b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918" y="4354634"/>
            <a:ext cx="1645920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59024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24 ft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ramp rises 0.6 m over its first 2 m from A. The right triangles are similar.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is the ramp 8 m from A?</a:t>
            </a:r>
          </a:p>
        </p:txBody>
      </p:sp>
      <p:pic>
        <p:nvPicPr>
          <p:cNvPr id="10" name="Picture 9" descr="ga1f7235b1f551c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443" y="3427807"/>
            <a:ext cx="3526633" cy="19031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144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ramp rises 0.6 m over its first 2 m from A. The right triangles are similar.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is the ramp 8 m from A?</a:t>
            </a:r>
          </a:p>
        </p:txBody>
      </p:sp>
      <p:pic>
        <p:nvPicPr>
          <p:cNvPr id="10" name="Picture 9" descr="ga1f7235b1f551c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275" y="3427807"/>
            <a:ext cx="3526633" cy="1903144"/>
          </a:xfrm>
          <a:prstGeom prst="rect">
            <a:avLst/>
          </a:prstGeom>
        </p:spPr>
      </p:pic>
      <p:pic>
        <p:nvPicPr>
          <p:cNvPr id="11" name="Picture 10" descr="e99d1959ca4f8c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292" y="3873411"/>
            <a:ext cx="1085088" cy="509016"/>
          </a:xfrm>
          <a:prstGeom prst="rect">
            <a:avLst/>
          </a:prstGeom>
        </p:spPr>
      </p:pic>
      <p:pic>
        <p:nvPicPr>
          <p:cNvPr id="12" name="Picture 11" descr="64fc6715d91c38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292" y="4579880"/>
            <a:ext cx="1959864" cy="222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1441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2.4 m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Lena's eyes are 5.5 ft up. In a 10-inch mirror on the ground 6 ft away, she sees the top of a flagpole 24 ft past the mirror.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The two right triangles are similar. How tall is the flagpole?</a:t>
            </a:r>
          </a:p>
        </p:txBody>
      </p:sp>
      <p:pic>
        <p:nvPicPr>
          <p:cNvPr id="10" name="Picture 9" descr="gc407a63a3be439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034" y="3427807"/>
            <a:ext cx="2681451" cy="19410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5233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Lena's eyes are 5.5 ft up. In a 10-inch mirror on the ground 6 ft away, she sees the top of a flagpole 24 ft past the mirror.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The two right triangles are similar. How tall is the flagpole?</a:t>
            </a:r>
          </a:p>
        </p:txBody>
      </p:sp>
      <p:pic>
        <p:nvPicPr>
          <p:cNvPr id="10" name="Picture 9" descr="gc407a63a3be439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634" y="3427807"/>
            <a:ext cx="2681451" cy="1941063"/>
          </a:xfrm>
          <a:prstGeom prst="rect">
            <a:avLst/>
          </a:prstGeom>
        </p:spPr>
      </p:pic>
      <p:pic>
        <p:nvPicPr>
          <p:cNvPr id="11" name="Picture 10" descr="3731fb59b131b3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469" y="3890847"/>
            <a:ext cx="1258824" cy="512064"/>
          </a:xfrm>
          <a:prstGeom prst="rect">
            <a:avLst/>
          </a:prstGeom>
        </p:spPr>
      </p:pic>
      <p:pic>
        <p:nvPicPr>
          <p:cNvPr id="12" name="Picture 11" descr="943d4d2d2ea61f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469" y="4600364"/>
            <a:ext cx="1862328" cy="222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52335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22 ft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Kim says triangles with sides 3, 4, 5 and 5, 6, 7 are similar,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because each side grew by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Kim says triangles with sides 3, 4, 5 and 5, 6, 7 are similar,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because each side grew by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pic>
        <p:nvPicPr>
          <p:cNvPr id="11" name="Picture 10" descr="d2dfa2bbc03684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467" y="3613020"/>
            <a:ext cx="1012793" cy="5110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25260" y="3638786"/>
            <a:ext cx="557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43d58659d8a7f4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261" y="3610687"/>
            <a:ext cx="865774" cy="5133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11036" y="3638786"/>
            <a:ext cx="557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01b60fb0121f47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037" y="3615354"/>
            <a:ext cx="870442" cy="50873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01479" y="3638786"/>
            <a:ext cx="2206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:  three ratios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similar means × one k, not + 2.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Are triangles with sides 4, 10, 12 and 6, 15, 20 similar? Show the three ratios.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29967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9967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Triangle PQR is similar to triangle XYZ. PQ is 8, QR is 10 and PR is 13, and XY is 20. Find YZ and XZ.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4378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43784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 triangle has sides 15, 25 and 30. A similar triangle's longest side is 6. Find its other two sides.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576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5760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 1.5-m child casts a 2-m shadow. At the same moment a tree casts a 14-m shadow. How tall is the tree?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7141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7141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The two right triangles are similar and share corner A. The small one runs 3 m along the ground from A and stands 1.2 m high. The big one runs 12 m along the ground from A. How high is 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8523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285232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Which is similar to a triangle with sides 8, 10 and 14: one with sides 10, 12, 16, or one with sides 12, 15, 21? Show why.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6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Side lengths of similar triangles — QSK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Similar triangles and indirect measurement — 88W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Identify similar triangles — 6PD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THREAD B ·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Angle Pairs: Supplementary, Complementary, Vertical, Adjacent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name an angle pair and use it to find a missing angle, with an equation when the angles are expressions.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5179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6-ft man casts a 4-ft shadow; a tree, 18 ft. The tree's height?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332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far apart are </a:t>
            </a:r>
          </a:p>
        </p:txBody>
      </p:sp>
      <p:pic>
        <p:nvPicPr>
          <p:cNvPr id="10" name="Picture 9" descr="1341941b7cc70f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14" y="2177367"/>
            <a:ext cx="856765" cy="2705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3880" y="2052828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2" name="Picture 11" descr="0809219f625557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463" y="2177367"/>
            <a:ext cx="666900" cy="2705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76364" y="205282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82527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Ana types 210 words in 5 minutes. Words per minute?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78124"/>
            <a:ext cx="89102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Two angles make a straight angle. One is 130°. The other?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5179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6-ft man casts a 4-ft shadow; a tree, 18 ft. The tree's height?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8618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27 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332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far apart are </a:t>
            </a:r>
          </a:p>
        </p:txBody>
      </p:sp>
      <p:pic>
        <p:nvPicPr>
          <p:cNvPr id="11" name="Picture 10" descr="1341941b7cc70f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14" y="2634567"/>
            <a:ext cx="856765" cy="2705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23880" y="2510028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0809219f625557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463" y="2634567"/>
            <a:ext cx="666900" cy="2705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76364" y="251002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8476" y="2510028"/>
            <a:ext cx="12121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122676"/>
            <a:ext cx="82527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Ana types 210 words in 5 minutes. Words per minute?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38781" y="3122676"/>
            <a:ext cx="5603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735324"/>
            <a:ext cx="89102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Two angles make a straight angle. One is 130°. The other?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192524"/>
            <a:ext cx="740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50°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adjacent angles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two angles with the same vertex and a shared side, that do not overlap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vertical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angles across from each other where two lines cross; they are equal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844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complementary angles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13818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two angles that add to 90°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4515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supplementary angles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074522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two angles that add to 180°; a linear pair — two adjacent angles on a straight line — is supplementary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Adjacent and vertical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ccf96da69d88b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972" y="1993392"/>
            <a:ext cx="3465576" cy="27453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494908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Adjacent: one vertex, a shared side, no overlap — angles 1 and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639457"/>
            <a:ext cx="72586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Vertical: across, and equal. m means measure: </a:t>
            </a:r>
          </a:p>
        </p:txBody>
      </p:sp>
      <p:pic>
        <p:nvPicPr>
          <p:cNvPr id="13" name="Picture 12" descr="383818eb4f2543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9036" y="5766370"/>
            <a:ext cx="1526039" cy="2159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35076" y="5639457"/>
            <a:ext cx="2858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Complementary and supplementary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7fd2f6dc032fdb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1993392"/>
            <a:ext cx="3785615" cy="2287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4491013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Complementary: add to 90°.   Supplementary: add to 180°.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222533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linear pair is supplementary: 60° + 120° = 180°.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Name the pair, write the equation, put x back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ff13cd6a1f05fc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668" y="1993392"/>
            <a:ext cx="3758184" cy="2101945"/>
          </a:xfrm>
          <a:prstGeom prst="rect">
            <a:avLst/>
          </a:prstGeom>
        </p:spPr>
      </p:pic>
      <p:pic>
        <p:nvPicPr>
          <p:cNvPr id="11" name="Picture 10" descr="cc136a22f99d4d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185" y="4299934"/>
            <a:ext cx="3029712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51897" y="4218781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1f863e20b728f4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180" y="4299934"/>
            <a:ext cx="1395984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89164" y="4218781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981f2bd33d4625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0446" y="4296886"/>
            <a:ext cx="1008888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67024" y="5014309"/>
            <a:ext cx="19849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the angle:  </a:t>
            </a:r>
          </a:p>
        </p:txBody>
      </p:sp>
      <p:pic>
        <p:nvPicPr>
          <p:cNvPr id="17" name="Picture 16" descr="d1f2e6ea48b59a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4785" y="5119910"/>
            <a:ext cx="2379710" cy="311213"/>
          </a:xfrm>
          <a:prstGeom prst="rect">
            <a:avLst/>
          </a:prstGeom>
        </p:spPr>
      </p:pic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996" y="1440180"/>
            <a:ext cx="4592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ray splits a right angle into </a:t>
            </a:r>
          </a:p>
        </p:txBody>
      </p:sp>
      <p:pic>
        <p:nvPicPr>
          <p:cNvPr id="9" name="Picture 8" descr="07a35259f479b4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394" y="1557718"/>
            <a:ext cx="1146619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5014" y="144018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1d1e7ee16a0e70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521" y="1557718"/>
            <a:ext cx="1173861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05382" y="144018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ebe47a9162b990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148840"/>
            <a:ext cx="3163824" cy="31638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6418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x and both angles.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4b2f294a6c26d5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154680" cy="280416"/>
          </a:xfrm>
          <a:prstGeom prst="rect">
            <a:avLst/>
          </a:prstGeom>
        </p:spPr>
      </p:pic>
      <p:pic>
        <p:nvPicPr>
          <p:cNvPr id="9" name="Picture 8" descr="95197ad3c8083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4976"/>
            <a:ext cx="3319272" cy="350520"/>
          </a:xfrm>
          <a:prstGeom prst="rect">
            <a:avLst/>
          </a:prstGeom>
        </p:spPr>
      </p:pic>
      <p:pic>
        <p:nvPicPr>
          <p:cNvPr id="10" name="Picture 9" descr="c38b41945c7f1c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099815"/>
            <a:ext cx="5090160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17; the angles are 50° and 40°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a577c207cc2ffe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848" y="1694878"/>
            <a:ext cx="720661" cy="2847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78509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616d3ce97a9b57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016" y="1694878"/>
            <a:ext cx="1173861" cy="2847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68877" y="1577340"/>
            <a:ext cx="32719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are complementary.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x and both angles.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16d7c615ff8d7c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371" y="1692402"/>
            <a:ext cx="723138" cy="2872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78509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8f38c89b3740af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016" y="1692402"/>
            <a:ext cx="1176337" cy="2872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71353" y="1577340"/>
            <a:ext cx="32719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are complementary.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x and both angles.</a:t>
            </a:r>
          </a:p>
        </p:txBody>
      </p:sp>
      <p:pic>
        <p:nvPicPr>
          <p:cNvPr id="13" name="Picture 12" descr="7e99fa8917cd79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034" y="2995214"/>
            <a:ext cx="2377440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48474" y="28753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bf997b8dd4ac92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20" y="2995214"/>
            <a:ext cx="1112520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44739" y="28753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7" name="Picture 16" descr="d07916073d6422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8485" y="2989118"/>
            <a:ext cx="877824" cy="252984"/>
          </a:xfrm>
          <a:prstGeom prst="rect">
            <a:avLst/>
          </a:prstGeom>
        </p:spPr>
      </p:pic>
      <p:pic>
        <p:nvPicPr>
          <p:cNvPr id="18" name="Picture 17" descr="ae1d1f1e848c88a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1034" y="3528614"/>
            <a:ext cx="1560576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31610" y="3414886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20" name="Picture 19" descr="364a366b5734cf2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5356" y="3531662"/>
            <a:ext cx="1764792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16; 64° and 26°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1201" y="1440180"/>
            <a:ext cx="622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lines cross. Vertical angles measure </a:t>
            </a:r>
          </a:p>
        </p:txBody>
      </p:sp>
      <p:pic>
        <p:nvPicPr>
          <p:cNvPr id="9" name="Picture 8" descr="58f9ac6500c166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479" y="1557718"/>
            <a:ext cx="1329880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3360" y="144018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630da9e3b1e710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866" y="1557718"/>
            <a:ext cx="1337310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97176" y="144018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56ed89f4790ea0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7535" y="2148840"/>
            <a:ext cx="4806449" cy="31638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6418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measure of each angle.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6314f6680daf5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749296" cy="277368"/>
          </a:xfrm>
          <a:prstGeom prst="rect">
            <a:avLst/>
          </a:prstGeom>
        </p:spPr>
      </p:pic>
      <p:pic>
        <p:nvPicPr>
          <p:cNvPr id="9" name="Picture 8" descr="def7740143bebf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1928"/>
            <a:ext cx="1941576" cy="277368"/>
          </a:xfrm>
          <a:prstGeom prst="rect">
            <a:avLst/>
          </a:prstGeom>
        </p:spPr>
      </p:pic>
      <p:pic>
        <p:nvPicPr>
          <p:cNvPr id="10" name="Picture 9" descr="adcc8f1246fa21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023615"/>
            <a:ext cx="2737104" cy="347472"/>
          </a:xfrm>
          <a:prstGeom prst="rect">
            <a:avLst/>
          </a:prstGeom>
        </p:spPr>
      </p:pic>
      <p:pic>
        <p:nvPicPr>
          <p:cNvPr id="11" name="Picture 10" descr="6f95e2cb60145c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645407"/>
            <a:ext cx="2456688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Each angle is 38°.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790" y="1577340"/>
            <a:ext cx="3880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Vertical angles measure </a:t>
            </a:r>
          </a:p>
        </p:txBody>
      </p:sp>
      <p:pic>
        <p:nvPicPr>
          <p:cNvPr id="9" name="Picture 8" descr="3cb477a3fb5155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406" y="1694878"/>
            <a:ext cx="1186243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82650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58dcc8f629bcb0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156" y="1694878"/>
            <a:ext cx="1166431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65588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measure of each angle.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9075" y="1577340"/>
            <a:ext cx="3880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Vertical angles measure </a:t>
            </a:r>
          </a:p>
        </p:txBody>
      </p:sp>
      <p:pic>
        <p:nvPicPr>
          <p:cNvPr id="9" name="Picture 8" descr="b01416cd51b60b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691" y="1692402"/>
            <a:ext cx="1191196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83888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545a70ed969048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395" y="1692402"/>
            <a:ext cx="1168908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69303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measure of each angle.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0968" y="2875390"/>
            <a:ext cx="34294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equal:  4x + 3 = x + 39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0968" y="3378310"/>
            <a:ext cx="35549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take x off both sides:  </a:t>
            </a:r>
          </a:p>
        </p:txBody>
      </p:sp>
      <p:pic>
        <p:nvPicPr>
          <p:cNvPr id="16" name="Picture 15" descr="2ab8632a630df2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717" y="3513565"/>
            <a:ext cx="1344168" cy="214693"/>
          </a:xfrm>
          <a:prstGeom prst="rect">
            <a:avLst/>
          </a:prstGeom>
        </p:spPr>
      </p:pic>
      <p:pic>
        <p:nvPicPr>
          <p:cNvPr id="17" name="Picture 16" descr="68567d5b1bde236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5832" y="4016199"/>
            <a:ext cx="905256" cy="213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61088" y="3881230"/>
            <a:ext cx="557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9" name="Picture 18" descr="c9ab79e3ddc850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1089" y="4016199"/>
            <a:ext cx="743712" cy="210312"/>
          </a:xfrm>
          <a:prstGeom prst="rect">
            <a:avLst/>
          </a:prstGeom>
        </p:spPr>
      </p:pic>
      <p:pic>
        <p:nvPicPr>
          <p:cNvPr id="20" name="Picture 19" descr="0992bbe3f2b541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5832" y="4522167"/>
            <a:ext cx="1716024" cy="265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95565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Each angle is 51°.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complement of 34°?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complement of 34°?</a:t>
            </a:r>
          </a:p>
        </p:txBody>
      </p:sp>
      <p:pic>
        <p:nvPicPr>
          <p:cNvPr id="9" name="Picture 8" descr="0f1f1f9bfab677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175" y="2626406"/>
            <a:ext cx="1837943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56°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supplement of 112°?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supplement of 112°?</a:t>
            </a:r>
          </a:p>
        </p:txBody>
      </p:sp>
      <p:pic>
        <p:nvPicPr>
          <p:cNvPr id="9" name="Picture 8" descr="48c6be8dd19e7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251" y="2626406"/>
            <a:ext cx="2139696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68°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lines cross. One angle is 47°.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a and b.</a:t>
            </a:r>
          </a:p>
        </p:txBody>
      </p:sp>
      <p:pic>
        <p:nvPicPr>
          <p:cNvPr id="10" name="Picture 9" descr="gd8f563ee502329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625" y="2998436"/>
            <a:ext cx="3004268" cy="22867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lines cross. One angle is 47°.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a and b.</a:t>
            </a:r>
          </a:p>
        </p:txBody>
      </p:sp>
      <p:pic>
        <p:nvPicPr>
          <p:cNvPr id="10" name="Picture 9" descr="gd8f563ee502329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379" y="2998436"/>
            <a:ext cx="3004268" cy="22867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22167" y="3661774"/>
            <a:ext cx="16002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vertical:  </a:t>
            </a:r>
          </a:p>
        </p:txBody>
      </p:sp>
      <p:pic>
        <p:nvPicPr>
          <p:cNvPr id="12" name="Picture 11" descr="4bae18db7a4d73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212" y="3801696"/>
            <a:ext cx="788765" cy="21002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22167" y="4164694"/>
            <a:ext cx="23008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 linear pair:  </a:t>
            </a:r>
          </a:p>
        </p:txBody>
      </p:sp>
      <p:pic>
        <p:nvPicPr>
          <p:cNvPr id="14" name="Picture 13" descr="d938da6dc54928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854" y="4292948"/>
            <a:ext cx="2291619" cy="22169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= 47°, b = 133°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ebbb07ffc24a4d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74151"/>
            <a:ext cx="393763" cy="2204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8203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77b1c730618540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666" y="1971675"/>
            <a:ext cx="438340" cy="2575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34006" y="1851660"/>
            <a:ext cx="42586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are complementary, and </a:t>
            </a:r>
          </a:p>
        </p:txBody>
      </p:sp>
      <p:pic>
        <p:nvPicPr>
          <p:cNvPr id="12" name="Picture 11" descr="3d67e897ac2349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544" y="1971675"/>
            <a:ext cx="1461135" cy="2253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16679" y="1851660"/>
            <a:ext cx="2891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64308"/>
            <a:ext cx="14806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</a:t>
            </a:r>
          </a:p>
        </p:txBody>
      </p:sp>
      <p:pic>
        <p:nvPicPr>
          <p:cNvPr id="15" name="Picture 14" descr="9aa2e860f902725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7939" y="2584323"/>
            <a:ext cx="713232" cy="2575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91171" y="246430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2369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152°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2369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62°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9227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28°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9227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118°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286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ebbb07ffc24a4d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74151"/>
            <a:ext cx="393763" cy="2204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8203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159c08c6eed82f4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666" y="1971675"/>
            <a:ext cx="438340" cy="2575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34006" y="1851660"/>
            <a:ext cx="42586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are complementary, and </a:t>
            </a:r>
          </a:p>
        </p:txBody>
      </p:sp>
      <p:pic>
        <p:nvPicPr>
          <p:cNvPr id="12" name="Picture 11" descr="3a7f772a2815ff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544" y="1971675"/>
            <a:ext cx="1463611" cy="2253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19156" y="1851660"/>
            <a:ext cx="2891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64308"/>
            <a:ext cx="14806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</a:t>
            </a:r>
          </a:p>
        </p:txBody>
      </p:sp>
      <p:pic>
        <p:nvPicPr>
          <p:cNvPr id="15" name="Picture 14" descr="52c288f6d52551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7939" y="2584323"/>
            <a:ext cx="710755" cy="2575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88694" y="246430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7" name="Picture 16" descr="745c0b5bbb17b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2747" y="3312604"/>
            <a:ext cx="182575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62°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6420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linear pair measures </a:t>
            </a:r>
          </a:p>
        </p:txBody>
      </p:sp>
      <p:pic>
        <p:nvPicPr>
          <p:cNvPr id="9" name="Picture 8" descr="0787c152ddf7d6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313" y="1969198"/>
            <a:ext cx="1327404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66717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3fa3d57b238d7f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224" y="1971675"/>
            <a:ext cx="631507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14731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4" name="Picture 13" descr="g8cc55e219df497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117" y="3071986"/>
            <a:ext cx="3413284" cy="22132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6420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linear pair measures </a:t>
            </a:r>
          </a:p>
        </p:txBody>
      </p:sp>
      <p:pic>
        <p:nvPicPr>
          <p:cNvPr id="9" name="Picture 8" descr="8f30b8b49e8693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313" y="1966722"/>
            <a:ext cx="1329880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69193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3fa3d57b238d7f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700" y="1971675"/>
            <a:ext cx="631507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1720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4" name="Picture 13" descr="g8cc55e219df497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013" y="3071986"/>
            <a:ext cx="3413284" cy="2213245"/>
          </a:xfrm>
          <a:prstGeom prst="rect">
            <a:avLst/>
          </a:prstGeom>
        </p:spPr>
      </p:pic>
      <p:pic>
        <p:nvPicPr>
          <p:cNvPr id="15" name="Picture 14" descr="7f724f244cbb4e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9682" y="3833518"/>
            <a:ext cx="2456688" cy="213360"/>
          </a:xfrm>
          <a:prstGeom prst="rect">
            <a:avLst/>
          </a:prstGeom>
        </p:spPr>
      </p:pic>
      <p:pic>
        <p:nvPicPr>
          <p:cNvPr id="16" name="Picture 15" descr="f3f7561d3a7c01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9682" y="4336438"/>
            <a:ext cx="923544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03226" y="4201469"/>
            <a:ext cx="557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8" name="Picture 17" descr="2396565ee2317ac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3227" y="4336438"/>
            <a:ext cx="771144" cy="213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20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880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Vertical angles measure </a:t>
            </a:r>
          </a:p>
        </p:txBody>
      </p:sp>
      <p:pic>
        <p:nvPicPr>
          <p:cNvPr id="9" name="Picture 8" descr="e1c3824ec7b711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056" y="1969198"/>
            <a:ext cx="1359598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37654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15cc58817ef78a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161" y="1969198"/>
            <a:ext cx="1352169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0633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measure of each angle.</a:t>
            </a:r>
          </a:p>
        </p:txBody>
      </p:sp>
      <p:pic>
        <p:nvPicPr>
          <p:cNvPr id="14" name="Picture 13" descr="g67f53515655a95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6706" y="3071986"/>
            <a:ext cx="3008107" cy="24418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880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Vertical angles measure </a:t>
            </a:r>
          </a:p>
        </p:txBody>
      </p:sp>
      <p:pic>
        <p:nvPicPr>
          <p:cNvPr id="9" name="Picture 8" descr="8b8ebe44a953ed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056" y="1966722"/>
            <a:ext cx="1364551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42607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2f4a415f7dba0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114" y="1966722"/>
            <a:ext cx="1354645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1376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measure of each angle.</a:t>
            </a:r>
          </a:p>
        </p:txBody>
      </p:sp>
      <p:pic>
        <p:nvPicPr>
          <p:cNvPr id="14" name="Picture 13" descr="g89971f5fd86241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165" y="3071986"/>
            <a:ext cx="2726495" cy="22132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73181" y="3447089"/>
            <a:ext cx="4653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equal:  6x − 20 = 2x + 28,   so  </a:t>
            </a:r>
          </a:p>
        </p:txBody>
      </p:sp>
      <p:pic>
        <p:nvPicPr>
          <p:cNvPr id="16" name="Picture 15" descr="3cb91e7565858ad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9826" y="3584677"/>
            <a:ext cx="1556527" cy="212359"/>
          </a:xfrm>
          <a:prstGeom prst="rect">
            <a:avLst/>
          </a:prstGeom>
        </p:spPr>
      </p:pic>
      <p:pic>
        <p:nvPicPr>
          <p:cNvPr id="17" name="Picture 16" descr="c0a42a78d97a1e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45" y="4091074"/>
            <a:ext cx="957072" cy="2072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85117" y="3950009"/>
            <a:ext cx="557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9" name="Picture 18" descr="c9ab79e3ddc850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5118" y="4084978"/>
            <a:ext cx="743712" cy="210312"/>
          </a:xfrm>
          <a:prstGeom prst="rect">
            <a:avLst/>
          </a:prstGeom>
        </p:spPr>
      </p:pic>
      <p:pic>
        <p:nvPicPr>
          <p:cNvPr id="20" name="Picture 19" descr="b9cd8d999bb0953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45" y="4590946"/>
            <a:ext cx="1898904" cy="265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52°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In the figure, lines AD and BE cross at O, and ray OC is drawn.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two angles are adjacent?</a:t>
            </a:r>
          </a:p>
        </p:txBody>
      </p:sp>
      <p:pic>
        <p:nvPicPr>
          <p:cNvPr id="10" name="Picture 9" descr="g6147afccec220b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221" y="2998436"/>
            <a:ext cx="1039077" cy="1025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426150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angles AOB and DOE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26150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angles AOB and AOC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94730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angles AOB and BOC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94730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angles AOB and COD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In the figure, lines AD and BE cross at O, and ray OC is drawn.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two angles are adjacent?</a:t>
            </a:r>
          </a:p>
        </p:txBody>
      </p:sp>
      <p:pic>
        <p:nvPicPr>
          <p:cNvPr id="10" name="Picture 9" descr="g7da705629c5ab4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113" y="2998436"/>
            <a:ext cx="2304288" cy="20295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32921" y="3533158"/>
            <a:ext cx="50686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AOB and BOC share the side 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2921" y="4036078"/>
            <a:ext cx="30918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and do not overlap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1146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angles AOB and BOC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Above a straight line a ray makes angles of 38° and x°; below it another ray makes an angle of 50°.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0" name="Picture 9" descr="g9e90bd77297c2b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247" y="3427807"/>
            <a:ext cx="2561024" cy="1857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Above a straight line a ray makes angles of 38° and x°; below it another ray makes an angle of 50°.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0" name="Picture 9" descr="g9e90bd77297c2b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915" y="3427807"/>
            <a:ext cx="2561024" cy="1857424"/>
          </a:xfrm>
          <a:prstGeom prst="rect">
            <a:avLst/>
          </a:prstGeom>
        </p:spPr>
      </p:pic>
      <p:pic>
        <p:nvPicPr>
          <p:cNvPr id="11" name="Picture 10" descr="4b0ece7bc60712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324" y="4011428"/>
            <a:ext cx="1533144" cy="213360"/>
          </a:xfrm>
          <a:prstGeom prst="rect">
            <a:avLst/>
          </a:prstGeom>
        </p:spPr>
      </p:pic>
      <p:pic>
        <p:nvPicPr>
          <p:cNvPr id="12" name="Picture 11" descr="b9435b17e53862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5324" y="4514348"/>
            <a:ext cx="926592" cy="2103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142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Can two vertical angles be complementary?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Always, sometimes or never? Explain.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Can two vertical angles be complementary?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Always, sometimes or never? Explain.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5078" y="3048728"/>
            <a:ext cx="50057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vertical:  the two are equal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5078" y="3588224"/>
            <a:ext cx="33313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complementary:  </a:t>
            </a:r>
          </a:p>
        </p:txBody>
      </p:sp>
      <p:pic>
        <p:nvPicPr>
          <p:cNvPr id="12" name="Picture 11" descr="0006f1eda30768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222" y="3706334"/>
            <a:ext cx="1649063" cy="25412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78285" y="3588224"/>
            <a:ext cx="11853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Sometimes — only when each is 45°.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7031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7031"/>
            <a:ext cx="435486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What is the complement of 61°?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2817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8178"/>
            <a:ext cx="426514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What is the supplement of 76°?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59326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59326"/>
            <a:ext cx="9298873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Two lines cross, and one of the four angles is 58°. Find the other three.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90473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90473"/>
            <a:ext cx="321310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linear pair measures </a:t>
            </a:r>
          </a:p>
        </p:txBody>
      </p:sp>
      <p:pic>
        <p:nvPicPr>
          <p:cNvPr id="16" name="Picture 15" descr="285bdcc5e318a8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425" y="3169787"/>
            <a:ext cx="1235632" cy="25881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66058" y="3090473"/>
            <a:ext cx="860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8" name="Picture 17" descr="ad6c1a03ab2e48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645" y="3196225"/>
            <a:ext cx="434141" cy="20593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23787" y="3090473"/>
            <a:ext cx="366796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x and the first angle.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621620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621620"/>
            <a:ext cx="342197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Vertical angles measure </a:t>
            </a:r>
          </a:p>
        </p:txBody>
      </p:sp>
      <p:pic>
        <p:nvPicPr>
          <p:cNvPr id="22" name="Picture 21" descr="fbc2e0de42011f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294" y="3700934"/>
            <a:ext cx="1065872" cy="25881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05166" y="3621620"/>
            <a:ext cx="860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24" name="Picture 23" descr="bc71e7f24b50d2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754" y="3700934"/>
            <a:ext cx="1202237" cy="25881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830991" y="3621620"/>
            <a:ext cx="3025019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the measure of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024751"/>
            <a:ext cx="170376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each angle.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55589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pic>
        <p:nvPicPr>
          <p:cNvPr id="28" name="Picture 27" descr="b2dd3170aa6e61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4646344"/>
            <a:ext cx="782010" cy="23655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409642" y="4555898"/>
            <a:ext cx="860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30" name="Picture 29" descr="a52c8ccabb4b16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3230" y="4646344"/>
            <a:ext cx="776444" cy="23655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09675" y="4555898"/>
            <a:ext cx="716892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share the side QR and together make a straight line,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959029"/>
            <a:ext cx="78556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and </a:t>
            </a:r>
          </a:p>
        </p:txBody>
      </p:sp>
      <p:pic>
        <p:nvPicPr>
          <p:cNvPr id="33" name="Picture 32" descr="2c401f527e9ce7a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2882" y="5049475"/>
            <a:ext cx="1756045" cy="23655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958928" y="4959029"/>
            <a:ext cx="3463338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Name the pair and find </a:t>
            </a:r>
          </a:p>
        </p:txBody>
      </p:sp>
      <p:pic>
        <p:nvPicPr>
          <p:cNvPr id="35" name="Picture 34" descr="4211ba0231777fa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5106" y="5049475"/>
            <a:ext cx="1026910" cy="23655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312017" y="4959029"/>
            <a:ext cx="271558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11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Identify complementary, supplementary, vertical, adjacent, and congruent angles — HGV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166359"/>
            <a:ext cx="969264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measures of complementary, supplementary, vertical, and adjacent angles — R2B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824727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Write and solve equations using angle relationships — DBV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THREAD B · DAY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Interior and Exterior Angles of a Triangle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a missing angle of a triangle, inside or outside, with the Triangle Sum and the Exterior Angle Theorem.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51212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What is the supplement of 83°?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332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far apart are </a:t>
            </a:r>
          </a:p>
        </p:txBody>
      </p:sp>
      <p:pic>
        <p:nvPicPr>
          <p:cNvPr id="10" name="Picture 9" descr="b7db7bdb84bac6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14" y="2177367"/>
            <a:ext cx="1018151" cy="2705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85265" y="2052828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2" name="Picture 11" descr="afbf59c4acfdfe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849" y="2179740"/>
            <a:ext cx="688260" cy="268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59109" y="205282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65772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12 pens cost $9. What does one pen cost?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78124"/>
            <a:ext cx="796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straight angle is split into 50°, 60° and x°. Find x.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51212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What is the supplement of 83°?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7249" y="1440180"/>
            <a:ext cx="699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97°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2828"/>
            <a:ext cx="332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far apart are </a:t>
            </a:r>
          </a:p>
        </p:txBody>
      </p:sp>
      <p:pic>
        <p:nvPicPr>
          <p:cNvPr id="11" name="Picture 10" descr="b7db7bdb84bac6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14" y="2177367"/>
            <a:ext cx="1018151" cy="2705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85265" y="2052828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afbf59c4acfdfe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849" y="2179740"/>
            <a:ext cx="688260" cy="268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59109" y="205282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21" y="2052828"/>
            <a:ext cx="14059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65476"/>
            <a:ext cx="65772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12 pens cost $9. What does one pen cost?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3235" y="2665476"/>
            <a:ext cx="10088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$0.75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278124"/>
            <a:ext cx="796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straight angle is split into 50°, 60° and x°. Find 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8483" y="3278124"/>
            <a:ext cx="5714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70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interior 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an angle inside a triangle, at one of its corners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exterior angle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angle between one side of a triangle and the next side extended; it makes a linear pair with the interior angle beside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803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remote interior angles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07407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two interior angles that are not beside a given exterior angle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38741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Triangle Sum Theorem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468112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three interior angles of a triangle add to 180°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Triangle Sum: the three angles make 180°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a522339bbcb9f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59" y="1993392"/>
            <a:ext cx="3657600" cy="2548021"/>
          </a:xfrm>
          <a:prstGeom prst="rect">
            <a:avLst/>
          </a:prstGeom>
        </p:spPr>
      </p:pic>
      <p:pic>
        <p:nvPicPr>
          <p:cNvPr id="11" name="Picture 10" descr="0aedc77137df4b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878" y="4742962"/>
            <a:ext cx="2859024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98902" y="4664857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45e378d9b5b720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185" y="4746010"/>
            <a:ext cx="981455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5396377"/>
            <a:ext cx="59803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 triangle's three angles add to 180°:  </a:t>
            </a:r>
          </a:p>
        </p:txBody>
      </p:sp>
      <p:pic>
        <p:nvPicPr>
          <p:cNvPr id="15" name="Picture 14" descr="9263d6474ca215d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695" y="5520916"/>
            <a:ext cx="3540982" cy="218344"/>
          </a:xfrm>
          <a:prstGeom prst="rect">
            <a:avLst/>
          </a:prstGeom>
        </p:spPr>
      </p:pic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The Exterior Angle Theorem: outside = the two remote angles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cc45d7beb9c033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993392"/>
            <a:ext cx="3749039" cy="2344136"/>
          </a:xfrm>
          <a:prstGeom prst="rect">
            <a:avLst/>
          </a:prstGeom>
        </p:spPr>
      </p:pic>
      <p:pic>
        <p:nvPicPr>
          <p:cNvPr id="11" name="Picture 10" descr="89c2ce4528c0ee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677" y="4574621"/>
            <a:ext cx="2487025" cy="2441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80702" y="4460972"/>
            <a:ext cx="18753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check:  </a:t>
            </a:r>
          </a:p>
        </p:txBody>
      </p:sp>
      <p:pic>
        <p:nvPicPr>
          <p:cNvPr id="13" name="Picture 12" descr="8a37fc46900708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859" y="4571938"/>
            <a:ext cx="2148982" cy="2468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523364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Not the angle beside it, and not the angle around the outside.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Angles as expressions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dd6c2edffde6da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993392"/>
            <a:ext cx="4206240" cy="2337783"/>
          </a:xfrm>
          <a:prstGeom prst="rect">
            <a:avLst/>
          </a:prstGeom>
        </p:spPr>
      </p:pic>
      <p:pic>
        <p:nvPicPr>
          <p:cNvPr id="11" name="Picture 10" descr="647c8375d7d21a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949" y="4529676"/>
            <a:ext cx="3694176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52125" y="4454619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7b3e3f23e8ea73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532724"/>
            <a:ext cx="1435608" cy="2804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29016" y="4454619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d16345bfb60264a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0298" y="4535772"/>
            <a:ext cx="1033271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065073" y="5140419"/>
            <a:ext cx="21441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the angles:  </a:t>
            </a:r>
          </a:p>
        </p:txBody>
      </p:sp>
      <p:pic>
        <p:nvPicPr>
          <p:cNvPr id="17" name="Picture 16" descr="51b693d0751e4d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096" y="5254069"/>
            <a:ext cx="394382" cy="24414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66479" y="5140419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9" name="Picture 18" descr="51b693d0751e4d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4642" y="5254069"/>
            <a:ext cx="394382" cy="24414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09025" y="5140419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1" name="Picture 20" descr="b785117b1b16150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7188" y="5254069"/>
            <a:ext cx="539257" cy="244141"/>
          </a:xfrm>
          <a:prstGeom prst="rect">
            <a:avLst/>
          </a:prstGeom>
        </p:spPr>
      </p:pic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1000" y="1440180"/>
            <a:ext cx="44332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angles of a triangle are </a:t>
            </a:r>
          </a:p>
        </p:txBody>
      </p:sp>
      <p:pic>
        <p:nvPicPr>
          <p:cNvPr id="9" name="Picture 8" descr="47c3ebd1b51184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137" y="1557718"/>
            <a:ext cx="482917" cy="227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0054" y="144018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24dddd1a4fe592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561" y="1557718"/>
            <a:ext cx="440817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27378" y="144018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2f72bb38c53d66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79" y="2148840"/>
            <a:ext cx="4023360" cy="30921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57017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third angle.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18609985cbbf0f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167128" cy="280416"/>
          </a:xfrm>
          <a:prstGeom prst="rect">
            <a:avLst/>
          </a:prstGeom>
        </p:spPr>
      </p:pic>
      <p:pic>
        <p:nvPicPr>
          <p:cNvPr id="9" name="Picture 8" descr="b31b8f2372dd4a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4976"/>
            <a:ext cx="2959608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third angle is 51°.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3664" y="1577340"/>
            <a:ext cx="44332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angles of a triangle are </a:t>
            </a:r>
          </a:p>
        </p:txBody>
      </p:sp>
      <p:pic>
        <p:nvPicPr>
          <p:cNvPr id="9" name="Picture 8" descr="93bc96f2cc69f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801" y="1697355"/>
            <a:ext cx="465582" cy="227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35383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0727d2cc0503a7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890" y="1697355"/>
            <a:ext cx="492823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44713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third angle.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69950" y="1577340"/>
            <a:ext cx="44332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angles of a triangle are </a:t>
            </a:r>
          </a:p>
        </p:txBody>
      </p:sp>
      <p:pic>
        <p:nvPicPr>
          <p:cNvPr id="9" name="Picture 8" descr="4598b182d9f6bf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086" y="1697355"/>
            <a:ext cx="470534" cy="227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36621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0509e5756a63da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128" y="1697355"/>
            <a:ext cx="495299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48428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third angle.</a:t>
            </a:r>
          </a:p>
        </p:txBody>
      </p:sp>
      <p:pic>
        <p:nvPicPr>
          <p:cNvPr id="14" name="Picture 13" descr="4cdaf6218c704a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203" y="2995214"/>
            <a:ext cx="1993392" cy="252984"/>
          </a:xfrm>
          <a:prstGeom prst="rect">
            <a:avLst/>
          </a:prstGeom>
        </p:spPr>
      </p:pic>
      <p:pic>
        <p:nvPicPr>
          <p:cNvPr id="15" name="Picture 14" descr="0eee067290a38f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1203" y="3534710"/>
            <a:ext cx="2151888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57°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5154" y="1714500"/>
            <a:ext cx="5925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remote interior angles are </a:t>
            </a:r>
          </a:p>
        </p:txBody>
      </p:sp>
      <p:pic>
        <p:nvPicPr>
          <p:cNvPr id="9" name="Picture 8" descr="2db8d970bac03f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3546" y="1832038"/>
            <a:ext cx="490347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93893" y="171450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941c731884e8b0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400" y="1832038"/>
            <a:ext cx="492823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03223" y="171450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914915b016051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79" y="2423160"/>
            <a:ext cx="4023360" cy="26765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42893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exterior angle x.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a6436ee197a6c8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788920" cy="280416"/>
          </a:xfrm>
          <a:prstGeom prst="rect">
            <a:avLst/>
          </a:prstGeom>
        </p:spPr>
      </p:pic>
      <p:pic>
        <p:nvPicPr>
          <p:cNvPr id="9" name="Picture 8" descr="a03bc7e3a59a78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4976"/>
            <a:ext cx="5955792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exterior angle is 113°.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2396" y="1577340"/>
            <a:ext cx="5925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remote interior angles are </a:t>
            </a:r>
          </a:p>
        </p:txBody>
      </p:sp>
      <p:pic>
        <p:nvPicPr>
          <p:cNvPr id="9" name="Picture 8" descr="04116200ab91a5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787" y="1694878"/>
            <a:ext cx="458152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88940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d30b8c97d44031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5447" y="1697355"/>
            <a:ext cx="470534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75982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exterior angle.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9919" y="1577340"/>
            <a:ext cx="5925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remote interior angles are </a:t>
            </a:r>
          </a:p>
        </p:txBody>
      </p:sp>
      <p:pic>
        <p:nvPicPr>
          <p:cNvPr id="9" name="Picture 8" descr="04116200ab91a5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311" y="1694878"/>
            <a:ext cx="458152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86463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7cb83dab77d384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2970" y="1697355"/>
            <a:ext cx="475488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78458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exterior angle.</a:t>
            </a:r>
          </a:p>
        </p:txBody>
      </p:sp>
      <p:pic>
        <p:nvPicPr>
          <p:cNvPr id="14" name="Picture 13" descr="30206c3aca93b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1" y="2995214"/>
            <a:ext cx="1975104" cy="2529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107°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Two angles of a triangle are 47° and 68°. Find the third angle.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Two angles of a triangle are 47° and 68°. Find the third angle.</a:t>
            </a:r>
          </a:p>
        </p:txBody>
      </p:sp>
      <p:pic>
        <p:nvPicPr>
          <p:cNvPr id="9" name="Picture 8" descr="0e1ea345931b3e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251" y="2623358"/>
            <a:ext cx="1987296" cy="256032"/>
          </a:xfrm>
          <a:prstGeom prst="rect">
            <a:avLst/>
          </a:prstGeom>
        </p:spPr>
      </p:pic>
      <p:pic>
        <p:nvPicPr>
          <p:cNvPr id="10" name="Picture 9" descr="5a6504566eb37c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251" y="3165902"/>
            <a:ext cx="2142744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65°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isosceles triangle's two base angles are equal. Each is 52°.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third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isosceles triangle's two base angles are equal. Each is 52°.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third angle.</a:t>
            </a:r>
          </a:p>
        </p:txBody>
      </p:sp>
      <p:pic>
        <p:nvPicPr>
          <p:cNvPr id="10" name="Picture 9" descr="5896b664cb0ee0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3" y="3168553"/>
            <a:ext cx="2023872" cy="252984"/>
          </a:xfrm>
          <a:prstGeom prst="rect">
            <a:avLst/>
          </a:prstGeom>
        </p:spPr>
      </p:pic>
      <p:pic>
        <p:nvPicPr>
          <p:cNvPr id="11" name="Picture 10" descr="05c73aed05dead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3" y="3705001"/>
            <a:ext cx="2197608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76°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remote interior angles are 38° and 77°.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exterior angle x.</a:t>
            </a:r>
          </a:p>
        </p:txBody>
      </p:sp>
      <p:pic>
        <p:nvPicPr>
          <p:cNvPr id="10" name="Picture 9" descr="g4acad889d515fe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490" y="2998436"/>
            <a:ext cx="4188538" cy="22867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remote interior angles are 38° and 77°.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exterior angle x.</a:t>
            </a:r>
          </a:p>
        </p:txBody>
      </p:sp>
      <p:pic>
        <p:nvPicPr>
          <p:cNvPr id="10" name="Picture 9" descr="g4acad889d515fe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742" y="2998436"/>
            <a:ext cx="4188538" cy="2286795"/>
          </a:xfrm>
          <a:prstGeom prst="rect">
            <a:avLst/>
          </a:prstGeom>
        </p:spPr>
      </p:pic>
      <p:pic>
        <p:nvPicPr>
          <p:cNvPr id="11" name="Picture 10" descr="f6703d768b6f6b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8665" y="4048203"/>
            <a:ext cx="2097024" cy="21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115°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angles are 45°, 60° and 75°.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exterior angle beside the 75°?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75°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105°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285°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60°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815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angles are 45°, 60° and 75°.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exterior angle beside the 75°?</a:t>
            </a:r>
          </a:p>
        </p:txBody>
      </p:sp>
      <p:pic>
        <p:nvPicPr>
          <p:cNvPr id="10" name="Picture 9" descr="b2800e49e8c99d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064" y="3165505"/>
            <a:ext cx="2045208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84200" y="3588224"/>
            <a:ext cx="1548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check:  </a:t>
            </a:r>
          </a:p>
        </p:txBody>
      </p:sp>
      <p:pic>
        <p:nvPicPr>
          <p:cNvPr id="12" name="Picture 11" descr="89eaa96462cb01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141" y="3709097"/>
            <a:ext cx="2182177" cy="2513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105°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exterior angle of a triangle is 130°. One remote interior angle is 55°.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other remote interior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exterior angle of a triangle is 130°. One remote interior angle is 55°.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other remote interior angle.</a:t>
            </a:r>
          </a:p>
        </p:txBody>
      </p:sp>
      <p:pic>
        <p:nvPicPr>
          <p:cNvPr id="10" name="Picture 9" descr="8ce054ff8a0825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939" y="3597923"/>
            <a:ext cx="1801368" cy="252984"/>
          </a:xfrm>
          <a:prstGeom prst="rect">
            <a:avLst/>
          </a:prstGeom>
        </p:spPr>
      </p:pic>
      <p:pic>
        <p:nvPicPr>
          <p:cNvPr id="11" name="Picture 10" descr="10fb68966b6f5d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39" y="4137419"/>
            <a:ext cx="886968" cy="2499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75°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60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angles are </a:t>
            </a:r>
          </a:p>
        </p:txBody>
      </p:sp>
      <p:pic>
        <p:nvPicPr>
          <p:cNvPr id="9" name="Picture 8" descr="3e2f38cf5d6a5b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946" y="1969198"/>
            <a:ext cx="307086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8032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19a77d2ef13e07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039" y="1971675"/>
            <a:ext cx="470534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9574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bcd545b5207fdb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080" y="1969198"/>
            <a:ext cx="1327404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63484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each angle.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60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angles are </a:t>
            </a:r>
          </a:p>
        </p:txBody>
      </p:sp>
      <p:pic>
        <p:nvPicPr>
          <p:cNvPr id="9" name="Picture 8" descr="3e2f38cf5d6a5b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946" y="1969198"/>
            <a:ext cx="307086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8032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4d05019691e271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039" y="1971675"/>
            <a:ext cx="473011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22050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9017c2bef06e0a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557" y="1966722"/>
            <a:ext cx="1329880" cy="287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68437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each angle.</a:t>
            </a:r>
          </a:p>
        </p:txBody>
      </p:sp>
      <p:pic>
        <p:nvPicPr>
          <p:cNvPr id="16" name="Picture 15" descr="d81f3f45ef9c4b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5922" y="3242102"/>
            <a:ext cx="3236976" cy="2529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92898" y="3122278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8" name="Picture 17" descr="84cb4c1234df5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6644" y="3239054"/>
            <a:ext cx="1258824" cy="2529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35467" y="3122278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20" name="Picture 19" descr="b240ecaec035e4d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9213" y="3242102"/>
            <a:ext cx="896112" cy="249935"/>
          </a:xfrm>
          <a:prstGeom prst="rect">
            <a:avLst/>
          </a:prstGeom>
        </p:spPr>
      </p:pic>
      <p:pic>
        <p:nvPicPr>
          <p:cNvPr id="21" name="Picture 20" descr="c48d1166260cd6e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5922" y="3778550"/>
            <a:ext cx="1563624" cy="3169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19546" y="3661774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23" name="Picture 22" descr="65e6d91ac736a0f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3292" y="3775502"/>
            <a:ext cx="2234184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28°, 84° and 68°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838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exterior angle measures </a:t>
            </a:r>
          </a:p>
        </p:txBody>
      </p:sp>
      <p:pic>
        <p:nvPicPr>
          <p:cNvPr id="9" name="Picture 8" descr="6fc36d4d507b14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169" y="1969198"/>
            <a:ext cx="1198626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979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54709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remote interior angles measure </a:t>
            </a:r>
          </a:p>
        </p:txBody>
      </p:sp>
      <p:pic>
        <p:nvPicPr>
          <p:cNvPr id="12" name="Picture 11" descr="2199f872223f1d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276" y="2581846"/>
            <a:ext cx="473011" cy="2278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1287" y="246430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4" name="Picture 13" descr="2914b62989f40b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794" y="2581846"/>
            <a:ext cx="690943" cy="28479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48737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equation finds x?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8" name="Picture 17" descr="82554d18127d50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8" y="3824842"/>
            <a:ext cx="2819400" cy="2773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59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20" name="Picture 19" descr="8d07209786ff86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3827890"/>
            <a:ext cx="1810512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91640" y="444358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22" name="Picture 21" descr="0ba96a21739ff63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8568" y="4437490"/>
            <a:ext cx="2612136" cy="2773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37959" y="444358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4" name="Picture 23" descr="b32043de87a5dee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4888" y="4437490"/>
            <a:ext cx="3621024" cy="2773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512024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838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exterior angle measures </a:t>
            </a:r>
          </a:p>
        </p:txBody>
      </p:sp>
      <p:pic>
        <p:nvPicPr>
          <p:cNvPr id="9" name="Picture 8" descr="d7eb0f2d681788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169" y="1966722"/>
            <a:ext cx="1203579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8474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54709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remote interior angles measure </a:t>
            </a:r>
          </a:p>
        </p:txBody>
      </p:sp>
      <p:pic>
        <p:nvPicPr>
          <p:cNvPr id="12" name="Picture 11" descr="2199f872223f1d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276" y="2581846"/>
            <a:ext cx="473011" cy="2278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1287" y="246430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4" name="Picture 13" descr="2e968d0415b3e8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794" y="2579370"/>
            <a:ext cx="695896" cy="28727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53690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equation finds x?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1952" y="3734926"/>
            <a:ext cx="79147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outside = the two far ones:  5x + 4 = 52 + 3x</a:t>
            </a:r>
          </a:p>
        </p:txBody>
      </p:sp>
      <p:pic>
        <p:nvPicPr>
          <p:cNvPr id="18" name="Picture 17" descr="855664d81a55cc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6816" y="4394246"/>
            <a:ext cx="1100328" cy="2499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47144" y="4274422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20" name="Picture 19" descr="304dcdfd3873643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0890" y="4391198"/>
            <a:ext cx="914400" cy="24993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84592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5x + 4 = 52 + 3x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angles of 41° and 66°, and its longest side is 9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third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angles of 41° and 66°, and its longest side is 9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third angle.</a:t>
            </a:r>
          </a:p>
        </p:txBody>
      </p:sp>
      <p:pic>
        <p:nvPicPr>
          <p:cNvPr id="10" name="Picture 9" descr="f9b56ca1453b15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1" y="3165505"/>
            <a:ext cx="2005584" cy="256032"/>
          </a:xfrm>
          <a:prstGeom prst="rect">
            <a:avLst/>
          </a:prstGeom>
        </p:spPr>
      </p:pic>
      <p:pic>
        <p:nvPicPr>
          <p:cNvPr id="11" name="Picture 10" descr="d164afe1fd8f71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1" y="3708049"/>
            <a:ext cx="2157984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73°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Why is an exterior angle of a triangle always bigger than either of its remote interior angles? Explain.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Why is an exterior angle of a triangle always bigger than either of its remote interior angles? Explain.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4873" y="2939000"/>
            <a:ext cx="22738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for example:  </a:t>
            </a:r>
          </a:p>
        </p:txBody>
      </p:sp>
      <p:pic>
        <p:nvPicPr>
          <p:cNvPr id="10" name="Picture 9" descr="1cf37538407c01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584" y="3074255"/>
            <a:ext cx="1726882" cy="2146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8467" y="2939000"/>
            <a:ext cx="52676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more than 40 and more than 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It is the two remote angles added, each more than 0°.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7031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7031"/>
            <a:ext cx="817310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Two angles of a triangle are 63° and 79°. Find the third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2817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8178"/>
            <a:ext cx="960650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 isosceles triangle's two base angles are equal. The angle between its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31310"/>
            <a:ext cx="602371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two equal sides is 40°. Find each base angle.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62457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62457"/>
            <a:ext cx="993057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triangle's remote interior angles are 46° and 58°. Find the exterior angle.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93604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93604"/>
            <a:ext cx="9517483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 exterior angle of a triangle is 140°. One remote interior angle is 62°.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96735"/>
            <a:ext cx="207169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Find the other.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27882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27882"/>
            <a:ext cx="317948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triangle's angles are </a:t>
            </a:r>
          </a:p>
        </p:txBody>
      </p:sp>
      <p:pic>
        <p:nvPicPr>
          <p:cNvPr id="20" name="Picture 19" descr="29df01d514fa3f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804" y="4507196"/>
            <a:ext cx="637297" cy="25881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34101" y="4427882"/>
            <a:ext cx="35718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2" name="Picture 21" descr="04becd1bdf09d2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126" y="4507196"/>
            <a:ext cx="631731" cy="25881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85857" y="4427882"/>
            <a:ext cx="860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24" name="Picture 23" descr="01c992824f9bab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445" y="4507196"/>
            <a:ext cx="656777" cy="25881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66222" y="4427882"/>
            <a:ext cx="248179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each angle.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59029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959029"/>
            <a:ext cx="553524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 exterior angle of a triangle measures </a:t>
            </a:r>
          </a:p>
        </p:txBody>
      </p:sp>
      <p:pic>
        <p:nvPicPr>
          <p:cNvPr id="28" name="Picture 27" descr="9da31d5850a0f00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2560" y="5038343"/>
            <a:ext cx="1249547" cy="25881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02107" y="4959029"/>
            <a:ext cx="277458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; its remote interior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362160"/>
            <a:ext cx="234101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angles measure </a:t>
            </a:r>
          </a:p>
        </p:txBody>
      </p:sp>
      <p:pic>
        <p:nvPicPr>
          <p:cNvPr id="31" name="Picture 30" descr="985ed041d11c307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8332" y="5467913"/>
            <a:ext cx="445273" cy="20593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03605" y="5362160"/>
            <a:ext cx="860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33" name="Picture 32" descr="29df01d514fa3f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93" y="5441475"/>
            <a:ext cx="637297" cy="25881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64490" y="5362160"/>
            <a:ext cx="414554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Write an equation and find x.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11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missing angles in triangles — JFJ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Exterior Angle Theorem — FMP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Triangle Angle-Sum Theorem — 6Q6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