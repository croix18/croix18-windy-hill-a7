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5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Scale Factor: Perimeter and Area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perimeter and the area of a scale copy from the original and k, and find k from two areas.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437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20 cm side becomes 8 cm in the copy. Find the scale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0" name="Picture 9" descr="c5ba369a2497f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06" y="2096674"/>
            <a:ext cx="847272" cy="3726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65476"/>
            <a:ext cx="3071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values:  </a:t>
            </a:r>
          </a:p>
        </p:txBody>
      </p:sp>
      <p:pic>
        <p:nvPicPr>
          <p:cNvPr id="12" name="Picture 11" descr="33d30e37238e3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88" y="2742549"/>
            <a:ext cx="265811" cy="265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4399" y="266547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4" name="Picture 13" descr="20ade1fcd202f3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40" y="2744922"/>
            <a:ext cx="261064" cy="2634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278124"/>
            <a:ext cx="9349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perimeter and the area of a 3 cm by 5 cm rectangle.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437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20 cm side becomes 8 cm in the copy. Find the scale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2274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c5ba369a2497f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06" y="2553874"/>
            <a:ext cx="847272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9218" y="2510028"/>
            <a:ext cx="5365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22676"/>
            <a:ext cx="3071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values:  </a:t>
            </a:r>
          </a:p>
        </p:txBody>
      </p:sp>
      <p:pic>
        <p:nvPicPr>
          <p:cNvPr id="14" name="Picture 13" descr="33d30e37238e3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88" y="3199749"/>
            <a:ext cx="265811" cy="2658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74399" y="312267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6" name="Picture 15" descr="20ade1fcd202f3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40" y="3202122"/>
            <a:ext cx="261064" cy="2634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4444" y="3122676"/>
            <a:ext cx="14651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and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35324"/>
            <a:ext cx="9349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perimeter and the area of a 3 cm by 5 cm rectangle.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92524"/>
            <a:ext cx="33881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P = 16 cm, A = 15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k squared</a:t>
            </a:r>
          </a:p>
        </p:txBody>
      </p:sp>
      <p:pic>
        <p:nvPicPr>
          <p:cNvPr id="9" name="Picture 8" descr="f5d0f69f4213c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50941"/>
            <a:ext cx="267874" cy="2519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0874" y="1869550"/>
            <a:ext cx="99845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 k times k: what an area is multiplied by when every length is multiplied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54182"/>
            <a:ext cx="624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by </a:t>
            </a:r>
          </a:p>
        </p:txBody>
      </p:sp>
      <p:pic>
        <p:nvPicPr>
          <p:cNvPr id="12" name="Picture 11" descr="5ad8b479ac362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92" y="2474165"/>
            <a:ext cx="140747" cy="2133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perimeter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96200"/>
            <a:ext cx="71062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copy's perimeter ÷ original's perimeter — it equals </a:t>
            </a:r>
          </a:p>
        </p:txBody>
      </p:sp>
      <p:pic>
        <p:nvPicPr>
          <p:cNvPr id="15" name="Picture 14" descr="5ad8b479ac362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16" y="3516184"/>
            <a:ext cx="140747" cy="2133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0317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area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8219"/>
            <a:ext cx="56769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copy's area ÷ original's area — it equals </a:t>
            </a:r>
          </a:p>
        </p:txBody>
      </p:sp>
      <p:pic>
        <p:nvPicPr>
          <p:cNvPr id="18" name="Picture 17" descr="f5d0f69f4213c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757" y="4519610"/>
            <a:ext cx="267874" cy="2519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Every side × k, so the perimeter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5b63e5073dba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93392"/>
            <a:ext cx="5486400" cy="2387065"/>
          </a:xfrm>
          <a:prstGeom prst="rect">
            <a:avLst/>
          </a:prstGeom>
        </p:spPr>
      </p:pic>
      <p:pic>
        <p:nvPicPr>
          <p:cNvPr id="11" name="Picture 10" descr="cc9f29a22390a2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532" y="4572862"/>
            <a:ext cx="5172456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 is two lengths, so the area × k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f6e25f382079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993392"/>
            <a:ext cx="3840480" cy="2708030"/>
          </a:xfrm>
          <a:prstGeom prst="rect">
            <a:avLst/>
          </a:prstGeom>
        </p:spPr>
      </p:pic>
      <p:pic>
        <p:nvPicPr>
          <p:cNvPr id="11" name="Picture 10" descr="73de71b52ec561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940" y="4847726"/>
            <a:ext cx="550164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From two areas back to k: a square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6d3ae8b19a234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2194560"/>
            <a:ext cx="8839200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10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Area ratio = k</a:t>
            </a:r>
            <a:r>
              <a:rPr sz="2180" b="1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. k = the square root of the area ratio.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4932" y="2080260"/>
            <a:ext cx="58614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by 4 cm rectangle is scaled by </a:t>
            </a:r>
          </a:p>
        </p:txBody>
      </p:sp>
      <p:pic>
        <p:nvPicPr>
          <p:cNvPr id="9" name="Picture 8" descr="8058f93241672f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179" y="2192845"/>
            <a:ext cx="60426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3445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3da73618c3a5c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065776" cy="353568"/>
          </a:xfrm>
          <a:prstGeom prst="rect">
            <a:avLst/>
          </a:prstGeom>
        </p:spPr>
      </p:pic>
      <p:pic>
        <p:nvPicPr>
          <p:cNvPr id="9" name="Picture 8" descr="da9b199f35923b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4386072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36 cm, A = 72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901" y="1577340"/>
            <a:ext cx="58362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 cm by 6 cm rectangle is scaled by </a:t>
            </a:r>
          </a:p>
        </p:txBody>
      </p:sp>
      <p:pic>
        <p:nvPicPr>
          <p:cNvPr id="9" name="Picture 8" descr="6c1f342e4d843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970" y="1687449"/>
            <a:ext cx="631507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477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2662" y="1577340"/>
            <a:ext cx="58362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 cm by 6 cm rectangle is scaled by </a:t>
            </a:r>
          </a:p>
        </p:txBody>
      </p:sp>
      <p:pic>
        <p:nvPicPr>
          <p:cNvPr id="9" name="Picture 8" descr="8818f8b2507901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731" y="1687449"/>
            <a:ext cx="633984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5715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pic>
        <p:nvPicPr>
          <p:cNvPr id="12" name="Picture 11" descr="a391ba3877603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047" y="2992166"/>
            <a:ext cx="2109216" cy="252984"/>
          </a:xfrm>
          <a:prstGeom prst="rect">
            <a:avLst/>
          </a:prstGeom>
        </p:spPr>
      </p:pic>
      <p:pic>
        <p:nvPicPr>
          <p:cNvPr id="13" name="Picture 12" descr="30e6b9ad4e67f1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047" y="3482894"/>
            <a:ext cx="3880104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72 cm, A = 288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1745" y="171450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bd8ae361e3ef13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945" y="1784985"/>
            <a:ext cx="92868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6632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433" y="240030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310dff147270a8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467" y="2470785"/>
            <a:ext cx="116147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3945" y="24003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3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09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k, then the matching side of the copy.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c237a4a459a45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52472" cy="676656"/>
          </a:xfrm>
          <a:prstGeom prst="rect">
            <a:avLst/>
          </a:prstGeom>
        </p:spPr>
      </p:pic>
      <p:pic>
        <p:nvPicPr>
          <p:cNvPr id="9" name="Picture 8" descr="c1463e20ee37a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4255008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4; the side is 12 cm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5460" y="157734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e2be393dbf629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60" y="164782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291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433" y="226314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cecd9b8e3fec7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467" y="2333625"/>
            <a:ext cx="116147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3945" y="22631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2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3723" y="3488038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6" name="Picture 15" descr="5ad8b479ac362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39" y="3598147"/>
            <a:ext cx="153543" cy="232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3682" y="3488038"/>
            <a:ext cx="5611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then the matching side of the copy.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5460" y="157734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55ca388921d9b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60" y="164782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291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3194" y="226314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8fab6492a088d5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228" y="2333625"/>
            <a:ext cx="1163955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5183" y="22631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2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3723" y="3488038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6" name="Picture 15" descr="5ad8b479ac362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39" y="3598147"/>
            <a:ext cx="153543" cy="232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3682" y="3488038"/>
            <a:ext cx="5611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then the matching side of the copy.</a:t>
            </a:r>
          </a:p>
        </p:txBody>
      </p:sp>
      <p:pic>
        <p:nvPicPr>
          <p:cNvPr id="18" name="Picture 17" descr="a02b1beb298b5d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269850"/>
            <a:ext cx="2048256" cy="609600"/>
          </a:xfrm>
          <a:prstGeom prst="rect">
            <a:avLst/>
          </a:prstGeom>
        </p:spPr>
      </p:pic>
      <p:pic>
        <p:nvPicPr>
          <p:cNvPr id="19" name="Picture 18" descr="c6b6368f1cca46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5007466"/>
            <a:ext cx="3861816" cy="432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57744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5; the side is 10 cm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52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perimeter 14 cm is scaled by </a:t>
            </a:r>
          </a:p>
        </p:txBody>
      </p:sp>
      <p:pic>
        <p:nvPicPr>
          <p:cNvPr id="9" name="Picture 8" descr="df787c7f4ce773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63" y="1961769"/>
            <a:ext cx="611695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145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perimeter?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52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perimeter 14 cm is scaled by </a:t>
            </a:r>
          </a:p>
        </p:txBody>
      </p:sp>
      <p:pic>
        <p:nvPicPr>
          <p:cNvPr id="9" name="Picture 8" descr="bcf4e6c09f084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63" y="1961769"/>
            <a:ext cx="614172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393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perimeter?</a:t>
            </a:r>
          </a:p>
        </p:txBody>
      </p:sp>
      <p:pic>
        <p:nvPicPr>
          <p:cNvPr id="12" name="Picture 11" descr="d860927724a30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59" y="3242102"/>
            <a:ext cx="1554480" cy="2499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 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e2be393dbf629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9304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df787c7f4ce77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10" y="1961769"/>
            <a:ext cx="611695" cy="232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6970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55ca388921d9b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9304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bcf4e6c09f084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10" y="1961769"/>
            <a:ext cx="614172" cy="232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7218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427887251510c8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3190286"/>
            <a:ext cx="2910840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b19c87c68c435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87581"/>
            <a:ext cx="988123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6169" y="1917096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025ad037a3e872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1874519"/>
            <a:ext cx="624078" cy="5423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8954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18041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7a8fa05a0e6e09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88819"/>
            <a:ext cx="988123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6169" y="1918334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343adb895dd9d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1874519"/>
            <a:ext cx="621601" cy="5448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6477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205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ba1e3c512174bc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311" y="3278488"/>
            <a:ext cx="3474720" cy="6126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53750b0735fbfc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4106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9116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822" y="1964245"/>
            <a:ext cx="604266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208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5" name="Picture 14" descr="78f7267bd6258a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209146"/>
            <a:ext cx="42062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7" name="Picture 16" descr="b6b586116b6ce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209146"/>
            <a:ext cx="417576" cy="280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9" name="Picture 18" descr="da98a1872183d6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824842"/>
            <a:ext cx="414528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1" name="Picture 20" descr="65ff48fc3d12dc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24842"/>
            <a:ext cx="350520" cy="277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b2d2e2a1dc911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4106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9116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217c156fbd4cb6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822" y="1964245"/>
            <a:ext cx="606742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456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8413de0e199e54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3190286"/>
            <a:ext cx="291084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90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987bd4d974e8c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78752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5573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a3bca5590aab4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79" y="1964245"/>
            <a:ext cx="837057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133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f4873bb202c1b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78752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5573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c0265cf83ecf01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79" y="1964245"/>
            <a:ext cx="839533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381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3c70ee3fe6f12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3" y="3190286"/>
            <a:ext cx="1539240" cy="304800"/>
          </a:xfrm>
          <a:prstGeom prst="rect">
            <a:avLst/>
          </a:prstGeom>
        </p:spPr>
      </p:pic>
      <p:pic>
        <p:nvPicPr>
          <p:cNvPr id="15" name="Picture 14" descr="2e3c5fba163c0d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3" y="3781598"/>
            <a:ext cx="183184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figure's perimeter is 20 cm; its copy's perimeter is 60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ratio, copy to original?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c003d31adc9c10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2548"/>
            <a:ext cx="18897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899d09e1fb7976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41692"/>
            <a:ext cx="18592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e3fffa01a271e3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51292"/>
            <a:ext cx="448056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5a99f83968c3dd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45196"/>
            <a:ext cx="19202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figure's perimeter is 20 cm; its copy's perimeter is 60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ratio, copy to original?</a:t>
            </a:r>
          </a:p>
        </p:txBody>
      </p:sp>
      <p:pic>
        <p:nvPicPr>
          <p:cNvPr id="10" name="Picture 9" descr="9771a717e91a6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146" y="3071588"/>
            <a:ext cx="1452943" cy="6159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79090" y="3150979"/>
            <a:ext cx="4505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perimeter ratio is k</a:t>
            </a:r>
          </a:p>
        </p:txBody>
      </p:sp>
      <p:pic>
        <p:nvPicPr>
          <p:cNvPr id="12" name="Picture 11" descr="16227b3b3d8b10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146" y="3852829"/>
            <a:ext cx="853535" cy="306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79681" y="3792726"/>
            <a:ext cx="2864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area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73388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with sides 6, 8 and 10 cm is scaled by </a:t>
            </a:r>
          </a:p>
        </p:txBody>
      </p:sp>
      <p:pic>
        <p:nvPicPr>
          <p:cNvPr id="9" name="Picture 8" descr="025ad037a3e872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04" y="1874519"/>
            <a:ext cx="624078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60182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5181"/>
            <a:ext cx="18035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area is </a:t>
            </a:r>
          </a:p>
        </p:txBody>
      </p:sp>
      <p:pic>
        <p:nvPicPr>
          <p:cNvPr id="12" name="Picture 11" descr="215415fd0592ff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09" y="2665666"/>
            <a:ext cx="970787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1597" y="2595181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3068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73388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with sides 6, 8 and 10 cm is scaled by </a:t>
            </a:r>
          </a:p>
        </p:txBody>
      </p:sp>
      <p:pic>
        <p:nvPicPr>
          <p:cNvPr id="9" name="Picture 8" descr="343adb895dd9d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04" y="1874519"/>
            <a:ext cx="621601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7706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7658"/>
            <a:ext cx="18035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area is </a:t>
            </a:r>
          </a:p>
        </p:txBody>
      </p:sp>
      <p:pic>
        <p:nvPicPr>
          <p:cNvPr id="12" name="Picture 11" descr="2662ac61bc7a43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09" y="2668143"/>
            <a:ext cx="973264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4073" y="25976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331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pic>
        <p:nvPicPr>
          <p:cNvPr id="15" name="Picture 14" descr="288a399f2ce561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5" y="3891136"/>
            <a:ext cx="2145792" cy="606552"/>
          </a:xfrm>
          <a:prstGeom prst="rect">
            <a:avLst/>
          </a:prstGeom>
        </p:spPr>
      </p:pic>
      <p:pic>
        <p:nvPicPr>
          <p:cNvPr id="16" name="Picture 15" descr="392447636256ad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5" y="4625704"/>
            <a:ext cx="2042160" cy="603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663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12 cm, A = 6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81982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 in by 6 in photo, taken 3 years ago, is enlarged at </a:t>
            </a:r>
          </a:p>
        </p:txBody>
      </p:sp>
      <p:pic>
        <p:nvPicPr>
          <p:cNvPr id="9" name="Picture 8" descr="6f3278420c632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558" y="1964245"/>
            <a:ext cx="85191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747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enlargement's area?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81982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 in by 6 in photo, taken 3 years ago, is enlarged at </a:t>
            </a:r>
          </a:p>
        </p:txBody>
      </p:sp>
      <p:pic>
        <p:nvPicPr>
          <p:cNvPr id="9" name="Picture 8" descr="0faca9856b4fc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558" y="1964245"/>
            <a:ext cx="854392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995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enlargement's area?</a:t>
            </a:r>
          </a:p>
        </p:txBody>
      </p:sp>
      <p:pic>
        <p:nvPicPr>
          <p:cNvPr id="12" name="Picture 11" descr="2a69d4576013ab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79" y="3236006"/>
            <a:ext cx="1996439" cy="252984"/>
          </a:xfrm>
          <a:prstGeom prst="rect">
            <a:avLst/>
          </a:prstGeom>
        </p:spPr>
      </p:pic>
      <p:pic>
        <p:nvPicPr>
          <p:cNvPr id="13" name="Picture 12" descr="f562745388bd64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79" y="3729782"/>
            <a:ext cx="390144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150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says that doubling every side of a rectangle doubles its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Explain why not, with a counterexample.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says that doubling every side of a rectangle doubles its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Explain why not, with a counterexample.</a:t>
            </a:r>
          </a:p>
        </p:txBody>
      </p:sp>
      <p:pic>
        <p:nvPicPr>
          <p:cNvPr id="10" name="Picture 9" descr="3b4f9ec0788951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340" y="3162457"/>
            <a:ext cx="530656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No: 2 by 7 doubled is 4 by 14, area 14 </a:t>
            </a:r>
            <a:r>
              <a:rPr sz="3040" b="1" i="0">
                <a:solidFill>
                  <a:srgbClr val="9E1B32"/>
                </a:solidFill>
                <a:latin typeface="Arial"/>
              </a:rPr>
              <a:t>→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56 — × 4, as both lengths doubled.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572237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perimeter 18 cm is scaled by </a:t>
            </a:r>
          </a:p>
        </p:txBody>
      </p:sp>
      <p:pic>
        <p:nvPicPr>
          <p:cNvPr id="10" name="Picture 9" descr="0937735c0d6e3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97" y="1598609"/>
            <a:ext cx="551025" cy="2142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0723" y="1497031"/>
            <a:ext cx="36840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perimeter.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28178"/>
            <a:ext cx="2625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14" name="Picture 13" descr="15179f9c1b681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085" y="2110276"/>
            <a:ext cx="706870" cy="2532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9956" y="2028178"/>
            <a:ext cx="18688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6" name="Picture 15" descr="0937735c0d6e3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618" y="2129756"/>
            <a:ext cx="551025" cy="2142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32644" y="2028178"/>
            <a:ext cx="3032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area.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19159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619159"/>
            <a:ext cx="2625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20" name="Picture 19" descr="f4387bd3ec8815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085" y="2701256"/>
            <a:ext cx="910026" cy="2532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53112" y="2619159"/>
            <a:ext cx="18688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22" name="Picture 21" descr="3bcf9a6d74a2c9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774" y="2580198"/>
            <a:ext cx="570506" cy="4953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55280" y="2619159"/>
            <a:ext cx="3032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area.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21014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210140"/>
            <a:ext cx="514083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2 cm by 5 cm rectangle is scaled by </a:t>
            </a:r>
          </a:p>
        </p:txBody>
      </p:sp>
      <p:pic>
        <p:nvPicPr>
          <p:cNvPr id="26" name="Picture 25" descr="fc22e08664d808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152" y="3311718"/>
            <a:ext cx="779227" cy="21428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37380" y="3210140"/>
            <a:ext cx="372860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perimeter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13271"/>
            <a:ext cx="144653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and area.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4441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144418"/>
            <a:ext cx="2531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31" name="Picture 30" descr="edb32a36259546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9067" y="4226515"/>
            <a:ext cx="718002" cy="25324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67069" y="4144418"/>
            <a:ext cx="389995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its scale copy has area </a:t>
            </a:r>
          </a:p>
        </p:txBody>
      </p:sp>
      <p:pic>
        <p:nvPicPr>
          <p:cNvPr id="33" name="Picture 32" descr="0db939c0bc0baa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869" y="4226515"/>
            <a:ext cx="1043608" cy="2532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73478" y="4144418"/>
            <a:ext cx="98833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</a:t>
            </a:r>
          </a:p>
        </p:txBody>
      </p:sp>
      <p:pic>
        <p:nvPicPr>
          <p:cNvPr id="35" name="Picture 34" descr="15aa4a684a6a76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4654" y="4247388"/>
            <a:ext cx="141930" cy="2115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466585" y="4144418"/>
            <a:ext cx="27155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75565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675565"/>
            <a:ext cx="992508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figure's perimeter is 12 cm and its copy's perimeter is 48 cm. What is the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078696"/>
            <a:ext cx="382512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area ratio, copy to original?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Perimeter and area: changes in scale — ZC6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find the scale factor or missing side — XHM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