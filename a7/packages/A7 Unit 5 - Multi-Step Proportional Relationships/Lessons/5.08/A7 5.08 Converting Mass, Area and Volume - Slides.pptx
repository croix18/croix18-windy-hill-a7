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30.png"/><Relationship Id="rId5" Type="http://schemas.openxmlformats.org/officeDocument/2006/relationships/image" Target="../media/image4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64.png"/><Relationship Id="rId4" Type="http://schemas.openxmlformats.org/officeDocument/2006/relationships/image" Target="../media/image68.png"/><Relationship Id="rId5" Type="http://schemas.openxmlformats.org/officeDocument/2006/relationships/image" Target="../media/image71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8–9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Converting Mass, Area and Volume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convert mass, volume and area between systems, and square the length ratio for area.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48106"/>
            <a:ext cx="1768117" cy="2349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77039" y="1440180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2" name="Picture 11" descr="4f88773a30225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36" y="2129901"/>
            <a:ext cx="740473" cy="265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9460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4" name="Picture 13" descr="8058f93241672f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384" y="2170247"/>
            <a:ext cx="579088" cy="225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347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7" name="Picture 16" descr="c261042202a19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661" y="2792388"/>
            <a:ext cx="994417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74519" y="3278124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9" name="Picture 18" descr="419008846420ef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241" y="3381303"/>
            <a:ext cx="1286335" cy="234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30576" y="3278124"/>
            <a:ext cx="6844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A 1-ft square has what area in square inches?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48106"/>
            <a:ext cx="1768117" cy="2349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77039" y="1440180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9870" y="1440180"/>
            <a:ext cx="15592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30.48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3" name="Picture 12" descr="4f88773a30225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36" y="2129901"/>
            <a:ext cx="740473" cy="2658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9460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5" name="Picture 14" descr="8058f93241672f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384" y="2170247"/>
            <a:ext cx="579088" cy="225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6347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510028"/>
            <a:ext cx="11989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63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1226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9" name="Picture 18" descr="c261042202a19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661" y="3249588"/>
            <a:ext cx="994417" cy="2159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55719" y="3122676"/>
            <a:ext cx="7444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735324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22" name="Picture 21" descr="419008846420ef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241" y="3838503"/>
            <a:ext cx="1286335" cy="23495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30576" y="3735324"/>
            <a:ext cx="6844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A 1-ft square has what area in square inches?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192524"/>
            <a:ext cx="1246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144 in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mass and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0848"/>
            <a:ext cx="10241280" cy="3220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pounds and kilograms — one word on this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8062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ounce (oz)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15569"/>
            <a:ext cx="1291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weight: </a:t>
            </a:r>
          </a:p>
        </p:txBody>
      </p:sp>
      <p:pic>
        <p:nvPicPr>
          <p:cNvPr id="12" name="Picture 11" descr="74807a5fc79ce2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13" y="2857158"/>
            <a:ext cx="1092136" cy="176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9749" y="2715569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4" name="Picture 13" descr="f9a4b27b199226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792" y="2864587"/>
            <a:ext cx="1361455" cy="2210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351077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fluid ounce (fl oz)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86025"/>
            <a:ext cx="13502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volume: </a:t>
            </a:r>
          </a:p>
        </p:txBody>
      </p:sp>
      <p:pic>
        <p:nvPicPr>
          <p:cNvPr id="17" name="Picture 16" descr="ae0de4c5e07765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112" y="3827615"/>
            <a:ext cx="1116282" cy="176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72394" y="3686025"/>
            <a:ext cx="3976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not the same unit as the ounce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21533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square units</a:t>
            </a:r>
          </a:p>
        </p:txBody>
      </p:sp>
      <p:pic>
        <p:nvPicPr>
          <p:cNvPr id="20" name="Picture 19" descr="6bd260b1d893cf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785070"/>
            <a:ext cx="243316" cy="1857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86316" y="4656482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b894db2784ec4b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358" y="4788784"/>
            <a:ext cx="403050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88409" y="4656482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4" name="Picture 23" descr="9bb1e36bc0b83f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7451" y="4786927"/>
            <a:ext cx="271176" cy="183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458628" y="4656482"/>
            <a:ext cx="47360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an area; the length ratio is used twice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9199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cubic units</a:t>
            </a:r>
          </a:p>
        </p:txBody>
      </p:sp>
      <p:pic>
        <p:nvPicPr>
          <p:cNvPr id="27" name="Picture 26" descr="e179aa5248dda23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5757384"/>
            <a:ext cx="243316" cy="183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86316" y="5626939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9" name="Picture 28" descr="7280d534979a852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5358" y="5759241"/>
            <a:ext cx="260032" cy="18202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45391" y="5626939"/>
            <a:ext cx="5560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a volume; the length ratio is used three 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Mass and volume convert like length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2daf8da0d1e3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464" y="2231136"/>
            <a:ext cx="8546592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Area: the length ratio is used twice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8b3f50c43905f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1993392"/>
            <a:ext cx="2194560" cy="2298185"/>
          </a:xfrm>
          <a:prstGeom prst="rect">
            <a:avLst/>
          </a:prstGeom>
        </p:spPr>
      </p:pic>
      <p:pic>
        <p:nvPicPr>
          <p:cNvPr id="11" name="Picture 10" descr="974c14d3ea300a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208" y="4437881"/>
            <a:ext cx="7309104" cy="341376"/>
          </a:xfrm>
          <a:prstGeom prst="rect">
            <a:avLst/>
          </a:prstGeom>
        </p:spPr>
      </p:pic>
      <p:pic>
        <p:nvPicPr>
          <p:cNvPr id="12" name="Picture 11" descr="e1f2231684ab9c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5123681"/>
            <a:ext cx="7315200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Fluid ounces go through cups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f33f2f218af8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2240661"/>
            <a:ext cx="7114032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4553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Length: the ratio once. Area: twice. Volume: three times.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889ac44668791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260" y="219284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04936" y="2080260"/>
            <a:ext cx="387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suitcase weighs 70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3192ce45c55d31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29712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31.78 kg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889ac44668791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41" y="168992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7618" y="1577340"/>
            <a:ext cx="34271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crate weighs 90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c5f90b4ff337bc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41" y="168992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7618" y="1577340"/>
            <a:ext cx="34271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crate weighs 90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  <p:pic>
        <p:nvPicPr>
          <p:cNvPr id="11" name="Picture 10" descr="ac569d9db41729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79" y="2992166"/>
            <a:ext cx="283768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40.86 kg (about 40.9)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668" y="21779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34931" y="2080260"/>
            <a:ext cx="15282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tile is </a:t>
            </a:r>
          </a:p>
        </p:txBody>
      </p:sp>
      <p:pic>
        <p:nvPicPr>
          <p:cNvPr id="10" name="Picture 9" descr="040327706b658f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989" y="2148268"/>
            <a:ext cx="574548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0537" y="208026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square inches is that?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6d56c7d6c8476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76600" cy="341376"/>
          </a:xfrm>
          <a:prstGeom prst="rect">
            <a:avLst/>
          </a:prstGeom>
        </p:spPr>
      </p:pic>
      <p:pic>
        <p:nvPicPr>
          <p:cNvPr id="9" name="Picture 8" descr="0454483ebb13af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20675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720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df721e6687ccc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678" y="1689925"/>
            <a:ext cx="1302639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4317" y="1577340"/>
            <a:ext cx="185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patio is </a:t>
            </a:r>
          </a:p>
        </p:txBody>
      </p:sp>
      <p:pic>
        <p:nvPicPr>
          <p:cNvPr id="10" name="Picture 9" descr="f6484183bcbd0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95" y="1647825"/>
            <a:ext cx="713232" cy="346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1527" y="157734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155f3c6fd32ecb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678" y="1689925"/>
            <a:ext cx="1302639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4317" y="1577340"/>
            <a:ext cx="185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patio is </a:t>
            </a:r>
          </a:p>
        </p:txBody>
      </p:sp>
      <p:pic>
        <p:nvPicPr>
          <p:cNvPr id="10" name="Picture 9" descr="3c99dfaaa214ad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95" y="1647825"/>
            <a:ext cx="713232" cy="346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1527" y="157734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pic>
        <p:nvPicPr>
          <p:cNvPr id="13" name="Picture 12" descr="6a1d74e97a46e5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87" y="2938255"/>
            <a:ext cx="836961" cy="309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45149" y="2875390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</a:t>
            </a:r>
            <a:r>
              <a:rPr sz="275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750" b="0" i="0">
                <a:solidFill>
                  <a:srgbClr val="1A1A1A"/>
                </a:solidFill>
                <a:latin typeface="Lexend"/>
              </a:rPr>
              <a:t> in a square yard</a:t>
            </a:r>
          </a:p>
        </p:txBody>
      </p:sp>
      <p:pic>
        <p:nvPicPr>
          <p:cNvPr id="15" name="Picture 14" descr="33061e30c29e67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187" y="3531662"/>
            <a:ext cx="140208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45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3864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8304" y="1851660"/>
            <a:ext cx="35493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bag of rice is 10 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pounds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fd933339219d3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3864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8304" y="1851660"/>
            <a:ext cx="35493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bag of rice is 10 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pounds is that?</a:t>
            </a:r>
          </a:p>
        </p:txBody>
      </p:sp>
      <p:pic>
        <p:nvPicPr>
          <p:cNvPr id="11" name="Picture 10" descr="6312203239575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927" y="3242102"/>
            <a:ext cx="275539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22.04 lb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3b403895e0674b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3414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8586" y="1851660"/>
            <a:ext cx="336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cooler holds 4 gal.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10760bc6c5882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3414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8586" y="1851660"/>
            <a:ext cx="336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cooler holds 4 gal.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pic>
        <p:nvPicPr>
          <p:cNvPr id="11" name="Picture 10" descr="94f8980594becd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9" y="3242102"/>
            <a:ext cx="2520696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15.14 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9d26edaed8467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6341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781" y="1851660"/>
            <a:ext cx="2972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tank holds 10 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590217cf62aa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6341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781" y="1851660"/>
            <a:ext cx="2972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tank holds 10 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that?</a:t>
            </a:r>
          </a:p>
        </p:txBody>
      </p:sp>
      <p:pic>
        <p:nvPicPr>
          <p:cNvPr id="11" name="Picture 10" descr="ba6a3ea2bb8d7c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59" y="3239054"/>
            <a:ext cx="254812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2.64 gal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85d78c8d2e33f8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4544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3898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293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patch of lawn is </a:t>
            </a:r>
          </a:p>
        </p:txBody>
      </p:sp>
      <p:pic>
        <p:nvPicPr>
          <p:cNvPr id="11" name="Picture 10" descr="6a387a3e299107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426" y="2534793"/>
            <a:ext cx="700849" cy="346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4275" y="2464308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5" name="Picture 14" descr="1faa871627427b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76074"/>
            <a:ext cx="920495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7" name="Picture 16" descr="fa7c6ba97e7789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76074"/>
            <a:ext cx="932688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9" name="Picture 18" descr="9327eaee863255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4388722"/>
            <a:ext cx="752856" cy="34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59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1" name="Picture 20" descr="e03f104e5972ce9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4388722"/>
            <a:ext cx="749808" cy="34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51202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b837b0c989315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7592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203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293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patch of lawn is </a:t>
            </a:r>
          </a:p>
        </p:txBody>
      </p:sp>
      <p:pic>
        <p:nvPicPr>
          <p:cNvPr id="11" name="Picture 10" descr="6287286a7d407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426" y="2534793"/>
            <a:ext cx="703326" cy="346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6752" y="2464308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pic>
        <p:nvPicPr>
          <p:cNvPr id="14" name="Picture 13" descr="6a1d74e97a46e5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87" y="3797791"/>
            <a:ext cx="836961" cy="3093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5149" y="3734926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</a:t>
            </a:r>
            <a:r>
              <a:rPr sz="275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750" b="0" i="0">
                <a:solidFill>
                  <a:srgbClr val="1A1A1A"/>
                </a:solidFill>
                <a:latin typeface="Lexend"/>
              </a:rPr>
              <a:t> in a square yard</a:t>
            </a:r>
          </a:p>
        </p:txBody>
      </p:sp>
      <p:pic>
        <p:nvPicPr>
          <p:cNvPr id="16" name="Picture 15" descr="33de29ff29e259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187" y="4394246"/>
            <a:ext cx="1353312" cy="2499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18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ae0de4c5e07765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488376" cy="235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281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ed1791ada6c756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23" y="1974151"/>
            <a:ext cx="1480947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02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bottle holds 16 fl oz.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747b584da7b83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488376" cy="235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281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97621f8b70045f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23" y="1974151"/>
            <a:ext cx="1480947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02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bottle holds 16 fl oz.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pic>
        <p:nvPicPr>
          <p:cNvPr id="14" name="Picture 13" descr="83c4edb2bd6b77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3" y="3778153"/>
            <a:ext cx="1676400" cy="256032"/>
          </a:xfrm>
          <a:prstGeom prst="rect">
            <a:avLst/>
          </a:prstGeom>
        </p:spPr>
      </p:pic>
      <p:pic>
        <p:nvPicPr>
          <p:cNvPr id="15" name="Picture 14" descr="f589dab710055d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3" y="4320697"/>
            <a:ext cx="219456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0.48 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fb110fe836d86e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5103"/>
            <a:ext cx="1783080" cy="225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54132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centimeters is </a:t>
            </a:r>
          </a:p>
        </p:txBody>
      </p:sp>
      <p:pic>
        <p:nvPicPr>
          <p:cNvPr id="11" name="Picture 10" descr="ff228dc4c8df4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6" y="2532316"/>
            <a:ext cx="581977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92503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918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14ef69fc1ef0ed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282696"/>
            <a:ext cx="947928" cy="3444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32918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6c5a704f658703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285744"/>
            <a:ext cx="646176" cy="277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39044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e79298326e3b3d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895344"/>
            <a:ext cx="1182624" cy="3444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9044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b951781f601057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898392"/>
            <a:ext cx="612648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5811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b9580ee1a813cb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5103"/>
            <a:ext cx="1783080" cy="225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54132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centimeters is </a:t>
            </a:r>
          </a:p>
        </p:txBody>
      </p:sp>
      <p:pic>
        <p:nvPicPr>
          <p:cNvPr id="11" name="Picture 10" descr="dc0942f76508db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6" y="2532316"/>
            <a:ext cx="581977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92503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90afc689567248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3312604"/>
            <a:ext cx="2898648" cy="3139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10,000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d7de33d50f52ca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6596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5-lb bag of flour and a 2.5-kg bag of sugar.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is heavier, and by how much?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e707e309a93366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6596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5-lb bag of flour and a 2.5-kg bag of sugar.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is heavier, and by how much?</a:t>
            </a:r>
          </a:p>
        </p:txBody>
      </p:sp>
      <p:pic>
        <p:nvPicPr>
          <p:cNvPr id="12" name="Picture 11" descr="1da7a0dd2289d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387" y="3769009"/>
            <a:ext cx="3014472" cy="265176"/>
          </a:xfrm>
          <a:prstGeom prst="rect">
            <a:avLst/>
          </a:prstGeom>
        </p:spPr>
      </p:pic>
      <p:pic>
        <p:nvPicPr>
          <p:cNvPr id="13" name="Picture 12" descr="d2ea0731c01267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387" y="4320697"/>
            <a:ext cx="214579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sugar, by 0.51 lb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0d647df019511e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3548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99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7433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20-gal fish tank, bought for $45, is being filled.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does it hold?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118ca277248594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3548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99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7433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20-gal fish tank, bought for $45, is being filled.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does it hold?</a:t>
            </a:r>
          </a:p>
        </p:txBody>
      </p:sp>
      <p:pic>
        <p:nvPicPr>
          <p:cNvPr id="12" name="Picture 11" descr="fd66d022f8b749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3" y="3854750"/>
            <a:ext cx="2517648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75.7 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a7e24ba549ecbc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3768"/>
            <a:ext cx="1347216" cy="240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165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1815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</a:t>
            </a:r>
          </a:p>
        </p:txBody>
      </p:sp>
      <p:pic>
        <p:nvPicPr>
          <p:cNvPr id="11" name="Picture 10" descr="8f2e55c8bb5bdd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48" y="2532316"/>
            <a:ext cx="559689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2237" y="2464308"/>
            <a:ext cx="614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3" name="Picture 12" descr="fb5b0e70f63b0e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589" y="2534793"/>
            <a:ext cx="785050" cy="2724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4639" y="2464308"/>
            <a:ext cx="1705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because </a:t>
            </a:r>
          </a:p>
        </p:txBody>
      </p:sp>
      <p:pic>
        <p:nvPicPr>
          <p:cNvPr id="15" name="Picture 14" descr="941bdd639930e1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794" y="2584323"/>
            <a:ext cx="1399222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02016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f2542c0ca55f85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3768"/>
            <a:ext cx="1347216" cy="240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165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1815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</a:t>
            </a:r>
          </a:p>
        </p:txBody>
      </p:sp>
      <p:pic>
        <p:nvPicPr>
          <p:cNvPr id="11" name="Picture 10" descr="7b97a516d29415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48" y="2532316"/>
            <a:ext cx="562165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14" y="2464308"/>
            <a:ext cx="614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3" name="Picture 12" descr="f7559e20e57a5d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065" y="2534793"/>
            <a:ext cx="787527" cy="2724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9592" y="2464308"/>
            <a:ext cx="1705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because </a:t>
            </a:r>
          </a:p>
        </p:txBody>
      </p:sp>
      <p:pic>
        <p:nvPicPr>
          <p:cNvPr id="15" name="Picture 14" descr="cf3a2a0005dd5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47" y="2584323"/>
            <a:ext cx="1404175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11922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pic>
        <p:nvPicPr>
          <p:cNvPr id="18" name="Picture 17" descr="a3ccc6ff8a3d38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939" y="3799886"/>
            <a:ext cx="4849368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used the ratio once. A cubic foot is 12 × 12 × 12 = 1,728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so 2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3,456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6539a90126a0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71244"/>
            <a:ext cx="1987296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4928" y="1495044"/>
            <a:ext cx="457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kilograms is 30 lb?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2" name="Picture 11" descr="d7de33d50f52ca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65604"/>
            <a:ext cx="196596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93592" y="2089403"/>
            <a:ext cx="43074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25 kg?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5" name="Picture 14" descr="0d647df019511e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59963"/>
            <a:ext cx="193548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63112" y="2683763"/>
            <a:ext cx="3893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liters is 6 gal?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8" name="Picture 17" descr="a7e24ba549ecbc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86327"/>
            <a:ext cx="1347216" cy="2407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74848" y="3278123"/>
            <a:ext cx="43070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square inches is </a:t>
            </a:r>
          </a:p>
        </p:txBody>
      </p:sp>
      <p:pic>
        <p:nvPicPr>
          <p:cNvPr id="20" name="Picture 19" descr="fd3f0498ea874b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744" y="3369563"/>
            <a:ext cx="573024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7768" y="3278123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23" name="Picture 22" descr="53fb1d19ce3600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3983736"/>
            <a:ext cx="1493520" cy="2346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21152" y="387248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5" name="Picture 24" descr="aae6846e2fca6d9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6735" y="3988307"/>
            <a:ext cx="1484376" cy="2255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91111" y="3872483"/>
            <a:ext cx="42090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liters is 24 fl oz?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8" name="Picture 27" descr="c79700df5a23d6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632" y="4578096"/>
            <a:ext cx="1828800" cy="2346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456432" y="4466844"/>
            <a:ext cx="4391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square meters is </a:t>
            </a:r>
          </a:p>
        </p:txBody>
      </p:sp>
      <p:pic>
        <p:nvPicPr>
          <p:cNvPr id="30" name="Picture 29" descr="aa3a1dcc642825f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0505" y="4556760"/>
            <a:ext cx="758952" cy="2773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69457" y="4466844"/>
            <a:ext cx="2533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 (Round to two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905756"/>
            <a:ext cx="1298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places.)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5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customary and metric systems — E8Z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customary units — 4B8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metric units — HW2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