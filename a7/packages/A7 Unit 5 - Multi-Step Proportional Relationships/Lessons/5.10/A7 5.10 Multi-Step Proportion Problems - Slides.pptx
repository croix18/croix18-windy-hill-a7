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10–11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Multi-Step Proportion Problems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MA.7.AR.4.5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problem that takes two or more proportional steps, including a unit conversion, and compare two rates given in different units.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20e69a494d39e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57599"/>
            <a:ext cx="1882036" cy="2919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0958" y="1440180"/>
            <a:ext cx="41615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4 kg?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10855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</a:t>
            </a:r>
          </a:p>
        </p:txBody>
      </p:sp>
      <p:pic>
        <p:nvPicPr>
          <p:cNvPr id="12" name="Picture 11" descr="90f92a5da9ad45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2862" y="2170247"/>
            <a:ext cx="1613852" cy="225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36714" y="2052828"/>
            <a:ext cx="527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3 cm on the map is how many km?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260e68e7601118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92388"/>
            <a:ext cx="1473827" cy="2159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20e69a494d39e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57599"/>
            <a:ext cx="1882036" cy="2919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0958" y="1440180"/>
            <a:ext cx="41615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4 kg?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3971" y="1440180"/>
            <a:ext cx="1350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8.816 lb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052828"/>
            <a:ext cx="10855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</a:t>
            </a:r>
          </a:p>
        </p:txBody>
      </p:sp>
      <p:pic>
        <p:nvPicPr>
          <p:cNvPr id="13" name="Picture 12" descr="90f92a5da9ad45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2862" y="2170247"/>
            <a:ext cx="1613852" cy="225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36714" y="2052828"/>
            <a:ext cx="527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3 cm on the map is how many km?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19014" y="2052828"/>
            <a:ext cx="1310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150 km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260e68e7601118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92388"/>
            <a:ext cx="1473827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90178" y="2665476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735324"/>
            <a:ext cx="28407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60 miles per hour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unit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how much of one quantity per 1 of the other — 23 miles per 1 gallon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proportional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quantities whose ratio stays the same: double one, the other doubles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for each 1 — the word that marks a unit rate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One unit rate,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84e611f102833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483" y="2020824"/>
            <a:ext cx="975055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Compare rates in one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21ff173496ec7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024253"/>
            <a:ext cx="652881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unit first. Then compare.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Scale a recipe, then check the pantry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d35a45236af3a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176" y="1993392"/>
            <a:ext cx="6297168" cy="673608"/>
          </a:xfrm>
          <a:prstGeom prst="rect">
            <a:avLst/>
          </a:prstGeom>
        </p:spPr>
      </p:pic>
      <p:pic>
        <p:nvPicPr>
          <p:cNvPr id="11" name="Picture 10" descr="f2b684c3a3f3c2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939" y="2965704"/>
            <a:ext cx="10073640" cy="3870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17a8a85b0b9a11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834" y="1771269"/>
            <a:ext cx="2340864" cy="3017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76698" y="17145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Runner A does 5 mi in 40 min; runner B does 9 km in 45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908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785da30ee9605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949696" cy="670560"/>
          </a:xfrm>
          <a:prstGeom prst="rect">
            <a:avLst/>
          </a:prstGeom>
        </p:spPr>
      </p:pic>
      <p:pic>
        <p:nvPicPr>
          <p:cNvPr id="9" name="Picture 8" descr="4fc8bab69cb80b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2874264" cy="670560"/>
          </a:xfrm>
          <a:prstGeom prst="rect">
            <a:avLst/>
          </a:prstGeom>
        </p:spPr>
      </p:pic>
      <p:pic>
        <p:nvPicPr>
          <p:cNvPr id="10" name="Picture 9" descr="3c725b51699ea0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0000"/>
            <a:ext cx="1615440" cy="667512"/>
          </a:xfrm>
          <a:prstGeom prst="rect">
            <a:avLst/>
          </a:prstGeom>
        </p:spPr>
      </p:pic>
      <p:pic>
        <p:nvPicPr>
          <p:cNvPr id="11" name="Picture 10" descr="8081506ef4a1aba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4751832"/>
            <a:ext cx="185928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4864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≈ 12.08 km/h, B = 12 km/h: 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55c3fc7a368775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702" y="1600200"/>
            <a:ext cx="2929128" cy="377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0830" y="15773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Runner A does 4 mi in 30 min; runner B does 7 km in 35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081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f6c1428a8fe5fa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3226" y="1600200"/>
            <a:ext cx="2926080" cy="377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69306" y="15773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Runner A does 4 mi in 30 min; runner B does 7 km in 35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081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  <p:pic>
        <p:nvPicPr>
          <p:cNvPr id="12" name="Picture 11" descr="7b8f562dd79bcb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772" y="3483068"/>
            <a:ext cx="5251704" cy="606552"/>
          </a:xfrm>
          <a:prstGeom prst="rect">
            <a:avLst/>
          </a:prstGeom>
        </p:spPr>
      </p:pic>
      <p:pic>
        <p:nvPicPr>
          <p:cNvPr id="13" name="Picture 12" descr="fb86ceff55f1ba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9772" y="4217636"/>
            <a:ext cx="1603248" cy="6035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583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= 12.88 km/h, B = 12 km/h: 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20604" y="2145696"/>
            <a:ext cx="43777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recipe for 8 servings uses </a:t>
            </a:r>
          </a:p>
        </p:txBody>
      </p:sp>
      <p:pic>
        <p:nvPicPr>
          <p:cNvPr id="9" name="Picture 8" descr="cfbc1da7a07fba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189" y="2103120"/>
            <a:ext cx="331851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93040" y="2145696"/>
            <a:ext cx="2085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of 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02673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rice for 20 servings? With 5 cups on hand, how many servings can be made?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2907b0d85da38e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70120" cy="673608"/>
          </a:xfrm>
          <a:prstGeom prst="rect">
            <a:avLst/>
          </a:prstGeom>
        </p:spPr>
      </p:pic>
      <p:pic>
        <p:nvPicPr>
          <p:cNvPr id="9" name="Picture 8" descr="1b4354005a94a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852671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6¼ cups; 16 servings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7597" y="1642776"/>
            <a:ext cx="4371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</a:t>
            </a:r>
          </a:p>
        </p:txBody>
      </p:sp>
      <p:pic>
        <p:nvPicPr>
          <p:cNvPr id="9" name="Picture 8" descr="b8f565bf2384f7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438" y="1600200"/>
            <a:ext cx="304609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76047" y="1642776"/>
            <a:ext cx="2085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of 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687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2773" y="2998548"/>
            <a:ext cx="9877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With </a:t>
            </a:r>
          </a:p>
        </p:txBody>
      </p:sp>
      <p:pic>
        <p:nvPicPr>
          <p:cNvPr id="13" name="Picture 12" descr="d0dda701f68944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350" y="2955971"/>
            <a:ext cx="361569" cy="54235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14919" y="2998548"/>
            <a:ext cx="5480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on hand, how many servings?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0073" y="1644015"/>
            <a:ext cx="4371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</a:t>
            </a:r>
          </a:p>
        </p:txBody>
      </p:sp>
      <p:pic>
        <p:nvPicPr>
          <p:cNvPr id="9" name="Picture 8" descr="a256e78171c673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914" y="1600200"/>
            <a:ext cx="299656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73571" y="1644015"/>
            <a:ext cx="2085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of 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934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5249" y="3002263"/>
            <a:ext cx="9877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With </a:t>
            </a:r>
          </a:p>
        </p:txBody>
      </p:sp>
      <p:pic>
        <p:nvPicPr>
          <p:cNvPr id="13" name="Picture 12" descr="e79d51c9125476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5826" y="2958448"/>
            <a:ext cx="356616" cy="544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12442" y="3002263"/>
            <a:ext cx="5480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on hand, how many servings?</a:t>
            </a:r>
          </a:p>
        </p:txBody>
      </p:sp>
      <p:pic>
        <p:nvPicPr>
          <p:cNvPr id="15" name="Picture 14" descr="9d4724fac4a280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3850750"/>
            <a:ext cx="3474720" cy="606552"/>
          </a:xfrm>
          <a:prstGeom prst="rect">
            <a:avLst/>
          </a:prstGeom>
        </p:spPr>
      </p:pic>
      <p:pic>
        <p:nvPicPr>
          <p:cNvPr id="16" name="Picture 15" descr="13f1547c75366d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9392" y="4585318"/>
            <a:ext cx="3712463" cy="606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2903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cups; 18 servings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pic>
        <p:nvPicPr>
          <p:cNvPr id="10" name="Picture 9" descr="198d9d3f25b719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023" y="3168553"/>
            <a:ext cx="1981199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420 mi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pic>
        <p:nvPicPr>
          <p:cNvPr id="10" name="Picture 9" descr="a8e292b8cde33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667" y="3165505"/>
            <a:ext cx="2343912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 min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pic>
        <p:nvPicPr>
          <p:cNvPr id="10" name="Picture 9" descr="7c445bb00f162a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9435" y="3594875"/>
            <a:ext cx="4532376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$435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30 miles per gallon with a 12-gal tank. It makes a 900-mi trip.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use? (Part of a tank counts as a whole tank.)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400348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72df7627a7a480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994337"/>
            <a:ext cx="18288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400348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63a373b7e630cf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997385"/>
            <a:ext cx="384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61612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b6172e6484e944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606985"/>
            <a:ext cx="390144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61612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613081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9278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30 miles per gallon with a 12-gal tank. It makes a 900-mi trip.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use? (Part of a tank counts as a whole tank.)</a:t>
            </a:r>
          </a:p>
        </p:txBody>
      </p:sp>
      <p:pic>
        <p:nvPicPr>
          <p:cNvPr id="10" name="Picture 9" descr="065daa35c97d27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039" y="3994337"/>
            <a:ext cx="4014215" cy="347472"/>
          </a:xfrm>
          <a:prstGeom prst="rect">
            <a:avLst/>
          </a:prstGeom>
        </p:spPr>
      </p:pic>
      <p:pic>
        <p:nvPicPr>
          <p:cNvPr id="11" name="Picture 10" descr="e083f958e2482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039" y="4554598"/>
            <a:ext cx="3986784" cy="265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1846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 tanks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pic>
        <p:nvPicPr>
          <p:cNvPr id="10" name="Picture 9" descr="89d5d50ac7447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352" y="3165505"/>
            <a:ext cx="5114544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120 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673c0080fbe231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Cyclist A rides 12 km in 50 min; cyclist B rides 7 mi in 45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025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Tie: 12 and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025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12 &gt;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3883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B: 15.0 &gt; 14.4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3883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14.4 &gt; 11.27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9416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e62e96f3d6ecb8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Cyclist A rides 12 km in 50 min; cyclist B rides 7 mi in 45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pic>
        <p:nvPicPr>
          <p:cNvPr id="12" name="Picture 11" descr="506f303710cd3d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011" y="3684236"/>
            <a:ext cx="6062472" cy="606552"/>
          </a:xfrm>
          <a:prstGeom prst="rect">
            <a:avLst/>
          </a:prstGeom>
        </p:spPr>
      </p:pic>
      <p:pic>
        <p:nvPicPr>
          <p:cNvPr id="13" name="Picture 12" descr="c13e10458026784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2011" y="4418804"/>
            <a:ext cx="7510272" cy="6035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1594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cyclist 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322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</a:t>
            </a:r>
          </a:p>
        </p:txBody>
      </p:sp>
      <p:pic>
        <p:nvPicPr>
          <p:cNvPr id="9" name="Picture 8" descr="51d1cdc51197b0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704" y="1974151"/>
            <a:ext cx="884110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0381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batch uses 8 gal of white.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322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</a:t>
            </a:r>
          </a:p>
        </p:txBody>
      </p:sp>
      <p:pic>
        <p:nvPicPr>
          <p:cNvPr id="9" name="Picture 8" descr="4d1f2e7bdd7bf8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704" y="1974151"/>
            <a:ext cx="889063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0876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batch uses 8 gal of white.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pic>
        <p:nvPicPr>
          <p:cNvPr id="13" name="Picture 12" descr="d59191ca87bf00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367" y="3684236"/>
            <a:ext cx="4861560" cy="609600"/>
          </a:xfrm>
          <a:prstGeom prst="rect">
            <a:avLst/>
          </a:prstGeom>
        </p:spPr>
      </p:pic>
      <p:pic>
        <p:nvPicPr>
          <p:cNvPr id="14" name="Picture 13" descr="60ebe7948d8a20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367" y="4515769"/>
            <a:ext cx="1581912" cy="24993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7049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44 gal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2e89f08f987938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4480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 a room is 2 in by 2.5 in on it.</a:t>
            </a:r>
          </a:p>
        </p:txBody>
      </p:sp>
      <p:pic>
        <p:nvPicPr>
          <p:cNvPr id="11" name="Picture 10" descr="c79700df5a23d6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78608"/>
            <a:ext cx="1828800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6324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123cd4c222dc2b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4480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 a room is 2 in by 2.5 in on it.</a:t>
            </a:r>
          </a:p>
        </p:txBody>
      </p:sp>
      <p:pic>
        <p:nvPicPr>
          <p:cNvPr id="11" name="Picture 10" descr="c76c66710128e6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78608"/>
            <a:ext cx="1828800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6324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meters.</a:t>
            </a:r>
          </a:p>
        </p:txBody>
      </p:sp>
      <p:pic>
        <p:nvPicPr>
          <p:cNvPr id="14" name="Picture 13" descr="edc42479e43efb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7527" y="3839510"/>
            <a:ext cx="4294632" cy="268224"/>
          </a:xfrm>
          <a:prstGeom prst="rect">
            <a:avLst/>
          </a:prstGeom>
        </p:spPr>
      </p:pic>
      <p:pic>
        <p:nvPicPr>
          <p:cNvPr id="15" name="Picture 14" descr="8d1545a1affce0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7527" y="4394246"/>
            <a:ext cx="916228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7.44 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673c0080fbe231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728216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6230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2585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300-km drive.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976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Car A averages 50 mi/h; car B averages 75 km/h.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367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e62e96f3d6ecb8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728216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6230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2585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300-km drive.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976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Car A averages 50 mi/h; car B averages 75 km/h.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367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pic>
        <p:nvPicPr>
          <p:cNvPr id="13" name="Picture 12" descr="6fd1d65a65982d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1172" y="4079507"/>
            <a:ext cx="3340608" cy="307848"/>
          </a:xfrm>
          <a:prstGeom prst="rect">
            <a:avLst/>
          </a:prstGeom>
        </p:spPr>
      </p:pic>
      <p:pic>
        <p:nvPicPr>
          <p:cNvPr id="14" name="Picture 13" descr="6a117b4420daa3f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1172" y="4615955"/>
            <a:ext cx="5711952" cy="2682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082871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Car A: 80.5 km/h against 75, so about 3.73 h against 4 h — about 16 minutes sooner.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955719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 gets 32 miles per gallon and its tank holds 14 gal. How far does it go on a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66369"/>
            <a:ext cx="86304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tank?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430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4304"/>
            <a:ext cx="942196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That car makes a 1,000-mi trip. How many tanks of gas does it use? (Part of a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701654"/>
            <a:ext cx="365082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tank counts as a whole tank.)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22246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222464"/>
            <a:ext cx="351953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recipe for 4 servings uses </a:t>
            </a:r>
          </a:p>
        </p:txBody>
      </p:sp>
      <p:pic>
        <p:nvPicPr>
          <p:cNvPr id="16" name="Picture 15" descr="8ef7b8baa04105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6859" y="3188473"/>
            <a:ext cx="274452" cy="44567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11312" y="3222464"/>
            <a:ext cx="543282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cups of rice. How much rice for 10 servings?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743275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9" name="Picture 18" descr="d2f86d8905c910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3831402"/>
            <a:ext cx="1611464" cy="20143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239096" y="3743275"/>
            <a:ext cx="808168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train does 120 km/h; a bus does 70 mi/h. Which is faster? Show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0625"/>
            <a:ext cx="28440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 speeds in one unit.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57855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78559"/>
            <a:ext cx="49495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Juice is mixed orange : mango : water = </a:t>
            </a:r>
          </a:p>
        </p:txBody>
      </p:sp>
      <p:pic>
        <p:nvPicPr>
          <p:cNvPr id="24" name="Picture 23" descr="3e12847d3b5309c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6918" y="4674240"/>
            <a:ext cx="715087" cy="18632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2005" y="4578559"/>
            <a:ext cx="399247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batch uses 9 cups of orange.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945910"/>
            <a:ext cx="440262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cups is the whole batch?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41384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41384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29" name="Picture 28" descr="bf04384952a140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7231" y="5501971"/>
            <a:ext cx="908966" cy="201433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26198" y="5413844"/>
            <a:ext cx="6648424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; a room is 2 in by 3.5 in on it. Find the room's real area.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rates: word problems — VVS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Multi-step problems with customary or metric unit conversions — UCT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