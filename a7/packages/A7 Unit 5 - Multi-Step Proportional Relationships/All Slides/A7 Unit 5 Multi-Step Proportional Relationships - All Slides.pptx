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3.xml"/><Relationship Id="rId5" Type="http://schemas.openxmlformats.org/officeDocument/2006/relationships/slide" Target="slide108.xml"/><Relationship Id="rId6" Type="http://schemas.openxmlformats.org/officeDocument/2006/relationships/slide" Target="slide143.xml"/><Relationship Id="rId7" Type="http://schemas.openxmlformats.org/officeDocument/2006/relationships/slide" Target="slide17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4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7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71.png"/><Relationship Id="rId4" Type="http://schemas.openxmlformats.org/officeDocument/2006/relationships/image" Target="../media/image7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53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28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9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Relationship Id="rId9" Type="http://schemas.openxmlformats.org/officeDocument/2006/relationships/image" Target="../media/image11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70.png"/><Relationship Id="rId4" Type="http://schemas.openxmlformats.org/officeDocument/2006/relationships/image" Target="../media/image11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70.png"/><Relationship Id="rId4" Type="http://schemas.openxmlformats.org/officeDocument/2006/relationships/image" Target="../media/image11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4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Relationship Id="rId4" Type="http://schemas.openxmlformats.org/officeDocument/2006/relationships/image" Target="../media/image15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55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image" Target="../media/image155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7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Relationship Id="rId3" Type="http://schemas.openxmlformats.org/officeDocument/2006/relationships/image" Target="../media/image177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Relationship Id="rId3" Type="http://schemas.openxmlformats.org/officeDocument/2006/relationships/image" Target="../media/image185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8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Relationship Id="rId5" Type="http://schemas.openxmlformats.org/officeDocument/2006/relationships/image" Target="../media/image194.png"/><Relationship Id="rId6" Type="http://schemas.openxmlformats.org/officeDocument/2006/relationships/image" Target="../media/image195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70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76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Relationship Id="rId3" Type="http://schemas.openxmlformats.org/officeDocument/2006/relationships/image" Target="../media/image205.png"/><Relationship Id="rId4" Type="http://schemas.openxmlformats.org/officeDocument/2006/relationships/image" Target="../media/image206.png"/><Relationship Id="rId5" Type="http://schemas.openxmlformats.org/officeDocument/2006/relationships/image" Target="../media/image207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Relationship Id="rId3" Type="http://schemas.openxmlformats.org/officeDocument/2006/relationships/image" Target="../media/image20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Relationship Id="rId3" Type="http://schemas.openxmlformats.org/officeDocument/2006/relationships/image" Target="../media/image218.png"/><Relationship Id="rId4" Type="http://schemas.openxmlformats.org/officeDocument/2006/relationships/image" Target="../media/image219.png"/><Relationship Id="rId5" Type="http://schemas.openxmlformats.org/officeDocument/2006/relationships/image" Target="../media/image220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Relationship Id="rId3" Type="http://schemas.openxmlformats.org/officeDocument/2006/relationships/image" Target="../media/image216.png"/><Relationship Id="rId4" Type="http://schemas.openxmlformats.org/officeDocument/2006/relationships/image" Target="../media/image221.png"/><Relationship Id="rId5" Type="http://schemas.openxmlformats.org/officeDocument/2006/relationships/image" Target="../media/image213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image" Target="../media/image222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223.png"/><Relationship Id="rId4" Type="http://schemas.openxmlformats.org/officeDocument/2006/relationships/image" Target="../media/image53.png"/><Relationship Id="rId5" Type="http://schemas.openxmlformats.org/officeDocument/2006/relationships/image" Target="../media/image224.png"/><Relationship Id="rId6" Type="http://schemas.openxmlformats.org/officeDocument/2006/relationships/image" Target="../media/image198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223.png"/><Relationship Id="rId4" Type="http://schemas.openxmlformats.org/officeDocument/2006/relationships/image" Target="../media/image53.png"/><Relationship Id="rId5" Type="http://schemas.openxmlformats.org/officeDocument/2006/relationships/image" Target="../media/image224.png"/><Relationship Id="rId6" Type="http://schemas.openxmlformats.org/officeDocument/2006/relationships/image" Target="../media/image198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png"/><Relationship Id="rId3" Type="http://schemas.openxmlformats.org/officeDocument/2006/relationships/image" Target="../media/image226.png"/><Relationship Id="rId4" Type="http://schemas.openxmlformats.org/officeDocument/2006/relationships/image" Target="../media/image227.png"/><Relationship Id="rId5" Type="http://schemas.openxmlformats.org/officeDocument/2006/relationships/image" Target="../media/image228.png"/><Relationship Id="rId6" Type="http://schemas.openxmlformats.org/officeDocument/2006/relationships/image" Target="../media/image229.png"/><Relationship Id="rId7" Type="http://schemas.openxmlformats.org/officeDocument/2006/relationships/image" Target="../media/image230.png"/><Relationship Id="rId8" Type="http://schemas.openxmlformats.org/officeDocument/2006/relationships/image" Target="../media/image231.png"/><Relationship Id="rId9" Type="http://schemas.openxmlformats.org/officeDocument/2006/relationships/image" Target="../media/image23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png"/><Relationship Id="rId3" Type="http://schemas.openxmlformats.org/officeDocument/2006/relationships/image" Target="../media/image24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242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Relationship Id="rId3" Type="http://schemas.openxmlformats.org/officeDocument/2006/relationships/image" Target="../media/image246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Relationship Id="rId4" Type="http://schemas.openxmlformats.org/officeDocument/2006/relationships/image" Target="../media/image249.png"/><Relationship Id="rId5" Type="http://schemas.openxmlformats.org/officeDocument/2006/relationships/image" Target="../media/image250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png"/><Relationship Id="rId3" Type="http://schemas.openxmlformats.org/officeDocument/2006/relationships/image" Target="../media/image253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Relationship Id="rId3" Type="http://schemas.openxmlformats.org/officeDocument/2006/relationships/image" Target="../media/image259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Relationship Id="rId7" Type="http://schemas.openxmlformats.org/officeDocument/2006/relationships/image" Target="../media/image264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Relationship Id="rId3" Type="http://schemas.openxmlformats.org/officeDocument/2006/relationships/image" Target="../media/image265.png"/><Relationship Id="rId4" Type="http://schemas.openxmlformats.org/officeDocument/2006/relationships/image" Target="../media/image249.png"/><Relationship Id="rId5" Type="http://schemas.openxmlformats.org/officeDocument/2006/relationships/image" Target="../media/image266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Relationship Id="rId3" Type="http://schemas.openxmlformats.org/officeDocument/2006/relationships/image" Target="../media/image267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Relationship Id="rId3" Type="http://schemas.openxmlformats.org/officeDocument/2006/relationships/image" Target="../media/image269.png"/><Relationship Id="rId4" Type="http://schemas.openxmlformats.org/officeDocument/2006/relationships/image" Target="../media/image270.png"/><Relationship Id="rId5" Type="http://schemas.openxmlformats.org/officeDocument/2006/relationships/image" Target="../media/image27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Relationship Id="rId3" Type="http://schemas.openxmlformats.org/officeDocument/2006/relationships/image" Target="../media/image273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76.png"/><Relationship Id="rId7" Type="http://schemas.openxmlformats.org/officeDocument/2006/relationships/image" Target="../media/image277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279.png"/><Relationship Id="rId4" Type="http://schemas.openxmlformats.org/officeDocument/2006/relationships/image" Target="../media/image280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Relationship Id="rId3" Type="http://schemas.openxmlformats.org/officeDocument/2006/relationships/image" Target="../media/image283.png"/><Relationship Id="rId4" Type="http://schemas.openxmlformats.org/officeDocument/2006/relationships/image" Target="../media/image284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Relationship Id="rId3" Type="http://schemas.openxmlformats.org/officeDocument/2006/relationships/image" Target="../media/image287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Relationship Id="rId3" Type="http://schemas.openxmlformats.org/officeDocument/2006/relationships/image" Target="../media/image288.png"/><Relationship Id="rId4" Type="http://schemas.openxmlformats.org/officeDocument/2006/relationships/image" Target="../media/image289.png"/><Relationship Id="rId5" Type="http://schemas.openxmlformats.org/officeDocument/2006/relationships/image" Target="../media/image29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Relationship Id="rId3" Type="http://schemas.openxmlformats.org/officeDocument/2006/relationships/image" Target="../media/image291.png"/><Relationship Id="rId4" Type="http://schemas.openxmlformats.org/officeDocument/2006/relationships/image" Target="../media/image292.png"/><Relationship Id="rId5" Type="http://schemas.openxmlformats.org/officeDocument/2006/relationships/image" Target="../media/image293.png"/><Relationship Id="rId6" Type="http://schemas.openxmlformats.org/officeDocument/2006/relationships/image" Target="../media/image294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Relationship Id="rId3" Type="http://schemas.openxmlformats.org/officeDocument/2006/relationships/image" Target="../media/image281.png"/><Relationship Id="rId4" Type="http://schemas.openxmlformats.org/officeDocument/2006/relationships/image" Target="../media/image285.png"/><Relationship Id="rId5" Type="http://schemas.openxmlformats.org/officeDocument/2006/relationships/image" Target="../media/image202.png"/><Relationship Id="rId6" Type="http://schemas.openxmlformats.org/officeDocument/2006/relationships/image" Target="../media/image296.png"/><Relationship Id="rId7" Type="http://schemas.openxmlformats.org/officeDocument/2006/relationships/image" Target="../media/image297.png"/><Relationship Id="rId8" Type="http://schemas.openxmlformats.org/officeDocument/2006/relationships/image" Target="../media/image298.png"/><Relationship Id="rId9" Type="http://schemas.openxmlformats.org/officeDocument/2006/relationships/image" Target="../media/image299.png"/><Relationship Id="rId10" Type="http://schemas.openxmlformats.org/officeDocument/2006/relationships/image" Target="../media/image300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301.png"/><Relationship Id="rId4" Type="http://schemas.openxmlformats.org/officeDocument/2006/relationships/image" Target="../media/image302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301.png"/><Relationship Id="rId4" Type="http://schemas.openxmlformats.org/officeDocument/2006/relationships/image" Target="../media/image302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Relationship Id="rId3" Type="http://schemas.openxmlformats.org/officeDocument/2006/relationships/image" Target="../media/image306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png"/><Relationship Id="rId3" Type="http://schemas.openxmlformats.org/officeDocument/2006/relationships/image" Target="../media/image308.png"/><Relationship Id="rId4" Type="http://schemas.openxmlformats.org/officeDocument/2006/relationships/image" Target="../media/image309.png"/><Relationship Id="rId5" Type="http://schemas.openxmlformats.org/officeDocument/2006/relationships/image" Target="../media/image310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png"/><Relationship Id="rId3" Type="http://schemas.openxmlformats.org/officeDocument/2006/relationships/image" Target="../media/image313.png"/><Relationship Id="rId4" Type="http://schemas.openxmlformats.org/officeDocument/2006/relationships/image" Target="../media/image314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Relationship Id="rId3" Type="http://schemas.openxmlformats.org/officeDocument/2006/relationships/image" Target="../media/image317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Relationship Id="rId3" Type="http://schemas.openxmlformats.org/officeDocument/2006/relationships/image" Target="../media/image31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png"/><Relationship Id="rId3" Type="http://schemas.openxmlformats.org/officeDocument/2006/relationships/image" Target="../media/image321.png"/><Relationship Id="rId4" Type="http://schemas.openxmlformats.org/officeDocument/2006/relationships/image" Target="../media/image322.png"/><Relationship Id="rId5" Type="http://schemas.openxmlformats.org/officeDocument/2006/relationships/image" Target="../media/image32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28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png"/><Relationship Id="rId3" Type="http://schemas.openxmlformats.org/officeDocument/2006/relationships/image" Target="../media/image33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Relationship Id="rId3" Type="http://schemas.openxmlformats.org/officeDocument/2006/relationships/image" Target="../media/image334.png"/><Relationship Id="rId4" Type="http://schemas.openxmlformats.org/officeDocument/2006/relationships/image" Target="../media/image335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Relationship Id="rId3" Type="http://schemas.openxmlformats.org/officeDocument/2006/relationships/image" Target="../media/image338.png"/><Relationship Id="rId4" Type="http://schemas.openxmlformats.org/officeDocument/2006/relationships/image" Target="../media/image339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299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Relationship Id="rId3" Type="http://schemas.openxmlformats.org/officeDocument/2006/relationships/image" Target="../media/image340.png"/><Relationship Id="rId4" Type="http://schemas.openxmlformats.org/officeDocument/2006/relationships/image" Target="../media/image341.png"/><Relationship Id="rId5" Type="http://schemas.openxmlformats.org/officeDocument/2006/relationships/image" Target="../media/image342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Relationship Id="rId3" Type="http://schemas.openxmlformats.org/officeDocument/2006/relationships/image" Target="../media/image343.png"/><Relationship Id="rId4" Type="http://schemas.openxmlformats.org/officeDocument/2006/relationships/image" Target="../media/image344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Relationship Id="rId3" Type="http://schemas.openxmlformats.org/officeDocument/2006/relationships/image" Target="../media/image213.png"/><Relationship Id="rId4" Type="http://schemas.openxmlformats.org/officeDocument/2006/relationships/image" Target="../media/image346.png"/><Relationship Id="rId5" Type="http://schemas.openxmlformats.org/officeDocument/2006/relationships/image" Target="../media/image347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10" b="1" i="0">
                <a:solidFill>
                  <a:srgbClr val="1A1A1A"/>
                </a:solidFill>
                <a:latin typeface="Lexend"/>
              </a:rPr>
              <a:t>Multi-Step Proportional Relationships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6B6B6B"/>
                </a:solidFill>
                <a:latin typeface="Lexend"/>
              </a:rPr>
              <a:t>Six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— Multi-Step Proportional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— Multi-Step Proportional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5.01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Scale Drawings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5.02–03</a:t>
            </a:r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Scale Factor: Perimeter and Area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5.04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Real-World Scale Drawings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73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5.06–07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Converting Length Across Systems; Currency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108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5.08–09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Converting Mass, Area and Volume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143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5.10–11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Multi-Step Proportion Problems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178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Scale Drawings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scale factor between two figures, and use a scale to find a real length from a drawing or a drawing length from the real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c053a830935db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64719"/>
            <a:ext cx="1433480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f504cbed100f80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096674"/>
            <a:ext cx="647914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1621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</a:t>
            </a:r>
          </a:p>
        </p:txBody>
      </p:sp>
      <p:pic>
        <p:nvPicPr>
          <p:cNvPr id="13" name="Picture 12" descr="3826b61b6c6b81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447" y="2744922"/>
            <a:ext cx="1084603" cy="2634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3051" y="266547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9302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On a map, 3 cm stands for 12 km. What does 1 cm stand for?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c053a830935db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64719"/>
            <a:ext cx="1433480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41289" y="1440180"/>
            <a:ext cx="5562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2" name="Picture 11" descr="f504cbed100f80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096674"/>
            <a:ext cx="647914" cy="3726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69860" y="2052828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1621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</a:t>
            </a:r>
          </a:p>
        </p:txBody>
      </p:sp>
      <p:pic>
        <p:nvPicPr>
          <p:cNvPr id="15" name="Picture 14" descr="3826b61b6c6b81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447" y="2744922"/>
            <a:ext cx="1084603" cy="2634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43051" y="266547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1178" y="2665476"/>
            <a:ext cx="1028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9302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On a map, 3 cm stands for 12 km. What does 1 cm stand for?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735324"/>
            <a:ext cx="9662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 km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drawing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drawing of a real thing with every length multiplied by the same number: a map, a floor plan, 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80720"/>
            <a:ext cx="62862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number every length is multiplied by, written </a:t>
            </a:r>
          </a:p>
        </p:txBody>
      </p:sp>
      <p:pic>
        <p:nvPicPr>
          <p:cNvPr id="12" name="Picture 11" descr="5ad8b479ac3620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128" y="3310578"/>
            <a:ext cx="127952" cy="193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0080" y="3180720"/>
            <a:ext cx="27293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: from 4 cm to 6 cm, </a:t>
            </a:r>
          </a:p>
        </p:txBody>
      </p:sp>
      <p:pic>
        <p:nvPicPr>
          <p:cNvPr id="14" name="Picture 13" descr="a3bca5590aab4c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246" y="3312641"/>
            <a:ext cx="697547" cy="196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816228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corresponding sides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09818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side of the copy that matches a side of the original: the 6 cm side matches the 4 cm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3179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33909"/>
            <a:ext cx="392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scale factor with units on it: </a:t>
            </a:r>
          </a:p>
        </p:txBody>
      </p:sp>
      <p:pic>
        <p:nvPicPr>
          <p:cNvPr id="19" name="Picture 18" descr="33a234fb1dc3f5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727" y="5657575"/>
            <a:ext cx="1170146" cy="2043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00874" y="5533909"/>
            <a:ext cx="52793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means every inch on the map is 20 miles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scale copy: every side times the same number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8cdf1f3d178756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59" y="1993392"/>
            <a:ext cx="4572000" cy="2072640"/>
          </a:xfrm>
          <a:prstGeom prst="rect">
            <a:avLst/>
          </a:prstGeom>
        </p:spPr>
      </p:pic>
      <p:pic>
        <p:nvPicPr>
          <p:cNvPr id="11" name="Picture 10" descr="3d90d3b02b60e6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211" y="4212336"/>
            <a:ext cx="9531096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535533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 angle is still 90°: k multiplies lengths, not angles.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Find k: copy divided by original — and k can be less than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c3fa4e7c95803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424" y="2194560"/>
            <a:ext cx="6900672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0461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k = copy ÷ original. Less than 1 shrinks, more than 1 enlarges, 1 is the same size.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Use k both ways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8c3ddc15ef61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9" y="2218944"/>
            <a:ext cx="7589520" cy="387096"/>
          </a:xfrm>
          <a:prstGeom prst="rect">
            <a:avLst/>
          </a:prstGeom>
        </p:spPr>
      </p:pic>
      <p:pic>
        <p:nvPicPr>
          <p:cNvPr id="11" name="Picture 10" descr="8380a0d28443e4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255" y="3023997"/>
            <a:ext cx="8827008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41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To the copy, multiply by k. Back to the original, divide by 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6 cm by 4 cm rectangle is copied at 15 cm by 10 cm.</a:t>
            </a:r>
          </a:p>
        </p:txBody>
      </p:sp>
      <p:pic>
        <p:nvPicPr>
          <p:cNvPr id="9" name="Picture 8" descr="gd5b862b59eaad3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276458"/>
            <a:ext cx="5486400" cy="2745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35076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00adc5213f3de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874519" cy="673608"/>
          </a:xfrm>
          <a:prstGeom prst="rect">
            <a:avLst/>
          </a:prstGeom>
        </p:spPr>
      </p:pic>
      <p:pic>
        <p:nvPicPr>
          <p:cNvPr id="9" name="Picture 8" descr="3dbcdeb48f5a06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1335024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2.5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 8 cm by 10 cm rectangle is copied at 12 cm by 15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 8 cm by 10 cm rectangle is copied at 12 cm by 15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  <p:pic>
        <p:nvPicPr>
          <p:cNvPr id="10" name="Picture 9" descr="fe7cf77f09050b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917" y="2751548"/>
            <a:ext cx="1673352" cy="603504"/>
          </a:xfrm>
          <a:prstGeom prst="rect">
            <a:avLst/>
          </a:prstGeom>
        </p:spPr>
      </p:pic>
      <p:pic>
        <p:nvPicPr>
          <p:cNvPr id="11" name="Picture 10" descr="c01a75d5d6aaea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17" y="3483068"/>
            <a:ext cx="1193292" cy="6132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7209" y="3561078"/>
            <a:ext cx="2710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— the same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1.5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1271" y="1714500"/>
            <a:ext cx="2641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9" name="Picture 8" descr="46801c56b80b5c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13" y="1817179"/>
            <a:ext cx="139179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7106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Two towns are 2.6 in apart on the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1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31880d7c5f206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033015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65 mi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255" y="1577340"/>
            <a:ext cx="2641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9" name="Picture 8" descr="e81d11d57c22f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297" y="1689925"/>
            <a:ext cx="1651825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8712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Two towns are 4.2 cm apart on the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255" y="1577340"/>
            <a:ext cx="2641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9" name="Picture 8" descr="9dc5c0b3d418a1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297" y="1689925"/>
            <a:ext cx="1651825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8712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Two towns are 4.2 cm apart on the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  <p:pic>
        <p:nvPicPr>
          <p:cNvPr id="13" name="Picture 12" descr="874fbb5c36f522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603" y="3531265"/>
            <a:ext cx="1847088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63 km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side becomes 6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side becomes 6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d90d78eb18b74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9" y="3071588"/>
            <a:ext cx="1240536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8 cm side becomes 4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8 cm side becomes 4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88f6a9aaf9cd8a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19" y="3071588"/>
            <a:ext cx="1280160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12 cm side becomes 9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12 cm side becomes 9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3a3e9bb1d3245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628" y="3071588"/>
            <a:ext cx="1453896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side of 5 cm becomes 2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998c49ee2893d4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38644"/>
            <a:ext cx="47853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3cb114a9a26f9e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38644"/>
            <a:ext cx="530352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33209a3099e77b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48244"/>
            <a:ext cx="13716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899d09e1fb7976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54340"/>
            <a:ext cx="185928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side of 5 cm becomes 2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41cad21ae3786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812" y="3071588"/>
            <a:ext cx="1566672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0.4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scale factor is 3.5. A side of the original is 6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that side in the copy?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scale factor is 3.5. A side of the original is 6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that side in the copy?</a:t>
            </a:r>
          </a:p>
        </p:txBody>
      </p:sp>
      <p:pic>
        <p:nvPicPr>
          <p:cNvPr id="10" name="Picture 9" descr="330bf951670aa9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03" y="3165505"/>
            <a:ext cx="161848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21 cm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92123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drawing has a 40° angle. The real figure is a scale copy at </a:t>
            </a:r>
          </a:p>
        </p:txBody>
      </p:sp>
      <p:pic>
        <p:nvPicPr>
          <p:cNvPr id="9" name="Picture 8" descr="6f3278420c632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628" y="1964245"/>
            <a:ext cx="85191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6154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angle in the real figure?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3" name="Picture 12" descr="931d3a876917ba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212194"/>
            <a:ext cx="600456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5" name="Picture 14" descr="f041d7103b8797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212194"/>
            <a:ext cx="886968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7" name="Picture 16" descr="0b9eb51d2c267c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18746"/>
            <a:ext cx="512064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9" name="Picture 18" descr="f6bdea168322aa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24842"/>
            <a:ext cx="765048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92123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drawing has a 40° angle. The real figure is a scale copy at </a:t>
            </a:r>
          </a:p>
        </p:txBody>
      </p:sp>
      <p:pic>
        <p:nvPicPr>
          <p:cNvPr id="9" name="Picture 8" descr="0faca9856b4fc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628" y="1964245"/>
            <a:ext cx="854392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6402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angle in the real figure?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8098" y="3122278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Lengths are multiplied by k. Angles are not.</a:t>
            </a:r>
          </a:p>
        </p:txBody>
      </p:sp>
      <p:pic>
        <p:nvPicPr>
          <p:cNvPr id="13" name="Picture 12" descr="3cc36cf75937c8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962" y="3781598"/>
            <a:ext cx="54559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40°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6, 8 and 10. Another has sides 9, 12 and 15; a third has sides 9, 12 and 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one is a scale copy of the first?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6, 8 and 10. Another has sides 9, 12 and 15; a third has sides 9, 12 and 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one is a scale copy of the first?</a:t>
            </a:r>
          </a:p>
        </p:txBody>
      </p:sp>
      <p:pic>
        <p:nvPicPr>
          <p:cNvPr id="10" name="Picture 9" descr="3af538f0ea090d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036" y="3500959"/>
            <a:ext cx="2497073" cy="6132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6110" y="3578969"/>
            <a:ext cx="40560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second is a copy</a:t>
            </a:r>
          </a:p>
        </p:txBody>
      </p:sp>
      <p:pic>
        <p:nvPicPr>
          <p:cNvPr id="12" name="Picture 11" descr="102070a7c64f05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036" y="4242194"/>
            <a:ext cx="1997106" cy="610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26142" y="4318823"/>
            <a:ext cx="30053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third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9812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9-12-15 triangle (k = 1.5); the 9-12-14 one is not a copy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Dev, who is 13, draws a 15-ft wall as 3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20-ft wall on his drawing?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Dev, who is 13, draws a 15-ft wall as 3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20-ft wall on his drawing?</a:t>
            </a:r>
          </a:p>
        </p:txBody>
      </p:sp>
      <p:pic>
        <p:nvPicPr>
          <p:cNvPr id="10" name="Picture 9" descr="4238e14711500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68" y="3169601"/>
            <a:ext cx="1372838" cy="2513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21706" y="3048728"/>
            <a:ext cx="3340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every inch is 5 ft</a:t>
            </a:r>
          </a:p>
        </p:txBody>
      </p:sp>
      <p:pic>
        <p:nvPicPr>
          <p:cNvPr id="12" name="Picture 11" descr="503b886175e4a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868" y="3708049"/>
            <a:ext cx="1453896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 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the scale factor from a 6 cm side to its 3 cm copy is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the scale factor from a 6 cm side to its 3 cm copy is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0" name="Picture 9" descr="50c40483c37e0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849" y="3071588"/>
            <a:ext cx="1061799" cy="5133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49648" y="3099687"/>
            <a:ext cx="6166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. No: the copy is smaller, so k is under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No. k = 3 ÷ 6 = ½: the copy is smaller, so k is under 1.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810171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5 cm side becomes 15 cm in the copy. Find the scale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809871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15 cm side becomes 6 cm in the copy. Find the scale factor.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59326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59326"/>
            <a:ext cx="938379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3 cm by 5 cm rectangle is copied at 7.5 cm by 12.5 cm. Find the scale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62457"/>
            <a:ext cx="102995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factor.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604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93604"/>
            <a:ext cx="961464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The scale factor is 1.5 and a side of the original is 8 cm. How long is that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96735"/>
            <a:ext cx="23877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side in the copy?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7882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7882"/>
            <a:ext cx="233721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20" name="Picture 19" descr="d7f44fc30d54f3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35" y="4525286"/>
            <a:ext cx="1271811" cy="2226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6347" y="4427882"/>
            <a:ext cx="647292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Two cities are 2.8 in apart on the map. How far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31013"/>
            <a:ext cx="2227461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apart are they?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6216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62160"/>
            <a:ext cx="893673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On the same map, a road is 150 mi long. How long is it on the map?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find the scale factor, missing side, or missing angle — WEA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Scale Factor: Perimeter and Area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perimeter and the area of a scale copy from the original and k, and find k from two areas.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437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20 cm side becomes 8 cm in the copy. Find the scale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0" name="Picture 9" descr="c5ba369a2497f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06" y="2096674"/>
            <a:ext cx="847272" cy="3726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65476"/>
            <a:ext cx="3071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values:  </a:t>
            </a:r>
          </a:p>
        </p:txBody>
      </p:sp>
      <p:pic>
        <p:nvPicPr>
          <p:cNvPr id="12" name="Picture 11" descr="33d30e37238e3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88" y="2742549"/>
            <a:ext cx="265811" cy="265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74399" y="266547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4" name="Picture 13" descr="20ade1fcd202f3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740" y="2744922"/>
            <a:ext cx="261064" cy="2634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278124"/>
            <a:ext cx="93490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perimeter and the area of a 3 cm by 5 cm rectangle.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437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20 cm side becomes 8 cm in the copy. Find the scale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2274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c5ba369a2497f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06" y="2553874"/>
            <a:ext cx="847272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69218" y="2510028"/>
            <a:ext cx="5365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22676"/>
            <a:ext cx="3071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values:  </a:t>
            </a:r>
          </a:p>
        </p:txBody>
      </p:sp>
      <p:pic>
        <p:nvPicPr>
          <p:cNvPr id="14" name="Picture 13" descr="33d30e37238e3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88" y="3199749"/>
            <a:ext cx="265811" cy="2658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74399" y="312267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6" name="Picture 15" descr="20ade1fcd202f3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740" y="3202122"/>
            <a:ext cx="261064" cy="2634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34444" y="3122676"/>
            <a:ext cx="14651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and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35324"/>
            <a:ext cx="93490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perimeter and the area of a 3 cm by 5 cm rectangle.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92524"/>
            <a:ext cx="33881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P = 16 cm, A = 15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k squared</a:t>
            </a:r>
          </a:p>
        </p:txBody>
      </p:sp>
      <p:pic>
        <p:nvPicPr>
          <p:cNvPr id="9" name="Picture 8" descr="f5d0f69f4213cc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50941"/>
            <a:ext cx="267874" cy="2519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10874" y="1869550"/>
            <a:ext cx="99845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 k times k: what an area is multiplied by when every length is multiplied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54182"/>
            <a:ext cx="624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by </a:t>
            </a:r>
          </a:p>
        </p:txBody>
      </p:sp>
      <p:pic>
        <p:nvPicPr>
          <p:cNvPr id="12" name="Picture 11" descr="5ad8b479ac362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92" y="2474165"/>
            <a:ext cx="140747" cy="2133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perimeter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96200"/>
            <a:ext cx="71062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copy's perimeter ÷ original's perimeter — it equals </a:t>
            </a:r>
          </a:p>
        </p:txBody>
      </p:sp>
      <p:pic>
        <p:nvPicPr>
          <p:cNvPr id="15" name="Picture 14" descr="5ad8b479ac362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16" y="3516184"/>
            <a:ext cx="140747" cy="2133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0317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area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8219"/>
            <a:ext cx="56769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copy's area ÷ original's area — it equals </a:t>
            </a:r>
          </a:p>
        </p:txBody>
      </p:sp>
      <p:pic>
        <p:nvPicPr>
          <p:cNvPr id="18" name="Picture 17" descr="f5d0f69f4213cc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757" y="4519610"/>
            <a:ext cx="267874" cy="25198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Every side × k, so the perimeter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5b63e5073dba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93392"/>
            <a:ext cx="5486400" cy="2387065"/>
          </a:xfrm>
          <a:prstGeom prst="rect">
            <a:avLst/>
          </a:prstGeom>
        </p:spPr>
      </p:pic>
      <p:pic>
        <p:nvPicPr>
          <p:cNvPr id="11" name="Picture 10" descr="cc9f29a22390a2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532" y="4572862"/>
            <a:ext cx="5172456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 is two lengths, so the area × k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f6e25f382079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993392"/>
            <a:ext cx="3840480" cy="2708030"/>
          </a:xfrm>
          <a:prstGeom prst="rect">
            <a:avLst/>
          </a:prstGeom>
        </p:spPr>
      </p:pic>
      <p:pic>
        <p:nvPicPr>
          <p:cNvPr id="11" name="Picture 10" descr="73de71b52ec561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940" y="4847726"/>
            <a:ext cx="550164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From two areas back to k: a square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6d3ae8b19a234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2194560"/>
            <a:ext cx="8839200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10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Area ratio = k</a:t>
            </a:r>
            <a:r>
              <a:rPr sz="2180" b="1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180" b="1" i="0">
                <a:solidFill>
                  <a:srgbClr val="1A1A1A"/>
                </a:solidFill>
                <a:latin typeface="Lexend"/>
              </a:rPr>
              <a:t>. k = the square root of the area ratio.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4932" y="2080260"/>
            <a:ext cx="58614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by 4 cm rectangle is scaled by </a:t>
            </a:r>
          </a:p>
        </p:txBody>
      </p:sp>
      <p:pic>
        <p:nvPicPr>
          <p:cNvPr id="9" name="Picture 8" descr="8058f93241672f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179" y="2192845"/>
            <a:ext cx="60426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3445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3da73618c3a5c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065776" cy="353568"/>
          </a:xfrm>
          <a:prstGeom prst="rect">
            <a:avLst/>
          </a:prstGeom>
        </p:spPr>
      </p:pic>
      <p:pic>
        <p:nvPicPr>
          <p:cNvPr id="9" name="Picture 8" descr="da9b199f35923b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4386072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36 cm, A = 72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901" y="1577340"/>
            <a:ext cx="58362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 cm by 6 cm rectangle is scaled by </a:t>
            </a:r>
          </a:p>
        </p:txBody>
      </p:sp>
      <p:pic>
        <p:nvPicPr>
          <p:cNvPr id="9" name="Picture 8" descr="6c1f342e4d843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970" y="1687449"/>
            <a:ext cx="631507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477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2662" y="1577340"/>
            <a:ext cx="58362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 cm by 6 cm rectangle is scaled by </a:t>
            </a:r>
          </a:p>
        </p:txBody>
      </p:sp>
      <p:pic>
        <p:nvPicPr>
          <p:cNvPr id="9" name="Picture 8" descr="8818f8b2507901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731" y="1687449"/>
            <a:ext cx="633984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5715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pic>
        <p:nvPicPr>
          <p:cNvPr id="12" name="Picture 11" descr="a391ba3877603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047" y="2992166"/>
            <a:ext cx="2109216" cy="252984"/>
          </a:xfrm>
          <a:prstGeom prst="rect">
            <a:avLst/>
          </a:prstGeom>
        </p:spPr>
      </p:pic>
      <p:pic>
        <p:nvPicPr>
          <p:cNvPr id="13" name="Picture 12" descr="30e6b9ad4e67f1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047" y="3482894"/>
            <a:ext cx="3880104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72 cm, A = 288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1745" y="171450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bd8ae361e3ef13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945" y="1784985"/>
            <a:ext cx="92868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6632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433" y="240030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310dff147270a8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467" y="2470785"/>
            <a:ext cx="1161478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3945" y="24003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3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09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k, then the matching side of the copy.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c237a4a459a457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52472" cy="676656"/>
          </a:xfrm>
          <a:prstGeom prst="rect">
            <a:avLst/>
          </a:prstGeom>
        </p:spPr>
      </p:pic>
      <p:pic>
        <p:nvPicPr>
          <p:cNvPr id="9" name="Picture 8" descr="c1463e20ee37a9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4255008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4; the side is 12 cm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5460" y="157734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e2be393dbf6293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60" y="164782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291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433" y="226314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cecd9b8e3fec7c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467" y="2333625"/>
            <a:ext cx="1161478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3945" y="22631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2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3723" y="3488038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6" name="Picture 15" descr="5ad8b479ac3620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39" y="3598147"/>
            <a:ext cx="153543" cy="232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23682" y="3488038"/>
            <a:ext cx="5611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then the matching side of the copy.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5460" y="157734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55ca388921d9b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60" y="164782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291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3194" y="226314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8fab6492a088d5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228" y="2333625"/>
            <a:ext cx="1163955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5183" y="22631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2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3723" y="3488038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6" name="Picture 15" descr="5ad8b479ac3620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39" y="3598147"/>
            <a:ext cx="153543" cy="232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23682" y="3488038"/>
            <a:ext cx="5611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then the matching side of the copy.</a:t>
            </a:r>
          </a:p>
        </p:txBody>
      </p:sp>
      <p:pic>
        <p:nvPicPr>
          <p:cNvPr id="18" name="Picture 17" descr="a02b1beb298b5d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269850"/>
            <a:ext cx="2048256" cy="609600"/>
          </a:xfrm>
          <a:prstGeom prst="rect">
            <a:avLst/>
          </a:prstGeom>
        </p:spPr>
      </p:pic>
      <p:pic>
        <p:nvPicPr>
          <p:cNvPr id="19" name="Picture 18" descr="c6b6368f1cca46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5007466"/>
            <a:ext cx="3861816" cy="432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57744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5; the side is 10 cm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52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perimeter 14 cm is scaled by </a:t>
            </a:r>
          </a:p>
        </p:txBody>
      </p:sp>
      <p:pic>
        <p:nvPicPr>
          <p:cNvPr id="9" name="Picture 8" descr="df787c7f4ce773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63" y="1961769"/>
            <a:ext cx="611695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145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perimeter?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52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perimeter 14 cm is scaled by </a:t>
            </a:r>
          </a:p>
        </p:txBody>
      </p:sp>
      <p:pic>
        <p:nvPicPr>
          <p:cNvPr id="9" name="Picture 8" descr="bcf4e6c09f084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63" y="1961769"/>
            <a:ext cx="614172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393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perimeter?</a:t>
            </a:r>
          </a:p>
        </p:txBody>
      </p:sp>
      <p:pic>
        <p:nvPicPr>
          <p:cNvPr id="12" name="Picture 11" descr="d860927724a30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59" y="3242102"/>
            <a:ext cx="1554480" cy="2499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 cm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e2be393dbf6293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9304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df787c7f4ce77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010" y="1961769"/>
            <a:ext cx="611695" cy="232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6970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55ca388921d9b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9304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bcf4e6c09f084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010" y="1961769"/>
            <a:ext cx="614172" cy="232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7218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427887251510c8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3190286"/>
            <a:ext cx="2910840" cy="301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b19c87c68c435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87581"/>
            <a:ext cx="988123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6169" y="1917096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025ad037a3e872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76" y="1874519"/>
            <a:ext cx="624078" cy="5423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8954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18041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7a8fa05a0e6e09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88819"/>
            <a:ext cx="988123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6169" y="1918334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343adb895dd9d0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76" y="1874519"/>
            <a:ext cx="621601" cy="5448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6477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205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ba1e3c512174bc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311" y="3278488"/>
            <a:ext cx="3474720" cy="6126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53750b0735fbfc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41069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9116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822" y="1964245"/>
            <a:ext cx="604266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208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5" name="Picture 14" descr="78f7267bd6258a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209146"/>
            <a:ext cx="42062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7" name="Picture 16" descr="b6b586116b6ce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209146"/>
            <a:ext cx="417576" cy="2804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9" name="Picture 18" descr="da98a1872183d6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824842"/>
            <a:ext cx="414528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1" name="Picture 20" descr="65ff48fc3d12dc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824842"/>
            <a:ext cx="350520" cy="277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b2d2e2a1dc911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41069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9116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217c156fbd4cb6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822" y="1964245"/>
            <a:ext cx="606742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456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8413de0e199e54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3190286"/>
            <a:ext cx="291084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90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987bd4d974e8c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78752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5573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a3bca5590aab4c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79" y="1964245"/>
            <a:ext cx="837057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133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f4873bb202c1b7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78752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5573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c0265cf83ecf01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79" y="1964245"/>
            <a:ext cx="839533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3813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3c70ee3fe6f126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3" y="3190286"/>
            <a:ext cx="1539240" cy="304800"/>
          </a:xfrm>
          <a:prstGeom prst="rect">
            <a:avLst/>
          </a:prstGeom>
        </p:spPr>
      </p:pic>
      <p:pic>
        <p:nvPicPr>
          <p:cNvPr id="15" name="Picture 14" descr="2e3c5fba163c0d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3" y="3781598"/>
            <a:ext cx="183184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figure's perimeter is 20 cm; its copy's perimeter is 60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ratio, copy to original?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c003d31adc9c10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32548"/>
            <a:ext cx="18897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899d09e1fb7976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41692"/>
            <a:ext cx="18592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e3fffa01a271e3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51292"/>
            <a:ext cx="448056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5a99f83968c3dd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45196"/>
            <a:ext cx="192024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figure's perimeter is 20 cm; its copy's perimeter is 60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ratio, copy to original?</a:t>
            </a:r>
          </a:p>
        </p:txBody>
      </p:sp>
      <p:pic>
        <p:nvPicPr>
          <p:cNvPr id="10" name="Picture 9" descr="9771a717e91a6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146" y="3071588"/>
            <a:ext cx="1452943" cy="6159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79090" y="3150979"/>
            <a:ext cx="4505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perimeter ratio is k</a:t>
            </a:r>
          </a:p>
        </p:txBody>
      </p:sp>
      <p:pic>
        <p:nvPicPr>
          <p:cNvPr id="12" name="Picture 11" descr="16227b3b3d8b10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146" y="3852829"/>
            <a:ext cx="853535" cy="3066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79681" y="3792726"/>
            <a:ext cx="2864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area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73388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with sides 6, 8 and 10 cm is scaled by </a:t>
            </a:r>
          </a:p>
        </p:txBody>
      </p:sp>
      <p:pic>
        <p:nvPicPr>
          <p:cNvPr id="9" name="Picture 8" descr="025ad037a3e872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04" y="1874519"/>
            <a:ext cx="624078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60182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95181"/>
            <a:ext cx="18035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area is </a:t>
            </a:r>
          </a:p>
        </p:txBody>
      </p:sp>
      <p:pic>
        <p:nvPicPr>
          <p:cNvPr id="12" name="Picture 11" descr="215415fd0592ff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09" y="2665666"/>
            <a:ext cx="970787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71597" y="2595181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3068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73388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with sides 6, 8 and 10 cm is scaled by </a:t>
            </a:r>
          </a:p>
        </p:txBody>
      </p:sp>
      <p:pic>
        <p:nvPicPr>
          <p:cNvPr id="9" name="Picture 8" descr="343adb895dd9d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04" y="1874519"/>
            <a:ext cx="621601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7706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97658"/>
            <a:ext cx="18035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area is </a:t>
            </a:r>
          </a:p>
        </p:txBody>
      </p:sp>
      <p:pic>
        <p:nvPicPr>
          <p:cNvPr id="12" name="Picture 11" descr="2662ac61bc7a43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09" y="2668143"/>
            <a:ext cx="973264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74073" y="25976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331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pic>
        <p:nvPicPr>
          <p:cNvPr id="15" name="Picture 14" descr="288a399f2ce561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5" y="3891136"/>
            <a:ext cx="2145792" cy="606552"/>
          </a:xfrm>
          <a:prstGeom prst="rect">
            <a:avLst/>
          </a:prstGeom>
        </p:spPr>
      </p:pic>
      <p:pic>
        <p:nvPicPr>
          <p:cNvPr id="16" name="Picture 15" descr="392447636256ad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5" y="4625704"/>
            <a:ext cx="2042160" cy="6035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663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12 cm, A = 6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81982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 in by 6 in photo, taken 3 years ago, is enlarged at </a:t>
            </a:r>
          </a:p>
        </p:txBody>
      </p:sp>
      <p:pic>
        <p:nvPicPr>
          <p:cNvPr id="9" name="Picture 8" descr="6f3278420c632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558" y="1964245"/>
            <a:ext cx="85191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747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enlargement's area?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81982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 in by 6 in photo, taken 3 years ago, is enlarged at </a:t>
            </a:r>
          </a:p>
        </p:txBody>
      </p:sp>
      <p:pic>
        <p:nvPicPr>
          <p:cNvPr id="9" name="Picture 8" descr="0faca9856b4fc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558" y="1964245"/>
            <a:ext cx="854392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995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enlargement's area?</a:t>
            </a:r>
          </a:p>
        </p:txBody>
      </p:sp>
      <p:pic>
        <p:nvPicPr>
          <p:cNvPr id="12" name="Picture 11" descr="2a69d4576013ab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79" y="3236006"/>
            <a:ext cx="1996439" cy="252984"/>
          </a:xfrm>
          <a:prstGeom prst="rect">
            <a:avLst/>
          </a:prstGeom>
        </p:spPr>
      </p:pic>
      <p:pic>
        <p:nvPicPr>
          <p:cNvPr id="13" name="Picture 12" descr="f562745388bd64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79" y="3729782"/>
            <a:ext cx="390144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150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says that doubling every side of a rectangle doubles its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Explain why not, with a counterexample.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says that doubling every side of a rectangle doubles its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Explain why not, with a counterexample.</a:t>
            </a:r>
          </a:p>
        </p:txBody>
      </p:sp>
      <p:pic>
        <p:nvPicPr>
          <p:cNvPr id="10" name="Picture 9" descr="3b4f9ec0788951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340" y="3162457"/>
            <a:ext cx="530656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No: 2 by 7 doubled is 4 by 14, area 14 </a:t>
            </a:r>
            <a:r>
              <a:rPr sz="3040" b="1" i="0">
                <a:solidFill>
                  <a:srgbClr val="9E1B32"/>
                </a:solidFill>
                <a:latin typeface="Arial"/>
              </a:rPr>
              <a:t>→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56 — × 4, as both lengths doubled.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572237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perimeter 18 cm is scaled by </a:t>
            </a:r>
          </a:p>
        </p:txBody>
      </p:sp>
      <p:pic>
        <p:nvPicPr>
          <p:cNvPr id="10" name="Picture 9" descr="0937735c0d6e3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97" y="1598609"/>
            <a:ext cx="551025" cy="2142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0723" y="1497031"/>
            <a:ext cx="36840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perimeter.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28178"/>
            <a:ext cx="2625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14" name="Picture 13" descr="15179f9c1b6811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085" y="2110276"/>
            <a:ext cx="706870" cy="2532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9956" y="2028178"/>
            <a:ext cx="18688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6" name="Picture 15" descr="0937735c0d6e3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618" y="2129756"/>
            <a:ext cx="551025" cy="2142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32644" y="2028178"/>
            <a:ext cx="3032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area.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19159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619159"/>
            <a:ext cx="2625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20" name="Picture 19" descr="f4387bd3ec8815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085" y="2701256"/>
            <a:ext cx="910026" cy="2532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53112" y="2619159"/>
            <a:ext cx="18688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22" name="Picture 21" descr="3bcf9a6d74a2c9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774" y="2580198"/>
            <a:ext cx="570506" cy="4953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55280" y="2619159"/>
            <a:ext cx="3032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area.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21014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210140"/>
            <a:ext cx="514083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2 cm by 5 cm rectangle is scaled by </a:t>
            </a:r>
          </a:p>
        </p:txBody>
      </p:sp>
      <p:pic>
        <p:nvPicPr>
          <p:cNvPr id="26" name="Picture 25" descr="fc22e08664d808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152" y="3311718"/>
            <a:ext cx="779227" cy="21428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37380" y="3210140"/>
            <a:ext cx="372860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perimeter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13271"/>
            <a:ext cx="144653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and area.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4441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144418"/>
            <a:ext cx="2531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31" name="Picture 30" descr="edb32a36259546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9067" y="4226515"/>
            <a:ext cx="718002" cy="25324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67069" y="4144418"/>
            <a:ext cx="389995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its scale copy has area </a:t>
            </a:r>
          </a:p>
        </p:txBody>
      </p:sp>
      <p:pic>
        <p:nvPicPr>
          <p:cNvPr id="33" name="Picture 32" descr="0db939c0bc0baa3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869" y="4226515"/>
            <a:ext cx="1043608" cy="25324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73478" y="4144418"/>
            <a:ext cx="98833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</a:t>
            </a:r>
          </a:p>
        </p:txBody>
      </p:sp>
      <p:pic>
        <p:nvPicPr>
          <p:cNvPr id="35" name="Picture 34" descr="15aa4a684a6a76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4654" y="4247388"/>
            <a:ext cx="141930" cy="2115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466585" y="4144418"/>
            <a:ext cx="27155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75565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675565"/>
            <a:ext cx="992508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figure's perimeter is 12 cm and its copy's perimeter is 48 cm. What is the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078696"/>
            <a:ext cx="382512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area ratio, copy to original?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Perimeter and area: changes in scale — ZC6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find the scale factor or missing side — XHM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Scale Drawings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use a scale such as ¼ in : 1 ft to find real lengths and areas from a drawing, and drawing lengths from real ones.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002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figure of area </a:t>
            </a:r>
          </a:p>
        </p:txBody>
      </p:sp>
      <p:pic>
        <p:nvPicPr>
          <p:cNvPr id="9" name="Picture 8" descr="146e78fc0ae7d0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998" y="1517253"/>
            <a:ext cx="752340" cy="2658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92338" y="1440180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df787c7f4ce77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113" y="1555226"/>
            <a:ext cx="586208" cy="223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68321" y="1440180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52828"/>
            <a:ext cx="9170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5 cm side becomes 3 cm in the copy. Find the scale factor.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5" name="Picture 14" descr="5daa986ee9f3de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661" y="2792388"/>
            <a:ext cx="1027644" cy="2159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9143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90 miles in 2 hours. How far does it go per hour?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002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figure of area </a:t>
            </a:r>
          </a:p>
        </p:txBody>
      </p:sp>
      <p:pic>
        <p:nvPicPr>
          <p:cNvPr id="9" name="Picture 8" descr="146e78fc0ae7d0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998" y="1517253"/>
            <a:ext cx="752340" cy="2658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92338" y="1440180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df787c7f4ce77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113" y="1555226"/>
            <a:ext cx="586208" cy="223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68321" y="1440180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897380"/>
            <a:ext cx="11989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36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510028"/>
            <a:ext cx="9170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5 cm side becomes 3 cm in the copy. Find the scale factor.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967228"/>
            <a:ext cx="121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798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7" name="Picture 16" descr="5daa986ee9f3de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661" y="3706788"/>
            <a:ext cx="1027644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8946" y="3579876"/>
            <a:ext cx="6300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192524"/>
            <a:ext cx="9143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90 miles in 2 hours. How far does it go per hour?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649724"/>
            <a:ext cx="28419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45 miles per hour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floor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scale drawing of a room or building seen from above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218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(two units)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42120"/>
            <a:ext cx="2095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ratio such as </a:t>
            </a:r>
          </a:p>
        </p:txBody>
      </p:sp>
      <p:pic>
        <p:nvPicPr>
          <p:cNvPr id="12" name="Picture 11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215" y="2845771"/>
            <a:ext cx="986472" cy="4498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87688" y="2842120"/>
            <a:ext cx="6649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— a drawing length and the real length it stands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96837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unit rate of a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86775"/>
            <a:ext cx="47113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scale written per 1 drawing unit: </a:t>
            </a:r>
          </a:p>
        </p:txBody>
      </p:sp>
      <p:pic>
        <p:nvPicPr>
          <p:cNvPr id="16" name="Picture 15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145" y="3890426"/>
            <a:ext cx="986472" cy="4498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03617" y="3886775"/>
            <a:ext cx="5471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8" name="Picture 17" descr="2e89f08f987938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627" y="4010441"/>
            <a:ext cx="930751" cy="2043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54149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with one unit</a:t>
            </a:r>
          </a:p>
        </p:txBody>
      </p:sp>
      <p:pic>
        <p:nvPicPr>
          <p:cNvPr id="20" name="Picture 19" descr="978f6528d2268a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052398"/>
            <a:ext cx="559276" cy="18780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02276" y="4912221"/>
            <a:ext cx="5407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— no units: 1 cm of model is 50 cm of car. </a:t>
            </a:r>
          </a:p>
        </p:txBody>
      </p:sp>
      <p:pic>
        <p:nvPicPr>
          <p:cNvPr id="22" name="Picture 21" descr="2e89f08f987938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717" y="5035888"/>
            <a:ext cx="930751" cy="20431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03468" y="4912221"/>
            <a:ext cx="5471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24" name="Picture 23" descr="f0627971b55979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478" y="5052398"/>
            <a:ext cx="563403" cy="1878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76881" y="4912221"/>
            <a:ext cx="1374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this way,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396853"/>
            <a:ext cx="33294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and 48 is the scale factor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scale is a rate: write it per 1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73d9c50cbaab7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539" y="2194560"/>
            <a:ext cx="4282440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0156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Drawing × rate = real.  Real ÷ rate = drawing.  With one unit, 1 in : 4 ft is 1 : 48.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Area: go to the real dimensions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256debf18477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65" y="1993392"/>
            <a:ext cx="3951589" cy="3566159"/>
          </a:xfrm>
          <a:prstGeom prst="rect">
            <a:avLst/>
          </a:prstGeom>
        </p:spPr>
      </p:pic>
      <p:pic>
        <p:nvPicPr>
          <p:cNvPr id="11" name="Picture 10" descr="da18b1e3915be7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5705855"/>
            <a:ext cx="3145536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Real to drawing is a division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5c94e184342c6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663" y="2228469"/>
            <a:ext cx="229819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4553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No scale printed? One pair gives it: 2 in </a:t>
            </a:r>
            <a:r>
              <a:rPr sz="2180" b="1" i="0">
                <a:solidFill>
                  <a:srgbClr val="1A1A1A"/>
                </a:solidFill>
                <a:latin typeface="Arial"/>
              </a:rPr>
              <a:t>↔</a:t>
            </a:r>
            <a:r>
              <a:rPr sz="2180" b="1" i="0">
                <a:solidFill>
                  <a:srgbClr val="1A1A1A"/>
                </a:solidFill>
                <a:latin typeface="Lexend"/>
              </a:rPr>
              <a:t> 9 ft is 4.5 ft per inch.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969" y="1778698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42" y="1737360"/>
            <a:ext cx="1183766" cy="5398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1409" y="177869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515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room is 2.5 in by 3 in on the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35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dcd2a03b5af577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32048" cy="667512"/>
          </a:xfrm>
          <a:prstGeom prst="rect">
            <a:avLst/>
          </a:prstGeom>
        </p:spPr>
      </p:pic>
      <p:pic>
        <p:nvPicPr>
          <p:cNvPr id="9" name="Picture 8" descr="915548aa4259a5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4096512" cy="277368"/>
          </a:xfrm>
          <a:prstGeom prst="rect">
            <a:avLst/>
          </a:prstGeom>
        </p:spPr>
      </p:pic>
      <p:pic>
        <p:nvPicPr>
          <p:cNvPr id="10" name="Picture 9" descr="ed3c81b185a5a2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13759"/>
            <a:ext cx="2112264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ft by 12 ft; 120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969" y="1641538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42" y="1600200"/>
            <a:ext cx="1183766" cy="5398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1409" y="16415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439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room is 1.5 in by 4 in on the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3495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5731" y="1642776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</a:t>
            </a:r>
          </a:p>
        </p:txBody>
      </p:sp>
      <p:pic>
        <p:nvPicPr>
          <p:cNvPr id="9" name="Picture 8" descr="ea6ef832dff2cc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404" y="1600200"/>
            <a:ext cx="1186243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647" y="164277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687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room is 1.5 in by 4 in on the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597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  <p:pic>
        <p:nvPicPr>
          <p:cNvPr id="13" name="Picture 12" descr="2ca6e5298287df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403" y="3662138"/>
            <a:ext cx="3523488" cy="256032"/>
          </a:xfrm>
          <a:prstGeom prst="rect">
            <a:avLst/>
          </a:prstGeom>
        </p:spPr>
      </p:pic>
      <p:pic>
        <p:nvPicPr>
          <p:cNvPr id="14" name="Picture 13" descr="5fd038657ddc92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403" y="4198586"/>
            <a:ext cx="1551432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563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 ft by 16 ft; 96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On a drawing a wall is 4 in long; the real wall is 18 ft. Another wall is 6 in long on the drawing.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544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second wall really?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0261f8592fb08f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59480" cy="384048"/>
          </a:xfrm>
          <a:prstGeom prst="rect">
            <a:avLst/>
          </a:prstGeom>
        </p:spPr>
      </p:pic>
      <p:pic>
        <p:nvPicPr>
          <p:cNvPr id="9" name="Picture 8" descr="022db8f1da267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78608"/>
            <a:ext cx="1847088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27 ft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On a drawing a wall is 2 in long; the real wall is 13 ft. Another wall is 5 in long on the drawing.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86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second wall really?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On a drawing a wall is 2 in long; the real wall is 13 ft. Another wall is 5 in long on the drawing.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86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second wall really?</a:t>
            </a:r>
          </a:p>
        </p:txBody>
      </p:sp>
      <p:pic>
        <p:nvPicPr>
          <p:cNvPr id="10" name="Picture 9" descr="b264694ef97daf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302" y="3276169"/>
            <a:ext cx="1640776" cy="254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58079" y="3158059"/>
            <a:ext cx="17357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 per in</a:t>
            </a:r>
          </a:p>
        </p:txBody>
      </p:sp>
      <p:pic>
        <p:nvPicPr>
          <p:cNvPr id="12" name="Picture 11" descr="563feef954113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302" y="3814331"/>
            <a:ext cx="1923288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32.5 ft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a22f3f49cdf11e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874519"/>
            <a:ext cx="1161478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4770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8041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wall is 4 in long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713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wall?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ad7010ee96b3fe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874519"/>
            <a:ext cx="1163955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7246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205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wall is 4 in long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96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wall?</a:t>
            </a:r>
          </a:p>
        </p:txBody>
      </p:sp>
      <p:pic>
        <p:nvPicPr>
          <p:cNvPr id="13" name="Picture 12" descr="c8c92f87f3d6ee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528" y="3817586"/>
            <a:ext cx="3060192" cy="606552"/>
          </a:xfrm>
          <a:prstGeom prst="rect">
            <a:avLst/>
          </a:prstGeom>
        </p:spPr>
      </p:pic>
      <p:pic>
        <p:nvPicPr>
          <p:cNvPr id="14" name="Picture 13" descr="4c79ce6c59743c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528" y="4649119"/>
            <a:ext cx="1210056" cy="2499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1007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 ft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84427c8d2ac69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08718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047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room is 2.5 in long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room?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36f237721cbc4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08718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047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room is 2.5 in long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room?</a:t>
            </a:r>
          </a:p>
        </p:txBody>
      </p:sp>
      <p:pic>
        <p:nvPicPr>
          <p:cNvPr id="13" name="Picture 12" descr="7f47ff26618b21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135" y="3781201"/>
            <a:ext cx="1712976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7.5 ft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84427c8d2ac69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08718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047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real wall is 21 ft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36f237721cbc4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08718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047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real wall is 21 ft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pic>
        <p:nvPicPr>
          <p:cNvPr id="13" name="Picture 12" descr="42d22dbd0f417c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775" y="3781201"/>
            <a:ext cx="1380744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in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87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model car is built at </a:t>
            </a:r>
          </a:p>
        </p:txBody>
      </p:sp>
      <p:pic>
        <p:nvPicPr>
          <p:cNvPr id="9" name="Picture 8" descr="978f6528d2268a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994" y="1974151"/>
            <a:ext cx="671131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7125" y="1851660"/>
            <a:ext cx="2782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is 8 cm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car?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3" name="Picture 12" descr="e6be1afe100034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212194"/>
            <a:ext cx="667512" cy="271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5" name="Picture 14" descr="d1c869ae9d4258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209146"/>
            <a:ext cx="1155192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7" name="Picture 16" descr="f9480b526a91ac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24842"/>
            <a:ext cx="1136904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9" name="Picture 18" descr="f6b889ed3e969b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27890"/>
            <a:ext cx="1075944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87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model car is built at </a:t>
            </a:r>
          </a:p>
        </p:txBody>
      </p:sp>
      <p:pic>
        <p:nvPicPr>
          <p:cNvPr id="9" name="Picture 8" descr="f950ae6c97c70c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994" y="1974151"/>
            <a:ext cx="673607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9602" y="1851660"/>
            <a:ext cx="2782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is 8 cm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car?</a:t>
            </a:r>
          </a:p>
        </p:txBody>
      </p:sp>
      <p:pic>
        <p:nvPicPr>
          <p:cNvPr id="12" name="Picture 11" descr="f87205a9484c63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280" y="3243150"/>
            <a:ext cx="1850707" cy="2513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6987" y="3122278"/>
            <a:ext cx="8542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cm</a:t>
            </a:r>
          </a:p>
        </p:txBody>
      </p:sp>
      <p:pic>
        <p:nvPicPr>
          <p:cNvPr id="14" name="Picture 13" descr="19d037a982db9c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280" y="3781598"/>
            <a:ext cx="2103120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29400" y="3661774"/>
            <a:ext cx="655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 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5858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874519"/>
            <a:ext cx="1183766" cy="5398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7058" y="19158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5565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real wall is 15 ft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4663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ea6ef832dff2cc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874519"/>
            <a:ext cx="1186243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9535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8041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real wall is 15 ft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713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pic>
        <p:nvPicPr>
          <p:cNvPr id="13" name="Picture 12" descr="e9e37835812246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5" y="3890738"/>
            <a:ext cx="3877056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3.75 in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2e89f08f98793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room is 2 in by 3 in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room's real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cec3ecd6d985b8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702524"/>
            <a:ext cx="981455" cy="34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48cdba4a3e3447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702524"/>
            <a:ext cx="969264" cy="34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437003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096426823913f6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4315172"/>
            <a:ext cx="1014984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437003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ac80d7fa9b4da3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4315172"/>
            <a:ext cx="978408" cy="34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0466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123cd4c222dc2b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room is 2 in by 3 in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room's real area?</a:t>
            </a:r>
          </a:p>
        </p:txBody>
      </p:sp>
      <p:pic>
        <p:nvPicPr>
          <p:cNvPr id="13" name="Picture 12" descr="a2754109ea50ef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039" y="3781201"/>
            <a:ext cx="3249168" cy="252984"/>
          </a:xfrm>
          <a:prstGeom prst="rect">
            <a:avLst/>
          </a:prstGeom>
        </p:spPr>
      </p:pic>
      <p:pic>
        <p:nvPicPr>
          <p:cNvPr id="14" name="Picture 13" descr="cb9cc937a98fdc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39" y="4317649"/>
            <a:ext cx="1554480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96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plane is 36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0758"/>
            <a:ext cx="40465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One model of it is built at </a:t>
            </a:r>
          </a:p>
        </p:txBody>
      </p:sp>
      <p:pic>
        <p:nvPicPr>
          <p:cNvPr id="10" name="Picture 9" descr="f0627971b5597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62" y="2513249"/>
            <a:ext cx="676084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9946" y="2390758"/>
            <a:ext cx="20318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another at </a:t>
            </a:r>
          </a:p>
        </p:txBody>
      </p:sp>
      <p:pic>
        <p:nvPicPr>
          <p:cNvPr id="12" name="Picture 11" descr="ae14a7ed505182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67" y="2513249"/>
            <a:ext cx="648843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3510" y="23907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model is longer, and by how much?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plane is 36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0758"/>
            <a:ext cx="40465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One model of it is built at </a:t>
            </a:r>
          </a:p>
        </p:txBody>
      </p:sp>
      <p:pic>
        <p:nvPicPr>
          <p:cNvPr id="10" name="Picture 9" descr="ea7aeef4c43044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62" y="2513249"/>
            <a:ext cx="676084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9946" y="2390758"/>
            <a:ext cx="20318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another at </a:t>
            </a:r>
          </a:p>
        </p:txBody>
      </p:sp>
      <p:pic>
        <p:nvPicPr>
          <p:cNvPr id="12" name="Picture 11" descr="ae14a7ed505182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67" y="2513249"/>
            <a:ext cx="648843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3510" y="23907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model is longer, and by how much?</a:t>
            </a:r>
          </a:p>
        </p:txBody>
      </p:sp>
      <p:pic>
        <p:nvPicPr>
          <p:cNvPr id="15" name="Picture 14" descr="a89ced5ccc91c1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067" y="3779486"/>
            <a:ext cx="1950148" cy="2541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23216" y="3661376"/>
            <a:ext cx="637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in</a:t>
            </a:r>
          </a:p>
        </p:txBody>
      </p:sp>
      <p:pic>
        <p:nvPicPr>
          <p:cNvPr id="17" name="Picture 16" descr="5f9988afdad05b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067" y="4317649"/>
            <a:ext cx="4328160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772372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1 : 48 model, by 3 in (9 in against 6 in)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Mia, who is 13, enlarges her 9 in by 12 in poster into a mural.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0758"/>
            <a:ext cx="3151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mural's scale is </a:t>
            </a:r>
          </a:p>
        </p:txBody>
      </p:sp>
      <p:pic>
        <p:nvPicPr>
          <p:cNvPr id="10" name="Picture 9" descr="a99ea26457b731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889" y="2493437"/>
            <a:ext cx="1094613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02" y="23907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are the mural's dimensions?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Mia, who is 13, enlarges her 9 in by 12 in poster into a mural.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0758"/>
            <a:ext cx="3151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mural's scale is </a:t>
            </a:r>
          </a:p>
        </p:txBody>
      </p:sp>
      <p:pic>
        <p:nvPicPr>
          <p:cNvPr id="10" name="Picture 9" descr="815ebff852359b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889" y="2493437"/>
            <a:ext cx="1094613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02" y="23907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are the mural's dimensions?</a:t>
            </a:r>
          </a:p>
        </p:txBody>
      </p:sp>
      <p:pic>
        <p:nvPicPr>
          <p:cNvPr id="13" name="Picture 12" descr="12be65d33c7344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780" y="3781201"/>
            <a:ext cx="3599688" cy="2499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 ft by 24 ft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Andrew's drawing a wall is 3.5 in wide and 4 in tall; the real wall is 26.25 ft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real height and the real area. Which step uses the scale?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Andrew's drawing a wall is 3.5 in wide and 4 in tall; the real wall is 26.25 ft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real height and the real area. Which step uses the scale?</a:t>
            </a:r>
          </a:p>
        </p:txBody>
      </p:sp>
      <p:pic>
        <p:nvPicPr>
          <p:cNvPr id="10" name="Picture 9" descr="ba794c9b63733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712" y="3994337"/>
            <a:ext cx="6208776" cy="347472"/>
          </a:xfrm>
          <a:prstGeom prst="rect">
            <a:avLst/>
          </a:prstGeom>
        </p:spPr>
      </p:pic>
      <p:pic>
        <p:nvPicPr>
          <p:cNvPr id="11" name="Picture 10" descr="b9e87113330b48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712" y="4563742"/>
            <a:ext cx="2703576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18465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30 ft high; 787.5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 The scale (7.5 ft per in) is the step from 4 in to 30 ft.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5315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53154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10" name="Picture 9" descr="e7b684faf8832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231" y="1517904"/>
            <a:ext cx="959324" cy="448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76556" y="1553154"/>
            <a:ext cx="540974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wall is 6 in long on it. Find the real length.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7522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75224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14" name="Picture 13" descr="42aab0cb6b1598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231" y="2163351"/>
            <a:ext cx="914002" cy="2014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1233" y="2075224"/>
            <a:ext cx="574016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room is 3.2 in long on it. Find the real length.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4315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43158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18" name="Picture 17" descr="42aab0cb6b1598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231" y="2631285"/>
            <a:ext cx="914002" cy="20143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31233" y="2543158"/>
            <a:ext cx="621769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real wall is 22 ft long. Find its length on the plan.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6396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63968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22" name="Picture 21" descr="9ca189c78b28ba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231" y="3029977"/>
            <a:ext cx="979468" cy="4456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96699" y="3063968"/>
            <a:ext cx="660376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room is 2 in by 3.5 in on it. Find the real dimensions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84195"/>
            <a:ext cx="132879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and area.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5212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952129"/>
            <a:ext cx="302122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model boat is built at </a:t>
            </a:r>
          </a:p>
        </p:txBody>
      </p:sp>
      <p:pic>
        <p:nvPicPr>
          <p:cNvPr id="27" name="Picture 26" descr="701ad704adc58a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542" y="4047810"/>
            <a:ext cx="569048" cy="1863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07590" y="3952129"/>
            <a:ext cx="585371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is 15 cm long. Find the real boat's length in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319479"/>
            <a:ext cx="108070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meters.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8741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787414"/>
            <a:ext cx="980063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drawing a wall is 3 in long; the real wall is 16.5 ft. Another wall is 5 in long on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154764"/>
            <a:ext cx="416887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 drawing. How long is it really?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word problems — 84H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scale factor word problems — KCM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Converting Length Across Systems; Currency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convert a length between the customary and metric systems with a ratio from the reference sheet, and convert money with a given rate.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93131"/>
            <a:ext cx="10713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724" y="1463039"/>
            <a:ext cx="1134443" cy="5173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3168" y="1493131"/>
            <a:ext cx="54619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how long is a 10-ft wall on the plan?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58730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771378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3" name="Picture 12" descr="39e03d93cf5508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41" y="2895917"/>
            <a:ext cx="1115456" cy="218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384026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5" name="Picture 14" descr="f2cd49c9de613d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241" y="3487205"/>
            <a:ext cx="1300575" cy="2349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44816" y="3384026"/>
            <a:ext cx="3738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feet is 30 in?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93131"/>
            <a:ext cx="10713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724" y="1463039"/>
            <a:ext cx="1134443" cy="5173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3168" y="1493131"/>
            <a:ext cx="54619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how long is a 10-ft wall on the plan?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6601" y="1440180"/>
            <a:ext cx="997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58730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615930"/>
            <a:ext cx="1009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28578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5" name="Picture 14" descr="39e03d93cf5508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41" y="3353117"/>
            <a:ext cx="1115456" cy="218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57938" y="3228578"/>
            <a:ext cx="385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41226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8" name="Picture 17" descr="f2cd49c9de613d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241" y="3944405"/>
            <a:ext cx="1300575" cy="2349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44816" y="3841226"/>
            <a:ext cx="3738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feet is 30 in?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895" y="3841226"/>
            <a:ext cx="9500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ft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customary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inch–foot–mile–pound–gallon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218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4577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centimeter–meter–kilometer–kilogram–liter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132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conversion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12054"/>
            <a:ext cx="44291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pair of equal measures, such as </a:t>
            </a:r>
          </a:p>
        </p:txBody>
      </p:sp>
      <p:pic>
        <p:nvPicPr>
          <p:cNvPr id="14" name="Picture 13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990" y="3935720"/>
            <a:ext cx="1537493" cy="2043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72484" y="3812054"/>
            <a:ext cx="4530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, written as a fraction that equals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4756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exchange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41151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how much of one currency one unit of another buys — a rate someone sets, printed on the problem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conversion ratio is a form of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7d6f4ebec763b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532" y="2194560"/>
            <a:ext cx="4410456" cy="69799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Which ratio? Estimate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4d1300cfc060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975" y="2194560"/>
            <a:ext cx="4163568" cy="701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3509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Pick the ratio whose 1 is the unit you have. Estimate: which is the bigger unit?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Money is a rate someone sets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ebe123ca6a6e2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583" y="2240661"/>
            <a:ext cx="3578352" cy="289560"/>
          </a:xfrm>
          <a:prstGeom prst="rect">
            <a:avLst/>
          </a:prstGeom>
        </p:spPr>
      </p:pic>
      <p:pic>
        <p:nvPicPr>
          <p:cNvPr id="11" name="Picture 10" descr="1097f78d90eae8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248" y="3045333"/>
            <a:ext cx="7431024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254" y="218293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72246" y="2080260"/>
            <a:ext cx="4799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tablet screen is 15 in across.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c726513f1e9cc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511552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38.1 cm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04" y="168001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6796" y="1577340"/>
            <a:ext cx="40500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monitor is 25 in across.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93fcb734e6361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04" y="168001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6796" y="1577340"/>
            <a:ext cx="40500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monitor is 25 in across.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1" name="Picture 10" descr="338bfed52120ec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811" y="2992166"/>
            <a:ext cx="2325624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63.5 cm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0937" y="2080260"/>
            <a:ext cx="2167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9" name="Picture 8" descr="47c497fa41547b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690" y="2192845"/>
            <a:ext cx="3345751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97441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euros is $80? And how many dollars is 46 euros?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3223ac4dec205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10256" cy="280416"/>
          </a:xfrm>
          <a:prstGeom prst="rect">
            <a:avLst/>
          </a:prstGeom>
        </p:spPr>
      </p:pic>
      <p:pic>
        <p:nvPicPr>
          <p:cNvPr id="9" name="Picture 8" descr="d55869bdcabf04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236220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73.60 euros; $50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098" y="1577340"/>
            <a:ext cx="2167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9" name="Picture 8" descr="cdcc197a46a9db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851" y="1680019"/>
            <a:ext cx="5047107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70958" y="1577340"/>
            <a:ext cx="123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(CAD).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098" y="1577340"/>
            <a:ext cx="2167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9" name="Picture 8" descr="5497a985b9854d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851" y="1680019"/>
            <a:ext cx="5047107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70958" y="1577340"/>
            <a:ext cx="123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(CAD).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  <p:pic>
        <p:nvPicPr>
          <p:cNvPr id="12" name="Picture 11" descr="b61c547caeac9d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9" y="2992166"/>
            <a:ext cx="2368296" cy="256032"/>
          </a:xfrm>
          <a:prstGeom prst="rect">
            <a:avLst/>
          </a:prstGeom>
        </p:spPr>
      </p:pic>
      <p:pic>
        <p:nvPicPr>
          <p:cNvPr id="13" name="Picture 12" descr="8124e5dae99de1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9" y="3531662"/>
            <a:ext cx="205435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162 CAD; $60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9432" y="1851660"/>
            <a:ext cx="3267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ruler is 20 in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93fcb734e6361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9432" y="1851660"/>
            <a:ext cx="3267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ruler is 20 in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1" name="Picture 10" descr="563291572bb5ac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428" y="3242102"/>
            <a:ext cx="237439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50.8 cm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519897831d3769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27657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62097" y="1851660"/>
            <a:ext cx="3686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phone is 20 cm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519897831d3769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27657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62097" y="1851660"/>
            <a:ext cx="3686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phone is 20 cm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pic>
        <p:nvPicPr>
          <p:cNvPr id="11" name="Picture 10" descr="a6122b463c812d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299" y="3242102"/>
            <a:ext cx="213664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7.8 in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17a8a85b0b9a11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0195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31553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race is 5 mi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b3ee9e039b8f1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0195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31553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race is 5 mi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kilometers is that?</a:t>
            </a:r>
          </a:p>
        </p:txBody>
      </p:sp>
      <p:pic>
        <p:nvPicPr>
          <p:cNvPr id="11" name="Picture 10" descr="ed0994c23a493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015" y="3239054"/>
            <a:ext cx="2112264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8.05 km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bf2c9433a2aba0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49005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3445" y="1851660"/>
            <a:ext cx="31804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trail is 5 km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2" name="Picture 11" descr="d576d2edbb6fc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187810"/>
            <a:ext cx="1264920" cy="301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4" name="Picture 13" descr="1bea68e0811b19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187810"/>
            <a:ext cx="1249680" cy="301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6" name="Picture 15" descr="711be185f145e8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00458"/>
            <a:ext cx="12923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8" name="Picture 17" descr="147918762884eff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00458"/>
            <a:ext cx="1024128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d6a54cea2649eb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49005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3445" y="1851660"/>
            <a:ext cx="31804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trail is 5 km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pic>
        <p:nvPicPr>
          <p:cNvPr id="11" name="Picture 10" descr="7848a55870dbf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9" y="3239054"/>
            <a:ext cx="1914144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3.1 mi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493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7670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23c46f257f02bc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09" y="1954339"/>
            <a:ext cx="1844992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20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door is 6 ft tall.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493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7670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93fcb734e6361b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09" y="1954339"/>
            <a:ext cx="1844992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20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door is 6 ft tall.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4" name="Picture 13" descr="cce88695c46a5f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787" y="3753769"/>
            <a:ext cx="1935480" cy="274320"/>
          </a:xfrm>
          <a:prstGeom prst="rect">
            <a:avLst/>
          </a:prstGeom>
        </p:spPr>
      </p:pic>
      <p:pic>
        <p:nvPicPr>
          <p:cNvPr id="15" name="Picture 14" descr="23919ae52bfa69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787" y="4320697"/>
            <a:ext cx="2709672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182.88 cm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85d78c8d2e33f8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4544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3898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0" name="Picture 9" descr="a7e24ba549ecbc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990" y="1953768"/>
            <a:ext cx="1347216" cy="240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27206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88d2b26b87c7a8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212" y="1956815"/>
            <a:ext cx="1847088" cy="24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53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 is 3 yd long.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centimeters is that? Estimate, then compute.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eb837b0c989315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7592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2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0" name="Picture 9" descr="f2542c0ca55f85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038" y="1953768"/>
            <a:ext cx="1347216" cy="240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3025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e3914b43cbb52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260" y="1956815"/>
            <a:ext cx="1844040" cy="24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53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 is 3 yd long.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centimeters is that? Estimate, then compute.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4988" y="3661376"/>
            <a:ext cx="77087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Estimate: 3 yd is a bit under 3 m, so about 270 cm</a:t>
            </a:r>
          </a:p>
        </p:txBody>
      </p:sp>
      <p:pic>
        <p:nvPicPr>
          <p:cNvPr id="17" name="Picture 16" descr="d185211e555287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852" y="4284026"/>
            <a:ext cx="5269992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7357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270; exactly 274.32 cm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64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 on Nov 2: </a:t>
            </a:r>
          </a:p>
        </p:txBody>
      </p:sp>
      <p:pic>
        <p:nvPicPr>
          <p:cNvPr id="9" name="Picture 8" descr="14cf36aaa71634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985" y="1949386"/>
            <a:ext cx="1896999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58984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1" name="Picture 10" descr="e54799be41057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84704"/>
            <a:ext cx="262432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5876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 changes $200 to CAD, then to pesos.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3891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608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64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 on Nov 2: </a:t>
            </a:r>
          </a:p>
        </p:txBody>
      </p:sp>
      <p:pic>
        <p:nvPicPr>
          <p:cNvPr id="9" name="Picture 8" descr="fa316f6c8e8ec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985" y="1949386"/>
            <a:ext cx="1899475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61460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1" name="Picture 10" descr="5f4792e490fd8d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84704"/>
            <a:ext cx="2621280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5572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 changes $200 to CAD, then to pesos.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3891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pic>
        <p:nvPicPr>
          <p:cNvPr id="15" name="Picture 14" descr="773c04bbf5cec4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704" y="4387753"/>
            <a:ext cx="6339840" cy="3169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84552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4,276.80 pesos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d2f86d8905c910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5072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51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Theo, who weighs 110 lb, rides a 12 km trail.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trail in miles?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6e18d58589ed85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5072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51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Theo, who weighs 110 lb, rides a 12 km trail.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trail in miles?</a:t>
            </a:r>
          </a:p>
        </p:txBody>
      </p:sp>
      <p:pic>
        <p:nvPicPr>
          <p:cNvPr id="12" name="Picture 11" descr="5134a9b996441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3778153"/>
            <a:ext cx="2331720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7.44 mi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88d2b26b87c7a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847088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81528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0" name="Picture 9" descr="8f784bf30c768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69464"/>
            <a:ext cx="1831848" cy="243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6628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76956"/>
            <a:ext cx="44962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converts 30 cm to inches: </a:t>
            </a:r>
          </a:p>
        </p:txBody>
      </p:sp>
      <p:pic>
        <p:nvPicPr>
          <p:cNvPr id="13" name="Picture 12" descr="fd521c93e65714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72" y="3179635"/>
            <a:ext cx="2414587" cy="2451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8159" y="307695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124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4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e3914b43cbb52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84404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8480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0" name="Picture 9" descr="6c8af11a611881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69464"/>
            <a:ext cx="1831848" cy="243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6628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76956"/>
            <a:ext cx="44962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converts 30 cm to inches: </a:t>
            </a:r>
          </a:p>
        </p:txBody>
      </p:sp>
      <p:pic>
        <p:nvPicPr>
          <p:cNvPr id="13" name="Picture 12" descr="4ece4610ab63a2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72" y="3179635"/>
            <a:ext cx="2417064" cy="2451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10636" y="307695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124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pic>
        <p:nvPicPr>
          <p:cNvPr id="16" name="Picture 15" descr="609db8417a3b42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051" y="4467398"/>
            <a:ext cx="2298192" cy="252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919074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used the inches ratio on centimeters. Inches are bigger, so fewer: 11.7 in.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8d2b26b87c7a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601723"/>
            <a:ext cx="1847088" cy="243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0" y="1495044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2" name="Picture 11" descr="8f784bf30c768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96083"/>
            <a:ext cx="1831848" cy="24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59480" y="2089403"/>
            <a:ext cx="42718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inches is 40 cm?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5" name="Picture 14" descr="673c0080fbe231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90443"/>
            <a:ext cx="1901952" cy="243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29584" y="2683763"/>
            <a:ext cx="4745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kilometers is 10 mi?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8" name="Picture 17" descr="d2f86d8905c910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84803"/>
            <a:ext cx="1950720" cy="243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78352" y="3278123"/>
            <a:ext cx="3925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miles is 8 km?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21" name="Picture 20" descr="85d78c8d2e33f8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3948684"/>
            <a:ext cx="1304544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32176" y="3872483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3" name="Picture 22" descr="a7e24ba549ecbc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6238" y="3980688"/>
            <a:ext cx="1347216" cy="2407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13454" y="3872483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5" name="Picture 24" descr="88d2b26b87c7a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16" y="3979164"/>
            <a:ext cx="1847088" cy="243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94604" y="3872483"/>
            <a:ext cx="48643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2 yd?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31139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Estimate first.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0575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905755"/>
            <a:ext cx="2086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30" name="Picture 29" descr="9090d8e8f0989a7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3603" y="5017008"/>
            <a:ext cx="3346704" cy="2346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50307" y="4905755"/>
            <a:ext cx="46100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euros is $50? How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44667"/>
            <a:ext cx="37730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many dollars is 23 euros?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customary and metric systems — E8Z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customary units — 4B8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metric units — HW2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8–9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Converting Mass, Area and Volume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convert mass, volume and area between systems, and square the length ratio for area.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48106"/>
            <a:ext cx="1768117" cy="2349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77039" y="1440180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2" name="Picture 11" descr="4f88773a30225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36" y="2129901"/>
            <a:ext cx="740473" cy="265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9460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4" name="Picture 13" descr="8058f93241672f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384" y="2170247"/>
            <a:ext cx="579088" cy="225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347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7" name="Picture 16" descr="c261042202a19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661" y="2792388"/>
            <a:ext cx="994417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74519" y="3278124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9" name="Picture 18" descr="419008846420ef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241" y="3381303"/>
            <a:ext cx="1286335" cy="234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30576" y="3278124"/>
            <a:ext cx="6844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A 1-ft square has what area in square inches?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48106"/>
            <a:ext cx="1768117" cy="2349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77039" y="1440180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9870" y="1440180"/>
            <a:ext cx="15592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30.48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3" name="Picture 12" descr="4f88773a30225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36" y="2129901"/>
            <a:ext cx="740473" cy="2658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9460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5" name="Picture 14" descr="8058f93241672f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384" y="2170247"/>
            <a:ext cx="579088" cy="225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6347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510028"/>
            <a:ext cx="11989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63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1226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9" name="Picture 18" descr="c261042202a19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661" y="3249588"/>
            <a:ext cx="994417" cy="2159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55719" y="3122676"/>
            <a:ext cx="7444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735324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22" name="Picture 21" descr="419008846420ef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241" y="3838503"/>
            <a:ext cx="1286335" cy="23495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30576" y="3735324"/>
            <a:ext cx="6844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A 1-ft square has what area in square inches?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192524"/>
            <a:ext cx="1246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144 in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mass and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0848"/>
            <a:ext cx="10241280" cy="3220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pounds and kilograms — one word on this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8062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ounce (oz)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15569"/>
            <a:ext cx="1291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weight: </a:t>
            </a:r>
          </a:p>
        </p:txBody>
      </p:sp>
      <p:pic>
        <p:nvPicPr>
          <p:cNvPr id="12" name="Picture 11" descr="74807a5fc79ce2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13" y="2857158"/>
            <a:ext cx="1092136" cy="176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9749" y="2715569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4" name="Picture 13" descr="f9a4b27b199226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792" y="2864587"/>
            <a:ext cx="1361455" cy="2210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351077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fluid ounce (fl oz)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86025"/>
            <a:ext cx="13502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volume: </a:t>
            </a:r>
          </a:p>
        </p:txBody>
      </p:sp>
      <p:pic>
        <p:nvPicPr>
          <p:cNvPr id="17" name="Picture 16" descr="ae0de4c5e07765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112" y="3827615"/>
            <a:ext cx="1116282" cy="176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72394" y="3686025"/>
            <a:ext cx="3976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not the same unit as the ounce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21533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square units</a:t>
            </a:r>
          </a:p>
        </p:txBody>
      </p:sp>
      <p:pic>
        <p:nvPicPr>
          <p:cNvPr id="20" name="Picture 19" descr="6bd260b1d893cf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785070"/>
            <a:ext cx="243316" cy="1857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86316" y="4656482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b894db2784ec4b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358" y="4788784"/>
            <a:ext cx="403050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88409" y="4656482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4" name="Picture 23" descr="9bb1e36bc0b83f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7451" y="4786927"/>
            <a:ext cx="271176" cy="183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458628" y="4656482"/>
            <a:ext cx="47360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an area; the length ratio is used twice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9199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cubic units</a:t>
            </a:r>
          </a:p>
        </p:txBody>
      </p:sp>
      <p:pic>
        <p:nvPicPr>
          <p:cNvPr id="27" name="Picture 26" descr="e179aa5248dda23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5757384"/>
            <a:ext cx="243316" cy="183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86316" y="5626939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9" name="Picture 28" descr="7280d534979a852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5358" y="5759241"/>
            <a:ext cx="260032" cy="18202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45391" y="5626939"/>
            <a:ext cx="5560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a volume; the length ratio is used three times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Mass and volume convert like length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2daf8da0d1e3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464" y="2231136"/>
            <a:ext cx="8546592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Area: the length ratio is used twice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8b3f50c43905f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1993392"/>
            <a:ext cx="2194560" cy="2298185"/>
          </a:xfrm>
          <a:prstGeom prst="rect">
            <a:avLst/>
          </a:prstGeom>
        </p:spPr>
      </p:pic>
      <p:pic>
        <p:nvPicPr>
          <p:cNvPr id="11" name="Picture 10" descr="974c14d3ea300a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208" y="4437881"/>
            <a:ext cx="7309104" cy="341376"/>
          </a:xfrm>
          <a:prstGeom prst="rect">
            <a:avLst/>
          </a:prstGeom>
        </p:spPr>
      </p:pic>
      <p:pic>
        <p:nvPicPr>
          <p:cNvPr id="12" name="Picture 11" descr="e1f2231684ab9c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5123681"/>
            <a:ext cx="7315200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Fluid ounces go through cups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f33f2f218af8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2240661"/>
            <a:ext cx="7114032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4553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Length: the ratio once. Area: twice. Volume: three times.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889ac44668791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260" y="219284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04936" y="2080260"/>
            <a:ext cx="387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suitcase weighs 70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3192ce45c55d31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29712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31.78 kg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889ac44668791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41" y="168992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7618" y="1577340"/>
            <a:ext cx="34271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crate weighs 90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c5f90b4ff337bc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41" y="168992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7618" y="1577340"/>
            <a:ext cx="34271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crate weighs 90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  <p:pic>
        <p:nvPicPr>
          <p:cNvPr id="11" name="Picture 10" descr="ac569d9db41729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79" y="2992166"/>
            <a:ext cx="283768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40.86 kg (about 40.9)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668" y="21779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34931" y="2080260"/>
            <a:ext cx="15282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tile is </a:t>
            </a:r>
          </a:p>
        </p:txBody>
      </p:sp>
      <p:pic>
        <p:nvPicPr>
          <p:cNvPr id="10" name="Picture 9" descr="040327706b658f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989" y="2148268"/>
            <a:ext cx="574548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0537" y="208026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square inches is that?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6d56c7d6c8476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76600" cy="341376"/>
          </a:xfrm>
          <a:prstGeom prst="rect">
            <a:avLst/>
          </a:prstGeom>
        </p:spPr>
      </p:pic>
      <p:pic>
        <p:nvPicPr>
          <p:cNvPr id="9" name="Picture 8" descr="0454483ebb13af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20675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720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df721e6687ccc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678" y="1689925"/>
            <a:ext cx="1302639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4317" y="1577340"/>
            <a:ext cx="185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patio is </a:t>
            </a:r>
          </a:p>
        </p:txBody>
      </p:sp>
      <p:pic>
        <p:nvPicPr>
          <p:cNvPr id="10" name="Picture 9" descr="f6484183bcbd0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95" y="1647825"/>
            <a:ext cx="713232" cy="346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1527" y="157734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155f3c6fd32ecb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678" y="1689925"/>
            <a:ext cx="1302639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4317" y="1577340"/>
            <a:ext cx="185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patio is </a:t>
            </a:r>
          </a:p>
        </p:txBody>
      </p:sp>
      <p:pic>
        <p:nvPicPr>
          <p:cNvPr id="10" name="Picture 9" descr="3c99dfaaa214ad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95" y="1647825"/>
            <a:ext cx="713232" cy="346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1527" y="157734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pic>
        <p:nvPicPr>
          <p:cNvPr id="13" name="Picture 12" descr="6a1d74e97a46e5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87" y="2938255"/>
            <a:ext cx="836961" cy="309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45149" y="2875390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</a:t>
            </a:r>
            <a:r>
              <a:rPr sz="275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750" b="0" i="0">
                <a:solidFill>
                  <a:srgbClr val="1A1A1A"/>
                </a:solidFill>
                <a:latin typeface="Lexend"/>
              </a:rPr>
              <a:t> in a square yard</a:t>
            </a:r>
          </a:p>
        </p:txBody>
      </p:sp>
      <p:pic>
        <p:nvPicPr>
          <p:cNvPr id="15" name="Picture 14" descr="33061e30c29e67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187" y="3531662"/>
            <a:ext cx="140208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45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3864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8304" y="1851660"/>
            <a:ext cx="35493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bag of rice is 10 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pounds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fd933339219d3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3864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8304" y="1851660"/>
            <a:ext cx="35493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bag of rice is 10 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pounds is that?</a:t>
            </a:r>
          </a:p>
        </p:txBody>
      </p:sp>
      <p:pic>
        <p:nvPicPr>
          <p:cNvPr id="11" name="Picture 10" descr="6312203239575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927" y="3242102"/>
            <a:ext cx="275539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22.04 lb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3b403895e0674b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3414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8586" y="1851660"/>
            <a:ext cx="336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cooler holds 4 gal.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10760bc6c5882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3414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8586" y="1851660"/>
            <a:ext cx="336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cooler holds 4 gal.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pic>
        <p:nvPicPr>
          <p:cNvPr id="11" name="Picture 10" descr="94f8980594becd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9" y="3242102"/>
            <a:ext cx="2520696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15.14 L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9d26edaed8467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6341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781" y="1851660"/>
            <a:ext cx="2972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tank holds 10 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590217cf62aa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6341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781" y="1851660"/>
            <a:ext cx="2972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tank holds 10 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that?</a:t>
            </a:r>
          </a:p>
        </p:txBody>
      </p:sp>
      <p:pic>
        <p:nvPicPr>
          <p:cNvPr id="11" name="Picture 10" descr="ba6a3ea2bb8d7c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59" y="3239054"/>
            <a:ext cx="254812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2.64 gal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85d78c8d2e33f8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4544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3898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293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patch of lawn is </a:t>
            </a:r>
          </a:p>
        </p:txBody>
      </p:sp>
      <p:pic>
        <p:nvPicPr>
          <p:cNvPr id="11" name="Picture 10" descr="6a387a3e299107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426" y="2534793"/>
            <a:ext cx="700849" cy="346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4275" y="2464308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5" name="Picture 14" descr="1faa871627427b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76074"/>
            <a:ext cx="920495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7" name="Picture 16" descr="fa7c6ba97e7789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76074"/>
            <a:ext cx="932688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9" name="Picture 18" descr="9327eaee863255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4388722"/>
            <a:ext cx="752856" cy="34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59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1" name="Picture 20" descr="e03f104e5972ce9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4388722"/>
            <a:ext cx="749808" cy="34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51202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b837b0c989315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7592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203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293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patch of lawn is </a:t>
            </a:r>
          </a:p>
        </p:txBody>
      </p:sp>
      <p:pic>
        <p:nvPicPr>
          <p:cNvPr id="11" name="Picture 10" descr="6287286a7d407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426" y="2534793"/>
            <a:ext cx="703326" cy="346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6752" y="2464308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pic>
        <p:nvPicPr>
          <p:cNvPr id="14" name="Picture 13" descr="6a1d74e97a46e5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87" y="3797791"/>
            <a:ext cx="836961" cy="3093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5149" y="3734926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</a:t>
            </a:r>
            <a:r>
              <a:rPr sz="275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750" b="0" i="0">
                <a:solidFill>
                  <a:srgbClr val="1A1A1A"/>
                </a:solidFill>
                <a:latin typeface="Lexend"/>
              </a:rPr>
              <a:t> in a square yard</a:t>
            </a:r>
          </a:p>
        </p:txBody>
      </p:sp>
      <p:pic>
        <p:nvPicPr>
          <p:cNvPr id="16" name="Picture 15" descr="33de29ff29e259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187" y="4394246"/>
            <a:ext cx="1353312" cy="2499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18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ae0de4c5e07765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488376" cy="235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281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ed1791ada6c756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23" y="1974151"/>
            <a:ext cx="1480947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02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bottle holds 16 fl oz.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747b584da7b83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488376" cy="235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281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97621f8b70045f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23" y="1974151"/>
            <a:ext cx="1480947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02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bottle holds 16 fl oz.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pic>
        <p:nvPicPr>
          <p:cNvPr id="14" name="Picture 13" descr="83c4edb2bd6b77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3" y="3778153"/>
            <a:ext cx="1676400" cy="256032"/>
          </a:xfrm>
          <a:prstGeom prst="rect">
            <a:avLst/>
          </a:prstGeom>
        </p:spPr>
      </p:pic>
      <p:pic>
        <p:nvPicPr>
          <p:cNvPr id="15" name="Picture 14" descr="f589dab710055d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3" y="4320697"/>
            <a:ext cx="219456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0.48 L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fb110fe836d86e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5103"/>
            <a:ext cx="1783080" cy="225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54132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centimeters is </a:t>
            </a:r>
          </a:p>
        </p:txBody>
      </p:sp>
      <p:pic>
        <p:nvPicPr>
          <p:cNvPr id="11" name="Picture 10" descr="ff228dc4c8df4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6" y="2532316"/>
            <a:ext cx="581977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92503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918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14ef69fc1ef0ed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282696"/>
            <a:ext cx="947928" cy="3444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32918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6c5a704f658703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285744"/>
            <a:ext cx="646176" cy="277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39044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e79298326e3b3d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895344"/>
            <a:ext cx="1182624" cy="3444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9044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b951781f601057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898392"/>
            <a:ext cx="612648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5811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b9580ee1a813cb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5103"/>
            <a:ext cx="1783080" cy="225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54132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centimeters is </a:t>
            </a:r>
          </a:p>
        </p:txBody>
      </p:sp>
      <p:pic>
        <p:nvPicPr>
          <p:cNvPr id="11" name="Picture 10" descr="dc0942f76508db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6" y="2532316"/>
            <a:ext cx="581977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92503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90afc689567248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3312604"/>
            <a:ext cx="2898648" cy="3139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10,000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d7de33d50f52ca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6596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5-lb bag of flour and a 2.5-kg bag of sugar.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is heavier, and by how much?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e707e309a93366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6596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5-lb bag of flour and a 2.5-kg bag of sugar.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is heavier, and by how much?</a:t>
            </a:r>
          </a:p>
        </p:txBody>
      </p:sp>
      <p:pic>
        <p:nvPicPr>
          <p:cNvPr id="12" name="Picture 11" descr="1da7a0dd2289d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387" y="3769009"/>
            <a:ext cx="3014472" cy="265176"/>
          </a:xfrm>
          <a:prstGeom prst="rect">
            <a:avLst/>
          </a:prstGeom>
        </p:spPr>
      </p:pic>
      <p:pic>
        <p:nvPicPr>
          <p:cNvPr id="13" name="Picture 12" descr="d2ea0731c01267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387" y="4320697"/>
            <a:ext cx="214579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sugar, by 0.51 lb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0d647df019511e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3548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99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7433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20-gal fish tank, bought for $45, is being filled.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does it hold?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118ca277248594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3548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99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7433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20-gal fish tank, bought for $45, is being filled.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does it hold?</a:t>
            </a:r>
          </a:p>
        </p:txBody>
      </p:sp>
      <p:pic>
        <p:nvPicPr>
          <p:cNvPr id="12" name="Picture 11" descr="fd66d022f8b749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3" y="3854750"/>
            <a:ext cx="2517648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75.7 L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a7e24ba549ecbc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3768"/>
            <a:ext cx="1347216" cy="240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165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1815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</a:t>
            </a:r>
          </a:p>
        </p:txBody>
      </p:sp>
      <p:pic>
        <p:nvPicPr>
          <p:cNvPr id="11" name="Picture 10" descr="8f2e55c8bb5bdd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48" y="2532316"/>
            <a:ext cx="559689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2237" y="2464308"/>
            <a:ext cx="614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3" name="Picture 12" descr="fb5b0e70f63b0e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589" y="2534793"/>
            <a:ext cx="785050" cy="2724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4639" y="2464308"/>
            <a:ext cx="1705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because </a:t>
            </a:r>
          </a:p>
        </p:txBody>
      </p:sp>
      <p:pic>
        <p:nvPicPr>
          <p:cNvPr id="15" name="Picture 14" descr="941bdd639930e1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794" y="2584323"/>
            <a:ext cx="1399222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02016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f2542c0ca55f85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3768"/>
            <a:ext cx="1347216" cy="240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165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1815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</a:t>
            </a:r>
          </a:p>
        </p:txBody>
      </p:sp>
      <p:pic>
        <p:nvPicPr>
          <p:cNvPr id="11" name="Picture 10" descr="7b97a516d29415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48" y="2532316"/>
            <a:ext cx="562165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14" y="2464308"/>
            <a:ext cx="614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3" name="Picture 12" descr="f7559e20e57a5d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065" y="2534793"/>
            <a:ext cx="787527" cy="2724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9592" y="2464308"/>
            <a:ext cx="1705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because </a:t>
            </a:r>
          </a:p>
        </p:txBody>
      </p:sp>
      <p:pic>
        <p:nvPicPr>
          <p:cNvPr id="15" name="Picture 14" descr="cf3a2a0005dd5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47" y="2584323"/>
            <a:ext cx="1404175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11922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pic>
        <p:nvPicPr>
          <p:cNvPr id="18" name="Picture 17" descr="a3ccc6ff8a3d38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939" y="3799886"/>
            <a:ext cx="4849368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used the ratio once. A cubic foot is 12 × 12 × 12 = 1,728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so 2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3,456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6539a90126a0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71244"/>
            <a:ext cx="1987296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4928" y="1495044"/>
            <a:ext cx="457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kilograms is 30 lb?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2" name="Picture 11" descr="d7de33d50f52ca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65604"/>
            <a:ext cx="196596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93592" y="2089403"/>
            <a:ext cx="43074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25 kg?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5" name="Picture 14" descr="0d647df019511e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59963"/>
            <a:ext cx="193548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63112" y="2683763"/>
            <a:ext cx="3893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liters is 6 gal?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8" name="Picture 17" descr="a7e24ba549ecbc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86327"/>
            <a:ext cx="1347216" cy="2407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74848" y="3278123"/>
            <a:ext cx="43070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square inches is </a:t>
            </a:r>
          </a:p>
        </p:txBody>
      </p:sp>
      <p:pic>
        <p:nvPicPr>
          <p:cNvPr id="20" name="Picture 19" descr="fd3f0498ea874b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744" y="3369563"/>
            <a:ext cx="573024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7768" y="3278123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23" name="Picture 22" descr="53fb1d19ce3600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3983736"/>
            <a:ext cx="1493520" cy="2346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21152" y="387248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5" name="Picture 24" descr="aae6846e2fca6d9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6735" y="3988307"/>
            <a:ext cx="1484376" cy="2255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91111" y="3872483"/>
            <a:ext cx="42090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liters is 24 fl oz?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8" name="Picture 27" descr="c79700df5a23d6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632" y="4578096"/>
            <a:ext cx="1828800" cy="2346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456432" y="4466844"/>
            <a:ext cx="4391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square meters is </a:t>
            </a:r>
          </a:p>
        </p:txBody>
      </p:sp>
      <p:pic>
        <p:nvPicPr>
          <p:cNvPr id="30" name="Picture 29" descr="aa3a1dcc642825f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0505" y="4556760"/>
            <a:ext cx="758952" cy="2773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69457" y="4466844"/>
            <a:ext cx="2533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 (Round to two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905756"/>
            <a:ext cx="1298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places.)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customary and metric systems — E8Z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customary units — 4B8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metric units — HW2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10–11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Multi-Step Proportion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solve a problem that takes two or more proportional steps, including a unit conversion, and compare two rates given in different units.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57599"/>
            <a:ext cx="1882036" cy="291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0958" y="1440180"/>
            <a:ext cx="41615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4 kg?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10855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At </a:t>
            </a:r>
          </a:p>
        </p:txBody>
      </p:sp>
      <p:pic>
        <p:nvPicPr>
          <p:cNvPr id="12" name="Picture 11" descr="90f92a5da9ad45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62" y="2170247"/>
            <a:ext cx="1613852" cy="225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6714" y="2052828"/>
            <a:ext cx="527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3 cm on the map is how many km?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260e68e7601118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92388"/>
            <a:ext cx="1473827" cy="2159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9166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180 miles in 3 hours. Its speed in miles per hour?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57599"/>
            <a:ext cx="1882036" cy="291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0958" y="1440180"/>
            <a:ext cx="41615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4 kg?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3971" y="1440180"/>
            <a:ext cx="1350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8.816 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52828"/>
            <a:ext cx="10855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At </a:t>
            </a:r>
          </a:p>
        </p:txBody>
      </p:sp>
      <p:pic>
        <p:nvPicPr>
          <p:cNvPr id="13" name="Picture 12" descr="90f92a5da9ad45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62" y="2170247"/>
            <a:ext cx="1613852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6714" y="2052828"/>
            <a:ext cx="527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3 cm on the map is how many km?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9014" y="2052828"/>
            <a:ext cx="1310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150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260e68e7601118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92388"/>
            <a:ext cx="1473827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0178" y="2665476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78124"/>
            <a:ext cx="9166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180 miles in 3 hours. Its speed in miles per hour?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735324"/>
            <a:ext cx="28407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60 miles per hour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unit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how much of one quantity per 1 of the other — 23 miles per 1 gallon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proportional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quantities whose ratio stays the same: double one, the other doubles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for each 1 — the word that marks a unit rate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One unit rate, used twice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779836f7ad35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" y="2221992"/>
            <a:ext cx="1010716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Compare rates in one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1182504396a8a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44" y="2225421"/>
            <a:ext cx="688543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4553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Same unit first. Then compare.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Scale a recipe, then check the pantry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50a1b78c883b6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392" y="2194560"/>
            <a:ext cx="6650736" cy="673608"/>
          </a:xfrm>
          <a:prstGeom prst="rect">
            <a:avLst/>
          </a:prstGeom>
        </p:spPr>
      </p:pic>
      <p:pic>
        <p:nvPicPr>
          <p:cNvPr id="11" name="Picture 10" descr="f2b684c3a3f3c2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39" y="3276600"/>
            <a:ext cx="10073640" cy="387096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17a8a85b0b9a11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834" y="1771269"/>
            <a:ext cx="2340864" cy="301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6698" y="17145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5 mi in 40 min; runner B does 9 km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08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785da30ee960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949696" cy="670560"/>
          </a:xfrm>
          <a:prstGeom prst="rect">
            <a:avLst/>
          </a:prstGeom>
        </p:spPr>
      </p:pic>
      <p:pic>
        <p:nvPicPr>
          <p:cNvPr id="9" name="Picture 8" descr="4fc8bab69cb80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5120"/>
            <a:ext cx="2874264" cy="670560"/>
          </a:xfrm>
          <a:prstGeom prst="rect">
            <a:avLst/>
          </a:prstGeom>
        </p:spPr>
      </p:pic>
      <p:pic>
        <p:nvPicPr>
          <p:cNvPr id="10" name="Picture 9" descr="3c725b51699ea0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0000"/>
            <a:ext cx="1615440" cy="667512"/>
          </a:xfrm>
          <a:prstGeom prst="rect">
            <a:avLst/>
          </a:prstGeom>
        </p:spPr>
      </p:pic>
      <p:pic>
        <p:nvPicPr>
          <p:cNvPr id="11" name="Picture 10" descr="8081506ef4a1ab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751832"/>
            <a:ext cx="185928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≈ 12.08 km/h, B = 12 km/h: A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55c3fc7a368775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702" y="1600200"/>
            <a:ext cx="2929128" cy="37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70830" y="15773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4 mi in 30 min; runner B does 7 km in 35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08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f6c1428a8fe5fa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226" y="1600200"/>
            <a:ext cx="2926080" cy="37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9306" y="15773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4 mi in 30 min; runner B does 7 km in 35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08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  <p:pic>
        <p:nvPicPr>
          <p:cNvPr id="12" name="Picture 11" descr="7b8f562dd79bcb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772" y="3483068"/>
            <a:ext cx="5251704" cy="606552"/>
          </a:xfrm>
          <a:prstGeom prst="rect">
            <a:avLst/>
          </a:prstGeom>
        </p:spPr>
      </p:pic>
      <p:pic>
        <p:nvPicPr>
          <p:cNvPr id="13" name="Picture 12" descr="fb86ceff55f1ba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772" y="4217636"/>
            <a:ext cx="1603248" cy="603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583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= 12.88 km/h, B = 12 km/h: A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0604" y="2145696"/>
            <a:ext cx="43777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8 servings uses </a:t>
            </a:r>
          </a:p>
        </p:txBody>
      </p:sp>
      <p:pic>
        <p:nvPicPr>
          <p:cNvPr id="9" name="Picture 8" descr="cfbc1da7a07fba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89" y="2103120"/>
            <a:ext cx="331851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93040" y="2145696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2673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much rice for 20 servings? With 5 cups on hand, how many servings can be made?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2907b0d85da38e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70120" cy="673608"/>
          </a:xfrm>
          <a:prstGeom prst="rect">
            <a:avLst/>
          </a:prstGeom>
        </p:spPr>
      </p:pic>
      <p:pic>
        <p:nvPicPr>
          <p:cNvPr id="9" name="Picture 8" descr="1b4354005a94a6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3852671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6¼ cups; 16 servings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7597" y="1642776"/>
            <a:ext cx="4371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6 servings uses </a:t>
            </a:r>
          </a:p>
        </p:txBody>
      </p:sp>
      <p:pic>
        <p:nvPicPr>
          <p:cNvPr id="9" name="Picture 8" descr="b8f565bf2384f7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438" y="1600200"/>
            <a:ext cx="304609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6047" y="1642776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687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rice for 12 servings?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2773" y="2998548"/>
            <a:ext cx="9877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With </a:t>
            </a:r>
          </a:p>
        </p:txBody>
      </p:sp>
      <p:pic>
        <p:nvPicPr>
          <p:cNvPr id="13" name="Picture 12" descr="d0dda701f68944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350" y="2955971"/>
            <a:ext cx="361569" cy="5423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14919" y="2998548"/>
            <a:ext cx="5480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on hand, how many servings?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0073" y="1644015"/>
            <a:ext cx="4371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6 servings uses </a:t>
            </a:r>
          </a:p>
        </p:txBody>
      </p:sp>
      <p:pic>
        <p:nvPicPr>
          <p:cNvPr id="9" name="Picture 8" descr="a256e78171c67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14" y="1600200"/>
            <a:ext cx="299656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3571" y="1644015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934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rice for 12 servings?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5249" y="3002263"/>
            <a:ext cx="9877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With </a:t>
            </a:r>
          </a:p>
        </p:txBody>
      </p:sp>
      <p:pic>
        <p:nvPicPr>
          <p:cNvPr id="13" name="Picture 12" descr="e79d51c9125476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826" y="2958448"/>
            <a:ext cx="356616" cy="544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12442" y="3002263"/>
            <a:ext cx="5480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on hand, how many servings?</a:t>
            </a:r>
          </a:p>
        </p:txBody>
      </p:sp>
      <p:pic>
        <p:nvPicPr>
          <p:cNvPr id="15" name="Picture 14" descr="9d4724fac4a280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3850750"/>
            <a:ext cx="3474720" cy="606552"/>
          </a:xfrm>
          <a:prstGeom prst="rect">
            <a:avLst/>
          </a:prstGeom>
        </p:spPr>
      </p:pic>
      <p:pic>
        <p:nvPicPr>
          <p:cNvPr id="16" name="Picture 15" descr="13f1547c75366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4585318"/>
            <a:ext cx="3712463" cy="606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2903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cups; 18 servings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28 miles per gallon. Its tank holds 15 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does it go on a full tank?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28 miles per gallon. Its tank holds 15 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does it go on a full tank?</a:t>
            </a:r>
          </a:p>
        </p:txBody>
      </p:sp>
      <p:pic>
        <p:nvPicPr>
          <p:cNvPr id="10" name="Picture 9" descr="198d9d3f25b719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23" y="3168553"/>
            <a:ext cx="1981199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420 mi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prints 35 pages per minute. A job is 1,400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does the job take?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prints 35 pages per minute. A job is 1,400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does the job take?</a:t>
            </a:r>
          </a:p>
        </p:txBody>
      </p:sp>
      <p:pic>
        <p:nvPicPr>
          <p:cNvPr id="10" name="Picture 9" descr="a8e292b8cde33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667" y="3165505"/>
            <a:ext cx="2343912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40 min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earns $14.50 per hour at a shop 2 mi from home, 6 h a day for 5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does she earn?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earns $14.50 per hour at a shop 2 mi from home, 6 h a day for 5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does she earn?</a:t>
            </a:r>
          </a:p>
        </p:txBody>
      </p:sp>
      <p:pic>
        <p:nvPicPr>
          <p:cNvPr id="10" name="Picture 9" descr="7c445bb00f162a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435" y="3594875"/>
            <a:ext cx="4532376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$435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30 miles per gallon with a 12-gal tank. It makes a 900-mi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tanks of gas does the trip use? (Part of a tank counts as a whole tank.)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00348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72df7627a7a480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994337"/>
            <a:ext cx="18288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400348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63a373b7e630cf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997385"/>
            <a:ext cx="384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61612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b6172e6484e94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606985"/>
            <a:ext cx="390144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61612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899d09e1fb7976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613081"/>
            <a:ext cx="185928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29278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30 miles per gallon with a 12-gal tank. It makes a 900-mi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tanks of gas does the trip use? (Part of a tank counts as a whole tank.)</a:t>
            </a:r>
          </a:p>
        </p:txBody>
      </p:sp>
      <p:pic>
        <p:nvPicPr>
          <p:cNvPr id="10" name="Picture 9" descr="065daa35c97d27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039" y="3994337"/>
            <a:ext cx="4014215" cy="347472"/>
          </a:xfrm>
          <a:prstGeom prst="rect">
            <a:avLst/>
          </a:prstGeom>
        </p:spPr>
      </p:pic>
      <p:pic>
        <p:nvPicPr>
          <p:cNvPr id="11" name="Picture 10" descr="e083f958e2482f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39" y="4554598"/>
            <a:ext cx="3986784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1846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3 tanks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cereal has 12 g of protein per 100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grams of protein in 1 kg?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cereal has 12 g of protein per 100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grams of protein in 1 kg?</a:t>
            </a:r>
          </a:p>
        </p:txBody>
      </p:sp>
      <p:pic>
        <p:nvPicPr>
          <p:cNvPr id="10" name="Picture 9" descr="89d5d50ac7447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3165505"/>
            <a:ext cx="5114544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120 g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673c0080fbe23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Cyclist A rides 12 km in 50 min; cyclist B rides 7 mi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Who is faster?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025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Tie: 12 and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025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A: 12 &gt;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3883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B: 15.0 &gt; 14.4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883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A: 14.4 &gt; 11.27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16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e62e96f3d6ecb8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Cyclist A rides 12 km in 50 min; cyclist B rides 7 mi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Who is faster?</a:t>
            </a:r>
          </a:p>
        </p:txBody>
      </p:sp>
      <p:pic>
        <p:nvPicPr>
          <p:cNvPr id="12" name="Picture 11" descr="506f303710cd3d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011" y="3684236"/>
            <a:ext cx="6062472" cy="606552"/>
          </a:xfrm>
          <a:prstGeom prst="rect">
            <a:avLst/>
          </a:prstGeom>
        </p:spPr>
      </p:pic>
      <p:pic>
        <p:nvPicPr>
          <p:cNvPr id="13" name="Picture 12" descr="c13e1045802678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011" y="4418804"/>
            <a:ext cx="7510272" cy="603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594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cyclist B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3224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Paint is mixed white : blue : grey = </a:t>
            </a:r>
          </a:p>
        </p:txBody>
      </p:sp>
      <p:pic>
        <p:nvPicPr>
          <p:cNvPr id="9" name="Picture 8" descr="51d1cdc51197b0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04" y="1974151"/>
            <a:ext cx="884110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0381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batch uses 8 gal of 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the whole batch?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3224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Paint is mixed white : blue : grey = </a:t>
            </a:r>
          </a:p>
        </p:txBody>
      </p:sp>
      <p:pic>
        <p:nvPicPr>
          <p:cNvPr id="9" name="Picture 8" descr="4d1f2e7bdd7bf8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04" y="1974151"/>
            <a:ext cx="889063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0876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batch uses 8 gal of 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the whole batch?</a:t>
            </a:r>
          </a:p>
        </p:txBody>
      </p:sp>
      <p:pic>
        <p:nvPicPr>
          <p:cNvPr id="13" name="Picture 12" descr="d59191ca87bf0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367" y="3684236"/>
            <a:ext cx="4861560" cy="609600"/>
          </a:xfrm>
          <a:prstGeom prst="rect">
            <a:avLst/>
          </a:prstGeom>
        </p:spPr>
      </p:pic>
      <p:pic>
        <p:nvPicPr>
          <p:cNvPr id="14" name="Picture 13" descr="60ebe7948d8a20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367" y="4515769"/>
            <a:ext cx="1581912" cy="2499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7049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44 gal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2e89f08f98793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4480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 a room is 2 in by 2.5 in on it.</a:t>
            </a:r>
          </a:p>
        </p:txBody>
      </p:sp>
      <p:pic>
        <p:nvPicPr>
          <p:cNvPr id="11" name="Picture 10" descr="c79700df5a23d6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78608"/>
            <a:ext cx="1828800" cy="234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6324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room's area in square 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123cd4c222dc2b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4480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 a room is 2 in by 2.5 in on it.</a:t>
            </a:r>
          </a:p>
        </p:txBody>
      </p:sp>
      <p:pic>
        <p:nvPicPr>
          <p:cNvPr id="11" name="Picture 10" descr="c76c66710128e6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78608"/>
            <a:ext cx="1828800" cy="234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6324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room's area in square meters.</a:t>
            </a:r>
          </a:p>
        </p:txBody>
      </p:sp>
      <p:pic>
        <p:nvPicPr>
          <p:cNvPr id="14" name="Picture 13" descr="edc42479e43efb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527" y="3839510"/>
            <a:ext cx="4294632" cy="268224"/>
          </a:xfrm>
          <a:prstGeom prst="rect">
            <a:avLst/>
          </a:prstGeom>
        </p:spPr>
      </p:pic>
      <p:pic>
        <p:nvPicPr>
          <p:cNvPr id="15" name="Picture 14" descr="8d1545a1affce0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527" y="4394246"/>
            <a:ext cx="916228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7.44 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673c0080fbe23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28216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6230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300-km drive.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976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Car A averages 50 mi/h; car B averages 75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67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car gets there first, and by how long?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e62e96f3d6ecb8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28216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6230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300-km drive.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976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Car A averages 50 mi/h; car B averages 75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67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car gets there first, and by how long? Explain.</a:t>
            </a:r>
          </a:p>
        </p:txBody>
      </p:sp>
      <p:pic>
        <p:nvPicPr>
          <p:cNvPr id="13" name="Picture 12" descr="6fd1d65a65982d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172" y="4079507"/>
            <a:ext cx="3340608" cy="307848"/>
          </a:xfrm>
          <a:prstGeom prst="rect">
            <a:avLst/>
          </a:prstGeom>
        </p:spPr>
      </p:pic>
      <p:pic>
        <p:nvPicPr>
          <p:cNvPr id="14" name="Picture 13" descr="6a117b4420daa3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172" y="4615955"/>
            <a:ext cx="5711952" cy="2682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082871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Car A: 80.5 km/h against 75, so about 3.73 h against 4 h — about 16 minutes sooner.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955719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 gets 32 miles per gallon and its tank holds 14 gal. How far does it go on a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66369"/>
            <a:ext cx="86304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tank?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430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4304"/>
            <a:ext cx="942196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That car makes a 1,000-mi trip. How many tanks of gas does it use? (Part of a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01654"/>
            <a:ext cx="365082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tank counts as a whole tank.)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2246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22464"/>
            <a:ext cx="351953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recipe for 4 servings uses </a:t>
            </a:r>
          </a:p>
        </p:txBody>
      </p:sp>
      <p:pic>
        <p:nvPicPr>
          <p:cNvPr id="16" name="Picture 15" descr="8ef7b8baa04105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59" y="3188473"/>
            <a:ext cx="274452" cy="4456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11312" y="3222464"/>
            <a:ext cx="543282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cups of rice. How much rice for 10 servings?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43275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9" name="Picture 18" descr="d2f86d8905c910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3831402"/>
            <a:ext cx="1611464" cy="2014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39096" y="3743275"/>
            <a:ext cx="808168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train does 120 km/h; a bus does 70 mi/h. Which is faster? Show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0625"/>
            <a:ext cx="284402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 speeds in one unit.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855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8559"/>
            <a:ext cx="49495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Juice is mixed orange : mango : water = </a:t>
            </a:r>
          </a:p>
        </p:txBody>
      </p:sp>
      <p:pic>
        <p:nvPicPr>
          <p:cNvPr id="24" name="Picture 23" descr="3e12847d3b5309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918" y="4674240"/>
            <a:ext cx="715087" cy="1863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2005" y="4578559"/>
            <a:ext cx="399247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batch uses 9 cups of orange.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45910"/>
            <a:ext cx="440262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cups is the whole batch?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41384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13844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29" name="Picture 28" descr="bf04384952a140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231" y="5501971"/>
            <a:ext cx="908966" cy="20143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26198" y="5413844"/>
            <a:ext cx="6648424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; a room is 2 in by 3.5 in on it. Find the room's real area.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rates: word problems — VVS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Multi-step problems with customary or metric unit conversions — 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