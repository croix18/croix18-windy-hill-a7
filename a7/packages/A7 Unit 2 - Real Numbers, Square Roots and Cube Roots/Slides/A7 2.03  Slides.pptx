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</p:sldIdLst>
  <p:notesMasterIdLst>
    <p:notesMasterId r:id="rId3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notesMaster" Target="notesMasters/notesMaster1.xml"/><Relationship Id="rId37" Type="http://schemas.openxmlformats.org/officeDocument/2006/relationships/presProps" Target="presProps.xml"/><Relationship Id="rId38" Type="http://schemas.openxmlformats.org/officeDocument/2006/relationships/viewProps" Target="viewProps.xml"/><Relationship Id="rId39" Type="http://schemas.openxmlformats.org/officeDocument/2006/relationships/theme" Target="theme/theme1.xml"/><Relationship Id="rId4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1691640"/>
            <a:ext cx="10607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spc="300" kern="0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GRADE 7 ACCELERATED  ·  UNIT 2  ·  LESSON 3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777240" y="2048256"/>
            <a:ext cx="10607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Cube Values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3291840" y="3255264"/>
            <a:ext cx="5577840" cy="0"/>
          </a:xfrm>
          <a:prstGeom prst="line">
            <a:avLst/>
          </a:prstGeom>
          <a:noFill/>
          <a:ln w="31750">
            <a:solidFill>
              <a:srgbClr val="1A1A1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91840" y="3337560"/>
            <a:ext cx="5577840" cy="0"/>
          </a:xfrm>
          <a:prstGeom prst="line">
            <a:avLst/>
          </a:prstGeom>
          <a:noFill/>
          <a:ln w="9525">
            <a:solidFill>
              <a:srgbClr val="1A1A1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3502152"/>
            <a:ext cx="10607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MA.8.AR.2.3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77240" y="3840480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i="1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I can evaluate a cube root and find every real solution of x³ = q.</a:t>
            </a:r>
            <a:endParaRPr lang="en-US" sz="1900" dirty="0"/>
          </a:p>
        </p:txBody>
      </p:sp>
      <p:sp>
        <p:nvSpPr>
          <p:cNvPr id="8" name="Shape 6"/>
          <p:cNvSpPr/>
          <p:nvPr/>
        </p:nvSpPr>
        <p:spPr>
          <a:xfrm>
            <a:off x="2377440" y="4389120"/>
            <a:ext cx="7406640" cy="1051560"/>
          </a:xfrm>
          <a:prstGeom prst="rect">
            <a:avLst/>
          </a:prstGeom>
          <a:solidFill>
            <a:srgbClr val="F2F2F0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606040" y="4544568"/>
            <a:ext cx="6949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i="1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Yesterday: two answers, one answer, or none.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2606040" y="4928616"/>
            <a:ext cx="6949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Today: always exactly one. The reason is the count of negative factors.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777240" y="6199632"/>
            <a:ext cx="10607040" cy="0"/>
          </a:xfrm>
          <a:prstGeom prst="line">
            <a:avLst/>
          </a:prstGeom>
          <a:noFill/>
          <a:ln w="9525">
            <a:solidFill>
              <a:srgbClr val="6B6B6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Grade 7 Accelerated · Unit 2 · Lesson 3 — Cube Values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1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Warm-Up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777240" y="1097280"/>
            <a:ext cx="10607040" cy="0"/>
          </a:xfrm>
          <a:prstGeom prst="line">
            <a:avLst/>
          </a:prstGeom>
          <a:noFill/>
          <a:ln w="31750">
            <a:solidFill>
              <a:srgbClr val="1A1A1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" y="1179576"/>
            <a:ext cx="10607040" cy="0"/>
          </a:xfrm>
          <a:prstGeom prst="line">
            <a:avLst/>
          </a:prstGeom>
          <a:noFill/>
          <a:ln w="9525">
            <a:solidFill>
              <a:srgbClr val="1A1A1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On your own. Four minutes.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777240" y="1783080"/>
            <a:ext cx="10607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Same and different</a:t>
            </a:r>
            <a:endParaRPr lang="en-US" sz="2500" dirty="0"/>
          </a:p>
        </p:txBody>
      </p:sp>
      <p:sp>
        <p:nvSpPr>
          <p:cNvPr id="7" name="Shape 5"/>
          <p:cNvSpPr/>
          <p:nvPr/>
        </p:nvSpPr>
        <p:spPr>
          <a:xfrm>
            <a:off x="777240" y="0"/>
            <a:ext cx="10607040" cy="0"/>
          </a:xfrm>
          <a:prstGeom prst="line">
            <a:avLst/>
          </a:prstGeom>
          <a:noFill/>
          <a:ln w="12700">
            <a:solidFill>
              <a:srgbClr val="1A1A1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7240" y="2331720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A square with area 64 has a side of 8. A cube with volume 64 has an edge of 4.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960120" y="2971800"/>
            <a:ext cx="548640" cy="368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0B5394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1.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1554480" y="2971800"/>
            <a:ext cx="9829800" cy="423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What is the same about the two situations?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960120" y="3578352"/>
            <a:ext cx="548640" cy="368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0B5394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2.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1554480" y="3578352"/>
            <a:ext cx="9829800" cy="423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What is different?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960120" y="4184904"/>
            <a:ext cx="548640" cy="368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0B5394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3.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1554480" y="4184904"/>
            <a:ext cx="9829800" cy="423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Why do the same 64 give two different answers?</a:t>
            </a:r>
            <a:endParaRPr lang="en-US" sz="2200" dirty="0"/>
          </a:p>
        </p:txBody>
      </p:sp>
      <p:sp>
        <p:nvSpPr>
          <p:cNvPr id="15" name="Shape 13"/>
          <p:cNvSpPr/>
          <p:nvPr/>
        </p:nvSpPr>
        <p:spPr>
          <a:xfrm>
            <a:off x="777240" y="6199632"/>
            <a:ext cx="10607040" cy="0"/>
          </a:xfrm>
          <a:prstGeom prst="line">
            <a:avLst/>
          </a:prstGeom>
          <a:noFill/>
          <a:ln w="9525">
            <a:solidFill>
              <a:srgbClr val="6B6B6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Grade 7 Accelerated · Unit 2 · Lesson 3 — Cube Values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2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Notes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777240" y="1097280"/>
            <a:ext cx="10607040" cy="0"/>
          </a:xfrm>
          <a:prstGeom prst="line">
            <a:avLst/>
          </a:prstGeom>
          <a:noFill/>
          <a:ln w="31750">
            <a:solidFill>
              <a:srgbClr val="1A1A1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" y="1179576"/>
            <a:ext cx="10607040" cy="0"/>
          </a:xfrm>
          <a:prstGeom prst="line">
            <a:avLst/>
          </a:prstGeom>
          <a:noFill/>
          <a:ln w="9525">
            <a:solidFill>
              <a:srgbClr val="1A1A1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737360"/>
            <a:ext cx="10607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I.  Cubing means multiplying a number by itself three times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777240" y="2176272"/>
            <a:ext cx="10607040" cy="0"/>
          </a:xfrm>
          <a:prstGeom prst="line">
            <a:avLst/>
          </a:prstGeom>
          <a:noFill/>
          <a:ln w="12700">
            <a:solidFill>
              <a:srgbClr val="1A1A1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77824" y="2295144"/>
            <a:ext cx="10506456" cy="551688"/>
          </a:xfrm>
          <a:prstGeom prst="rect">
            <a:avLst/>
          </a:prstGeom>
          <a:solidFill>
            <a:srgbClr val="EDEFF2"/>
          </a:solidFill>
          <a:ln w="9525">
            <a:solidFill>
              <a:srgbClr val="C6CCD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05840" y="2377440"/>
            <a:ext cx="548640" cy="368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A.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1600200" y="2377440"/>
            <a:ext cx="9784080" cy="460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u="sng" dirty="0">
                <a:solidFill>
                  <a:srgbClr val="0B5394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cube (a number)</a:t>
            </a:r>
            <a:pPr indent="0" marL="0">
              <a:buNone/>
            </a:pPr>
            <a:r>
              <a:rPr lang="en-US" sz="2200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   —   to multiply the number by itself three times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1005840" y="3020568"/>
            <a:ext cx="548640" cy="368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B.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1600200" y="3020568"/>
            <a:ext cx="9784080" cy="460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4 cubed  =  4³  =  4 × 4 × 4  =  64.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1005840" y="3581400"/>
            <a:ext cx="548640" cy="368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C.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1600200" y="3581400"/>
            <a:ext cx="9784080" cy="8290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It is NOT 4 × 3. The small 3 counts appearances, the same as the small 2 did.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1005840" y="4511040"/>
            <a:ext cx="548640" cy="368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D.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1600200" y="4511040"/>
            <a:ext cx="9784080" cy="460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The volume of a cube is  V = s × s × s = s³.</a:t>
            </a:r>
            <a:endParaRPr lang="en-US" sz="2200" dirty="0"/>
          </a:p>
        </p:txBody>
      </p:sp>
      <p:sp>
        <p:nvSpPr>
          <p:cNvPr id="16" name="Shape 14"/>
          <p:cNvSpPr/>
          <p:nvPr/>
        </p:nvSpPr>
        <p:spPr>
          <a:xfrm>
            <a:off x="777240" y="6199632"/>
            <a:ext cx="10607040" cy="0"/>
          </a:xfrm>
          <a:prstGeom prst="line">
            <a:avLst/>
          </a:prstGeom>
          <a:noFill/>
          <a:ln w="9525">
            <a:solidFill>
              <a:srgbClr val="6B6B6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Grade 7 Accelerated · Unit 2 · Lesson 3 — Cube Values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3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Notes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777240" y="1097280"/>
            <a:ext cx="10607040" cy="0"/>
          </a:xfrm>
          <a:prstGeom prst="line">
            <a:avLst/>
          </a:prstGeom>
          <a:noFill/>
          <a:ln w="31750">
            <a:solidFill>
              <a:srgbClr val="1A1A1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" y="1179576"/>
            <a:ext cx="10607040" cy="0"/>
          </a:xfrm>
          <a:prstGeom prst="line">
            <a:avLst/>
          </a:prstGeom>
          <a:noFill/>
          <a:ln w="9525">
            <a:solidFill>
              <a:srgbClr val="1A1A1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737360"/>
            <a:ext cx="10607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II.  The perfect cubes, and their negatives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777240" y="2176272"/>
            <a:ext cx="10607040" cy="0"/>
          </a:xfrm>
          <a:prstGeom prst="line">
            <a:avLst/>
          </a:prstGeom>
          <a:noFill/>
          <a:ln w="12700">
            <a:solidFill>
              <a:srgbClr val="1A1A1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77824" y="2295144"/>
            <a:ext cx="10506456" cy="551688"/>
          </a:xfrm>
          <a:prstGeom prst="rect">
            <a:avLst/>
          </a:prstGeom>
          <a:solidFill>
            <a:srgbClr val="EDEFF2"/>
          </a:solidFill>
          <a:ln w="9525">
            <a:solidFill>
              <a:srgbClr val="C6CCD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05840" y="2377440"/>
            <a:ext cx="548640" cy="368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A.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1600200" y="2377440"/>
            <a:ext cx="9784080" cy="460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u="sng" dirty="0">
                <a:solidFill>
                  <a:srgbClr val="0B5394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perfect cube</a:t>
            </a:r>
            <a:pPr indent="0" marL="0">
              <a:buNone/>
            </a:pPr>
            <a:r>
              <a:rPr lang="en-US" sz="2200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   —   a number you get by cubing an integer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1005840" y="3020568"/>
            <a:ext cx="548640" cy="368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B.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1600200" y="3020568"/>
            <a:ext cx="9784080" cy="460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1, 8, 27, 64, 125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1005840" y="3581400"/>
            <a:ext cx="548640" cy="368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C.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1600200" y="3581400"/>
            <a:ext cx="9784080" cy="460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and their negatives:   −1, −8, −27, −64, −125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1005840" y="4142232"/>
            <a:ext cx="548640" cy="368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D.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1600200" y="4142232"/>
            <a:ext cx="9784080" cy="8290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Five numbers and their opposites. Worth as many points as yesterday's longer list.</a:t>
            </a:r>
            <a:endParaRPr lang="en-US" sz="2200" dirty="0"/>
          </a:p>
        </p:txBody>
      </p:sp>
      <p:sp>
        <p:nvSpPr>
          <p:cNvPr id="16" name="Shape 14"/>
          <p:cNvSpPr/>
          <p:nvPr/>
        </p:nvSpPr>
        <p:spPr>
          <a:xfrm>
            <a:off x="777240" y="6199632"/>
            <a:ext cx="10607040" cy="0"/>
          </a:xfrm>
          <a:prstGeom prst="line">
            <a:avLst/>
          </a:prstGeom>
          <a:noFill/>
          <a:ln w="9525">
            <a:solidFill>
              <a:srgbClr val="6B6B6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Grade 7 Accelerated · Unit 2 · Lesson 3 — Cube Values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4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Notes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777240" y="1097280"/>
            <a:ext cx="10607040" cy="0"/>
          </a:xfrm>
          <a:prstGeom prst="line">
            <a:avLst/>
          </a:prstGeom>
          <a:noFill/>
          <a:ln w="31750">
            <a:solidFill>
              <a:srgbClr val="1A1A1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" y="1179576"/>
            <a:ext cx="10607040" cy="0"/>
          </a:xfrm>
          <a:prstGeom prst="line">
            <a:avLst/>
          </a:prstGeom>
          <a:noFill/>
          <a:ln w="9525">
            <a:solidFill>
              <a:srgbClr val="1A1A1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737360"/>
            <a:ext cx="10607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III.  A negative number has a cube root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777240" y="2176272"/>
            <a:ext cx="10607040" cy="0"/>
          </a:xfrm>
          <a:prstGeom prst="line">
            <a:avLst/>
          </a:prstGeom>
          <a:noFill/>
          <a:ln w="12700">
            <a:solidFill>
              <a:srgbClr val="1A1A1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05840" y="2331720"/>
            <a:ext cx="548640" cy="3855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300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A.</a:t>
            </a:r>
            <a:endParaRPr lang="en-US" sz="2300" dirty="0"/>
          </a:p>
        </p:txBody>
      </p:sp>
      <p:sp>
        <p:nvSpPr>
          <p:cNvPr id="8" name="Text 6"/>
          <p:cNvSpPr/>
          <p:nvPr/>
        </p:nvSpPr>
        <p:spPr>
          <a:xfrm>
            <a:off x="1600200" y="2331720"/>
            <a:ext cx="9784080" cy="4770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300" b="1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The index is written this time.  </a:t>
            </a:r>
            <a:r>
              <a:rPr lang="en-US" sz="2300" b="1" dirty="0">
                <a:solidFill>
                  <a:srgbClr val="1A1A1A"/>
                </a:solidFill>
                <a:ea typeface="Century Schoolbook" pitchFamily="34" charset="-122"/>
                <a:cs typeface="Century Schoolbook" pitchFamily="34" charset="-120"/>
                <a:latin typeface="FreeSerif"/>
              </a:rPr>
              <a:t>∛</a:t>
            </a:r>
            <a:r>
              <a:rPr lang="en-US" sz="2300" b="1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q  means the cube root of q.</a:t>
            </a:r>
            <a:endParaRPr lang="en-US" sz="2300" dirty="0"/>
          </a:p>
        </p:txBody>
      </p:sp>
      <p:sp>
        <p:nvSpPr>
          <p:cNvPr id="9" name="Text 7"/>
          <p:cNvSpPr/>
          <p:nvPr/>
        </p:nvSpPr>
        <p:spPr>
          <a:xfrm>
            <a:off x="1005840" y="2909316"/>
            <a:ext cx="548640" cy="3855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300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B.</a:t>
            </a:r>
            <a:endParaRPr lang="en-US" sz="2300" dirty="0"/>
          </a:p>
        </p:txBody>
      </p:sp>
      <p:sp>
        <p:nvSpPr>
          <p:cNvPr id="10" name="Text 8"/>
          <p:cNvSpPr/>
          <p:nvPr/>
        </p:nvSpPr>
        <p:spPr>
          <a:xfrm>
            <a:off x="1600200" y="2909316"/>
            <a:ext cx="9784080" cy="4770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300" dirty="0">
                <a:solidFill>
                  <a:srgbClr val="1A1A1A"/>
                </a:solidFill>
                <a:ea typeface="Century Schoolbook" pitchFamily="34" charset="-122"/>
                <a:cs typeface="Century Schoolbook" pitchFamily="34" charset="-120"/>
                <a:latin typeface="FreeSerif"/>
              </a:rPr>
              <a:t>∛</a:t>
            </a:r>
            <a:r>
              <a:rPr lang="en-US" sz="2300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27 = 3, because 3 × 3 × 3 = 27.</a:t>
            </a:r>
            <a:endParaRPr lang="en-US" sz="2300" dirty="0"/>
          </a:p>
        </p:txBody>
      </p:sp>
      <p:sp>
        <p:nvSpPr>
          <p:cNvPr id="11" name="Text 9"/>
          <p:cNvSpPr/>
          <p:nvPr/>
        </p:nvSpPr>
        <p:spPr>
          <a:xfrm>
            <a:off x="1005840" y="3486912"/>
            <a:ext cx="548640" cy="3855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300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C.</a:t>
            </a:r>
            <a:endParaRPr lang="en-US" sz="2300" dirty="0"/>
          </a:p>
        </p:txBody>
      </p:sp>
      <p:sp>
        <p:nvSpPr>
          <p:cNvPr id="12" name="Text 10"/>
          <p:cNvSpPr/>
          <p:nvPr/>
        </p:nvSpPr>
        <p:spPr>
          <a:xfrm>
            <a:off x="1600200" y="3486912"/>
            <a:ext cx="9784080" cy="4770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300" b="1" dirty="0">
                <a:solidFill>
                  <a:srgbClr val="1A1A1A"/>
                </a:solidFill>
                <a:ea typeface="Century Schoolbook" pitchFamily="34" charset="-122"/>
                <a:cs typeface="Century Schoolbook" pitchFamily="34" charset="-120"/>
                <a:latin typeface="FreeSerif"/>
              </a:rPr>
              <a:t>∛</a:t>
            </a:r>
            <a:r>
              <a:rPr lang="en-US" sz="2300" b="1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−27 = −3, because (−3) × (−3) × (−3) = −27.</a:t>
            </a:r>
            <a:endParaRPr lang="en-US" sz="2300" dirty="0"/>
          </a:p>
        </p:txBody>
      </p:sp>
      <p:sp>
        <p:nvSpPr>
          <p:cNvPr id="13" name="Text 11"/>
          <p:cNvSpPr/>
          <p:nvPr/>
        </p:nvSpPr>
        <p:spPr>
          <a:xfrm>
            <a:off x="1005840" y="4064508"/>
            <a:ext cx="548640" cy="3855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300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D.</a:t>
            </a:r>
            <a:endParaRPr lang="en-US" sz="2300" dirty="0"/>
          </a:p>
        </p:txBody>
      </p:sp>
      <p:sp>
        <p:nvSpPr>
          <p:cNvPr id="14" name="Text 12"/>
          <p:cNvSpPr/>
          <p:nvPr/>
        </p:nvSpPr>
        <p:spPr>
          <a:xfrm>
            <a:off x="1600200" y="4064508"/>
            <a:ext cx="9784080" cy="8625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300" b="1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Three negative factors give a NEGATIVE product. Two would have given a positive.</a:t>
            </a:r>
            <a:endParaRPr lang="en-US" sz="2300" dirty="0"/>
          </a:p>
        </p:txBody>
      </p:sp>
      <p:sp>
        <p:nvSpPr>
          <p:cNvPr id="15" name="Shape 13"/>
          <p:cNvSpPr/>
          <p:nvPr/>
        </p:nvSpPr>
        <p:spPr>
          <a:xfrm>
            <a:off x="777240" y="6199632"/>
            <a:ext cx="10607040" cy="0"/>
          </a:xfrm>
          <a:prstGeom prst="line">
            <a:avLst/>
          </a:prstGeom>
          <a:noFill/>
          <a:ln w="9525">
            <a:solidFill>
              <a:srgbClr val="6B6B6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Grade 7 Accelerated · Unit 2 · Lesson 3 — Cube Values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5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Notes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777240" y="1097280"/>
            <a:ext cx="10607040" cy="0"/>
          </a:xfrm>
          <a:prstGeom prst="line">
            <a:avLst/>
          </a:prstGeom>
          <a:noFill/>
          <a:ln w="31750">
            <a:solidFill>
              <a:srgbClr val="1A1A1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" y="1179576"/>
            <a:ext cx="10607040" cy="0"/>
          </a:xfrm>
          <a:prstGeom prst="line">
            <a:avLst/>
          </a:prstGeom>
          <a:noFill/>
          <a:ln w="9525">
            <a:solidFill>
              <a:srgbClr val="1A1A1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737360"/>
            <a:ext cx="10607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IV.  Solving x³ = q — always exactly one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777240" y="2176272"/>
            <a:ext cx="10607040" cy="0"/>
          </a:xfrm>
          <a:prstGeom prst="line">
            <a:avLst/>
          </a:prstGeom>
          <a:noFill/>
          <a:ln w="12700">
            <a:solidFill>
              <a:srgbClr val="1A1A1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77240" y="2194560"/>
            <a:ext cx="3200400" cy="658368"/>
          </a:xfrm>
          <a:prstGeom prst="rect">
            <a:avLst/>
          </a:prstGeom>
          <a:solidFill>
            <a:srgbClr val="EDEFF2"/>
          </a:solidFill>
          <a:ln w="15875">
            <a:solidFill>
              <a:srgbClr val="1A1A1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68680" y="2194560"/>
            <a:ext cx="3017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If q is …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3977640" y="2194560"/>
            <a:ext cx="3840480" cy="658368"/>
          </a:xfrm>
          <a:prstGeom prst="rect">
            <a:avLst/>
          </a:prstGeom>
          <a:solidFill>
            <a:srgbClr val="EDEFF2"/>
          </a:solidFill>
          <a:ln w="15875">
            <a:solidFill>
              <a:srgbClr val="1A1A1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069080" y="2194560"/>
            <a:ext cx="3657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How many solutions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7818120" y="2194560"/>
            <a:ext cx="3200400" cy="658368"/>
          </a:xfrm>
          <a:prstGeom prst="rect">
            <a:avLst/>
          </a:prstGeom>
          <a:solidFill>
            <a:srgbClr val="EDEFF2"/>
          </a:solidFill>
          <a:ln w="15875">
            <a:solidFill>
              <a:srgbClr val="1A1A1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909560" y="2194560"/>
            <a:ext cx="3017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Example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777240" y="2852928"/>
            <a:ext cx="3200400" cy="658368"/>
          </a:xfrm>
          <a:prstGeom prst="rect">
            <a:avLst/>
          </a:prstGeom>
          <a:solidFill>
            <a:srgbClr val="FFFFFF"/>
          </a:solidFill>
          <a:ln w="15875">
            <a:solidFill>
              <a:srgbClr val="1A1A1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68680" y="2852928"/>
            <a:ext cx="3017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POSITIVE</a:t>
            </a:r>
            <a:endParaRPr lang="en-US" sz="1900" dirty="0"/>
          </a:p>
        </p:txBody>
      </p:sp>
      <p:sp>
        <p:nvSpPr>
          <p:cNvPr id="15" name="Shape 13"/>
          <p:cNvSpPr/>
          <p:nvPr/>
        </p:nvSpPr>
        <p:spPr>
          <a:xfrm>
            <a:off x="3977640" y="2852928"/>
            <a:ext cx="3840480" cy="658368"/>
          </a:xfrm>
          <a:prstGeom prst="rect">
            <a:avLst/>
          </a:prstGeom>
          <a:solidFill>
            <a:srgbClr val="FFFFFF"/>
          </a:solidFill>
          <a:ln w="15875">
            <a:solidFill>
              <a:srgbClr val="1A1A1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069080" y="2852928"/>
            <a:ext cx="3657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one, and it is positive</a:t>
            </a:r>
            <a:endParaRPr lang="en-US" sz="1900" dirty="0"/>
          </a:p>
        </p:txBody>
      </p:sp>
      <p:sp>
        <p:nvSpPr>
          <p:cNvPr id="17" name="Shape 15"/>
          <p:cNvSpPr/>
          <p:nvPr/>
        </p:nvSpPr>
        <p:spPr>
          <a:xfrm>
            <a:off x="7818120" y="2852928"/>
            <a:ext cx="3200400" cy="658368"/>
          </a:xfrm>
          <a:prstGeom prst="rect">
            <a:avLst/>
          </a:prstGeom>
          <a:solidFill>
            <a:srgbClr val="FFFFFF"/>
          </a:solidFill>
          <a:ln w="15875">
            <a:solidFill>
              <a:srgbClr val="1A1A1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909560" y="2852928"/>
            <a:ext cx="3017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x³ = 8  gives  x = 2</a:t>
            </a:r>
            <a:endParaRPr lang="en-US" sz="1900" dirty="0"/>
          </a:p>
        </p:txBody>
      </p:sp>
      <p:sp>
        <p:nvSpPr>
          <p:cNvPr id="19" name="Shape 17"/>
          <p:cNvSpPr/>
          <p:nvPr/>
        </p:nvSpPr>
        <p:spPr>
          <a:xfrm>
            <a:off x="777240" y="3511296"/>
            <a:ext cx="3200400" cy="658368"/>
          </a:xfrm>
          <a:prstGeom prst="rect">
            <a:avLst/>
          </a:prstGeom>
          <a:solidFill>
            <a:srgbClr val="FFFFFF"/>
          </a:solidFill>
          <a:ln w="15875">
            <a:solidFill>
              <a:srgbClr val="1A1A1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68680" y="3511296"/>
            <a:ext cx="3017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ZERO</a:t>
            </a:r>
            <a:endParaRPr lang="en-US" sz="1900" dirty="0"/>
          </a:p>
        </p:txBody>
      </p:sp>
      <p:sp>
        <p:nvSpPr>
          <p:cNvPr id="21" name="Shape 19"/>
          <p:cNvSpPr/>
          <p:nvPr/>
        </p:nvSpPr>
        <p:spPr>
          <a:xfrm>
            <a:off x="3977640" y="3511296"/>
            <a:ext cx="3840480" cy="658368"/>
          </a:xfrm>
          <a:prstGeom prst="rect">
            <a:avLst/>
          </a:prstGeom>
          <a:solidFill>
            <a:srgbClr val="FFFFFF"/>
          </a:solidFill>
          <a:ln w="15875">
            <a:solidFill>
              <a:srgbClr val="1A1A1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069080" y="3511296"/>
            <a:ext cx="3657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one, and it is 0</a:t>
            </a:r>
            <a:endParaRPr lang="en-US" sz="1900" dirty="0"/>
          </a:p>
        </p:txBody>
      </p:sp>
      <p:sp>
        <p:nvSpPr>
          <p:cNvPr id="23" name="Shape 21"/>
          <p:cNvSpPr/>
          <p:nvPr/>
        </p:nvSpPr>
        <p:spPr>
          <a:xfrm>
            <a:off x="7818120" y="3511296"/>
            <a:ext cx="3200400" cy="658368"/>
          </a:xfrm>
          <a:prstGeom prst="rect">
            <a:avLst/>
          </a:prstGeom>
          <a:solidFill>
            <a:srgbClr val="FFFFFF"/>
          </a:solidFill>
          <a:ln w="15875">
            <a:solidFill>
              <a:srgbClr val="1A1A1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909560" y="3511296"/>
            <a:ext cx="3017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x³ = 0  gives  x = 0</a:t>
            </a:r>
            <a:endParaRPr lang="en-US" sz="1900" dirty="0"/>
          </a:p>
        </p:txBody>
      </p:sp>
      <p:sp>
        <p:nvSpPr>
          <p:cNvPr id="25" name="Shape 23"/>
          <p:cNvSpPr/>
          <p:nvPr/>
        </p:nvSpPr>
        <p:spPr>
          <a:xfrm>
            <a:off x="777240" y="4169664"/>
            <a:ext cx="3200400" cy="658368"/>
          </a:xfrm>
          <a:prstGeom prst="rect">
            <a:avLst/>
          </a:prstGeom>
          <a:solidFill>
            <a:srgbClr val="FFFFFF"/>
          </a:solidFill>
          <a:ln w="15875">
            <a:solidFill>
              <a:srgbClr val="1A1A1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68680" y="4169664"/>
            <a:ext cx="3017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NEGATIVE</a:t>
            </a:r>
            <a:endParaRPr lang="en-US" sz="1900" dirty="0"/>
          </a:p>
        </p:txBody>
      </p:sp>
      <p:sp>
        <p:nvSpPr>
          <p:cNvPr id="27" name="Shape 25"/>
          <p:cNvSpPr/>
          <p:nvPr/>
        </p:nvSpPr>
        <p:spPr>
          <a:xfrm>
            <a:off x="3977640" y="4169664"/>
            <a:ext cx="3840480" cy="658368"/>
          </a:xfrm>
          <a:prstGeom prst="rect">
            <a:avLst/>
          </a:prstGeom>
          <a:solidFill>
            <a:srgbClr val="FFFFFF"/>
          </a:solidFill>
          <a:ln w="15875">
            <a:solidFill>
              <a:srgbClr val="1A1A1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069080" y="4169664"/>
            <a:ext cx="3657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one, and it is negative</a:t>
            </a:r>
            <a:endParaRPr lang="en-US" sz="1900" dirty="0"/>
          </a:p>
        </p:txBody>
      </p:sp>
      <p:sp>
        <p:nvSpPr>
          <p:cNvPr id="29" name="Shape 27"/>
          <p:cNvSpPr/>
          <p:nvPr/>
        </p:nvSpPr>
        <p:spPr>
          <a:xfrm>
            <a:off x="7818120" y="4169664"/>
            <a:ext cx="3200400" cy="658368"/>
          </a:xfrm>
          <a:prstGeom prst="rect">
            <a:avLst/>
          </a:prstGeom>
          <a:solidFill>
            <a:srgbClr val="FFFFFF"/>
          </a:solidFill>
          <a:ln w="15875">
            <a:solidFill>
              <a:srgbClr val="1A1A1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909560" y="4169664"/>
            <a:ext cx="3017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x³ = −8  gives  x = −2</a:t>
            </a:r>
            <a:endParaRPr lang="en-US" sz="1900" dirty="0"/>
          </a:p>
        </p:txBody>
      </p:sp>
      <p:sp>
        <p:nvSpPr>
          <p:cNvPr id="31" name="Shape 29"/>
          <p:cNvSpPr/>
          <p:nvPr/>
        </p:nvSpPr>
        <p:spPr>
          <a:xfrm>
            <a:off x="777240" y="6199632"/>
            <a:ext cx="10607040" cy="0"/>
          </a:xfrm>
          <a:prstGeom prst="line">
            <a:avLst/>
          </a:prstGeom>
          <a:noFill/>
          <a:ln w="9525">
            <a:solidFill>
              <a:srgbClr val="6B6B6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Grade 7 Accelerated · Unit 2 · Lesson 3 — Cube Values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6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Example 1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777240" y="1097280"/>
            <a:ext cx="10607040" cy="0"/>
          </a:xfrm>
          <a:prstGeom prst="line">
            <a:avLst/>
          </a:prstGeom>
          <a:noFill/>
          <a:ln w="31750">
            <a:solidFill>
              <a:srgbClr val="1A1A1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" y="1179576"/>
            <a:ext cx="10607040" cy="0"/>
          </a:xfrm>
          <a:prstGeom prst="line">
            <a:avLst/>
          </a:prstGeom>
          <a:noFill/>
          <a:ln w="9525">
            <a:solidFill>
              <a:srgbClr val="1A1A1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Two cube roots. Answer out loud.</a:t>
            </a:r>
            <a:endParaRPr lang="en-US" sz="17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880360" y="2423160"/>
            <a:ext cx="1925057" cy="777240"/>
          </a:xfrm>
          <a:prstGeom prst="rect">
            <a:avLst/>
          </a:prstGeom>
        </p:spPr>
      </p:pic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42777" y="2423160"/>
            <a:ext cx="2062479" cy="77724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777240" y="3657600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Which of the two will have a negative answer, and how do you know before you compute it?</a:t>
            </a:r>
            <a:endParaRPr lang="en-US" sz="2300" dirty="0"/>
          </a:p>
        </p:txBody>
      </p:sp>
      <p:sp>
        <p:nvSpPr>
          <p:cNvPr id="9" name="Shape 5"/>
          <p:cNvSpPr/>
          <p:nvPr/>
        </p:nvSpPr>
        <p:spPr>
          <a:xfrm>
            <a:off x="777240" y="6199632"/>
            <a:ext cx="10607040" cy="0"/>
          </a:xfrm>
          <a:prstGeom prst="line">
            <a:avLst/>
          </a:prstGeom>
          <a:noFill/>
          <a:ln w="9525">
            <a:solidFill>
              <a:srgbClr val="6B6B6B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Grade 7 Accelerated · Unit 2 · Lesson 3 — Cube Values</a:t>
            </a:r>
            <a:endParaRPr lang="en-US" sz="1100" dirty="0"/>
          </a:p>
        </p:txBody>
      </p:sp>
      <p:sp>
        <p:nvSpPr>
          <p:cNvPr id="11" name="Text 7"/>
          <p:cNvSpPr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7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Example 1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777240" y="1097280"/>
            <a:ext cx="10607040" cy="0"/>
          </a:xfrm>
          <a:prstGeom prst="line">
            <a:avLst/>
          </a:prstGeom>
          <a:noFill/>
          <a:ln w="31750">
            <a:solidFill>
              <a:srgbClr val="1A1A1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" y="1179576"/>
            <a:ext cx="10607040" cy="0"/>
          </a:xfrm>
          <a:prstGeom prst="line">
            <a:avLst/>
          </a:prstGeom>
          <a:noFill/>
          <a:ln w="9525">
            <a:solidFill>
              <a:srgbClr val="1A1A1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Both, worked.</a:t>
            </a:r>
            <a:endParaRPr lang="en-US" sz="17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48840" y="2148840"/>
            <a:ext cx="1540046" cy="62179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008926" y="2148840"/>
            <a:ext cx="73152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=  5        because 5 × 5 × 5 = 125</a:t>
            </a:r>
            <a:endParaRPr lang="en-US" sz="240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48840" y="3063240"/>
            <a:ext cx="1649983" cy="621792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4118863" y="3063240"/>
            <a:ext cx="73152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=  −4       because (−4) × (−4) × (−4) = −64</a:t>
            </a:r>
            <a:endParaRPr lang="en-US" sz="2400" dirty="0"/>
          </a:p>
        </p:txBody>
      </p:sp>
      <p:sp>
        <p:nvSpPr>
          <p:cNvPr id="10" name="Shape 6"/>
          <p:cNvSpPr/>
          <p:nvPr/>
        </p:nvSpPr>
        <p:spPr>
          <a:xfrm>
            <a:off x="777240" y="6199632"/>
            <a:ext cx="10607040" cy="0"/>
          </a:xfrm>
          <a:prstGeom prst="line">
            <a:avLst/>
          </a:prstGeom>
          <a:noFill/>
          <a:ln w="9525">
            <a:solidFill>
              <a:srgbClr val="6B6B6B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Grade 7 Accelerated · Unit 2 · Lesson 3 — Cube Values</a:t>
            </a:r>
            <a:endParaRPr lang="en-US" sz="1100" dirty="0"/>
          </a:p>
        </p:txBody>
      </p:sp>
      <p:sp>
        <p:nvSpPr>
          <p:cNvPr id="12" name="Text 8"/>
          <p:cNvSpPr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8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Example 1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777240" y="1097280"/>
            <a:ext cx="10607040" cy="0"/>
          </a:xfrm>
          <a:prstGeom prst="line">
            <a:avLst/>
          </a:prstGeom>
          <a:noFill/>
          <a:ln w="31750">
            <a:solidFill>
              <a:srgbClr val="1A1A1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" y="1179576"/>
            <a:ext cx="10607040" cy="0"/>
          </a:xfrm>
          <a:prstGeom prst="line">
            <a:avLst/>
          </a:prstGeom>
          <a:noFill/>
          <a:ln w="9525">
            <a:solidFill>
              <a:srgbClr val="1A1A1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Why the second one is negative.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777240" y="2468880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(−4)  ×  (−4)  ×  (−4)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777240" y="329184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i="1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the first two cancel        the third one stays</a:t>
            </a:r>
            <a:endParaRPr lang="en-US" sz="2300" dirty="0"/>
          </a:p>
        </p:txBody>
      </p:sp>
      <p:sp>
        <p:nvSpPr>
          <p:cNvPr id="8" name="Shape 6"/>
          <p:cNvSpPr/>
          <p:nvPr/>
        </p:nvSpPr>
        <p:spPr>
          <a:xfrm>
            <a:off x="777240" y="6199632"/>
            <a:ext cx="10607040" cy="0"/>
          </a:xfrm>
          <a:prstGeom prst="line">
            <a:avLst/>
          </a:prstGeom>
          <a:noFill/>
          <a:ln w="9525">
            <a:solidFill>
              <a:srgbClr val="6B6B6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Grade 7 Accelerated · Unit 2 · Lesson 3 — Cube Values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9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Example 2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777240" y="1097280"/>
            <a:ext cx="10607040" cy="0"/>
          </a:xfrm>
          <a:prstGeom prst="line">
            <a:avLst/>
          </a:prstGeom>
          <a:noFill/>
          <a:ln w="31750">
            <a:solidFill>
              <a:srgbClr val="1A1A1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" y="1179576"/>
            <a:ext cx="10607040" cy="0"/>
          </a:xfrm>
          <a:prstGeom prst="line">
            <a:avLst/>
          </a:prstGeom>
          <a:noFill/>
          <a:ln w="9525">
            <a:solidFill>
              <a:srgbClr val="1A1A1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Solve it. Whiteboards.</a:t>
            </a:r>
            <a:endParaRPr lang="en-US" sz="17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343400" y="2468880"/>
            <a:ext cx="2558874" cy="6858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77240" y="3611880"/>
            <a:ext cx="10607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How many solutions, and what are they?</a:t>
            </a:r>
            <a:endParaRPr lang="en-US" sz="2500" dirty="0"/>
          </a:p>
        </p:txBody>
      </p:sp>
      <p:sp>
        <p:nvSpPr>
          <p:cNvPr id="8" name="Shape 5"/>
          <p:cNvSpPr/>
          <p:nvPr/>
        </p:nvSpPr>
        <p:spPr>
          <a:xfrm>
            <a:off x="777240" y="6199632"/>
            <a:ext cx="10607040" cy="0"/>
          </a:xfrm>
          <a:prstGeom prst="line">
            <a:avLst/>
          </a:prstGeom>
          <a:noFill/>
          <a:ln w="9525">
            <a:solidFill>
              <a:srgbClr val="6B6B6B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Grade 7 Accelerated · Unit 2 · Lesson 3 — Cube Values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10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Example 2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777240" y="1097280"/>
            <a:ext cx="10607040" cy="0"/>
          </a:xfrm>
          <a:prstGeom prst="line">
            <a:avLst/>
          </a:prstGeom>
          <a:noFill/>
          <a:ln w="31750">
            <a:solidFill>
              <a:srgbClr val="1A1A1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" y="1179576"/>
            <a:ext cx="10607040" cy="0"/>
          </a:xfrm>
          <a:prstGeom prst="line">
            <a:avLst/>
          </a:prstGeom>
          <a:noFill/>
          <a:ln w="9525">
            <a:solidFill>
              <a:srgbClr val="1A1A1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The solution.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4343400" y="2286000"/>
            <a:ext cx="914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9E1B32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x =</a:t>
            </a:r>
            <a:endParaRPr lang="en-US" sz="32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2286000"/>
            <a:ext cx="1769806" cy="65836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347646" y="2286000"/>
            <a:ext cx="1828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9E1B32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=  −3</a:t>
            </a:r>
            <a:endParaRPr lang="en-US" sz="3200" dirty="0"/>
          </a:p>
        </p:txBody>
      </p:sp>
      <p:sp>
        <p:nvSpPr>
          <p:cNvPr id="9" name="Text 6"/>
          <p:cNvSpPr/>
          <p:nvPr/>
        </p:nvSpPr>
        <p:spPr>
          <a:xfrm>
            <a:off x="777240" y="315468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Check:    (−3) × (−3) × (−3) = −27   </a:t>
            </a:r>
            <a:r>
              <a:rPr lang="en-US" sz="2600" dirty="0">
                <a:solidFill>
                  <a:srgbClr val="1A1A1A"/>
                </a:solidFill>
                <a:ea typeface="Century Schoolbook" pitchFamily="34" charset="-122"/>
                <a:cs typeface="Century Schoolbook" pitchFamily="34" charset="-120"/>
                <a:latin typeface="FreeSerif"/>
              </a:rPr>
              <a:t>✓</a:t>
            </a:r>
            <a:endParaRPr lang="en-US" sz="2600" dirty="0"/>
          </a:p>
        </p:txBody>
      </p:sp>
      <p:sp>
        <p:nvSpPr>
          <p:cNvPr id="10" name="Shape 7"/>
          <p:cNvSpPr/>
          <p:nvPr/>
        </p:nvSpPr>
        <p:spPr>
          <a:xfrm>
            <a:off x="777240" y="6199632"/>
            <a:ext cx="10607040" cy="0"/>
          </a:xfrm>
          <a:prstGeom prst="line">
            <a:avLst/>
          </a:prstGeom>
          <a:noFill/>
          <a:ln w="9525">
            <a:solidFill>
              <a:srgbClr val="6B6B6B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Grade 7 Accelerated · Unit 2 · Lesson 3 — Cube Values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11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Example 2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777240" y="1097280"/>
            <a:ext cx="10607040" cy="0"/>
          </a:xfrm>
          <a:prstGeom prst="line">
            <a:avLst/>
          </a:prstGeom>
          <a:noFill/>
          <a:ln w="31750">
            <a:solidFill>
              <a:srgbClr val="1A1A1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" y="1179576"/>
            <a:ext cx="10607040" cy="0"/>
          </a:xfrm>
          <a:prstGeom prst="line">
            <a:avLst/>
          </a:prstGeom>
          <a:noFill/>
          <a:ln w="9525">
            <a:solidFill>
              <a:srgbClr val="1A1A1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And why there is no second one.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777240" y="2331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Try  x = 3:        3 × 3 × 3  =  27</a:t>
            </a:r>
            <a:endParaRPr lang="en-US" sz="2700" dirty="0"/>
          </a:p>
        </p:txBody>
      </p:sp>
      <p:sp>
        <p:nvSpPr>
          <p:cNvPr id="7" name="Text 5"/>
          <p:cNvSpPr/>
          <p:nvPr/>
        </p:nvSpPr>
        <p:spPr>
          <a:xfrm>
            <a:off x="777240" y="306324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E1B32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27  is not  −27.   </a:t>
            </a:r>
            <a:r>
              <a:rPr lang="en-US" sz="3000" b="1" dirty="0">
                <a:solidFill>
                  <a:srgbClr val="9E1B32"/>
                </a:solidFill>
                <a:ea typeface="Century Schoolbook" pitchFamily="34" charset="-122"/>
                <a:cs typeface="Century Schoolbook" pitchFamily="34" charset="-120"/>
                <a:latin typeface="FreeSerif"/>
              </a:rPr>
              <a:t>✗</a:t>
            </a:r>
            <a:endParaRPr lang="en-US" sz="3000" dirty="0"/>
          </a:p>
        </p:txBody>
      </p:sp>
      <p:sp>
        <p:nvSpPr>
          <p:cNvPr id="8" name="Shape 6"/>
          <p:cNvSpPr/>
          <p:nvPr/>
        </p:nvSpPr>
        <p:spPr>
          <a:xfrm>
            <a:off x="777240" y="6199632"/>
            <a:ext cx="10607040" cy="0"/>
          </a:xfrm>
          <a:prstGeom prst="line">
            <a:avLst/>
          </a:prstGeom>
          <a:noFill/>
          <a:ln w="9525">
            <a:solidFill>
              <a:srgbClr val="6B6B6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Grade 7 Accelerated · Unit 2 · Lesson 3 — Cube Values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12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Example 3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777240" y="1097280"/>
            <a:ext cx="10607040" cy="0"/>
          </a:xfrm>
          <a:prstGeom prst="line">
            <a:avLst/>
          </a:prstGeom>
          <a:noFill/>
          <a:ln w="31750">
            <a:solidFill>
              <a:srgbClr val="1A1A1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" y="1179576"/>
            <a:ext cx="10607040" cy="0"/>
          </a:xfrm>
          <a:prstGeom prst="line">
            <a:avLst/>
          </a:prstGeom>
          <a:noFill/>
          <a:ln w="9525">
            <a:solidFill>
              <a:srgbClr val="1A1A1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Same 64. One solution or two?</a:t>
            </a:r>
            <a:endParaRPr lang="en-US" sz="17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697480" y="2514600"/>
            <a:ext cx="2184871" cy="731520"/>
          </a:xfrm>
          <a:prstGeom prst="rect">
            <a:avLst/>
          </a:prstGeom>
        </p:spPr>
      </p:pic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11151" y="2514600"/>
            <a:ext cx="2184871" cy="73152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777240" y="3749040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i="1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Take a vote before anybody writes anything.</a:t>
            </a:r>
            <a:endParaRPr lang="en-US" sz="2300" dirty="0"/>
          </a:p>
        </p:txBody>
      </p:sp>
      <p:sp>
        <p:nvSpPr>
          <p:cNvPr id="9" name="Shape 5"/>
          <p:cNvSpPr/>
          <p:nvPr/>
        </p:nvSpPr>
        <p:spPr>
          <a:xfrm>
            <a:off x="777240" y="6199632"/>
            <a:ext cx="10607040" cy="0"/>
          </a:xfrm>
          <a:prstGeom prst="line">
            <a:avLst/>
          </a:prstGeom>
          <a:noFill/>
          <a:ln w="9525">
            <a:solidFill>
              <a:srgbClr val="6B6B6B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Grade 7 Accelerated · Unit 2 · Lesson 3 — Cube Values</a:t>
            </a:r>
            <a:endParaRPr lang="en-US" sz="1100" dirty="0"/>
          </a:p>
        </p:txBody>
      </p:sp>
      <p:sp>
        <p:nvSpPr>
          <p:cNvPr id="11" name="Text 7"/>
          <p:cNvSpPr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13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Example 3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777240" y="1097280"/>
            <a:ext cx="10607040" cy="0"/>
          </a:xfrm>
          <a:prstGeom prst="line">
            <a:avLst/>
          </a:prstGeom>
          <a:noFill/>
          <a:ln w="31750">
            <a:solidFill>
              <a:srgbClr val="1A1A1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" y="1179576"/>
            <a:ext cx="10607040" cy="0"/>
          </a:xfrm>
          <a:prstGeom prst="line">
            <a:avLst/>
          </a:prstGeom>
          <a:noFill/>
          <a:ln w="9525">
            <a:solidFill>
              <a:srgbClr val="1A1A1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Try both signs on each.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777240" y="2103120"/>
            <a:ext cx="5120640" cy="777240"/>
          </a:xfrm>
          <a:prstGeom prst="rect">
            <a:avLst/>
          </a:prstGeom>
          <a:solidFill>
            <a:srgbClr val="EDEFF2"/>
          </a:solidFill>
          <a:ln w="15875">
            <a:solidFill>
              <a:srgbClr val="1A1A1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210312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x² = 64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5897880" y="2103120"/>
            <a:ext cx="5120640" cy="777240"/>
          </a:xfrm>
          <a:prstGeom prst="rect">
            <a:avLst/>
          </a:prstGeom>
          <a:solidFill>
            <a:srgbClr val="EDEFF2"/>
          </a:solidFill>
          <a:ln w="15875">
            <a:solidFill>
              <a:srgbClr val="1A1A1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89320" y="210312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x³ = 64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777240" y="2880360"/>
            <a:ext cx="5120640" cy="777240"/>
          </a:xfrm>
          <a:prstGeom prst="rect">
            <a:avLst/>
          </a:prstGeom>
          <a:solidFill>
            <a:srgbClr val="FFFFFF"/>
          </a:solidFill>
          <a:ln w="15875">
            <a:solidFill>
              <a:srgbClr val="1A1A1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68680" y="288036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8 × 8 = 64   </a:t>
            </a:r>
            <a:r>
              <a:rPr lang="en-US" sz="1900" dirty="0">
                <a:solidFill>
                  <a:srgbClr val="1A1A1A"/>
                </a:solidFill>
                <a:ea typeface="Century Schoolbook" pitchFamily="34" charset="-122"/>
                <a:cs typeface="Century Schoolbook" pitchFamily="34" charset="-120"/>
                <a:latin typeface="FreeSerif"/>
              </a:rPr>
              <a:t>✓</a:t>
            </a:r>
            <a:endParaRPr lang="en-US" sz="1900" dirty="0"/>
          </a:p>
        </p:txBody>
      </p:sp>
      <p:sp>
        <p:nvSpPr>
          <p:cNvPr id="12" name="Shape 10"/>
          <p:cNvSpPr/>
          <p:nvPr/>
        </p:nvSpPr>
        <p:spPr>
          <a:xfrm>
            <a:off x="5897880" y="2880360"/>
            <a:ext cx="5120640" cy="777240"/>
          </a:xfrm>
          <a:prstGeom prst="rect">
            <a:avLst/>
          </a:prstGeom>
          <a:solidFill>
            <a:srgbClr val="FFFFFF"/>
          </a:solidFill>
          <a:ln w="15875">
            <a:solidFill>
              <a:srgbClr val="1A1A1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989320" y="288036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4 × 4 × 4 = 64   </a:t>
            </a:r>
            <a:r>
              <a:rPr lang="en-US" sz="1900" dirty="0">
                <a:solidFill>
                  <a:srgbClr val="1A1A1A"/>
                </a:solidFill>
                <a:ea typeface="Century Schoolbook" pitchFamily="34" charset="-122"/>
                <a:cs typeface="Century Schoolbook" pitchFamily="34" charset="-120"/>
                <a:latin typeface="FreeSerif"/>
              </a:rPr>
              <a:t>✓</a:t>
            </a:r>
            <a:endParaRPr lang="en-US" sz="1900" dirty="0"/>
          </a:p>
        </p:txBody>
      </p:sp>
      <p:sp>
        <p:nvSpPr>
          <p:cNvPr id="14" name="Shape 12"/>
          <p:cNvSpPr/>
          <p:nvPr/>
        </p:nvSpPr>
        <p:spPr>
          <a:xfrm>
            <a:off x="777240" y="3657600"/>
            <a:ext cx="5120640" cy="777240"/>
          </a:xfrm>
          <a:prstGeom prst="rect">
            <a:avLst/>
          </a:prstGeom>
          <a:solidFill>
            <a:srgbClr val="FFFFFF"/>
          </a:solidFill>
          <a:ln w="15875">
            <a:solidFill>
              <a:srgbClr val="1A1A1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68680" y="365760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(−8) × (−8) = 64   </a:t>
            </a:r>
            <a:r>
              <a:rPr lang="en-US" sz="1900" dirty="0">
                <a:solidFill>
                  <a:srgbClr val="1A1A1A"/>
                </a:solidFill>
                <a:ea typeface="Century Schoolbook" pitchFamily="34" charset="-122"/>
                <a:cs typeface="Century Schoolbook" pitchFamily="34" charset="-120"/>
                <a:latin typeface="FreeSerif"/>
              </a:rPr>
              <a:t>✓</a:t>
            </a:r>
            <a:endParaRPr lang="en-US" sz="1900" dirty="0"/>
          </a:p>
        </p:txBody>
      </p:sp>
      <p:sp>
        <p:nvSpPr>
          <p:cNvPr id="16" name="Shape 14"/>
          <p:cNvSpPr/>
          <p:nvPr/>
        </p:nvSpPr>
        <p:spPr>
          <a:xfrm>
            <a:off x="5897880" y="3657600"/>
            <a:ext cx="5120640" cy="777240"/>
          </a:xfrm>
          <a:prstGeom prst="rect">
            <a:avLst/>
          </a:prstGeom>
          <a:solidFill>
            <a:srgbClr val="FFFFFF"/>
          </a:solidFill>
          <a:ln w="15875">
            <a:solidFill>
              <a:srgbClr val="1A1A1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989320" y="365760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(−4) × (−4) × (−4) = −64   </a:t>
            </a:r>
            <a:r>
              <a:rPr lang="en-US" sz="1600" dirty="0">
                <a:solidFill>
                  <a:srgbClr val="1A1A1A"/>
                </a:solidFill>
                <a:ea typeface="Century Schoolbook" pitchFamily="34" charset="-122"/>
                <a:cs typeface="Century Schoolbook" pitchFamily="34" charset="-120"/>
                <a:latin typeface="FreeSerif"/>
              </a:rPr>
              <a:t>✗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777240" y="6199632"/>
            <a:ext cx="10607040" cy="0"/>
          </a:xfrm>
          <a:prstGeom prst="line">
            <a:avLst/>
          </a:prstGeom>
          <a:noFill/>
          <a:ln w="9525">
            <a:solidFill>
              <a:srgbClr val="6B6B6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Grade 7 Accelerated · Unit 2 · Lesson 3 — Cube Values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14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Example 3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777240" y="1097280"/>
            <a:ext cx="10607040" cy="0"/>
          </a:xfrm>
          <a:prstGeom prst="line">
            <a:avLst/>
          </a:prstGeom>
          <a:noFill/>
          <a:ln w="31750">
            <a:solidFill>
              <a:srgbClr val="1A1A1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" y="1179576"/>
            <a:ext cx="10607040" cy="0"/>
          </a:xfrm>
          <a:prstGeom prst="line">
            <a:avLst/>
          </a:prstGeom>
          <a:noFill/>
          <a:ln w="9525">
            <a:solidFill>
              <a:srgbClr val="1A1A1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So the counts differ.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777240" y="2240280"/>
            <a:ext cx="5120640" cy="868680"/>
          </a:xfrm>
          <a:prstGeom prst="rect">
            <a:avLst/>
          </a:prstGeom>
          <a:solidFill>
            <a:srgbClr val="EDEFF2"/>
          </a:solidFill>
          <a:ln w="15875">
            <a:solidFill>
              <a:srgbClr val="1A1A1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2240280"/>
            <a:ext cx="4937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x² = 64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5897880" y="2240280"/>
            <a:ext cx="5120640" cy="868680"/>
          </a:xfrm>
          <a:prstGeom prst="rect">
            <a:avLst/>
          </a:prstGeom>
          <a:solidFill>
            <a:srgbClr val="EDEFF2"/>
          </a:solidFill>
          <a:ln w="15875">
            <a:solidFill>
              <a:srgbClr val="1A1A1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89320" y="2240280"/>
            <a:ext cx="4937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x³ = 64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777240" y="3108960"/>
            <a:ext cx="5120640" cy="868680"/>
          </a:xfrm>
          <a:prstGeom prst="rect">
            <a:avLst/>
          </a:prstGeom>
          <a:solidFill>
            <a:srgbClr val="FFFFFF"/>
          </a:solidFill>
          <a:ln w="15875">
            <a:solidFill>
              <a:srgbClr val="1A1A1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68680" y="3108960"/>
            <a:ext cx="4937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TWO solutions,  x = ±8</a:t>
            </a:r>
            <a:endParaRPr lang="en-US" sz="1900" dirty="0"/>
          </a:p>
        </p:txBody>
      </p:sp>
      <p:sp>
        <p:nvSpPr>
          <p:cNvPr id="12" name="Shape 10"/>
          <p:cNvSpPr/>
          <p:nvPr/>
        </p:nvSpPr>
        <p:spPr>
          <a:xfrm>
            <a:off x="5897880" y="3108960"/>
            <a:ext cx="5120640" cy="868680"/>
          </a:xfrm>
          <a:prstGeom prst="rect">
            <a:avLst/>
          </a:prstGeom>
          <a:solidFill>
            <a:srgbClr val="FFFFFF"/>
          </a:solidFill>
          <a:ln w="15875">
            <a:solidFill>
              <a:srgbClr val="1A1A1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989320" y="3108960"/>
            <a:ext cx="4937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ONE solution,  x = 4</a:t>
            </a:r>
            <a:endParaRPr lang="en-US" sz="1900" dirty="0"/>
          </a:p>
        </p:txBody>
      </p:sp>
      <p:sp>
        <p:nvSpPr>
          <p:cNvPr id="14" name="Shape 12"/>
          <p:cNvSpPr/>
          <p:nvPr/>
        </p:nvSpPr>
        <p:spPr>
          <a:xfrm>
            <a:off x="777240" y="6199632"/>
            <a:ext cx="10607040" cy="0"/>
          </a:xfrm>
          <a:prstGeom prst="line">
            <a:avLst/>
          </a:prstGeom>
          <a:noFill/>
          <a:ln w="9525">
            <a:solidFill>
              <a:srgbClr val="6B6B6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Grade 7 Accelerated · Unit 2 · Lesson 3 — Cube Values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15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Whiteboards   ·   Question 1 of 9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777240" y="1097280"/>
            <a:ext cx="10607040" cy="0"/>
          </a:xfrm>
          <a:prstGeom prst="line">
            <a:avLst/>
          </a:prstGeom>
          <a:noFill/>
          <a:ln w="31750">
            <a:solidFill>
              <a:srgbClr val="1A1A1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" y="1179576"/>
            <a:ext cx="10607040" cy="0"/>
          </a:xfrm>
          <a:prstGeom prst="line">
            <a:avLst/>
          </a:prstGeom>
          <a:noFill/>
          <a:ln w="9525">
            <a:solidFill>
              <a:srgbClr val="1A1A1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Boards up on three.</a:t>
            </a:r>
            <a:endParaRPr lang="en-US" sz="17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163079" y="2331720"/>
            <a:ext cx="1835362" cy="9601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77240" y="4343400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Answer it.</a:t>
            </a:r>
            <a:endParaRPr lang="en-US" sz="2600" dirty="0"/>
          </a:p>
        </p:txBody>
      </p:sp>
      <p:sp>
        <p:nvSpPr>
          <p:cNvPr id="8" name="Text 5"/>
          <p:cNvSpPr/>
          <p:nvPr/>
        </p:nvSpPr>
        <p:spPr>
          <a:xfrm>
            <a:off x="777240" y="4828032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i="1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A number, or a sentence. Read the index first.</a:t>
            </a:r>
            <a:endParaRPr lang="en-US" sz="1900" dirty="0"/>
          </a:p>
        </p:txBody>
      </p:sp>
      <p:sp>
        <p:nvSpPr>
          <p:cNvPr id="9" name="Shape 6"/>
          <p:cNvSpPr/>
          <p:nvPr/>
        </p:nvSpPr>
        <p:spPr>
          <a:xfrm>
            <a:off x="777240" y="6199632"/>
            <a:ext cx="10607040" cy="0"/>
          </a:xfrm>
          <a:prstGeom prst="line">
            <a:avLst/>
          </a:prstGeom>
          <a:noFill/>
          <a:ln w="9525">
            <a:solidFill>
              <a:srgbClr val="6B6B6B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Grade 7 Accelerated · Unit 2 · Lesson 3 — Cube Values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16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Whiteboards   ·   Question 1 of 9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777240" y="1097280"/>
            <a:ext cx="10607040" cy="0"/>
          </a:xfrm>
          <a:prstGeom prst="line">
            <a:avLst/>
          </a:prstGeom>
          <a:noFill/>
          <a:ln w="31750">
            <a:solidFill>
              <a:srgbClr val="1A1A1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" y="1179576"/>
            <a:ext cx="10607040" cy="0"/>
          </a:xfrm>
          <a:prstGeom prst="line">
            <a:avLst/>
          </a:prstGeom>
          <a:noFill/>
          <a:ln w="9525">
            <a:solidFill>
              <a:srgbClr val="1A1A1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Answer.</a:t>
            </a:r>
            <a:endParaRPr lang="en-US" sz="17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06778" y="2148840"/>
            <a:ext cx="1747964" cy="9144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334256" y="3310128"/>
            <a:ext cx="34930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4 × 4 × 4 = 64</a:t>
            </a:r>
            <a:endParaRPr lang="en-US" sz="2600" dirty="0"/>
          </a:p>
        </p:txBody>
      </p:sp>
      <p:sp>
        <p:nvSpPr>
          <p:cNvPr id="8" name="Text 5"/>
          <p:cNvSpPr/>
          <p:nvPr/>
        </p:nvSpPr>
        <p:spPr>
          <a:xfrm>
            <a:off x="777240" y="475488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9E1B32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Answer:   4</a:t>
            </a:r>
            <a:endParaRPr lang="en-US" sz="3200" dirty="0"/>
          </a:p>
        </p:txBody>
      </p:sp>
      <p:sp>
        <p:nvSpPr>
          <p:cNvPr id="9" name="Shape 6"/>
          <p:cNvSpPr/>
          <p:nvPr/>
        </p:nvSpPr>
        <p:spPr>
          <a:xfrm>
            <a:off x="777240" y="6199632"/>
            <a:ext cx="10607040" cy="0"/>
          </a:xfrm>
          <a:prstGeom prst="line">
            <a:avLst/>
          </a:prstGeom>
          <a:noFill/>
          <a:ln w="9525">
            <a:solidFill>
              <a:srgbClr val="6B6B6B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Grade 7 Accelerated · Unit 2 · Lesson 3 — Cube Values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17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Whiteboards   ·   Question 2 of 9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777240" y="1097280"/>
            <a:ext cx="10607040" cy="0"/>
          </a:xfrm>
          <a:prstGeom prst="line">
            <a:avLst/>
          </a:prstGeom>
          <a:noFill/>
          <a:ln w="31750">
            <a:solidFill>
              <a:srgbClr val="1A1A1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" y="1179576"/>
            <a:ext cx="10607040" cy="0"/>
          </a:xfrm>
          <a:prstGeom prst="line">
            <a:avLst/>
          </a:prstGeom>
          <a:noFill/>
          <a:ln w="9525">
            <a:solidFill>
              <a:srgbClr val="1A1A1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Boards up on three.</a:t>
            </a:r>
            <a:endParaRPr lang="en-US" sz="17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06876" y="2331720"/>
            <a:ext cx="2547768" cy="9601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77240" y="4343400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Answer it.</a:t>
            </a:r>
            <a:endParaRPr lang="en-US" sz="2600" dirty="0"/>
          </a:p>
        </p:txBody>
      </p:sp>
      <p:sp>
        <p:nvSpPr>
          <p:cNvPr id="8" name="Text 5"/>
          <p:cNvSpPr/>
          <p:nvPr/>
        </p:nvSpPr>
        <p:spPr>
          <a:xfrm>
            <a:off x="777240" y="4828032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i="1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A number, or a sentence. Read the index first.</a:t>
            </a:r>
            <a:endParaRPr lang="en-US" sz="1900" dirty="0"/>
          </a:p>
        </p:txBody>
      </p:sp>
      <p:sp>
        <p:nvSpPr>
          <p:cNvPr id="9" name="Shape 6"/>
          <p:cNvSpPr/>
          <p:nvPr/>
        </p:nvSpPr>
        <p:spPr>
          <a:xfrm>
            <a:off x="777240" y="6199632"/>
            <a:ext cx="10607040" cy="0"/>
          </a:xfrm>
          <a:prstGeom prst="line">
            <a:avLst/>
          </a:prstGeom>
          <a:noFill/>
          <a:ln w="9525">
            <a:solidFill>
              <a:srgbClr val="6B6B6B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Grade 7 Accelerated · Unit 2 · Lesson 3 — Cube Values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18</a:t>
            </a:r>
            <a:endParaRPr lang="en-US" sz="11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Whiteboards   ·   Question 2 of 9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777240" y="1097280"/>
            <a:ext cx="10607040" cy="0"/>
          </a:xfrm>
          <a:prstGeom prst="line">
            <a:avLst/>
          </a:prstGeom>
          <a:noFill/>
          <a:ln w="31750">
            <a:solidFill>
              <a:srgbClr val="1A1A1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" y="1179576"/>
            <a:ext cx="10607040" cy="0"/>
          </a:xfrm>
          <a:prstGeom prst="line">
            <a:avLst/>
          </a:prstGeom>
          <a:noFill/>
          <a:ln w="9525">
            <a:solidFill>
              <a:srgbClr val="1A1A1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Answer.</a:t>
            </a:r>
            <a:endParaRPr lang="en-US" sz="17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67537" y="2148840"/>
            <a:ext cx="2426446" cy="9144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3145536" y="3310128"/>
            <a:ext cx="58704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(−4) × (−4) × (−4) = −64</a:t>
            </a:r>
            <a:endParaRPr lang="en-US" sz="2600" dirty="0"/>
          </a:p>
        </p:txBody>
      </p:sp>
      <p:sp>
        <p:nvSpPr>
          <p:cNvPr id="8" name="Text 5"/>
          <p:cNvSpPr/>
          <p:nvPr/>
        </p:nvSpPr>
        <p:spPr>
          <a:xfrm>
            <a:off x="777240" y="475488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9E1B32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Answer:   −4</a:t>
            </a:r>
            <a:endParaRPr lang="en-US" sz="3200" dirty="0"/>
          </a:p>
        </p:txBody>
      </p:sp>
      <p:sp>
        <p:nvSpPr>
          <p:cNvPr id="9" name="Shape 6"/>
          <p:cNvSpPr/>
          <p:nvPr/>
        </p:nvSpPr>
        <p:spPr>
          <a:xfrm>
            <a:off x="777240" y="6199632"/>
            <a:ext cx="10607040" cy="0"/>
          </a:xfrm>
          <a:prstGeom prst="line">
            <a:avLst/>
          </a:prstGeom>
          <a:noFill/>
          <a:ln w="9525">
            <a:solidFill>
              <a:srgbClr val="6B6B6B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Grade 7 Accelerated · Unit 2 · Lesson 3 — Cube Values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19</a:t>
            </a:r>
            <a:endParaRPr lang="en-US" sz="11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Whiteboards   ·   Question 3 of 9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777240" y="1097280"/>
            <a:ext cx="10607040" cy="0"/>
          </a:xfrm>
          <a:prstGeom prst="line">
            <a:avLst/>
          </a:prstGeom>
          <a:noFill/>
          <a:ln w="31750">
            <a:solidFill>
              <a:srgbClr val="1A1A1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" y="1179576"/>
            <a:ext cx="10607040" cy="0"/>
          </a:xfrm>
          <a:prstGeom prst="line">
            <a:avLst/>
          </a:prstGeom>
          <a:noFill/>
          <a:ln w="9525">
            <a:solidFill>
              <a:srgbClr val="1A1A1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Boards up on three.</a:t>
            </a:r>
            <a:endParaRPr lang="en-US" sz="17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176717" y="2331720"/>
            <a:ext cx="1808087" cy="9601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77240" y="4343400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Answer it.</a:t>
            </a:r>
            <a:endParaRPr lang="en-US" sz="2600" dirty="0"/>
          </a:p>
        </p:txBody>
      </p:sp>
      <p:sp>
        <p:nvSpPr>
          <p:cNvPr id="8" name="Text 5"/>
          <p:cNvSpPr/>
          <p:nvPr/>
        </p:nvSpPr>
        <p:spPr>
          <a:xfrm>
            <a:off x="777240" y="4828032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i="1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A number, or a sentence. Read the index first.</a:t>
            </a:r>
            <a:endParaRPr lang="en-US" sz="1900" dirty="0"/>
          </a:p>
        </p:txBody>
      </p:sp>
      <p:sp>
        <p:nvSpPr>
          <p:cNvPr id="9" name="Shape 6"/>
          <p:cNvSpPr/>
          <p:nvPr/>
        </p:nvSpPr>
        <p:spPr>
          <a:xfrm>
            <a:off x="777240" y="6199632"/>
            <a:ext cx="10607040" cy="0"/>
          </a:xfrm>
          <a:prstGeom prst="line">
            <a:avLst/>
          </a:prstGeom>
          <a:noFill/>
          <a:ln w="9525">
            <a:solidFill>
              <a:srgbClr val="6B6B6B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Grade 7 Accelerated · Unit 2 · Lesson 3 — Cube Values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20</a:t>
            </a:r>
            <a:endParaRPr lang="en-US" sz="11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Whiteboards   ·   Question 3 of 9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777240" y="1097280"/>
            <a:ext cx="10607040" cy="0"/>
          </a:xfrm>
          <a:prstGeom prst="line">
            <a:avLst/>
          </a:prstGeom>
          <a:noFill/>
          <a:ln w="31750">
            <a:solidFill>
              <a:srgbClr val="1A1A1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" y="1179576"/>
            <a:ext cx="10607040" cy="0"/>
          </a:xfrm>
          <a:prstGeom prst="line">
            <a:avLst/>
          </a:prstGeom>
          <a:noFill/>
          <a:ln w="9525">
            <a:solidFill>
              <a:srgbClr val="1A1A1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Answer.</a:t>
            </a:r>
            <a:endParaRPr lang="en-US" sz="17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19766" y="2148840"/>
            <a:ext cx="1721988" cy="9144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809744" y="3310128"/>
            <a:ext cx="25420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8 × 8 = 64</a:t>
            </a:r>
            <a:endParaRPr lang="en-US" sz="2600" dirty="0"/>
          </a:p>
        </p:txBody>
      </p:sp>
      <p:sp>
        <p:nvSpPr>
          <p:cNvPr id="8" name="Text 5"/>
          <p:cNvSpPr/>
          <p:nvPr/>
        </p:nvSpPr>
        <p:spPr>
          <a:xfrm>
            <a:off x="777240" y="475488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9E1B32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Answer:   8</a:t>
            </a:r>
            <a:endParaRPr lang="en-US" sz="3200" dirty="0"/>
          </a:p>
        </p:txBody>
      </p:sp>
      <p:sp>
        <p:nvSpPr>
          <p:cNvPr id="9" name="Shape 6"/>
          <p:cNvSpPr/>
          <p:nvPr/>
        </p:nvSpPr>
        <p:spPr>
          <a:xfrm>
            <a:off x="777240" y="6199632"/>
            <a:ext cx="10607040" cy="0"/>
          </a:xfrm>
          <a:prstGeom prst="line">
            <a:avLst/>
          </a:prstGeom>
          <a:noFill/>
          <a:ln w="9525">
            <a:solidFill>
              <a:srgbClr val="6B6B6B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Grade 7 Accelerated · Unit 2 · Lesson 3 — Cube Values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21</a:t>
            </a:r>
            <a:endParaRPr lang="en-US" sz="11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Whiteboards   ·   Question 4 of 9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777240" y="1097280"/>
            <a:ext cx="10607040" cy="0"/>
          </a:xfrm>
          <a:prstGeom prst="line">
            <a:avLst/>
          </a:prstGeom>
          <a:noFill/>
          <a:ln w="31750">
            <a:solidFill>
              <a:srgbClr val="1A1A1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" y="1179576"/>
            <a:ext cx="10607040" cy="0"/>
          </a:xfrm>
          <a:prstGeom prst="line">
            <a:avLst/>
          </a:prstGeom>
          <a:noFill/>
          <a:ln w="9525">
            <a:solidFill>
              <a:srgbClr val="1A1A1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Boards up on three.</a:t>
            </a:r>
            <a:endParaRPr lang="en-US" sz="17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22142" y="2331720"/>
            <a:ext cx="2517236" cy="9601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77240" y="4343400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Answer it.</a:t>
            </a:r>
            <a:endParaRPr lang="en-US" sz="2600" dirty="0"/>
          </a:p>
        </p:txBody>
      </p:sp>
      <p:sp>
        <p:nvSpPr>
          <p:cNvPr id="8" name="Text 5"/>
          <p:cNvSpPr/>
          <p:nvPr/>
        </p:nvSpPr>
        <p:spPr>
          <a:xfrm>
            <a:off x="777240" y="4828032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i="1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A number, or a sentence. Read the index first.</a:t>
            </a:r>
            <a:endParaRPr lang="en-US" sz="1900" dirty="0"/>
          </a:p>
        </p:txBody>
      </p:sp>
      <p:sp>
        <p:nvSpPr>
          <p:cNvPr id="9" name="Shape 6"/>
          <p:cNvSpPr/>
          <p:nvPr/>
        </p:nvSpPr>
        <p:spPr>
          <a:xfrm>
            <a:off x="777240" y="6199632"/>
            <a:ext cx="10607040" cy="0"/>
          </a:xfrm>
          <a:prstGeom prst="line">
            <a:avLst/>
          </a:prstGeom>
          <a:noFill/>
          <a:ln w="9525">
            <a:solidFill>
              <a:srgbClr val="6B6B6B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Grade 7 Accelerated · Unit 2 · Lesson 3 — Cube Values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22</a:t>
            </a:r>
            <a:endParaRPr lang="en-US" sz="11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Whiteboards   ·   Question 4 of 9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777240" y="1097280"/>
            <a:ext cx="10607040" cy="0"/>
          </a:xfrm>
          <a:prstGeom prst="line">
            <a:avLst/>
          </a:prstGeom>
          <a:noFill/>
          <a:ln w="31750">
            <a:solidFill>
              <a:srgbClr val="1A1A1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" y="1179576"/>
            <a:ext cx="10607040" cy="0"/>
          </a:xfrm>
          <a:prstGeom prst="line">
            <a:avLst/>
          </a:prstGeom>
          <a:noFill/>
          <a:ln w="9525">
            <a:solidFill>
              <a:srgbClr val="1A1A1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Answer.</a:t>
            </a:r>
            <a:endParaRPr lang="en-US" sz="17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82076" y="2148840"/>
            <a:ext cx="2397368" cy="9144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956816" y="3310128"/>
            <a:ext cx="82478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nothing real squares to a negative</a:t>
            </a:r>
            <a:endParaRPr lang="en-US" sz="2600" dirty="0"/>
          </a:p>
        </p:txBody>
      </p:sp>
      <p:sp>
        <p:nvSpPr>
          <p:cNvPr id="8" name="Text 5"/>
          <p:cNvSpPr/>
          <p:nvPr/>
        </p:nvSpPr>
        <p:spPr>
          <a:xfrm>
            <a:off x="777240" y="475488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9E1B32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Answer:   no real value</a:t>
            </a:r>
            <a:endParaRPr lang="en-US" sz="3200" dirty="0"/>
          </a:p>
        </p:txBody>
      </p:sp>
      <p:sp>
        <p:nvSpPr>
          <p:cNvPr id="9" name="Shape 6"/>
          <p:cNvSpPr/>
          <p:nvPr/>
        </p:nvSpPr>
        <p:spPr>
          <a:xfrm>
            <a:off x="777240" y="6199632"/>
            <a:ext cx="10607040" cy="0"/>
          </a:xfrm>
          <a:prstGeom prst="line">
            <a:avLst/>
          </a:prstGeom>
          <a:noFill/>
          <a:ln w="9525">
            <a:solidFill>
              <a:srgbClr val="6B6B6B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Grade 7 Accelerated · Unit 2 · Lesson 3 — Cube Values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23</a:t>
            </a:r>
            <a:endParaRPr lang="en-US" sz="11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Whiteboards   ·   Question 5 of 9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777240" y="1097280"/>
            <a:ext cx="10607040" cy="0"/>
          </a:xfrm>
          <a:prstGeom prst="line">
            <a:avLst/>
          </a:prstGeom>
          <a:noFill/>
          <a:ln w="31750">
            <a:solidFill>
              <a:srgbClr val="1A1A1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" y="1179576"/>
            <a:ext cx="10607040" cy="0"/>
          </a:xfrm>
          <a:prstGeom prst="line">
            <a:avLst/>
          </a:prstGeom>
          <a:noFill/>
          <a:ln w="9525">
            <a:solidFill>
              <a:srgbClr val="1A1A1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Boards up on three.</a:t>
            </a:r>
            <a:endParaRPr lang="en-US" sz="17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646938" y="2331720"/>
            <a:ext cx="2867643" cy="9601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77240" y="4343400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Answer it.</a:t>
            </a:r>
            <a:endParaRPr lang="en-US" sz="2600" dirty="0"/>
          </a:p>
        </p:txBody>
      </p:sp>
      <p:sp>
        <p:nvSpPr>
          <p:cNvPr id="8" name="Text 5"/>
          <p:cNvSpPr/>
          <p:nvPr/>
        </p:nvSpPr>
        <p:spPr>
          <a:xfrm>
            <a:off x="777240" y="4828032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i="1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A number, or a sentence. Read the index first.</a:t>
            </a:r>
            <a:endParaRPr lang="en-US" sz="1900" dirty="0"/>
          </a:p>
        </p:txBody>
      </p:sp>
      <p:sp>
        <p:nvSpPr>
          <p:cNvPr id="9" name="Shape 6"/>
          <p:cNvSpPr/>
          <p:nvPr/>
        </p:nvSpPr>
        <p:spPr>
          <a:xfrm>
            <a:off x="777240" y="6199632"/>
            <a:ext cx="10607040" cy="0"/>
          </a:xfrm>
          <a:prstGeom prst="line">
            <a:avLst/>
          </a:prstGeom>
          <a:noFill/>
          <a:ln w="9525">
            <a:solidFill>
              <a:srgbClr val="6B6B6B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Grade 7 Accelerated · Unit 2 · Lesson 3 — Cube Values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24</a:t>
            </a:r>
            <a:endParaRPr lang="en-US" sz="11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Whiteboards   ·   Question 5 of 9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777240" y="1097280"/>
            <a:ext cx="10607040" cy="0"/>
          </a:xfrm>
          <a:prstGeom prst="line">
            <a:avLst/>
          </a:prstGeom>
          <a:noFill/>
          <a:ln w="31750">
            <a:solidFill>
              <a:srgbClr val="1A1A1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" y="1179576"/>
            <a:ext cx="10607040" cy="0"/>
          </a:xfrm>
          <a:prstGeom prst="line">
            <a:avLst/>
          </a:prstGeom>
          <a:noFill/>
          <a:ln w="9525">
            <a:solidFill>
              <a:srgbClr val="1A1A1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Answer.</a:t>
            </a:r>
            <a:endParaRPr lang="en-US" sz="17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15216" y="2148840"/>
            <a:ext cx="2731089" cy="9144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572000" y="3310128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only 4 works</a:t>
            </a:r>
            <a:endParaRPr lang="en-US" sz="2600" dirty="0"/>
          </a:p>
        </p:txBody>
      </p:sp>
      <p:sp>
        <p:nvSpPr>
          <p:cNvPr id="8" name="Text 5"/>
          <p:cNvSpPr/>
          <p:nvPr/>
        </p:nvSpPr>
        <p:spPr>
          <a:xfrm>
            <a:off x="777240" y="475488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9E1B32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Answer:   x = 4</a:t>
            </a:r>
            <a:endParaRPr lang="en-US" sz="3200" dirty="0"/>
          </a:p>
        </p:txBody>
      </p:sp>
      <p:sp>
        <p:nvSpPr>
          <p:cNvPr id="9" name="Shape 6"/>
          <p:cNvSpPr/>
          <p:nvPr/>
        </p:nvSpPr>
        <p:spPr>
          <a:xfrm>
            <a:off x="777240" y="6199632"/>
            <a:ext cx="10607040" cy="0"/>
          </a:xfrm>
          <a:prstGeom prst="line">
            <a:avLst/>
          </a:prstGeom>
          <a:noFill/>
          <a:ln w="9525">
            <a:solidFill>
              <a:srgbClr val="6B6B6B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Grade 7 Accelerated · Unit 2 · Lesson 3 — Cube Values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25</a:t>
            </a:r>
            <a:endParaRPr lang="en-US" sz="11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Whiteboards   ·   Question 6 of 9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777240" y="1097280"/>
            <a:ext cx="10607040" cy="0"/>
          </a:xfrm>
          <a:prstGeom prst="line">
            <a:avLst/>
          </a:prstGeom>
          <a:noFill/>
          <a:ln w="31750">
            <a:solidFill>
              <a:srgbClr val="1A1A1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" y="1179576"/>
            <a:ext cx="10607040" cy="0"/>
          </a:xfrm>
          <a:prstGeom prst="line">
            <a:avLst/>
          </a:prstGeom>
          <a:noFill/>
          <a:ln w="9525">
            <a:solidFill>
              <a:srgbClr val="1A1A1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Boards up on three.</a:t>
            </a:r>
            <a:endParaRPr lang="en-US" sz="17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646938" y="2331720"/>
            <a:ext cx="2867643" cy="9601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77240" y="4343400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Answer it.</a:t>
            </a:r>
            <a:endParaRPr lang="en-US" sz="2600" dirty="0"/>
          </a:p>
        </p:txBody>
      </p:sp>
      <p:sp>
        <p:nvSpPr>
          <p:cNvPr id="8" name="Text 5"/>
          <p:cNvSpPr/>
          <p:nvPr/>
        </p:nvSpPr>
        <p:spPr>
          <a:xfrm>
            <a:off x="777240" y="4828032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i="1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A number, or a sentence. Read the index first.</a:t>
            </a:r>
            <a:endParaRPr lang="en-US" sz="1900" dirty="0"/>
          </a:p>
        </p:txBody>
      </p:sp>
      <p:sp>
        <p:nvSpPr>
          <p:cNvPr id="9" name="Shape 6"/>
          <p:cNvSpPr/>
          <p:nvPr/>
        </p:nvSpPr>
        <p:spPr>
          <a:xfrm>
            <a:off x="777240" y="6199632"/>
            <a:ext cx="10607040" cy="0"/>
          </a:xfrm>
          <a:prstGeom prst="line">
            <a:avLst/>
          </a:prstGeom>
          <a:noFill/>
          <a:ln w="9525">
            <a:solidFill>
              <a:srgbClr val="6B6B6B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Grade 7 Accelerated · Unit 2 · Lesson 3 — Cube Values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26</a:t>
            </a:r>
            <a:endParaRPr lang="en-US" sz="11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Whiteboards   ·   Question 6 of 9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777240" y="1097280"/>
            <a:ext cx="10607040" cy="0"/>
          </a:xfrm>
          <a:prstGeom prst="line">
            <a:avLst/>
          </a:prstGeom>
          <a:noFill/>
          <a:ln w="31750">
            <a:solidFill>
              <a:srgbClr val="1A1A1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" y="1179576"/>
            <a:ext cx="10607040" cy="0"/>
          </a:xfrm>
          <a:prstGeom prst="line">
            <a:avLst/>
          </a:prstGeom>
          <a:noFill/>
          <a:ln w="9525">
            <a:solidFill>
              <a:srgbClr val="1A1A1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Answer.</a:t>
            </a:r>
            <a:endParaRPr lang="en-US" sz="17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15216" y="2148840"/>
            <a:ext cx="2731089" cy="9144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3858768" y="3310128"/>
            <a:ext cx="44439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8 and −8 both work</a:t>
            </a:r>
            <a:endParaRPr lang="en-US" sz="2600" dirty="0"/>
          </a:p>
        </p:txBody>
      </p:sp>
      <p:sp>
        <p:nvSpPr>
          <p:cNvPr id="8" name="Text 5"/>
          <p:cNvSpPr/>
          <p:nvPr/>
        </p:nvSpPr>
        <p:spPr>
          <a:xfrm>
            <a:off x="777240" y="475488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9E1B32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Answer:   x = ±8</a:t>
            </a:r>
            <a:endParaRPr lang="en-US" sz="3200" dirty="0"/>
          </a:p>
        </p:txBody>
      </p:sp>
      <p:sp>
        <p:nvSpPr>
          <p:cNvPr id="9" name="Shape 6"/>
          <p:cNvSpPr/>
          <p:nvPr/>
        </p:nvSpPr>
        <p:spPr>
          <a:xfrm>
            <a:off x="777240" y="6199632"/>
            <a:ext cx="10607040" cy="0"/>
          </a:xfrm>
          <a:prstGeom prst="line">
            <a:avLst/>
          </a:prstGeom>
          <a:noFill/>
          <a:ln w="9525">
            <a:solidFill>
              <a:srgbClr val="6B6B6B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Grade 7 Accelerated · Unit 2 · Lesson 3 — Cube Values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27</a:t>
            </a:r>
            <a:endParaRPr lang="en-US" sz="11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Whiteboards   ·   Question 7 of 9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777240" y="1097280"/>
            <a:ext cx="10607040" cy="0"/>
          </a:xfrm>
          <a:prstGeom prst="line">
            <a:avLst/>
          </a:prstGeom>
          <a:noFill/>
          <a:ln w="31750">
            <a:solidFill>
              <a:srgbClr val="1A1A1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" y="1179576"/>
            <a:ext cx="10607040" cy="0"/>
          </a:xfrm>
          <a:prstGeom prst="line">
            <a:avLst/>
          </a:prstGeom>
          <a:noFill/>
          <a:ln w="9525">
            <a:solidFill>
              <a:srgbClr val="1A1A1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Boards up on three.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777240" y="2240280"/>
            <a:ext cx="106070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A cube-shaped box holds 125 cubic inches.  How long is one edge?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777240" y="4343400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Give the edge, with its unit.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777240" y="4828032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i="1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A number, or a sentence. Read the index first.</a:t>
            </a:r>
            <a:endParaRPr lang="en-US" sz="1900" dirty="0"/>
          </a:p>
        </p:txBody>
      </p:sp>
      <p:sp>
        <p:nvSpPr>
          <p:cNvPr id="9" name="Shape 7"/>
          <p:cNvSpPr/>
          <p:nvPr/>
        </p:nvSpPr>
        <p:spPr>
          <a:xfrm>
            <a:off x="777240" y="6199632"/>
            <a:ext cx="10607040" cy="0"/>
          </a:xfrm>
          <a:prstGeom prst="line">
            <a:avLst/>
          </a:prstGeom>
          <a:noFill/>
          <a:ln w="9525">
            <a:solidFill>
              <a:srgbClr val="6B6B6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Grade 7 Accelerated · Unit 2 · Lesson 3 — Cube Values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28</a:t>
            </a:r>
            <a:endParaRPr lang="en-US" sz="11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Whiteboards   ·   Question 7 of 9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777240" y="1097280"/>
            <a:ext cx="10607040" cy="0"/>
          </a:xfrm>
          <a:prstGeom prst="line">
            <a:avLst/>
          </a:prstGeom>
          <a:noFill/>
          <a:ln w="31750">
            <a:solidFill>
              <a:srgbClr val="1A1A1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" y="1179576"/>
            <a:ext cx="10607040" cy="0"/>
          </a:xfrm>
          <a:prstGeom prst="line">
            <a:avLst/>
          </a:prstGeom>
          <a:noFill/>
          <a:ln w="9525">
            <a:solidFill>
              <a:srgbClr val="1A1A1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Answer.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777240" y="2057400"/>
            <a:ext cx="106070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A cube-shaped box holds 125 cubic inches.  How long is one edge?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4215384" y="3310128"/>
            <a:ext cx="37307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5 × 5 × 5 = 125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777240" y="475488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9E1B32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Answer:   5 inches</a:t>
            </a:r>
            <a:endParaRPr lang="en-US" sz="3200" dirty="0"/>
          </a:p>
        </p:txBody>
      </p:sp>
      <p:sp>
        <p:nvSpPr>
          <p:cNvPr id="9" name="Shape 7"/>
          <p:cNvSpPr/>
          <p:nvPr/>
        </p:nvSpPr>
        <p:spPr>
          <a:xfrm>
            <a:off x="777240" y="6199632"/>
            <a:ext cx="10607040" cy="0"/>
          </a:xfrm>
          <a:prstGeom prst="line">
            <a:avLst/>
          </a:prstGeom>
          <a:noFill/>
          <a:ln w="9525">
            <a:solidFill>
              <a:srgbClr val="6B6B6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Grade 7 Accelerated · Unit 2 · Lesson 3 — Cube Values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29</a:t>
            </a:r>
            <a:endParaRPr lang="en-US" sz="11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Whiteboards   ·   Question 8 of 9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777240" y="1097280"/>
            <a:ext cx="10607040" cy="0"/>
          </a:xfrm>
          <a:prstGeom prst="line">
            <a:avLst/>
          </a:prstGeom>
          <a:noFill/>
          <a:ln w="31750">
            <a:solidFill>
              <a:srgbClr val="1A1A1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" y="1179576"/>
            <a:ext cx="10607040" cy="0"/>
          </a:xfrm>
          <a:prstGeom prst="line">
            <a:avLst/>
          </a:prstGeom>
          <a:noFill/>
          <a:ln w="9525">
            <a:solidFill>
              <a:srgbClr val="1A1A1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Boards up on three.</a:t>
            </a:r>
            <a:endParaRPr lang="en-US" sz="17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89548" y="2331720"/>
            <a:ext cx="3582423" cy="9601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77240" y="4343400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Answer it.</a:t>
            </a:r>
            <a:endParaRPr lang="en-US" sz="2600" dirty="0"/>
          </a:p>
        </p:txBody>
      </p:sp>
      <p:sp>
        <p:nvSpPr>
          <p:cNvPr id="8" name="Text 5"/>
          <p:cNvSpPr/>
          <p:nvPr/>
        </p:nvSpPr>
        <p:spPr>
          <a:xfrm>
            <a:off x="777240" y="4828032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i="1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A number, or a sentence. Read the index first.</a:t>
            </a:r>
            <a:endParaRPr lang="en-US" sz="1900" dirty="0"/>
          </a:p>
        </p:txBody>
      </p:sp>
      <p:sp>
        <p:nvSpPr>
          <p:cNvPr id="9" name="Shape 6"/>
          <p:cNvSpPr/>
          <p:nvPr/>
        </p:nvSpPr>
        <p:spPr>
          <a:xfrm>
            <a:off x="777240" y="6199632"/>
            <a:ext cx="10607040" cy="0"/>
          </a:xfrm>
          <a:prstGeom prst="line">
            <a:avLst/>
          </a:prstGeom>
          <a:noFill/>
          <a:ln w="9525">
            <a:solidFill>
              <a:srgbClr val="6B6B6B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Grade 7 Accelerated · Unit 2 · Lesson 3 — Cube Values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30</a:t>
            </a:r>
            <a:endParaRPr lang="en-US" sz="11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Whiteboards   ·   Question 8 of 9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777240" y="1097280"/>
            <a:ext cx="10607040" cy="0"/>
          </a:xfrm>
          <a:prstGeom prst="line">
            <a:avLst/>
          </a:prstGeom>
          <a:noFill/>
          <a:ln w="31750">
            <a:solidFill>
              <a:srgbClr val="1A1A1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" y="1179576"/>
            <a:ext cx="10607040" cy="0"/>
          </a:xfrm>
          <a:prstGeom prst="line">
            <a:avLst/>
          </a:prstGeom>
          <a:noFill/>
          <a:ln w="9525">
            <a:solidFill>
              <a:srgbClr val="1A1A1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Answer.</a:t>
            </a:r>
            <a:endParaRPr lang="en-US" sz="17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374844" y="2148840"/>
            <a:ext cx="3411832" cy="9144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3145536" y="3310128"/>
            <a:ext cx="58704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(−3) × (−3) × (−3) = −27</a:t>
            </a:r>
            <a:endParaRPr lang="en-US" sz="2600" dirty="0"/>
          </a:p>
        </p:txBody>
      </p:sp>
      <p:sp>
        <p:nvSpPr>
          <p:cNvPr id="8" name="Text 5"/>
          <p:cNvSpPr/>
          <p:nvPr/>
        </p:nvSpPr>
        <p:spPr>
          <a:xfrm>
            <a:off x="777240" y="475488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9E1B32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Answer:   x = −3</a:t>
            </a:r>
            <a:endParaRPr lang="en-US" sz="3200" dirty="0"/>
          </a:p>
        </p:txBody>
      </p:sp>
      <p:sp>
        <p:nvSpPr>
          <p:cNvPr id="9" name="Shape 6"/>
          <p:cNvSpPr/>
          <p:nvPr/>
        </p:nvSpPr>
        <p:spPr>
          <a:xfrm>
            <a:off x="777240" y="6199632"/>
            <a:ext cx="10607040" cy="0"/>
          </a:xfrm>
          <a:prstGeom prst="line">
            <a:avLst/>
          </a:prstGeom>
          <a:noFill/>
          <a:ln w="9525">
            <a:solidFill>
              <a:srgbClr val="6B6B6B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Grade 7 Accelerated · Unit 2 · Lesson 3 — Cube Values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31</a:t>
            </a:r>
            <a:endParaRPr lang="en-US" sz="11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Whiteboards   ·   Question 9 of 9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777240" y="1097280"/>
            <a:ext cx="10607040" cy="0"/>
          </a:xfrm>
          <a:prstGeom prst="line">
            <a:avLst/>
          </a:prstGeom>
          <a:noFill/>
          <a:ln w="31750">
            <a:solidFill>
              <a:srgbClr val="1A1A1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" y="1179576"/>
            <a:ext cx="10607040" cy="0"/>
          </a:xfrm>
          <a:prstGeom prst="line">
            <a:avLst/>
          </a:prstGeom>
          <a:noFill/>
          <a:ln w="9525">
            <a:solidFill>
              <a:srgbClr val="1A1A1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Take your time. Boards up when you have written it.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777240" y="2240280"/>
            <a:ext cx="106070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Priya says </a:t>
            </a:r>
            <a:r>
              <a:rPr lang="en-US" sz="2500" dirty="0">
                <a:solidFill>
                  <a:srgbClr val="1A1A1A"/>
                </a:solidFill>
                <a:ea typeface="Century Schoolbook" pitchFamily="34" charset="-122"/>
                <a:cs typeface="Century Schoolbook" pitchFamily="34" charset="-120"/>
                <a:latin typeface="FreeSerif"/>
              </a:rPr>
              <a:t>∛</a:t>
            </a:r>
            <a:r>
              <a:rPr lang="en-US" sz="2500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−64 has no real value, because you cannot take the root of a negative number.  Is she right?</a:t>
            </a:r>
            <a:endParaRPr lang="en-US" sz="2500" dirty="0"/>
          </a:p>
        </p:txBody>
      </p:sp>
      <p:sp>
        <p:nvSpPr>
          <p:cNvPr id="7" name="Text 5"/>
          <p:cNvSpPr/>
          <p:nvPr/>
        </p:nvSpPr>
        <p:spPr>
          <a:xfrm>
            <a:off x="777240" y="4343400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Write your answer in sentences.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777240" y="4828032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i="1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This one is written work. Say when her rule IS true.</a:t>
            </a:r>
            <a:endParaRPr lang="en-US" sz="1900" dirty="0"/>
          </a:p>
        </p:txBody>
      </p:sp>
      <p:sp>
        <p:nvSpPr>
          <p:cNvPr id="9" name="Shape 7"/>
          <p:cNvSpPr/>
          <p:nvPr/>
        </p:nvSpPr>
        <p:spPr>
          <a:xfrm>
            <a:off x="777240" y="6199632"/>
            <a:ext cx="10607040" cy="0"/>
          </a:xfrm>
          <a:prstGeom prst="line">
            <a:avLst/>
          </a:prstGeom>
          <a:noFill/>
          <a:ln w="9525">
            <a:solidFill>
              <a:srgbClr val="6B6B6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Grade 7 Accelerated · Unit 2 · Lesson 3 — Cube Values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32</a:t>
            </a:r>
            <a:endParaRPr lang="en-US" sz="11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Whiteboards   ·   Question 9 of 9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777240" y="1097280"/>
            <a:ext cx="10607040" cy="0"/>
          </a:xfrm>
          <a:prstGeom prst="line">
            <a:avLst/>
          </a:prstGeom>
          <a:noFill/>
          <a:ln w="31750">
            <a:solidFill>
              <a:srgbClr val="1A1A1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" y="1179576"/>
            <a:ext cx="10607040" cy="0"/>
          </a:xfrm>
          <a:prstGeom prst="line">
            <a:avLst/>
          </a:prstGeom>
          <a:noFill/>
          <a:ln w="9525">
            <a:solidFill>
              <a:srgbClr val="1A1A1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Answer.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777240" y="2057400"/>
            <a:ext cx="106070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Priya says </a:t>
            </a:r>
            <a:r>
              <a:rPr lang="en-US" sz="2500" dirty="0">
                <a:solidFill>
                  <a:srgbClr val="1A1A1A"/>
                </a:solidFill>
                <a:ea typeface="Century Schoolbook" pitchFamily="34" charset="-122"/>
                <a:cs typeface="Century Schoolbook" pitchFamily="34" charset="-120"/>
                <a:latin typeface="FreeSerif"/>
              </a:rPr>
              <a:t>∛</a:t>
            </a:r>
            <a:r>
              <a:rPr lang="en-US" sz="2500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−64 has no real value, because you cannot take the root of a negative number.  Is she right?</a:t>
            </a:r>
            <a:endParaRPr lang="en-US" sz="2500" dirty="0"/>
          </a:p>
        </p:txBody>
      </p:sp>
      <p:sp>
        <p:nvSpPr>
          <p:cNvPr id="7" name="Text 5"/>
          <p:cNvSpPr/>
          <p:nvPr/>
        </p:nvSpPr>
        <p:spPr>
          <a:xfrm>
            <a:off x="3145536" y="3310128"/>
            <a:ext cx="58704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(−4) × (−4) × (−4) = −64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777240" y="475488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9E1B32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Answer:   No — </a:t>
            </a:r>
            <a:r>
              <a:rPr lang="en-US" sz="3200" b="1" dirty="0">
                <a:solidFill>
                  <a:srgbClr val="9E1B32"/>
                </a:solidFill>
                <a:ea typeface="Century Schoolbook" pitchFamily="34" charset="-122"/>
                <a:cs typeface="Century Schoolbook" pitchFamily="34" charset="-120"/>
                <a:latin typeface="FreeSerif"/>
              </a:rPr>
              <a:t>∛</a:t>
            </a:r>
            <a:r>
              <a:rPr lang="en-US" sz="3200" b="1" dirty="0">
                <a:solidFill>
                  <a:srgbClr val="9E1B32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−64 = −4</a:t>
            </a:r>
            <a:endParaRPr lang="en-US" sz="3200" dirty="0"/>
          </a:p>
        </p:txBody>
      </p:sp>
      <p:sp>
        <p:nvSpPr>
          <p:cNvPr id="9" name="Shape 7"/>
          <p:cNvSpPr/>
          <p:nvPr/>
        </p:nvSpPr>
        <p:spPr>
          <a:xfrm>
            <a:off x="777240" y="6199632"/>
            <a:ext cx="10607040" cy="0"/>
          </a:xfrm>
          <a:prstGeom prst="line">
            <a:avLst/>
          </a:prstGeom>
          <a:noFill/>
          <a:ln w="9525">
            <a:solidFill>
              <a:srgbClr val="6B6B6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Grade 7 Accelerated · Unit 2 · Lesson 3 — Cube Values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33</a:t>
            </a:r>
            <a:endParaRPr lang="en-US" sz="11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IXL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777240" y="1097280"/>
            <a:ext cx="10607040" cy="0"/>
          </a:xfrm>
          <a:prstGeom prst="line">
            <a:avLst/>
          </a:prstGeom>
          <a:noFill/>
          <a:ln w="31750">
            <a:solidFill>
              <a:srgbClr val="1A1A1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" y="1179576"/>
            <a:ext cx="10607040" cy="0"/>
          </a:xfrm>
          <a:prstGeom prst="line">
            <a:avLst/>
          </a:prstGeom>
          <a:noFill/>
          <a:ln w="9525">
            <a:solidFill>
              <a:srgbClr val="1A1A1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Last five minutes.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960120" y="1920240"/>
            <a:ext cx="548640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0B5394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1.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1554480" y="1920240"/>
            <a:ext cx="9829800" cy="4069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Open IXL and start today's skills.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960120" y="2510028"/>
            <a:ext cx="548640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0B5394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2.</a:t>
            </a:r>
            <a:endParaRPr lang="en-US" sz="2100" dirty="0"/>
          </a:p>
        </p:txBody>
      </p:sp>
      <p:sp>
        <p:nvSpPr>
          <p:cNvPr id="9" name="Text 7"/>
          <p:cNvSpPr/>
          <p:nvPr/>
        </p:nvSpPr>
        <p:spPr>
          <a:xfrm>
            <a:off x="1554480" y="2510028"/>
            <a:ext cx="9829800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Work on paper where the question needs work. The answer box does not show it.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960120" y="3451860"/>
            <a:ext cx="548640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0B5394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3.</a:t>
            </a:r>
            <a:endParaRPr lang="en-US" sz="2100" dirty="0"/>
          </a:p>
        </p:txBody>
      </p:sp>
      <p:sp>
        <p:nvSpPr>
          <p:cNvPr id="11" name="Text 9"/>
          <p:cNvSpPr/>
          <p:nvPr/>
        </p:nvSpPr>
        <p:spPr>
          <a:xfrm>
            <a:off x="1554480" y="3451860"/>
            <a:ext cx="9829800" cy="4069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Whatever you do not finish is tonight's practice.</a:t>
            </a:r>
            <a:endParaRPr lang="en-US" sz="2100" dirty="0"/>
          </a:p>
        </p:txBody>
      </p:sp>
      <p:sp>
        <p:nvSpPr>
          <p:cNvPr id="12" name="Text 10"/>
          <p:cNvSpPr/>
          <p:nvPr/>
        </p:nvSpPr>
        <p:spPr>
          <a:xfrm>
            <a:off x="960120" y="4041648"/>
            <a:ext cx="548640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0B5394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4.</a:t>
            </a:r>
            <a:endParaRPr lang="en-US" sz="2100" dirty="0"/>
          </a:p>
        </p:txBody>
      </p:sp>
      <p:sp>
        <p:nvSpPr>
          <p:cNvPr id="13" name="Text 11"/>
          <p:cNvSpPr/>
          <p:nvPr/>
        </p:nvSpPr>
        <p:spPr>
          <a:xfrm>
            <a:off x="1554480" y="4041648"/>
            <a:ext cx="9829800" cy="4069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The skills for today are posted in Google Classroom.</a:t>
            </a:r>
            <a:endParaRPr lang="en-US" sz="2100" dirty="0"/>
          </a:p>
        </p:txBody>
      </p:sp>
      <p:sp>
        <p:nvSpPr>
          <p:cNvPr id="14" name="Shape 12"/>
          <p:cNvSpPr/>
          <p:nvPr/>
        </p:nvSpPr>
        <p:spPr>
          <a:xfrm>
            <a:off x="777240" y="6199632"/>
            <a:ext cx="10607040" cy="0"/>
          </a:xfrm>
          <a:prstGeom prst="line">
            <a:avLst/>
          </a:prstGeom>
          <a:noFill/>
          <a:ln w="9525">
            <a:solidFill>
              <a:srgbClr val="6B6B6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Grade 7 Accelerated · Unit 2 · Lesson 3 — Cube Values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34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34</Slides>
  <Notes>34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34</vt:i4>
      </vt:variant>
    </vt:vector>
  </HeadingPairs>
  <TitlesOfParts>
    <vt:vector size="3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2026-09-14T10:11:09Z</dcterms:created>
  <dcterms:modified xsi:type="dcterms:W3CDTF">2026-09-14T10:11:09Z</dcterms:modified>
</cp:coreProperties>
</file>