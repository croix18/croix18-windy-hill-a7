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300" kern="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 ·  UNIT 2  ·  LESSON 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Square Values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91840" y="3255264"/>
            <a:ext cx="55778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0" y="3337560"/>
            <a:ext cx="55778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MA.8.AR.2.3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8404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 can square a number, find the side of a square from its area, and explain the graph of y = x².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2377440" y="4389120"/>
            <a:ext cx="7406640" cy="1051560"/>
          </a:xfrm>
          <a:prstGeom prst="rect">
            <a:avLst/>
          </a:prstGeom>
          <a:solidFill>
            <a:srgbClr val="F2F2F0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454456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new unit, and a new benchmark.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606040" y="492861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Today everything is a square you could draw.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1 — Square Values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Warm-Up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 your own. Four minutes.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Same and different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777240" y="0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331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the same about these two, and what is different?</a:t>
            </a:r>
            <a:endParaRPr lang="en-US" sz="2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4680" y="2926080"/>
            <a:ext cx="658275" cy="777240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7435" y="2926080"/>
            <a:ext cx="1484193" cy="7772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1 — Square Values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I.  Squaring means multiplying a number by itself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76272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" y="2340864"/>
            <a:ext cx="10506456" cy="568452"/>
          </a:xfrm>
          <a:prstGeom prst="rect">
            <a:avLst/>
          </a:prstGeom>
          <a:solidFill>
            <a:srgbClr val="EDEFF2"/>
          </a:solidFill>
          <a:ln w="9525">
            <a:solidFill>
              <a:srgbClr val="C6CC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423160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600200" y="2423160"/>
            <a:ext cx="9784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u="sng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square (a number)</a:t>
            </a:r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 —   to multiply the number by itself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1005840" y="3083052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600200" y="3083052"/>
            <a:ext cx="9784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 squared  =  5²  =  5 × 5  =  25.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005840" y="3660648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C.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600200" y="3660648"/>
            <a:ext cx="9784080" cy="862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It is NOT 5 × 2. Squaring and doubling are different operations.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1 — Square Values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II.  The perfect squares, to 225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76272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" y="2340864"/>
            <a:ext cx="10506456" cy="954024"/>
          </a:xfrm>
          <a:prstGeom prst="rect">
            <a:avLst/>
          </a:prstGeom>
          <a:solidFill>
            <a:srgbClr val="EDEFF2"/>
          </a:solidFill>
          <a:ln w="9525">
            <a:solidFill>
              <a:srgbClr val="C6CC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423160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600200" y="2423160"/>
            <a:ext cx="9784080" cy="862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u="sng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perfect square</a:t>
            </a:r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 —   a number you get by squaring a whole number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1005840" y="3468624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600200" y="3468624"/>
            <a:ext cx="9784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1, 4, 9, 16, 25, 36, 49, 64, 81, 100, 121, 144, 169, 196, 225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005840" y="4046220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C.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600200" y="4046220"/>
            <a:ext cx="9784080" cy="862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Know these on sight. Every question in this unit is answered faster if you do.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1 — Square Values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III.  A square's area runs both ways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76272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331720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A.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600200" y="2331720"/>
            <a:ext cx="9784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Four equal sides, so the area is  A = s × s = s².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005840" y="2909316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600200" y="2909316"/>
            <a:ext cx="9784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Side to area:  s = 6  gives  A = 6² = 36 square units.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005840" y="3486912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C.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600200" y="3486912"/>
            <a:ext cx="9784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Area to side:  A = 36  means  s × s = 36,  so  s = 6 units.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005840" y="4064508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D.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600200" y="4064508"/>
            <a:ext cx="9784080" cy="862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Backwards is the harder direction. Ask: what number times itself gives this?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1 — Square Values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IV.  Squaring never gives a negative answer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76272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286000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00200" y="2286000"/>
            <a:ext cx="978408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positive times itself is positive.   3 × 3 = 9.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2846832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00200" y="2846832"/>
            <a:ext cx="978408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negative times itself is positive.   (−3) × (−3) = 9.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3407664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00200" y="3407664"/>
            <a:ext cx="978408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 opposite x-values give the SAME y-value, and y is never negative.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05840" y="3968496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D.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00200" y="3968496"/>
            <a:ext cx="978408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graph of y = x² never goes below the x-axis. At x = 0 it touches it.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1 — Square Values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1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Nothing on paper yet. Answer out loud.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2011680"/>
            <a:ext cx="2926080" cy="749808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1168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Kind of number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703320" y="2011680"/>
            <a:ext cx="3108960" cy="749808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94760" y="201168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Side  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812280" y="2011680"/>
            <a:ext cx="3840480" cy="749808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03720" y="201168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will you do?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2761488"/>
            <a:ext cx="2926080" cy="74980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61488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whole number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3703320" y="2761488"/>
            <a:ext cx="3108960" cy="74980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94760" y="2761488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12 units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812280" y="2761488"/>
            <a:ext cx="3840480" cy="74980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511296"/>
            <a:ext cx="2926080" cy="74980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511296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fraction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3703320" y="3511296"/>
            <a:ext cx="3108960" cy="74980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8310" y="3694176"/>
            <a:ext cx="138979" cy="384048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6812280" y="3511296"/>
            <a:ext cx="3840480" cy="74980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77240" y="4261104"/>
            <a:ext cx="2926080" cy="74980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68680" y="4261104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decimal</a:t>
            </a:r>
            <a:endParaRPr lang="en-US" sz="1900" dirty="0"/>
          </a:p>
        </p:txBody>
      </p:sp>
      <p:sp>
        <p:nvSpPr>
          <p:cNvPr id="24" name="Shape 21"/>
          <p:cNvSpPr/>
          <p:nvPr/>
        </p:nvSpPr>
        <p:spPr>
          <a:xfrm>
            <a:off x="3703320" y="4261104"/>
            <a:ext cx="3108960" cy="74980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794760" y="4261104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0.7 units</a:t>
            </a:r>
            <a:endParaRPr lang="en-US" sz="1900" dirty="0"/>
          </a:p>
        </p:txBody>
      </p:sp>
      <p:sp>
        <p:nvSpPr>
          <p:cNvPr id="26" name="Shape 23"/>
          <p:cNvSpPr/>
          <p:nvPr/>
        </p:nvSpPr>
        <p:spPr>
          <a:xfrm>
            <a:off x="6812280" y="4261104"/>
            <a:ext cx="3840480" cy="74980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77240" y="533095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Same operation three times. Say what changes.</a:t>
            </a:r>
            <a:endParaRPr lang="en-US" sz="2300" dirty="0"/>
          </a:p>
        </p:txBody>
      </p:sp>
      <p:sp>
        <p:nvSpPr>
          <p:cNvPr id="28" name="Shape 25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1 — Square Values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1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Now the areas. Whiteboards.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2011680"/>
            <a:ext cx="2926080" cy="749808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1168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Kind of number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703320" y="2011680"/>
            <a:ext cx="3108960" cy="749808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94760" y="201168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Side  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812280" y="2011680"/>
            <a:ext cx="3840480" cy="749808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03720" y="201168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Area  s²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2761488"/>
            <a:ext cx="2926080" cy="74980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61488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whole number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3703320" y="2761488"/>
            <a:ext cx="3108960" cy="74980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94760" y="2761488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12 units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812280" y="2761488"/>
            <a:ext cx="3840480" cy="74980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511296"/>
            <a:ext cx="2926080" cy="74980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511296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fraction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3703320" y="3511296"/>
            <a:ext cx="3108960" cy="74980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8310" y="3694176"/>
            <a:ext cx="138979" cy="384048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6812280" y="3511296"/>
            <a:ext cx="3840480" cy="74980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77240" y="4261104"/>
            <a:ext cx="2926080" cy="74980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68680" y="4261104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decimal</a:t>
            </a:r>
            <a:endParaRPr lang="en-US" sz="1900" dirty="0"/>
          </a:p>
        </p:txBody>
      </p:sp>
      <p:sp>
        <p:nvSpPr>
          <p:cNvPr id="24" name="Shape 21"/>
          <p:cNvSpPr/>
          <p:nvPr/>
        </p:nvSpPr>
        <p:spPr>
          <a:xfrm>
            <a:off x="3703320" y="4261104"/>
            <a:ext cx="3108960" cy="74980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794760" y="4261104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0.7 units</a:t>
            </a:r>
            <a:endParaRPr lang="en-US" sz="1900" dirty="0"/>
          </a:p>
        </p:txBody>
      </p:sp>
      <p:sp>
        <p:nvSpPr>
          <p:cNvPr id="26" name="Shape 23"/>
          <p:cNvSpPr/>
          <p:nvPr/>
        </p:nvSpPr>
        <p:spPr>
          <a:xfrm>
            <a:off x="6812280" y="4261104"/>
            <a:ext cx="3840480" cy="74980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1 — Square Values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1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areas, checked.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2011680"/>
            <a:ext cx="2926080" cy="749808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1168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Kind of number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703320" y="2011680"/>
            <a:ext cx="3108960" cy="749808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94760" y="201168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Side  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812280" y="2011680"/>
            <a:ext cx="3840480" cy="749808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03720" y="201168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Area  s²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2761488"/>
            <a:ext cx="2926080" cy="74980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61488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whole number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3703320" y="2761488"/>
            <a:ext cx="3108960" cy="74980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94760" y="2761488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12 units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812280" y="2761488"/>
            <a:ext cx="3840480" cy="74980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03720" y="2761488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144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777240" y="3511296"/>
            <a:ext cx="2926080" cy="74980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511296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fraction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3703320" y="3511296"/>
            <a:ext cx="3108960" cy="74980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8310" y="3694176"/>
            <a:ext cx="138979" cy="384048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6812280" y="3511296"/>
            <a:ext cx="3840480" cy="74980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3408" y="3694176"/>
            <a:ext cx="258223" cy="384048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777240" y="4261104"/>
            <a:ext cx="2926080" cy="74980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68680" y="4261104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decimal</a:t>
            </a:r>
            <a:endParaRPr lang="en-US" sz="1900" dirty="0"/>
          </a:p>
        </p:txBody>
      </p:sp>
      <p:sp>
        <p:nvSpPr>
          <p:cNvPr id="26" name="Shape 22"/>
          <p:cNvSpPr/>
          <p:nvPr/>
        </p:nvSpPr>
        <p:spPr>
          <a:xfrm>
            <a:off x="3703320" y="4261104"/>
            <a:ext cx="3108960" cy="74980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794760" y="4261104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0.7 units</a:t>
            </a:r>
            <a:endParaRPr lang="en-US" sz="1900" dirty="0"/>
          </a:p>
        </p:txBody>
      </p:sp>
      <p:sp>
        <p:nvSpPr>
          <p:cNvPr id="28" name="Shape 24"/>
          <p:cNvSpPr/>
          <p:nvPr/>
        </p:nvSpPr>
        <p:spPr>
          <a:xfrm>
            <a:off x="6812280" y="4261104"/>
            <a:ext cx="3840480" cy="74980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903720" y="4261104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0.49</a:t>
            </a:r>
            <a:endParaRPr lang="en-US" sz="1900" dirty="0"/>
          </a:p>
        </p:txBody>
      </p:sp>
      <p:sp>
        <p:nvSpPr>
          <p:cNvPr id="30" name="Shape 2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1 — Square Values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1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Now backwards.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square has an area of  2.25 square units.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30632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the length of one side?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40690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 guessing. Show me how you narrowed it down.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1 — Square Values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1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Narrow it down.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2103120"/>
            <a:ext cx="3108960" cy="749808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0312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Try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886200" y="2103120"/>
            <a:ext cx="3108960" cy="749808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77640" y="210312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Try × Try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995160" y="2103120"/>
            <a:ext cx="3657600" cy="749808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86600" y="2103120"/>
            <a:ext cx="3474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Compared with 2.25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2852928"/>
            <a:ext cx="3108960" cy="74980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852928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3886200" y="2852928"/>
            <a:ext cx="3108960" cy="74980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77640" y="2852928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 × 1 = 1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995160" y="2852928"/>
            <a:ext cx="3657600" cy="74980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86600" y="2852928"/>
            <a:ext cx="3474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too small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777240" y="3602736"/>
            <a:ext cx="3108960" cy="74980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602736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3886200" y="3602736"/>
            <a:ext cx="3108960" cy="74980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77640" y="3602736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 × 2 = 4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6995160" y="3602736"/>
            <a:ext cx="3657600" cy="74980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86600" y="3602736"/>
            <a:ext cx="3474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too big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777240" y="4352544"/>
            <a:ext cx="3108960" cy="74980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4352544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?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3886200" y="4352544"/>
            <a:ext cx="3108960" cy="74980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77640" y="4352544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? × ?</a:t>
            </a:r>
            <a:endParaRPr lang="en-US" sz="1900" dirty="0"/>
          </a:p>
        </p:txBody>
      </p:sp>
      <p:sp>
        <p:nvSpPr>
          <p:cNvPr id="28" name="Shape 26"/>
          <p:cNvSpPr/>
          <p:nvPr/>
        </p:nvSpPr>
        <p:spPr>
          <a:xfrm>
            <a:off x="6995160" y="4352544"/>
            <a:ext cx="3657600" cy="74980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86600" y="4352544"/>
            <a:ext cx="3474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2.25   </a:t>
            </a:r>
            <a:r>
              <a:rPr lang="en-US" sz="1900" dirty="0">
                <a:solidFill>
                  <a:srgbClr val="1A1A1A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✓</a:t>
            </a:r>
            <a:endParaRPr lang="en-US" sz="1900" dirty="0"/>
          </a:p>
        </p:txBody>
      </p:sp>
      <p:sp>
        <p:nvSpPr>
          <p:cNvPr id="30" name="Shape 28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1 — Square Values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1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side.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1.5 × 1.5  =  2.25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32918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side is 1.5 units.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1 — Square Values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2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Fill it in on your whiteboard. Seven values.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154680" y="1737360"/>
            <a:ext cx="2194560" cy="457200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46120" y="1737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x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49240" y="1737360"/>
            <a:ext cx="2743200" cy="457200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40680" y="1737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 = x²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154680" y="2194560"/>
            <a:ext cx="219456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2194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−3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349240" y="2194560"/>
            <a:ext cx="27432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54680" y="2651760"/>
            <a:ext cx="219456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2651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−2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5349240" y="2651760"/>
            <a:ext cx="27432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54680" y="3108960"/>
            <a:ext cx="219456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3108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−1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5349240" y="3108960"/>
            <a:ext cx="27432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54680" y="3566160"/>
            <a:ext cx="219456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3566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5349240" y="3566160"/>
            <a:ext cx="27432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54680" y="4023360"/>
            <a:ext cx="219456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46120" y="4023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5349240" y="4023360"/>
            <a:ext cx="27432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54680" y="4480560"/>
            <a:ext cx="219456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46120" y="4480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5349240" y="4480560"/>
            <a:ext cx="27432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154680" y="4937760"/>
            <a:ext cx="219456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46120" y="4937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900" dirty="0"/>
          </a:p>
        </p:txBody>
      </p:sp>
      <p:sp>
        <p:nvSpPr>
          <p:cNvPr id="30" name="Shape 28"/>
          <p:cNvSpPr/>
          <p:nvPr/>
        </p:nvSpPr>
        <p:spPr>
          <a:xfrm>
            <a:off x="5349240" y="4937760"/>
            <a:ext cx="27432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1 — Square Values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2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values.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154680" y="1664208"/>
            <a:ext cx="2194560" cy="402336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46120" y="166420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x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49240" y="1664208"/>
            <a:ext cx="2743200" cy="402336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40680" y="166420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 = x²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154680" y="2066544"/>
            <a:ext cx="2194560" cy="40233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206654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−3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349240" y="2066544"/>
            <a:ext cx="2743200" cy="40233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40680" y="20665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3154680" y="2468880"/>
            <a:ext cx="2194560" cy="40233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246888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−2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5349240" y="2468880"/>
            <a:ext cx="2743200" cy="40233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40680" y="246888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3154680" y="2871216"/>
            <a:ext cx="2194560" cy="40233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46120" y="287121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−1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5349240" y="2871216"/>
            <a:ext cx="2743200" cy="40233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40680" y="287121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3154680" y="3273552"/>
            <a:ext cx="2194560" cy="40233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46120" y="327355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5349240" y="3273552"/>
            <a:ext cx="2743200" cy="40233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40680" y="327355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3154680" y="3675888"/>
            <a:ext cx="2194560" cy="40233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6120" y="367588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900" dirty="0"/>
          </a:p>
        </p:txBody>
      </p:sp>
      <p:sp>
        <p:nvSpPr>
          <p:cNvPr id="28" name="Shape 26"/>
          <p:cNvSpPr/>
          <p:nvPr/>
        </p:nvSpPr>
        <p:spPr>
          <a:xfrm>
            <a:off x="5349240" y="3675888"/>
            <a:ext cx="2743200" cy="40233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40680" y="367588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900" dirty="0"/>
          </a:p>
        </p:txBody>
      </p:sp>
      <p:sp>
        <p:nvSpPr>
          <p:cNvPr id="30" name="Shape 28"/>
          <p:cNvSpPr/>
          <p:nvPr/>
        </p:nvSpPr>
        <p:spPr>
          <a:xfrm>
            <a:off x="3154680" y="4078224"/>
            <a:ext cx="2194560" cy="40233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46120" y="407822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900" dirty="0"/>
          </a:p>
        </p:txBody>
      </p:sp>
      <p:sp>
        <p:nvSpPr>
          <p:cNvPr id="32" name="Shape 30"/>
          <p:cNvSpPr/>
          <p:nvPr/>
        </p:nvSpPr>
        <p:spPr>
          <a:xfrm>
            <a:off x="5349240" y="4078224"/>
            <a:ext cx="2743200" cy="40233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40680" y="407822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900" dirty="0"/>
          </a:p>
        </p:txBody>
      </p:sp>
      <p:sp>
        <p:nvSpPr>
          <p:cNvPr id="34" name="Shape 32"/>
          <p:cNvSpPr/>
          <p:nvPr/>
        </p:nvSpPr>
        <p:spPr>
          <a:xfrm>
            <a:off x="3154680" y="4480560"/>
            <a:ext cx="2194560" cy="40233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46120" y="44805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900" dirty="0"/>
          </a:p>
        </p:txBody>
      </p:sp>
      <p:sp>
        <p:nvSpPr>
          <p:cNvPr id="36" name="Shape 34"/>
          <p:cNvSpPr/>
          <p:nvPr/>
        </p:nvSpPr>
        <p:spPr>
          <a:xfrm>
            <a:off x="5349240" y="4480560"/>
            <a:ext cx="2743200" cy="402336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40680" y="448056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</a:t>
            </a:r>
            <a:endParaRPr lang="en-US" sz="1900" dirty="0"/>
          </a:p>
        </p:txBody>
      </p:sp>
      <p:sp>
        <p:nvSpPr>
          <p:cNvPr id="38" name="Shape 3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1 — Square Values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2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Now the picture.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1104" y="1664208"/>
            <a:ext cx="3737269" cy="3474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1 — Square Values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3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best question in this lesson.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Can a square have an area of  8  square units?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77240" y="34747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Yes or no, and how do you know?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1 — Square Values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3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Every whole number, tried.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2011680"/>
            <a:ext cx="2743200" cy="749808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1168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Side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520440" y="2011680"/>
            <a:ext cx="3108960" cy="749808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201168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Side × Side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629400" y="2011680"/>
            <a:ext cx="3840480" cy="749808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201168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Area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2761488"/>
            <a:ext cx="2743200" cy="74980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761488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3520440" y="2761488"/>
            <a:ext cx="3108960" cy="74980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11880" y="2761488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 × 2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629400" y="2761488"/>
            <a:ext cx="3840480" cy="74980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2761488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      too small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777240" y="3511296"/>
            <a:ext cx="2743200" cy="74980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511296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3520440" y="3511296"/>
            <a:ext cx="3108960" cy="74980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11880" y="3511296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 × 3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6629400" y="3511296"/>
            <a:ext cx="3840480" cy="74980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0840" y="3511296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      too big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777240" y="4261104"/>
            <a:ext cx="2743200" cy="74980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4261104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?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3520440" y="4261104"/>
            <a:ext cx="3108960" cy="74980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11880" y="4261104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? × ?</a:t>
            </a:r>
            <a:endParaRPr lang="en-US" sz="1900" dirty="0"/>
          </a:p>
        </p:txBody>
      </p:sp>
      <p:sp>
        <p:nvSpPr>
          <p:cNvPr id="28" name="Shape 26"/>
          <p:cNvSpPr/>
          <p:nvPr/>
        </p:nvSpPr>
        <p:spPr>
          <a:xfrm>
            <a:off x="6629400" y="4261104"/>
            <a:ext cx="3840480" cy="74980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20840" y="4261104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      </a:t>
            </a:r>
            <a:r>
              <a:rPr lang="en-US" sz="1900" dirty="0">
                <a:solidFill>
                  <a:srgbClr val="1A1A1A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✓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777240" y="533095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 the side is between 2 and 3 — and it is not a whole number.</a:t>
            </a:r>
            <a:endParaRPr lang="en-US" sz="2300" dirty="0"/>
          </a:p>
        </p:txBody>
      </p:sp>
      <p:sp>
        <p:nvSpPr>
          <p:cNvPr id="31" name="Shape 29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1 — Square Values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3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And it is not a fraction either.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side is about  2.83  —  and that decimal never stops and never repeats.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1 — Square Values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1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2955" y="2331720"/>
            <a:ext cx="815611" cy="960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the value.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number.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1 — Square Values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1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2374" y="2148840"/>
            <a:ext cx="776772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04104" y="3310128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 × 6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36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1 — Square Values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2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1150" y="2331720"/>
            <a:ext cx="1579219" cy="960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the value.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number.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1 — Square Values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2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8751" y="2148840"/>
            <a:ext cx="1504018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690872" y="3310128"/>
            <a:ext cx="2779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(−6) × (−6)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36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1 — Square Values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3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32168" y="2331720"/>
            <a:ext cx="1297183" cy="960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the value.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number.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1 — Square Values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3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63054" y="2148840"/>
            <a:ext cx="1235413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47488" y="3310128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−(6 × 6)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−36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1 — Square Values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4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68192" y="2331720"/>
            <a:ext cx="1625136" cy="960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the value.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number.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1 — Square Values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4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6886" y="2148840"/>
            <a:ext cx="1547749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28616" y="3310128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0.6 × 0.6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0.36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1 — Square Values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26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5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68100" y="2331720"/>
            <a:ext cx="1225321" cy="960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the value.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number.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1 — Square Values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27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5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7274" y="2148840"/>
            <a:ext cx="1166972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551176" y="3310128"/>
            <a:ext cx="7059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square the top AND the bottom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4/9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1 — Square Values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28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6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84569" y="2331720"/>
            <a:ext cx="1592382" cy="960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the side  s.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square has area 4/9 square units, and a side is a length.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1 — Square Values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29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6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2483" y="2148840"/>
            <a:ext cx="1516554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551176" y="3310128"/>
            <a:ext cx="7059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times itself gives 4/9 ?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s = 2/3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1 — Square Values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30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7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Which is bigger:   (−9)²   or   −9² ?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both values, then say which is bigger.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Two values and a comparison.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1 — Square Values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31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7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Which is bigger:   (−9)²   or   −9² ?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551176" y="3310128"/>
            <a:ext cx="7059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(−9)² = 81          −9² = −81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(−9)² is bigger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1 — Square Values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32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8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1            8            16            20            45            64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Which of these are perfect squares?  Write every one that is.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There is more than one.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1 — Square Values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33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8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1            8            16            20            45            64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9224" y="3310128"/>
            <a:ext cx="10863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 = 1 × 1        16 = 4 × 4        64 = 8 × 8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1,  16  and  64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1 — Square Values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34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9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Take your time. Boards up when you have written it.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Can a square have an area of 8 square units?  If it can, name the two whole numbers its side length falls between.  Explain how you know.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your answer in sentences.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This one is written work. Show the two products you used.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1 — Square Values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35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9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Can a square have an area of 8 square units?  If it can, name the two whole numbers its side length falls between.  Explain how you know.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30352" y="3310128"/>
            <a:ext cx="11100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 × 2 = 4 is too small;   3 × 3 = 9 is too big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Yes — the side is between 2 and 3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1 — Square Values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36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IXL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Last five minutes.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1920240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554480" y="1920240"/>
            <a:ext cx="9829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Open IXL and start today's skills.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60120" y="2510028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554480" y="2510028"/>
            <a:ext cx="98298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Work on paper where the question needs work. The answer box does not show it.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60120" y="3451860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554480" y="3451860"/>
            <a:ext cx="9829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Whatever you do not finish is tonight's practice.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60120" y="4041648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554480" y="4041648"/>
            <a:ext cx="9829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skills for today are posted in Google Classroom.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1 — Square Values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2026-09-14T10:34:55Z</dcterms:created>
  <dcterms:modified xsi:type="dcterms:W3CDTF">2026-09-14T10:34:55Z</dcterms:modified>
</cp:coreProperties>
</file>