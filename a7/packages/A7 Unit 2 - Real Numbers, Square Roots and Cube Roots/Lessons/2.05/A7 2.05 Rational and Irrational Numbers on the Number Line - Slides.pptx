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notesMasterIdLst>
    <p:notesMasterId r:id="rId3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spc="300" kern="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 ·  UNIT 2  ·  LESSON 5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and Irrational Numbers on the Number 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91840" y="3255264"/>
            <a:ext cx="55778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91840" y="3337560"/>
            <a:ext cx="55778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MA.8.NSO.1.2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 can order and compare any set of real numbers, and plot them.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2377440" y="4389120"/>
            <a:ext cx="7406640" cy="1051560"/>
          </a:xfrm>
          <a:prstGeom prst="rect">
            <a:avLst/>
          </a:prstGeom>
          <a:solidFill>
            <a:srgbClr val="F2F2F0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454456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Every number you have met this unit has one place on the line.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606040" y="492861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Today is deciding which place, and which of two is greater.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Warm-Up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 your own. Four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Same and different</a:t>
            </a:r>
            <a:endParaRPr lang="en-US" sz="2500" dirty="0"/>
          </a:p>
        </p:txBody>
      </p:sp>
      <p:sp>
        <p:nvSpPr>
          <p:cNvPr id="7" name="Shape 5"/>
          <p:cNvSpPr/>
          <p:nvPr/>
        </p:nvSpPr>
        <p:spPr>
          <a:xfrm>
            <a:off x="777240" y="0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33172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the same about these two, and what is different?</a:t>
            </a:r>
            <a:endParaRPr lang="en-US" sz="2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8920" y="2926080"/>
            <a:ext cx="1280287" cy="777240"/>
          </a:xfrm>
          <a:prstGeom prst="rect">
            <a:avLst/>
          </a:prstGeom>
        </p:spPr>
      </p:pic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247" y="2926080"/>
            <a:ext cx="1588267" cy="7772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I.  Every real number has exactly one place on the line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Rational or irrational, fraction or root or decimal — one number, one point.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form it is written in does not move it. √4 and 2 are the same point.</a:t>
            </a:r>
            <a:endParaRPr lang="en-US" sz="2300" dirty="0"/>
          </a:p>
        </p:txBody>
      </p:sp>
      <p:sp>
        <p:nvSpPr>
          <p:cNvPr id="11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II.  Turn every number into a decimal first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decimals, then write the answer back in the original form.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3294888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3294888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Two places is enough for everything on this worksheet.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872484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872484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 root that comes out even is not an estimate — write it exactly.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III.  With negatives, further left is smaller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777240" y="2176272"/>
            <a:ext cx="10607040" cy="0"/>
          </a:xfrm>
          <a:prstGeom prst="line">
            <a:avLst/>
          </a:prstGeom>
          <a:noFill/>
          <a:ln w="12700">
            <a:solidFill>
              <a:srgbClr val="1A1A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331720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1600200" y="2331720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−2 is greater than −5, even though 5 is greater than 2.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1005840" y="2909316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B.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600200" y="2909316"/>
            <a:ext cx="9784080" cy="4770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So the bigger the root, the further LEFT a negative sits.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1005840" y="3486912"/>
            <a:ext cx="548640" cy="3855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C.</a:t>
            </a:r>
            <a:endParaRPr lang="en-US" sz="2300" dirty="0"/>
          </a:p>
        </p:txBody>
      </p:sp>
      <p:sp>
        <p:nvSpPr>
          <p:cNvPr id="12" name="Text 10"/>
          <p:cNvSpPr/>
          <p:nvPr/>
        </p:nvSpPr>
        <p:spPr>
          <a:xfrm>
            <a:off x="1600200" y="3486912"/>
            <a:ext cx="9784080" cy="862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−√50 is less than −√49. </a:t>
            </a:r>
            <a:pPr indent="0" marL="0">
              <a:buNone/>
            </a:pPr>
            <a:r>
              <a:rPr lang="en-US" sz="23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radicand went up and the value went down.</a:t>
            </a:r>
            <a:endParaRPr lang="en-US" sz="2300" dirty="0"/>
          </a:p>
        </p:txBody>
      </p:sp>
      <p:sp>
        <p:nvSpPr>
          <p:cNvPr id="13" name="Shape 11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Nothing on paper yet. Answer out loud.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377440"/>
            <a:ext cx="979383" cy="7772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383" y="2377440"/>
            <a:ext cx="802856" cy="77724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039" y="2377440"/>
            <a:ext cx="712792" cy="77724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2630" y="2377440"/>
            <a:ext cx="1588267" cy="7772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60120" y="3703320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200" dirty="0"/>
          </a:p>
        </p:txBody>
      </p:sp>
      <p:sp>
        <p:nvSpPr>
          <p:cNvPr id="11" name="Text 5"/>
          <p:cNvSpPr/>
          <p:nvPr/>
        </p:nvSpPr>
        <p:spPr>
          <a:xfrm>
            <a:off x="1554480" y="3703320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of the four are irrational?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60120" y="4309872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1554480" y="4309872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one is furthest left, before you compute anything?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60120" y="4916424"/>
            <a:ext cx="548640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1554480" y="4916424"/>
            <a:ext cx="9829800" cy="423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Which two are you least sure about?</a:t>
            </a:r>
            <a:endParaRPr lang="en-US" sz="2200" dirty="0"/>
          </a:p>
        </p:txBody>
      </p:sp>
      <p:sp>
        <p:nvSpPr>
          <p:cNvPr id="16" name="Shape 1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Now the decimals. Two places each.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86000"/>
            <a:ext cx="921772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72" y="2286000"/>
            <a:ext cx="755629" cy="7315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201" y="2286000"/>
            <a:ext cx="670863" cy="7315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864" y="2286000"/>
            <a:ext cx="1494839" cy="731520"/>
          </a:xfrm>
          <a:prstGeom prst="rect">
            <a:avLst/>
          </a:prstGeom>
        </p:spPr>
      </p:pic>
      <p:sp>
        <p:nvSpPr>
          <p:cNvPr id="10" name="Shape 4"/>
          <p:cNvSpPr/>
          <p:nvPr/>
        </p:nvSpPr>
        <p:spPr>
          <a:xfrm>
            <a:off x="1600200" y="3840480"/>
            <a:ext cx="12344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1" name="Shape 5"/>
          <p:cNvSpPr/>
          <p:nvPr/>
        </p:nvSpPr>
        <p:spPr>
          <a:xfrm>
            <a:off x="3566160" y="3840480"/>
            <a:ext cx="12344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5532120" y="3840480"/>
            <a:ext cx="12344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7498080" y="3840480"/>
            <a:ext cx="1234440" cy="0"/>
          </a:xfrm>
          <a:prstGeom prst="line">
            <a:avLst/>
          </a:prstGeom>
          <a:noFill/>
          <a:ln w="19050">
            <a:solidFill>
              <a:srgbClr val="1A1A1A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4251960"/>
            <a:ext cx="10607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Fill these in before you order anything.</a:t>
            </a:r>
            <a:endParaRPr lang="en-US" sz="2300" dirty="0"/>
          </a:p>
        </p:txBody>
      </p:sp>
      <p:sp>
        <p:nvSpPr>
          <p:cNvPr id="15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7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decimals, checked.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86000"/>
            <a:ext cx="921772" cy="73152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7772" y="2286000"/>
            <a:ext cx="755629" cy="731520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9201" y="2286000"/>
            <a:ext cx="670863" cy="731520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5864" y="2286000"/>
            <a:ext cx="1494839" cy="731520"/>
          </a:xfrm>
          <a:prstGeom prst="rect">
            <a:avLst/>
          </a:prstGeom>
        </p:spPr>
      </p:pic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00200" y="3383280"/>
            <a:ext cx="981739" cy="566928"/>
          </a:xfrm>
          <a:prstGeom prst="rect">
            <a:avLst/>
          </a:prstGeom>
        </p:spPr>
      </p:pic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7739" y="3383280"/>
            <a:ext cx="1447353" cy="566928"/>
          </a:xfrm>
          <a:prstGeom prst="rect">
            <a:avLst/>
          </a:prstGeom>
        </p:spPr>
      </p:pic>
      <p:pic>
        <p:nvPicPr>
          <p:cNvPr id="1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400892" y="3383280"/>
            <a:ext cx="1049331" cy="566928"/>
          </a:xfrm>
          <a:prstGeom prst="rect">
            <a:avLst/>
          </a:prstGeom>
        </p:spPr>
      </p:pic>
      <p:pic>
        <p:nvPicPr>
          <p:cNvPr id="1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6022" y="3383280"/>
            <a:ext cx="1412390" cy="566928"/>
          </a:xfrm>
          <a:prstGeom prst="rect">
            <a:avLst/>
          </a:prstGeom>
        </p:spPr>
      </p:pic>
      <p:sp>
        <p:nvSpPr>
          <p:cNvPr id="14" name="Shape 4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5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6" name="Text 6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1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Least to greatest.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0200" y="2240280"/>
            <a:ext cx="1457468" cy="713232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908" y="2240280"/>
            <a:ext cx="736738" cy="713232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886" y="2240280"/>
            <a:ext cx="898728" cy="713232"/>
          </a:xfrm>
          <a:prstGeom prst="rect">
            <a:avLst/>
          </a:prstGeom>
        </p:spPr>
      </p:pic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4854" y="2240280"/>
            <a:ext cx="654091" cy="71323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77240" y="324612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−3.68   &lt;   −2.20   &lt;   1.73   &lt;   3.14</a:t>
            </a:r>
            <a:endParaRPr lang="en-US" sz="2700" dirty="0"/>
          </a:p>
        </p:txBody>
      </p:sp>
      <p:sp>
        <p:nvSpPr>
          <p:cNvPr id="11" name="Shape 5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Marisol's work. Something is wrong.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i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“−√50 is greater than −7,  because 50 is greater than 49.”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777240" y="393192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error.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Name the error.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37744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554480" y="237744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50 &gt; 49  —  true.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0120" y="301752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54480" y="301752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√50 &gt; √49  —  true.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60120" y="3657600"/>
            <a:ext cx="548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554480" y="3657600"/>
            <a:ext cx="9829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−√50 &gt; −7  —  false. The negative sign reverses it.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Example 2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Fix it.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154680" y="23774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236568" y="2377440"/>
            <a:ext cx="731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</a:t>
            </a:r>
            <a:endParaRPr lang="en-US" sz="26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528" y="2377440"/>
            <a:ext cx="878226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4680" y="3337560"/>
            <a:ext cx="1700639" cy="56692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58239" y="33375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</a:t>
            </a:r>
            <a:endParaRPr lang="en-US" sz="22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1199" y="3337560"/>
            <a:ext cx="1748836" cy="56692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34340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−√50  &lt;  −7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12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264" y="251460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85552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12" y="2514600"/>
            <a:ext cx="889224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13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1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264" y="21488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85552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12" y="2148840"/>
            <a:ext cx="889224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3898" y="3310128"/>
            <a:ext cx="1692422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47488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4032" y="3310128"/>
            <a:ext cx="1692422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=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14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264" y="251460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85552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12" y="2514600"/>
            <a:ext cx="889224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15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2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2264" y="21488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85552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65712" y="2148840"/>
            <a:ext cx="889224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14" y="3310128"/>
            <a:ext cx="166679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4672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16" y="3310128"/>
            <a:ext cx="1692422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16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496" y="251460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9784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44" y="2514600"/>
            <a:ext cx="1380760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17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3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86496" y="21488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39784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9944" y="2148840"/>
            <a:ext cx="1380760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6714" y="3310128"/>
            <a:ext cx="166679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34672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216" y="3310128"/>
            <a:ext cx="1692422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270" y="251460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442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602" y="2514600"/>
            <a:ext cx="901327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19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4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8270" y="2148840"/>
            <a:ext cx="1174852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77442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7602" y="2148840"/>
            <a:ext cx="901327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0658" y="3310128"/>
            <a:ext cx="1297995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349821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16365" y="3310128"/>
            <a:ext cx="693329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20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979" y="2514600"/>
            <a:ext cx="14574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60767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927" y="2514600"/>
            <a:ext cx="1417295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21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5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8979" y="2148840"/>
            <a:ext cx="14574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60767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0927" y="2148840"/>
            <a:ext cx="1417295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1520" y="3310128"/>
            <a:ext cx="1618509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1197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7741" y="3310128"/>
            <a:ext cx="1671091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2211" y="2514600"/>
            <a:ext cx="14574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74000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60" y="2514600"/>
            <a:ext cx="1390829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23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6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42211" y="2148840"/>
            <a:ext cx="14574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74000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160" y="2148840"/>
            <a:ext cx="1390829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4877" y="3310128"/>
            <a:ext cx="1618509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4553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1097" y="3310128"/>
            <a:ext cx="1664378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24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763" y="251460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1051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211" y="2514600"/>
            <a:ext cx="878226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25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7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7763" y="2148840"/>
            <a:ext cx="1578968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791051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1211" y="2148840"/>
            <a:ext cx="878226" cy="71323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7219" y="3310128"/>
            <a:ext cx="1645780" cy="5486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024167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0711" y="3310128"/>
            <a:ext cx="1692422" cy="5486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&lt;</a:t>
            </a:r>
            <a:endParaRPr lang="en-US" sz="3200" dirty="0"/>
          </a:p>
        </p:txBody>
      </p:sp>
      <p:sp>
        <p:nvSpPr>
          <p:cNvPr id="13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26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Boards up on three.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9252" y="2514600"/>
            <a:ext cx="654091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07663" y="251460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823" y="2514600"/>
            <a:ext cx="1320126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Compare the two numbers.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&lt;, &gt; or =.</a:t>
            </a:r>
            <a:endParaRPr lang="en-US" sz="1900" dirty="0"/>
          </a:p>
        </p:txBody>
      </p:sp>
      <p:sp>
        <p:nvSpPr>
          <p:cNvPr id="11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27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8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9252" y="2148840"/>
            <a:ext cx="654091" cy="7132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107663" y="2148840"/>
            <a:ext cx="12801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 </a:t>
            </a:r>
            <a:endParaRPr lang="en-US" sz="34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823" y="2148840"/>
            <a:ext cx="1320126" cy="7132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898648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3.14159…</a:t>
            </a:r>
            <a:endParaRPr lang="en-US" sz="2600" dirty="0"/>
          </a:p>
        </p:txBody>
      </p:sp>
      <p:sp>
        <p:nvSpPr>
          <p:cNvPr id="10" name="Text 6"/>
          <p:cNvSpPr/>
          <p:nvPr/>
        </p:nvSpPr>
        <p:spPr>
          <a:xfrm>
            <a:off x="4965192" y="3310128"/>
            <a:ext cx="20665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   vs   </a:t>
            </a:r>
            <a:endParaRPr lang="en-US" sz="2600" dirty="0"/>
          </a:p>
        </p:txBody>
      </p:sp>
      <p:sp>
        <p:nvSpPr>
          <p:cNvPr id="11" name="Text 7"/>
          <p:cNvSpPr/>
          <p:nvPr/>
        </p:nvSpPr>
        <p:spPr>
          <a:xfrm>
            <a:off x="7031736" y="33101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3.14000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&gt;</a:t>
            </a:r>
            <a:endParaRPr lang="en-US" sz="3200" dirty="0"/>
          </a:p>
        </p:txBody>
      </p:sp>
      <p:sp>
        <p:nvSpPr>
          <p:cNvPr id="13" name="Shape 9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5" name="Text 11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28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Take your time. Boards up when you have written it.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240280"/>
            <a:ext cx="10607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Jess says  −√17  is greater than  −4,  because 17 is greater than 16.  Is she right?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Write your answer in sentences.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This one is written work. Say which part of her reasoning is correct.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29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Whiteboards   ·   Question 9 of 9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777240" y="2057400"/>
            <a:ext cx="106070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Jess says  −√17  is greater than  −4,  because 17 is greater than 16.  Is she right?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1837944" y="3310128"/>
            <a:ext cx="84856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−√17 = −4.123,  which is LEFT of −4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77240" y="475488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9E1B32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Answer:   No — it is less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30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IXL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77240" y="1097280"/>
            <a:ext cx="10607040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179576"/>
            <a:ext cx="106070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Last five minutes.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192024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554480" y="192024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IXL and start today's skills.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960120" y="251002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2.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554480" y="2510028"/>
            <a:ext cx="98298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 on paper where the question needs work. The answer box does not show it.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60120" y="3451860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3.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554480" y="3451860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Whatever you do not finish is tonight's practice.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4041648"/>
            <a:ext cx="548640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0B5394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554480" y="4041648"/>
            <a:ext cx="98298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1A1A1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skills for today are posted in Google Classroom.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777240" y="6199632"/>
            <a:ext cx="10607040" cy="0"/>
          </a:xfrm>
          <a:prstGeom prst="line">
            <a:avLst/>
          </a:prstGeom>
          <a:noFill/>
          <a:ln w="9525">
            <a:solidFill>
              <a:srgbClr val="6B6B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Grade 7 Accelerated · Unit 2 · Lesson 5 — Rational and Irrational Numbers on the Number 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2026-09-14T10:34:55Z</dcterms:created>
  <dcterms:modified xsi:type="dcterms:W3CDTF">2026-09-14T10:34:55Z</dcterms:modified>
</cp:coreProperties>
</file>